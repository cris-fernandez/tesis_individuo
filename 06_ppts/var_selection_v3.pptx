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87" r:id="rId6"/>
    <p:sldId id="288" r:id="rId7"/>
    <p:sldId id="289" r:id="rId8"/>
    <p:sldId id="278" r:id="rId9"/>
    <p:sldId id="279" r:id="rId10"/>
    <p:sldId id="280" r:id="rId11"/>
    <p:sldId id="281" r:id="rId12"/>
    <p:sldId id="290" r:id="rId13"/>
    <p:sldId id="266" r:id="rId14"/>
    <p:sldId id="291" r:id="rId15"/>
    <p:sldId id="292" r:id="rId16"/>
    <p:sldId id="295" r:id="rId17"/>
    <p:sldId id="293" r:id="rId18"/>
    <p:sldId id="297" r:id="rId19"/>
    <p:sldId id="298" r:id="rId20"/>
    <p:sldId id="299" r:id="rId21"/>
    <p:sldId id="285" r:id="rId22"/>
    <p:sldId id="294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4B183"/>
    <a:srgbClr val="FF0909"/>
    <a:srgbClr val="CC99FF"/>
    <a:srgbClr val="33CCFF"/>
    <a:srgbClr val="00FF99"/>
    <a:srgbClr val="99FF66"/>
    <a:srgbClr val="FF99CC"/>
    <a:srgbClr val="FF99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8D9D2-07E9-4AA1-9670-856C9416EFC9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5FDE4-93F4-408E-86B8-0E5015E100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33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B400-9A8A-7F03-B0EB-76C96DF3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3F435-3ED7-246C-A254-4E6920880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87483-EBF4-3898-8648-A6AFD514D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7B01F-9577-0E8D-133F-B55FFE2D0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5FDE4-93F4-408E-86B8-0E5015E100E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944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B9A7-DDE2-AA3C-523A-6D5608E9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A8AA6-EDC3-C244-18E5-9D31C2181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CE317-7713-1211-6AA3-F3E184058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6BFD0-66C1-8B0E-8766-0E4301A3B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5FDE4-93F4-408E-86B8-0E5015E100E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176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4B75-D89F-D0CD-088D-3E7DA783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1C47B-8502-A5ED-54B2-46F9629CF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79CE3-0A39-E531-2AF1-0A699B0B4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C528-A141-C225-F922-0709C129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5FDE4-93F4-408E-86B8-0E5015E100E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425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0654-52F4-4B40-EFDD-1978CF322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65343-AB84-2B71-27B8-7CF2099F2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E8F7E-629B-A96E-015E-78E0F454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0A9EF-98EB-FE50-4AB3-AB389D5A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E153-8A97-01FB-CC9B-6E79C5F1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02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B885-2F5F-7D16-686C-F5202B7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271F-8513-A1FB-66A6-ED1EE4ED1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7BC5-C505-926A-3E13-539C8BDF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D2C89-5FE6-CC4C-9788-85C92C2B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80C17-DC78-201B-A377-1EDCC247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559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750E-4C2C-3C05-C318-CD808E5E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40AC8-83DA-0E85-3B5B-C5C301E00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5115-10DF-5586-F737-DBC350CB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9B05-8A55-B739-AEE2-F6B53924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20D43-576E-5735-125E-E900147E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63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A36B-ADD7-9B7D-BDA8-384F5EBF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ED6A-19EE-2FE7-2BEA-94AA3A9FE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1865C-E9A3-2CCD-7DDB-BC52ACE0A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06929-C52E-E8B5-12A6-944C022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59DCA-B8AC-3997-18FB-42D9BD6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73A30-FF5F-25BC-B780-C4222EB2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17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2DC5-56B6-6340-AAD4-63D03F9A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5F45F-7ECB-68E6-BF9E-BD7764D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C999-97E0-81FA-E934-7312EB364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E5C19-0F09-7E3E-E3C0-C306ACC65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9A19B-C722-8FA0-E1DE-B75FDA1B4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4CFF0-19E7-99DA-C9F7-79AF15D6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1FC14-E80A-E495-F3B1-357B662B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89EAF-301B-B101-98F0-7A4D1DF6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16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A21C-86C0-A3B2-77C3-20693B18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DA9D7-F3FA-59E0-9546-41FD9E7B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5A5CE-1EA5-C04D-718C-4DC45E0C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1EF8F-1D7B-3CB2-DBEA-2DEF41DC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970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D1367-C3A0-6087-3324-DAB17C2C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70741-7B34-5A62-934B-451C523B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9001E-CF60-4AE9-1CCB-197CB20B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06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AB31-B7F8-874C-1D55-B1E8046F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DB17-50BF-5808-489E-4271D7B4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DA1F0-F678-7414-6A2D-9E2D8F6F2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5082D-BA2F-1CA8-3B59-D9A70FE3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40F2A-6760-70E6-2CF9-EAF6B4C8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F5818-22CF-3231-41DE-DBE11D73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87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A6F6-5CA1-535E-53DD-B68E8DB9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88F982-2C77-16D0-058C-7E551BB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CCA5D-1399-5CA4-C376-70AA538BA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1815B-9D4E-0B5A-FDCE-3705E3FA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F6FF5-1840-3885-7F6E-ACA25B87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E6325-1949-F00B-9E66-F8E64189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25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6929-5B57-3A5F-1416-AB1B060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EAE85-9F33-BFC5-E1CC-BB381395F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ED2FE-040E-8C56-C221-9FF089EF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4887-DB08-E7FD-4ABB-514C7E48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DB5C-9A0E-59FC-A12C-F247E25F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806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70EDC-9A24-72B2-F40D-B8CA446F0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5BF5B-A23B-6232-E384-87A4ED65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4BCF-EDF5-5F5A-654E-D4891112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7D32-D6BD-4015-8DEB-7076E292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0BF6-A7FB-5C44-8CFF-9AAAFCF1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03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89B66-2C7B-D381-4C5E-66866155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B871A-9F46-DB8C-FF5A-B43F4190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0FA4-EE32-1E3D-3798-170981DD5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8B1A-6337-4A99-88FE-A8058CCFDB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A1FF5-9980-3C1A-19B6-259A38717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B8434-F574-302B-655F-F471CA27E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59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5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6.tif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2C69-B72E-D858-935F-A89769AF8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latin typeface="Helvetica" panose="020B0604020202020204"/>
                <a:cs typeface="Helvetica" panose="020B0604020202020204"/>
              </a:rPr>
              <a:t>Variable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selection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72DFB-4A94-5F33-58DA-ACCDE8C53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>
                <a:latin typeface="Helvetica" panose="020B0604020202020204"/>
                <a:cs typeface="Helvetica" panose="020B0604020202020204"/>
              </a:rPr>
              <a:t>Chapter</a:t>
            </a:r>
            <a:r>
              <a:rPr lang="es-ES" dirty="0">
                <a:latin typeface="Helvetica" panose="020B0604020202020204"/>
                <a:cs typeface="Helvetica" panose="020B0604020202020204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20760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32D8-8ACA-65D2-C0CD-54263070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38" y="60478"/>
            <a:ext cx="10515600" cy="1111766"/>
          </a:xfrm>
        </p:spPr>
        <p:txBody>
          <a:bodyPr>
            <a:normAutofit/>
          </a:bodyPr>
          <a:lstStyle/>
          <a:p>
            <a:r>
              <a:rPr lang="es-ES" sz="35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endParaRPr lang="es-ES" sz="35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70B8-AE23-0D50-99C1-D5BD0C9AB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1359"/>
            <a:ext cx="7643712" cy="5221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2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3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modelise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describe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underlying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processes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decline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upo 20">
            <a:extLst>
              <a:ext uri="{FF2B5EF4-FFF2-40B4-BE49-F238E27FC236}">
                <a16:creationId xmlns:a16="http://schemas.microsoft.com/office/drawing/2014/main" id="{0605C183-C368-584C-449E-C716879242A6}"/>
              </a:ext>
            </a:extLst>
          </p:cNvPr>
          <p:cNvGrpSpPr/>
          <p:nvPr/>
        </p:nvGrpSpPr>
        <p:grpSpPr>
          <a:xfrm>
            <a:off x="8731786" y="3250074"/>
            <a:ext cx="3044617" cy="1094038"/>
            <a:chOff x="1139560" y="5095351"/>
            <a:chExt cx="3477754" cy="1250117"/>
          </a:xfrm>
        </p:grpSpPr>
        <p:pic>
          <p:nvPicPr>
            <p:cNvPr id="5" name="Imagen 3">
              <a:extLst>
                <a:ext uri="{FF2B5EF4-FFF2-40B4-BE49-F238E27FC236}">
                  <a16:creationId xmlns:a16="http://schemas.microsoft.com/office/drawing/2014/main" id="{EAEADE5F-9169-40CC-5A04-E56D1378F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4">
              <a:extLst>
                <a:ext uri="{FF2B5EF4-FFF2-40B4-BE49-F238E27FC236}">
                  <a16:creationId xmlns:a16="http://schemas.microsoft.com/office/drawing/2014/main" id="{797BD3E0-10F8-801B-2CC0-D36E45A525E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17">
              <a:extLst>
                <a:ext uri="{FF2B5EF4-FFF2-40B4-BE49-F238E27FC236}">
                  <a16:creationId xmlns:a16="http://schemas.microsoft.com/office/drawing/2014/main" id="{5A0DDFC1-3EAC-7A51-D810-D6ECEA6F3961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9E41B5B-7F05-B548-C2E6-253FD42A4D71}"/>
              </a:ext>
            </a:extLst>
          </p:cNvPr>
          <p:cNvGrpSpPr/>
          <p:nvPr/>
        </p:nvGrpSpPr>
        <p:grpSpPr>
          <a:xfrm>
            <a:off x="8486196" y="1592286"/>
            <a:ext cx="3619560" cy="1271459"/>
            <a:chOff x="3495617" y="5492674"/>
            <a:chExt cx="3619560" cy="1271459"/>
          </a:xfrm>
        </p:grpSpPr>
        <p:pic>
          <p:nvPicPr>
            <p:cNvPr id="9" name="Gráfico 12" descr="Abeto">
              <a:extLst>
                <a:ext uri="{FF2B5EF4-FFF2-40B4-BE49-F238E27FC236}">
                  <a16:creationId xmlns:a16="http://schemas.microsoft.com/office/drawing/2014/main" id="{D858E199-3212-67EB-EBC9-E71B422F8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10" name="Gráfico 13" descr="Abeto">
              <a:extLst>
                <a:ext uri="{FF2B5EF4-FFF2-40B4-BE49-F238E27FC236}">
                  <a16:creationId xmlns:a16="http://schemas.microsoft.com/office/drawing/2014/main" id="{848FD841-E02E-ED25-E688-8BE999AD8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11" name="Gráfico 14" descr="Abeto">
              <a:extLst>
                <a:ext uri="{FF2B5EF4-FFF2-40B4-BE49-F238E27FC236}">
                  <a16:creationId xmlns:a16="http://schemas.microsoft.com/office/drawing/2014/main" id="{7CEC21AF-CE70-3D3D-608A-D8D170F14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12" name="Marcador de contenido 2">
              <a:extLst>
                <a:ext uri="{FF2B5EF4-FFF2-40B4-BE49-F238E27FC236}">
                  <a16:creationId xmlns:a16="http://schemas.microsoft.com/office/drawing/2014/main" id="{842A3770-4D0E-5F31-BED2-70734071EDC3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3" name="Marcador de contenido 2">
              <a:extLst>
                <a:ext uri="{FF2B5EF4-FFF2-40B4-BE49-F238E27FC236}">
                  <a16:creationId xmlns:a16="http://schemas.microsoft.com/office/drawing/2014/main" id="{80307FD6-F93A-CA17-4332-75E759697FB6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4" name="Marcador de contenido 2">
              <a:extLst>
                <a:ext uri="{FF2B5EF4-FFF2-40B4-BE49-F238E27FC236}">
                  <a16:creationId xmlns:a16="http://schemas.microsoft.com/office/drawing/2014/main" id="{FDF89547-417F-6E9A-3258-44D307F6DC30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5" name="CuadroTexto 18">
              <a:extLst>
                <a:ext uri="{FF2B5EF4-FFF2-40B4-BE49-F238E27FC236}">
                  <a16:creationId xmlns:a16="http://schemas.microsoft.com/office/drawing/2014/main" id="{69B11806-AA0A-FCA3-5A38-3CF79480DE0F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6" name="CuadroTexto 18">
              <a:extLst>
                <a:ext uri="{FF2B5EF4-FFF2-40B4-BE49-F238E27FC236}">
                  <a16:creationId xmlns:a16="http://schemas.microsoft.com/office/drawing/2014/main" id="{0B4AA8C9-F914-89F1-B43C-4160EF394572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C6977C-F225-4CB6-32F4-0CE11A599556}"/>
              </a:ext>
            </a:extLst>
          </p:cNvPr>
          <p:cNvGrpSpPr/>
          <p:nvPr/>
        </p:nvGrpSpPr>
        <p:grpSpPr>
          <a:xfrm>
            <a:off x="8816254" y="4730441"/>
            <a:ext cx="2875680" cy="1152743"/>
            <a:chOff x="8825518" y="5542858"/>
            <a:chExt cx="2875680" cy="11527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4203EE-883F-3041-75A9-7BFDD26F97B8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21" name="Graphic 20" descr="Fir tree">
                <a:extLst>
                  <a:ext uri="{FF2B5EF4-FFF2-40B4-BE49-F238E27FC236}">
                    <a16:creationId xmlns:a16="http://schemas.microsoft.com/office/drawing/2014/main" id="{89525936-7BC2-B4B2-7522-B682DF41D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2" name="Graphic 21" descr="Fir tree">
                <a:extLst>
                  <a:ext uri="{FF2B5EF4-FFF2-40B4-BE49-F238E27FC236}">
                    <a16:creationId xmlns:a16="http://schemas.microsoft.com/office/drawing/2014/main" id="{8FE83555-7546-1320-E3B3-DF73860D3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3" name="Graphic 22" descr="Fir tree">
                <a:extLst>
                  <a:ext uri="{FF2B5EF4-FFF2-40B4-BE49-F238E27FC236}">
                    <a16:creationId xmlns:a16="http://schemas.microsoft.com/office/drawing/2014/main" id="{558FCF57-F145-7D55-36BC-BC5AA5937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4019EE85-A3D5-3976-D2BD-FBA107876BA0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5" name="CuadroTexto 18">
                <a:extLst>
                  <a:ext uri="{FF2B5EF4-FFF2-40B4-BE49-F238E27FC236}">
                    <a16:creationId xmlns:a16="http://schemas.microsoft.com/office/drawing/2014/main" id="{DC75FA01-A1B7-262B-7B64-F4DA997FAB11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6" name="CuadroTexto 18">
                <a:extLst>
                  <a:ext uri="{FF2B5EF4-FFF2-40B4-BE49-F238E27FC236}">
                    <a16:creationId xmlns:a16="http://schemas.microsoft.com/office/drawing/2014/main" id="{EDFF3398-30EB-DBB6-3892-835567BDB55A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ADCEE78-C0D0-1D5A-0774-1F817DCF5637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20" name="CuadroTexto 18">
              <a:extLst>
                <a:ext uri="{FF2B5EF4-FFF2-40B4-BE49-F238E27FC236}">
                  <a16:creationId xmlns:a16="http://schemas.microsoft.com/office/drawing/2014/main" id="{51A3B255-E846-D7A0-822E-FFA8C2F0EB50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230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B672-125C-091D-5838-F1308E45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BCA8-BB01-2388-4931-61AAF48A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38" y="60478"/>
            <a:ext cx="10515600" cy="1111766"/>
          </a:xfrm>
        </p:spPr>
        <p:txBody>
          <a:bodyPr>
            <a:normAutofit/>
          </a:bodyPr>
          <a:lstStyle/>
          <a:p>
            <a:r>
              <a:rPr lang="es-ES" sz="35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endParaRPr lang="es-ES" sz="35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FDCC3-B5F8-6DE0-4F1C-5ACE7B87C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1359"/>
            <a:ext cx="7643712" cy="5221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2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3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modelise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describe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underlying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processes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decline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FD12B845-AFA6-AF0C-2A03-55ECC0B4C5A4}"/>
              </a:ext>
            </a:extLst>
          </p:cNvPr>
          <p:cNvSpPr txBox="1">
            <a:spLocks/>
          </p:cNvSpPr>
          <p:nvPr/>
        </p:nvSpPr>
        <p:spPr>
          <a:xfrm>
            <a:off x="6556859" y="2266512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Significant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differences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F0E099CA-34BE-3129-22EB-49FFBADD224C}"/>
              </a:ext>
            </a:extLst>
          </p:cNvPr>
          <p:cNvSpPr txBox="1">
            <a:spLocks/>
          </p:cNvSpPr>
          <p:nvPr/>
        </p:nvSpPr>
        <p:spPr>
          <a:xfrm>
            <a:off x="6556858" y="4098695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PCAs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2228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B73F-FBE1-FFAB-BCF6-15350D72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2F7E-7668-C527-B236-71204523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5A52DF4B-BC9E-6205-CC68-624B52266DD1}"/>
              </a:ext>
            </a:extLst>
          </p:cNvPr>
          <p:cNvSpPr txBox="1">
            <a:spLocks/>
          </p:cNvSpPr>
          <p:nvPr/>
        </p:nvSpPr>
        <p:spPr>
          <a:xfrm>
            <a:off x="611604" y="2171121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Wilcoxon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p-</a:t>
            </a:r>
            <a:r>
              <a:rPr lang="es-ES" sz="2400" b="1" dirty="0" err="1">
                <a:latin typeface="Helvetica"/>
                <a:cs typeface="Helvetica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F178A1ED-FB63-7250-A1D5-A5A84C7E2D3A}"/>
              </a:ext>
            </a:extLst>
          </p:cNvPr>
          <p:cNvSpPr txBox="1">
            <a:spLocks/>
          </p:cNvSpPr>
          <p:nvPr/>
        </p:nvSpPr>
        <p:spPr>
          <a:xfrm>
            <a:off x="6626987" y="180216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4000" b="1" dirty="0">
                <a:latin typeface="Helvetica"/>
                <a:cs typeface="Helvetica"/>
              </a:rPr>
              <a:t>AIC</a:t>
            </a:r>
            <a:endParaRPr lang="es-ES" sz="4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D8D336-DE7A-A87B-30DF-1755D6B8BB45}"/>
              </a:ext>
            </a:extLst>
          </p:cNvPr>
          <p:cNvSpPr txBox="1">
            <a:spLocks/>
          </p:cNvSpPr>
          <p:nvPr/>
        </p:nvSpPr>
        <p:spPr>
          <a:xfrm>
            <a:off x="611604" y="2909036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Models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p-</a:t>
            </a:r>
            <a:r>
              <a:rPr lang="es-ES" sz="2400" b="1" dirty="0" err="1">
                <a:latin typeface="Helvetica"/>
                <a:cs typeface="Helvetica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74F5A167-9B09-55CA-9E52-4AA8A62FF3D5}"/>
              </a:ext>
            </a:extLst>
          </p:cNvPr>
          <p:cNvSpPr/>
          <p:nvPr/>
        </p:nvSpPr>
        <p:spPr>
          <a:xfrm rot="18920159">
            <a:off x="2371398" y="1634752"/>
            <a:ext cx="2095148" cy="2096090"/>
          </a:xfrm>
          <a:prstGeom prst="plus">
            <a:avLst>
              <a:gd name="adj" fmla="val 46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E90D5D1-1505-F1FE-50CB-5EA994F3D74B}"/>
              </a:ext>
            </a:extLst>
          </p:cNvPr>
          <p:cNvSpPr txBox="1">
            <a:spLocks/>
          </p:cNvSpPr>
          <p:nvPr/>
        </p:nvSpPr>
        <p:spPr>
          <a:xfrm>
            <a:off x="5185534" y="2909036"/>
            <a:ext cx="673301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Null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r>
              <a:rPr lang="es-ES" sz="3200" b="1" dirty="0">
                <a:latin typeface="Helvetica"/>
                <a:cs typeface="Helvetica"/>
              </a:rPr>
              <a:t>: </a:t>
            </a:r>
            <a:r>
              <a:rPr lang="es-ES" sz="3200" dirty="0">
                <a:latin typeface="Helvetica"/>
                <a:cs typeface="Helvetica"/>
              </a:rPr>
              <a:t>Response ~ 1 + (1|site) </a:t>
            </a:r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298155C-3244-E884-28FA-761F2BB8FCCD}"/>
              </a:ext>
            </a:extLst>
          </p:cNvPr>
          <p:cNvSpPr txBox="1">
            <a:spLocks/>
          </p:cNvSpPr>
          <p:nvPr/>
        </p:nvSpPr>
        <p:spPr>
          <a:xfrm>
            <a:off x="5185533" y="3576414"/>
            <a:ext cx="6733017" cy="1110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latin typeface="Helvetica"/>
                <a:cs typeface="Helvetica"/>
              </a:rPr>
              <a:t>Full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r>
              <a:rPr lang="es-ES" sz="3200" b="1" dirty="0">
                <a:latin typeface="Helvetica"/>
                <a:cs typeface="Helvetica"/>
              </a:rPr>
              <a:t>: </a:t>
            </a:r>
            <a:r>
              <a:rPr lang="es-ES" sz="3200" dirty="0">
                <a:latin typeface="Helvetica"/>
                <a:cs typeface="Helvetica"/>
              </a:rPr>
              <a:t>Response ~ status/</a:t>
            </a:r>
            <a:r>
              <a:rPr lang="es-ES" sz="3200" dirty="0" err="1">
                <a:latin typeface="Helvetica"/>
                <a:cs typeface="Helvetica"/>
              </a:rPr>
              <a:t>damage</a:t>
            </a:r>
            <a:r>
              <a:rPr lang="es-ES" sz="3200" dirty="0">
                <a:latin typeface="Helvetica"/>
                <a:cs typeface="Helvetica"/>
              </a:rPr>
              <a:t> + (1|site) </a:t>
            </a:r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1959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7C9A-35CE-4D80-3B05-437D15F3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FF6D-ED13-6784-C000-C1C3A113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78404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17545-F274-D5C8-734D-0F060F1C1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39"/>
          <a:stretch>
            <a:fillRect/>
          </a:stretch>
        </p:blipFill>
        <p:spPr>
          <a:xfrm>
            <a:off x="1157052" y="1054359"/>
            <a:ext cx="4136519" cy="548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8C797-9785-D434-5178-DC250FD56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61"/>
          <a:stretch>
            <a:fillRect/>
          </a:stretch>
        </p:blipFill>
        <p:spPr>
          <a:xfrm>
            <a:off x="6519040" y="1134201"/>
            <a:ext cx="4515908" cy="5299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91907-566F-747F-3D3C-E1A19C0D5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6" t="92613" r="226" b="4771"/>
          <a:stretch>
            <a:fillRect/>
          </a:stretch>
        </p:blipFill>
        <p:spPr>
          <a:xfrm>
            <a:off x="1147721" y="6485811"/>
            <a:ext cx="4136519" cy="270589"/>
          </a:xfrm>
          <a:prstGeom prst="rect">
            <a:avLst/>
          </a:prstGeom>
        </p:spPr>
      </p:pic>
      <p:grpSp>
        <p:nvGrpSpPr>
          <p:cNvPr id="9" name="Grupo 20">
            <a:extLst>
              <a:ext uri="{FF2B5EF4-FFF2-40B4-BE49-F238E27FC236}">
                <a16:creationId xmlns:a16="http://schemas.microsoft.com/office/drawing/2014/main" id="{93BDD2EA-264E-C66C-C366-99397CDAF31D}"/>
              </a:ext>
            </a:extLst>
          </p:cNvPr>
          <p:cNvGrpSpPr/>
          <p:nvPr/>
        </p:nvGrpSpPr>
        <p:grpSpPr>
          <a:xfrm>
            <a:off x="9876838" y="715834"/>
            <a:ext cx="2315162" cy="836734"/>
            <a:chOff x="1139560" y="5095351"/>
            <a:chExt cx="3477754" cy="1250117"/>
          </a:xfrm>
        </p:grpSpPr>
        <p:pic>
          <p:nvPicPr>
            <p:cNvPr id="10" name="Imagen 3">
              <a:extLst>
                <a:ext uri="{FF2B5EF4-FFF2-40B4-BE49-F238E27FC236}">
                  <a16:creationId xmlns:a16="http://schemas.microsoft.com/office/drawing/2014/main" id="{4B547358-92FB-036C-FCB6-505F2B743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1" name="CuadroTexto 4">
              <a:extLst>
                <a:ext uri="{FF2B5EF4-FFF2-40B4-BE49-F238E27FC236}">
                  <a16:creationId xmlns:a16="http://schemas.microsoft.com/office/drawing/2014/main" id="{F2926389-A2B5-0170-E09E-CF3B48E582C2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2" name="CuadroTexto 17">
              <a:extLst>
                <a:ext uri="{FF2B5EF4-FFF2-40B4-BE49-F238E27FC236}">
                  <a16:creationId xmlns:a16="http://schemas.microsoft.com/office/drawing/2014/main" id="{02A3E811-5353-FAF1-E5F6-AF08B4FB7C36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408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9574-3411-066D-5383-4A689A01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E310568-5CA8-064F-6E1C-F67E1636B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" t="53062" r="-112" b="-126"/>
          <a:stretch>
            <a:fillRect/>
          </a:stretch>
        </p:blipFill>
        <p:spPr>
          <a:xfrm>
            <a:off x="6539564" y="1134201"/>
            <a:ext cx="4493813" cy="5299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B31EB-AB8C-8EE4-405D-5C507D2C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78404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0D3F9-3109-F64E-B84F-60155E394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6" t="92613" r="226" b="4771"/>
          <a:stretch>
            <a:fillRect/>
          </a:stretch>
        </p:blipFill>
        <p:spPr>
          <a:xfrm>
            <a:off x="1147721" y="6485811"/>
            <a:ext cx="4136519" cy="270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8A0BC2-1EFC-AEC1-AE95-F14C65240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" r="-1" b="46819"/>
          <a:stretch>
            <a:fillRect/>
          </a:stretch>
        </p:blipFill>
        <p:spPr>
          <a:xfrm>
            <a:off x="1157052" y="1134201"/>
            <a:ext cx="4049430" cy="539615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26AF0CA-DB2E-F949-DD9C-303D46B93356}"/>
              </a:ext>
            </a:extLst>
          </p:cNvPr>
          <p:cNvGrpSpPr/>
          <p:nvPr/>
        </p:nvGrpSpPr>
        <p:grpSpPr>
          <a:xfrm>
            <a:off x="10300996" y="734287"/>
            <a:ext cx="1610384" cy="1012208"/>
            <a:chOff x="9731871" y="5542858"/>
            <a:chExt cx="1969327" cy="115274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5B157B-DAB3-5A7E-83E1-1078F6E3892D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19" name="Graphic 18" descr="Fir tree">
                <a:extLst>
                  <a:ext uri="{FF2B5EF4-FFF2-40B4-BE49-F238E27FC236}">
                    <a16:creationId xmlns:a16="http://schemas.microsoft.com/office/drawing/2014/main" id="{318FCCC8-2FD3-6325-7380-7E07767C2C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0" name="Graphic 19" descr="Fir tree">
                <a:extLst>
                  <a:ext uri="{FF2B5EF4-FFF2-40B4-BE49-F238E27FC236}">
                    <a16:creationId xmlns:a16="http://schemas.microsoft.com/office/drawing/2014/main" id="{62ECC805-342A-F006-3F93-A01821D69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3" name="CuadroTexto 18">
                <a:extLst>
                  <a:ext uri="{FF2B5EF4-FFF2-40B4-BE49-F238E27FC236}">
                    <a16:creationId xmlns:a16="http://schemas.microsoft.com/office/drawing/2014/main" id="{27185D56-7EDF-ADC5-460C-FC44FE64D623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5038B571-0A15-0054-9EB6-9951519287EB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8" name="CuadroTexto 18">
              <a:extLst>
                <a:ext uri="{FF2B5EF4-FFF2-40B4-BE49-F238E27FC236}">
                  <a16:creationId xmlns:a16="http://schemas.microsoft.com/office/drawing/2014/main" id="{4AA71B55-93C1-208B-F6C1-1E7ACB95F120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42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1115-320C-B336-A4A0-CFE0C9E3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E0C8-8E1E-929B-28F5-BE37BC45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78404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D8645C-AF2A-DCA6-3FDA-45F7C6257427}"/>
              </a:ext>
            </a:extLst>
          </p:cNvPr>
          <p:cNvGrpSpPr/>
          <p:nvPr/>
        </p:nvGrpSpPr>
        <p:grpSpPr>
          <a:xfrm>
            <a:off x="8794514" y="1423998"/>
            <a:ext cx="1610384" cy="1012208"/>
            <a:chOff x="9731871" y="5542858"/>
            <a:chExt cx="1969327" cy="115274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E7266F-DFB8-0DFE-C166-2445D091A87A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19" name="Graphic 18" descr="Fir tree">
                <a:extLst>
                  <a:ext uri="{FF2B5EF4-FFF2-40B4-BE49-F238E27FC236}">
                    <a16:creationId xmlns:a16="http://schemas.microsoft.com/office/drawing/2014/main" id="{CD052CFF-3FB7-80AC-175B-52DB92199A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0" name="Graphic 19" descr="Fir tree">
                <a:extLst>
                  <a:ext uri="{FF2B5EF4-FFF2-40B4-BE49-F238E27FC236}">
                    <a16:creationId xmlns:a16="http://schemas.microsoft.com/office/drawing/2014/main" id="{08FCA625-AB6D-2545-570F-5D6014288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3" name="CuadroTexto 18">
                <a:extLst>
                  <a:ext uri="{FF2B5EF4-FFF2-40B4-BE49-F238E27FC236}">
                    <a16:creationId xmlns:a16="http://schemas.microsoft.com/office/drawing/2014/main" id="{DC4D7A2B-8864-FDE8-3077-7FEFE112BBF2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C94F61CA-0193-BF2D-BF97-2E6F8B4B6A48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8" name="CuadroTexto 18">
              <a:extLst>
                <a:ext uri="{FF2B5EF4-FFF2-40B4-BE49-F238E27FC236}">
                  <a16:creationId xmlns:a16="http://schemas.microsoft.com/office/drawing/2014/main" id="{F72E3046-2162-45C5-1A7D-4160D1BC700A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3" name="Grupo 20">
            <a:extLst>
              <a:ext uri="{FF2B5EF4-FFF2-40B4-BE49-F238E27FC236}">
                <a16:creationId xmlns:a16="http://schemas.microsoft.com/office/drawing/2014/main" id="{4A59EE3E-7A83-BC33-D382-F9330C6D6404}"/>
              </a:ext>
            </a:extLst>
          </p:cNvPr>
          <p:cNvGrpSpPr/>
          <p:nvPr/>
        </p:nvGrpSpPr>
        <p:grpSpPr>
          <a:xfrm>
            <a:off x="1474392" y="1511735"/>
            <a:ext cx="2315162" cy="836734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F0C5976C-EC6F-B270-4703-FF5BA46C7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4">
              <a:extLst>
                <a:ext uri="{FF2B5EF4-FFF2-40B4-BE49-F238E27FC236}">
                  <a16:creationId xmlns:a16="http://schemas.microsoft.com/office/drawing/2014/main" id="{E4B9F605-B9CC-6329-9CD1-5B5D5A46777A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17">
              <a:extLst>
                <a:ext uri="{FF2B5EF4-FFF2-40B4-BE49-F238E27FC236}">
                  <a16:creationId xmlns:a16="http://schemas.microsoft.com/office/drawing/2014/main" id="{D8E4428B-88A3-C8C1-43E4-59F5F415DC1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D5BBA3E-64B0-B470-CA09-0504DD859A92}"/>
              </a:ext>
            </a:extLst>
          </p:cNvPr>
          <p:cNvSpPr txBox="1">
            <a:spLocks/>
          </p:cNvSpPr>
          <p:nvPr/>
        </p:nvSpPr>
        <p:spPr>
          <a:xfrm>
            <a:off x="495709" y="271664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0466D8F-BCAE-FE51-7491-2B59C0CEB931}"/>
              </a:ext>
            </a:extLst>
          </p:cNvPr>
          <p:cNvSpPr txBox="1">
            <a:spLocks/>
          </p:cNvSpPr>
          <p:nvPr/>
        </p:nvSpPr>
        <p:spPr>
          <a:xfrm>
            <a:off x="495709" y="3192017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l-GR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↓BAI</a:t>
            </a:r>
          </a:p>
          <a:p>
            <a:pPr>
              <a:buClr>
                <a:srgbClr val="218317"/>
              </a:buClr>
            </a:pPr>
            <a:endParaRPr lang="es-ES" sz="20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53B85B64-26CA-892C-8FC6-9EE6D236DD57}"/>
              </a:ext>
            </a:extLst>
          </p:cNvPr>
          <p:cNvSpPr txBox="1">
            <a:spLocks/>
          </p:cNvSpPr>
          <p:nvPr/>
        </p:nvSpPr>
        <p:spPr>
          <a:xfrm>
            <a:off x="2898779" y="2716647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5AA689A-D72C-1D77-7ACD-83DA7DA71086}"/>
              </a:ext>
            </a:extLst>
          </p:cNvPr>
          <p:cNvSpPr txBox="1">
            <a:spLocks/>
          </p:cNvSpPr>
          <p:nvPr/>
        </p:nvSpPr>
        <p:spPr>
          <a:xfrm>
            <a:off x="2898779" y="3192017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4AD8012D-E2E9-23D7-DDEE-EEE043A8CCCC}"/>
              </a:ext>
            </a:extLst>
          </p:cNvPr>
          <p:cNvSpPr txBox="1">
            <a:spLocks/>
          </p:cNvSpPr>
          <p:nvPr/>
        </p:nvSpPr>
        <p:spPr>
          <a:xfrm>
            <a:off x="495709" y="4741390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D86F3C9-049A-6B21-1C6F-6A488785C32E}"/>
              </a:ext>
            </a:extLst>
          </p:cNvPr>
          <p:cNvSpPr txBox="1">
            <a:spLocks/>
          </p:cNvSpPr>
          <p:nvPr/>
        </p:nvSpPr>
        <p:spPr>
          <a:xfrm>
            <a:off x="419099" y="5310847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719D5196-4EEE-2F21-A349-131161C54410}"/>
              </a:ext>
            </a:extLst>
          </p:cNvPr>
          <p:cNvSpPr txBox="1">
            <a:spLocks/>
          </p:cNvSpPr>
          <p:nvPr/>
        </p:nvSpPr>
        <p:spPr>
          <a:xfrm>
            <a:off x="7057028" y="2714964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F9F2AEF3-DDE3-8695-8B07-22B0C9C2D970}"/>
              </a:ext>
            </a:extLst>
          </p:cNvPr>
          <p:cNvSpPr txBox="1">
            <a:spLocks/>
          </p:cNvSpPr>
          <p:nvPr/>
        </p:nvSpPr>
        <p:spPr>
          <a:xfrm>
            <a:off x="7057028" y="3190334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EBFC6429-5FA9-CE2A-CA61-65E0058C691E}"/>
              </a:ext>
            </a:extLst>
          </p:cNvPr>
          <p:cNvSpPr txBox="1">
            <a:spLocks/>
          </p:cNvSpPr>
          <p:nvPr/>
        </p:nvSpPr>
        <p:spPr>
          <a:xfrm>
            <a:off x="9460098" y="2714964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0EF1FE23-E4A9-31A8-4DCF-FF3907DCAF92}"/>
              </a:ext>
            </a:extLst>
          </p:cNvPr>
          <p:cNvSpPr txBox="1">
            <a:spLocks/>
          </p:cNvSpPr>
          <p:nvPr/>
        </p:nvSpPr>
        <p:spPr>
          <a:xfrm>
            <a:off x="9460098" y="3190334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298BA8C-B15B-06E1-9592-E0DD07A16E5E}"/>
              </a:ext>
            </a:extLst>
          </p:cNvPr>
          <p:cNvSpPr txBox="1">
            <a:spLocks/>
          </p:cNvSpPr>
          <p:nvPr/>
        </p:nvSpPr>
        <p:spPr>
          <a:xfrm>
            <a:off x="7057028" y="473970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A02F0766-FBD9-F15C-51F5-20F4144E73EF}"/>
              </a:ext>
            </a:extLst>
          </p:cNvPr>
          <p:cNvSpPr txBox="1">
            <a:spLocks/>
          </p:cNvSpPr>
          <p:nvPr/>
        </p:nvSpPr>
        <p:spPr>
          <a:xfrm>
            <a:off x="6980418" y="5309164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505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17E9-8852-0DCD-1C84-D47567EB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AC07-51B9-3847-7B6A-815A4390A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FD92BD64-7E73-1EB4-2020-AFFD8DD3A684}"/>
              </a:ext>
            </a:extLst>
          </p:cNvPr>
          <p:cNvSpPr txBox="1">
            <a:spLocks/>
          </p:cNvSpPr>
          <p:nvPr/>
        </p:nvSpPr>
        <p:spPr>
          <a:xfrm>
            <a:off x="611604" y="2171121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Wilcoxon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>
                <a:latin typeface="Helvetica"/>
                <a:cs typeface="Helvetica"/>
              </a:rPr>
              <a:t>p-</a:t>
            </a:r>
            <a:r>
              <a:rPr lang="es-ES" sz="2400" dirty="0" err="1">
                <a:latin typeface="Helvetica"/>
                <a:cs typeface="Helvetica"/>
              </a:rPr>
              <a:t>values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C8F45D5B-C8CC-E7D0-E49C-E1F420939A0B}"/>
              </a:ext>
            </a:extLst>
          </p:cNvPr>
          <p:cNvSpPr txBox="1">
            <a:spLocks/>
          </p:cNvSpPr>
          <p:nvPr/>
        </p:nvSpPr>
        <p:spPr>
          <a:xfrm>
            <a:off x="6626987" y="180216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4000" b="1" dirty="0">
                <a:latin typeface="Helvetica"/>
                <a:cs typeface="Helvetica"/>
              </a:rPr>
              <a:t>AIC</a:t>
            </a:r>
            <a:endParaRPr lang="es-ES" sz="4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AAB3EC8-6732-C600-938F-BDE5A8CDFAFB}"/>
              </a:ext>
            </a:extLst>
          </p:cNvPr>
          <p:cNvSpPr txBox="1">
            <a:spLocks/>
          </p:cNvSpPr>
          <p:nvPr/>
        </p:nvSpPr>
        <p:spPr>
          <a:xfrm>
            <a:off x="611604" y="2909036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Models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>
                <a:latin typeface="Helvetica"/>
                <a:cs typeface="Helvetica"/>
              </a:rPr>
              <a:t>p-</a:t>
            </a:r>
            <a:r>
              <a:rPr lang="es-ES" sz="2400" dirty="0" err="1">
                <a:latin typeface="Helvetica"/>
                <a:cs typeface="Helvetica"/>
              </a:rPr>
              <a:t>values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7D83196A-331D-8491-876D-2EE1D2138372}"/>
              </a:ext>
            </a:extLst>
          </p:cNvPr>
          <p:cNvSpPr/>
          <p:nvPr/>
        </p:nvSpPr>
        <p:spPr>
          <a:xfrm rot="18920159">
            <a:off x="2371398" y="1634752"/>
            <a:ext cx="2095148" cy="2096090"/>
          </a:xfrm>
          <a:prstGeom prst="plus">
            <a:avLst>
              <a:gd name="adj" fmla="val 46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6AED4B0-2913-7248-A34D-64B27EB18972}"/>
              </a:ext>
            </a:extLst>
          </p:cNvPr>
          <p:cNvSpPr txBox="1">
            <a:spLocks/>
          </p:cNvSpPr>
          <p:nvPr/>
        </p:nvSpPr>
        <p:spPr>
          <a:xfrm>
            <a:off x="5185534" y="2909036"/>
            <a:ext cx="673301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dirty="0" err="1">
                <a:latin typeface="Helvetica"/>
                <a:cs typeface="Helvetica"/>
              </a:rPr>
              <a:t>Null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model</a:t>
            </a:r>
            <a:r>
              <a:rPr lang="es-ES" sz="3200" dirty="0">
                <a:latin typeface="Helvetica"/>
                <a:cs typeface="Helvetica"/>
              </a:rPr>
              <a:t>: Response ~ 1 + (1|site) </a:t>
            </a:r>
            <a:endParaRPr lang="es-E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CB819BD-53C9-B3B9-70C9-A042E427F5BC}"/>
              </a:ext>
            </a:extLst>
          </p:cNvPr>
          <p:cNvSpPr txBox="1">
            <a:spLocks/>
          </p:cNvSpPr>
          <p:nvPr/>
        </p:nvSpPr>
        <p:spPr>
          <a:xfrm>
            <a:off x="5185533" y="3576414"/>
            <a:ext cx="6733017" cy="1110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dirty="0">
                <a:latin typeface="Helvetica"/>
                <a:cs typeface="Helvetica"/>
              </a:rPr>
              <a:t>Full </a:t>
            </a:r>
            <a:r>
              <a:rPr lang="es-ES" sz="3200" dirty="0" err="1">
                <a:latin typeface="Helvetica"/>
                <a:cs typeface="Helvetica"/>
              </a:rPr>
              <a:t>model</a:t>
            </a:r>
            <a:r>
              <a:rPr lang="es-ES" sz="3200" dirty="0">
                <a:latin typeface="Helvetica"/>
                <a:cs typeface="Helvetica"/>
              </a:rPr>
              <a:t>: Response ~ status/</a:t>
            </a:r>
            <a:r>
              <a:rPr lang="es-ES" sz="3200" dirty="0" err="1">
                <a:latin typeface="Helvetica"/>
                <a:cs typeface="Helvetica"/>
              </a:rPr>
              <a:t>damage</a:t>
            </a:r>
            <a:r>
              <a:rPr lang="es-ES" sz="3200" dirty="0">
                <a:latin typeface="Helvetica"/>
                <a:cs typeface="Helvetica"/>
              </a:rPr>
              <a:t> + (1|site) </a:t>
            </a:r>
            <a:endParaRPr lang="es-E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8B8DA106-2864-8E75-E3F6-212626453F9D}"/>
              </a:ext>
            </a:extLst>
          </p:cNvPr>
          <p:cNvSpPr/>
          <p:nvPr/>
        </p:nvSpPr>
        <p:spPr>
          <a:xfrm rot="18920159">
            <a:off x="6887052" y="1485365"/>
            <a:ext cx="3329976" cy="3311674"/>
          </a:xfrm>
          <a:prstGeom prst="plus">
            <a:avLst>
              <a:gd name="adj" fmla="val 46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219AFE8-7C14-F9C5-21BF-249755199F07}"/>
              </a:ext>
            </a:extLst>
          </p:cNvPr>
          <p:cNvSpPr txBox="1">
            <a:spLocks/>
          </p:cNvSpPr>
          <p:nvPr/>
        </p:nvSpPr>
        <p:spPr>
          <a:xfrm>
            <a:off x="775264" y="5326983"/>
            <a:ext cx="673301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latin typeface="Helvetica"/>
                <a:cs typeface="Helvetica"/>
              </a:rPr>
              <a:t>Variable </a:t>
            </a:r>
            <a:r>
              <a:rPr lang="es-ES" sz="3200" b="1" dirty="0" err="1">
                <a:latin typeface="Helvetica"/>
                <a:cs typeface="Helvetica"/>
              </a:rPr>
              <a:t>selection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based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on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expert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knowledge</a:t>
            </a:r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09750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E6EF-C2F2-D880-29C6-5B65B9BB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6B50-D64C-81B3-A1B2-8E58FDCE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332289-F0CA-DEB8-43D9-D12497ABAD29}"/>
              </a:ext>
            </a:extLst>
          </p:cNvPr>
          <p:cNvSpPr/>
          <p:nvPr/>
        </p:nvSpPr>
        <p:spPr>
          <a:xfrm>
            <a:off x="708348" y="2341983"/>
            <a:ext cx="3005236" cy="8770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Height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d.b.h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age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Hegyi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4AC12-E962-5BDD-FCA3-B04A06757C4F}"/>
              </a:ext>
            </a:extLst>
          </p:cNvPr>
          <p:cNvSpPr/>
          <p:nvPr/>
        </p:nvSpPr>
        <p:spPr>
          <a:xfrm>
            <a:off x="3977172" y="2341983"/>
            <a:ext cx="3005236" cy="87707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C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SLA, C:N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ABED6B-7588-781F-15F7-9E9F8D183220}"/>
              </a:ext>
            </a:extLst>
          </p:cNvPr>
          <p:cNvSpPr/>
          <p:nvPr/>
        </p:nvSpPr>
        <p:spPr>
          <a:xfrm>
            <a:off x="7245996" y="2341983"/>
            <a:ext cx="3005236" cy="87707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N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15N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25684-756A-5D37-A0D6-2CF14078F158}"/>
              </a:ext>
            </a:extLst>
          </p:cNvPr>
          <p:cNvSpPr/>
          <p:nvPr/>
        </p:nvSpPr>
        <p:spPr>
          <a:xfrm>
            <a:off x="708348" y="3841666"/>
            <a:ext cx="3005236" cy="8770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a/b,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CC6D58-691C-73DF-E0F1-16AE91D83560}"/>
              </a:ext>
            </a:extLst>
          </p:cNvPr>
          <p:cNvSpPr/>
          <p:nvPr/>
        </p:nvSpPr>
        <p:spPr>
          <a:xfrm>
            <a:off x="3977172" y="3841666"/>
            <a:ext cx="3005236" cy="8770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Carotenoids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/ car.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1F4DC-B638-DD9C-684E-AF33D793E145}"/>
              </a:ext>
            </a:extLst>
          </p:cNvPr>
          <p:cNvSpPr/>
          <p:nvPr/>
        </p:nvSpPr>
        <p:spPr>
          <a:xfrm>
            <a:off x="7245996" y="3841666"/>
            <a:ext cx="3005236" cy="877078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LWC,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13C,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18O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D0B21-FCDB-DEFA-55D4-1F950AFEAA80}"/>
              </a:ext>
            </a:extLst>
          </p:cNvPr>
          <p:cNvSpPr/>
          <p:nvPr/>
        </p:nvSpPr>
        <p:spPr>
          <a:xfrm>
            <a:off x="3977172" y="5341349"/>
            <a:ext cx="3005236" cy="87707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BAI80, BAI05, </a:t>
            </a:r>
            <a:r>
              <a:rPr lang="es-ES" dirty="0" err="1">
                <a:solidFill>
                  <a:sysClr val="windowText" lastClr="000000"/>
                </a:solidFill>
              </a:rPr>
              <a:t>Rt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Rs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27888A6F-3915-6535-03D6-C47B9BEC586B}"/>
              </a:ext>
            </a:extLst>
          </p:cNvPr>
          <p:cNvSpPr txBox="1">
            <a:spLocks/>
          </p:cNvSpPr>
          <p:nvPr/>
        </p:nvSpPr>
        <p:spPr>
          <a:xfrm>
            <a:off x="708348" y="197517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size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327219B9-19BE-CAAF-1C84-B8FF8649EC01}"/>
              </a:ext>
            </a:extLst>
          </p:cNvPr>
          <p:cNvSpPr txBox="1">
            <a:spLocks/>
          </p:cNvSpPr>
          <p:nvPr/>
        </p:nvSpPr>
        <p:spPr>
          <a:xfrm>
            <a:off x="3977172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C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3AF83B80-2767-FBBE-A18E-DF476F396D06}"/>
              </a:ext>
            </a:extLst>
          </p:cNvPr>
          <p:cNvSpPr txBox="1">
            <a:spLocks/>
          </p:cNvSpPr>
          <p:nvPr/>
        </p:nvSpPr>
        <p:spPr>
          <a:xfrm>
            <a:off x="7245996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E88312F5-B05A-F6D7-999A-E4EE5C60C32C}"/>
              </a:ext>
            </a:extLst>
          </p:cNvPr>
          <p:cNvSpPr txBox="1">
            <a:spLocks/>
          </p:cNvSpPr>
          <p:nvPr/>
        </p:nvSpPr>
        <p:spPr>
          <a:xfrm>
            <a:off x="708348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Photosynthetic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FFE6A551-7D10-78C3-4A90-EF8B764B1786}"/>
              </a:ext>
            </a:extLst>
          </p:cNvPr>
          <p:cNvSpPr txBox="1">
            <a:spLocks/>
          </p:cNvSpPr>
          <p:nvPr/>
        </p:nvSpPr>
        <p:spPr>
          <a:xfrm>
            <a:off x="3977172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Photoprotection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505F1103-1E0E-DBD4-AEC2-114DE8D62D41}"/>
              </a:ext>
            </a:extLst>
          </p:cNvPr>
          <p:cNvSpPr txBox="1">
            <a:spLocks/>
          </p:cNvSpPr>
          <p:nvPr/>
        </p:nvSpPr>
        <p:spPr>
          <a:xfrm>
            <a:off x="7245996" y="345553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308D3273-8CB1-56B8-A4BA-88405BECFF00}"/>
              </a:ext>
            </a:extLst>
          </p:cNvPr>
          <p:cNvSpPr txBox="1">
            <a:spLocks/>
          </p:cNvSpPr>
          <p:nvPr/>
        </p:nvSpPr>
        <p:spPr>
          <a:xfrm>
            <a:off x="3977171" y="4955220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3839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D444-46AF-6694-1D08-E3AFCFC4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63AFC8C-A9E3-B7A1-643B-BAFEC3D34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21" y="0"/>
            <a:ext cx="3428689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73AF5-5C7C-C444-2F9F-072F024D6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4" y="0"/>
            <a:ext cx="342868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CAB3E9-91CB-101A-CBBB-919403059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" y="0"/>
            <a:ext cx="34286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D7EDA-D4B0-54B4-480D-96E6D787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495" y="5654351"/>
            <a:ext cx="1547293" cy="432547"/>
          </a:xfrm>
        </p:spPr>
        <p:txBody>
          <a:bodyPr>
            <a:noAutofit/>
          </a:bodyPr>
          <a:lstStyle/>
          <a:p>
            <a:r>
              <a:rPr lang="es-ES" sz="16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A661B6-1C18-0390-71D2-DBD1F777180F}"/>
              </a:ext>
            </a:extLst>
          </p:cNvPr>
          <p:cNvSpPr txBox="1">
            <a:spLocks/>
          </p:cNvSpPr>
          <p:nvPr/>
        </p:nvSpPr>
        <p:spPr>
          <a:xfrm>
            <a:off x="6096000" y="5654351"/>
            <a:ext cx="1547293" cy="432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16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1A82499-679D-CDBB-ED8B-6AD3B7A31B98}"/>
              </a:ext>
            </a:extLst>
          </p:cNvPr>
          <p:cNvSpPr txBox="1">
            <a:spLocks/>
          </p:cNvSpPr>
          <p:nvPr/>
        </p:nvSpPr>
        <p:spPr>
          <a:xfrm>
            <a:off x="9524689" y="5654350"/>
            <a:ext cx="1547293" cy="432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pinea</a:t>
            </a:r>
          </a:p>
        </p:txBody>
      </p:sp>
    </p:spTree>
    <p:extLst>
      <p:ext uri="{BB962C8B-B14F-4D97-AF65-F5344CB8AC3E}">
        <p14:creationId xmlns:p14="http://schemas.microsoft.com/office/powerpoint/2010/main" val="171856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4A4E-8193-1754-814B-7A4DDC9B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C7BE-CE5F-DFA0-2EA0-AD1A1BDC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2A6B6-A047-1FC5-B90D-03C90B0CA5E2}"/>
              </a:ext>
            </a:extLst>
          </p:cNvPr>
          <p:cNvSpPr/>
          <p:nvPr/>
        </p:nvSpPr>
        <p:spPr>
          <a:xfrm>
            <a:off x="708348" y="2341983"/>
            <a:ext cx="3005236" cy="8770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 err="1">
                <a:solidFill>
                  <a:sysClr val="windowText" lastClr="000000"/>
                </a:solidFill>
              </a:rPr>
              <a:t>Height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d.b.h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age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Hegyi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262220-02C8-8A8A-0BC3-0FF7FF00B518}"/>
              </a:ext>
            </a:extLst>
          </p:cNvPr>
          <p:cNvSpPr/>
          <p:nvPr/>
        </p:nvSpPr>
        <p:spPr>
          <a:xfrm>
            <a:off x="3977172" y="2341983"/>
            <a:ext cx="3005236" cy="87707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C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b="1" u="sng" dirty="0">
                <a:solidFill>
                  <a:sysClr val="windowText" lastClr="000000"/>
                </a:solidFill>
              </a:rPr>
              <a:t>SLA</a:t>
            </a:r>
            <a:r>
              <a:rPr lang="es-ES" dirty="0">
                <a:solidFill>
                  <a:sysClr val="windowText" lastClr="000000"/>
                </a:solidFill>
              </a:rPr>
              <a:t>, C:N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C41D59-0AD9-1ACE-EF1E-46DB21D0D745}"/>
              </a:ext>
            </a:extLst>
          </p:cNvPr>
          <p:cNvSpPr/>
          <p:nvPr/>
        </p:nvSpPr>
        <p:spPr>
          <a:xfrm>
            <a:off x="7245996" y="2341983"/>
            <a:ext cx="3005236" cy="87707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ysClr val="windowText" lastClr="000000"/>
                </a:solidFill>
              </a:rPr>
              <a:t>N </a:t>
            </a:r>
            <a:r>
              <a:rPr lang="es-ES" b="1" u="sng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15N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295B4F-FB28-4D3C-6974-9E925D4BC71C}"/>
              </a:ext>
            </a:extLst>
          </p:cNvPr>
          <p:cNvSpPr/>
          <p:nvPr/>
        </p:nvSpPr>
        <p:spPr>
          <a:xfrm>
            <a:off x="708348" y="3841666"/>
            <a:ext cx="3005236" cy="8770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 err="1">
                <a:solidFill>
                  <a:sysClr val="windowText" lastClr="000000"/>
                </a:solidFill>
              </a:rPr>
              <a:t>Chl</a:t>
            </a:r>
            <a:r>
              <a:rPr lang="es-ES" b="1" u="sng" dirty="0">
                <a:solidFill>
                  <a:sysClr val="windowText" lastClr="000000"/>
                </a:solidFill>
              </a:rPr>
              <a:t>.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a/b,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EDACD-23E2-8945-0034-7BEA997293B1}"/>
              </a:ext>
            </a:extLst>
          </p:cNvPr>
          <p:cNvSpPr/>
          <p:nvPr/>
        </p:nvSpPr>
        <p:spPr>
          <a:xfrm>
            <a:off x="3977172" y="3841666"/>
            <a:ext cx="3005236" cy="8770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 err="1">
                <a:solidFill>
                  <a:sysClr val="windowText" lastClr="000000"/>
                </a:solidFill>
              </a:rPr>
              <a:t>Carotenoids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/ car.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D13B7-A742-3127-717C-A3A4A9446896}"/>
              </a:ext>
            </a:extLst>
          </p:cNvPr>
          <p:cNvSpPr/>
          <p:nvPr/>
        </p:nvSpPr>
        <p:spPr>
          <a:xfrm>
            <a:off x="7245996" y="3841666"/>
            <a:ext cx="3005236" cy="877078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LWC, </a:t>
            </a:r>
            <a:r>
              <a:rPr lang="el-GR" b="1" u="sng" dirty="0">
                <a:solidFill>
                  <a:sysClr val="windowText" lastClr="000000"/>
                </a:solidFill>
              </a:rPr>
              <a:t>δ</a:t>
            </a:r>
            <a:r>
              <a:rPr lang="es-ES" b="1" u="sng" dirty="0">
                <a:solidFill>
                  <a:sysClr val="windowText" lastClr="000000"/>
                </a:solidFill>
              </a:rPr>
              <a:t>13C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18O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673BC9-CEC8-A9E1-9774-7CA81543D8D4}"/>
              </a:ext>
            </a:extLst>
          </p:cNvPr>
          <p:cNvSpPr/>
          <p:nvPr/>
        </p:nvSpPr>
        <p:spPr>
          <a:xfrm>
            <a:off x="3977172" y="5341349"/>
            <a:ext cx="3005236" cy="87707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ysClr val="windowText" lastClr="000000"/>
                </a:solidFill>
              </a:rPr>
              <a:t>BAI80</a:t>
            </a:r>
            <a:r>
              <a:rPr lang="es-ES" dirty="0">
                <a:solidFill>
                  <a:sysClr val="windowText" lastClr="000000"/>
                </a:solidFill>
              </a:rPr>
              <a:t>, BAI05, </a:t>
            </a:r>
            <a:r>
              <a:rPr lang="es-ES" dirty="0" err="1">
                <a:solidFill>
                  <a:sysClr val="windowText" lastClr="000000"/>
                </a:solidFill>
              </a:rPr>
              <a:t>Rt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Rs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57D2FD9-05DA-EFA2-199C-14F250813275}"/>
              </a:ext>
            </a:extLst>
          </p:cNvPr>
          <p:cNvSpPr txBox="1">
            <a:spLocks/>
          </p:cNvSpPr>
          <p:nvPr/>
        </p:nvSpPr>
        <p:spPr>
          <a:xfrm>
            <a:off x="708348" y="197517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size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755B6E14-846D-F83B-84A4-1296274617F6}"/>
              </a:ext>
            </a:extLst>
          </p:cNvPr>
          <p:cNvSpPr txBox="1">
            <a:spLocks/>
          </p:cNvSpPr>
          <p:nvPr/>
        </p:nvSpPr>
        <p:spPr>
          <a:xfrm>
            <a:off x="3977172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C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0834F7B9-96DB-F4F0-4745-7B98BC149559}"/>
              </a:ext>
            </a:extLst>
          </p:cNvPr>
          <p:cNvSpPr txBox="1">
            <a:spLocks/>
          </p:cNvSpPr>
          <p:nvPr/>
        </p:nvSpPr>
        <p:spPr>
          <a:xfrm>
            <a:off x="7245996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D9B0C810-E3C7-6BC8-91C2-F59AB7AFB783}"/>
              </a:ext>
            </a:extLst>
          </p:cNvPr>
          <p:cNvSpPr txBox="1">
            <a:spLocks/>
          </p:cNvSpPr>
          <p:nvPr/>
        </p:nvSpPr>
        <p:spPr>
          <a:xfrm>
            <a:off x="708348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Photosynthetic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F349B7BC-92A2-F720-B530-6B10988B40DC}"/>
              </a:ext>
            </a:extLst>
          </p:cNvPr>
          <p:cNvSpPr txBox="1">
            <a:spLocks/>
          </p:cNvSpPr>
          <p:nvPr/>
        </p:nvSpPr>
        <p:spPr>
          <a:xfrm>
            <a:off x="3977172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Photoprotection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AF8BDD96-0DDA-299B-8C75-A425E320FBC9}"/>
              </a:ext>
            </a:extLst>
          </p:cNvPr>
          <p:cNvSpPr txBox="1">
            <a:spLocks/>
          </p:cNvSpPr>
          <p:nvPr/>
        </p:nvSpPr>
        <p:spPr>
          <a:xfrm>
            <a:off x="7245996" y="345553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F6FC0B29-B87B-B868-EF8D-871AB5ECC6DF}"/>
              </a:ext>
            </a:extLst>
          </p:cNvPr>
          <p:cNvSpPr txBox="1">
            <a:spLocks/>
          </p:cNvSpPr>
          <p:nvPr/>
        </p:nvSpPr>
        <p:spPr>
          <a:xfrm>
            <a:off x="3977171" y="4955220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FBD7C1-2EA7-5804-AFC7-8D0440E473E9}"/>
              </a:ext>
            </a:extLst>
          </p:cNvPr>
          <p:cNvSpPr txBox="1">
            <a:spLocks/>
          </p:cNvSpPr>
          <p:nvPr/>
        </p:nvSpPr>
        <p:spPr>
          <a:xfrm>
            <a:off x="7439770" y="551247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latin typeface="Helvetica"/>
                <a:cs typeface="Helvetica"/>
              </a:rPr>
              <a:t>Var. </a:t>
            </a:r>
            <a:r>
              <a:rPr lang="es-ES" sz="3200" b="1" dirty="0" err="1">
                <a:latin typeface="Helvetica"/>
                <a:cs typeface="Helvetica"/>
              </a:rPr>
              <a:t>selection</a:t>
            </a:r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6332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6A4E-9E87-C982-8842-450732B8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BEC0-DFE9-0CB0-CC7B-61090BE6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EEA2D664-8232-908F-A858-FF9A577A9B41}"/>
              </a:ext>
            </a:extLst>
          </p:cNvPr>
          <p:cNvSpPr txBox="1">
            <a:spLocks/>
          </p:cNvSpPr>
          <p:nvPr/>
        </p:nvSpPr>
        <p:spPr>
          <a:xfrm>
            <a:off x="7198299" y="1578228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4000" b="1" dirty="0" err="1">
                <a:latin typeface="Helvetica"/>
                <a:cs typeface="Helvetica"/>
              </a:rPr>
              <a:t>PCAs</a:t>
            </a:r>
            <a:endParaRPr lang="es-ES" sz="4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9D7AD-E7CE-772A-240B-4851A4664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77" y="1163495"/>
            <a:ext cx="5494176" cy="5494176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9E76D6E-F00B-363D-7203-6D05E84F19F7}"/>
              </a:ext>
            </a:extLst>
          </p:cNvPr>
          <p:cNvSpPr txBox="1">
            <a:spLocks/>
          </p:cNvSpPr>
          <p:nvPr/>
        </p:nvSpPr>
        <p:spPr>
          <a:xfrm>
            <a:off x="1560931" y="1328614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 err="1">
                <a:latin typeface="Helvetica"/>
                <a:cs typeface="Helvetica"/>
              </a:rPr>
              <a:t>Abies</a:t>
            </a:r>
            <a:r>
              <a:rPr lang="es-ES" sz="1400" b="1" i="1" dirty="0">
                <a:latin typeface="Helvetica"/>
                <a:cs typeface="Helvetica"/>
              </a:rPr>
              <a:t> alba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D4F31AD-8952-74D5-34B6-98286FE57BC2}"/>
              </a:ext>
            </a:extLst>
          </p:cNvPr>
          <p:cNvSpPr txBox="1">
            <a:spLocks/>
          </p:cNvSpPr>
          <p:nvPr/>
        </p:nvSpPr>
        <p:spPr>
          <a:xfrm>
            <a:off x="4379615" y="1328614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>
                <a:latin typeface="Helvetica"/>
                <a:cs typeface="Helvetica"/>
              </a:rPr>
              <a:t>P. </a:t>
            </a:r>
            <a:r>
              <a:rPr lang="es-ES" sz="1400" b="1" i="1" dirty="0" err="1">
                <a:latin typeface="Helvetica"/>
                <a:cs typeface="Helvetica"/>
              </a:rPr>
              <a:t>sylvestris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EEAD00F-25C4-8469-981B-2F3DC9708170}"/>
              </a:ext>
            </a:extLst>
          </p:cNvPr>
          <p:cNvSpPr txBox="1">
            <a:spLocks/>
          </p:cNvSpPr>
          <p:nvPr/>
        </p:nvSpPr>
        <p:spPr>
          <a:xfrm>
            <a:off x="1560931" y="4081743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>
                <a:latin typeface="Helvetica"/>
                <a:cs typeface="Helvetica"/>
              </a:rPr>
              <a:t>P. pinea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400EFF2-9D7C-C204-C92B-9A28ECC12150}"/>
              </a:ext>
            </a:extLst>
          </p:cNvPr>
          <p:cNvSpPr txBox="1">
            <a:spLocks/>
          </p:cNvSpPr>
          <p:nvPr/>
        </p:nvSpPr>
        <p:spPr>
          <a:xfrm>
            <a:off x="7375623" y="2363592"/>
            <a:ext cx="3850107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4000" dirty="0" err="1">
                <a:latin typeface="Helvetica"/>
                <a:cs typeface="Helvetica"/>
              </a:rPr>
              <a:t>Existence</a:t>
            </a:r>
            <a:r>
              <a:rPr lang="es-ES" sz="4000" dirty="0">
                <a:latin typeface="Helvetica"/>
                <a:cs typeface="Helvetica"/>
              </a:rPr>
              <a:t> </a:t>
            </a:r>
            <a:r>
              <a:rPr lang="es-ES" sz="4000" dirty="0" err="1">
                <a:latin typeface="Helvetica"/>
                <a:cs typeface="Helvetica"/>
              </a:rPr>
              <a:t>of</a:t>
            </a:r>
            <a:r>
              <a:rPr lang="es-ES" sz="4000" dirty="0">
                <a:latin typeface="Helvetica"/>
                <a:cs typeface="Helvetica"/>
              </a:rPr>
              <a:t> a global </a:t>
            </a:r>
            <a:r>
              <a:rPr lang="es-ES" sz="4000" dirty="0" err="1">
                <a:latin typeface="Helvetica"/>
                <a:cs typeface="Helvetica"/>
              </a:rPr>
              <a:t>plant</a:t>
            </a:r>
            <a:r>
              <a:rPr lang="es-ES" sz="4000" dirty="0">
                <a:latin typeface="Helvetica"/>
                <a:cs typeface="Helvetica"/>
              </a:rPr>
              <a:t> </a:t>
            </a:r>
            <a:r>
              <a:rPr lang="es-ES" sz="4000" dirty="0" err="1">
                <a:latin typeface="Helvetica"/>
                <a:cs typeface="Helvetica"/>
              </a:rPr>
              <a:t>traits</a:t>
            </a:r>
            <a:r>
              <a:rPr lang="es-ES" sz="4000" dirty="0">
                <a:latin typeface="Helvetica"/>
                <a:cs typeface="Helvetica"/>
              </a:rPr>
              <a:t> </a:t>
            </a:r>
            <a:r>
              <a:rPr lang="es-ES" sz="4000" dirty="0" err="1">
                <a:latin typeface="Helvetica"/>
                <a:cs typeface="Helvetica"/>
              </a:rPr>
              <a:t>spectrum</a:t>
            </a:r>
            <a:r>
              <a:rPr lang="es-ES" sz="4000" dirty="0">
                <a:latin typeface="Helvetica"/>
                <a:cs typeface="Helvetica"/>
              </a:rPr>
              <a:t>!</a:t>
            </a:r>
            <a:endParaRPr lang="es-ES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9E53F1-8778-49BC-DB5A-EEA57065A97A}"/>
              </a:ext>
            </a:extLst>
          </p:cNvPr>
          <p:cNvCxnSpPr/>
          <p:nvPr/>
        </p:nvCxnSpPr>
        <p:spPr>
          <a:xfrm flipV="1">
            <a:off x="1175657" y="1328614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AE7B05-FD9E-7CFF-DD7F-29C6C4A176CA}"/>
              </a:ext>
            </a:extLst>
          </p:cNvPr>
          <p:cNvCxnSpPr/>
          <p:nvPr/>
        </p:nvCxnSpPr>
        <p:spPr>
          <a:xfrm flipV="1">
            <a:off x="3994341" y="1320707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0D59-7579-DE97-A3D8-F8BC7170999C}"/>
              </a:ext>
            </a:extLst>
          </p:cNvPr>
          <p:cNvCxnSpPr/>
          <p:nvPr/>
        </p:nvCxnSpPr>
        <p:spPr>
          <a:xfrm flipV="1">
            <a:off x="1888733" y="4265146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498BE06-5F66-CCBC-60DF-477B2D034C11}"/>
              </a:ext>
            </a:extLst>
          </p:cNvPr>
          <p:cNvSpPr txBox="1">
            <a:spLocks/>
          </p:cNvSpPr>
          <p:nvPr/>
        </p:nvSpPr>
        <p:spPr>
          <a:xfrm>
            <a:off x="5104102" y="4081743"/>
            <a:ext cx="6267386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Temperate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: PC1 – </a:t>
            </a:r>
            <a:r>
              <a:rPr lang="es-ES" sz="2400" dirty="0" err="1">
                <a:latin typeface="Helvetica"/>
                <a:cs typeface="Helvetica"/>
              </a:rPr>
              <a:t>resource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acquisition</a:t>
            </a:r>
            <a:r>
              <a:rPr lang="es-ES" sz="2400" dirty="0">
                <a:latin typeface="Helvetica"/>
                <a:cs typeface="Helvetica"/>
              </a:rPr>
              <a:t> / PC2 -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Taller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 ‘</a:t>
            </a:r>
            <a:r>
              <a:rPr lang="es-ES" sz="2400" dirty="0" err="1">
                <a:latin typeface="Helvetica"/>
                <a:cs typeface="Helvetica"/>
              </a:rPr>
              <a:t>faster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strategies</a:t>
            </a:r>
            <a:r>
              <a:rPr lang="es-ES" sz="2400" dirty="0">
                <a:latin typeface="Helvetica"/>
                <a:cs typeface="Helvetica"/>
              </a:rPr>
              <a:t>’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6CCDCB2-1B35-3F95-443D-0000F3075E2B}"/>
              </a:ext>
            </a:extLst>
          </p:cNvPr>
          <p:cNvSpPr txBox="1">
            <a:spLocks/>
          </p:cNvSpPr>
          <p:nvPr/>
        </p:nvSpPr>
        <p:spPr>
          <a:xfrm>
            <a:off x="5104102" y="5369707"/>
            <a:ext cx="6267386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Mediterranean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: PC1 – </a:t>
            </a:r>
            <a:r>
              <a:rPr lang="es-ES" sz="2400" dirty="0" err="1">
                <a:latin typeface="Helvetica"/>
                <a:cs typeface="Helvetica"/>
              </a:rPr>
              <a:t>resource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acquisition</a:t>
            </a:r>
            <a:r>
              <a:rPr lang="es-ES" sz="2400" dirty="0">
                <a:latin typeface="Helvetica"/>
                <a:cs typeface="Helvetica"/>
              </a:rPr>
              <a:t>?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Taller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 ‘</a:t>
            </a:r>
            <a:r>
              <a:rPr lang="es-ES" sz="2400" dirty="0" err="1">
                <a:latin typeface="Helvetica"/>
                <a:cs typeface="Helvetica"/>
              </a:rPr>
              <a:t>slower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strategies</a:t>
            </a:r>
            <a:r>
              <a:rPr lang="es-ES" sz="2400" dirty="0">
                <a:latin typeface="Helvetica"/>
                <a:cs typeface="Helvetica"/>
              </a:rPr>
              <a:t>’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9105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EB73-49FA-81E9-6A86-DFBA8DB0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40AC-0AC7-519C-A3CD-AEDB9BE0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2CFB7-4CCB-1AA6-BD03-43CAF9B17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56"/>
          <a:stretch>
            <a:fillRect/>
          </a:stretch>
        </p:blipFill>
        <p:spPr>
          <a:xfrm>
            <a:off x="1384170" y="1313383"/>
            <a:ext cx="9423659" cy="3825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CE4950-9A19-FEAE-99B8-600CB5158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7F749C8-D8E1-E87C-0569-EB8841CC0D6E}"/>
              </a:ext>
            </a:extLst>
          </p:cNvPr>
          <p:cNvSpPr txBox="1">
            <a:spLocks/>
          </p:cNvSpPr>
          <p:nvPr/>
        </p:nvSpPr>
        <p:spPr>
          <a:xfrm rot="16200000">
            <a:off x="-491007" y="2425066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Abies</a:t>
            </a:r>
            <a:r>
              <a:rPr lang="es-ES" b="1" i="1" dirty="0">
                <a:latin typeface="Helvetica"/>
                <a:cs typeface="Helvetica"/>
              </a:rPr>
              <a:t> alba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1284707-50F8-244F-73EA-A84C138CE98A}"/>
              </a:ext>
            </a:extLst>
          </p:cNvPr>
          <p:cNvSpPr txBox="1">
            <a:spLocks/>
          </p:cNvSpPr>
          <p:nvPr/>
        </p:nvSpPr>
        <p:spPr>
          <a:xfrm>
            <a:off x="916816" y="5417432"/>
            <a:ext cx="3931570" cy="12134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Drought-induced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decline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collapses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Yu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2022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8B35BA92-89B9-BF11-C8A7-00D46814F2ED}"/>
              </a:ext>
            </a:extLst>
          </p:cNvPr>
          <p:cNvSpPr txBox="1">
            <a:spLocks/>
          </p:cNvSpPr>
          <p:nvPr/>
        </p:nvSpPr>
        <p:spPr>
          <a:xfrm>
            <a:off x="4757505" y="5397721"/>
            <a:ext cx="3596503" cy="852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determined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resource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acquisition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DA6C19A1-8685-DBC5-6671-0B30D943E933}"/>
              </a:ext>
            </a:extLst>
          </p:cNvPr>
          <p:cNvSpPr txBox="1">
            <a:spLocks/>
          </p:cNvSpPr>
          <p:nvPr/>
        </p:nvSpPr>
        <p:spPr>
          <a:xfrm>
            <a:off x="8176397" y="5397721"/>
            <a:ext cx="3596503" cy="852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limited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stomatal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regulation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C4A178-E465-F429-D368-BA5EBBF0485E}"/>
              </a:ext>
            </a:extLst>
          </p:cNvPr>
          <p:cNvSpPr/>
          <p:nvPr/>
        </p:nvSpPr>
        <p:spPr>
          <a:xfrm rot="1382455">
            <a:off x="8537511" y="1703417"/>
            <a:ext cx="513183" cy="29179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C45BD1-86B5-385E-27C8-B7A1E8D9C734}"/>
              </a:ext>
            </a:extLst>
          </p:cNvPr>
          <p:cNvSpPr/>
          <p:nvPr/>
        </p:nvSpPr>
        <p:spPr>
          <a:xfrm rot="12883266">
            <a:off x="6176566" y="1183898"/>
            <a:ext cx="969220" cy="2244453"/>
          </a:xfrm>
          <a:prstGeom prst="ellipse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17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9C3FA-2D50-2078-87BE-13ABB0ED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8D1FB30-F7F2-8501-3637-0B0906710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40" b="39184"/>
          <a:stretch>
            <a:fillRect/>
          </a:stretch>
        </p:blipFill>
        <p:spPr>
          <a:xfrm>
            <a:off x="1384170" y="1313382"/>
            <a:ext cx="9413837" cy="3825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A6AA20-7BE9-F5B8-EA5B-3B916D68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85E40-8E4B-909C-F998-487927F36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696EC30-5C34-171A-B3BE-AB4153936C85}"/>
              </a:ext>
            </a:extLst>
          </p:cNvPr>
          <p:cNvSpPr txBox="1">
            <a:spLocks/>
          </p:cNvSpPr>
          <p:nvPr/>
        </p:nvSpPr>
        <p:spPr>
          <a:xfrm>
            <a:off x="8447313" y="5544618"/>
            <a:ext cx="3596503" cy="884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limited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stomatal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regulation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ACBA158-C93F-B54A-B04F-137938D88F21}"/>
              </a:ext>
            </a:extLst>
          </p:cNvPr>
          <p:cNvSpPr txBox="1">
            <a:spLocks/>
          </p:cNvSpPr>
          <p:nvPr/>
        </p:nvSpPr>
        <p:spPr>
          <a:xfrm>
            <a:off x="4415795" y="5511601"/>
            <a:ext cx="3931570" cy="12134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preserved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even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decline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conditions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8FF7465-39FF-2437-4C59-15CD986C9225}"/>
              </a:ext>
            </a:extLst>
          </p:cNvPr>
          <p:cNvSpPr txBox="1">
            <a:spLocks/>
          </p:cNvSpPr>
          <p:nvPr/>
        </p:nvSpPr>
        <p:spPr>
          <a:xfrm>
            <a:off x="935841" y="5544618"/>
            <a:ext cx="3596503" cy="884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‘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slow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’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strategy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C19B19-4C30-5947-F9C3-A79FA8E50429}"/>
              </a:ext>
            </a:extLst>
          </p:cNvPr>
          <p:cNvSpPr/>
          <p:nvPr/>
        </p:nvSpPr>
        <p:spPr>
          <a:xfrm>
            <a:off x="6786464" y="3746240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1D10F5-EE42-0B89-03D9-CA722902D1A8}"/>
              </a:ext>
            </a:extLst>
          </p:cNvPr>
          <p:cNvSpPr/>
          <p:nvPr/>
        </p:nvSpPr>
        <p:spPr>
          <a:xfrm>
            <a:off x="10093718" y="2862106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DC23A373-0A9C-829B-D6C5-EDB193D64EB8}"/>
              </a:ext>
            </a:extLst>
          </p:cNvPr>
          <p:cNvSpPr txBox="1">
            <a:spLocks/>
          </p:cNvSpPr>
          <p:nvPr/>
        </p:nvSpPr>
        <p:spPr>
          <a:xfrm rot="16200000">
            <a:off x="-753261" y="2687320"/>
            <a:ext cx="297334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sylvestris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6340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7DD9-595A-E9C2-13C8-DE62FC6F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29AD-D47E-5303-0F57-D5A3A7E6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8CC2A-089A-9F0E-2741-703E0F37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08" b="8848"/>
          <a:stretch>
            <a:fillRect/>
          </a:stretch>
        </p:blipFill>
        <p:spPr>
          <a:xfrm>
            <a:off x="1384170" y="1313383"/>
            <a:ext cx="9423659" cy="3825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50314F-6E20-81B7-EE6C-FFBF66D5D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C6CB505-6324-C5CF-568B-75017E46A016}"/>
              </a:ext>
            </a:extLst>
          </p:cNvPr>
          <p:cNvSpPr txBox="1">
            <a:spLocks/>
          </p:cNvSpPr>
          <p:nvPr/>
        </p:nvSpPr>
        <p:spPr>
          <a:xfrm rot="16200000">
            <a:off x="-753261" y="2687320"/>
            <a:ext cx="297334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pinea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78BDA7D-D3B9-21D0-5A08-51DF2EC34F77}"/>
              </a:ext>
            </a:extLst>
          </p:cNvPr>
          <p:cNvSpPr txBox="1">
            <a:spLocks/>
          </p:cNvSpPr>
          <p:nvPr/>
        </p:nvSpPr>
        <p:spPr>
          <a:xfrm>
            <a:off x="4297747" y="5312224"/>
            <a:ext cx="3596503" cy="17323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Larger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‘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slower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’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Trade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-off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-PS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684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tails are in the caption following the image">
            <a:extLst>
              <a:ext uri="{FF2B5EF4-FFF2-40B4-BE49-F238E27FC236}">
                <a16:creationId xmlns:a16="http://schemas.microsoft.com/office/drawing/2014/main" id="{4BEB4700-95DF-B8D8-DABA-A3D0F671E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092" y="4090049"/>
            <a:ext cx="3232055" cy="252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6B115F-E3B5-740F-510C-5B8100D5C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67" t="31703" r="58667" b="9629"/>
          <a:stretch>
            <a:fillRect/>
          </a:stretch>
        </p:blipFill>
        <p:spPr>
          <a:xfrm>
            <a:off x="8483600" y="0"/>
            <a:ext cx="3495040" cy="402336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9D8B786-E55E-D358-AAFD-5CD222E5E986}"/>
              </a:ext>
            </a:extLst>
          </p:cNvPr>
          <p:cNvSpPr txBox="1">
            <a:spLocks/>
          </p:cNvSpPr>
          <p:nvPr/>
        </p:nvSpPr>
        <p:spPr>
          <a:xfrm>
            <a:off x="6165393" y="15727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Soheili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2023</a:t>
            </a:r>
          </a:p>
          <a:p>
            <a:pPr marL="0" indent="0" algn="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hollow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 vs.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(full)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oaks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parenchyma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anatomy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pic>
        <p:nvPicPr>
          <p:cNvPr id="1028" name="Picture 4" descr="figure 3">
            <a:extLst>
              <a:ext uri="{FF2B5EF4-FFF2-40B4-BE49-F238E27FC236}">
                <a16:creationId xmlns:a16="http://schemas.microsoft.com/office/drawing/2014/main" id="{07697A91-A110-FFDB-C5E8-364B21288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6" y="157278"/>
            <a:ext cx="2707844" cy="511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2040EAC-1BB9-EFEA-31B0-3EAF57571059}"/>
              </a:ext>
            </a:extLst>
          </p:cNvPr>
          <p:cNvSpPr txBox="1">
            <a:spLocks/>
          </p:cNvSpPr>
          <p:nvPr/>
        </p:nvSpPr>
        <p:spPr>
          <a:xfrm>
            <a:off x="2842260" y="40111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Yu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2023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Control (AM) vs.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Moderate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(MW) vs. Severe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warming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(SW)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F5C3DD8-0CD4-E82F-6ABF-F0221C215D0F}"/>
              </a:ext>
            </a:extLst>
          </p:cNvPr>
          <p:cNvSpPr txBox="1">
            <a:spLocks/>
          </p:cNvSpPr>
          <p:nvPr/>
        </p:nvSpPr>
        <p:spPr>
          <a:xfrm>
            <a:off x="3777793" y="215371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Luong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&amp; </a:t>
            </a:r>
            <a:r>
              <a:rPr lang="es-ES" sz="1600" b="1" i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Loik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2022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Different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stress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treatments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C3 and C4 Californian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grasses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pic>
        <p:nvPicPr>
          <p:cNvPr id="1030" name="Picture 6" descr="Details are in the caption following the image">
            <a:extLst>
              <a:ext uri="{FF2B5EF4-FFF2-40B4-BE49-F238E27FC236}">
                <a16:creationId xmlns:a16="http://schemas.microsoft.com/office/drawing/2014/main" id="{4A779747-900D-C429-DBF4-CAE323218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975" y="3260258"/>
            <a:ext cx="3096418" cy="344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69D118E-7A14-CCD1-32A1-648B50A1ADD6}"/>
              </a:ext>
            </a:extLst>
          </p:cNvPr>
          <p:cNvSpPr txBox="1">
            <a:spLocks/>
          </p:cNvSpPr>
          <p:nvPr/>
        </p:nvSpPr>
        <p:spPr>
          <a:xfrm>
            <a:off x="6296885" y="5086951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Rosas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2021</a:t>
            </a:r>
          </a:p>
          <a:p>
            <a:pPr marL="0" indent="0" algn="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Mediterranean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species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83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DF34-3447-356A-2B00-7A0ABFDF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92BD-0336-C01F-9D17-D46FFC01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A3C85-6D55-458F-C609-B6987759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619" y="1163495"/>
            <a:ext cx="5572760" cy="557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1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4B2B-C790-BBC4-40C5-7CE36D49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EAF3-C3C6-2C42-29AF-110A8450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DDFCB-C7B6-C107-34FD-2D7863355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08" b="50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00FAB01-EABD-4D9F-ABA9-E5D7A55FB294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Abies</a:t>
            </a:r>
            <a:r>
              <a:rPr lang="es-ES" b="1" i="1" dirty="0">
                <a:latin typeface="Helvetica"/>
                <a:cs typeface="Helvetica"/>
              </a:rPr>
              <a:t> alba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A4AC2-40F7-9CD5-A21B-683A1797B34C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2749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Similar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functional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space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acquisitive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and SLA)</a:t>
            </a:r>
          </a:p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more conservative (↑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C)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6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8DE4-F523-08A1-396B-E70D2162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04F-3199-45F0-1D48-927FF120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27619-B610-2027-882D-B2E4BFA7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0" r="-742" b="50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A727803-7D2A-F2D1-7462-8D304F47065E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sylvestris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3D9330-DFBC-3997-8EDF-5CBC301F9F7D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2749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Reduced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sites!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acquisitive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, N and SLA)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more conservative (↑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C)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605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3CB2-4643-F8E9-9F37-C7EA3318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0C65-3C30-BEA9-A09E-C8A30B55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5CFF8-661B-3DF1-7E24-158C2FFE6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2" t="50000" r="50000" b="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2C14040-F6B8-EB7B-7A18-6A68DB63C877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pinea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AB77E6-6546-70E0-7438-F315789B8D9C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37855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sites </a:t>
            </a:r>
          </a:p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 LES?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and 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iWUE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?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↑N 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PS?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53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4C11-8825-593C-AC5F-B986617D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E22B-3689-0300-14A3-E24753B5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07C1720-BD5E-A84D-63E4-1AE928273B63}"/>
              </a:ext>
            </a:extLst>
          </p:cNvPr>
          <p:cNvSpPr txBox="1">
            <a:spLocks/>
          </p:cNvSpPr>
          <p:nvPr/>
        </p:nvSpPr>
        <p:spPr>
          <a:xfrm>
            <a:off x="1175657" y="1906551"/>
            <a:ext cx="10291666" cy="3309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Existence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within-species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endParaRPr lang="es-ES" sz="32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 +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// PS</a:t>
            </a:r>
          </a:p>
          <a:p>
            <a:pPr>
              <a:buClr>
                <a:srgbClr val="218317"/>
              </a:buClr>
            </a:pP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shift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towards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more conservative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(LES)</a:t>
            </a:r>
          </a:p>
          <a:p>
            <a:pPr>
              <a:buClr>
                <a:srgbClr val="218317"/>
              </a:buClr>
            </a:pPr>
            <a:endParaRPr lang="es-ES" sz="32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32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89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6A4B-29D7-3F19-D1D2-D025751A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-Shape 25">
            <a:extLst>
              <a:ext uri="{FF2B5EF4-FFF2-40B4-BE49-F238E27FC236}">
                <a16:creationId xmlns:a16="http://schemas.microsoft.com/office/drawing/2014/main" id="{117FD5CF-AF8A-FCA8-A3C8-C5B6EA12BFC1}"/>
              </a:ext>
            </a:extLst>
          </p:cNvPr>
          <p:cNvSpPr/>
          <p:nvPr/>
        </p:nvSpPr>
        <p:spPr>
          <a:xfrm rot="5400000">
            <a:off x="2809620" y="1840703"/>
            <a:ext cx="3579929" cy="4783048"/>
          </a:xfrm>
          <a:prstGeom prst="corner">
            <a:avLst>
              <a:gd name="adj1" fmla="val 35044"/>
              <a:gd name="adj2" fmla="val 30645"/>
            </a:avLst>
          </a:prstGeom>
          <a:solidFill>
            <a:srgbClr val="F4B183">
              <a:alpha val="32941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L-Shape 26">
            <a:extLst>
              <a:ext uri="{FF2B5EF4-FFF2-40B4-BE49-F238E27FC236}">
                <a16:creationId xmlns:a16="http://schemas.microsoft.com/office/drawing/2014/main" id="{333A76B1-98DF-3B32-083F-348209C8798A}"/>
              </a:ext>
            </a:extLst>
          </p:cNvPr>
          <p:cNvSpPr/>
          <p:nvPr/>
        </p:nvSpPr>
        <p:spPr>
          <a:xfrm rot="5400000">
            <a:off x="6592788" y="1453509"/>
            <a:ext cx="3579929" cy="5557438"/>
          </a:xfrm>
          <a:prstGeom prst="corner">
            <a:avLst>
              <a:gd name="adj1" fmla="val 43450"/>
              <a:gd name="adj2" fmla="val 30645"/>
            </a:avLst>
          </a:prstGeom>
          <a:solidFill>
            <a:schemeClr val="accent6">
              <a:lumMod val="60000"/>
              <a:lumOff val="40000"/>
              <a:alpha val="32941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6223A-5A13-6D87-39B3-A235E17D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3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structure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55CF17A-7D05-38DE-2108-86CF15FEA06B}"/>
              </a:ext>
            </a:extLst>
          </p:cNvPr>
          <p:cNvSpPr txBox="1">
            <a:spLocks/>
          </p:cNvSpPr>
          <p:nvPr/>
        </p:nvSpPr>
        <p:spPr>
          <a:xfrm>
            <a:off x="4599584" y="725777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Precipitation</a:t>
            </a:r>
            <a:r>
              <a:rPr lang="es-ES" sz="2000" b="1" dirty="0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/ </a:t>
            </a: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drought</a:t>
            </a:r>
            <a:endParaRPr lang="es-ES" sz="2000" b="1" dirty="0">
              <a:solidFill>
                <a:schemeClr val="accent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89A589C-F7F6-A126-0601-6F1B7EF74B3C}"/>
              </a:ext>
            </a:extLst>
          </p:cNvPr>
          <p:cNvSpPr txBox="1">
            <a:spLocks/>
          </p:cNvSpPr>
          <p:nvPr/>
        </p:nvSpPr>
        <p:spPr>
          <a:xfrm>
            <a:off x="4659440" y="1030663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rgbClr val="FF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Temperature</a:t>
            </a:r>
            <a:endParaRPr lang="es-ES" sz="20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4D97C43-8A0C-B8CA-4E65-5FFC48D5F31C}"/>
              </a:ext>
            </a:extLst>
          </p:cNvPr>
          <p:cNvSpPr txBox="1">
            <a:spLocks/>
          </p:cNvSpPr>
          <p:nvPr/>
        </p:nvSpPr>
        <p:spPr>
          <a:xfrm>
            <a:off x="1778888" y="2693176"/>
            <a:ext cx="2090421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WUE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(d13C)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FC9DFB9-EF4C-EA43-7208-9BB08E2EEC95}"/>
              </a:ext>
            </a:extLst>
          </p:cNvPr>
          <p:cNvSpPr txBox="1">
            <a:spLocks/>
          </p:cNvSpPr>
          <p:nvPr/>
        </p:nvSpPr>
        <p:spPr>
          <a:xfrm>
            <a:off x="1514091" y="4872657"/>
            <a:ext cx="2620012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(N, SLA)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6EEB5F7-F152-92CC-E91D-54EB3E850179}"/>
              </a:ext>
            </a:extLst>
          </p:cNvPr>
          <p:cNvSpPr txBox="1">
            <a:spLocks/>
          </p:cNvSpPr>
          <p:nvPr/>
        </p:nvSpPr>
        <p:spPr>
          <a:xfrm>
            <a:off x="9547543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size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(h)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38BC004A-7D40-D8C3-FCF0-B63F381CF15F}"/>
              </a:ext>
            </a:extLst>
          </p:cNvPr>
          <p:cNvSpPr txBox="1">
            <a:spLocks/>
          </p:cNvSpPr>
          <p:nvPr/>
        </p:nvSpPr>
        <p:spPr>
          <a:xfrm>
            <a:off x="5439691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(BAI80)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2AB6796-D601-E0F3-2A72-83ADB22B3E5C}"/>
              </a:ext>
            </a:extLst>
          </p:cNvPr>
          <p:cNvSpPr/>
          <p:nvPr/>
        </p:nvSpPr>
        <p:spPr>
          <a:xfrm rot="16200000">
            <a:off x="4374983" y="1928283"/>
            <a:ext cx="268604" cy="218949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E8945B2-7DA6-E6B6-211C-6C7F33319508}"/>
              </a:ext>
            </a:extLst>
          </p:cNvPr>
          <p:cNvSpPr/>
          <p:nvPr/>
        </p:nvSpPr>
        <p:spPr>
          <a:xfrm rot="5400000">
            <a:off x="8303877" y="1763523"/>
            <a:ext cx="268604" cy="252752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AE7D583-2CAB-1EF5-65A7-BD3BACB16430}"/>
              </a:ext>
            </a:extLst>
          </p:cNvPr>
          <p:cNvSpPr/>
          <p:nvPr/>
        </p:nvSpPr>
        <p:spPr>
          <a:xfrm rot="10800000">
            <a:off x="2674085" y="3496603"/>
            <a:ext cx="300025" cy="99451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6E2D0-6D03-9371-5009-C2AFABF4632E}"/>
              </a:ext>
            </a:extLst>
          </p:cNvPr>
          <p:cNvSpPr txBox="1">
            <a:spLocks/>
          </p:cNvSpPr>
          <p:nvPr/>
        </p:nvSpPr>
        <p:spPr>
          <a:xfrm>
            <a:off x="9215940" y="5025057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D04A7F7-3EB2-8806-B224-16F6C08BFA6F}"/>
              </a:ext>
            </a:extLst>
          </p:cNvPr>
          <p:cNvSpPr/>
          <p:nvPr/>
        </p:nvSpPr>
        <p:spPr>
          <a:xfrm>
            <a:off x="6234240" y="3633473"/>
            <a:ext cx="300025" cy="140380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484A68F-57EE-AE43-25E6-F34A61EB2B5D}"/>
              </a:ext>
            </a:extLst>
          </p:cNvPr>
          <p:cNvSpPr/>
          <p:nvPr/>
        </p:nvSpPr>
        <p:spPr>
          <a:xfrm rot="17522635">
            <a:off x="8604736" y="694205"/>
            <a:ext cx="242194" cy="250864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95B964E-7881-1533-7946-CD3C746ACA40}"/>
              </a:ext>
            </a:extLst>
          </p:cNvPr>
          <p:cNvSpPr/>
          <p:nvPr/>
        </p:nvSpPr>
        <p:spPr>
          <a:xfrm>
            <a:off x="6229615" y="1568300"/>
            <a:ext cx="277037" cy="99451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E1B8D89-C914-5C34-369C-F67BCAC8D112}"/>
              </a:ext>
            </a:extLst>
          </p:cNvPr>
          <p:cNvSpPr/>
          <p:nvPr/>
        </p:nvSpPr>
        <p:spPr>
          <a:xfrm rot="3221936">
            <a:off x="4279168" y="1276172"/>
            <a:ext cx="227943" cy="1578257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A7E8D97-3ABB-DB14-4C48-D887B61B3DF6}"/>
              </a:ext>
            </a:extLst>
          </p:cNvPr>
          <p:cNvSpPr txBox="1">
            <a:spLocks/>
          </p:cNvSpPr>
          <p:nvPr/>
        </p:nvSpPr>
        <p:spPr>
          <a:xfrm>
            <a:off x="6506652" y="3950185"/>
            <a:ext cx="1603895" cy="891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consequence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Camarero et al. 2015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E5A3205-7FB5-1FE3-70FB-FCD7B05264EA}"/>
              </a:ext>
            </a:extLst>
          </p:cNvPr>
          <p:cNvSpPr txBox="1">
            <a:spLocks/>
          </p:cNvSpPr>
          <p:nvPr/>
        </p:nvSpPr>
        <p:spPr>
          <a:xfrm>
            <a:off x="741179" y="3612312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(=PS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capacity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 determines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(=d13C)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(Benavides et al. 2023; Querejeta et al. 2025)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31C8078-0379-C930-B791-09486971F2C4}"/>
              </a:ext>
            </a:extLst>
          </p:cNvPr>
          <p:cNvSpPr txBox="1">
            <a:spLocks/>
          </p:cNvSpPr>
          <p:nvPr/>
        </p:nvSpPr>
        <p:spPr>
          <a:xfrm>
            <a:off x="3826140" y="3178522"/>
            <a:ext cx="1366697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conditions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C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(Galiano et al. 2011)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1DF78BF-D3DE-07E9-8D0F-731D868F5571}"/>
              </a:ext>
            </a:extLst>
          </p:cNvPr>
          <p:cNvSpPr txBox="1">
            <a:spLocks/>
          </p:cNvSpPr>
          <p:nvPr/>
        </p:nvSpPr>
        <p:spPr>
          <a:xfrm>
            <a:off x="1857645" y="5910241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Nm and SLA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regardless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stress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Yu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et al. 2022)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F76450A7-9811-035B-5F61-52CFBD2C4393}"/>
              </a:ext>
            </a:extLst>
          </p:cNvPr>
          <p:cNvSpPr txBox="1">
            <a:spLocks/>
          </p:cNvSpPr>
          <p:nvPr/>
        </p:nvSpPr>
        <p:spPr>
          <a:xfrm>
            <a:off x="5592091" y="5359168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u="sng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20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166073E-EB7C-A7BF-06E5-C966564E862C}"/>
              </a:ext>
            </a:extLst>
          </p:cNvPr>
          <p:cNvSpPr txBox="1">
            <a:spLocks/>
          </p:cNvSpPr>
          <p:nvPr/>
        </p:nvSpPr>
        <p:spPr>
          <a:xfrm>
            <a:off x="8896737" y="5575420"/>
            <a:ext cx="2527530" cy="1087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form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RuBisCo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phosotynthetic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enzymes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already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summarizes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Field &amp; Mooney 1986; Galiano et al. 2011; Benavides et al. 2023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1091591-2B71-BF2F-00F3-C95FA9AB0A06}"/>
              </a:ext>
            </a:extLst>
          </p:cNvPr>
          <p:cNvSpPr txBox="1">
            <a:spLocks/>
          </p:cNvSpPr>
          <p:nvPr/>
        </p:nvSpPr>
        <p:spPr>
          <a:xfrm>
            <a:off x="4511041" y="1797916"/>
            <a:ext cx="16364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l-GR" sz="12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2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effectively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(Rosas et al. 2021)</a:t>
            </a:r>
          </a:p>
        </p:txBody>
      </p:sp>
    </p:spTree>
    <p:extLst>
      <p:ext uri="{BB962C8B-B14F-4D97-AF65-F5344CB8AC3E}">
        <p14:creationId xmlns:p14="http://schemas.microsoft.com/office/powerpoint/2010/main" val="2140619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4157</TotalTime>
  <Words>1047</Words>
  <Application>Microsoft Office PowerPoint</Application>
  <PresentationFormat>Widescreen</PresentationFormat>
  <Paragraphs>194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Helvetica</vt:lpstr>
      <vt:lpstr>Office Theme</vt:lpstr>
      <vt:lpstr>Variable selection</vt:lpstr>
      <vt:lpstr>Objectives</vt:lpstr>
      <vt:lpstr>Objectives</vt:lpstr>
      <vt:lpstr>Obj. 1 – To characterise tree morphological, physiological and whole-tree responses to drought </vt:lpstr>
      <vt:lpstr>Obj. 1 – To characterise tree morphological, physiological and whole-tree responses to drought </vt:lpstr>
      <vt:lpstr>Obj. 1 – To characterise tree morphological, physiological and whole-tree responses to drought </vt:lpstr>
      <vt:lpstr>Obj. 1 – To characterise tree morphological, physiological and whole-tree responses to drought </vt:lpstr>
      <vt:lpstr>Obj. 2 – To assess trait coordination within species</vt:lpstr>
      <vt:lpstr>Obj. 2 – To assess trait coordination within species</vt:lpstr>
      <vt:lpstr>Abies alba</vt:lpstr>
      <vt:lpstr>Obj. 2 – To assess trait coordination within species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PowerPoint Presentation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3 – Model structure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16</cp:revision>
  <dcterms:created xsi:type="dcterms:W3CDTF">2025-10-21T22:46:46Z</dcterms:created>
  <dcterms:modified xsi:type="dcterms:W3CDTF">2025-11-18T08:29:16Z</dcterms:modified>
</cp:coreProperties>
</file>