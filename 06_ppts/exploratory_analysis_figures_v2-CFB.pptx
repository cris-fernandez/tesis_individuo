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4F_36DED8AD.xml" ContentType="application/vnd.ms-powerpoint.comments+xml"/>
  <Override PartName="/ppt/comments/modernComment_11A_35E55771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88_48F9BB59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7" r:id="rId2"/>
    <p:sldId id="306" r:id="rId3"/>
    <p:sldId id="379" r:id="rId4"/>
    <p:sldId id="335" r:id="rId5"/>
    <p:sldId id="282" r:id="rId6"/>
    <p:sldId id="398" r:id="rId7"/>
    <p:sldId id="342" r:id="rId8"/>
    <p:sldId id="337" r:id="rId9"/>
    <p:sldId id="380" r:id="rId10"/>
    <p:sldId id="381" r:id="rId11"/>
    <p:sldId id="382" r:id="rId12"/>
    <p:sldId id="399" r:id="rId13"/>
    <p:sldId id="385" r:id="rId14"/>
    <p:sldId id="389" r:id="rId15"/>
    <p:sldId id="387" r:id="rId16"/>
    <p:sldId id="388" r:id="rId17"/>
    <p:sldId id="386" r:id="rId18"/>
    <p:sldId id="390" r:id="rId19"/>
    <p:sldId id="391" r:id="rId20"/>
    <p:sldId id="392" r:id="rId21"/>
    <p:sldId id="400" r:id="rId22"/>
    <p:sldId id="394" r:id="rId23"/>
    <p:sldId id="395" r:id="rId24"/>
    <p:sldId id="402" r:id="rId25"/>
    <p:sldId id="397" r:id="rId26"/>
    <p:sldId id="401" r:id="rId2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4BCF0B-13A8-F3D9-5213-32840108FAB3}" name="Cristopher Fernández de Blas" initials="CF" userId="13a2925ceb8d18c3" providerId="Windows Live"/>
  <p188:author id="{9B18557D-7187-C966-2E91-CE8B6CF86FC3}" name="Charlotte Grossiord" initials="" userId="S::charlotte.grossiord@wsl.ch::81d5e498-a7ae-4007-b872-c94d21631f5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73B4"/>
    <a:srgbClr val="37AD88"/>
    <a:srgbClr val="DB5E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98" autoAdjust="0"/>
    <p:restoredTop sz="94694"/>
  </p:normalViewPr>
  <p:slideViewPr>
    <p:cSldViewPr snapToGrid="0">
      <p:cViewPr varScale="1">
        <p:scale>
          <a:sx n="68" d="100"/>
          <a:sy n="68" d="100"/>
        </p:scale>
        <p:origin x="3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omments/modernComment_11A_35E5577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52E38EA-54D5-2E43-A0AB-BF8B3F06C6D4}" authorId="{9B18557D-7187-C966-2E91-CE8B6CF86FC3}" created="2025-05-02T12:15:28.204">
    <pc:sldMkLst xmlns:pc="http://schemas.microsoft.com/office/powerpoint/2013/main/command">
      <pc:docMk/>
      <pc:sldMk cId="904222577" sldId="282"/>
    </pc:sldMkLst>
    <p188:txBody>
      <a:bodyPr/>
      <a:lstStyle/>
      <a:p>
        <a:r>
          <a:rPr lang="en-US"/>
          <a:t>could you maybe list here also the detailed hypotheses (with the measured parameters)? I think this would also help selecting only the most important parameters in the figures below</a:t>
        </a:r>
      </a:p>
    </p188:txBody>
  </p188:cm>
</p188:cmLst>
</file>

<file path=ppt/comments/modernComment_14F_36DED8A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72AF825-BE95-3241-AEA5-C9EEB621F435}" authorId="{9B18557D-7187-C966-2E91-CE8B6CF86FC3}" created="2025-05-02T12:23:10.993">
    <pc:sldMkLst xmlns:pc="http://schemas.microsoft.com/office/powerpoint/2013/main/command">
      <pc:docMk/>
      <pc:sldMk cId="920574125" sldId="335"/>
    </pc:sldMkLst>
    <p188:txBody>
      <a:bodyPr/>
      <a:lstStyle/>
      <a:p>
        <a:r>
          <a:rPr lang="en-US"/>
          <a:t>your first figure could be a map like this one I believe</a:t>
        </a:r>
      </a:p>
    </p188:txBody>
  </p188:cm>
</p188:cmLst>
</file>

<file path=ppt/comments/modernComment_188_48F9BB5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4E04C32-B530-8D40-B6EA-F8A6EB163EFB}" authorId="{9B18557D-7187-C966-2E91-CE8B6CF86FC3}" created="2025-05-02T12:14:30.627">
    <pc:sldMkLst xmlns:pc="http://schemas.microsoft.com/office/powerpoint/2013/main/command">
      <pc:docMk/>
      <pc:sldMk cId="1224325977" sldId="392"/>
    </pc:sldMkLst>
    <p188:txBody>
      <a:bodyPr/>
      <a:lstStyle/>
      <a:p>
        <a:r>
          <a:rPr lang="en-US"/>
          <a:t>To select which parameters you want to highlight (once you have exchange the x- and y-axes), you should think about the mechanisms: which parameters are the most likely to make trees more vulnerable and then show only those functions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983DD-E218-4F5B-97E6-73372FCDFB94}" type="datetimeFigureOut">
              <a:rPr lang="es-ES" smtClean="0"/>
              <a:t>08/05/2025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FFF-AA8A-422F-901E-D94C39C8B22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0083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5661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0099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6C55C-A940-DD96-9FF7-50101346A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1AA63DA-382B-6650-1250-DAF48450D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217CF70-0E87-F813-0659-C59B0DEF4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34EA12-9A3F-F75E-8A08-F3985041B1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8191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10895-6FEB-C854-008F-9BAC5CD87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0F756E5-B8BC-DBF7-670D-7CF204D86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ECECC38-B749-558C-8777-0B7E67658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F05ACF-52D0-3566-A285-860D70965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280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5A84C-D102-2DB4-F988-58E0024A2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1EEEC37-8377-3724-423F-782CED40A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44A802E-26FC-B8DD-F242-7CB639E78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157547-446D-D627-2215-11C5FA61E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4342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D2BFA-7097-86EF-3AED-6AD1FE39E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3894DDA-4414-92AE-2ED5-AE3CB5722E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AC75F79-64F8-AED9-95AB-E40221F9D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4D0211-A1B7-24E3-B42C-7FDF1B757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40964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2B59B-F7B5-2D96-F59F-25ABF9ACC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EB8D13D-C0AA-65BF-ACFC-6708D4A90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88422DD-CCED-B978-3422-A9B17B736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D06B32-81B5-D860-E1DE-C11CDCD39E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1326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8C97F-C60E-B229-3AE5-CF1DB6F11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A15C477-1618-3F63-A55F-CAA396A7A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33E3E99-2CBC-009F-A83D-88CC59BB4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D65B210-9A51-F271-DE59-81D9656534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96794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12AC9-1CEC-D4A9-7BB0-1001372F0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E7995D2-421A-8C37-F7E8-6C701B8B8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03B5366-0AF7-26C4-92A7-E1619FF6FB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232B43-3C33-B38F-AFAC-CE44B4FCD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2248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7640DE-EF5A-BF63-2E51-3F00BBC82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6BF010-56F3-6C41-3ED4-6C6CD7B86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B884DF-EF45-3ED4-7FED-EDBF9117A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08/05/2025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4C811A-9D34-4AB3-450F-9DA4CF3A4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5F95F7-3C7B-946C-366A-49B04093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0099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C9DE6E-BF0C-E652-3C51-49F5B25CC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9BD04C-625F-583F-FC5B-0B03DB01F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C05C8-58D0-6801-9E5F-F0B2E40CE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08/05/2025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83DC1A-F7D9-17B6-DD6B-F8340D3E5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60615A-9ABF-3407-3DD7-7F2A4626C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0492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D798C-EF3C-75D7-DF34-7D4C4274B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5D251F-D0F0-354A-F45F-27D2789AA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BC9AAB-A900-C82B-BE85-C8F402303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08/05/2025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CAC175-7E84-92B8-4A79-9CBAFDBDA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42F1AF-BA78-B1B5-EC60-FA0ADA414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6038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5D3BAE-9F26-0518-54AF-3E926C2C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8A59CD-AFDE-1619-A608-CDEC2CDC6B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9CCD51C-A4E4-C6A4-BBD0-93E4CAEB7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F563BB-C9D2-279E-8859-0E318201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08/05/2025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14AD24-34FC-A14B-6E80-F6F63915C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A1E899-44E6-3273-3EE1-32945AC39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2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DA15D-25C4-382E-22A7-81D0B7919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8AE567-062B-49F4-8619-63F87A397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420789-F3FF-21AF-9D54-CD59B6751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71177D8-E0EE-7BD1-068F-C81B122CD1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8A0FCD-E226-F963-4F76-8996CB9B8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6CDC16D-2FED-2D12-3D08-D6F077A7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08/05/2025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ECFB62D-A51A-2454-4405-88CE76E5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74924C-DB70-2D03-5E1D-0C3DDF4CC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4069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4F3FD-BF5F-164B-AAF7-98EC5A3E3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37ECC9-AC2F-85D7-F049-98C88DF4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08/05/2025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BC12025-51E5-6BB4-4D99-1EAD8C36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52ADA6-2C6B-24C3-2868-EF4353B0B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0041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36E515E-F511-61BB-3E91-09426519D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08/05/2025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4634D0-27C9-95EF-3E84-BE4C1A275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4E3C35-4075-3D27-0B82-3A6CC319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1944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10776-5E34-0607-D69E-3EF7EC6E4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EEC768-6F4D-C19A-89E0-6A794544B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35944C-60F6-AF2F-105B-501D42549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F41D29-352F-5057-8D57-E152E682A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08/05/2025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E0DC31-00EB-A127-3B45-719984479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5EF0AB-281F-DE3B-5B75-1EBA35933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5262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A6A52-845E-5021-3313-F13CB32E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993D278-CC78-61F0-4FC8-993DFC68C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383A53A-9C6B-26A9-6123-57B769CDC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633E21-3097-61E0-8610-BEF2D3E5D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08/05/2025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0A8BFE-DEEE-886A-DD29-0927196B8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1C076B-F3BC-8A46-DF79-E64A3019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013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063C6-B53F-825E-64CB-3015916A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2F3F1A8-F0E5-5999-2539-3162C3A5E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91299C-664F-B1DC-502B-AACAA5B12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08/05/2025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FE2D33-E41C-7A2D-954D-B7377B44C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D44EEB-61E8-1F17-C276-395DCEB35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7828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C72534-2A4D-909F-7175-F0B6627FC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2AD40B-7F62-DB1B-BC75-257EF759F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93092A-D1B6-2D0C-7F7C-F9B47D515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08/05/2025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F58730-2AEA-FFBD-4EB1-6446AC442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09B5FE-8900-CDE3-A45F-9CE5E24B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53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D114144-76B6-9D89-6BFE-9EA6B5100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FF20E2-1DD1-B589-89E2-410C47E23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F1B9EB-6037-B051-58F5-0FB73F7BA5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2A3C-7F5D-464A-B794-A5CF9734955A}" type="datetimeFigureOut">
              <a:rPr lang="es-ES" smtClean="0"/>
              <a:t>08/05/2025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C72BF2-7511-AB6D-DE0B-5A6923A82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F6153C-F5E0-E3A2-16A0-F50E14478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3685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8/10/relationships/comments" Target="../comments/modernComment_14F_36DED8AD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microsoft.com/office/2018/10/relationships/comments" Target="../comments/modernComment_11A_35E5577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tiff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88_48F9BB5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tif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tif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7D1276C-2F08-785C-87EC-6B990140D14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735636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99B278-9C5A-620C-C671-715C2AA7A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2404"/>
            <a:ext cx="9144000" cy="3188380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 </a:t>
            </a:r>
            <a:r>
              <a:rPr lang="es-ES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analyses</a:t>
            </a:r>
            <a:b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- </a:t>
            </a:r>
            <a:b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1217E08-3399-DFA2-1E05-836FE1C2F420}"/>
              </a:ext>
            </a:extLst>
          </p:cNvPr>
          <p:cNvSpPr txBox="1">
            <a:spLocks/>
          </p:cNvSpPr>
          <p:nvPr/>
        </p:nvSpPr>
        <p:spPr>
          <a:xfrm>
            <a:off x="1" y="5735636"/>
            <a:ext cx="12192000" cy="1122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 err="1">
                <a:latin typeface="Helvetica"/>
                <a:cs typeface="Helvetica"/>
              </a:rPr>
              <a:t>Chapter</a:t>
            </a:r>
            <a:r>
              <a:rPr lang="es-ES" sz="3200" dirty="0">
                <a:latin typeface="Helvetica"/>
                <a:cs typeface="Helvetica"/>
              </a:rPr>
              <a:t> 2: </a:t>
            </a:r>
            <a:r>
              <a:rPr lang="es-ES" sz="3200" dirty="0" err="1">
                <a:latin typeface="Helvetica"/>
                <a:cs typeface="Helvetica"/>
              </a:rPr>
              <a:t>assessing</a:t>
            </a:r>
            <a:r>
              <a:rPr lang="es-ES" sz="3200" dirty="0">
                <a:latin typeface="Helvetica"/>
                <a:cs typeface="Helvetica"/>
              </a:rPr>
              <a:t> individual </a:t>
            </a:r>
            <a:r>
              <a:rPr lang="es-ES" sz="3200" dirty="0" err="1">
                <a:latin typeface="Helvetica"/>
                <a:cs typeface="Helvetica"/>
              </a:rPr>
              <a:t>factors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determining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drought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vulnerability</a:t>
            </a:r>
            <a:endParaRPr lang="es-ES" sz="32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664213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E44D2-92AB-56BE-5401-B5857B4B3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F0E37F81-4996-ACF1-D504-516BF4508F0D}"/>
              </a:ext>
            </a:extLst>
          </p:cNvPr>
          <p:cNvSpPr txBox="1">
            <a:spLocks/>
          </p:cNvSpPr>
          <p:nvPr/>
        </p:nvSpPr>
        <p:spPr>
          <a:xfrm>
            <a:off x="873964" y="999063"/>
            <a:ext cx="10733318" cy="577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 dirty="0" err="1">
                <a:latin typeface="Helvetica"/>
                <a:cs typeface="Helvetica"/>
              </a:rPr>
              <a:t>Morphological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traits</a:t>
            </a:r>
            <a:endParaRPr lang="es-ES" dirty="0"/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9" name="Marcador de contenido 2">
            <a:extLst>
              <a:ext uri="{FF2B5EF4-FFF2-40B4-BE49-F238E27FC236}">
                <a16:creationId xmlns:a16="http://schemas.microsoft.com/office/drawing/2014/main" id="{0317BCC4-3F71-57F6-B195-00F0C0F72EB3}"/>
              </a:ext>
            </a:extLst>
          </p:cNvPr>
          <p:cNvSpPr txBox="1">
            <a:spLocks/>
          </p:cNvSpPr>
          <p:nvPr/>
        </p:nvSpPr>
        <p:spPr>
          <a:xfrm>
            <a:off x="873964" y="1771781"/>
            <a:ext cx="940058" cy="2552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ES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/>
              <a:cs typeface="Helvetica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244384-3004-6C6E-7451-A7238A5D0302}"/>
              </a:ext>
            </a:extLst>
          </p:cNvPr>
          <p:cNvSpPr txBox="1">
            <a:spLocks/>
          </p:cNvSpPr>
          <p:nvPr/>
        </p:nvSpPr>
        <p:spPr>
          <a:xfrm>
            <a:off x="4282027" y="1771781"/>
            <a:ext cx="940058" cy="2552401"/>
          </a:xfrm>
          <a:prstGeom prst="rect">
            <a:avLst/>
          </a:prstGeom>
          <a:solidFill>
            <a:srgbClr val="2F5597"/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BED42503-2FD0-622B-25DC-67609D2A8C2B}"/>
              </a:ext>
            </a:extLst>
          </p:cNvPr>
          <p:cNvSpPr txBox="1">
            <a:spLocks/>
          </p:cNvSpPr>
          <p:nvPr/>
        </p:nvSpPr>
        <p:spPr>
          <a:xfrm>
            <a:off x="2151683" y="1838732"/>
            <a:ext cx="1789618" cy="98742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 err="1">
                <a:latin typeface="Helvetica"/>
                <a:cs typeface="Helvetica"/>
              </a:rPr>
              <a:t>Tree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growth</a:t>
            </a:r>
            <a:endParaRPr lang="es-ES" sz="2400" b="1" dirty="0">
              <a:latin typeface="Helvetica"/>
              <a:cs typeface="Helvetica"/>
            </a:endParaRPr>
          </a:p>
          <a:p>
            <a:pPr marL="0" indent="0" algn="ctr">
              <a:buNone/>
            </a:pPr>
            <a:r>
              <a:rPr lang="es-ES" sz="2400" dirty="0">
                <a:latin typeface="Helvetica" panose="020B0604020202020204"/>
                <a:cs typeface="Helvetica" panose="020B0604020202020204"/>
              </a:rPr>
              <a:t>BAI, </a:t>
            </a:r>
            <a:r>
              <a:rPr lang="es-ES" sz="2400" dirty="0" err="1">
                <a:latin typeface="Helvetica" panose="020B0604020202020204"/>
                <a:cs typeface="Helvetica" panose="020B0604020202020204"/>
              </a:rPr>
              <a:t>height</a:t>
            </a:r>
            <a:r>
              <a:rPr lang="es-ES" sz="2400" dirty="0">
                <a:latin typeface="Helvetica" panose="020B0604020202020204"/>
                <a:cs typeface="Helvetica" panose="020B0604020202020204"/>
              </a:rPr>
              <a:t>, </a:t>
            </a:r>
            <a:r>
              <a:rPr lang="es-ES" sz="2400" dirty="0" err="1">
                <a:latin typeface="Helvetica" panose="020B0604020202020204"/>
                <a:cs typeface="Helvetica" panose="020B0604020202020204"/>
              </a:rPr>
              <a:t>dbh</a:t>
            </a:r>
            <a:endParaRPr lang="es-ES" sz="2400" b="1" dirty="0">
              <a:latin typeface="Helvetica" panose="020B0604020202020204"/>
              <a:cs typeface="Helvetica" panose="020B0604020202020204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20DB9558-B2BF-6BD6-E1CC-3565899D0CB3}"/>
              </a:ext>
            </a:extLst>
          </p:cNvPr>
          <p:cNvSpPr txBox="1">
            <a:spLocks/>
          </p:cNvSpPr>
          <p:nvPr/>
        </p:nvSpPr>
        <p:spPr>
          <a:xfrm>
            <a:off x="2313887" y="2886569"/>
            <a:ext cx="1462158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latin typeface="Helvetica"/>
                <a:cs typeface="Helvetica"/>
              </a:rPr>
              <a:t>SLA</a:t>
            </a:r>
            <a:endParaRPr lang="es-ES" sz="240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EC12320A-0D50-B954-DBB2-1EB8131F8B5E}"/>
              </a:ext>
            </a:extLst>
          </p:cNvPr>
          <p:cNvSpPr txBox="1">
            <a:spLocks/>
          </p:cNvSpPr>
          <p:nvPr/>
        </p:nvSpPr>
        <p:spPr>
          <a:xfrm>
            <a:off x="2160035" y="3669011"/>
            <a:ext cx="1769862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err="1">
                <a:latin typeface="Helvetica"/>
                <a:cs typeface="Helvetica"/>
              </a:rPr>
              <a:t>defoliation</a:t>
            </a:r>
            <a:endParaRPr lang="es-ES" sz="240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BF010CEC-27C0-43E8-F13F-4CD98F2A970C}"/>
              </a:ext>
            </a:extLst>
          </p:cNvPr>
          <p:cNvSpPr txBox="1">
            <a:spLocks/>
          </p:cNvSpPr>
          <p:nvPr/>
        </p:nvSpPr>
        <p:spPr>
          <a:xfrm>
            <a:off x="873963" y="1977572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69F6C2EF-A2B4-CADC-72E6-1ED344B9E1A7}"/>
              </a:ext>
            </a:extLst>
          </p:cNvPr>
          <p:cNvSpPr txBox="1">
            <a:spLocks/>
          </p:cNvSpPr>
          <p:nvPr/>
        </p:nvSpPr>
        <p:spPr>
          <a:xfrm>
            <a:off x="5986468" y="1933916"/>
            <a:ext cx="5331566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Photosynthesis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root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system</a:t>
            </a:r>
            <a:r>
              <a:rPr lang="es-ES" sz="2400" dirty="0">
                <a:latin typeface="Helvetica"/>
                <a:cs typeface="Helvetica"/>
              </a:rPr>
              <a:t>, reserves</a:t>
            </a:r>
            <a:endParaRPr lang="es-ES" sz="2400" dirty="0"/>
          </a:p>
          <a:p>
            <a:pPr marL="0" indent="0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785E35DF-EB1B-CC2D-77A0-8849F5A8E907}"/>
              </a:ext>
            </a:extLst>
          </p:cNvPr>
          <p:cNvSpPr txBox="1">
            <a:spLocks/>
          </p:cNvSpPr>
          <p:nvPr/>
        </p:nvSpPr>
        <p:spPr>
          <a:xfrm>
            <a:off x="4282028" y="1977572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↑ 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8BE86B80-B33B-526D-DC67-62819F92DADC}"/>
              </a:ext>
            </a:extLst>
          </p:cNvPr>
          <p:cNvSpPr txBox="1">
            <a:spLocks/>
          </p:cNvSpPr>
          <p:nvPr/>
        </p:nvSpPr>
        <p:spPr>
          <a:xfrm>
            <a:off x="873962" y="2809267"/>
            <a:ext cx="940060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C6519D60-4367-FE7F-E866-77BB4CC375F6}"/>
              </a:ext>
            </a:extLst>
          </p:cNvPr>
          <p:cNvSpPr txBox="1">
            <a:spLocks/>
          </p:cNvSpPr>
          <p:nvPr/>
        </p:nvSpPr>
        <p:spPr>
          <a:xfrm>
            <a:off x="873962" y="3672541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8476C887-83B4-0CA1-ED02-27A7FBBFAC2A}"/>
              </a:ext>
            </a:extLst>
          </p:cNvPr>
          <p:cNvSpPr txBox="1">
            <a:spLocks/>
          </p:cNvSpPr>
          <p:nvPr/>
        </p:nvSpPr>
        <p:spPr>
          <a:xfrm>
            <a:off x="4278968" y="2809950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↑ 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0E22DB08-9A70-46F7-386A-B2D485C5FF5A}"/>
              </a:ext>
            </a:extLst>
          </p:cNvPr>
          <p:cNvSpPr txBox="1">
            <a:spLocks/>
          </p:cNvSpPr>
          <p:nvPr/>
        </p:nvSpPr>
        <p:spPr>
          <a:xfrm>
            <a:off x="4278967" y="3669011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 </a:t>
            </a:r>
            <a:endParaRPr lang="es-ES" sz="2400" b="1" dirty="0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411AD154-DC3D-C24C-2F95-DD8D08C7B984}"/>
              </a:ext>
            </a:extLst>
          </p:cNvPr>
          <p:cNvSpPr txBox="1">
            <a:spLocks/>
          </p:cNvSpPr>
          <p:nvPr/>
        </p:nvSpPr>
        <p:spPr>
          <a:xfrm>
            <a:off x="870903" y="4533220"/>
            <a:ext cx="940060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0A7732EB-AC92-D301-1C71-C0F3EA3A8C5B}"/>
              </a:ext>
            </a:extLst>
          </p:cNvPr>
          <p:cNvSpPr txBox="1">
            <a:spLocks/>
          </p:cNvSpPr>
          <p:nvPr/>
        </p:nvSpPr>
        <p:spPr>
          <a:xfrm>
            <a:off x="5986468" y="2649744"/>
            <a:ext cx="4855701" cy="8721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>
                <a:latin typeface="Helvetica"/>
                <a:cs typeface="Helvetica"/>
              </a:rPr>
              <a:t>Cell </a:t>
            </a:r>
            <a:r>
              <a:rPr lang="es-ES" sz="2400" dirty="0" err="1">
                <a:latin typeface="Helvetica"/>
                <a:cs typeface="Helvetica"/>
              </a:rPr>
              <a:t>turgor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photosynthesis</a:t>
            </a:r>
            <a:endParaRPr lang="es-ES" sz="2400" dirty="0"/>
          </a:p>
          <a:p>
            <a:pPr marL="0" indent="0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C3B40292-1AF1-2640-EC87-6CC71A2C465D}"/>
              </a:ext>
            </a:extLst>
          </p:cNvPr>
          <p:cNvSpPr txBox="1">
            <a:spLocks/>
          </p:cNvSpPr>
          <p:nvPr/>
        </p:nvSpPr>
        <p:spPr>
          <a:xfrm>
            <a:off x="5982999" y="3608276"/>
            <a:ext cx="4855701" cy="544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>
                <a:latin typeface="Helvetica"/>
                <a:cs typeface="Helvetica"/>
              </a:rPr>
              <a:t>ABA, ROS</a:t>
            </a:r>
            <a:endParaRPr lang="es-ES" dirty="0"/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56DACEA6-21E5-9D40-24FB-EC379237380F}"/>
              </a:ext>
            </a:extLst>
          </p:cNvPr>
          <p:cNvSpPr txBox="1">
            <a:spLocks/>
          </p:cNvSpPr>
          <p:nvPr/>
        </p:nvSpPr>
        <p:spPr>
          <a:xfrm>
            <a:off x="708632" y="4598254"/>
            <a:ext cx="1264601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endParaRPr lang="es-ES" sz="1800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 sz="1800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sites</a:t>
            </a:r>
          </a:p>
        </p:txBody>
      </p:sp>
      <p:sp>
        <p:nvSpPr>
          <p:cNvPr id="30" name="Marcador de contenido 2">
            <a:extLst>
              <a:ext uri="{FF2B5EF4-FFF2-40B4-BE49-F238E27FC236}">
                <a16:creationId xmlns:a16="http://schemas.microsoft.com/office/drawing/2014/main" id="{CDC21DF1-4AEF-AD13-6C74-3B4CEA35CAA6}"/>
              </a:ext>
            </a:extLst>
          </p:cNvPr>
          <p:cNvSpPr txBox="1">
            <a:spLocks/>
          </p:cNvSpPr>
          <p:nvPr/>
        </p:nvSpPr>
        <p:spPr>
          <a:xfrm>
            <a:off x="4213149" y="4598255"/>
            <a:ext cx="1264601" cy="8041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 err="1">
                <a:solidFill>
                  <a:srgbClr val="2F5597"/>
                </a:solidFill>
                <a:latin typeface="Helvetica"/>
                <a:cs typeface="Helvetica"/>
              </a:rPr>
              <a:t>Healthy</a:t>
            </a:r>
            <a:endParaRPr lang="es-ES" sz="1800" dirty="0">
              <a:solidFill>
                <a:srgbClr val="2F5597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r>
              <a:rPr lang="es-ES" sz="1800" dirty="0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sites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9EE9E40-6950-4753-742B-41B77D6E1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D6C056-DBDC-9051-F928-683EDD585946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6045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A73EF-7B15-F991-0F51-AB7AB29CE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69BF10B0-3121-99E5-815A-1C06E91AFCD7}"/>
              </a:ext>
            </a:extLst>
          </p:cNvPr>
          <p:cNvSpPr txBox="1">
            <a:spLocks/>
          </p:cNvSpPr>
          <p:nvPr/>
        </p:nvSpPr>
        <p:spPr>
          <a:xfrm>
            <a:off x="873964" y="999063"/>
            <a:ext cx="10733318" cy="577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 dirty="0" err="1">
                <a:latin typeface="Helvetica"/>
                <a:cs typeface="Helvetica"/>
              </a:rPr>
              <a:t>Physiological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traits</a:t>
            </a:r>
            <a:endParaRPr lang="es-ES" dirty="0"/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9" name="Marcador de contenido 2">
            <a:extLst>
              <a:ext uri="{FF2B5EF4-FFF2-40B4-BE49-F238E27FC236}">
                <a16:creationId xmlns:a16="http://schemas.microsoft.com/office/drawing/2014/main" id="{A631800C-35AA-3E52-2E97-DBC89B49B27C}"/>
              </a:ext>
            </a:extLst>
          </p:cNvPr>
          <p:cNvSpPr txBox="1">
            <a:spLocks/>
          </p:cNvSpPr>
          <p:nvPr/>
        </p:nvSpPr>
        <p:spPr>
          <a:xfrm>
            <a:off x="873964" y="1766109"/>
            <a:ext cx="940058" cy="4092828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ES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/>
              <a:cs typeface="Helvetica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BEB9F0-FAF6-9C8D-E5AA-1B0C26144440}"/>
              </a:ext>
            </a:extLst>
          </p:cNvPr>
          <p:cNvSpPr txBox="1">
            <a:spLocks/>
          </p:cNvSpPr>
          <p:nvPr/>
        </p:nvSpPr>
        <p:spPr>
          <a:xfrm>
            <a:off x="4282027" y="1766109"/>
            <a:ext cx="940058" cy="4092828"/>
          </a:xfrm>
          <a:prstGeom prst="rect">
            <a:avLst/>
          </a:prstGeom>
          <a:solidFill>
            <a:srgbClr val="2F5597"/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4FB3DCF9-52CA-B7EF-7848-E7A37B38A908}"/>
              </a:ext>
            </a:extLst>
          </p:cNvPr>
          <p:cNvSpPr txBox="1">
            <a:spLocks/>
          </p:cNvSpPr>
          <p:nvPr/>
        </p:nvSpPr>
        <p:spPr>
          <a:xfrm>
            <a:off x="2041437" y="1928244"/>
            <a:ext cx="2061466" cy="987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 err="1">
                <a:latin typeface="Helvetica"/>
                <a:cs typeface="Helvetica"/>
              </a:rPr>
              <a:t>Chlorophylls</a:t>
            </a:r>
            <a:endParaRPr lang="es-ES" sz="2400" b="1" dirty="0">
              <a:latin typeface="Helvetica" panose="020B0604020202020204"/>
              <a:cs typeface="Helvetica" panose="020B0604020202020204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95DAA7E-9761-75A8-6F4F-8AEBC6C097D3}"/>
              </a:ext>
            </a:extLst>
          </p:cNvPr>
          <p:cNvSpPr txBox="1">
            <a:spLocks/>
          </p:cNvSpPr>
          <p:nvPr/>
        </p:nvSpPr>
        <p:spPr>
          <a:xfrm>
            <a:off x="2122539" y="2785616"/>
            <a:ext cx="1899262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 err="1">
                <a:latin typeface="Helvetica"/>
                <a:cs typeface="Helvetica"/>
              </a:rPr>
              <a:t>Carotenoids</a:t>
            </a:r>
            <a:endParaRPr lang="es-ES" sz="2400" dirty="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840D9016-DF94-2920-15C7-B6DAF9346E8A}"/>
              </a:ext>
            </a:extLst>
          </p:cNvPr>
          <p:cNvSpPr txBox="1">
            <a:spLocks/>
          </p:cNvSpPr>
          <p:nvPr/>
        </p:nvSpPr>
        <p:spPr>
          <a:xfrm>
            <a:off x="2160035" y="3663339"/>
            <a:ext cx="1769862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latin typeface="Helvetica"/>
                <a:cs typeface="Helvetica"/>
              </a:rPr>
              <a:t>LWC</a:t>
            </a:r>
            <a:endParaRPr lang="es-ES" sz="2400" dirty="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F597052C-6720-35C2-9334-749391532AC8}"/>
              </a:ext>
            </a:extLst>
          </p:cNvPr>
          <p:cNvSpPr txBox="1">
            <a:spLocks/>
          </p:cNvSpPr>
          <p:nvPr/>
        </p:nvSpPr>
        <p:spPr>
          <a:xfrm>
            <a:off x="873963" y="1971900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C1B6F6CD-EEF8-AAB6-2FD3-B80317C88413}"/>
              </a:ext>
            </a:extLst>
          </p:cNvPr>
          <p:cNvSpPr txBox="1">
            <a:spLocks/>
          </p:cNvSpPr>
          <p:nvPr/>
        </p:nvSpPr>
        <p:spPr>
          <a:xfrm>
            <a:off x="5986468" y="1928244"/>
            <a:ext cx="5331566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Synthesis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downregulation</a:t>
            </a:r>
            <a:r>
              <a:rPr lang="es-ES" sz="2400" dirty="0">
                <a:latin typeface="Helvetica"/>
                <a:cs typeface="Helvetica"/>
              </a:rPr>
              <a:t>, ROS</a:t>
            </a:r>
            <a:endParaRPr lang="es-ES" sz="2400" dirty="0"/>
          </a:p>
          <a:p>
            <a:pPr marL="0" indent="0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9CAEA58C-9201-03E7-3446-13B1B0B0534A}"/>
              </a:ext>
            </a:extLst>
          </p:cNvPr>
          <p:cNvSpPr txBox="1">
            <a:spLocks/>
          </p:cNvSpPr>
          <p:nvPr/>
        </p:nvSpPr>
        <p:spPr>
          <a:xfrm>
            <a:off x="4282028" y="1971900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↑ 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D847C064-1863-310D-57E5-8740E8338115}"/>
              </a:ext>
            </a:extLst>
          </p:cNvPr>
          <p:cNvSpPr txBox="1">
            <a:spLocks/>
          </p:cNvSpPr>
          <p:nvPr/>
        </p:nvSpPr>
        <p:spPr>
          <a:xfrm>
            <a:off x="873962" y="2803595"/>
            <a:ext cx="940060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</a:t>
            </a:r>
            <a:endParaRPr lang="es-ES" sz="2400" b="1" dirty="0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A054AE69-A430-DCA1-1271-E3C76BFAFFBE}"/>
              </a:ext>
            </a:extLst>
          </p:cNvPr>
          <p:cNvSpPr txBox="1">
            <a:spLocks/>
          </p:cNvSpPr>
          <p:nvPr/>
        </p:nvSpPr>
        <p:spPr>
          <a:xfrm>
            <a:off x="873962" y="3666869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62DBD870-7D82-F95E-8E48-CF1B3A28BFAA}"/>
              </a:ext>
            </a:extLst>
          </p:cNvPr>
          <p:cNvSpPr txBox="1">
            <a:spLocks/>
          </p:cNvSpPr>
          <p:nvPr/>
        </p:nvSpPr>
        <p:spPr>
          <a:xfrm>
            <a:off x="4278968" y="2804278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 </a:t>
            </a:r>
            <a:endParaRPr lang="es-ES" sz="2400" b="1" dirty="0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6B6AD282-56F2-C16E-8A86-31C17E962A34}"/>
              </a:ext>
            </a:extLst>
          </p:cNvPr>
          <p:cNvSpPr txBox="1">
            <a:spLocks/>
          </p:cNvSpPr>
          <p:nvPr/>
        </p:nvSpPr>
        <p:spPr>
          <a:xfrm>
            <a:off x="4278967" y="3663339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 </a:t>
            </a:r>
            <a:endParaRPr lang="es-ES" sz="2400" b="1" dirty="0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B0896316-86B6-BC4A-4EAE-D653B4EC80FD}"/>
              </a:ext>
            </a:extLst>
          </p:cNvPr>
          <p:cNvSpPr txBox="1">
            <a:spLocks/>
          </p:cNvSpPr>
          <p:nvPr/>
        </p:nvSpPr>
        <p:spPr>
          <a:xfrm>
            <a:off x="870903" y="4527548"/>
            <a:ext cx="940060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77F0FC36-3F47-9F8B-A741-057F9E7F9F01}"/>
              </a:ext>
            </a:extLst>
          </p:cNvPr>
          <p:cNvSpPr txBox="1">
            <a:spLocks/>
          </p:cNvSpPr>
          <p:nvPr/>
        </p:nvSpPr>
        <p:spPr>
          <a:xfrm>
            <a:off x="5982998" y="2802389"/>
            <a:ext cx="4855701" cy="6113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Photoprotection</a:t>
            </a:r>
            <a:endParaRPr lang="es-ES" sz="2400" dirty="0"/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95DD16AE-215B-780B-3EC4-D73EB5EDBE76}"/>
              </a:ext>
            </a:extLst>
          </p:cNvPr>
          <p:cNvSpPr txBox="1">
            <a:spLocks/>
          </p:cNvSpPr>
          <p:nvPr/>
        </p:nvSpPr>
        <p:spPr>
          <a:xfrm>
            <a:off x="5982999" y="3602604"/>
            <a:ext cx="4855701" cy="544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Osmoregulation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permeability</a:t>
            </a:r>
            <a:endParaRPr lang="es-ES" dirty="0"/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49443649-11F5-2423-5F48-0E230F9D37B9}"/>
              </a:ext>
            </a:extLst>
          </p:cNvPr>
          <p:cNvSpPr txBox="1">
            <a:spLocks/>
          </p:cNvSpPr>
          <p:nvPr/>
        </p:nvSpPr>
        <p:spPr>
          <a:xfrm>
            <a:off x="708633" y="5888028"/>
            <a:ext cx="1264601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endParaRPr lang="es-ES" sz="1800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 sz="1800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sites</a:t>
            </a:r>
          </a:p>
        </p:txBody>
      </p:sp>
      <p:sp>
        <p:nvSpPr>
          <p:cNvPr id="30" name="Marcador de contenido 2">
            <a:extLst>
              <a:ext uri="{FF2B5EF4-FFF2-40B4-BE49-F238E27FC236}">
                <a16:creationId xmlns:a16="http://schemas.microsoft.com/office/drawing/2014/main" id="{B2984DA5-EF84-5834-5BF9-C6E7D1B8DA01}"/>
              </a:ext>
            </a:extLst>
          </p:cNvPr>
          <p:cNvSpPr txBox="1">
            <a:spLocks/>
          </p:cNvSpPr>
          <p:nvPr/>
        </p:nvSpPr>
        <p:spPr>
          <a:xfrm>
            <a:off x="4213150" y="5888029"/>
            <a:ext cx="1264601" cy="8041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 err="1">
                <a:solidFill>
                  <a:srgbClr val="2F5597"/>
                </a:solidFill>
                <a:latin typeface="Helvetica"/>
                <a:cs typeface="Helvetica"/>
              </a:rPr>
              <a:t>Healthy</a:t>
            </a:r>
            <a:endParaRPr lang="es-ES" sz="1800" dirty="0">
              <a:solidFill>
                <a:srgbClr val="2F5597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r>
              <a:rPr lang="es-ES" sz="1800" dirty="0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sites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0853AFE-AD18-4D26-B7CF-A3357A42E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ED99FAD5-D3A5-BA29-3ADA-AF5865541F99}"/>
              </a:ext>
            </a:extLst>
          </p:cNvPr>
          <p:cNvSpPr txBox="1">
            <a:spLocks/>
          </p:cNvSpPr>
          <p:nvPr/>
        </p:nvSpPr>
        <p:spPr>
          <a:xfrm>
            <a:off x="2041437" y="4541062"/>
            <a:ext cx="1958963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l-GR" sz="2400" b="1" dirty="0">
                <a:latin typeface="Helvetica"/>
                <a:cs typeface="Helvetica"/>
              </a:rPr>
              <a:t>δ</a:t>
            </a:r>
            <a:r>
              <a:rPr lang="es-ES" sz="2400" b="1" baseline="30000" dirty="0">
                <a:latin typeface="Helvetica"/>
                <a:cs typeface="Helvetica"/>
              </a:rPr>
              <a:t>13</a:t>
            </a:r>
            <a:r>
              <a:rPr lang="es-ES" sz="2400" b="1" dirty="0">
                <a:latin typeface="Helvetica"/>
                <a:cs typeface="Helvetica"/>
              </a:rPr>
              <a:t>C, </a:t>
            </a:r>
            <a:r>
              <a:rPr lang="el-GR" sz="2400" b="1" dirty="0">
                <a:latin typeface="Helvetica"/>
                <a:cs typeface="Helvetica"/>
              </a:rPr>
              <a:t>δ</a:t>
            </a:r>
            <a:r>
              <a:rPr lang="es-ES" sz="2400" b="1" baseline="30000" dirty="0">
                <a:latin typeface="Helvetica"/>
                <a:cs typeface="Helvetica"/>
              </a:rPr>
              <a:t>18</a:t>
            </a:r>
            <a:r>
              <a:rPr lang="es-ES" sz="2400" b="1" dirty="0">
                <a:latin typeface="Helvetica"/>
                <a:cs typeface="Helvetica"/>
              </a:rPr>
              <a:t>O</a:t>
            </a:r>
            <a:endParaRPr lang="es-ES" sz="2400" dirty="0"/>
          </a:p>
          <a:p>
            <a:pPr marL="0" indent="0" algn="ctr">
              <a:buNone/>
            </a:pPr>
            <a:endParaRPr lang="es-ES" sz="2400" dirty="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0E6848E7-A7B8-6FDA-CFD6-3CF339C5E9BC}"/>
              </a:ext>
            </a:extLst>
          </p:cNvPr>
          <p:cNvSpPr txBox="1">
            <a:spLocks/>
          </p:cNvSpPr>
          <p:nvPr/>
        </p:nvSpPr>
        <p:spPr>
          <a:xfrm>
            <a:off x="2196008" y="5331535"/>
            <a:ext cx="1700972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latin typeface="Helvetica"/>
                <a:cs typeface="Helvetica"/>
              </a:rPr>
              <a:t>N </a:t>
            </a:r>
            <a:r>
              <a:rPr lang="es-ES" sz="2400" b="1" dirty="0" err="1">
                <a:latin typeface="Helvetica"/>
                <a:cs typeface="Helvetica"/>
              </a:rPr>
              <a:t>content</a:t>
            </a:r>
            <a:endParaRPr lang="es-ES" sz="2400" dirty="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21258C87-8ACE-9B49-5E5F-B13BD5234101}"/>
              </a:ext>
            </a:extLst>
          </p:cNvPr>
          <p:cNvSpPr txBox="1">
            <a:spLocks/>
          </p:cNvSpPr>
          <p:nvPr/>
        </p:nvSpPr>
        <p:spPr>
          <a:xfrm>
            <a:off x="5983000" y="4460053"/>
            <a:ext cx="4855701" cy="544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Photosynthesis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transpiration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5B89CA3D-8252-2207-EA83-52DC580746C9}"/>
              </a:ext>
            </a:extLst>
          </p:cNvPr>
          <p:cNvSpPr txBox="1">
            <a:spLocks/>
          </p:cNvSpPr>
          <p:nvPr/>
        </p:nvSpPr>
        <p:spPr>
          <a:xfrm>
            <a:off x="5982998" y="5343166"/>
            <a:ext cx="4855701" cy="544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>
                <a:latin typeface="Helvetica"/>
                <a:cs typeface="Helvetica"/>
              </a:rPr>
              <a:t>N </a:t>
            </a:r>
            <a:r>
              <a:rPr lang="es-ES" sz="2400" dirty="0" err="1">
                <a:latin typeface="Helvetica"/>
                <a:cs typeface="Helvetica"/>
              </a:rPr>
              <a:t>uptake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DBB040C6-5CA6-1B1A-B9B4-CC8C03B8C199}"/>
              </a:ext>
            </a:extLst>
          </p:cNvPr>
          <p:cNvSpPr txBox="1">
            <a:spLocks/>
          </p:cNvSpPr>
          <p:nvPr/>
        </p:nvSpPr>
        <p:spPr>
          <a:xfrm>
            <a:off x="870906" y="4493208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09A6B9B2-EA2C-0B8F-A2E5-93E240421E47}"/>
              </a:ext>
            </a:extLst>
          </p:cNvPr>
          <p:cNvSpPr txBox="1">
            <a:spLocks/>
          </p:cNvSpPr>
          <p:nvPr/>
        </p:nvSpPr>
        <p:spPr>
          <a:xfrm>
            <a:off x="861609" y="5289269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374E0B43-8556-07F1-7A2F-C057939BEDC8}"/>
              </a:ext>
            </a:extLst>
          </p:cNvPr>
          <p:cNvSpPr txBox="1">
            <a:spLocks/>
          </p:cNvSpPr>
          <p:nvPr/>
        </p:nvSpPr>
        <p:spPr>
          <a:xfrm>
            <a:off x="4282026" y="5289269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0CA874FA-BF2B-5E28-2378-32BB72FBE513}"/>
              </a:ext>
            </a:extLst>
          </p:cNvPr>
          <p:cNvSpPr txBox="1">
            <a:spLocks/>
          </p:cNvSpPr>
          <p:nvPr/>
        </p:nvSpPr>
        <p:spPr>
          <a:xfrm>
            <a:off x="4278966" y="4496456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4918E1D1-7CF5-51A0-A794-9DB5E785F529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1139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E7F21-1BC3-58B7-C745-2A6CDB767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Diagrama&#10;&#10;Descripción generada automáticamente">
            <a:extLst>
              <a:ext uri="{FF2B5EF4-FFF2-40B4-BE49-F238E27FC236}">
                <a16:creationId xmlns:a16="http://schemas.microsoft.com/office/drawing/2014/main" id="{5CF93BAE-7062-DF63-FBD0-5278470BA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15" y="647728"/>
            <a:ext cx="2826009" cy="2826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0D2A7F3A-5D92-B637-7E53-8726C79BA350}"/>
              </a:ext>
            </a:extLst>
          </p:cNvPr>
          <p:cNvSpPr txBox="1">
            <a:spLocks/>
          </p:cNvSpPr>
          <p:nvPr/>
        </p:nvSpPr>
        <p:spPr>
          <a:xfrm>
            <a:off x="127519" y="3400507"/>
            <a:ext cx="3242000" cy="22235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Field data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pPr marL="457200" lvl="1" indent="0" algn="ct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02/2023 – 09/2023</a:t>
            </a:r>
          </a:p>
          <a:p>
            <a:pPr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A999C6EA-7AE8-D840-9E31-A752303DF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Study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area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AAA2A6D-DB68-AD63-0A06-EA976E24DC0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A8D7DC10-0A24-5913-467C-1DEA0F80E6D2}"/>
              </a:ext>
            </a:extLst>
          </p:cNvPr>
          <p:cNvSpPr txBox="1">
            <a:spLocks/>
          </p:cNvSpPr>
          <p:nvPr/>
        </p:nvSpPr>
        <p:spPr>
          <a:xfrm>
            <a:off x="127519" y="5550853"/>
            <a:ext cx="10925077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b="1" dirty="0">
                <a:latin typeface="Helvetica"/>
                <a:cs typeface="Helvetica"/>
              </a:rPr>
              <a:t>14 sites, 91 </a:t>
            </a:r>
            <a:r>
              <a:rPr lang="es-ES" b="1" dirty="0" err="1">
                <a:latin typeface="Helvetica"/>
                <a:cs typeface="Helvetica"/>
              </a:rPr>
              <a:t>plots</a:t>
            </a:r>
            <a:r>
              <a:rPr lang="es-ES" b="1" dirty="0">
                <a:latin typeface="Helvetica"/>
                <a:cs typeface="Helvetica"/>
              </a:rPr>
              <a:t> 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b="1" dirty="0">
                <a:solidFill>
                  <a:srgbClr val="FF0000"/>
                </a:solidFill>
                <a:latin typeface="Helvetica"/>
                <a:cs typeface="Helvetica"/>
              </a:rPr>
              <a:t>462 target </a:t>
            </a:r>
            <a:r>
              <a:rPr lang="es-ES" b="1" dirty="0" err="1">
                <a:solidFill>
                  <a:srgbClr val="FF0000"/>
                </a:solidFill>
                <a:latin typeface="Helvetica"/>
                <a:cs typeface="Helvetica"/>
              </a:rPr>
              <a:t>trees</a:t>
            </a:r>
            <a:endParaRPr lang="es-ES" b="1" dirty="0">
              <a:solidFill>
                <a:srgbClr val="FF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DCD98AE-E281-28B7-DDC6-9F8E6C5095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5"/>
          <a:stretch/>
        </p:blipFill>
        <p:spPr>
          <a:xfrm>
            <a:off x="3615224" y="920186"/>
            <a:ext cx="8573689" cy="584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57412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0204C-F11E-9B27-13A1-D01D21F6E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C34324-CEFD-1EFD-2467-7B61612321A3}"/>
              </a:ext>
            </a:extLst>
          </p:cNvPr>
          <p:cNvSpPr txBox="1">
            <a:spLocks/>
          </p:cNvSpPr>
          <p:nvPr/>
        </p:nvSpPr>
        <p:spPr>
          <a:xfrm>
            <a:off x="633461" y="2662464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1)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characterise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underlying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mechanisms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behind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through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assessment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of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morphological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</a:rPr>
              <a:t>and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traits</a:t>
            </a:r>
            <a:r>
              <a:rPr lang="es-ES" sz="2400" b="1" dirty="0">
                <a:latin typeface="Helvetica"/>
                <a:cs typeface="Helvetica"/>
              </a:rPr>
              <a:t> responses</a:t>
            </a:r>
            <a:r>
              <a:rPr lang="es-ES" sz="2400" dirty="0">
                <a:latin typeface="Helvetica"/>
                <a:cs typeface="Helvetica"/>
              </a:rPr>
              <a:t> in </a:t>
            </a:r>
            <a:r>
              <a:rPr lang="es-ES" sz="2400" dirty="0" err="1">
                <a:latin typeface="Helvetica"/>
                <a:cs typeface="Helvetica"/>
              </a:rPr>
              <a:t>drought-induced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damaged</a:t>
            </a:r>
            <a:r>
              <a:rPr lang="es-ES" sz="2400" dirty="0">
                <a:latin typeface="Helvetica"/>
                <a:cs typeface="Helvetica"/>
              </a:rPr>
              <a:t> vs. </a:t>
            </a:r>
            <a:r>
              <a:rPr lang="es-ES" sz="2400" dirty="0" err="1">
                <a:latin typeface="Helvetica"/>
                <a:cs typeface="Helvetica"/>
              </a:rPr>
              <a:t>healthy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areas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4C414708-B8E9-19C2-E949-7CED186D0D11}"/>
              </a:ext>
            </a:extLst>
          </p:cNvPr>
          <p:cNvSpPr txBox="1">
            <a:spLocks/>
          </p:cNvSpPr>
          <p:nvPr/>
        </p:nvSpPr>
        <p:spPr>
          <a:xfrm>
            <a:off x="623547" y="3913521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i="1" dirty="0">
                <a:latin typeface="Helvetica"/>
                <a:cs typeface="Helvetica"/>
              </a:rPr>
              <a:t>H1.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a </a:t>
            </a:r>
            <a:r>
              <a:rPr lang="es-ES" sz="2400" i="1" dirty="0" err="1">
                <a:latin typeface="Helvetica"/>
                <a:cs typeface="Helvetica"/>
              </a:rPr>
              <a:t>reduced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growth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rates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photosynthetic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activity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transpiration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rates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damaged</a:t>
            </a:r>
            <a:r>
              <a:rPr lang="es-ES" sz="2400" i="1" dirty="0">
                <a:latin typeface="Helvetica"/>
                <a:cs typeface="Helvetica"/>
              </a:rPr>
              <a:t> sites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5D17402-96E9-A56B-30C4-8061982E65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7655"/>
          <a:stretch/>
        </p:blipFill>
        <p:spPr>
          <a:xfrm>
            <a:off x="1139560" y="5095351"/>
            <a:ext cx="3477754" cy="1250117"/>
          </a:xfrm>
          <a:prstGeom prst="rect">
            <a:avLst/>
          </a:prstGeom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A488A669-7385-1C31-CF35-8531BA728759}"/>
              </a:ext>
            </a:extLst>
          </p:cNvPr>
          <p:cNvSpPr txBox="1">
            <a:spLocks/>
          </p:cNvSpPr>
          <p:nvPr/>
        </p:nvSpPr>
        <p:spPr>
          <a:xfrm>
            <a:off x="623548" y="1110781"/>
            <a:ext cx="10925077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dirty="0">
                <a:latin typeface="Helvetica"/>
                <a:cs typeface="Helvetica"/>
              </a:rPr>
              <a:t>3 </a:t>
            </a:r>
            <a:r>
              <a:rPr lang="es-ES" dirty="0" err="1">
                <a:latin typeface="Helvetica"/>
                <a:cs typeface="Helvetica"/>
              </a:rPr>
              <a:t>species</a:t>
            </a:r>
            <a:r>
              <a:rPr lang="es-ES" i="1" dirty="0">
                <a:latin typeface="Helvetica"/>
                <a:cs typeface="Helvetica"/>
              </a:rPr>
              <a:t> </a:t>
            </a:r>
            <a:r>
              <a:rPr lang="es-ES" dirty="0">
                <a:latin typeface="Helvetica"/>
                <a:cs typeface="Helvetica"/>
              </a:rPr>
              <a:t>in </a:t>
            </a:r>
            <a:r>
              <a:rPr lang="es-ES" dirty="0" err="1">
                <a:latin typeface="Helvetica"/>
                <a:cs typeface="Helvetica"/>
              </a:rPr>
              <a:t>damaged</a:t>
            </a:r>
            <a:r>
              <a:rPr lang="es-ES" dirty="0">
                <a:latin typeface="Helvetica"/>
                <a:cs typeface="Helvetica"/>
              </a:rPr>
              <a:t> vs. </a:t>
            </a:r>
            <a:r>
              <a:rPr lang="es-ES" dirty="0" err="1">
                <a:latin typeface="Helvetica"/>
                <a:cs typeface="Helvetica"/>
              </a:rPr>
              <a:t>healthy</a:t>
            </a:r>
            <a:r>
              <a:rPr lang="es-ES" dirty="0">
                <a:latin typeface="Helvetica"/>
                <a:cs typeface="Helvetica"/>
              </a:rPr>
              <a:t> sites </a:t>
            </a:r>
            <a:r>
              <a:rPr lang="es-ES" dirty="0" err="1">
                <a:latin typeface="Helvetica"/>
                <a:cs typeface="Helvetica"/>
              </a:rPr>
              <a:t>to</a:t>
            </a:r>
            <a:r>
              <a:rPr lang="es-ES" dirty="0">
                <a:latin typeface="Helvetica"/>
                <a:cs typeface="Helvetica"/>
              </a:rPr>
              <a:t>: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87B21BD-A6B5-1787-C2FE-38F3E226D7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835"/>
          <a:stretch/>
        </p:blipFill>
        <p:spPr>
          <a:xfrm>
            <a:off x="6364847" y="5057218"/>
            <a:ext cx="3115055" cy="1220763"/>
          </a:xfrm>
          <a:prstGeom prst="rect">
            <a:avLst/>
          </a:prstGeom>
        </p:spPr>
      </p:pic>
      <p:pic>
        <p:nvPicPr>
          <p:cNvPr id="11" name="Gráfico 10" descr="Abeto">
            <a:extLst>
              <a:ext uri="{FF2B5EF4-FFF2-40B4-BE49-F238E27FC236}">
                <a16:creationId xmlns:a16="http://schemas.microsoft.com/office/drawing/2014/main" id="{FEC4AD70-FF0F-3D81-50E4-F7F5A07966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72543" y="1692518"/>
            <a:ext cx="804155" cy="804155"/>
          </a:xfrm>
          <a:prstGeom prst="rect">
            <a:avLst/>
          </a:prstGeom>
        </p:spPr>
      </p:pic>
      <p:pic>
        <p:nvPicPr>
          <p:cNvPr id="12" name="Gráfico 11" descr="Abeto">
            <a:extLst>
              <a:ext uri="{FF2B5EF4-FFF2-40B4-BE49-F238E27FC236}">
                <a16:creationId xmlns:a16="http://schemas.microsoft.com/office/drawing/2014/main" id="{A5FE5DE5-7F85-CC7C-60ED-BA39F77907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15236" y="1707996"/>
            <a:ext cx="804155" cy="804155"/>
          </a:xfrm>
          <a:prstGeom prst="rect">
            <a:avLst/>
          </a:prstGeom>
        </p:spPr>
      </p:pic>
      <p:pic>
        <p:nvPicPr>
          <p:cNvPr id="13" name="Gráfico 12" descr="Abeto">
            <a:extLst>
              <a:ext uri="{FF2B5EF4-FFF2-40B4-BE49-F238E27FC236}">
                <a16:creationId xmlns:a16="http://schemas.microsoft.com/office/drawing/2014/main" id="{A8E9D4C9-57D7-9752-0538-7E64417A3C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65177" y="1754080"/>
            <a:ext cx="804155" cy="804155"/>
          </a:xfrm>
          <a:prstGeom prst="rect">
            <a:avLst/>
          </a:prstGeom>
        </p:spPr>
      </p:pic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C69AA500-47E2-D768-9417-C83822BE4763}"/>
              </a:ext>
            </a:extLst>
          </p:cNvPr>
          <p:cNvSpPr txBox="1">
            <a:spLocks/>
          </p:cNvSpPr>
          <p:nvPr/>
        </p:nvSpPr>
        <p:spPr>
          <a:xfrm>
            <a:off x="2447965" y="1934497"/>
            <a:ext cx="1767271" cy="62373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746FB2"/>
                </a:solidFill>
                <a:latin typeface="Helvetica" panose="020B0604020202020204"/>
                <a:cs typeface="Helvetica"/>
              </a:rPr>
              <a:t>Abies</a:t>
            </a:r>
            <a:r>
              <a:rPr lang="es-ES" sz="1800" i="1" dirty="0">
                <a:solidFill>
                  <a:srgbClr val="746FB2"/>
                </a:solidFill>
                <a:latin typeface="Helvetica" panose="020B0604020202020204"/>
                <a:cs typeface="Helvetica"/>
              </a:rPr>
              <a:t> alba</a:t>
            </a:r>
          </a:p>
          <a:p>
            <a:pPr marL="0" indent="0">
              <a:buNone/>
            </a:pPr>
            <a:r>
              <a:rPr lang="es-ES" sz="1800" dirty="0" err="1">
                <a:solidFill>
                  <a:srgbClr val="746FB2"/>
                </a:solidFill>
                <a:latin typeface="Helvetica" panose="020B0604020202020204"/>
                <a:cs typeface="Helvetica" panose="020B0604020202020204"/>
              </a:rPr>
              <a:t>Temperate</a:t>
            </a:r>
            <a:endParaRPr lang="es-ES" sz="1800" dirty="0">
              <a:solidFill>
                <a:srgbClr val="746FB2"/>
              </a:solidFill>
              <a:latin typeface="Helvetica" panose="020B0604020202020204"/>
              <a:cs typeface="Helvetica" panose="020B0604020202020204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i="1" dirty="0">
              <a:solidFill>
                <a:srgbClr val="746FB2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8648B532-0391-73C4-05E6-D875C8EA4A2D}"/>
              </a:ext>
            </a:extLst>
          </p:cNvPr>
          <p:cNvSpPr txBox="1">
            <a:spLocks/>
          </p:cNvSpPr>
          <p:nvPr/>
        </p:nvSpPr>
        <p:spPr>
          <a:xfrm>
            <a:off x="5019391" y="1935852"/>
            <a:ext cx="1767271" cy="62238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1B9E77"/>
                </a:solidFill>
                <a:latin typeface="Helvetica" panose="020B0604020202020204"/>
                <a:cs typeface="Helvetica"/>
              </a:rPr>
              <a:t>Pinus</a:t>
            </a:r>
            <a:r>
              <a:rPr lang="es-ES" sz="1800" i="1" dirty="0">
                <a:solidFill>
                  <a:srgbClr val="1B9E77"/>
                </a:solidFill>
                <a:latin typeface="Helvetica" panose="020B0604020202020204"/>
                <a:cs typeface="Helvetica"/>
              </a:rPr>
              <a:t> </a:t>
            </a:r>
            <a:r>
              <a:rPr lang="es-ES" sz="1800" i="1" dirty="0" err="1">
                <a:solidFill>
                  <a:srgbClr val="1B9E77"/>
                </a:solidFill>
                <a:latin typeface="Helvetica" panose="020B0604020202020204"/>
                <a:cs typeface="Helvetica"/>
              </a:rPr>
              <a:t>sylvestris</a:t>
            </a:r>
            <a:endParaRPr lang="es-ES" sz="1800" i="1" dirty="0">
              <a:solidFill>
                <a:srgbClr val="1B9E77"/>
              </a:solidFill>
              <a:latin typeface="Helvetica" panose="020B0604020202020204"/>
              <a:cs typeface="Helvetica"/>
            </a:endParaRPr>
          </a:p>
          <a:p>
            <a:pPr marL="0" indent="0">
              <a:buNone/>
            </a:pPr>
            <a:r>
              <a:rPr lang="es-ES" sz="1800" dirty="0" err="1">
                <a:solidFill>
                  <a:srgbClr val="1B9E77"/>
                </a:solidFill>
                <a:latin typeface="Helvetica" panose="020B0604020202020204"/>
                <a:cs typeface="Helvetica" panose="020B0604020202020204"/>
              </a:rPr>
              <a:t>Temperate</a:t>
            </a:r>
            <a:endParaRPr lang="es-ES" sz="1800" dirty="0">
              <a:solidFill>
                <a:srgbClr val="1B9E77"/>
              </a:solidFill>
              <a:latin typeface="Helvetica" panose="020B0604020202020204"/>
              <a:cs typeface="Helvetica" panose="020B0604020202020204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i="1" dirty="0">
              <a:solidFill>
                <a:srgbClr val="1B9E77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34C95E21-2D57-BCF4-19A9-47FAC0AF4EFA}"/>
              </a:ext>
            </a:extLst>
          </p:cNvPr>
          <p:cNvSpPr txBox="1">
            <a:spLocks/>
          </p:cNvSpPr>
          <p:nvPr/>
        </p:nvSpPr>
        <p:spPr>
          <a:xfrm>
            <a:off x="7869332" y="1912383"/>
            <a:ext cx="1767271" cy="6183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DB5F02"/>
                </a:solidFill>
                <a:latin typeface="Helvetica" panose="020B0604020202020204"/>
                <a:cs typeface="Helvetica"/>
              </a:rPr>
              <a:t>Pinus</a:t>
            </a:r>
            <a:r>
              <a:rPr lang="es-ES" sz="1800" i="1" dirty="0">
                <a:solidFill>
                  <a:srgbClr val="DB5F02"/>
                </a:solidFill>
                <a:latin typeface="Helvetica" panose="020B0604020202020204"/>
                <a:cs typeface="Helvetica"/>
              </a:rPr>
              <a:t> pinea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1800" dirty="0" err="1">
                <a:solidFill>
                  <a:srgbClr val="DB5F02"/>
                </a:solidFill>
                <a:latin typeface="Helvetica" panose="020B0604020202020204"/>
                <a:cs typeface="Helvetica" panose="020B0604020202020204"/>
              </a:rPr>
              <a:t>Mediterranean</a:t>
            </a:r>
            <a:endParaRPr lang="es-ES" sz="1800" dirty="0">
              <a:solidFill>
                <a:srgbClr val="DB5F02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A9F656-B91B-8B88-37C0-78549A7B183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8EBD559-FF21-01E8-287A-D770A4F85C2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422257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3530D-970D-C628-E371-F6C875E9E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F0334DA8-7227-A147-66E6-4E60849404E1}"/>
              </a:ext>
            </a:extLst>
          </p:cNvPr>
          <p:cNvSpPr txBox="1">
            <a:spLocks/>
          </p:cNvSpPr>
          <p:nvPr/>
        </p:nvSpPr>
        <p:spPr>
          <a:xfrm>
            <a:off x="633461" y="1198313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>
                <a:latin typeface="Helvetica"/>
                <a:cs typeface="Helvetica"/>
              </a:rPr>
              <a:t>2)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which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morphological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traits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best</a:t>
            </a:r>
            <a:r>
              <a:rPr lang="es-ES" sz="2400" dirty="0">
                <a:latin typeface="Helvetica"/>
                <a:cs typeface="Helvetica"/>
              </a:rPr>
              <a:t> determine </a:t>
            </a:r>
            <a:r>
              <a:rPr lang="es-ES" sz="2400" b="1" dirty="0" err="1">
                <a:latin typeface="Helvetica"/>
                <a:cs typeface="Helvetica"/>
              </a:rPr>
              <a:t>drought-induced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vulnerability</a:t>
            </a:r>
            <a:endParaRPr lang="es-ES" sz="2400" b="1" dirty="0">
              <a:latin typeface="Helvetica"/>
              <a:cs typeface="Helvetica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B531C32-B974-2923-13A7-25DFBBEA98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7655"/>
          <a:stretch/>
        </p:blipFill>
        <p:spPr>
          <a:xfrm>
            <a:off x="1149474" y="2380143"/>
            <a:ext cx="3477754" cy="125011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21C874D-C070-B547-426D-19390927DA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835"/>
          <a:stretch/>
        </p:blipFill>
        <p:spPr>
          <a:xfrm>
            <a:off x="6374761" y="2342010"/>
            <a:ext cx="3115055" cy="1220763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96CB7D1C-5800-44F3-28C0-E39E6E83754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BB347058-6834-8CE5-A175-2CB8DE12F307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511215C2-BF18-03CC-D677-D6A8A7ED75E1}"/>
              </a:ext>
            </a:extLst>
          </p:cNvPr>
          <p:cNvSpPr txBox="1">
            <a:spLocks/>
          </p:cNvSpPr>
          <p:nvPr/>
        </p:nvSpPr>
        <p:spPr>
          <a:xfrm>
            <a:off x="633461" y="4019268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>
                <a:latin typeface="Helvetica"/>
                <a:cs typeface="Helvetica"/>
              </a:rPr>
              <a:t>3)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determine </a:t>
            </a:r>
            <a:r>
              <a:rPr lang="es-ES" sz="2400" dirty="0" err="1">
                <a:latin typeface="Helvetica"/>
                <a:cs typeface="Helvetica"/>
              </a:rPr>
              <a:t>how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drought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vulnerability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changes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along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an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aridity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gradient</a:t>
            </a:r>
            <a:r>
              <a:rPr lang="es-ES" sz="2400" dirty="0">
                <a:latin typeface="Helvetica"/>
                <a:cs typeface="Helvetica"/>
              </a:rPr>
              <a:t> in </a:t>
            </a:r>
            <a:r>
              <a:rPr lang="es-ES" sz="2400" dirty="0" err="1">
                <a:latin typeface="Helvetica"/>
                <a:cs typeface="Helvetica"/>
              </a:rPr>
              <a:t>Iberian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forests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528B97C2-163C-0AB0-453E-9229E0813B5E}"/>
              </a:ext>
            </a:extLst>
          </p:cNvPr>
          <p:cNvSpPr txBox="1">
            <a:spLocks/>
          </p:cNvSpPr>
          <p:nvPr/>
        </p:nvSpPr>
        <p:spPr>
          <a:xfrm>
            <a:off x="633460" y="4981690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i="1" dirty="0">
                <a:latin typeface="Helvetica"/>
                <a:cs typeface="Helvetica"/>
              </a:rPr>
              <a:t>H3.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b="1" i="1" dirty="0" err="1">
                <a:latin typeface="Helvetica"/>
                <a:cs typeface="Helvetica"/>
              </a:rPr>
              <a:t>higher</a:t>
            </a:r>
            <a:r>
              <a:rPr lang="es-ES" sz="2400" b="1" i="1" dirty="0">
                <a:latin typeface="Helvetica"/>
                <a:cs typeface="Helvetica"/>
              </a:rPr>
              <a:t> </a:t>
            </a:r>
            <a:r>
              <a:rPr lang="es-ES" sz="2400" b="1" i="1" dirty="0" err="1">
                <a:latin typeface="Helvetica"/>
                <a:cs typeface="Helvetica"/>
              </a:rPr>
              <a:t>vulnerability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increased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aridity</a:t>
            </a:r>
            <a:r>
              <a:rPr lang="es-ES" sz="2400" i="1" dirty="0">
                <a:latin typeface="Helvetica"/>
                <a:cs typeface="Helvetica"/>
              </a:rPr>
              <a:t> in </a:t>
            </a:r>
            <a:r>
              <a:rPr lang="es-ES" sz="2400" b="1" i="1" dirty="0" err="1">
                <a:latin typeface="Helvetica"/>
                <a:cs typeface="Helvetica"/>
              </a:rPr>
              <a:t>temperate</a:t>
            </a:r>
            <a:r>
              <a:rPr lang="es-ES" sz="2400" b="1" i="1" dirty="0">
                <a:latin typeface="Helvetica"/>
                <a:cs typeface="Helvetica"/>
              </a:rPr>
              <a:t> </a:t>
            </a:r>
            <a:r>
              <a:rPr lang="es-ES" sz="2400" b="1" i="1" dirty="0" err="1">
                <a:latin typeface="Helvetica"/>
                <a:cs typeface="Helvetica"/>
              </a:rPr>
              <a:t>species</a:t>
            </a:r>
            <a:r>
              <a:rPr lang="es-ES" sz="2400" b="1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than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Mediterranean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species</a:t>
            </a:r>
            <a:endParaRPr lang="es-ES" sz="2400" i="1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487036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3B4EC-E283-5677-91B8-01AB140D1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D4A7DB54-4178-5298-6B51-7E7A57B25860}"/>
              </a:ext>
            </a:extLst>
          </p:cNvPr>
          <p:cNvGrpSpPr/>
          <p:nvPr/>
        </p:nvGrpSpPr>
        <p:grpSpPr>
          <a:xfrm>
            <a:off x="635710" y="1091933"/>
            <a:ext cx="3761427" cy="5167267"/>
            <a:chOff x="6872115" y="927995"/>
            <a:chExt cx="4007741" cy="5167267"/>
          </a:xfrm>
        </p:grpSpPr>
        <p:cxnSp>
          <p:nvCxnSpPr>
            <p:cNvPr id="6" name="Conector recto de flecha 5">
              <a:extLst>
                <a:ext uri="{FF2B5EF4-FFF2-40B4-BE49-F238E27FC236}">
                  <a16:creationId xmlns:a16="http://schemas.microsoft.com/office/drawing/2014/main" id="{1786FCCD-55EC-DFC5-277E-AF1DDBF94257}"/>
                </a:ext>
              </a:extLst>
            </p:cNvPr>
            <p:cNvCxnSpPr>
              <a:cxnSpLocks/>
            </p:cNvCxnSpPr>
            <p:nvPr/>
          </p:nvCxnSpPr>
          <p:spPr>
            <a:xfrm>
              <a:off x="7208697" y="1279802"/>
              <a:ext cx="32926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CuadroTexto 18">
              <a:extLst>
                <a:ext uri="{FF2B5EF4-FFF2-40B4-BE49-F238E27FC236}">
                  <a16:creationId xmlns:a16="http://schemas.microsoft.com/office/drawing/2014/main" id="{E88B7465-25BC-FAB4-8CFF-2E7A84028AB2}"/>
                </a:ext>
              </a:extLst>
            </p:cNvPr>
            <p:cNvSpPr txBox="1"/>
            <p:nvPr/>
          </p:nvSpPr>
          <p:spPr>
            <a:xfrm>
              <a:off x="8456917" y="927995"/>
              <a:ext cx="911247" cy="373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829">
                  <a:latin typeface="Arial" panose="020B0604020202020204" pitchFamily="34" charset="0"/>
                  <a:cs typeface="Arial" panose="020B0604020202020204" pitchFamily="34" charset="0"/>
                </a:rPr>
                <a:t>34 m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30E7678A-7A50-7275-0F35-F468D9323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72115" y="1563478"/>
              <a:ext cx="4007741" cy="4531784"/>
            </a:xfrm>
            <a:prstGeom prst="rect">
              <a:avLst/>
            </a:prstGeom>
          </p:spPr>
        </p:pic>
      </p:grpSp>
      <p:sp>
        <p:nvSpPr>
          <p:cNvPr id="9" name="CuadroTexto 10">
            <a:extLst>
              <a:ext uri="{FF2B5EF4-FFF2-40B4-BE49-F238E27FC236}">
                <a16:creationId xmlns:a16="http://schemas.microsoft.com/office/drawing/2014/main" id="{BFC4E210-0B8F-7818-4DEA-F8337C5EB8D4}"/>
              </a:ext>
            </a:extLst>
          </p:cNvPr>
          <p:cNvSpPr txBox="1"/>
          <p:nvPr/>
        </p:nvSpPr>
        <p:spPr>
          <a:xfrm>
            <a:off x="4843220" y="1091933"/>
            <a:ext cx="5809299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Mature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d.b.h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Regeneration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Shrub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cover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4.- Target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LWC 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SLA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Photosynthetic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(C, N, O)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Soil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data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Gráfico 11" descr="Abeto">
            <a:extLst>
              <a:ext uri="{FF2B5EF4-FFF2-40B4-BE49-F238E27FC236}">
                <a16:creationId xmlns:a16="http://schemas.microsoft.com/office/drawing/2014/main" id="{545A1811-C8ED-7AF6-9FB7-C0AAABC35A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26902" y="2389013"/>
            <a:ext cx="914400" cy="914400"/>
          </a:xfrm>
          <a:prstGeom prst="rect">
            <a:avLst/>
          </a:prstGeom>
        </p:spPr>
      </p:pic>
      <p:pic>
        <p:nvPicPr>
          <p:cNvPr id="13" name="Gráfico 12" descr="Abeto">
            <a:extLst>
              <a:ext uri="{FF2B5EF4-FFF2-40B4-BE49-F238E27FC236}">
                <a16:creationId xmlns:a16="http://schemas.microsoft.com/office/drawing/2014/main" id="{89ECA156-2E40-F0AE-D17C-B2DCEA8419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7183" y="2746686"/>
            <a:ext cx="914400" cy="914400"/>
          </a:xfrm>
          <a:prstGeom prst="rect">
            <a:avLst/>
          </a:prstGeom>
        </p:spPr>
      </p:pic>
      <p:pic>
        <p:nvPicPr>
          <p:cNvPr id="14" name="Gráfico 13" descr="Abeto">
            <a:extLst>
              <a:ext uri="{FF2B5EF4-FFF2-40B4-BE49-F238E27FC236}">
                <a16:creationId xmlns:a16="http://schemas.microsoft.com/office/drawing/2014/main" id="{3B199FEF-6E3B-64F7-ABE6-499676A584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3867" y="3030361"/>
            <a:ext cx="914400" cy="914400"/>
          </a:xfrm>
          <a:prstGeom prst="rect">
            <a:avLst/>
          </a:prstGeom>
        </p:spPr>
      </p:pic>
      <p:pic>
        <p:nvPicPr>
          <p:cNvPr id="15" name="Gráfico 14" descr="Abeto">
            <a:extLst>
              <a:ext uri="{FF2B5EF4-FFF2-40B4-BE49-F238E27FC236}">
                <a16:creationId xmlns:a16="http://schemas.microsoft.com/office/drawing/2014/main" id="{F1C2D211-15A5-69E5-AA50-E3C085ECC3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37058" y="4127146"/>
            <a:ext cx="914400" cy="914400"/>
          </a:xfrm>
          <a:prstGeom prst="rect">
            <a:avLst/>
          </a:prstGeom>
        </p:spPr>
      </p:pic>
      <p:pic>
        <p:nvPicPr>
          <p:cNvPr id="16" name="Gráfico 15" descr="Abeto">
            <a:extLst>
              <a:ext uri="{FF2B5EF4-FFF2-40B4-BE49-F238E27FC236}">
                <a16:creationId xmlns:a16="http://schemas.microsoft.com/office/drawing/2014/main" id="{7A90B577-9218-845B-73D1-20C0BB8C1C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78353" y="4224808"/>
            <a:ext cx="914400" cy="914400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BDB7A46D-91B8-F459-9835-65013F61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5782E1E-BC36-63F5-4AA7-2039232E13E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95F97D4-3704-918D-A040-286D8F79A8D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7655"/>
          <a:stretch/>
        </p:blipFill>
        <p:spPr>
          <a:xfrm>
            <a:off x="8527188" y="3944761"/>
            <a:ext cx="3477754" cy="125011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CAD87A3-2507-827F-113D-609B6918B32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3835"/>
          <a:stretch/>
        </p:blipFill>
        <p:spPr>
          <a:xfrm>
            <a:off x="8708537" y="5371534"/>
            <a:ext cx="3115055" cy="12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871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5B835-B71E-2989-E7E7-A496A1491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79B54AFA-0DF0-CB85-F678-98071C00F4C0}"/>
              </a:ext>
            </a:extLst>
          </p:cNvPr>
          <p:cNvSpPr txBox="1">
            <a:spLocks/>
          </p:cNvSpPr>
          <p:nvPr/>
        </p:nvSpPr>
        <p:spPr>
          <a:xfrm>
            <a:off x="883112" y="1248960"/>
            <a:ext cx="5303636" cy="38288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Morphological</a:t>
            </a:r>
            <a:endParaRPr lang="es-ES" sz="2400" b="1" dirty="0">
              <a:latin typeface="Helvetica"/>
              <a:ea typeface="Calibri" panose="020F0502020204030204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growth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dendro</a:t>
            </a:r>
            <a:endParaRPr lang="es-ES" sz="2000" dirty="0">
              <a:latin typeface="Helvetica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traits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leaf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area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defoliation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endParaRPr lang="es-ES" sz="20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Physiological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Photosynthesis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spectrophotometry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relations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water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nutrients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C &amp; N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isotopes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isotopes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F6A97FF-FF6A-EEE9-1CC0-AB48DB192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2FF20BA-0C7E-1C22-7F45-4CE624AEDEB1}"/>
              </a:ext>
            </a:extLst>
          </p:cNvPr>
          <p:cNvSpPr txBox="1">
            <a:spLocks/>
          </p:cNvSpPr>
          <p:nvPr/>
        </p:nvSpPr>
        <p:spPr>
          <a:xfrm>
            <a:off x="6683951" y="2123594"/>
            <a:ext cx="2563083" cy="16945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746FB2"/>
                </a:solidFill>
                <a:latin typeface="Helvetica"/>
                <a:cs typeface="Helvetica"/>
              </a:rPr>
              <a:t>Abies</a:t>
            </a:r>
            <a:r>
              <a:rPr lang="es-ES" sz="2400" i="1" dirty="0">
                <a:solidFill>
                  <a:srgbClr val="746FB2"/>
                </a:solidFill>
                <a:latin typeface="Helvetica"/>
                <a:cs typeface="Helvetica"/>
              </a:rPr>
              <a:t> alba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400" i="1" dirty="0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i="1" dirty="0" err="1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endParaRPr lang="es-ES" sz="2400" i="1" dirty="0">
              <a:solidFill>
                <a:srgbClr val="1B9E7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400" i="1" dirty="0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pinea </a:t>
            </a: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24AEED58-709F-898C-12A6-99AB65DAD3F8}"/>
              </a:ext>
            </a:extLst>
          </p:cNvPr>
          <p:cNvSpPr txBox="1">
            <a:spLocks/>
          </p:cNvSpPr>
          <p:nvPr/>
        </p:nvSpPr>
        <p:spPr>
          <a:xfrm>
            <a:off x="7965492" y="4578350"/>
            <a:ext cx="3672037" cy="19719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218317"/>
              </a:buClr>
              <a:buNone/>
            </a:pPr>
            <a:endParaRPr lang="es-ES" sz="2400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 lvl="1" indent="0" algn="r">
              <a:buClr>
                <a:srgbClr val="218317"/>
              </a:buClr>
              <a:buNone/>
            </a:pPr>
            <a:r>
              <a:rPr lang="es-ES" b="1" u="sng" dirty="0">
                <a:latin typeface="Helvetica" panose="020B0604020202020204" pitchFamily="34" charset="0"/>
                <a:cs typeface="Helvetica" panose="020B0604020202020204" pitchFamily="34" charset="0"/>
              </a:rPr>
              <a:t>462 target </a:t>
            </a:r>
            <a:r>
              <a:rPr lang="es-ES" b="1" u="sng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endParaRPr lang="es-ES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r"/>
            <a:endParaRPr lang="es-ES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EC85E287-2566-DBE7-BD26-B22072E8579A}"/>
              </a:ext>
            </a:extLst>
          </p:cNvPr>
          <p:cNvSpPr txBox="1">
            <a:spLocks/>
          </p:cNvSpPr>
          <p:nvPr/>
        </p:nvSpPr>
        <p:spPr>
          <a:xfrm>
            <a:off x="7908218" y="2052059"/>
            <a:ext cx="3672037" cy="25262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746FB2"/>
                </a:solidFill>
                <a:latin typeface="Helvetica"/>
                <a:cs typeface="Helvetica"/>
              </a:rPr>
              <a:t>23 </a:t>
            </a:r>
            <a:r>
              <a:rPr lang="es-ES" sz="2400" dirty="0" err="1">
                <a:solidFill>
                  <a:srgbClr val="746FB2"/>
                </a:solidFill>
                <a:latin typeface="Helvetica"/>
                <a:cs typeface="Helvetica"/>
              </a:rPr>
              <a:t>plots</a:t>
            </a:r>
            <a:endParaRPr lang="es-ES" sz="2400" dirty="0">
              <a:solidFill>
                <a:srgbClr val="746FB2"/>
              </a:solidFill>
              <a:latin typeface="Helvetica"/>
              <a:cs typeface="Helvetica"/>
            </a:endParaRPr>
          </a:p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51 </a:t>
            </a:r>
            <a:r>
              <a:rPr lang="es-ES" sz="2400" dirty="0" err="1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sz="2400" dirty="0">
              <a:solidFill>
                <a:srgbClr val="1B9E7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17 </a:t>
            </a:r>
            <a:r>
              <a:rPr lang="es-ES" sz="2400" dirty="0" err="1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sz="2400" dirty="0">
              <a:solidFill>
                <a:srgbClr val="DB5F0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r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 lvl="1" indent="0" algn="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5 targets  x  91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D84DF4-2490-EB95-168F-DB742423D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0EED7EC-8E57-6D07-021B-D020ECFE0CE8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5363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4FDBE-B13D-7779-DA88-534C3FE32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C2645F1-D5A7-BE14-FF82-AED7E077E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ED90DC-5139-D0EB-6DDB-4ACBC2962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5EEF694-F808-7ACA-6144-B20E9A05283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2B2E9C4-E5D5-5B45-835E-1BCD2EB73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17" y="875489"/>
            <a:ext cx="5278956" cy="5882352"/>
          </a:xfrm>
          <a:prstGeom prst="rect">
            <a:avLst/>
          </a:prstGeom>
        </p:spPr>
      </p:pic>
      <p:sp>
        <p:nvSpPr>
          <p:cNvPr id="12" name="CuadroTexto 10">
            <a:extLst>
              <a:ext uri="{FF2B5EF4-FFF2-40B4-BE49-F238E27FC236}">
                <a16:creationId xmlns:a16="http://schemas.microsoft.com/office/drawing/2014/main" id="{E65B7FF5-0121-A19A-1B66-299AD251DA47}"/>
              </a:ext>
            </a:extLst>
          </p:cNvPr>
          <p:cNvSpPr txBox="1"/>
          <p:nvPr/>
        </p:nvSpPr>
        <p:spPr>
          <a:xfrm>
            <a:off x="6021444" y="1791969"/>
            <a:ext cx="572561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Standardized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(BAI /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d.b.h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.)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series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each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site</a:t>
            </a:r>
          </a:p>
          <a:p>
            <a:pPr lvl="1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Darker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lines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, and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lighter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lines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. Gray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bars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represent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mean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annual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precipitation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right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y-axis).</a:t>
            </a:r>
          </a:p>
        </p:txBody>
      </p:sp>
      <p:pic>
        <p:nvPicPr>
          <p:cNvPr id="13" name="Gráfico 12" descr="Abeto">
            <a:extLst>
              <a:ext uri="{FF2B5EF4-FFF2-40B4-BE49-F238E27FC236}">
                <a16:creationId xmlns:a16="http://schemas.microsoft.com/office/drawing/2014/main" id="{68E32319-FCFC-96D4-4A06-FB952CFD9B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1616" y="5537944"/>
            <a:ext cx="804155" cy="804155"/>
          </a:xfrm>
          <a:prstGeom prst="rect">
            <a:avLst/>
          </a:prstGeom>
        </p:spPr>
      </p:pic>
      <p:pic>
        <p:nvPicPr>
          <p:cNvPr id="14" name="Gráfico 13" descr="Abeto">
            <a:extLst>
              <a:ext uri="{FF2B5EF4-FFF2-40B4-BE49-F238E27FC236}">
                <a16:creationId xmlns:a16="http://schemas.microsoft.com/office/drawing/2014/main" id="{379DD684-FB51-F6B0-E2A0-628FB2589F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4309" y="5553422"/>
            <a:ext cx="804155" cy="804155"/>
          </a:xfrm>
          <a:prstGeom prst="rect">
            <a:avLst/>
          </a:prstGeom>
        </p:spPr>
      </p:pic>
      <p:pic>
        <p:nvPicPr>
          <p:cNvPr id="15" name="Gráfico 14" descr="Abeto">
            <a:extLst>
              <a:ext uri="{FF2B5EF4-FFF2-40B4-BE49-F238E27FC236}">
                <a16:creationId xmlns:a16="http://schemas.microsoft.com/office/drawing/2014/main" id="{0B9BF647-3A44-88A2-FA85-CFD08A8B9D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84250" y="5599506"/>
            <a:ext cx="804155" cy="804155"/>
          </a:xfrm>
          <a:prstGeom prst="rect">
            <a:avLst/>
          </a:prstGeom>
        </p:spPr>
      </p:pic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C05D27C5-473A-8895-B3BD-4305536580DC}"/>
              </a:ext>
            </a:extLst>
          </p:cNvPr>
          <p:cNvSpPr txBox="1">
            <a:spLocks/>
          </p:cNvSpPr>
          <p:nvPr/>
        </p:nvSpPr>
        <p:spPr>
          <a:xfrm>
            <a:off x="4267038" y="5779923"/>
            <a:ext cx="1767271" cy="62373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746FB2"/>
                </a:solidFill>
                <a:latin typeface="Helvetica" panose="020B0604020202020204"/>
                <a:cs typeface="Helvetica"/>
              </a:rPr>
              <a:t>Abies</a:t>
            </a:r>
            <a:r>
              <a:rPr lang="es-ES" sz="1800" i="1" dirty="0">
                <a:solidFill>
                  <a:srgbClr val="746FB2"/>
                </a:solidFill>
                <a:latin typeface="Helvetica" panose="020B0604020202020204"/>
                <a:cs typeface="Helvetica"/>
              </a:rPr>
              <a:t> alba</a:t>
            </a:r>
          </a:p>
          <a:p>
            <a:pPr marL="0" indent="0">
              <a:buNone/>
            </a:pPr>
            <a:r>
              <a:rPr lang="es-ES" sz="1800" dirty="0" err="1">
                <a:solidFill>
                  <a:srgbClr val="746FB2"/>
                </a:solidFill>
                <a:latin typeface="Helvetica" panose="020B0604020202020204"/>
                <a:cs typeface="Helvetica" panose="020B0604020202020204"/>
              </a:rPr>
              <a:t>Temperate</a:t>
            </a:r>
            <a:endParaRPr lang="es-ES" sz="1800" dirty="0">
              <a:solidFill>
                <a:srgbClr val="746FB2"/>
              </a:solidFill>
              <a:latin typeface="Helvetica" panose="020B0604020202020204"/>
              <a:cs typeface="Helvetica" panose="020B0604020202020204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i="1" dirty="0">
              <a:solidFill>
                <a:srgbClr val="746FB2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183FAB09-3F7C-B1C3-1EA4-38221BAE9503}"/>
              </a:ext>
            </a:extLst>
          </p:cNvPr>
          <p:cNvSpPr txBox="1">
            <a:spLocks/>
          </p:cNvSpPr>
          <p:nvPr/>
        </p:nvSpPr>
        <p:spPr>
          <a:xfrm>
            <a:off x="6838464" y="5781278"/>
            <a:ext cx="1767271" cy="62238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1B9E77"/>
                </a:solidFill>
                <a:latin typeface="Helvetica" panose="020B0604020202020204"/>
                <a:cs typeface="Helvetica"/>
              </a:rPr>
              <a:t>Pinus</a:t>
            </a:r>
            <a:r>
              <a:rPr lang="es-ES" sz="1800" i="1" dirty="0">
                <a:solidFill>
                  <a:srgbClr val="1B9E77"/>
                </a:solidFill>
                <a:latin typeface="Helvetica" panose="020B0604020202020204"/>
                <a:cs typeface="Helvetica"/>
              </a:rPr>
              <a:t> </a:t>
            </a:r>
            <a:r>
              <a:rPr lang="es-ES" sz="1800" i="1" dirty="0" err="1">
                <a:solidFill>
                  <a:srgbClr val="1B9E77"/>
                </a:solidFill>
                <a:latin typeface="Helvetica" panose="020B0604020202020204"/>
                <a:cs typeface="Helvetica"/>
              </a:rPr>
              <a:t>sylvestris</a:t>
            </a:r>
            <a:endParaRPr lang="es-ES" sz="1800" i="1" dirty="0">
              <a:solidFill>
                <a:srgbClr val="1B9E77"/>
              </a:solidFill>
              <a:latin typeface="Helvetica" panose="020B0604020202020204"/>
              <a:cs typeface="Helvetica"/>
            </a:endParaRPr>
          </a:p>
          <a:p>
            <a:pPr marL="0" indent="0">
              <a:buNone/>
            </a:pPr>
            <a:r>
              <a:rPr lang="es-ES" sz="1800" dirty="0" err="1">
                <a:solidFill>
                  <a:srgbClr val="1B9E77"/>
                </a:solidFill>
                <a:latin typeface="Helvetica" panose="020B0604020202020204"/>
                <a:cs typeface="Helvetica" panose="020B0604020202020204"/>
              </a:rPr>
              <a:t>Temperate</a:t>
            </a:r>
            <a:endParaRPr lang="es-ES" sz="1800" dirty="0">
              <a:solidFill>
                <a:srgbClr val="1B9E77"/>
              </a:solidFill>
              <a:latin typeface="Helvetica" panose="020B0604020202020204"/>
              <a:cs typeface="Helvetica" panose="020B0604020202020204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i="1" dirty="0">
              <a:solidFill>
                <a:srgbClr val="1B9E77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A8AB3B5C-AFAA-C642-DCE9-AA448A018229}"/>
              </a:ext>
            </a:extLst>
          </p:cNvPr>
          <p:cNvSpPr txBox="1">
            <a:spLocks/>
          </p:cNvSpPr>
          <p:nvPr/>
        </p:nvSpPr>
        <p:spPr>
          <a:xfrm>
            <a:off x="9688405" y="5757809"/>
            <a:ext cx="1767271" cy="6183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DB5F02"/>
                </a:solidFill>
                <a:latin typeface="Helvetica" panose="020B0604020202020204"/>
                <a:cs typeface="Helvetica"/>
              </a:rPr>
              <a:t>Pinus</a:t>
            </a:r>
            <a:r>
              <a:rPr lang="es-ES" sz="1800" i="1" dirty="0">
                <a:solidFill>
                  <a:srgbClr val="DB5F02"/>
                </a:solidFill>
                <a:latin typeface="Helvetica" panose="020B0604020202020204"/>
                <a:cs typeface="Helvetica"/>
              </a:rPr>
              <a:t> pinea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1800" dirty="0" err="1">
                <a:solidFill>
                  <a:srgbClr val="DB5F02"/>
                </a:solidFill>
                <a:latin typeface="Helvetica" panose="020B0604020202020204"/>
                <a:cs typeface="Helvetica" panose="020B0604020202020204"/>
              </a:rPr>
              <a:t>Mediterranean</a:t>
            </a:r>
            <a:endParaRPr lang="es-ES" sz="1800" dirty="0">
              <a:solidFill>
                <a:srgbClr val="DB5F02"/>
              </a:solidFill>
              <a:latin typeface="Helvetica" panose="020B0604020202020204"/>
              <a:cs typeface="Helvetica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100038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98328-5D4A-117A-F0E1-A575A80D4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287BCE5-1329-CF6E-4B55-751D2D42A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8D9A4B-4061-4D85-6F7A-262A79B11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05AAD56-F41C-84CC-E2BA-214389B36F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17" y="875489"/>
            <a:ext cx="5278956" cy="5882352"/>
          </a:xfrm>
          <a:prstGeom prst="rect">
            <a:avLst/>
          </a:prstGeom>
        </p:spPr>
      </p:pic>
      <p:sp>
        <p:nvSpPr>
          <p:cNvPr id="12" name="CuadroTexto 10">
            <a:extLst>
              <a:ext uri="{FF2B5EF4-FFF2-40B4-BE49-F238E27FC236}">
                <a16:creationId xmlns:a16="http://schemas.microsoft.com/office/drawing/2014/main" id="{7864C863-53E9-5721-781B-3CCE4A9A1619}"/>
              </a:ext>
            </a:extLst>
          </p:cNvPr>
          <p:cNvSpPr txBox="1"/>
          <p:nvPr/>
        </p:nvSpPr>
        <p:spPr>
          <a:xfrm>
            <a:off x="5173884" y="1161816"/>
            <a:ext cx="6647727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rgbClr val="7873B4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Navarra (BAS/SAR) &amp; Huesca (FAG/OZA):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have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always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had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significant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However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convergence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recent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years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which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are more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humid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maybe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it’s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temperatura’s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fault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?)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rgbClr val="37AD88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Navarra (RON/URZ) and Guadalajara (ADO/ALU/TRA):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divergence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over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time.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rgbClr val="37AD88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Madrid (GUA):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have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always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had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significant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although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seems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more evidente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recent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years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rgbClr val="37AD88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Teruel (COR/CED):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no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clear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pattern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but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several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interesting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major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decouplings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last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decades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rgbClr val="DB5E0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Madrid (PEL/NAV):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no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major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vs.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sites.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3" name="Gráfico 12" descr="Abeto">
            <a:extLst>
              <a:ext uri="{FF2B5EF4-FFF2-40B4-BE49-F238E27FC236}">
                <a16:creationId xmlns:a16="http://schemas.microsoft.com/office/drawing/2014/main" id="{A25B5D43-49E5-1519-056C-3A6B5411B7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1616" y="5537944"/>
            <a:ext cx="804155" cy="804155"/>
          </a:xfrm>
          <a:prstGeom prst="rect">
            <a:avLst/>
          </a:prstGeom>
        </p:spPr>
      </p:pic>
      <p:pic>
        <p:nvPicPr>
          <p:cNvPr id="14" name="Gráfico 13" descr="Abeto">
            <a:extLst>
              <a:ext uri="{FF2B5EF4-FFF2-40B4-BE49-F238E27FC236}">
                <a16:creationId xmlns:a16="http://schemas.microsoft.com/office/drawing/2014/main" id="{0074D390-B171-B85E-5C54-F1B8EA06D3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4309" y="5553422"/>
            <a:ext cx="804155" cy="804155"/>
          </a:xfrm>
          <a:prstGeom prst="rect">
            <a:avLst/>
          </a:prstGeom>
        </p:spPr>
      </p:pic>
      <p:pic>
        <p:nvPicPr>
          <p:cNvPr id="15" name="Gráfico 14" descr="Abeto">
            <a:extLst>
              <a:ext uri="{FF2B5EF4-FFF2-40B4-BE49-F238E27FC236}">
                <a16:creationId xmlns:a16="http://schemas.microsoft.com/office/drawing/2014/main" id="{04B8CA8C-C5F6-416D-C9F0-CFC3D6BAC4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84250" y="5599506"/>
            <a:ext cx="804155" cy="804155"/>
          </a:xfrm>
          <a:prstGeom prst="rect">
            <a:avLst/>
          </a:prstGeom>
        </p:spPr>
      </p:pic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4F3D388E-E47F-E5BD-B011-9BF488BBD26D}"/>
              </a:ext>
            </a:extLst>
          </p:cNvPr>
          <p:cNvSpPr txBox="1">
            <a:spLocks/>
          </p:cNvSpPr>
          <p:nvPr/>
        </p:nvSpPr>
        <p:spPr>
          <a:xfrm>
            <a:off x="4267038" y="5779923"/>
            <a:ext cx="1767271" cy="62373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746FB2"/>
                </a:solidFill>
                <a:latin typeface="Helvetica" panose="020B0604020202020204"/>
                <a:cs typeface="Helvetica"/>
              </a:rPr>
              <a:t>Abies</a:t>
            </a:r>
            <a:r>
              <a:rPr lang="es-ES" sz="1800" i="1" dirty="0">
                <a:solidFill>
                  <a:srgbClr val="746FB2"/>
                </a:solidFill>
                <a:latin typeface="Helvetica" panose="020B0604020202020204"/>
                <a:cs typeface="Helvetica"/>
              </a:rPr>
              <a:t> alba</a:t>
            </a:r>
          </a:p>
          <a:p>
            <a:pPr marL="0" indent="0">
              <a:buNone/>
            </a:pPr>
            <a:r>
              <a:rPr lang="es-ES" sz="1800" dirty="0" err="1">
                <a:solidFill>
                  <a:srgbClr val="746FB2"/>
                </a:solidFill>
                <a:latin typeface="Helvetica" panose="020B0604020202020204"/>
                <a:cs typeface="Helvetica" panose="020B0604020202020204"/>
              </a:rPr>
              <a:t>Temperate</a:t>
            </a:r>
            <a:endParaRPr lang="es-ES" sz="1800" dirty="0">
              <a:solidFill>
                <a:srgbClr val="746FB2"/>
              </a:solidFill>
              <a:latin typeface="Helvetica" panose="020B0604020202020204"/>
              <a:cs typeface="Helvetica" panose="020B0604020202020204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i="1" dirty="0">
              <a:solidFill>
                <a:srgbClr val="746FB2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463B799E-36A2-A0F9-1055-9AA4CA5E8DF8}"/>
              </a:ext>
            </a:extLst>
          </p:cNvPr>
          <p:cNvSpPr txBox="1">
            <a:spLocks/>
          </p:cNvSpPr>
          <p:nvPr/>
        </p:nvSpPr>
        <p:spPr>
          <a:xfrm>
            <a:off x="6838464" y="5781278"/>
            <a:ext cx="1767271" cy="62238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1B9E77"/>
                </a:solidFill>
                <a:latin typeface="Helvetica" panose="020B0604020202020204"/>
                <a:cs typeface="Helvetica"/>
              </a:rPr>
              <a:t>Pinus</a:t>
            </a:r>
            <a:r>
              <a:rPr lang="es-ES" sz="1800" i="1" dirty="0">
                <a:solidFill>
                  <a:srgbClr val="1B9E77"/>
                </a:solidFill>
                <a:latin typeface="Helvetica" panose="020B0604020202020204"/>
                <a:cs typeface="Helvetica"/>
              </a:rPr>
              <a:t> </a:t>
            </a:r>
            <a:r>
              <a:rPr lang="es-ES" sz="1800" i="1" dirty="0" err="1">
                <a:solidFill>
                  <a:srgbClr val="1B9E77"/>
                </a:solidFill>
                <a:latin typeface="Helvetica" panose="020B0604020202020204"/>
                <a:cs typeface="Helvetica"/>
              </a:rPr>
              <a:t>sylvestris</a:t>
            </a:r>
            <a:endParaRPr lang="es-ES" sz="1800" i="1" dirty="0">
              <a:solidFill>
                <a:srgbClr val="1B9E77"/>
              </a:solidFill>
              <a:latin typeface="Helvetica" panose="020B0604020202020204"/>
              <a:cs typeface="Helvetica"/>
            </a:endParaRPr>
          </a:p>
          <a:p>
            <a:pPr marL="0" indent="0">
              <a:buNone/>
            </a:pPr>
            <a:r>
              <a:rPr lang="es-ES" sz="1800" dirty="0" err="1">
                <a:solidFill>
                  <a:srgbClr val="1B9E77"/>
                </a:solidFill>
                <a:latin typeface="Helvetica" panose="020B0604020202020204"/>
                <a:cs typeface="Helvetica" panose="020B0604020202020204"/>
              </a:rPr>
              <a:t>Temperate</a:t>
            </a:r>
            <a:endParaRPr lang="es-ES" sz="1800" dirty="0">
              <a:solidFill>
                <a:srgbClr val="1B9E77"/>
              </a:solidFill>
              <a:latin typeface="Helvetica" panose="020B0604020202020204"/>
              <a:cs typeface="Helvetica" panose="020B0604020202020204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i="1" dirty="0">
              <a:solidFill>
                <a:srgbClr val="1B9E77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6B292198-F1C8-A0F5-6614-34BD25515587}"/>
              </a:ext>
            </a:extLst>
          </p:cNvPr>
          <p:cNvSpPr txBox="1">
            <a:spLocks/>
          </p:cNvSpPr>
          <p:nvPr/>
        </p:nvSpPr>
        <p:spPr>
          <a:xfrm>
            <a:off x="9688405" y="5757809"/>
            <a:ext cx="1767271" cy="6183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DB5F02"/>
                </a:solidFill>
                <a:latin typeface="Helvetica" panose="020B0604020202020204"/>
                <a:cs typeface="Helvetica"/>
              </a:rPr>
              <a:t>Pinus</a:t>
            </a:r>
            <a:r>
              <a:rPr lang="es-ES" sz="1800" i="1" dirty="0">
                <a:solidFill>
                  <a:srgbClr val="DB5F02"/>
                </a:solidFill>
                <a:latin typeface="Helvetica" panose="020B0604020202020204"/>
                <a:cs typeface="Helvetica"/>
              </a:rPr>
              <a:t> pinea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1800" dirty="0" err="1">
                <a:solidFill>
                  <a:srgbClr val="DB5F02"/>
                </a:solidFill>
                <a:latin typeface="Helvetica" panose="020B0604020202020204"/>
                <a:cs typeface="Helvetica" panose="020B0604020202020204"/>
              </a:rPr>
              <a:t>Mediterranean</a:t>
            </a:r>
            <a:endParaRPr lang="es-ES" sz="1800" dirty="0">
              <a:solidFill>
                <a:srgbClr val="DB5F02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4AC8C74-445B-7378-7693-2D32AFD3C981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527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A2040-6365-F622-F23A-914222D9D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5FDB6A8-F163-F3D4-EC30-49CEB3E10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B8E6C52-36FC-BBD5-61E6-16FA738B8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D11F7B4-877F-7888-17DE-AD1B78A67942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82A1B36E-3ABB-F08C-29F7-F2CBD400B7DA}"/>
              </a:ext>
            </a:extLst>
          </p:cNvPr>
          <p:cNvSpPr txBox="1"/>
          <p:nvPr/>
        </p:nvSpPr>
        <p:spPr>
          <a:xfrm>
            <a:off x="8140141" y="1128291"/>
            <a:ext cx="37650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Standardized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(BAI /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d.b.h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.)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series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each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site per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. Gray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bars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represent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M.A.P. </a:t>
            </a:r>
          </a:p>
        </p:txBody>
      </p:sp>
      <p:pic>
        <p:nvPicPr>
          <p:cNvPr id="13" name="Gráfico 12" descr="Abeto">
            <a:extLst>
              <a:ext uri="{FF2B5EF4-FFF2-40B4-BE49-F238E27FC236}">
                <a16:creationId xmlns:a16="http://schemas.microsoft.com/office/drawing/2014/main" id="{EC4888E8-B91F-1649-B685-B9DC89C18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88915" y="5790863"/>
            <a:ext cx="804155" cy="804155"/>
          </a:xfrm>
          <a:prstGeom prst="rect">
            <a:avLst/>
          </a:prstGeom>
        </p:spPr>
      </p:pic>
      <p:pic>
        <p:nvPicPr>
          <p:cNvPr id="14" name="Gráfico 13" descr="Abeto">
            <a:extLst>
              <a:ext uri="{FF2B5EF4-FFF2-40B4-BE49-F238E27FC236}">
                <a16:creationId xmlns:a16="http://schemas.microsoft.com/office/drawing/2014/main" id="{3CBFBD5C-D0DE-7C00-455A-88D672A207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77881" y="5786887"/>
            <a:ext cx="804155" cy="804155"/>
          </a:xfrm>
          <a:prstGeom prst="rect">
            <a:avLst/>
          </a:prstGeom>
        </p:spPr>
      </p:pic>
      <p:pic>
        <p:nvPicPr>
          <p:cNvPr id="15" name="Gráfico 14" descr="Abeto">
            <a:extLst>
              <a:ext uri="{FF2B5EF4-FFF2-40B4-BE49-F238E27FC236}">
                <a16:creationId xmlns:a16="http://schemas.microsoft.com/office/drawing/2014/main" id="{222A6575-11AB-5D2A-6D6B-C4CC03D17F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20574" y="5832970"/>
            <a:ext cx="804155" cy="804155"/>
          </a:xfrm>
          <a:prstGeom prst="rect">
            <a:avLst/>
          </a:prstGeom>
        </p:spPr>
      </p:pic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75F07DC1-48B2-72C8-AD77-2463E425B5E6}"/>
              </a:ext>
            </a:extLst>
          </p:cNvPr>
          <p:cNvSpPr txBox="1">
            <a:spLocks/>
          </p:cNvSpPr>
          <p:nvPr/>
        </p:nvSpPr>
        <p:spPr>
          <a:xfrm>
            <a:off x="5964337" y="6032842"/>
            <a:ext cx="1767271" cy="62373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746FB2"/>
                </a:solidFill>
                <a:latin typeface="Helvetica" panose="020B0604020202020204"/>
                <a:cs typeface="Helvetica"/>
              </a:rPr>
              <a:t>Abies</a:t>
            </a:r>
            <a:r>
              <a:rPr lang="es-ES" sz="1800" i="1" dirty="0">
                <a:solidFill>
                  <a:srgbClr val="746FB2"/>
                </a:solidFill>
                <a:latin typeface="Helvetica" panose="020B0604020202020204"/>
                <a:cs typeface="Helvetica"/>
              </a:rPr>
              <a:t> alba</a:t>
            </a:r>
          </a:p>
          <a:p>
            <a:pPr marL="0" indent="0">
              <a:buNone/>
            </a:pPr>
            <a:r>
              <a:rPr lang="es-ES" sz="1800" dirty="0" err="1">
                <a:solidFill>
                  <a:srgbClr val="746FB2"/>
                </a:solidFill>
                <a:latin typeface="Helvetica" panose="020B0604020202020204"/>
                <a:cs typeface="Helvetica" panose="020B0604020202020204"/>
              </a:rPr>
              <a:t>Temperate</a:t>
            </a:r>
            <a:endParaRPr lang="es-ES" sz="1800" dirty="0">
              <a:solidFill>
                <a:srgbClr val="746FB2"/>
              </a:solidFill>
              <a:latin typeface="Helvetica" panose="020B0604020202020204"/>
              <a:cs typeface="Helvetica" panose="020B0604020202020204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i="1" dirty="0">
              <a:solidFill>
                <a:srgbClr val="746FB2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5245EBD3-67F8-3621-8F84-981734C5881A}"/>
              </a:ext>
            </a:extLst>
          </p:cNvPr>
          <p:cNvSpPr txBox="1">
            <a:spLocks/>
          </p:cNvSpPr>
          <p:nvPr/>
        </p:nvSpPr>
        <p:spPr>
          <a:xfrm>
            <a:off x="7982036" y="6014743"/>
            <a:ext cx="1767271" cy="62238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1B9E77"/>
                </a:solidFill>
                <a:latin typeface="Helvetica" panose="020B0604020202020204"/>
                <a:cs typeface="Helvetica"/>
              </a:rPr>
              <a:t>Pinus</a:t>
            </a:r>
            <a:r>
              <a:rPr lang="es-ES" sz="1800" i="1" dirty="0">
                <a:solidFill>
                  <a:srgbClr val="1B9E77"/>
                </a:solidFill>
                <a:latin typeface="Helvetica" panose="020B0604020202020204"/>
                <a:cs typeface="Helvetica"/>
              </a:rPr>
              <a:t> </a:t>
            </a:r>
            <a:r>
              <a:rPr lang="es-ES" sz="1800" i="1" dirty="0" err="1">
                <a:solidFill>
                  <a:srgbClr val="1B9E77"/>
                </a:solidFill>
                <a:latin typeface="Helvetica" panose="020B0604020202020204"/>
                <a:cs typeface="Helvetica"/>
              </a:rPr>
              <a:t>sylvestris</a:t>
            </a:r>
            <a:endParaRPr lang="es-ES" sz="1800" i="1" dirty="0">
              <a:solidFill>
                <a:srgbClr val="1B9E77"/>
              </a:solidFill>
              <a:latin typeface="Helvetica" panose="020B0604020202020204"/>
              <a:cs typeface="Helvetica"/>
            </a:endParaRPr>
          </a:p>
          <a:p>
            <a:pPr marL="0" indent="0">
              <a:buNone/>
            </a:pPr>
            <a:r>
              <a:rPr lang="es-ES" sz="1800" dirty="0" err="1">
                <a:solidFill>
                  <a:srgbClr val="1B9E77"/>
                </a:solidFill>
                <a:latin typeface="Helvetica" panose="020B0604020202020204"/>
                <a:cs typeface="Helvetica" panose="020B0604020202020204"/>
              </a:rPr>
              <a:t>Temperate</a:t>
            </a:r>
            <a:endParaRPr lang="es-ES" sz="1800" dirty="0">
              <a:solidFill>
                <a:srgbClr val="1B9E77"/>
              </a:solidFill>
              <a:latin typeface="Helvetica" panose="020B0604020202020204"/>
              <a:cs typeface="Helvetica" panose="020B0604020202020204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i="1" dirty="0">
              <a:solidFill>
                <a:srgbClr val="1B9E77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FC04FBBF-51E3-9A14-F381-8EA28A200C74}"/>
              </a:ext>
            </a:extLst>
          </p:cNvPr>
          <p:cNvSpPr txBox="1">
            <a:spLocks/>
          </p:cNvSpPr>
          <p:nvPr/>
        </p:nvSpPr>
        <p:spPr>
          <a:xfrm>
            <a:off x="10424729" y="5991273"/>
            <a:ext cx="1767271" cy="6183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DB5F02"/>
                </a:solidFill>
                <a:latin typeface="Helvetica" panose="020B0604020202020204"/>
                <a:cs typeface="Helvetica"/>
              </a:rPr>
              <a:t>Pinus</a:t>
            </a:r>
            <a:r>
              <a:rPr lang="es-ES" sz="1800" i="1" dirty="0">
                <a:solidFill>
                  <a:srgbClr val="DB5F02"/>
                </a:solidFill>
                <a:latin typeface="Helvetica" panose="020B0604020202020204"/>
                <a:cs typeface="Helvetica"/>
              </a:rPr>
              <a:t> pinea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1800" dirty="0" err="1">
                <a:solidFill>
                  <a:srgbClr val="DB5F02"/>
                </a:solidFill>
                <a:latin typeface="Helvetica" panose="020B0604020202020204"/>
                <a:cs typeface="Helvetica" panose="020B0604020202020204"/>
              </a:rPr>
              <a:t>Mediterranean</a:t>
            </a:r>
            <a:endParaRPr lang="es-ES" sz="1800" dirty="0">
              <a:solidFill>
                <a:srgbClr val="DB5F02"/>
              </a:solidFill>
              <a:latin typeface="Helvetica" panose="020B0604020202020204"/>
              <a:cs typeface="Helvetica" panose="020B0604020202020204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6857E74-C10E-A40D-C019-CA8CBA4482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32" y="1117358"/>
            <a:ext cx="8154335" cy="452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98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32E8C-03E8-15C4-1010-B304AFCF5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1716AEF-64B6-8F12-1F38-2C377D440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31" y="1117357"/>
            <a:ext cx="8154336" cy="452989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D76B239F-2EE2-2449-1C6C-6857B1AE0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A08B11A-9F1B-5933-EFEA-24732DF51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B5216F0B-F9D3-72B7-A1AA-789170AC004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702F51AC-6427-5B15-AF80-02BE9203202C}"/>
              </a:ext>
            </a:extLst>
          </p:cNvPr>
          <p:cNvSpPr txBox="1"/>
          <p:nvPr/>
        </p:nvSpPr>
        <p:spPr>
          <a:xfrm>
            <a:off x="8140141" y="1128291"/>
            <a:ext cx="37650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Standardized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(BAI /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d.b.h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.)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series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each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site per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. Gray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bars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represent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M.A.P. </a:t>
            </a:r>
          </a:p>
        </p:txBody>
      </p:sp>
      <p:pic>
        <p:nvPicPr>
          <p:cNvPr id="13" name="Gráfico 12" descr="Abeto">
            <a:extLst>
              <a:ext uri="{FF2B5EF4-FFF2-40B4-BE49-F238E27FC236}">
                <a16:creationId xmlns:a16="http://schemas.microsoft.com/office/drawing/2014/main" id="{7A01E999-0288-6DE7-7514-B763B9103B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88915" y="5790863"/>
            <a:ext cx="804155" cy="804155"/>
          </a:xfrm>
          <a:prstGeom prst="rect">
            <a:avLst/>
          </a:prstGeom>
        </p:spPr>
      </p:pic>
      <p:pic>
        <p:nvPicPr>
          <p:cNvPr id="14" name="Gráfico 13" descr="Abeto">
            <a:extLst>
              <a:ext uri="{FF2B5EF4-FFF2-40B4-BE49-F238E27FC236}">
                <a16:creationId xmlns:a16="http://schemas.microsoft.com/office/drawing/2014/main" id="{D19908D3-0138-2D9E-15A7-071184736C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77881" y="5786887"/>
            <a:ext cx="804155" cy="804155"/>
          </a:xfrm>
          <a:prstGeom prst="rect">
            <a:avLst/>
          </a:prstGeom>
        </p:spPr>
      </p:pic>
      <p:pic>
        <p:nvPicPr>
          <p:cNvPr id="15" name="Gráfico 14" descr="Abeto">
            <a:extLst>
              <a:ext uri="{FF2B5EF4-FFF2-40B4-BE49-F238E27FC236}">
                <a16:creationId xmlns:a16="http://schemas.microsoft.com/office/drawing/2014/main" id="{E239149E-C34C-50A0-484C-2583751860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20574" y="5832970"/>
            <a:ext cx="804155" cy="804155"/>
          </a:xfrm>
          <a:prstGeom prst="rect">
            <a:avLst/>
          </a:prstGeom>
        </p:spPr>
      </p:pic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FC34378B-AF5F-F7F6-C3BF-7C3C3772317E}"/>
              </a:ext>
            </a:extLst>
          </p:cNvPr>
          <p:cNvSpPr txBox="1">
            <a:spLocks/>
          </p:cNvSpPr>
          <p:nvPr/>
        </p:nvSpPr>
        <p:spPr>
          <a:xfrm>
            <a:off x="5964337" y="6032842"/>
            <a:ext cx="1767271" cy="62373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746FB2"/>
                </a:solidFill>
                <a:latin typeface="Helvetica" panose="020B0604020202020204"/>
                <a:cs typeface="Helvetica"/>
              </a:rPr>
              <a:t>Abies</a:t>
            </a:r>
            <a:r>
              <a:rPr lang="es-ES" sz="1800" i="1" dirty="0">
                <a:solidFill>
                  <a:srgbClr val="746FB2"/>
                </a:solidFill>
                <a:latin typeface="Helvetica" panose="020B0604020202020204"/>
                <a:cs typeface="Helvetica"/>
              </a:rPr>
              <a:t> alba</a:t>
            </a:r>
          </a:p>
          <a:p>
            <a:pPr marL="0" indent="0">
              <a:buNone/>
            </a:pPr>
            <a:r>
              <a:rPr lang="es-ES" sz="1800" dirty="0" err="1">
                <a:solidFill>
                  <a:srgbClr val="746FB2"/>
                </a:solidFill>
                <a:latin typeface="Helvetica" panose="020B0604020202020204"/>
                <a:cs typeface="Helvetica" panose="020B0604020202020204"/>
              </a:rPr>
              <a:t>Temperate</a:t>
            </a:r>
            <a:endParaRPr lang="es-ES" sz="1800" dirty="0">
              <a:solidFill>
                <a:srgbClr val="746FB2"/>
              </a:solidFill>
              <a:latin typeface="Helvetica" panose="020B0604020202020204"/>
              <a:cs typeface="Helvetica" panose="020B0604020202020204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i="1" dirty="0">
              <a:solidFill>
                <a:srgbClr val="746FB2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4B0949C0-CE88-5F6F-2A2A-8F35A1825371}"/>
              </a:ext>
            </a:extLst>
          </p:cNvPr>
          <p:cNvSpPr txBox="1">
            <a:spLocks/>
          </p:cNvSpPr>
          <p:nvPr/>
        </p:nvSpPr>
        <p:spPr>
          <a:xfrm>
            <a:off x="7982036" y="6014743"/>
            <a:ext cx="1767271" cy="62238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1B9E77"/>
                </a:solidFill>
                <a:latin typeface="Helvetica" panose="020B0604020202020204"/>
                <a:cs typeface="Helvetica"/>
              </a:rPr>
              <a:t>Pinus</a:t>
            </a:r>
            <a:r>
              <a:rPr lang="es-ES" sz="1800" i="1" dirty="0">
                <a:solidFill>
                  <a:srgbClr val="1B9E77"/>
                </a:solidFill>
                <a:latin typeface="Helvetica" panose="020B0604020202020204"/>
                <a:cs typeface="Helvetica"/>
              </a:rPr>
              <a:t> </a:t>
            </a:r>
            <a:r>
              <a:rPr lang="es-ES" sz="1800" i="1" dirty="0" err="1">
                <a:solidFill>
                  <a:srgbClr val="1B9E77"/>
                </a:solidFill>
                <a:latin typeface="Helvetica" panose="020B0604020202020204"/>
                <a:cs typeface="Helvetica"/>
              </a:rPr>
              <a:t>sylvestris</a:t>
            </a:r>
            <a:endParaRPr lang="es-ES" sz="1800" i="1" dirty="0">
              <a:solidFill>
                <a:srgbClr val="1B9E77"/>
              </a:solidFill>
              <a:latin typeface="Helvetica" panose="020B0604020202020204"/>
              <a:cs typeface="Helvetica"/>
            </a:endParaRPr>
          </a:p>
          <a:p>
            <a:pPr marL="0" indent="0">
              <a:buNone/>
            </a:pPr>
            <a:r>
              <a:rPr lang="es-ES" sz="1800" dirty="0" err="1">
                <a:solidFill>
                  <a:srgbClr val="1B9E77"/>
                </a:solidFill>
                <a:latin typeface="Helvetica" panose="020B0604020202020204"/>
                <a:cs typeface="Helvetica" panose="020B0604020202020204"/>
              </a:rPr>
              <a:t>Temperate</a:t>
            </a:r>
            <a:endParaRPr lang="es-ES" sz="1800" dirty="0">
              <a:solidFill>
                <a:srgbClr val="1B9E77"/>
              </a:solidFill>
              <a:latin typeface="Helvetica" panose="020B0604020202020204"/>
              <a:cs typeface="Helvetica" panose="020B0604020202020204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i="1" dirty="0">
              <a:solidFill>
                <a:srgbClr val="1B9E77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1135D57B-08D8-51F6-DEA9-E0E450608DBE}"/>
              </a:ext>
            </a:extLst>
          </p:cNvPr>
          <p:cNvSpPr txBox="1">
            <a:spLocks/>
          </p:cNvSpPr>
          <p:nvPr/>
        </p:nvSpPr>
        <p:spPr>
          <a:xfrm>
            <a:off x="10424729" y="5991273"/>
            <a:ext cx="1767271" cy="6183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DB5F02"/>
                </a:solidFill>
                <a:latin typeface="Helvetica" panose="020B0604020202020204"/>
                <a:cs typeface="Helvetica"/>
              </a:rPr>
              <a:t>Pinus</a:t>
            </a:r>
            <a:r>
              <a:rPr lang="es-ES" sz="1800" i="1" dirty="0">
                <a:solidFill>
                  <a:srgbClr val="DB5F02"/>
                </a:solidFill>
                <a:latin typeface="Helvetica" panose="020B0604020202020204"/>
                <a:cs typeface="Helvetica"/>
              </a:rPr>
              <a:t> pinea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1800" dirty="0" err="1">
                <a:solidFill>
                  <a:srgbClr val="DB5F02"/>
                </a:solidFill>
                <a:latin typeface="Helvetica" panose="020B0604020202020204"/>
                <a:cs typeface="Helvetica" panose="020B0604020202020204"/>
              </a:rPr>
              <a:t>Mediterranean</a:t>
            </a:r>
            <a:endParaRPr lang="es-ES" sz="1800" dirty="0">
              <a:solidFill>
                <a:srgbClr val="DB5F02"/>
              </a:solidFill>
              <a:latin typeface="Helvetica" panose="020B0604020202020204"/>
              <a:cs typeface="Helvetica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788213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4DB8A-A413-E708-1A83-093C559DC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C1A8F4C5-D5EF-9E76-A133-20A075E47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D6B3584-3002-6BDC-9E1C-878180446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214E92E-642B-98F5-BF16-46CCDC80A4B7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FBEA708A-2F7E-0B0C-7B82-584EB61544CA}"/>
              </a:ext>
            </a:extLst>
          </p:cNvPr>
          <p:cNvSpPr txBox="1"/>
          <p:nvPr/>
        </p:nvSpPr>
        <p:spPr>
          <a:xfrm>
            <a:off x="6145191" y="1512509"/>
            <a:ext cx="57256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When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considering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Navarra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i="1" dirty="0">
                <a:latin typeface="Helvetica" panose="020B0604020202020204" pitchFamily="34" charset="0"/>
                <a:cs typeface="Helvetica" panose="020B0604020202020204" pitchFamily="34" charset="0"/>
              </a:rPr>
              <a:t>P. </a:t>
            </a:r>
            <a:r>
              <a:rPr lang="es-ES" sz="2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r>
              <a:rPr lang="es-ES" sz="2400" i="1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observe a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progressive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divergence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starting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from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i="1" dirty="0">
                <a:latin typeface="Helvetica" panose="020B0604020202020204" pitchFamily="34" charset="0"/>
                <a:cs typeface="Helvetica" panose="020B0604020202020204" pitchFamily="34" charset="0"/>
              </a:rPr>
              <a:t>c.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1968</a:t>
            </a:r>
            <a:endParaRPr lang="es-ES" sz="24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9F15B2-C8B4-CFF5-DB32-5CB984A3B2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07" b="75612"/>
          <a:stretch/>
        </p:blipFill>
        <p:spPr>
          <a:xfrm>
            <a:off x="-14655" y="1303516"/>
            <a:ext cx="6481582" cy="357328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EAF1F0C-7F3F-3A2C-25FB-00FC13604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5"/>
          <a:stretch/>
        </p:blipFill>
        <p:spPr>
          <a:xfrm>
            <a:off x="6778990" y="3218630"/>
            <a:ext cx="4863127" cy="3316340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BD91B00B-B1EA-3113-B46B-2FA38B0B6567}"/>
              </a:ext>
            </a:extLst>
          </p:cNvPr>
          <p:cNvSpPr/>
          <p:nvPr/>
        </p:nvSpPr>
        <p:spPr>
          <a:xfrm>
            <a:off x="1949981" y="3898104"/>
            <a:ext cx="405113" cy="72423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9A4FA15E-2B41-73B0-2EF2-8BAFCC624A78}"/>
              </a:ext>
            </a:extLst>
          </p:cNvPr>
          <p:cNvSpPr/>
          <p:nvPr/>
        </p:nvSpPr>
        <p:spPr>
          <a:xfrm>
            <a:off x="9130561" y="3534147"/>
            <a:ext cx="405113" cy="363957"/>
          </a:xfrm>
          <a:prstGeom prst="ellipse">
            <a:avLst/>
          </a:prstGeom>
          <a:noFill/>
          <a:ln w="38100">
            <a:solidFill>
              <a:srgbClr val="37AD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37AD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460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DD06B-30E2-EFFF-3C79-5C614A7A9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3782393-B642-F1E8-25E0-6B0F8578A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DD3D3E-1A33-42D7-599E-655CF09BF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C4568D9-497B-043E-FF14-D9937D0A890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5436832C-CE15-29BC-E545-AE34792EBD8E}"/>
              </a:ext>
            </a:extLst>
          </p:cNvPr>
          <p:cNvSpPr txBox="1"/>
          <p:nvPr/>
        </p:nvSpPr>
        <p:spPr>
          <a:xfrm>
            <a:off x="6145191" y="1512509"/>
            <a:ext cx="57256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When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considering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Navarra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i="1" dirty="0">
                <a:latin typeface="Helvetica" panose="020B0604020202020204" pitchFamily="34" charset="0"/>
                <a:cs typeface="Helvetica" panose="020B0604020202020204" pitchFamily="34" charset="0"/>
              </a:rPr>
              <a:t>P. </a:t>
            </a:r>
            <a:r>
              <a:rPr lang="es-ES" sz="2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r>
              <a:rPr lang="es-ES" sz="2400" i="1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observe a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progressive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divergence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starting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from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i="1" dirty="0">
                <a:latin typeface="Helvetica" panose="020B0604020202020204" pitchFamily="34" charset="0"/>
                <a:cs typeface="Helvetica" panose="020B0604020202020204" pitchFamily="34" charset="0"/>
              </a:rPr>
              <a:t>c.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1968</a:t>
            </a:r>
            <a:endParaRPr lang="es-ES" sz="24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3975FEA-90E8-BDFB-0438-D028CEF887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07" b="75612"/>
          <a:stretch/>
        </p:blipFill>
        <p:spPr>
          <a:xfrm>
            <a:off x="-14655" y="1303516"/>
            <a:ext cx="6481582" cy="357328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9468A67-3D4E-A09F-1DAD-30863FDAE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5"/>
          <a:stretch/>
        </p:blipFill>
        <p:spPr>
          <a:xfrm>
            <a:off x="6778990" y="3218630"/>
            <a:ext cx="4863127" cy="3316340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C23ED0FD-E40C-09D3-35C8-EE6FAF312D28}"/>
              </a:ext>
            </a:extLst>
          </p:cNvPr>
          <p:cNvSpPr/>
          <p:nvPr/>
        </p:nvSpPr>
        <p:spPr>
          <a:xfrm>
            <a:off x="1949981" y="3898104"/>
            <a:ext cx="405113" cy="72423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9D04F46-0E7C-7F4F-8F56-D6E2F964C6A2}"/>
              </a:ext>
            </a:extLst>
          </p:cNvPr>
          <p:cNvSpPr/>
          <p:nvPr/>
        </p:nvSpPr>
        <p:spPr>
          <a:xfrm>
            <a:off x="9130561" y="3534147"/>
            <a:ext cx="405113" cy="363957"/>
          </a:xfrm>
          <a:prstGeom prst="ellipse">
            <a:avLst/>
          </a:prstGeom>
          <a:noFill/>
          <a:ln w="38100">
            <a:solidFill>
              <a:srgbClr val="37AD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37AD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582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39A14-C6ED-B239-83F2-6D8612ACF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63DAD08-EE7B-6865-C33F-E5FBAB337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B547BBB-3D9C-B92A-51FF-367D3317B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0D41D346-C391-806A-8B07-7D070DCAEF54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95FF8C92-ECC1-3020-E7C9-D5F6EF710B90}"/>
              </a:ext>
            </a:extLst>
          </p:cNvPr>
          <p:cNvSpPr txBox="1"/>
          <p:nvPr/>
        </p:nvSpPr>
        <p:spPr>
          <a:xfrm>
            <a:off x="6145191" y="1512509"/>
            <a:ext cx="57256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When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considering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Navarra, Madrid, 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and 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Guadalajara</a:t>
            </a:r>
            <a:r>
              <a:rPr lang="es-ES" sz="2400" i="1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divergence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still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patent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but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both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groups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are a bit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less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differentiated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endParaRPr lang="es-ES" sz="24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B4CB36A-1E97-C20F-5B2B-798180B0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3" t="49392" r="50750" b="26220"/>
          <a:stretch/>
        </p:blipFill>
        <p:spPr>
          <a:xfrm>
            <a:off x="-14655" y="1303516"/>
            <a:ext cx="6481582" cy="357328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58CEC71-0B6E-F660-207B-EBC1877322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5"/>
          <a:stretch/>
        </p:blipFill>
        <p:spPr>
          <a:xfrm>
            <a:off x="6778990" y="3218630"/>
            <a:ext cx="4863127" cy="3316340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688839AE-1758-0E6A-7E49-128D8498BC03}"/>
              </a:ext>
            </a:extLst>
          </p:cNvPr>
          <p:cNvSpPr/>
          <p:nvPr/>
        </p:nvSpPr>
        <p:spPr>
          <a:xfrm>
            <a:off x="1838221" y="3898104"/>
            <a:ext cx="405113" cy="72423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EA77C80-9458-7A69-317C-F3D3A02CD151}"/>
              </a:ext>
            </a:extLst>
          </p:cNvPr>
          <p:cNvSpPr/>
          <p:nvPr/>
        </p:nvSpPr>
        <p:spPr>
          <a:xfrm>
            <a:off x="9130561" y="3534147"/>
            <a:ext cx="405113" cy="363957"/>
          </a:xfrm>
          <a:prstGeom prst="ellipse">
            <a:avLst/>
          </a:prstGeom>
          <a:noFill/>
          <a:ln w="38100">
            <a:solidFill>
              <a:srgbClr val="37AD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37AD88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96773A3-3490-AC24-6F9B-DCC7DDFDBE1D}"/>
              </a:ext>
            </a:extLst>
          </p:cNvPr>
          <p:cNvSpPr/>
          <p:nvPr/>
        </p:nvSpPr>
        <p:spPr>
          <a:xfrm>
            <a:off x="7047761" y="5380738"/>
            <a:ext cx="405113" cy="363957"/>
          </a:xfrm>
          <a:prstGeom prst="ellipse">
            <a:avLst/>
          </a:prstGeom>
          <a:noFill/>
          <a:ln w="38100">
            <a:solidFill>
              <a:srgbClr val="37AD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37AD88"/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274D04FF-B7B4-DD15-93EB-5A14DAA3FA25}"/>
              </a:ext>
            </a:extLst>
          </p:cNvPr>
          <p:cNvSpPr/>
          <p:nvPr/>
        </p:nvSpPr>
        <p:spPr>
          <a:xfrm>
            <a:off x="8602883" y="5451858"/>
            <a:ext cx="405113" cy="363957"/>
          </a:xfrm>
          <a:prstGeom prst="ellipse">
            <a:avLst/>
          </a:prstGeom>
          <a:noFill/>
          <a:ln w="38100">
            <a:solidFill>
              <a:srgbClr val="37AD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37AD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9165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12E08-0836-8757-D815-3BBECA411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6F3A1F3A-9B29-D181-4FC1-5D0C9DCB3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2C1B47C-D1B7-A1B0-28C0-E0DDFEC72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403CF17-03B9-C294-E98B-5831250D442B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76932059-7B61-AA6B-EAE2-9682705EA4D2}"/>
              </a:ext>
            </a:extLst>
          </p:cNvPr>
          <p:cNvSpPr txBox="1"/>
          <p:nvPr/>
        </p:nvSpPr>
        <p:spPr>
          <a:xfrm>
            <a:off x="6145191" y="1512509"/>
            <a:ext cx="57256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When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considering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Navarra, Madrid, Guadalajara, 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and 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Teruel</a:t>
            </a:r>
            <a:r>
              <a:rPr lang="es-ES" sz="2400" i="1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both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groups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even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less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differentiated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endParaRPr lang="es-ES" sz="24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9B9B007-C29A-9B07-5AF4-D4E419B33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2" t="73732" r="50819" b="8"/>
          <a:stretch/>
        </p:blipFill>
        <p:spPr>
          <a:xfrm>
            <a:off x="-14655" y="1303516"/>
            <a:ext cx="6481582" cy="384760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E53DB36-F2CC-1EDA-330A-6B99F82585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5"/>
          <a:stretch/>
        </p:blipFill>
        <p:spPr>
          <a:xfrm>
            <a:off x="6778990" y="3218630"/>
            <a:ext cx="4863127" cy="3316340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55E74E4B-16AC-0AAE-A829-54144EDBA2F8}"/>
              </a:ext>
            </a:extLst>
          </p:cNvPr>
          <p:cNvSpPr/>
          <p:nvPr/>
        </p:nvSpPr>
        <p:spPr>
          <a:xfrm>
            <a:off x="1838221" y="3898104"/>
            <a:ext cx="405113" cy="72423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6F1C22A-8E1D-59BB-05CE-303608044246}"/>
              </a:ext>
            </a:extLst>
          </p:cNvPr>
          <p:cNvSpPr/>
          <p:nvPr/>
        </p:nvSpPr>
        <p:spPr>
          <a:xfrm>
            <a:off x="9130561" y="3534147"/>
            <a:ext cx="405113" cy="363957"/>
          </a:xfrm>
          <a:prstGeom prst="ellipse">
            <a:avLst/>
          </a:prstGeom>
          <a:noFill/>
          <a:ln w="38100">
            <a:solidFill>
              <a:srgbClr val="37AD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37AD88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79D5525-36BD-3335-A194-42EDDFC73A8C}"/>
              </a:ext>
            </a:extLst>
          </p:cNvPr>
          <p:cNvSpPr/>
          <p:nvPr/>
        </p:nvSpPr>
        <p:spPr>
          <a:xfrm>
            <a:off x="7047761" y="5380738"/>
            <a:ext cx="405113" cy="363957"/>
          </a:xfrm>
          <a:prstGeom prst="ellipse">
            <a:avLst/>
          </a:prstGeom>
          <a:noFill/>
          <a:ln w="38100">
            <a:solidFill>
              <a:srgbClr val="37AD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37AD88"/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499AA3B-EA91-4711-B57F-50B83B89B89D}"/>
              </a:ext>
            </a:extLst>
          </p:cNvPr>
          <p:cNvSpPr/>
          <p:nvPr/>
        </p:nvSpPr>
        <p:spPr>
          <a:xfrm>
            <a:off x="8602883" y="5451858"/>
            <a:ext cx="405113" cy="363957"/>
          </a:xfrm>
          <a:prstGeom prst="ellipse">
            <a:avLst/>
          </a:prstGeom>
          <a:noFill/>
          <a:ln w="38100">
            <a:solidFill>
              <a:srgbClr val="37AD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37AD88"/>
              </a:solidFill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6E85216D-3B1B-DB5D-6EA1-AEE21E03E785}"/>
              </a:ext>
            </a:extLst>
          </p:cNvPr>
          <p:cNvSpPr/>
          <p:nvPr/>
        </p:nvSpPr>
        <p:spPr>
          <a:xfrm>
            <a:off x="9142382" y="5615606"/>
            <a:ext cx="405113" cy="363957"/>
          </a:xfrm>
          <a:prstGeom prst="ellipse">
            <a:avLst/>
          </a:prstGeom>
          <a:noFill/>
          <a:ln w="38100">
            <a:solidFill>
              <a:srgbClr val="37AD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37AD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394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0564F-28F8-021F-3D62-6D0FD67D0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89CF1C8-EDF8-8A31-4A32-03F3F9835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A0411C-6DB5-B29C-329C-76FD6B4C0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49FFDF2-C331-2AFB-F4DD-D68870285FA3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66A6F1E8-82E8-2EE0-2CA1-932960D78CD1}"/>
              </a:ext>
            </a:extLst>
          </p:cNvPr>
          <p:cNvSpPr txBox="1"/>
          <p:nvPr/>
        </p:nvSpPr>
        <p:spPr>
          <a:xfrm>
            <a:off x="6157956" y="1179084"/>
            <a:ext cx="59452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When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considering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Navarra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i="1" dirty="0">
                <a:latin typeface="Helvetica" panose="020B0604020202020204" pitchFamily="34" charset="0"/>
                <a:cs typeface="Helvetica" panose="020B0604020202020204" pitchFamily="34" charset="0"/>
              </a:rPr>
              <a:t>A. alba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see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that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have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baseline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rates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but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there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downwards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trend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recent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decades</a:t>
            </a:r>
            <a:endParaRPr lang="es-ES" sz="24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005326F-4080-74E1-A7CB-0532C5324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78" t="159" r="-55" b="75453"/>
          <a:stretch/>
        </p:blipFill>
        <p:spPr>
          <a:xfrm>
            <a:off x="0" y="1303516"/>
            <a:ext cx="6558367" cy="357328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6A59630-036D-7694-69CC-BA5BC9B323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5"/>
          <a:stretch/>
        </p:blipFill>
        <p:spPr>
          <a:xfrm>
            <a:off x="6778990" y="3218630"/>
            <a:ext cx="4863127" cy="3316340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17386731-0D58-F91B-C629-670A4DBC5C22}"/>
              </a:ext>
            </a:extLst>
          </p:cNvPr>
          <p:cNvSpPr/>
          <p:nvPr/>
        </p:nvSpPr>
        <p:spPr>
          <a:xfrm>
            <a:off x="5011859" y="3117416"/>
            <a:ext cx="1656819" cy="175938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FB486933-89F4-E0E8-305A-32C23DAD0881}"/>
              </a:ext>
            </a:extLst>
          </p:cNvPr>
          <p:cNvSpPr/>
          <p:nvPr/>
        </p:nvSpPr>
        <p:spPr>
          <a:xfrm>
            <a:off x="9130561" y="3534147"/>
            <a:ext cx="405113" cy="363957"/>
          </a:xfrm>
          <a:prstGeom prst="ellipse">
            <a:avLst/>
          </a:prstGeom>
          <a:noFill/>
          <a:ln w="38100">
            <a:solidFill>
              <a:srgbClr val="7873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7873B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314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BB1A4-1508-C191-69A1-EBA990953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C65DD20-6FDB-623D-4C29-C41314855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4247C0A-16C9-DC00-3719-ADE238E39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BF2BCF2-85FF-D379-B5F1-7A266293BD38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8C0CA0C6-9762-C192-ACE7-09DF57C40A20}"/>
              </a:ext>
            </a:extLst>
          </p:cNvPr>
          <p:cNvSpPr txBox="1"/>
          <p:nvPr/>
        </p:nvSpPr>
        <p:spPr>
          <a:xfrm>
            <a:off x="6157956" y="1179084"/>
            <a:ext cx="59452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When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including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Navarra 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and 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Huesca,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divergence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tres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starts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i="1" dirty="0">
                <a:latin typeface="Helvetica" panose="020B0604020202020204" pitchFamily="34" charset="0"/>
                <a:cs typeface="Helvetica" panose="020B0604020202020204" pitchFamily="34" charset="0"/>
              </a:rPr>
              <a:t>c. 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1965, and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there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still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recent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reduction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both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groups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  <a:endParaRPr lang="es-ES" sz="24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3427E74-6701-44F9-3E3E-72CD3BF333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4636" r="123" b="50976"/>
          <a:stretch/>
        </p:blipFill>
        <p:spPr>
          <a:xfrm>
            <a:off x="0" y="1303516"/>
            <a:ext cx="6558367" cy="357328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749165A-A628-DE74-D29C-C4E4FE61D5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5"/>
          <a:stretch/>
        </p:blipFill>
        <p:spPr>
          <a:xfrm>
            <a:off x="6778990" y="3218630"/>
            <a:ext cx="4863127" cy="3316340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9E616AF8-CAC8-AC24-DF98-98BCA5BD3C79}"/>
              </a:ext>
            </a:extLst>
          </p:cNvPr>
          <p:cNvSpPr/>
          <p:nvPr/>
        </p:nvSpPr>
        <p:spPr>
          <a:xfrm>
            <a:off x="5011859" y="3117416"/>
            <a:ext cx="1656819" cy="175938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FC7F0F2-1161-407D-2A69-BC776DA2A929}"/>
              </a:ext>
            </a:extLst>
          </p:cNvPr>
          <p:cNvSpPr/>
          <p:nvPr/>
        </p:nvSpPr>
        <p:spPr>
          <a:xfrm>
            <a:off x="9130561" y="3534147"/>
            <a:ext cx="405113" cy="363957"/>
          </a:xfrm>
          <a:prstGeom prst="ellipse">
            <a:avLst/>
          </a:prstGeom>
          <a:noFill/>
          <a:ln w="38100">
            <a:solidFill>
              <a:srgbClr val="7873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7873B4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43CC173-077C-F36B-09C1-B75428B5F423}"/>
              </a:ext>
            </a:extLst>
          </p:cNvPr>
          <p:cNvSpPr/>
          <p:nvPr/>
        </p:nvSpPr>
        <p:spPr>
          <a:xfrm>
            <a:off x="1635760" y="3997108"/>
            <a:ext cx="531694" cy="73152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0849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0B495-ED0E-EF3A-6BD2-C7FA5BDD7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D5FF754-C5C9-4FE6-E5B4-75FCC20EA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3C9F21-4171-725D-03AF-BEB30383F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BDC4143-303B-7342-BFB0-950B435C6124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FB288F5-1B92-5E80-314A-2213F6F76BCB}"/>
              </a:ext>
            </a:extLst>
          </p:cNvPr>
          <p:cNvSpPr txBox="1"/>
          <p:nvPr/>
        </p:nvSpPr>
        <p:spPr>
          <a:xfrm>
            <a:off x="413083" y="969430"/>
            <a:ext cx="113658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Boxplots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resulting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from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binning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scatterplots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representing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~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/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morphological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traits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</a:p>
        </p:txBody>
      </p:sp>
      <p:sp>
        <p:nvSpPr>
          <p:cNvPr id="14" name="CuadroTexto 10">
            <a:extLst>
              <a:ext uri="{FF2B5EF4-FFF2-40B4-BE49-F238E27FC236}">
                <a16:creationId xmlns:a16="http://schemas.microsoft.com/office/drawing/2014/main" id="{FFB64ED1-1211-5C91-75C9-AAC316189016}"/>
              </a:ext>
            </a:extLst>
          </p:cNvPr>
          <p:cNvSpPr txBox="1"/>
          <p:nvPr/>
        </p:nvSpPr>
        <p:spPr>
          <a:xfrm>
            <a:off x="4011917" y="1338762"/>
            <a:ext cx="4870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4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s-ES" sz="2400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Now</a:t>
            </a:r>
            <a:r>
              <a:rPr lang="es-ES" sz="24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24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inverted</a:t>
            </a:r>
            <a:r>
              <a:rPr lang="es-ES" sz="24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axis </a:t>
            </a:r>
            <a:r>
              <a:rPr lang="es-ES" sz="24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 )</a:t>
            </a:r>
            <a:endParaRPr lang="es-ES" sz="2400" dirty="0">
              <a:solidFill>
                <a:srgbClr val="FF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E3D626E-0187-7CF4-4194-B1CB0FF5D7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952" y="2092634"/>
            <a:ext cx="9398196" cy="4176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655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48E7D-5612-D95C-DF42-5C78C6405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C6333AE-E806-EA57-25B1-9A8C1E82D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F015EF-EE04-BD1E-1D3B-B3F1ED806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CF56776-219A-C196-72A0-782D88403A6E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BCC3E21-FF99-FC9B-5A90-421ED5E5E13E}"/>
              </a:ext>
            </a:extLst>
          </p:cNvPr>
          <p:cNvSpPr txBox="1"/>
          <p:nvPr/>
        </p:nvSpPr>
        <p:spPr>
          <a:xfrm>
            <a:off x="350196" y="3996418"/>
            <a:ext cx="334631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both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but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mainly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Abies</a:t>
            </a:r>
            <a:r>
              <a:rPr lang="es-ES" sz="2000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alba,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increases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vulnerability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due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increasing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hydraulic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limiations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3CB32D6-410F-0171-323E-43A1141CA4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592" b="50371"/>
          <a:stretch/>
        </p:blipFill>
        <p:spPr>
          <a:xfrm>
            <a:off x="350196" y="953692"/>
            <a:ext cx="3070337" cy="289318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805AE77-8D72-81FB-AB4B-ABD89DDEF6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24" r="8019" b="50371"/>
          <a:stretch/>
        </p:blipFill>
        <p:spPr>
          <a:xfrm>
            <a:off x="4538012" y="953692"/>
            <a:ext cx="6014817" cy="2893189"/>
          </a:xfrm>
          <a:prstGeom prst="rect">
            <a:avLst/>
          </a:prstGeom>
        </p:spPr>
      </p:pic>
      <p:sp>
        <p:nvSpPr>
          <p:cNvPr id="12" name="CuadroTexto 10">
            <a:extLst>
              <a:ext uri="{FF2B5EF4-FFF2-40B4-BE49-F238E27FC236}">
                <a16:creationId xmlns:a16="http://schemas.microsoft.com/office/drawing/2014/main" id="{5C3D8FAF-7AB8-A9B0-AF2A-4F24437C25F7}"/>
              </a:ext>
            </a:extLst>
          </p:cNvPr>
          <p:cNvSpPr txBox="1"/>
          <p:nvPr/>
        </p:nvSpPr>
        <p:spPr>
          <a:xfrm>
            <a:off x="4538012" y="4103465"/>
            <a:ext cx="601481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Generally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l-GR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="1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increases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r>
              <a:rPr lang="el-GR" sz="2000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C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negatively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stomatal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conductance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thus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implying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that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plants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shut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their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stomata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increasing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aridity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despite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VPD).</a:t>
            </a:r>
          </a:p>
        </p:txBody>
      </p:sp>
    </p:spTree>
    <p:extLst>
      <p:ext uri="{BB962C8B-B14F-4D97-AF65-F5344CB8AC3E}">
        <p14:creationId xmlns:p14="http://schemas.microsoft.com/office/powerpoint/2010/main" val="122432597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77EFA-FB22-6AE7-9F7B-FBC81C4EB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8DC16E75-696D-929D-72C8-C096F14BB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1ED0F0-0EFD-9159-F371-46963A44D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5D2CE24-AE03-7CF8-FA55-C4E38034A812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DFB6E514-44A5-A5E4-D871-5A488FFD091B}"/>
              </a:ext>
            </a:extLst>
          </p:cNvPr>
          <p:cNvSpPr txBox="1"/>
          <p:nvPr/>
        </p:nvSpPr>
        <p:spPr>
          <a:xfrm>
            <a:off x="223737" y="3996418"/>
            <a:ext cx="357977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Chlorophylls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concentration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sites,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but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does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not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drop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as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levels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increase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r>
              <a:rPr lang="es-ES" sz="2000" b="1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Abies</a:t>
            </a:r>
            <a:r>
              <a:rPr lang="es-ES" sz="20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 alba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seems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more vulnerable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FB8D6F8-E6CF-CB36-9BE7-93CE323315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" t="50006" r="76526" b="365"/>
          <a:stretch/>
        </p:blipFill>
        <p:spPr>
          <a:xfrm>
            <a:off x="350196" y="953692"/>
            <a:ext cx="3070337" cy="2893189"/>
          </a:xfrm>
          <a:prstGeom prst="rect">
            <a:avLst/>
          </a:prstGeom>
        </p:spPr>
      </p:pic>
      <p:sp>
        <p:nvSpPr>
          <p:cNvPr id="4" name="CuadroTexto 10">
            <a:extLst>
              <a:ext uri="{FF2B5EF4-FFF2-40B4-BE49-F238E27FC236}">
                <a16:creationId xmlns:a16="http://schemas.microsoft.com/office/drawing/2014/main" id="{768ADF5C-4667-0C99-FFEE-F15BCC6598A9}"/>
              </a:ext>
            </a:extLst>
          </p:cNvPr>
          <p:cNvSpPr txBox="1"/>
          <p:nvPr/>
        </p:nvSpPr>
        <p:spPr>
          <a:xfrm>
            <a:off x="3753746" y="3996418"/>
            <a:ext cx="30703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At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intermidiate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levels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SLA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but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at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trend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inverts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57FD1B1-67EF-346A-2A26-53834D41E4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34" t="50000" r="53758" b="371"/>
          <a:stretch/>
        </p:blipFill>
        <p:spPr>
          <a:xfrm>
            <a:off x="3673813" y="953692"/>
            <a:ext cx="3070337" cy="289318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A47DC28-58A9-1B1F-D7CA-4517570562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64" t="50371" r="7628"/>
          <a:stretch/>
        </p:blipFill>
        <p:spPr>
          <a:xfrm>
            <a:off x="7236300" y="953692"/>
            <a:ext cx="3070337" cy="2893189"/>
          </a:xfrm>
          <a:prstGeom prst="rect">
            <a:avLst/>
          </a:prstGeom>
        </p:spPr>
      </p:pic>
      <p:sp>
        <p:nvSpPr>
          <p:cNvPr id="7" name="CuadroTexto 10">
            <a:extLst>
              <a:ext uri="{FF2B5EF4-FFF2-40B4-BE49-F238E27FC236}">
                <a16:creationId xmlns:a16="http://schemas.microsoft.com/office/drawing/2014/main" id="{F26F268C-BCBD-B544-32D3-1A1645F3B6CF}"/>
              </a:ext>
            </a:extLst>
          </p:cNvPr>
          <p:cNvSpPr txBox="1"/>
          <p:nvPr/>
        </p:nvSpPr>
        <p:spPr>
          <a:xfrm>
            <a:off x="7236299" y="3996418"/>
            <a:ext cx="30703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As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increases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so do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and non-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934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B7013-6D0A-7537-502D-486D1C6BA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B2BFE58-A519-A475-6804-6B9D824AC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B6CD91-6F8B-1D09-D8A7-0AA69684D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5625C6D5-EFCE-0E08-5993-DC61E502933B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9F1A8540-4C6A-82CF-52A9-CB66EF9B2B02}"/>
              </a:ext>
            </a:extLst>
          </p:cNvPr>
          <p:cNvSpPr txBox="1"/>
          <p:nvPr/>
        </p:nvSpPr>
        <p:spPr>
          <a:xfrm>
            <a:off x="164779" y="1041360"/>
            <a:ext cx="116819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Scatterplots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representing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/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morphological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traits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 ~ Mean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Annual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Precipitation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(mean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from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last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10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years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69BDCFE-28F6-A8A9-7D8B-7DB48E3794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22" y="1872357"/>
            <a:ext cx="10306755" cy="458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220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3DFE-15BC-0CC3-4DD4-6BB8059ED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1A7ECA8-8470-69CF-63F2-079F488AA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F775AA-7061-CB15-CC32-84B922D69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FD26ACB-CE45-E406-281D-C5359F2D1998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CuadroTexto 10">
            <a:extLst>
              <a:ext uri="{FF2B5EF4-FFF2-40B4-BE49-F238E27FC236}">
                <a16:creationId xmlns:a16="http://schemas.microsoft.com/office/drawing/2014/main" id="{7CC4FF75-944D-4D0C-F1F3-41E86F2E6A4F}"/>
              </a:ext>
            </a:extLst>
          </p:cNvPr>
          <p:cNvSpPr txBox="1"/>
          <p:nvPr/>
        </p:nvSpPr>
        <p:spPr>
          <a:xfrm>
            <a:off x="216869" y="3932768"/>
            <a:ext cx="30670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Positive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relationship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and MAP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sites.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Maybe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limiting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BB1843F-83A7-B941-23A5-656F351B3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10" t="74906" r="55659" b="109"/>
          <a:stretch/>
        </p:blipFill>
        <p:spPr>
          <a:xfrm>
            <a:off x="8791866" y="1014072"/>
            <a:ext cx="2787817" cy="277242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D8311DB6-FC03-1B0F-2550-8B5345F8847E}"/>
              </a:ext>
            </a:extLst>
          </p:cNvPr>
          <p:cNvSpPr txBox="1"/>
          <p:nvPr/>
        </p:nvSpPr>
        <p:spPr>
          <a:xfrm>
            <a:off x="8638998" y="3996411"/>
            <a:ext cx="33463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SLA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more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humid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Thus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these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sites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exhibit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a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less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conservative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behaviour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B2AAE7D-02DF-F896-7A58-828DA27328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552" b="50923"/>
          <a:stretch/>
        </p:blipFill>
        <p:spPr>
          <a:xfrm>
            <a:off x="356506" y="1014072"/>
            <a:ext cx="2787816" cy="270877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4146EBA-179B-17B6-2BEA-5034E3F973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25" t="346" r="55427" b="50577"/>
          <a:stretch/>
        </p:blipFill>
        <p:spPr>
          <a:xfrm>
            <a:off x="3216235" y="1045893"/>
            <a:ext cx="2787816" cy="2708779"/>
          </a:xfrm>
          <a:prstGeom prst="rect">
            <a:avLst/>
          </a:prstGeom>
        </p:spPr>
      </p:pic>
      <p:sp>
        <p:nvSpPr>
          <p:cNvPr id="14" name="CuadroTexto 10">
            <a:extLst>
              <a:ext uri="{FF2B5EF4-FFF2-40B4-BE49-F238E27FC236}">
                <a16:creationId xmlns:a16="http://schemas.microsoft.com/office/drawing/2014/main" id="{6FC9CC83-1091-F428-609E-4A873E7C6321}"/>
              </a:ext>
            </a:extLst>
          </p:cNvPr>
          <p:cNvSpPr txBox="1"/>
          <p:nvPr/>
        </p:nvSpPr>
        <p:spPr>
          <a:xfrm>
            <a:off x="3076597" y="3842522"/>
            <a:ext cx="57152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C:N ratios in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humid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This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could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be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related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concentrations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increasing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vulnerability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as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photosynthetic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rates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increase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FB25EE4-577B-14C8-B248-D3C196F5A7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" t="49755" r="77007" b="1168"/>
          <a:stretch/>
        </p:blipFill>
        <p:spPr>
          <a:xfrm>
            <a:off x="6004051" y="1045893"/>
            <a:ext cx="2787816" cy="270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4292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80E46-29DF-4D44-157F-C0236083C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0418EB6-77EB-AAB5-7FE5-455534EB1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D212F7E-2E79-B91D-A29B-0A2ABA467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6CA957F-7592-446C-CFEB-8167D24D138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A583168-FC81-9679-173F-E7361B6D8C3E}"/>
              </a:ext>
            </a:extLst>
          </p:cNvPr>
          <p:cNvSpPr txBox="1"/>
          <p:nvPr/>
        </p:nvSpPr>
        <p:spPr>
          <a:xfrm>
            <a:off x="7118708" y="3996411"/>
            <a:ext cx="334631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positive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relation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MAP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and 10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year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- 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BAI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observed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in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63CE987-91DD-6CB2-2FFD-AA4E22B085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99" t="923" r="33653" b="50000"/>
          <a:stretch/>
        </p:blipFill>
        <p:spPr>
          <a:xfrm>
            <a:off x="346325" y="1014072"/>
            <a:ext cx="2787816" cy="270877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C57CB05-6CC7-A73A-8BD3-009B79941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47" r="11205" b="50923"/>
          <a:stretch/>
        </p:blipFill>
        <p:spPr>
          <a:xfrm>
            <a:off x="3134141" y="1014072"/>
            <a:ext cx="2787816" cy="2708779"/>
          </a:xfrm>
          <a:prstGeom prst="rect">
            <a:avLst/>
          </a:prstGeom>
        </p:spPr>
      </p:pic>
      <p:sp>
        <p:nvSpPr>
          <p:cNvPr id="5" name="CuadroTexto 10">
            <a:extLst>
              <a:ext uri="{FF2B5EF4-FFF2-40B4-BE49-F238E27FC236}">
                <a16:creationId xmlns:a16="http://schemas.microsoft.com/office/drawing/2014/main" id="{52DDF282-5E7D-6FD9-9711-F5336EBDB592}"/>
              </a:ext>
            </a:extLst>
          </p:cNvPr>
          <p:cNvSpPr txBox="1"/>
          <p:nvPr/>
        </p:nvSpPr>
        <p:spPr>
          <a:xfrm>
            <a:off x="962511" y="3996418"/>
            <a:ext cx="490949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Both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l-GR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="1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 and </a:t>
            </a:r>
            <a:r>
              <a:rPr lang="el-GR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="1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O are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negatively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MAP.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slope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slightly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sights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lighter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lines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).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This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related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stomatal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conductance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more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humid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places,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thus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allowing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transpiration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(and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loss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)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rates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547AAEB-73D6-095E-73EA-319454F8ED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56" t="50000" r="11296" b="923"/>
          <a:stretch/>
        </p:blipFill>
        <p:spPr>
          <a:xfrm>
            <a:off x="7397957" y="1014072"/>
            <a:ext cx="2787816" cy="270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3356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32BED-3736-FEAB-171A-F5DB85096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B4FE366D-D4C0-F7D3-0014-0434D1FAF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12E6D0-5B6D-EFEB-FAD2-4C46B82AA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B1B657E6-48DF-374B-3CFA-3E442052EB9B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CuadroTexto 10">
            <a:extLst>
              <a:ext uri="{FF2B5EF4-FFF2-40B4-BE49-F238E27FC236}">
                <a16:creationId xmlns:a16="http://schemas.microsoft.com/office/drawing/2014/main" id="{2D3BD283-A260-12C2-95B2-2149C0AAA33B}"/>
              </a:ext>
            </a:extLst>
          </p:cNvPr>
          <p:cNvSpPr txBox="1"/>
          <p:nvPr/>
        </p:nvSpPr>
        <p:spPr>
          <a:xfrm>
            <a:off x="962511" y="3996418"/>
            <a:ext cx="490949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Both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l-GR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="1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 and </a:t>
            </a:r>
            <a:r>
              <a:rPr lang="el-GR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="1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O are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negatively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MAP.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slope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slightly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sights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lighter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lines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).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This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related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stomatal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conductance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more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humid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places,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thus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allowing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transpiration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rates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5B71772-4715-4ACE-D656-B8C8D5884B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52" t="25015" r="55417" b="50000"/>
          <a:stretch/>
        </p:blipFill>
        <p:spPr>
          <a:xfrm>
            <a:off x="629442" y="1014077"/>
            <a:ext cx="2787817" cy="277242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F5E5876-8A44-9568-2B47-E8422E8ACA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85" t="25015" r="11284" b="50000"/>
          <a:stretch/>
        </p:blipFill>
        <p:spPr>
          <a:xfrm>
            <a:off x="3417259" y="1014076"/>
            <a:ext cx="2787817" cy="2772423"/>
          </a:xfrm>
          <a:prstGeom prst="rect">
            <a:avLst/>
          </a:prstGeom>
        </p:spPr>
      </p:pic>
      <p:sp>
        <p:nvSpPr>
          <p:cNvPr id="13" name="CuadroTexto 10">
            <a:extLst>
              <a:ext uri="{FF2B5EF4-FFF2-40B4-BE49-F238E27FC236}">
                <a16:creationId xmlns:a16="http://schemas.microsoft.com/office/drawing/2014/main" id="{701CE39C-6585-BA23-4F55-CC82259F67E3}"/>
              </a:ext>
            </a:extLst>
          </p:cNvPr>
          <p:cNvSpPr txBox="1"/>
          <p:nvPr/>
        </p:nvSpPr>
        <p:spPr>
          <a:xfrm>
            <a:off x="6866741" y="3996418"/>
            <a:ext cx="33463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Positive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relationship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and MAP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sites.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Maybe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limiting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DBE3F1B-9188-5AC8-293B-4D8910A346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48" t="75015" r="55521"/>
          <a:stretch/>
        </p:blipFill>
        <p:spPr>
          <a:xfrm>
            <a:off x="7145989" y="1014076"/>
            <a:ext cx="2787817" cy="277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0488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D993A-4DB5-4A80-B6D4-5E731B2FE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DE55615-3C82-C874-ADB5-7C8FBE4AC4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22" y="1930395"/>
            <a:ext cx="10176167" cy="4522661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D4BA61AA-71DA-2059-38C1-08FCD08CD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0FEE40-438B-B89A-50EA-F71E8B581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6747849-D6EE-1F28-F127-EAB2ABBBE5E1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F88876D3-D396-01B3-E994-4CFCD8146DF3}"/>
              </a:ext>
            </a:extLst>
          </p:cNvPr>
          <p:cNvSpPr txBox="1"/>
          <p:nvPr/>
        </p:nvSpPr>
        <p:spPr>
          <a:xfrm>
            <a:off x="164779" y="1041360"/>
            <a:ext cx="11681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Scatterplots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representing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/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morphological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traits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 ~ 12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month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SPEI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1857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</TotalTime>
  <Words>1221</Words>
  <Application>Microsoft Office PowerPoint</Application>
  <PresentationFormat>Panorámica</PresentationFormat>
  <Paragraphs>241</Paragraphs>
  <Slides>26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Helvetica</vt:lpstr>
      <vt:lpstr>Times New Roman</vt:lpstr>
      <vt:lpstr>Tema de Office</vt:lpstr>
      <vt:lpstr>Preliminar analyses  -  Figures</vt:lpstr>
      <vt:lpstr> Complementary strategies to cope with drought</vt:lpstr>
      <vt:lpstr> Complementary strategies to cope with drought</vt:lpstr>
      <vt:lpstr> Study area</vt:lpstr>
      <vt:lpstr>Presentación de PowerPoint</vt:lpstr>
      <vt:lpstr>Presentación de PowerPoint</vt:lpstr>
      <vt:lpstr> Sampling design</vt:lpstr>
      <vt:lpstr> Sampling design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Cristopher Fernández de Blas</dc:creator>
  <cp:lastModifiedBy>Cristopher Fernández de Blas</cp:lastModifiedBy>
  <cp:revision>6</cp:revision>
  <dcterms:created xsi:type="dcterms:W3CDTF">2025-04-25T13:52:31Z</dcterms:created>
  <dcterms:modified xsi:type="dcterms:W3CDTF">2025-05-08T15:42:42Z</dcterms:modified>
</cp:coreProperties>
</file>