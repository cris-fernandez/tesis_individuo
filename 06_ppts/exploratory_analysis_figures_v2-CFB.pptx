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4F_36DED8AD.xml" ContentType="application/vnd.ms-powerpoint.comments+xml"/>
  <Override PartName="/ppt/comments/modernComment_11A_35E55771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88_48F9BB59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306" r:id="rId3"/>
    <p:sldId id="379" r:id="rId4"/>
    <p:sldId id="335" r:id="rId5"/>
    <p:sldId id="282" r:id="rId6"/>
    <p:sldId id="398" r:id="rId7"/>
    <p:sldId id="342" r:id="rId8"/>
    <p:sldId id="337" r:id="rId9"/>
    <p:sldId id="380" r:id="rId10"/>
    <p:sldId id="381" r:id="rId11"/>
    <p:sldId id="382" r:id="rId12"/>
    <p:sldId id="399" r:id="rId13"/>
    <p:sldId id="385" r:id="rId14"/>
    <p:sldId id="389" r:id="rId15"/>
    <p:sldId id="387" r:id="rId16"/>
    <p:sldId id="388" r:id="rId17"/>
    <p:sldId id="386" r:id="rId18"/>
    <p:sldId id="390" r:id="rId19"/>
    <p:sldId id="391" r:id="rId20"/>
    <p:sldId id="392" r:id="rId21"/>
    <p:sldId id="400" r:id="rId22"/>
    <p:sldId id="394" r:id="rId23"/>
    <p:sldId id="395" r:id="rId24"/>
    <p:sldId id="402" r:id="rId25"/>
    <p:sldId id="397" r:id="rId26"/>
    <p:sldId id="401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098" autoAdjust="0"/>
    <p:restoredTop sz="94694"/>
  </p:normalViewPr>
  <p:slideViewPr>
    <p:cSldViewPr snapToGrid="0">
      <p:cViewPr varScale="1">
        <p:scale>
          <a:sx n="68" d="100"/>
          <a:sy n="68" d="100"/>
        </p:scale>
        <p:origin x="67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omments/modernComment_11A_35E557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2E38EA-54D5-2E43-A0AB-BF8B3F06C6D4}" authorId="{9B18557D-7187-C966-2E91-CE8B6CF86FC3}" created="2025-05-02T12:15:28.204">
    <pc:sldMkLst xmlns:pc="http://schemas.microsoft.com/office/powerpoint/2013/main/command">
      <pc:docMk/>
      <pc:sldMk cId="904222577" sldId="282"/>
    </pc:sldMkLst>
    <p188:txBody>
      <a:bodyPr/>
      <a:lstStyle/>
      <a:p>
        <a:r>
          <a:rPr lang="en-US"/>
          <a:t>could you maybe list here also the detailed hypotheses (with the measured parameters)? I think this would also help selecting only the most important parameters in the figures below</a:t>
        </a:r>
      </a:p>
    </p188:txBody>
  </p188:cm>
</p188:cmLst>
</file>

<file path=ppt/comments/modernComment_14F_36DED8A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72AF825-BE95-3241-AEA5-C9EEB621F435}" authorId="{9B18557D-7187-C966-2E91-CE8B6CF86FC3}" created="2025-05-02T12:23:10.993">
    <pc:sldMkLst xmlns:pc="http://schemas.microsoft.com/office/powerpoint/2013/main/command">
      <pc:docMk/>
      <pc:sldMk cId="920574125" sldId="335"/>
    </pc:sldMkLst>
    <p188:txBody>
      <a:bodyPr/>
      <a:lstStyle/>
      <a:p>
        <a:r>
          <a:rPr lang="en-US"/>
          <a:t>your first figure could be a map like this one I believe</a:t>
        </a:r>
      </a:p>
    </p188:txBody>
  </p188:cm>
</p188:cmLst>
</file>

<file path=ppt/comments/modernComment_188_48F9BB5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E04C32-B530-8D40-B6EA-F8A6EB163EFB}" authorId="{9B18557D-7187-C966-2E91-CE8B6CF86FC3}" created="2025-05-02T12:14:30.627">
    <pc:sldMkLst xmlns:pc="http://schemas.microsoft.com/office/powerpoint/2013/main/command">
      <pc:docMk/>
      <pc:sldMk cId="1224325977" sldId="392"/>
    </pc:sldMkLst>
    <p188:txBody>
      <a:bodyPr/>
      <a:lstStyle/>
      <a:p>
        <a:r>
          <a:rPr lang="en-US"/>
          <a:t>To select which parameters you want to highlight (once you have exchange the x- and y-axes), you should think about the mechanisms: which parameters are the most likely to make trees more vulnerable and then show only those functions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0099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6C55C-A940-DD96-9FF7-50101346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AA63DA-382B-6650-1250-DAF48450D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17CF70-0E87-F813-0659-C59B0DEF4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34EA12-9A3F-F75E-8A08-F3985041B1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8191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0895-6FEB-C854-008F-9BAC5CD8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F756E5-B8BC-DBF7-670D-7CF204D86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CECC38-B749-558C-8777-0B7E67658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F05ACF-52D0-3566-A285-860D70965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28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84C-D102-2DB4-F988-58E0024A2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1EEEC37-8377-3724-423F-782CED40A0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44A802E-26FC-B8DD-F242-7CB639E78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157547-446D-D627-2215-11C5FA61E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43424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2BFA-7097-86EF-3AED-6AD1FE39E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894DDA-4414-92AE-2ED5-AE3CB5722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C75F79-64F8-AED9-95AB-E40221F9D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4D0211-A1B7-24E3-B42C-7FDF1B757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4096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2B59B-F7B5-2D96-F59F-25ABF9AC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EB8D13D-C0AA-65BF-ACFC-6708D4A90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88422DD-CCED-B978-3422-A9B17B736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D06B32-81B5-D860-E1DE-C11CDCD39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1326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8C97F-C60E-B229-3AE5-CF1DB6F1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A15C477-1618-3F63-A55F-CAA396A7A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3E3E99-2CBC-009F-A83D-88CC59BB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65B210-9A51-F271-DE59-81D965653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96794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2AC9-1CEC-D4A9-7BB0-1001372F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E7995D2-421A-8C37-F7E8-6C701B8B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3B5366-0AF7-26C4-92A7-E1619FF6F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232B43-3C33-B38F-AFAC-CE44B4FCD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2248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09/05/2025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microsoft.com/office/2018/10/relationships/comments" Target="../comments/modernComment_14F_36DED8AD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microsoft.com/office/2018/10/relationships/comments" Target="../comments/modernComment_11A_35E557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88_48F9BB5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tif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tif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Healthy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Healthy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iagrama&#10;&#10;Descripción generada automáticamente">
            <a:extLst>
              <a:ext uri="{FF2B5EF4-FFF2-40B4-BE49-F238E27FC236}">
                <a16:creationId xmlns:a16="http://schemas.microsoft.com/office/drawing/2014/main" id="{5CF93BAE-7062-DF63-FBD0-5278470BA4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" y="647728"/>
            <a:ext cx="2826009" cy="2826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CD98AE-E281-28B7-DDC6-9F8E6C5095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3615224" y="920186"/>
            <a:ext cx="8573689" cy="584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33461" y="266246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1)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7" y="391352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i="1" dirty="0">
                <a:latin typeface="Helvetica"/>
                <a:cs typeface="Helvetica"/>
              </a:rPr>
              <a:t>H1.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a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activity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transpiration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sites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5D17402-96E9-A56B-30C4-8061982E65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655"/>
          <a:stretch/>
        </p:blipFill>
        <p:spPr>
          <a:xfrm>
            <a:off x="1139560" y="5095351"/>
            <a:ext cx="3477754" cy="1250117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88A669-7385-1C31-CF35-8531BA728759}"/>
              </a:ext>
            </a:extLst>
          </p:cNvPr>
          <p:cNvSpPr txBox="1">
            <a:spLocks/>
          </p:cNvSpPr>
          <p:nvPr/>
        </p:nvSpPr>
        <p:spPr>
          <a:xfrm>
            <a:off x="623548" y="1110781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dirty="0">
                <a:latin typeface="Helvetica"/>
                <a:cs typeface="Helvetica"/>
              </a:rPr>
              <a:t>3 </a:t>
            </a:r>
            <a:r>
              <a:rPr lang="es-ES" dirty="0" err="1">
                <a:latin typeface="Helvetica"/>
                <a:cs typeface="Helvetica"/>
              </a:rPr>
              <a:t>species</a:t>
            </a:r>
            <a:r>
              <a:rPr lang="es-ES" i="1" dirty="0">
                <a:latin typeface="Helvetica"/>
                <a:cs typeface="Helvetica"/>
              </a:rPr>
              <a:t> </a:t>
            </a:r>
            <a:r>
              <a:rPr lang="es-ES" dirty="0">
                <a:latin typeface="Helvetica"/>
                <a:cs typeface="Helvetica"/>
              </a:rPr>
              <a:t>in </a:t>
            </a:r>
            <a:r>
              <a:rPr lang="es-ES" dirty="0" err="1">
                <a:latin typeface="Helvetica"/>
                <a:cs typeface="Helvetica"/>
              </a:rPr>
              <a:t>damaged</a:t>
            </a:r>
            <a:r>
              <a:rPr lang="es-ES" dirty="0">
                <a:latin typeface="Helvetica"/>
                <a:cs typeface="Helvetica"/>
              </a:rPr>
              <a:t> vs. </a:t>
            </a:r>
            <a:r>
              <a:rPr lang="es-ES" dirty="0" err="1">
                <a:latin typeface="Helvetica"/>
                <a:cs typeface="Helvetica"/>
              </a:rPr>
              <a:t>healthy</a:t>
            </a:r>
            <a:r>
              <a:rPr lang="es-ES" dirty="0">
                <a:latin typeface="Helvetica"/>
                <a:cs typeface="Helvetica"/>
              </a:rPr>
              <a:t> sites </a:t>
            </a:r>
            <a:r>
              <a:rPr lang="es-ES" dirty="0" err="1">
                <a:latin typeface="Helvetica"/>
                <a:cs typeface="Helvetica"/>
              </a:rPr>
              <a:t>to</a:t>
            </a:r>
            <a:r>
              <a:rPr lang="es-ES" dirty="0">
                <a:latin typeface="Helvetica"/>
                <a:cs typeface="Helvetica"/>
              </a:rPr>
              <a:t>: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87B21BD-A6B5-1787-C2FE-38F3E226D7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35"/>
          <a:stretch/>
        </p:blipFill>
        <p:spPr>
          <a:xfrm>
            <a:off x="6364847" y="5057218"/>
            <a:ext cx="3115055" cy="1220763"/>
          </a:xfrm>
          <a:prstGeom prst="rect">
            <a:avLst/>
          </a:prstGeom>
        </p:spPr>
      </p:pic>
      <p:pic>
        <p:nvPicPr>
          <p:cNvPr id="11" name="Gráfico 10" descr="Abeto">
            <a:extLst>
              <a:ext uri="{FF2B5EF4-FFF2-40B4-BE49-F238E27FC236}">
                <a16:creationId xmlns:a16="http://schemas.microsoft.com/office/drawing/2014/main" id="{FEC4AD70-FF0F-3D81-50E4-F7F5A07966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72543" y="1692518"/>
            <a:ext cx="804155" cy="804155"/>
          </a:xfrm>
          <a:prstGeom prst="rect">
            <a:avLst/>
          </a:prstGeom>
        </p:spPr>
      </p:pic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A5FE5DE5-7F85-CC7C-60ED-BA39F77907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15236" y="1707996"/>
            <a:ext cx="804155" cy="804155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A8E9D4C9-57D7-9752-0538-7E64417A3C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65177" y="1754080"/>
            <a:ext cx="804155" cy="804155"/>
          </a:xfrm>
          <a:prstGeom prst="rect">
            <a:avLst/>
          </a:prstGeom>
        </p:spPr>
      </p:pic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69AA500-47E2-D768-9417-C83822BE4763}"/>
              </a:ext>
            </a:extLst>
          </p:cNvPr>
          <p:cNvSpPr txBox="1">
            <a:spLocks/>
          </p:cNvSpPr>
          <p:nvPr/>
        </p:nvSpPr>
        <p:spPr>
          <a:xfrm>
            <a:off x="2447965" y="1934497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8648B532-0391-73C4-05E6-D875C8EA4A2D}"/>
              </a:ext>
            </a:extLst>
          </p:cNvPr>
          <p:cNvSpPr txBox="1">
            <a:spLocks/>
          </p:cNvSpPr>
          <p:nvPr/>
        </p:nvSpPr>
        <p:spPr>
          <a:xfrm>
            <a:off x="5019391" y="1935852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34C95E21-2D57-BCF4-19A9-47FAC0AF4EFA}"/>
              </a:ext>
            </a:extLst>
          </p:cNvPr>
          <p:cNvSpPr txBox="1">
            <a:spLocks/>
          </p:cNvSpPr>
          <p:nvPr/>
        </p:nvSpPr>
        <p:spPr>
          <a:xfrm>
            <a:off x="7869332" y="191238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3530D-970D-C628-E371-F6C875E9E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F0334DA8-7227-A147-66E6-4E60849404E1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2)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which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best</a:t>
            </a:r>
            <a:r>
              <a:rPr lang="es-ES" sz="2400" dirty="0">
                <a:latin typeface="Helvetica"/>
                <a:cs typeface="Helvetica"/>
              </a:rPr>
              <a:t> determine </a:t>
            </a:r>
            <a:r>
              <a:rPr lang="es-ES" sz="2400" b="1" dirty="0" err="1">
                <a:latin typeface="Helvetica"/>
                <a:cs typeface="Helvetica"/>
              </a:rPr>
              <a:t>drought-induced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vulnerability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B531C32-B974-2923-13A7-25DFBBEA98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655"/>
          <a:stretch/>
        </p:blipFill>
        <p:spPr>
          <a:xfrm>
            <a:off x="1149474" y="2380143"/>
            <a:ext cx="3477754" cy="12501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21C874D-C070-B547-426D-19390927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35"/>
          <a:stretch/>
        </p:blipFill>
        <p:spPr>
          <a:xfrm>
            <a:off x="6374761" y="2342010"/>
            <a:ext cx="3115055" cy="1220763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96CB7D1C-5800-44F3-28C0-E39E6E83754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BB347058-6834-8CE5-A175-2CB8DE12F3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11215C2-BF18-03CC-D677-D6A8A7ED75E1}"/>
              </a:ext>
            </a:extLst>
          </p:cNvPr>
          <p:cNvSpPr txBox="1">
            <a:spLocks/>
          </p:cNvSpPr>
          <p:nvPr/>
        </p:nvSpPr>
        <p:spPr>
          <a:xfrm>
            <a:off x="633461" y="401926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3)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determine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aridity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Iberian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forests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esto en P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sylv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.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28B97C2-163C-0AB0-453E-9229E0813B5E}"/>
              </a:ext>
            </a:extLst>
          </p:cNvPr>
          <p:cNvSpPr txBox="1">
            <a:spLocks/>
          </p:cNvSpPr>
          <p:nvPr/>
        </p:nvSpPr>
        <p:spPr>
          <a:xfrm>
            <a:off x="633460" y="498169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H3.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We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expect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higher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to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increased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aridity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in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temperate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species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than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Mediterranean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species</a:t>
            </a:r>
            <a:endParaRPr lang="es-ES" sz="2400" i="1" dirty="0">
              <a:solidFill>
                <a:srgbClr val="FF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487036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5F97D4-3704-918D-A040-286D8F79A8D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655"/>
          <a:stretch/>
        </p:blipFill>
        <p:spPr>
          <a:xfrm>
            <a:off x="8527188" y="3944761"/>
            <a:ext cx="3477754" cy="125011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CAD87A3-2507-827F-113D-609B6918B32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835"/>
          <a:stretch/>
        </p:blipFill>
        <p:spPr>
          <a:xfrm>
            <a:off x="8708537" y="5371534"/>
            <a:ext cx="3115055" cy="12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4FDBE-B13D-7779-DA88-534C3FE3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C2645F1-D5A7-BE14-FF82-AED7E077E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ED90DC-5139-D0EB-6DDB-4ACBC296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5EEF694-F808-7ACA-6144-B20E9A05283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2B2E9C4-E5D5-5B45-835E-1BCD2EB73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17" y="875489"/>
            <a:ext cx="5278956" cy="5882352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E65B7FF5-0121-A19A-1B66-299AD251DA47}"/>
              </a:ext>
            </a:extLst>
          </p:cNvPr>
          <p:cNvSpPr txBox="1"/>
          <p:nvPr/>
        </p:nvSpPr>
        <p:spPr>
          <a:xfrm>
            <a:off x="6021444" y="1791969"/>
            <a:ext cx="572561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</a:t>
            </a: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Darker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mean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annual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precipitation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right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y-axis).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68E32319-FCFC-96D4-4A06-FB952CFD9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1616" y="5537944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79DD684-FB51-F6B0-E2A0-628FB2589F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4309" y="5553422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0B9BF647-3A44-88A2-FA85-CFD08A8B9D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84250" y="5599506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C05D27C5-473A-8895-B3BD-4305536580DC}"/>
              </a:ext>
            </a:extLst>
          </p:cNvPr>
          <p:cNvSpPr txBox="1">
            <a:spLocks/>
          </p:cNvSpPr>
          <p:nvPr/>
        </p:nvSpPr>
        <p:spPr>
          <a:xfrm>
            <a:off x="4267038" y="5779923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83FAB09-3F7C-B1C3-1EA4-38221BAE9503}"/>
              </a:ext>
            </a:extLst>
          </p:cNvPr>
          <p:cNvSpPr txBox="1">
            <a:spLocks/>
          </p:cNvSpPr>
          <p:nvPr/>
        </p:nvSpPr>
        <p:spPr>
          <a:xfrm>
            <a:off x="6838464" y="5781278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8AB3B5C-AFAA-C642-DCE9-AA448A018229}"/>
              </a:ext>
            </a:extLst>
          </p:cNvPr>
          <p:cNvSpPr txBox="1">
            <a:spLocks/>
          </p:cNvSpPr>
          <p:nvPr/>
        </p:nvSpPr>
        <p:spPr>
          <a:xfrm>
            <a:off x="9688405" y="5757809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00038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98328-5D4A-117A-F0E1-A575A80D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287BCE5-1329-CF6E-4B55-751D2D42A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8D9A4B-4061-4D85-6F7A-262A79B11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5AAD56-F41C-84CC-E2BA-214389B36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17" y="875489"/>
            <a:ext cx="5278956" cy="5882352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7864C863-53E9-5721-781B-3CCE4A9A1619}"/>
              </a:ext>
            </a:extLst>
          </p:cNvPr>
          <p:cNvSpPr txBox="1"/>
          <p:nvPr/>
        </p:nvSpPr>
        <p:spPr>
          <a:xfrm>
            <a:off x="5173884" y="1161816"/>
            <a:ext cx="6647727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7873B4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Navarra (BAS/SAR) &amp; Huesca (FAG/OZA):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always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However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convergence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which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are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it’s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temperatura’s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fault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Navarra (RON/URZ) and Guadalajara (ADO/ALU/TRA):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divergence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over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time.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Madrid (GUA):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always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although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seems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more evidente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Teruel (COR/CED):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clear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pattern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several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interesting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major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decouplings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last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decades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DB5E0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Madrid (PEL/NAV):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major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A25B5D43-49E5-1519-056C-3A6B5411B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1616" y="5537944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0074D390-B171-B85E-5C54-F1B8EA06D3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4309" y="5553422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04B8CA8C-C5F6-416D-C9F0-CFC3D6BAC4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84250" y="5599506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4F3D388E-E47F-E5BD-B011-9BF488BBD26D}"/>
              </a:ext>
            </a:extLst>
          </p:cNvPr>
          <p:cNvSpPr txBox="1">
            <a:spLocks/>
          </p:cNvSpPr>
          <p:nvPr/>
        </p:nvSpPr>
        <p:spPr>
          <a:xfrm>
            <a:off x="4267038" y="5779923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463B799E-36A2-A0F9-1055-9AA4CA5E8DF8}"/>
              </a:ext>
            </a:extLst>
          </p:cNvPr>
          <p:cNvSpPr txBox="1">
            <a:spLocks/>
          </p:cNvSpPr>
          <p:nvPr/>
        </p:nvSpPr>
        <p:spPr>
          <a:xfrm>
            <a:off x="6838464" y="5781278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6B292198-F1C8-A0F5-6614-34BD25515587}"/>
              </a:ext>
            </a:extLst>
          </p:cNvPr>
          <p:cNvSpPr txBox="1">
            <a:spLocks/>
          </p:cNvSpPr>
          <p:nvPr/>
        </p:nvSpPr>
        <p:spPr>
          <a:xfrm>
            <a:off x="9688405" y="5757809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4AC8C74-445B-7378-7693-2D32AFD3C9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0527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A2040-6365-F622-F23A-914222D9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5FDB6A8-F163-F3D4-EC30-49CEB3E101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8E6C52-36FC-BBD5-61E6-16FA738B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D11F7B4-877F-7888-17DE-AD1B78A6794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82A1B36E-3ABB-F08C-29F7-F2CBD400B7DA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M.A.P. 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EC4888E8-B91F-1649-B685-B9DC89C18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CBFBD5C-D0DE-7C00-455A-88D672A20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222A6575-11AB-5D2A-6D6B-C4CC03D17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5F07DC1-48B2-72C8-AD77-2463E425B5E6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5245EBD3-67F8-3621-8F84-981734C5881A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FC04FBBF-51E3-9A14-F381-8EA28A200C74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857E74-C10E-A40D-C019-CA8CBA44823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2" y="1117358"/>
            <a:ext cx="8154335" cy="4529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98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2E8C-03E8-15C4-1010-B304AFCF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1716AEF-64B6-8F12-1F38-2C377D440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1" y="1117357"/>
            <a:ext cx="8154336" cy="452989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76B239F-2EE2-2449-1C6C-6857B1AE0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08B11A-9F1B-5933-EFEA-24732DF5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5216F0B-F9D3-72B7-A1AA-789170AC004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702F51AC-6427-5B15-AF80-02BE9203202C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M.A.P. 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7A01E999-0288-6DE7-7514-B763B9103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D19908D3-0138-2D9E-15A7-071184736C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E239149E-C34C-50A0-484C-2583751860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FC34378B-AF5F-F7F6-C3BF-7C3C3772317E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4B0949C0-CE88-5F6F-2A2A-8F35A1825371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1135D57B-08D8-51F6-DEA9-E0E450608DBE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8213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4DB8A-A413-E708-1A83-093C559D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A8F4C5-D5EF-9E76-A133-20A075E47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6B3584-3002-6BDC-9E1C-878180446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214E92E-642B-98F5-BF16-46CCDC80A4B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FBEA708A-2F7E-0B0C-7B82-584EB61544CA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4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observe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progressive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1968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49F15B2-C8B4-CFF5-DB32-5CB984A3B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7" b="75612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EAF1F0C-7F3F-3A2C-25FB-00FC13604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BD91B00B-B1EA-3113-B46B-2FA38B0B6567}"/>
              </a:ext>
            </a:extLst>
          </p:cNvPr>
          <p:cNvSpPr/>
          <p:nvPr/>
        </p:nvSpPr>
        <p:spPr>
          <a:xfrm>
            <a:off x="194998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9A4FA15E-2B41-73B0-2EF2-8BAFCC624A78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460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D06B-30E2-EFFF-3C79-5C614A7A9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3782393-B642-F1E8-25E0-6B0F8578A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DD3D3E-1A33-42D7-599E-655CF09B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C4568D9-497B-043E-FF14-D9937D0A890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5436832C-CE15-29BC-E545-AE34792EBD8E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4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observe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progressive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1968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3975FEA-90E8-BDFB-0438-D028CEF88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7" b="75612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9468A67-3D4E-A09F-1DAD-30863FDAE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C23ED0FD-E40C-09D3-35C8-EE6FAF312D28}"/>
              </a:ext>
            </a:extLst>
          </p:cNvPr>
          <p:cNvSpPr/>
          <p:nvPr/>
        </p:nvSpPr>
        <p:spPr>
          <a:xfrm>
            <a:off x="194998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9D04F46-0E7C-7F4F-8F56-D6E2F964C6A2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3582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9A14-C6ED-B239-83F2-6D8612AC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63DAD08-EE7B-6865-C33F-E5FBAB33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547BBB-3D9C-B92A-51FF-367D3317B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D41D346-C391-806A-8B07-7D070DCAEF5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95FF8C92-ECC1-3020-E7C9-D5F6EF710B90}"/>
              </a:ext>
            </a:extLst>
          </p:cNvPr>
          <p:cNvSpPr txBox="1"/>
          <p:nvPr/>
        </p:nvSpPr>
        <p:spPr>
          <a:xfrm>
            <a:off x="6145191" y="1512509"/>
            <a:ext cx="572561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Navarra, Madrid,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Guadalajara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still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patent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a bit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differentiated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B4CB36A-1E97-C20F-5B2B-798180B0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3" t="49392" r="50750" b="26220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58CEC71-0B6E-F660-207B-EBC187732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688839AE-1758-0E6A-7E49-128D8498BC03}"/>
              </a:ext>
            </a:extLst>
          </p:cNvPr>
          <p:cNvSpPr/>
          <p:nvPr/>
        </p:nvSpPr>
        <p:spPr>
          <a:xfrm>
            <a:off x="183822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EA77C80-9458-7A69-317C-F3D3A02CD151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96773A3-3490-AC24-6F9B-DCC7DDFDBE1D}"/>
              </a:ext>
            </a:extLst>
          </p:cNvPr>
          <p:cNvSpPr/>
          <p:nvPr/>
        </p:nvSpPr>
        <p:spPr>
          <a:xfrm>
            <a:off x="7047761" y="538073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274D04FF-B7B4-DD15-93EB-5A14DAA3FA25}"/>
              </a:ext>
            </a:extLst>
          </p:cNvPr>
          <p:cNvSpPr/>
          <p:nvPr/>
        </p:nvSpPr>
        <p:spPr>
          <a:xfrm>
            <a:off x="8602883" y="545185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165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2E08-0836-8757-D815-3BBECA41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F3A1F3A-9B29-D181-4FC1-5D0C9DCB3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C1B47C-D1B7-A1B0-28C0-E0DDFEC72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403CF17-03B9-C294-E98B-5831250D442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76932059-7B61-AA6B-EAE2-9682705EA4D2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Navarra, Madrid, Guadalajara,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Teruel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even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differentiated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9B9B007-C29A-9B07-5AF4-D4E419B33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2" t="73732" r="50819" b="8"/>
          <a:stretch/>
        </p:blipFill>
        <p:spPr>
          <a:xfrm>
            <a:off x="-14655" y="1303516"/>
            <a:ext cx="6481582" cy="384760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E53DB36-F2CC-1EDA-330A-6B99F82585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55E74E4B-16AC-0AAE-A829-54144EDBA2F8}"/>
              </a:ext>
            </a:extLst>
          </p:cNvPr>
          <p:cNvSpPr/>
          <p:nvPr/>
        </p:nvSpPr>
        <p:spPr>
          <a:xfrm>
            <a:off x="183822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C6F1C22A-8E1D-59BB-05CE-303608044246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79D5525-36BD-3335-A194-42EDDFC73A8C}"/>
              </a:ext>
            </a:extLst>
          </p:cNvPr>
          <p:cNvSpPr/>
          <p:nvPr/>
        </p:nvSpPr>
        <p:spPr>
          <a:xfrm>
            <a:off x="7047761" y="538073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499AA3B-EA91-4711-B57F-50B83B89B89D}"/>
              </a:ext>
            </a:extLst>
          </p:cNvPr>
          <p:cNvSpPr/>
          <p:nvPr/>
        </p:nvSpPr>
        <p:spPr>
          <a:xfrm>
            <a:off x="8602883" y="545185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6E85216D-3B1B-DB5D-6EA1-AEE21E03E785}"/>
              </a:ext>
            </a:extLst>
          </p:cNvPr>
          <p:cNvSpPr/>
          <p:nvPr/>
        </p:nvSpPr>
        <p:spPr>
          <a:xfrm>
            <a:off x="9142382" y="5615606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93945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564F-28F8-021F-3D62-6D0FD67D0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89CF1C8-EDF8-8A31-4A32-03F3F9835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A0411C-6DB5-B29C-329C-76FD6B4C0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49FFDF2-C331-2AFB-F4DD-D68870285FA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66A6F1E8-82E8-2EE0-2CA1-932960D78CD1}"/>
              </a:ext>
            </a:extLst>
          </p:cNvPr>
          <p:cNvSpPr txBox="1"/>
          <p:nvPr/>
        </p:nvSpPr>
        <p:spPr>
          <a:xfrm>
            <a:off x="6157956" y="1179084"/>
            <a:ext cx="5945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baseline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there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downwards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trend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decades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05326F-4080-74E1-A7CB-0532C5324D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78" t="159" r="-55" b="75453"/>
          <a:stretch/>
        </p:blipFill>
        <p:spPr>
          <a:xfrm>
            <a:off x="0" y="1303516"/>
            <a:ext cx="6558367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6A59630-036D-7694-69CC-BA5BC9B32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17386731-0D58-F91B-C629-670A4DBC5C22}"/>
              </a:ext>
            </a:extLst>
          </p:cNvPr>
          <p:cNvSpPr/>
          <p:nvPr/>
        </p:nvSpPr>
        <p:spPr>
          <a:xfrm>
            <a:off x="5011859" y="3117416"/>
            <a:ext cx="1656819" cy="175938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B486933-89F4-E0E8-305A-32C23DAD0881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7873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7873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314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B1A4-1508-C191-69A1-EBA990953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65DD20-6FDB-623D-4C29-C41314855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4247C0A-16C9-DC00-3719-ADE238E39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BF2BCF2-85FF-D379-B5F1-7A266293BD3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8C0CA0C6-9762-C192-ACE7-09DF57C40A20}"/>
              </a:ext>
            </a:extLst>
          </p:cNvPr>
          <p:cNvSpPr txBox="1"/>
          <p:nvPr/>
        </p:nvSpPr>
        <p:spPr>
          <a:xfrm>
            <a:off x="6157956" y="1179084"/>
            <a:ext cx="5945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including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Huesca,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tres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1965,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there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still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427E74-6701-44F9-3E3E-72CD3BF33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24636" r="123" b="50976"/>
          <a:stretch/>
        </p:blipFill>
        <p:spPr>
          <a:xfrm>
            <a:off x="0" y="1303516"/>
            <a:ext cx="6558367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749165A-A628-DE74-D29C-C4E4FE61D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9E616AF8-CAC8-AC24-DF98-98BCA5BD3C79}"/>
              </a:ext>
            </a:extLst>
          </p:cNvPr>
          <p:cNvSpPr/>
          <p:nvPr/>
        </p:nvSpPr>
        <p:spPr>
          <a:xfrm>
            <a:off x="5011859" y="3117416"/>
            <a:ext cx="1656819" cy="175938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FC7F0F2-1161-407D-2A69-BC776DA2A929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7873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7873B4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43CC173-077C-F36B-09C1-B75428B5F423}"/>
              </a:ext>
            </a:extLst>
          </p:cNvPr>
          <p:cNvSpPr/>
          <p:nvPr/>
        </p:nvSpPr>
        <p:spPr>
          <a:xfrm>
            <a:off x="1635760" y="3997108"/>
            <a:ext cx="531694" cy="731520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0849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B495-ED0E-EF3A-6BD2-C7FA5BD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D5FF754-C5C9-4FE6-E5B4-75FCC20EA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3C9F21-4171-725D-03AF-BEB30383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BDC4143-303B-7342-BFB0-950B435C612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FB288F5-1B92-5E80-314A-2213F6F76BCB}"/>
              </a:ext>
            </a:extLst>
          </p:cNvPr>
          <p:cNvSpPr txBox="1"/>
          <p:nvPr/>
        </p:nvSpPr>
        <p:spPr>
          <a:xfrm>
            <a:off x="413083" y="969430"/>
            <a:ext cx="11365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Boxplots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resulting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binning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~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FFB64ED1-1211-5C91-75C9-AAC316189016}"/>
              </a:ext>
            </a:extLst>
          </p:cNvPr>
          <p:cNvSpPr txBox="1"/>
          <p:nvPr/>
        </p:nvSpPr>
        <p:spPr>
          <a:xfrm>
            <a:off x="4011917" y="1338762"/>
            <a:ext cx="48709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Now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inverted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axis 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 )</a:t>
            </a:r>
            <a:endParaRPr lang="es-ES" sz="24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3D626E-0187-7CF4-4194-B1CB0FF5D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952" y="2092634"/>
            <a:ext cx="9398196" cy="41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55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48E7D-5612-D95C-DF42-5C78C6405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6333AE-E806-EA57-25B1-9A8C1E82D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F015EF-EE04-BD1E-1D3B-B3F1ED80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CF56776-219A-C196-72A0-782D88403A6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BCC3E21-FF99-FC9B-5A90-421ED5E5E13E}"/>
              </a:ext>
            </a:extLst>
          </p:cNvPr>
          <p:cNvSpPr txBox="1"/>
          <p:nvPr/>
        </p:nvSpPr>
        <p:spPr>
          <a:xfrm>
            <a:off x="350196" y="3996418"/>
            <a:ext cx="33463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mainly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alba,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limiations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3CB32D6-410F-0171-323E-43A1141C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592" b="50371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805AE77-8D72-81FB-AB4B-ABD89DDEF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24" r="8019" b="50371"/>
          <a:stretch/>
        </p:blipFill>
        <p:spPr>
          <a:xfrm>
            <a:off x="4538012" y="953692"/>
            <a:ext cx="6014817" cy="2893189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5C3D8FAF-7AB8-A9B0-AF2A-4F24437C25F7}"/>
              </a:ext>
            </a:extLst>
          </p:cNvPr>
          <p:cNvSpPr txBox="1"/>
          <p:nvPr/>
        </p:nvSpPr>
        <p:spPr>
          <a:xfrm>
            <a:off x="4538012" y="4103465"/>
            <a:ext cx="601481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Generally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implying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plants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their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aridity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despite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VPD).</a:t>
            </a:r>
          </a:p>
        </p:txBody>
      </p:sp>
    </p:spTree>
    <p:extLst>
      <p:ext uri="{BB962C8B-B14F-4D97-AF65-F5344CB8AC3E}">
        <p14:creationId xmlns:p14="http://schemas.microsoft.com/office/powerpoint/2010/main" val="122432597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77EFA-FB22-6AE7-9F7B-FBC81C4E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DC16E75-696D-929D-72C8-C096F14BB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1ED0F0-0EFD-9159-F371-46963A44D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5D2CE24-AE03-7CF8-FA55-C4E38034A81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DFB6E514-44A5-A5E4-D871-5A488FFD091B}"/>
              </a:ext>
            </a:extLst>
          </p:cNvPr>
          <p:cNvSpPr txBox="1"/>
          <p:nvPr/>
        </p:nvSpPr>
        <p:spPr>
          <a:xfrm>
            <a:off x="223737" y="3996418"/>
            <a:ext cx="357977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does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seems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more vulnerable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FB8D6F8-E6CF-CB36-9BE7-93CE32331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" t="50006" r="76526" b="365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sp>
        <p:nvSpPr>
          <p:cNvPr id="4" name="CuadroTexto 10">
            <a:extLst>
              <a:ext uri="{FF2B5EF4-FFF2-40B4-BE49-F238E27FC236}">
                <a16:creationId xmlns:a16="http://schemas.microsoft.com/office/drawing/2014/main" id="{768ADF5C-4667-0C99-FFEE-F15BCC6598A9}"/>
              </a:ext>
            </a:extLst>
          </p:cNvPr>
          <p:cNvSpPr txBox="1"/>
          <p:nvPr/>
        </p:nvSpPr>
        <p:spPr>
          <a:xfrm>
            <a:off x="3753746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At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intermidiate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trend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inverts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57FD1B1-67EF-346A-2A26-53834D41E4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4" t="50000" r="53758" b="371"/>
          <a:stretch/>
        </p:blipFill>
        <p:spPr>
          <a:xfrm>
            <a:off x="3673813" y="953692"/>
            <a:ext cx="3070337" cy="289318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47DC28-58A9-1B1F-D7CA-45175705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64" t="50371" r="7628"/>
          <a:stretch/>
        </p:blipFill>
        <p:spPr>
          <a:xfrm>
            <a:off x="7236300" y="953692"/>
            <a:ext cx="3070337" cy="2893189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F26F268C-BCBD-B544-32D3-1A1645F3B6CF}"/>
              </a:ext>
            </a:extLst>
          </p:cNvPr>
          <p:cNvSpPr txBox="1"/>
          <p:nvPr/>
        </p:nvSpPr>
        <p:spPr>
          <a:xfrm>
            <a:off x="7236299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so do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934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B7013-6D0A-7537-502D-486D1C6B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B2BFE58-A519-A475-6804-6B9D824A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8B6CD91-6F8B-1D09-D8A7-0AA69684D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625C6D5-EFCE-0E08-5993-DC61E502933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9F1A8540-4C6A-82CF-52A9-CB66EF9B2B02}"/>
              </a:ext>
            </a:extLst>
          </p:cNvPr>
          <p:cNvSpPr txBox="1"/>
          <p:nvPr/>
        </p:nvSpPr>
        <p:spPr>
          <a:xfrm>
            <a:off x="164779" y="1041360"/>
            <a:ext cx="116819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Mean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Annual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Precipitation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(mean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last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10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69BDCFE-28F6-A8A9-7D8B-7DB48E379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872357"/>
            <a:ext cx="10306755" cy="4580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20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3DFE-15BC-0CC3-4DD4-6BB8059ED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1A7ECA8-8470-69CF-63F2-079F488AA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F775AA-7061-CB15-CC32-84B922D6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FD26ACB-CE45-E406-281D-C5359F2D199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7CC4FF75-944D-4D0C-F1F3-41E86F2E6A4F}"/>
              </a:ext>
            </a:extLst>
          </p:cNvPr>
          <p:cNvSpPr txBox="1"/>
          <p:nvPr/>
        </p:nvSpPr>
        <p:spPr>
          <a:xfrm>
            <a:off x="216869" y="3932768"/>
            <a:ext cx="3067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BB1843F-83A7-B941-23A5-656F351B3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10" t="74906" r="55659" b="109"/>
          <a:stretch/>
        </p:blipFill>
        <p:spPr>
          <a:xfrm>
            <a:off x="8791866" y="1014072"/>
            <a:ext cx="2787817" cy="277242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8311DB6-FC03-1B0F-2550-8B5345F8847E}"/>
              </a:ext>
            </a:extLst>
          </p:cNvPr>
          <p:cNvSpPr txBox="1"/>
          <p:nvPr/>
        </p:nvSpPr>
        <p:spPr>
          <a:xfrm>
            <a:off x="8638998" y="3996411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exhibit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conservative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behaviour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B2AAE7D-02DF-F896-7A58-828DA27328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552" b="50923"/>
          <a:stretch/>
        </p:blipFill>
        <p:spPr>
          <a:xfrm>
            <a:off x="356506" y="1014072"/>
            <a:ext cx="2787816" cy="270877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4146EBA-179B-17B6-2BEA-5034E3F973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5" t="346" r="55427" b="50577"/>
          <a:stretch/>
        </p:blipFill>
        <p:spPr>
          <a:xfrm>
            <a:off x="3216235" y="1045893"/>
            <a:ext cx="2787816" cy="2708779"/>
          </a:xfrm>
          <a:prstGeom prst="rect">
            <a:avLst/>
          </a:prstGeom>
        </p:spPr>
      </p:pic>
      <p:sp>
        <p:nvSpPr>
          <p:cNvPr id="14" name="CuadroTexto 10">
            <a:extLst>
              <a:ext uri="{FF2B5EF4-FFF2-40B4-BE49-F238E27FC236}">
                <a16:creationId xmlns:a16="http://schemas.microsoft.com/office/drawing/2014/main" id="{6FC9CC83-1091-F428-609E-4A873E7C6321}"/>
              </a:ext>
            </a:extLst>
          </p:cNvPr>
          <p:cNvSpPr txBox="1"/>
          <p:nvPr/>
        </p:nvSpPr>
        <p:spPr>
          <a:xfrm>
            <a:off x="3076597" y="3842522"/>
            <a:ext cx="571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C:N ratios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FB25EE4-577B-14C8-B248-D3C196F5A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" t="49755" r="77007" b="1168"/>
          <a:stretch/>
        </p:blipFill>
        <p:spPr>
          <a:xfrm>
            <a:off x="6004051" y="1045893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4292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80E46-29DF-4D44-157F-C0236083C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0418EB6-77EB-AAB5-7FE5-455534EB1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212F7E-2E79-B91D-A29B-0A2ABA467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6CA957F-7592-446C-CFEB-8167D24D138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A583168-FC81-9679-173F-E7361B6D8C3E}"/>
              </a:ext>
            </a:extLst>
          </p:cNvPr>
          <p:cNvSpPr txBox="1"/>
          <p:nvPr/>
        </p:nvSpPr>
        <p:spPr>
          <a:xfrm>
            <a:off x="7118708" y="3996411"/>
            <a:ext cx="33463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MAP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10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-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observed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63CE987-91DD-6CB2-2FFD-AA4E22B08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99" t="923" r="33653" b="50000"/>
          <a:stretch/>
        </p:blipFill>
        <p:spPr>
          <a:xfrm>
            <a:off x="346325" y="1014072"/>
            <a:ext cx="2787816" cy="270877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C57CB05-6CC7-A73A-8BD3-009B79941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47" r="11205" b="50923"/>
          <a:stretch/>
        </p:blipFill>
        <p:spPr>
          <a:xfrm>
            <a:off x="3134141" y="1014072"/>
            <a:ext cx="2787816" cy="2708779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52DDF282-5E7D-6FD9-9711-F5336EBDB592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547AAEB-73D6-095E-73EA-319454F8ED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56" t="50000" r="11296" b="923"/>
          <a:stretch/>
        </p:blipFill>
        <p:spPr>
          <a:xfrm>
            <a:off x="7397957" y="1014072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335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32BED-3736-FEAB-171A-F5DB8509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4FE366D-D4C0-F7D3-0014-0434D1FAF7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12E6D0-5B6D-EFEB-FAD2-4C46B82AA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1B657E6-48DF-374B-3CFA-3E442052EB9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2D3BD283-A260-12C2-95B2-2149C0AAA33B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5B71772-4715-4ACE-D656-B8C8D5884B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52" t="25015" r="55417" b="50000"/>
          <a:stretch/>
        </p:blipFill>
        <p:spPr>
          <a:xfrm>
            <a:off x="629442" y="1014077"/>
            <a:ext cx="2787817" cy="27724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F5E5876-8A44-9568-2B47-E8422E8AC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85" t="25015" r="11284" b="50000"/>
          <a:stretch/>
        </p:blipFill>
        <p:spPr>
          <a:xfrm>
            <a:off x="3417259" y="1014076"/>
            <a:ext cx="2787817" cy="2772423"/>
          </a:xfrm>
          <a:prstGeom prst="rect">
            <a:avLst/>
          </a:prstGeom>
        </p:spPr>
      </p:pic>
      <p:sp>
        <p:nvSpPr>
          <p:cNvPr id="13" name="CuadroTexto 10">
            <a:extLst>
              <a:ext uri="{FF2B5EF4-FFF2-40B4-BE49-F238E27FC236}">
                <a16:creationId xmlns:a16="http://schemas.microsoft.com/office/drawing/2014/main" id="{701CE39C-6585-BA23-4F55-CC82259F67E3}"/>
              </a:ext>
            </a:extLst>
          </p:cNvPr>
          <p:cNvSpPr txBox="1"/>
          <p:nvPr/>
        </p:nvSpPr>
        <p:spPr>
          <a:xfrm>
            <a:off x="6866741" y="3996418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9DBE3F1B-9188-5AC8-293B-4D8910A34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8" t="75015" r="55521"/>
          <a:stretch/>
        </p:blipFill>
        <p:spPr>
          <a:xfrm>
            <a:off x="7145989" y="1014076"/>
            <a:ext cx="2787817" cy="277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488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993A-4DB5-4A80-B6D4-5E731B2F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DE55615-3C82-C874-ADB5-7C8FBE4AC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930395"/>
            <a:ext cx="10176167" cy="452266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4BA61AA-71DA-2059-38C1-08FCD08CD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0FEE40-438B-B89A-50EA-F71E8B58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6747849-D6EE-1F28-F127-EAB2ABBBE5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F88876D3-D396-01B3-E994-4CFCD8146DF3}"/>
              </a:ext>
            </a:extLst>
          </p:cNvPr>
          <p:cNvSpPr txBox="1"/>
          <p:nvPr/>
        </p:nvSpPr>
        <p:spPr>
          <a:xfrm>
            <a:off x="164779" y="1041360"/>
            <a:ext cx="11681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12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month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SPEI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185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1226</Words>
  <Application>Microsoft Office PowerPoint</Application>
  <PresentationFormat>Panorámica</PresentationFormat>
  <Paragraphs>241</Paragraphs>
  <Slides>26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 Sampling design</vt:lpstr>
      <vt:lpstr> Sampling design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7</cp:revision>
  <dcterms:created xsi:type="dcterms:W3CDTF">2025-04-25T13:52:31Z</dcterms:created>
  <dcterms:modified xsi:type="dcterms:W3CDTF">2025-05-09T14:18:36Z</dcterms:modified>
</cp:coreProperties>
</file>