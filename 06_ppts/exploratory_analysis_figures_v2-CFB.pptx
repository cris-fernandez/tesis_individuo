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4F_36DED8AD.xml" ContentType="application/vnd.ms-powerpoint.comments+xml"/>
  <Override PartName="/ppt/notesSlides/notesSlide1.xml" ContentType="application/vnd.openxmlformats-officedocument.presentationml.notesSlide+xml"/>
  <Override PartName="/ppt/comments/modernComment_196_9A4652F4.xml" ContentType="application/vnd.ms-powerpoint.comment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modernComment_188_48F9BB59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7" r:id="rId2"/>
    <p:sldId id="306" r:id="rId3"/>
    <p:sldId id="379" r:id="rId4"/>
    <p:sldId id="335" r:id="rId5"/>
    <p:sldId id="282" r:id="rId6"/>
    <p:sldId id="404" r:id="rId7"/>
    <p:sldId id="406" r:id="rId8"/>
    <p:sldId id="405" r:id="rId9"/>
    <p:sldId id="342" r:id="rId10"/>
    <p:sldId id="337" r:id="rId11"/>
    <p:sldId id="382" r:id="rId12"/>
    <p:sldId id="399" r:id="rId13"/>
    <p:sldId id="391" r:id="rId14"/>
    <p:sldId id="392" r:id="rId15"/>
    <p:sldId id="400" r:id="rId16"/>
    <p:sldId id="394" r:id="rId17"/>
    <p:sldId id="395" r:id="rId18"/>
    <p:sldId id="402" r:id="rId19"/>
    <p:sldId id="397" r:id="rId20"/>
    <p:sldId id="401" r:id="rId21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B4BCF0B-13A8-F3D9-5213-32840108FAB3}" name="Cristopher Fernández de Blas" initials="CF" userId="13a2925ceb8d18c3" providerId="Windows Live"/>
  <p188:author id="{9B18557D-7187-C966-2E91-CE8B6CF86FC3}" name="Charlotte Grossiord" initials="" userId="S::charlotte.grossiord@wsl.ch::81d5e498-a7ae-4007-b872-c94d21631f5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8317"/>
    <a:srgbClr val="7030A0"/>
    <a:srgbClr val="2F5597"/>
    <a:srgbClr val="7873B4"/>
    <a:srgbClr val="37AD88"/>
    <a:srgbClr val="DB5E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94"/>
  </p:normalViewPr>
  <p:slideViewPr>
    <p:cSldViewPr snapToGrid="0">
      <p:cViewPr varScale="1">
        <p:scale>
          <a:sx n="82" d="100"/>
          <a:sy n="82" d="100"/>
        </p:scale>
        <p:origin x="1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8/10/relationships/authors" Target="authors.xml"/></Relationships>
</file>

<file path=ppt/comments/modernComment_14F_36DED8A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72AF825-BE95-3241-AEA5-C9EEB621F435}" authorId="{9B18557D-7187-C966-2E91-CE8B6CF86FC3}" created="2025-05-02T12:23:10.993">
    <pc:sldMkLst xmlns:pc="http://schemas.microsoft.com/office/powerpoint/2013/main/command">
      <pc:docMk/>
      <pc:sldMk cId="920574125" sldId="335"/>
    </pc:sldMkLst>
    <p188:replyLst>
      <p188:reply id="{E26608CF-4E9D-4396-9053-190CB4A16447}" authorId="{DB4BCF0B-13A8-F3D9-5213-32840108FAB3}" created="2025-05-27T13:51:56.997">
        <p188:txBody>
          <a:bodyPr/>
          <a:lstStyle/>
          <a:p>
            <a:r>
              <a:rPr lang="es-ES"/>
              <a:t>Paloma agrees! Maybe we could remove the sites list at the right, and include in a smaller map the distribution area of Pinus sylvestris, Pinus pinea and Abies alba?</a:t>
            </a:r>
          </a:p>
        </p188:txBody>
      </p188:reply>
    </p188:replyLst>
    <p188:txBody>
      <a:bodyPr/>
      <a:lstStyle/>
      <a:p>
        <a:r>
          <a:rPr lang="en-US"/>
          <a:t>your first figure could be a map like this one I believe</a:t>
        </a:r>
      </a:p>
    </p188:txBody>
  </p188:cm>
</p188:cmLst>
</file>

<file path=ppt/comments/modernComment_188_48F9BB5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4E04C32-B530-8D40-B6EA-F8A6EB163EFB}" authorId="{9B18557D-7187-C966-2E91-CE8B6CF86FC3}" created="2025-05-02T12:14:30.627">
    <pc:sldMkLst xmlns:pc="http://schemas.microsoft.com/office/powerpoint/2013/main/command">
      <pc:docMk/>
      <pc:sldMk cId="1224325977" sldId="392"/>
    </pc:sldMkLst>
    <p188:txBody>
      <a:bodyPr/>
      <a:lstStyle/>
      <a:p>
        <a:r>
          <a:rPr lang="en-US"/>
          <a:t>To select which parameters you want to highlight (once you have exchange the x- and y-axes), you should think about the mechanisms: which parameters are the most likely to make trees more vulnerable and then show only those functions</a:t>
        </a:r>
      </a:p>
    </p188:txBody>
  </p188:cm>
</p188:cmLst>
</file>

<file path=ppt/comments/modernComment_196_9A4652F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8FC64F5-D2B2-46FE-9306-A6DE9DD7124B}" authorId="{DB4BCF0B-13A8-F3D9-5213-32840108FAB3}" created="2025-05-28T08:19:30.28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588300020" sldId="406"/>
      <ac:spMk id="5" creationId="{B4C51AA4-52F0-151B-7375-C783F89B7860}"/>
      <ac:txMk cp="110" len="16">
        <ac:context len="127" hash="3563922589"/>
      </ac:txMk>
    </ac:txMkLst>
    <p188:pos x="5210748" y="608441"/>
    <p188:txBody>
      <a:bodyPr/>
      <a:lstStyle/>
      <a:p>
        <a:r>
          <a:rPr lang="es-ES"/>
          <a:t>Only in Pinus sylvestris because it’s the only one for which we have enough variability of climatic conditions...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2983DD-E218-4F5B-97E6-73372FCDFB94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285FFF-AA8A-422F-901E-D94C39C8B22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083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34738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56613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700993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6C55C-A940-DD96-9FF7-50101346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1AA63DA-382B-6650-1250-DAF48450D7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217CF70-0E87-F813-0659-C59B0DEF4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F34EA12-9A3F-F75E-8A08-F3985041B1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81919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10895-6FEB-C854-008F-9BAC5CD87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0F756E5-B8BC-DBF7-670D-7CF204D863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ECECC38-B749-558C-8777-0B7E67658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F05ACF-52D0-3566-A285-860D709651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2806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A84C-D102-2DB4-F988-58E0024A2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1EEEC37-8377-3724-423F-782CED40A0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44A802E-26FC-B8DD-F242-7CB639E78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157547-446D-D627-2215-11C5FA61E9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143424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FD2BFA-7097-86EF-3AED-6AD1FE39E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3894DDA-4414-92AE-2ED5-AE3CB5722E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AC75F79-64F8-AED9-95AB-E40221F9D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94D0211-A1B7-24E3-B42C-7FDF1B7577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40964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2B59B-F7B5-2D96-F59F-25ABF9AC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EB8D13D-C0AA-65BF-ACFC-6708D4A90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88422DD-CCED-B978-3422-A9B17B7367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1D06B32-81B5-D860-E1DE-C11CDCD39E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613266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8C97F-C60E-B229-3AE5-CF1DB6F11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A15C477-1618-3F63-A55F-CAA396A7A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33E3E99-2CBC-009F-A83D-88CC59BB4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D65B210-9A51-F271-DE59-81D9656534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96794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12AC9-1CEC-D4A9-7BB0-1001372F0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E7995D2-421A-8C37-F7E8-6C701B8B8E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03B5366-0AF7-26C4-92A7-E1619FF6FB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F232B43-3C33-B38F-AFAC-CE44B4FCDA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285FFF-AA8A-422F-901E-D94C39C8B224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2248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7640DE-EF5A-BF63-2E51-3F00BBC82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06BF010-56F3-6C41-3ED4-6C6CD7B86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7B884DF-EF45-3ED4-7FED-EDBF9117A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C4C811A-9D34-4AB3-450F-9DA4CF3A4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5F95F7-3C7B-946C-366A-49B040936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90099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C9DE6E-BF0C-E652-3C51-49F5B25CC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BD04C-625F-583F-FC5B-0B03DB01F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CEC05C8-58D0-6801-9E5F-F0B2E40CE1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83DC1A-F7D9-17B6-DD6B-F8340D3E5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D60615A-9ABF-3407-3DD7-7F2A4626C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00492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CD798C-EF3C-75D7-DF34-7D4C4274B3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B5D251F-D0F0-354A-F45F-27D2789AA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ABC9AAB-A900-C82B-BE85-C8F402303E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DCAC175-7E84-92B8-4A79-9CBAFDBDA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42F1AF-BA78-B1B5-EC60-FA0ADA414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76038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5D3BAE-9F26-0518-54AF-3E926C2C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88A59CD-AFDE-1619-A608-CDEC2CDC6B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9CCD51C-A4E4-C6A4-BBD0-93E4CAEB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FF563BB-C9D2-279E-8859-0E3182017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014AD24-34FC-A14B-6E80-F6F63915C0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AA1E899-44E6-3273-3EE1-32945AC39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5246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DDA15D-25C4-382E-22A7-81D0B791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8AE567-062B-49F4-8619-63F87A397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6420789-F3FF-21AF-9D54-CD59B6751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71177D8-E0EE-7BD1-068F-C81B122CD1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F8A0FCD-E226-F963-4F76-8996CB9B82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6CDC16D-2FED-2D12-3D08-D6F077A70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ECFB62D-A51A-2454-4405-88CE76E5A3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8D74924C-DB70-2D03-5E1D-0C3DDF4C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74069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C94F3FD-BF5F-164B-AAF7-98EC5A3E3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937ECC9-AC2F-85D7-F049-98C88DF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C12025-51E5-6BB4-4D99-1EAD8C36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C52ADA6-2C6B-24C3-2868-EF4353B0B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1004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F36E515E-F511-61BB-3E91-09426519D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4634D0-27C9-95EF-3E84-BE4C1A27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4E3C35-4075-3D27-0B82-3A6CC319D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19444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10776-5E34-0607-D69E-3EF7EC6E4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1EEC768-6F4D-C19A-89E0-6A794544B8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435944C-60F6-AF2F-105B-501D425493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F41D29-352F-5057-8D57-E152E682A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5E0DC31-00EB-A127-3B45-719984479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D5EF0AB-281F-DE3B-5B75-1EBA3593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262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2A6A52-845E-5021-3313-F13CB32E9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993D278-CC78-61F0-4FC8-993DFC68C9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383A53A-9C6B-26A9-6123-57B769CDC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F633E21-3097-61E0-8610-BEF2D3E5D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0A8BFE-DEEE-886A-DD29-0927196B8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C076B-F3BC-8A46-DF79-E64A3019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6401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063C6-B53F-825E-64CB-3015916A2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2F3F1A8-F0E5-5999-2539-3162C3A5E2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91299C-664F-B1DC-502B-AACAA5B12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DFE2D33-E41C-7A2D-954D-B7377B44C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ED44EEB-61E8-1F17-C276-395DCEB35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67828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9C72534-2A4D-909F-7175-F0B6627FC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D40B-7F62-DB1B-BC75-257EF759F4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93092A-D1B6-2D0C-7F7C-F9B47D515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02A3C-7F5D-464A-B794-A5CF9734955A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CF58730-2AEA-FFBD-4EB1-6446AC442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009B5FE-8900-CDE3-A45F-9CE5E24B3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532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D114144-76B6-9D89-6BFE-9EA6B5100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6FF20E2-1DD1-B589-89E2-410C47E23A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8F1B9EB-6037-B051-58F5-0FB73F7BA5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302A3C-7F5D-464A-B794-A5CF9734955A}" type="datetimeFigureOut">
              <a:rPr lang="es-ES" smtClean="0"/>
              <a:t>28/05/2025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EC72BF2-7511-AB6D-DE0B-5A6923A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CF6153C-F5E0-E3A2-16A0-F50E14478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0A005-AA7D-412A-A4BC-0E346569C84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73685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microsoft.com/office/2018/10/relationships/comments" Target="../comments/modernComment_14F_36DED8AD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96_9A4652F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tiff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14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88_48F9BB59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tif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tif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tif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tif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tif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07D1276C-2F08-785C-87EC-6B990140D14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5735636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b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99B278-9C5A-620C-C671-715C2AA7A6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2404"/>
            <a:ext cx="9144000" cy="3188380"/>
          </a:xfrm>
        </p:spPr>
        <p:txBody>
          <a:bodyPr>
            <a:normAutofit/>
          </a:bodyPr>
          <a:lstStyle/>
          <a:p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 </a:t>
            </a:r>
            <a:r>
              <a:rPr lang="es-ES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analyses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- </a:t>
            </a:r>
            <a:b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</a:br>
            <a:r>
              <a:rPr lang="es-ES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1217E08-3399-DFA2-1E05-836FE1C2F420}"/>
              </a:ext>
            </a:extLst>
          </p:cNvPr>
          <p:cNvSpPr txBox="1">
            <a:spLocks/>
          </p:cNvSpPr>
          <p:nvPr/>
        </p:nvSpPr>
        <p:spPr>
          <a:xfrm>
            <a:off x="1" y="5735636"/>
            <a:ext cx="12192000" cy="11223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dirty="0" err="1">
                <a:latin typeface="Helvetica"/>
                <a:cs typeface="Helvetica"/>
              </a:rPr>
              <a:t>Chapter</a:t>
            </a:r>
            <a:r>
              <a:rPr lang="es-ES" sz="3200" dirty="0">
                <a:latin typeface="Helvetica"/>
                <a:cs typeface="Helvetica"/>
              </a:rPr>
              <a:t> 2: </a:t>
            </a:r>
            <a:r>
              <a:rPr lang="es-ES" sz="3200" dirty="0" err="1">
                <a:latin typeface="Helvetica"/>
                <a:cs typeface="Helvetica"/>
              </a:rPr>
              <a:t>assessing</a:t>
            </a:r>
            <a:r>
              <a:rPr lang="es-ES" sz="3200" dirty="0">
                <a:latin typeface="Helvetica"/>
                <a:cs typeface="Helvetica"/>
              </a:rPr>
              <a:t> individual </a:t>
            </a:r>
            <a:r>
              <a:rPr lang="es-ES" sz="3200" dirty="0" err="1">
                <a:latin typeface="Helvetica"/>
                <a:cs typeface="Helvetica"/>
              </a:rPr>
              <a:t>factors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determining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drought</a:t>
            </a:r>
            <a:r>
              <a:rPr lang="es-ES" sz="3200" dirty="0">
                <a:latin typeface="Helvetica"/>
                <a:cs typeface="Helvetica"/>
              </a:rPr>
              <a:t> </a:t>
            </a:r>
            <a:r>
              <a:rPr lang="es-ES" sz="3200" dirty="0" err="1">
                <a:latin typeface="Helvetica"/>
                <a:cs typeface="Helvetica"/>
              </a:rPr>
              <a:t>vulnerability</a:t>
            </a:r>
            <a:endParaRPr lang="es-ES" sz="3200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664213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E44D2-92AB-56BE-5401-B5857B4B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F0E37F81-4996-ACF1-D504-516BF4508F0D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Morphological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0317BCC4-3F71-57F6-B195-00F0C0F72EB3}"/>
              </a:ext>
            </a:extLst>
          </p:cNvPr>
          <p:cNvSpPr txBox="1">
            <a:spLocks/>
          </p:cNvSpPr>
          <p:nvPr/>
        </p:nvSpPr>
        <p:spPr>
          <a:xfrm>
            <a:off x="873964" y="1771781"/>
            <a:ext cx="940058" cy="2552400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F244384-3004-6C6E-7451-A7238A5D0302}"/>
              </a:ext>
            </a:extLst>
          </p:cNvPr>
          <p:cNvSpPr txBox="1">
            <a:spLocks/>
          </p:cNvSpPr>
          <p:nvPr/>
        </p:nvSpPr>
        <p:spPr>
          <a:xfrm>
            <a:off x="4282027" y="1771781"/>
            <a:ext cx="940058" cy="2552401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BED42503-2FD0-622B-25DC-67609D2A8C2B}"/>
              </a:ext>
            </a:extLst>
          </p:cNvPr>
          <p:cNvSpPr txBox="1">
            <a:spLocks/>
          </p:cNvSpPr>
          <p:nvPr/>
        </p:nvSpPr>
        <p:spPr>
          <a:xfrm>
            <a:off x="2151683" y="1838732"/>
            <a:ext cx="1789618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Tree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endParaRPr lang="es-ES" sz="2400" b="1" dirty="0"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2400" dirty="0">
                <a:latin typeface="Helvetica" panose="020B0604020202020204"/>
                <a:cs typeface="Helvetica" panose="020B0604020202020204"/>
              </a:rPr>
              <a:t>BAI,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height</a:t>
            </a:r>
            <a:r>
              <a:rPr lang="es-ES" sz="2400" dirty="0">
                <a:latin typeface="Helvetica" panose="020B0604020202020204"/>
                <a:cs typeface="Helvetica" panose="020B0604020202020204"/>
              </a:rPr>
              <a:t>, </a:t>
            </a:r>
            <a:r>
              <a:rPr lang="es-ES" sz="2400" dirty="0" err="1">
                <a:latin typeface="Helvetica" panose="020B0604020202020204"/>
                <a:cs typeface="Helvetica" panose="020B0604020202020204"/>
              </a:rPr>
              <a:t>dbh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20DB9558-B2BF-6BD6-E1CC-3565899D0CB3}"/>
              </a:ext>
            </a:extLst>
          </p:cNvPr>
          <p:cNvSpPr txBox="1">
            <a:spLocks/>
          </p:cNvSpPr>
          <p:nvPr/>
        </p:nvSpPr>
        <p:spPr>
          <a:xfrm>
            <a:off x="2313887" y="2886569"/>
            <a:ext cx="1462158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latin typeface="Helvetica"/>
                <a:cs typeface="Helvetica"/>
              </a:rPr>
              <a:t>SLA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EC12320A-0D50-B954-DBB2-1EB8131F8B5E}"/>
              </a:ext>
            </a:extLst>
          </p:cNvPr>
          <p:cNvSpPr txBox="1">
            <a:spLocks/>
          </p:cNvSpPr>
          <p:nvPr/>
        </p:nvSpPr>
        <p:spPr>
          <a:xfrm>
            <a:off x="2160035" y="3669011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err="1">
                <a:latin typeface="Helvetica"/>
                <a:cs typeface="Helvetica"/>
              </a:rPr>
              <a:t>defoliation</a:t>
            </a:r>
            <a:endParaRPr lang="es-ES" sz="240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BF010CEC-27C0-43E8-F13F-4CD98F2A970C}"/>
              </a:ext>
            </a:extLst>
          </p:cNvPr>
          <p:cNvSpPr txBox="1">
            <a:spLocks/>
          </p:cNvSpPr>
          <p:nvPr/>
        </p:nvSpPr>
        <p:spPr>
          <a:xfrm>
            <a:off x="873963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69F6C2EF-A2B4-CADC-72E6-1ED344B9E1A7}"/>
              </a:ext>
            </a:extLst>
          </p:cNvPr>
          <p:cNvSpPr txBox="1">
            <a:spLocks/>
          </p:cNvSpPr>
          <p:nvPr/>
        </p:nvSpPr>
        <p:spPr>
          <a:xfrm>
            <a:off x="5986468" y="1933916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root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system</a:t>
            </a:r>
            <a:r>
              <a:rPr lang="es-ES" sz="2400" dirty="0">
                <a:latin typeface="Helvetica"/>
                <a:cs typeface="Helvetica"/>
              </a:rPr>
              <a:t>, reserves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785E35DF-EB1B-CC2D-77A0-8849F5A8E907}"/>
              </a:ext>
            </a:extLst>
          </p:cNvPr>
          <p:cNvSpPr txBox="1">
            <a:spLocks/>
          </p:cNvSpPr>
          <p:nvPr/>
        </p:nvSpPr>
        <p:spPr>
          <a:xfrm>
            <a:off x="4282028" y="1977572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8BE86B80-B33B-526D-DC67-62819F92DADC}"/>
              </a:ext>
            </a:extLst>
          </p:cNvPr>
          <p:cNvSpPr txBox="1">
            <a:spLocks/>
          </p:cNvSpPr>
          <p:nvPr/>
        </p:nvSpPr>
        <p:spPr>
          <a:xfrm>
            <a:off x="873962" y="2809267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C6519D60-4367-FE7F-E866-77BB4CC375F6}"/>
              </a:ext>
            </a:extLst>
          </p:cNvPr>
          <p:cNvSpPr txBox="1">
            <a:spLocks/>
          </p:cNvSpPr>
          <p:nvPr/>
        </p:nvSpPr>
        <p:spPr>
          <a:xfrm>
            <a:off x="873962" y="367254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8476C887-83B4-0CA1-ED02-27A7FBBFAC2A}"/>
              </a:ext>
            </a:extLst>
          </p:cNvPr>
          <p:cNvSpPr txBox="1">
            <a:spLocks/>
          </p:cNvSpPr>
          <p:nvPr/>
        </p:nvSpPr>
        <p:spPr>
          <a:xfrm>
            <a:off x="4278968" y="280995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0E22DB08-9A70-46F7-386A-B2D485C5FF5A}"/>
              </a:ext>
            </a:extLst>
          </p:cNvPr>
          <p:cNvSpPr txBox="1">
            <a:spLocks/>
          </p:cNvSpPr>
          <p:nvPr/>
        </p:nvSpPr>
        <p:spPr>
          <a:xfrm>
            <a:off x="4278967" y="3669011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411AD154-DC3D-C24C-2F95-DD8D08C7B984}"/>
              </a:ext>
            </a:extLst>
          </p:cNvPr>
          <p:cNvSpPr txBox="1">
            <a:spLocks/>
          </p:cNvSpPr>
          <p:nvPr/>
        </p:nvSpPr>
        <p:spPr>
          <a:xfrm>
            <a:off x="870903" y="4533220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0A7732EB-AC92-D301-1C71-C0F3EA3A8C5B}"/>
              </a:ext>
            </a:extLst>
          </p:cNvPr>
          <p:cNvSpPr txBox="1">
            <a:spLocks/>
          </p:cNvSpPr>
          <p:nvPr/>
        </p:nvSpPr>
        <p:spPr>
          <a:xfrm>
            <a:off x="5986468" y="2649744"/>
            <a:ext cx="4855701" cy="87217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Cell </a:t>
            </a:r>
            <a:r>
              <a:rPr lang="es-ES" sz="2400" dirty="0" err="1">
                <a:latin typeface="Helvetica"/>
                <a:cs typeface="Helvetica"/>
              </a:rPr>
              <a:t>turgor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photosynthesis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C3B40292-1AF1-2640-EC87-6CC71A2C465D}"/>
              </a:ext>
            </a:extLst>
          </p:cNvPr>
          <p:cNvSpPr txBox="1">
            <a:spLocks/>
          </p:cNvSpPr>
          <p:nvPr/>
        </p:nvSpPr>
        <p:spPr>
          <a:xfrm>
            <a:off x="5982999" y="360827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ABA, ROS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56DACEA6-21E5-9D40-24FB-EC379237380F}"/>
              </a:ext>
            </a:extLst>
          </p:cNvPr>
          <p:cNvSpPr txBox="1">
            <a:spLocks/>
          </p:cNvSpPr>
          <p:nvPr/>
        </p:nvSpPr>
        <p:spPr>
          <a:xfrm>
            <a:off x="708632" y="4598254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CDC21DF1-4AEF-AD13-6C74-3B4CEA35CAA6}"/>
              </a:ext>
            </a:extLst>
          </p:cNvPr>
          <p:cNvSpPr txBox="1">
            <a:spLocks/>
          </p:cNvSpPr>
          <p:nvPr/>
        </p:nvSpPr>
        <p:spPr>
          <a:xfrm>
            <a:off x="4213149" y="4598255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9EE9E40-6950-4753-742B-41B77D6E1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D6C056-DBDC-9051-F928-683EDD585946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66045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A73EF-7B15-F991-0F51-AB7AB29CE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Marcador de contenido 2">
            <a:extLst>
              <a:ext uri="{FF2B5EF4-FFF2-40B4-BE49-F238E27FC236}">
                <a16:creationId xmlns:a16="http://schemas.microsoft.com/office/drawing/2014/main" id="{69BF10B0-3121-99E5-815A-1C06E91AFCD7}"/>
              </a:ext>
            </a:extLst>
          </p:cNvPr>
          <p:cNvSpPr txBox="1">
            <a:spLocks/>
          </p:cNvSpPr>
          <p:nvPr/>
        </p:nvSpPr>
        <p:spPr>
          <a:xfrm>
            <a:off x="873964" y="999063"/>
            <a:ext cx="10733318" cy="577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b="1" dirty="0" err="1">
                <a:latin typeface="Helvetica"/>
                <a:cs typeface="Helvetica"/>
              </a:rPr>
              <a:t>Physiological</a:t>
            </a:r>
            <a:r>
              <a:rPr lang="es-ES" b="1" dirty="0">
                <a:latin typeface="Helvetica"/>
                <a:cs typeface="Helvetica"/>
              </a:rPr>
              <a:t> </a:t>
            </a:r>
            <a:r>
              <a:rPr lang="es-ES" b="1" dirty="0" err="1">
                <a:latin typeface="Helvetica"/>
                <a:cs typeface="Helvetica"/>
              </a:rPr>
              <a:t>traits</a:t>
            </a:r>
            <a:endParaRPr lang="es-ES" dirty="0"/>
          </a:p>
          <a:p>
            <a:pPr marL="0" indent="0">
              <a:buClr>
                <a:srgbClr val="218317"/>
              </a:buClr>
              <a:buNone/>
            </a:pPr>
            <a:endParaRPr lang="es-ES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59" name="Marcador de contenido 2">
            <a:extLst>
              <a:ext uri="{FF2B5EF4-FFF2-40B4-BE49-F238E27FC236}">
                <a16:creationId xmlns:a16="http://schemas.microsoft.com/office/drawing/2014/main" id="{A631800C-35AA-3E52-2E97-DBC89B49B27C}"/>
              </a:ext>
            </a:extLst>
          </p:cNvPr>
          <p:cNvSpPr txBox="1">
            <a:spLocks/>
          </p:cNvSpPr>
          <p:nvPr/>
        </p:nvSpPr>
        <p:spPr>
          <a:xfrm>
            <a:off x="873964" y="1766109"/>
            <a:ext cx="940058" cy="4092828"/>
          </a:xfrm>
          <a:prstGeom prst="rect">
            <a:avLst/>
          </a:prstGeom>
          <a:solidFill>
            <a:srgbClr val="C00000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DBEB9F0-FAF6-9C8D-E5AA-1B0C26144440}"/>
              </a:ext>
            </a:extLst>
          </p:cNvPr>
          <p:cNvSpPr txBox="1">
            <a:spLocks/>
          </p:cNvSpPr>
          <p:nvPr/>
        </p:nvSpPr>
        <p:spPr>
          <a:xfrm>
            <a:off x="4282027" y="1766109"/>
            <a:ext cx="940058" cy="4092828"/>
          </a:xfrm>
          <a:prstGeom prst="rect">
            <a:avLst/>
          </a:prstGeom>
          <a:solidFill>
            <a:srgbClr val="2F5597"/>
          </a:solidFill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400" b="1">
              <a:solidFill>
                <a:schemeClr val="bg1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endParaRPr lang="es-ES" sz="20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4FB3DCF9-52CA-B7EF-7848-E7A37B38A908}"/>
              </a:ext>
            </a:extLst>
          </p:cNvPr>
          <p:cNvSpPr txBox="1">
            <a:spLocks/>
          </p:cNvSpPr>
          <p:nvPr/>
        </p:nvSpPr>
        <p:spPr>
          <a:xfrm>
            <a:off x="2041437" y="1928244"/>
            <a:ext cx="2061466" cy="9874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Chlorophylls</a:t>
            </a:r>
            <a:endParaRPr lang="es-ES" sz="2400" b="1" dirty="0">
              <a:latin typeface="Helvetica" panose="020B0604020202020204"/>
              <a:cs typeface="Helvetica" panose="020B0604020202020204"/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Marcador de contenido 2">
            <a:extLst>
              <a:ext uri="{FF2B5EF4-FFF2-40B4-BE49-F238E27FC236}">
                <a16:creationId xmlns:a16="http://schemas.microsoft.com/office/drawing/2014/main" id="{395DAA7E-9761-75A8-6F4F-8AEBC6C097D3}"/>
              </a:ext>
            </a:extLst>
          </p:cNvPr>
          <p:cNvSpPr txBox="1">
            <a:spLocks/>
          </p:cNvSpPr>
          <p:nvPr/>
        </p:nvSpPr>
        <p:spPr>
          <a:xfrm>
            <a:off x="2122539" y="2785616"/>
            <a:ext cx="18992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 err="1">
                <a:latin typeface="Helvetica"/>
                <a:cs typeface="Helvetica"/>
              </a:rPr>
              <a:t>Carotenoids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Marcador de contenido 2">
            <a:extLst>
              <a:ext uri="{FF2B5EF4-FFF2-40B4-BE49-F238E27FC236}">
                <a16:creationId xmlns:a16="http://schemas.microsoft.com/office/drawing/2014/main" id="{840D9016-DF94-2920-15C7-B6DAF9346E8A}"/>
              </a:ext>
            </a:extLst>
          </p:cNvPr>
          <p:cNvSpPr txBox="1">
            <a:spLocks/>
          </p:cNvSpPr>
          <p:nvPr/>
        </p:nvSpPr>
        <p:spPr>
          <a:xfrm>
            <a:off x="2160035" y="3663339"/>
            <a:ext cx="176986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LWC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F597052C-6720-35C2-9334-749391532AC8}"/>
              </a:ext>
            </a:extLst>
          </p:cNvPr>
          <p:cNvSpPr txBox="1">
            <a:spLocks/>
          </p:cNvSpPr>
          <p:nvPr/>
        </p:nvSpPr>
        <p:spPr>
          <a:xfrm>
            <a:off x="873963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C1B6F6CD-EEF8-AAB6-2FD3-B80317C88413}"/>
              </a:ext>
            </a:extLst>
          </p:cNvPr>
          <p:cNvSpPr txBox="1">
            <a:spLocks/>
          </p:cNvSpPr>
          <p:nvPr/>
        </p:nvSpPr>
        <p:spPr>
          <a:xfrm>
            <a:off x="5986468" y="1928244"/>
            <a:ext cx="5331566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Synthesis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downregulation</a:t>
            </a:r>
            <a:r>
              <a:rPr lang="es-ES" sz="2400" dirty="0">
                <a:latin typeface="Helvetica"/>
                <a:cs typeface="Helvetica"/>
              </a:rPr>
              <a:t>, ROS</a:t>
            </a:r>
            <a:endParaRPr lang="es-ES" sz="2400" dirty="0"/>
          </a:p>
          <a:p>
            <a:pPr marL="0" indent="0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9CAEA58C-9201-03E7-3446-13B1B0B0534A}"/>
              </a:ext>
            </a:extLst>
          </p:cNvPr>
          <p:cNvSpPr txBox="1">
            <a:spLocks/>
          </p:cNvSpPr>
          <p:nvPr/>
        </p:nvSpPr>
        <p:spPr>
          <a:xfrm>
            <a:off x="4282028" y="1971900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D847C064-1863-310D-57E5-8740E8338115}"/>
              </a:ext>
            </a:extLst>
          </p:cNvPr>
          <p:cNvSpPr txBox="1">
            <a:spLocks/>
          </p:cNvSpPr>
          <p:nvPr/>
        </p:nvSpPr>
        <p:spPr>
          <a:xfrm>
            <a:off x="873962" y="2803595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A054AE69-A430-DCA1-1271-E3C76BFAFFBE}"/>
              </a:ext>
            </a:extLst>
          </p:cNvPr>
          <p:cNvSpPr txBox="1">
            <a:spLocks/>
          </p:cNvSpPr>
          <p:nvPr/>
        </p:nvSpPr>
        <p:spPr>
          <a:xfrm>
            <a:off x="873962" y="36668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9" name="Marcador de contenido 2">
            <a:extLst>
              <a:ext uri="{FF2B5EF4-FFF2-40B4-BE49-F238E27FC236}">
                <a16:creationId xmlns:a16="http://schemas.microsoft.com/office/drawing/2014/main" id="{62DBD870-7D82-F95E-8E48-CF1B3A28BFAA}"/>
              </a:ext>
            </a:extLst>
          </p:cNvPr>
          <p:cNvSpPr txBox="1">
            <a:spLocks/>
          </p:cNvSpPr>
          <p:nvPr/>
        </p:nvSpPr>
        <p:spPr>
          <a:xfrm>
            <a:off x="4278968" y="280427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0" name="Marcador de contenido 2">
            <a:extLst>
              <a:ext uri="{FF2B5EF4-FFF2-40B4-BE49-F238E27FC236}">
                <a16:creationId xmlns:a16="http://schemas.microsoft.com/office/drawing/2014/main" id="{6B6AD282-56F2-C16E-8A86-31C17E962A34}"/>
              </a:ext>
            </a:extLst>
          </p:cNvPr>
          <p:cNvSpPr txBox="1">
            <a:spLocks/>
          </p:cNvSpPr>
          <p:nvPr/>
        </p:nvSpPr>
        <p:spPr>
          <a:xfrm>
            <a:off x="4278967" y="366333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 </a:t>
            </a:r>
            <a:endParaRPr lang="es-ES" sz="2400" b="1" dirty="0">
              <a:solidFill>
                <a:schemeClr val="bg1"/>
              </a:solidFill>
            </a:endParaRPr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3" name="Marcador de contenido 2">
            <a:extLst>
              <a:ext uri="{FF2B5EF4-FFF2-40B4-BE49-F238E27FC236}">
                <a16:creationId xmlns:a16="http://schemas.microsoft.com/office/drawing/2014/main" id="{B0896316-86B6-BC4A-4EAE-D653B4EC80FD}"/>
              </a:ext>
            </a:extLst>
          </p:cNvPr>
          <p:cNvSpPr txBox="1">
            <a:spLocks/>
          </p:cNvSpPr>
          <p:nvPr/>
        </p:nvSpPr>
        <p:spPr>
          <a:xfrm>
            <a:off x="870903" y="4527548"/>
            <a:ext cx="940060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5" name="Marcador de contenido 2">
            <a:extLst>
              <a:ext uri="{FF2B5EF4-FFF2-40B4-BE49-F238E27FC236}">
                <a16:creationId xmlns:a16="http://schemas.microsoft.com/office/drawing/2014/main" id="{77F0FC36-3F47-9F8B-A741-057F9E7F9F01}"/>
              </a:ext>
            </a:extLst>
          </p:cNvPr>
          <p:cNvSpPr txBox="1">
            <a:spLocks/>
          </p:cNvSpPr>
          <p:nvPr/>
        </p:nvSpPr>
        <p:spPr>
          <a:xfrm>
            <a:off x="5982998" y="2802389"/>
            <a:ext cx="4855701" cy="61132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Photoprotection</a:t>
            </a:r>
            <a:endParaRPr lang="es-ES" sz="2400" dirty="0"/>
          </a:p>
        </p:txBody>
      </p:sp>
      <p:sp>
        <p:nvSpPr>
          <p:cNvPr id="26" name="Marcador de contenido 2">
            <a:extLst>
              <a:ext uri="{FF2B5EF4-FFF2-40B4-BE49-F238E27FC236}">
                <a16:creationId xmlns:a16="http://schemas.microsoft.com/office/drawing/2014/main" id="{95DD16AE-215B-780B-3EC4-D73EB5EDBE76}"/>
              </a:ext>
            </a:extLst>
          </p:cNvPr>
          <p:cNvSpPr txBox="1">
            <a:spLocks/>
          </p:cNvSpPr>
          <p:nvPr/>
        </p:nvSpPr>
        <p:spPr>
          <a:xfrm>
            <a:off x="5982999" y="3602604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Osmoregulation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permeability</a:t>
            </a:r>
            <a:endParaRPr lang="es-ES" dirty="0"/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49443649-11F5-2423-5F48-0E230F9D37B9}"/>
              </a:ext>
            </a:extLst>
          </p:cNvPr>
          <p:cNvSpPr txBox="1">
            <a:spLocks/>
          </p:cNvSpPr>
          <p:nvPr/>
        </p:nvSpPr>
        <p:spPr>
          <a:xfrm>
            <a:off x="708633" y="5888028"/>
            <a:ext cx="1264601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 err="1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endParaRPr lang="es-ES" sz="1800" dirty="0">
              <a:solidFill>
                <a:srgbClr val="C0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C0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30" name="Marcador de contenido 2">
            <a:extLst>
              <a:ext uri="{FF2B5EF4-FFF2-40B4-BE49-F238E27FC236}">
                <a16:creationId xmlns:a16="http://schemas.microsoft.com/office/drawing/2014/main" id="{B2984DA5-EF84-5834-5BF9-C6E7D1B8DA01}"/>
              </a:ext>
            </a:extLst>
          </p:cNvPr>
          <p:cNvSpPr txBox="1">
            <a:spLocks/>
          </p:cNvSpPr>
          <p:nvPr/>
        </p:nvSpPr>
        <p:spPr>
          <a:xfrm>
            <a:off x="4213150" y="5888029"/>
            <a:ext cx="1264601" cy="804154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/>
                <a:cs typeface="Helvetica"/>
              </a:rPr>
              <a:t>Non-</a:t>
            </a:r>
            <a:r>
              <a:rPr lang="es-ES" sz="1800" dirty="0" err="1">
                <a:solidFill>
                  <a:srgbClr val="2F5597"/>
                </a:solidFill>
                <a:latin typeface="Helvetica"/>
                <a:cs typeface="Helvetica"/>
              </a:rPr>
              <a:t>declining</a:t>
            </a:r>
            <a:endParaRPr lang="es-ES" sz="1800" dirty="0">
              <a:solidFill>
                <a:srgbClr val="2F5597"/>
              </a:solidFill>
              <a:latin typeface="Helvetica"/>
              <a:cs typeface="Helvetica"/>
            </a:endParaRPr>
          </a:p>
          <a:p>
            <a:pPr marL="0" indent="0" algn="ctr">
              <a:buNone/>
            </a:pPr>
            <a:r>
              <a:rPr lang="es-ES" sz="1800" dirty="0">
                <a:solidFill>
                  <a:srgbClr val="2F559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sites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80853AFE-AD18-4D26-B7CF-A3357A42E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 fontScale="90000"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Complementary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strategies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cope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ED99FAD5-D3A5-BA29-3ADA-AF5865541F99}"/>
              </a:ext>
            </a:extLst>
          </p:cNvPr>
          <p:cNvSpPr txBox="1">
            <a:spLocks/>
          </p:cNvSpPr>
          <p:nvPr/>
        </p:nvSpPr>
        <p:spPr>
          <a:xfrm>
            <a:off x="2041437" y="4541062"/>
            <a:ext cx="1958963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13</a:t>
            </a:r>
            <a:r>
              <a:rPr lang="es-ES" sz="2400" b="1" dirty="0">
                <a:latin typeface="Helvetica"/>
                <a:cs typeface="Helvetica"/>
              </a:rPr>
              <a:t>C, </a:t>
            </a:r>
            <a:r>
              <a:rPr lang="el-GR" sz="2400" b="1" dirty="0">
                <a:latin typeface="Helvetica"/>
                <a:cs typeface="Helvetica"/>
              </a:rPr>
              <a:t>δ</a:t>
            </a:r>
            <a:r>
              <a:rPr lang="es-ES" sz="2400" b="1" baseline="30000" dirty="0">
                <a:latin typeface="Helvetica"/>
                <a:cs typeface="Helvetica"/>
              </a:rPr>
              <a:t>18</a:t>
            </a:r>
            <a:r>
              <a:rPr lang="es-ES" sz="2400" b="1" dirty="0">
                <a:latin typeface="Helvetica"/>
                <a:cs typeface="Helvetica"/>
              </a:rPr>
              <a:t>O</a:t>
            </a:r>
            <a:endParaRPr lang="es-ES" sz="2400" dirty="0"/>
          </a:p>
          <a:p>
            <a:pPr marL="0" indent="0" algn="ctr">
              <a:buNone/>
            </a:pP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0E6848E7-A7B8-6FDA-CFD6-3CF339C5E9BC}"/>
              </a:ext>
            </a:extLst>
          </p:cNvPr>
          <p:cNvSpPr txBox="1">
            <a:spLocks/>
          </p:cNvSpPr>
          <p:nvPr/>
        </p:nvSpPr>
        <p:spPr>
          <a:xfrm>
            <a:off x="2196008" y="5331535"/>
            <a:ext cx="1700972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s-ES" sz="2400" b="1" dirty="0">
                <a:latin typeface="Helvetica"/>
                <a:cs typeface="Helvetica"/>
              </a:rPr>
              <a:t>N </a:t>
            </a:r>
            <a:r>
              <a:rPr lang="es-ES" sz="2400" b="1" dirty="0" err="1">
                <a:latin typeface="Helvetica"/>
                <a:cs typeface="Helvetica"/>
              </a:rPr>
              <a:t>content</a:t>
            </a:r>
            <a:endParaRPr lang="es-ES" sz="2400" dirty="0"/>
          </a:p>
          <a:p>
            <a:pPr marL="0" indent="0" algn="ctr">
              <a:buClr>
                <a:srgbClr val="218317"/>
              </a:buClr>
              <a:buNone/>
            </a:pP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21258C87-8ACE-9B49-5E5F-B13BD5234101}"/>
              </a:ext>
            </a:extLst>
          </p:cNvPr>
          <p:cNvSpPr txBox="1">
            <a:spLocks/>
          </p:cNvSpPr>
          <p:nvPr/>
        </p:nvSpPr>
        <p:spPr>
          <a:xfrm>
            <a:off x="5983000" y="4460053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 err="1">
                <a:latin typeface="Helvetica"/>
                <a:cs typeface="Helvetica"/>
              </a:rPr>
              <a:t>Photosynthesis</a:t>
            </a:r>
            <a:r>
              <a:rPr lang="es-ES" sz="2400" dirty="0">
                <a:latin typeface="Helvetica"/>
                <a:cs typeface="Helvetica"/>
              </a:rPr>
              <a:t>, </a:t>
            </a:r>
            <a:r>
              <a:rPr lang="es-ES" sz="2400" dirty="0" err="1">
                <a:latin typeface="Helvetica"/>
                <a:cs typeface="Helvetica"/>
              </a:rPr>
              <a:t>transpiration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5B89CA3D-8252-2207-EA83-52DC580746C9}"/>
              </a:ext>
            </a:extLst>
          </p:cNvPr>
          <p:cNvSpPr txBox="1">
            <a:spLocks/>
          </p:cNvSpPr>
          <p:nvPr/>
        </p:nvSpPr>
        <p:spPr>
          <a:xfrm>
            <a:off x="5982998" y="5343166"/>
            <a:ext cx="4855701" cy="5448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dirty="0">
                <a:latin typeface="Helvetica"/>
                <a:cs typeface="Helvetica"/>
              </a:rPr>
              <a:t>N </a:t>
            </a:r>
            <a:r>
              <a:rPr lang="es-ES" sz="2400" dirty="0" err="1">
                <a:latin typeface="Helvetica"/>
                <a:cs typeface="Helvetica"/>
              </a:rPr>
              <a:t>uptake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Marcador de contenido 2">
            <a:extLst>
              <a:ext uri="{FF2B5EF4-FFF2-40B4-BE49-F238E27FC236}">
                <a16:creationId xmlns:a16="http://schemas.microsoft.com/office/drawing/2014/main" id="{DBB040C6-5CA6-1B1A-B9B4-CC8C03B8C199}"/>
              </a:ext>
            </a:extLst>
          </p:cNvPr>
          <p:cNvSpPr txBox="1">
            <a:spLocks/>
          </p:cNvSpPr>
          <p:nvPr/>
        </p:nvSpPr>
        <p:spPr>
          <a:xfrm>
            <a:off x="870906" y="4493208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5" name="Marcador de contenido 2">
            <a:extLst>
              <a:ext uri="{FF2B5EF4-FFF2-40B4-BE49-F238E27FC236}">
                <a16:creationId xmlns:a16="http://schemas.microsoft.com/office/drawing/2014/main" id="{09A6B9B2-EA2C-0B8F-A2E5-93E240421E47}"/>
              </a:ext>
            </a:extLst>
          </p:cNvPr>
          <p:cNvSpPr txBox="1">
            <a:spLocks/>
          </p:cNvSpPr>
          <p:nvPr/>
        </p:nvSpPr>
        <p:spPr>
          <a:xfrm>
            <a:off x="861609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1" name="Marcador de contenido 2">
            <a:extLst>
              <a:ext uri="{FF2B5EF4-FFF2-40B4-BE49-F238E27FC236}">
                <a16:creationId xmlns:a16="http://schemas.microsoft.com/office/drawing/2014/main" id="{374E0B43-8556-07F1-7A2F-C057939BEDC8}"/>
              </a:ext>
            </a:extLst>
          </p:cNvPr>
          <p:cNvSpPr txBox="1">
            <a:spLocks/>
          </p:cNvSpPr>
          <p:nvPr/>
        </p:nvSpPr>
        <p:spPr>
          <a:xfrm>
            <a:off x="4282026" y="5289269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↑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2" name="Marcador de contenido 2">
            <a:extLst>
              <a:ext uri="{FF2B5EF4-FFF2-40B4-BE49-F238E27FC236}">
                <a16:creationId xmlns:a16="http://schemas.microsoft.com/office/drawing/2014/main" id="{0CA874FA-BF2B-5E28-2378-32BB72FBE513}"/>
              </a:ext>
            </a:extLst>
          </p:cNvPr>
          <p:cNvSpPr txBox="1">
            <a:spLocks/>
          </p:cNvSpPr>
          <p:nvPr/>
        </p:nvSpPr>
        <p:spPr>
          <a:xfrm>
            <a:off x="4278966" y="4496456"/>
            <a:ext cx="940057" cy="39852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rgbClr val="218317"/>
              </a:buClr>
              <a:buNone/>
            </a:pPr>
            <a:r>
              <a:rPr lang="es-ES" sz="2400" b="1" dirty="0">
                <a:solidFill>
                  <a:schemeClr val="bg1"/>
                </a:solidFill>
                <a:latin typeface="Helvetica"/>
                <a:cs typeface="Helvetica"/>
              </a:rPr>
              <a:t>↓</a:t>
            </a:r>
            <a:endParaRPr lang="es-ES" sz="24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4" name="Título 1">
            <a:extLst>
              <a:ext uri="{FF2B5EF4-FFF2-40B4-BE49-F238E27FC236}">
                <a16:creationId xmlns:a16="http://schemas.microsoft.com/office/drawing/2014/main" id="{4918E1D1-7CF5-51A0-A794-9DB5E785F529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71139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E7F21-1BC3-58B7-C745-2A6CDB76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Diagrama&#10;&#10;Descripción generada automáticamente">
            <a:extLst>
              <a:ext uri="{FF2B5EF4-FFF2-40B4-BE49-F238E27FC236}">
                <a16:creationId xmlns:a16="http://schemas.microsoft.com/office/drawing/2014/main" id="{5CF93BAE-7062-DF63-FBD0-5278470BA4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9215" y="647728"/>
            <a:ext cx="2826009" cy="28260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D2A7F3A-5D92-B637-7E53-8726C79BA350}"/>
              </a:ext>
            </a:extLst>
          </p:cNvPr>
          <p:cNvSpPr txBox="1">
            <a:spLocks/>
          </p:cNvSpPr>
          <p:nvPr/>
        </p:nvSpPr>
        <p:spPr>
          <a:xfrm>
            <a:off x="127519" y="3400507"/>
            <a:ext cx="3242000" cy="222357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Field data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:</a:t>
            </a:r>
          </a:p>
          <a:p>
            <a:pPr marL="457200" lvl="1" indent="0" algn="ct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02/2023 – 09/2023</a:t>
            </a:r>
          </a:p>
          <a:p>
            <a:pPr algn="ct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A999C6EA-7AE8-D840-9E31-A752303D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Study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area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7AAA2A6D-DB68-AD63-0A06-EA976E24DC00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8D7DC10-0A24-5913-467C-1DEA0F80E6D2}"/>
              </a:ext>
            </a:extLst>
          </p:cNvPr>
          <p:cNvSpPr txBox="1">
            <a:spLocks/>
          </p:cNvSpPr>
          <p:nvPr/>
        </p:nvSpPr>
        <p:spPr>
          <a:xfrm>
            <a:off x="127519" y="5550853"/>
            <a:ext cx="10925077" cy="804155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latin typeface="Helvetica"/>
                <a:cs typeface="Helvetica"/>
              </a:rPr>
              <a:t>14 sites, 91 </a:t>
            </a:r>
            <a:r>
              <a:rPr lang="es-ES" b="1" dirty="0" err="1">
                <a:latin typeface="Helvetica"/>
                <a:cs typeface="Helvetica"/>
              </a:rPr>
              <a:t>plots</a:t>
            </a:r>
            <a:r>
              <a:rPr lang="es-ES" b="1" dirty="0">
                <a:latin typeface="Helvetica"/>
                <a:cs typeface="Helvetica"/>
              </a:rPr>
              <a:t> 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b="1" dirty="0">
                <a:solidFill>
                  <a:srgbClr val="FF0000"/>
                </a:solidFill>
                <a:latin typeface="Helvetica"/>
                <a:cs typeface="Helvetica"/>
              </a:rPr>
              <a:t>462 target </a:t>
            </a:r>
            <a:r>
              <a:rPr lang="es-ES" b="1" dirty="0" err="1">
                <a:solidFill>
                  <a:srgbClr val="FF0000"/>
                </a:solidFill>
                <a:latin typeface="Helvetica"/>
                <a:cs typeface="Helvetica"/>
              </a:rPr>
              <a:t>trees</a:t>
            </a:r>
            <a:endParaRPr lang="es-ES" b="1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DCD98AE-E281-28B7-DDC6-9F8E6C5095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55"/>
          <a:stretch/>
        </p:blipFill>
        <p:spPr>
          <a:xfrm>
            <a:off x="3615224" y="920186"/>
            <a:ext cx="8573689" cy="584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57412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0204C-F11E-9B27-13A1-D01D21F6E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C34324-CEFD-1EFD-2467-7B61612321A3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4C414708-B8E9-19C2-E949-7CED186D0D11}"/>
              </a:ext>
            </a:extLst>
          </p:cNvPr>
          <p:cNvSpPr txBox="1">
            <a:spLocks/>
          </p:cNvSpPr>
          <p:nvPr/>
        </p:nvSpPr>
        <p:spPr>
          <a:xfrm>
            <a:off x="623546" y="277655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A5A9F656-B91B-8B88-37C0-78549A7B18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08EBD559-FF21-01E8-287A-D770A4F85C25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grpSp>
        <p:nvGrpSpPr>
          <p:cNvPr id="21" name="Grupo 20">
            <a:extLst>
              <a:ext uri="{FF2B5EF4-FFF2-40B4-BE49-F238E27FC236}">
                <a16:creationId xmlns:a16="http://schemas.microsoft.com/office/drawing/2014/main" id="{EED41255-ED85-C941-16C7-80273695DD5E}"/>
              </a:ext>
            </a:extLst>
          </p:cNvPr>
          <p:cNvGrpSpPr/>
          <p:nvPr/>
        </p:nvGrpSpPr>
        <p:grpSpPr>
          <a:xfrm>
            <a:off x="1246240" y="4487957"/>
            <a:ext cx="3477754" cy="1250117"/>
            <a:chOff x="1139560" y="5095351"/>
            <a:chExt cx="3477754" cy="1250117"/>
          </a:xfrm>
        </p:grpSpPr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55D17402-96E9-A56B-30C4-8061982E658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17FF3BC9-79A4-4A97-EB19-18CB43D3097D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FAD85D67-8A8A-77BB-35F9-E448677F08EF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BB5518D9-AD43-C2DD-9D23-79EF776CC173}"/>
              </a:ext>
            </a:extLst>
          </p:cNvPr>
          <p:cNvGrpSpPr/>
          <p:nvPr/>
        </p:nvGrpSpPr>
        <p:grpSpPr>
          <a:xfrm>
            <a:off x="6389013" y="4487957"/>
            <a:ext cx="3301889" cy="1220763"/>
            <a:chOff x="6178013" y="5057218"/>
            <a:chExt cx="3301889" cy="1220763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87B21BD-A6B5-1787-C2FE-38F3E226D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7" name="CuadroTexto 6">
              <a:extLst>
                <a:ext uri="{FF2B5EF4-FFF2-40B4-BE49-F238E27FC236}">
                  <a16:creationId xmlns:a16="http://schemas.microsoft.com/office/drawing/2014/main" id="{50AAB96E-6C5C-AA9D-9E37-537A9CDC0700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E41E0CA6-A5D7-F12C-31D8-D135866D6D26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EC3C26AC-8D50-CAE9-0DD5-970E82CAF65D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04222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4D7E4-D331-675E-633E-A5F0F37A5C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7AC64E-6013-908B-301B-6ABF5F510488}"/>
              </a:ext>
            </a:extLst>
          </p:cNvPr>
          <p:cNvSpPr txBox="1">
            <a:spLocks/>
          </p:cNvSpPr>
          <p:nvPr/>
        </p:nvSpPr>
        <p:spPr>
          <a:xfrm>
            <a:off x="623546" y="1374438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1.-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characterise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underlying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mechanisms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behind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drought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vulnerability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through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assessment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of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morphological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</a:rPr>
              <a:t>and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responses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drought-induced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damaged</a:t>
            </a:r>
            <a:r>
              <a:rPr lang="es-ES" sz="2400" dirty="0">
                <a:latin typeface="Helvetica"/>
                <a:cs typeface="Helvetica"/>
              </a:rPr>
              <a:t> vs. </a:t>
            </a:r>
            <a:r>
              <a:rPr lang="es-ES" sz="2400" dirty="0" err="1">
                <a:latin typeface="Helvetica"/>
                <a:cs typeface="Helvetica"/>
              </a:rPr>
              <a:t>healthy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areas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DB95DEED-31A7-D314-C668-90CD69061438}"/>
              </a:ext>
            </a:extLst>
          </p:cNvPr>
          <p:cNvSpPr txBox="1">
            <a:spLocks/>
          </p:cNvSpPr>
          <p:nvPr/>
        </p:nvSpPr>
        <p:spPr>
          <a:xfrm>
            <a:off x="623545" y="2760950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H1.-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size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past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growth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competition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traits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determine </a:t>
            </a:r>
            <a:r>
              <a:rPr lang="es-ES" sz="2400" i="1" dirty="0" err="1">
                <a:latin typeface="Helvetica"/>
                <a:cs typeface="Helvetica"/>
              </a:rPr>
              <a:t>tree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</a:t>
            </a:r>
            <a:r>
              <a:rPr lang="es-ES" sz="2400" i="1" dirty="0">
                <a:latin typeface="Helvetica"/>
                <a:cs typeface="Helvetica"/>
              </a:rPr>
              <a:t>:</a:t>
            </a: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991C1F3-927E-0A5B-823D-083C690381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2B30C19-F59E-C526-9CA2-5F4EEDCFA1C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29" name="Marcador de contenido 2">
            <a:extLst>
              <a:ext uri="{FF2B5EF4-FFF2-40B4-BE49-F238E27FC236}">
                <a16:creationId xmlns:a16="http://schemas.microsoft.com/office/drawing/2014/main" id="{EC3B70F2-E30A-36DE-F606-69C112A48A9A}"/>
              </a:ext>
            </a:extLst>
          </p:cNvPr>
          <p:cNvSpPr txBox="1">
            <a:spLocks/>
          </p:cNvSpPr>
          <p:nvPr/>
        </p:nvSpPr>
        <p:spPr>
          <a:xfrm>
            <a:off x="643378" y="3907778"/>
            <a:ext cx="10925077" cy="2561279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Size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b="1" dirty="0" err="1">
                <a:latin typeface="Helvetica"/>
                <a:cs typeface="Helvetica"/>
              </a:rPr>
              <a:t>bigger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trees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will</a:t>
            </a:r>
            <a:r>
              <a:rPr lang="es-ES" sz="2400" dirty="0">
                <a:latin typeface="Helvetica"/>
                <a:cs typeface="Helvetica"/>
              </a:rPr>
              <a:t> be more vulnerable </a:t>
            </a:r>
            <a:r>
              <a:rPr lang="es-ES" sz="2400" dirty="0" err="1">
                <a:latin typeface="Helvetica"/>
                <a:cs typeface="Helvetica"/>
              </a:rPr>
              <a:t>due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limitations</a:t>
            </a:r>
            <a:r>
              <a:rPr lang="es-ES" sz="2400" dirty="0">
                <a:latin typeface="Helvetica"/>
                <a:cs typeface="Helvetica"/>
              </a:rPr>
              <a:t> (</a:t>
            </a:r>
            <a:r>
              <a:rPr lang="es-ES" sz="2400" dirty="0" err="1">
                <a:latin typeface="Helvetica"/>
                <a:cs typeface="Helvetica"/>
              </a:rPr>
              <a:t>increased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hydraulic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resistance</a:t>
            </a:r>
            <a:r>
              <a:rPr lang="es-ES" sz="2400" dirty="0">
                <a:latin typeface="Helvetica"/>
                <a:cs typeface="Helvetica"/>
              </a:rPr>
              <a:t>)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height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,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age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dbh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expect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b="1" dirty="0">
                <a:latin typeface="Helvetica"/>
                <a:cs typeface="Helvetica"/>
              </a:rPr>
              <a:t>a </a:t>
            </a:r>
            <a:r>
              <a:rPr lang="es-ES" sz="2400" b="1" dirty="0" err="1">
                <a:latin typeface="Helvetica"/>
                <a:cs typeface="Helvetica"/>
              </a:rPr>
              <a:t>reduced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growth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trend</a:t>
            </a:r>
            <a:r>
              <a:rPr lang="es-ES" sz="2400" b="1" dirty="0">
                <a:latin typeface="Helvetica"/>
                <a:cs typeface="Helvetica"/>
              </a:rPr>
              <a:t> in 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BAI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traits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a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higher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SLA leads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faster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los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SLA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Competition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competition</a:t>
            </a:r>
            <a:r>
              <a:rPr lang="es-ES" sz="2400" dirty="0">
                <a:latin typeface="Helvetica"/>
                <a:cs typeface="Helvetica"/>
              </a:rPr>
              <a:t> reduces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availability</a:t>
            </a:r>
            <a:r>
              <a:rPr lang="es-ES" sz="2400" dirty="0">
                <a:latin typeface="Helvetica"/>
                <a:cs typeface="Helvetica"/>
              </a:rPr>
              <a:t> per </a:t>
            </a:r>
            <a:r>
              <a:rPr lang="es-ES" sz="2400" dirty="0" err="1">
                <a:latin typeface="Helvetica"/>
                <a:cs typeface="Helvetica"/>
              </a:rPr>
              <a:t>tree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increases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water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interception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Hegyi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index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</a:rPr>
              <a:t> 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896339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7D948-86BD-7218-880B-80096F80D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B90BC2F3-897A-2B30-EFC7-41E5B902FBC3}"/>
              </a:ext>
            </a:extLst>
          </p:cNvPr>
          <p:cNvGrpSpPr/>
          <p:nvPr/>
        </p:nvGrpSpPr>
        <p:grpSpPr>
          <a:xfrm>
            <a:off x="6187927" y="3071492"/>
            <a:ext cx="3301889" cy="1220763"/>
            <a:chOff x="6178013" y="5057218"/>
            <a:chExt cx="3301889" cy="1220763"/>
          </a:xfrm>
        </p:grpSpPr>
        <p:pic>
          <p:nvPicPr>
            <p:cNvPr id="14" name="Imagen 13">
              <a:extLst>
                <a:ext uri="{FF2B5EF4-FFF2-40B4-BE49-F238E27FC236}">
                  <a16:creationId xmlns:a16="http://schemas.microsoft.com/office/drawing/2014/main" id="{20FBB0A9-4054-E0D3-A9E2-30ABC5114F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C6E4E855-85D9-0951-CC38-E1446CBA3B6E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68EB5557-D40F-117D-763A-D65209B528BB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17" name="CuadroTexto 16">
              <a:extLst>
                <a:ext uri="{FF2B5EF4-FFF2-40B4-BE49-F238E27FC236}">
                  <a16:creationId xmlns:a16="http://schemas.microsoft.com/office/drawing/2014/main" id="{80BE9F0E-6247-FF83-8BA0-C3A25A523C8C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F504D05B-F387-BF28-9D8C-2567B4605224}"/>
              </a:ext>
            </a:extLst>
          </p:cNvPr>
          <p:cNvGrpSpPr/>
          <p:nvPr/>
        </p:nvGrpSpPr>
        <p:grpSpPr>
          <a:xfrm>
            <a:off x="1149474" y="3109624"/>
            <a:ext cx="3477754" cy="1250117"/>
            <a:chOff x="1139560" y="5095351"/>
            <a:chExt cx="3477754" cy="1250117"/>
          </a:xfrm>
        </p:grpSpPr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A6FF630D-B396-BF9B-D2D5-56468DDA1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1" name="CuadroTexto 10">
              <a:extLst>
                <a:ext uri="{FF2B5EF4-FFF2-40B4-BE49-F238E27FC236}">
                  <a16:creationId xmlns:a16="http://schemas.microsoft.com/office/drawing/2014/main" id="{3CB7EB22-22F6-D47C-A02D-E20CEFE03EE0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0D6586EF-2595-559C-99E0-2257B29975E5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657212A9-DCCC-9779-274B-38E7EFB305D2}"/>
              </a:ext>
            </a:extLst>
          </p:cNvPr>
          <p:cNvSpPr txBox="1">
            <a:spLocks/>
          </p:cNvSpPr>
          <p:nvPr/>
        </p:nvSpPr>
        <p:spPr>
          <a:xfrm>
            <a:off x="633461" y="119831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dirty="0">
                <a:latin typeface="Helvetica"/>
                <a:cs typeface="Helvetica"/>
              </a:rPr>
              <a:t>and </a:t>
            </a:r>
            <a:r>
              <a:rPr lang="es-ES" sz="2400" b="1" dirty="0" err="1">
                <a:latin typeface="Helvetica"/>
                <a:cs typeface="Helvetica"/>
              </a:rPr>
              <a:t>what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are more </a:t>
            </a:r>
            <a:r>
              <a:rPr lang="es-ES" sz="2400" b="1" dirty="0" err="1">
                <a:latin typeface="Helvetica"/>
                <a:cs typeface="Helvetica"/>
              </a:rPr>
              <a:t>affected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5ABC543-C68D-55DD-197B-359CA9BABF5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E61FBC3C-017C-E532-87EF-270CA7195D0F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B4C51AA4-52F0-151B-7375-C783F89B7860}"/>
              </a:ext>
            </a:extLst>
          </p:cNvPr>
          <p:cNvSpPr txBox="1">
            <a:spLocks/>
          </p:cNvSpPr>
          <p:nvPr/>
        </p:nvSpPr>
        <p:spPr>
          <a:xfrm>
            <a:off x="633461" y="4748750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3.- 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determine </a:t>
            </a:r>
            <a:r>
              <a:rPr lang="es-ES" sz="2400" dirty="0" err="1">
                <a:latin typeface="Helvetica"/>
                <a:cs typeface="Helvetica"/>
              </a:rPr>
              <a:t>how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drought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vulnerability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changes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along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aridity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gradient</a:t>
            </a:r>
            <a:r>
              <a:rPr lang="es-ES" sz="2400" dirty="0">
                <a:latin typeface="Helvetica"/>
                <a:cs typeface="Helvetica"/>
              </a:rPr>
              <a:t> in </a:t>
            </a:r>
            <a:r>
              <a:rPr lang="es-ES" sz="2400" dirty="0" err="1">
                <a:latin typeface="Helvetica"/>
                <a:cs typeface="Helvetica"/>
              </a:rPr>
              <a:t>Iberian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forests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/>
                <a:cs typeface="Helvetica"/>
              </a:rPr>
              <a:t>only</a:t>
            </a:r>
            <a:r>
              <a:rPr lang="es-ES" sz="2400" dirty="0">
                <a:solidFill>
                  <a:srgbClr val="FF0000"/>
                </a:solidFill>
                <a:latin typeface="Helvetica"/>
                <a:cs typeface="Helvetica"/>
              </a:rPr>
              <a:t> in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Pinus</a:t>
            </a:r>
            <a:r>
              <a:rPr lang="es-ES" sz="2400" i="1" dirty="0">
                <a:solidFill>
                  <a:srgbClr val="FF0000"/>
                </a:solidFill>
                <a:latin typeface="Helvetica"/>
                <a:cs typeface="Helvetica"/>
              </a:rPr>
              <a:t> </a:t>
            </a:r>
            <a:r>
              <a:rPr lang="es-ES" sz="2400" i="1" dirty="0" err="1">
                <a:solidFill>
                  <a:srgbClr val="FF0000"/>
                </a:solidFill>
                <a:latin typeface="Helvetica"/>
                <a:cs typeface="Helvetica"/>
              </a:rPr>
              <a:t>sylvestris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7C371B6A-D08A-2959-5BDA-6D76133D6F74}"/>
              </a:ext>
            </a:extLst>
          </p:cNvPr>
          <p:cNvSpPr txBox="1">
            <a:spLocks/>
          </p:cNvSpPr>
          <p:nvPr/>
        </p:nvSpPr>
        <p:spPr>
          <a:xfrm>
            <a:off x="633460" y="5711172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H3</a:t>
            </a:r>
            <a:r>
              <a:rPr lang="es-ES" sz="2400" i="1" dirty="0">
                <a:latin typeface="Helvetica"/>
                <a:cs typeface="Helvetica"/>
              </a:rPr>
              <a:t>.-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higher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vulnerability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to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increased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aridity</a:t>
            </a:r>
            <a:r>
              <a:rPr lang="es-ES" sz="2400" i="1" dirty="0">
                <a:latin typeface="Helvetica"/>
                <a:cs typeface="Helvetica"/>
              </a:rPr>
              <a:t> in </a:t>
            </a:r>
            <a:r>
              <a:rPr lang="es-ES" sz="2400" b="1" i="1" dirty="0" err="1">
                <a:latin typeface="Helvetica"/>
                <a:cs typeface="Helvetica"/>
              </a:rPr>
              <a:t>temperate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b="1" i="1" dirty="0" err="1">
                <a:latin typeface="Helvetica"/>
                <a:cs typeface="Helvetica"/>
              </a:rPr>
              <a:t>species</a:t>
            </a:r>
            <a:r>
              <a:rPr lang="es-ES" sz="2400" b="1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than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Mediterranean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species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C713888D-F036-1927-F7A3-7FD8FFA4D2BD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leaf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senescence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rates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leaves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nutrients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allocation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transpiration</a:t>
            </a:r>
            <a:r>
              <a:rPr lang="es-ES" sz="2400" i="1" dirty="0">
                <a:latin typeface="Helvetica"/>
                <a:cs typeface="Helvetica"/>
              </a:rPr>
              <a:t> in </a:t>
            </a:r>
            <a:r>
              <a:rPr lang="es-ES" sz="2400" i="1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trees</a:t>
            </a:r>
            <a:endParaRPr lang="es-ES" sz="2400" i="1" dirty="0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58830002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55942-0646-1F75-3FD6-FB877A4F6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0EDCCFA2-7421-E9F8-432B-5107BCD8FD10}"/>
              </a:ext>
            </a:extLst>
          </p:cNvPr>
          <p:cNvSpPr txBox="1">
            <a:spLocks/>
          </p:cNvSpPr>
          <p:nvPr/>
        </p:nvSpPr>
        <p:spPr>
          <a:xfrm>
            <a:off x="633461" y="119831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dirty="0" err="1">
                <a:latin typeface="Helvetica"/>
                <a:cs typeface="Helvetica"/>
              </a:rPr>
              <a:t>Obj</a:t>
            </a:r>
            <a:r>
              <a:rPr lang="es-ES" sz="2400" b="1" dirty="0">
                <a:latin typeface="Helvetica"/>
                <a:cs typeface="Helvetica"/>
              </a:rPr>
              <a:t>. 2.-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assess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morphological</a:t>
            </a:r>
            <a:r>
              <a:rPr lang="es-ES" sz="2400" dirty="0">
                <a:latin typeface="Helvetica"/>
                <a:cs typeface="Helvetica"/>
              </a:rPr>
              <a:t> and </a:t>
            </a:r>
            <a:r>
              <a:rPr lang="es-ES" sz="2400" dirty="0" err="1">
                <a:latin typeface="Helvetica"/>
                <a:cs typeface="Helvetica"/>
              </a:rPr>
              <a:t>physiological</a:t>
            </a:r>
            <a:r>
              <a:rPr lang="es-ES" sz="2400" b="1" dirty="0">
                <a:latin typeface="Helvetica"/>
                <a:cs typeface="Helvetica"/>
              </a:rPr>
              <a:t> responses </a:t>
            </a:r>
            <a:r>
              <a:rPr lang="es-ES" sz="2400" b="1" dirty="0" err="1">
                <a:latin typeface="Helvetica"/>
                <a:cs typeface="Helvetica"/>
              </a:rPr>
              <a:t>to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drought</a:t>
            </a:r>
            <a:r>
              <a:rPr lang="es-ES" sz="2400" b="1" dirty="0">
                <a:latin typeface="Helvetica"/>
                <a:cs typeface="Helvetica"/>
              </a:rPr>
              <a:t>, </a:t>
            </a:r>
            <a:r>
              <a:rPr lang="es-ES" sz="2400" dirty="0">
                <a:latin typeface="Helvetica"/>
                <a:cs typeface="Helvetica"/>
              </a:rPr>
              <a:t>and </a:t>
            </a:r>
            <a:r>
              <a:rPr lang="es-ES" sz="2400" b="1" dirty="0" err="1">
                <a:latin typeface="Helvetica"/>
                <a:cs typeface="Helvetica"/>
              </a:rPr>
              <a:t>what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traits</a:t>
            </a:r>
            <a:r>
              <a:rPr lang="es-ES" sz="2400" b="1" dirty="0">
                <a:latin typeface="Helvetica"/>
                <a:cs typeface="Helvetica"/>
              </a:rPr>
              <a:t> are more </a:t>
            </a:r>
            <a:r>
              <a:rPr lang="es-ES" sz="2400" b="1" dirty="0" err="1">
                <a:latin typeface="Helvetica"/>
                <a:cs typeface="Helvetica"/>
              </a:rPr>
              <a:t>affected</a:t>
            </a:r>
            <a:endParaRPr lang="es-ES" sz="2400" b="1" dirty="0">
              <a:latin typeface="Helvetica"/>
              <a:cs typeface="Helvetica"/>
            </a:endParaRPr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5CD6406B-5875-AE5D-371F-5AE2CA33EA3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9690902" cy="804155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Objectives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Hypotheses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D0E8E0D-4EC8-AF06-2C84-F69377E87B0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 err="1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Introduction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17176B63-C01E-6AD5-661C-4C9D8D28D38C}"/>
              </a:ext>
            </a:extLst>
          </p:cNvPr>
          <p:cNvSpPr txBox="1">
            <a:spLocks/>
          </p:cNvSpPr>
          <p:nvPr/>
        </p:nvSpPr>
        <p:spPr>
          <a:xfrm>
            <a:off x="633459" y="2041583"/>
            <a:ext cx="10925077" cy="114682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2400" b="1" i="1" dirty="0">
                <a:latin typeface="Helvetica"/>
                <a:cs typeface="Helvetica"/>
              </a:rPr>
              <a:t>H2.-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We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expect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drought-induced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leaf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senescence</a:t>
            </a:r>
            <a:r>
              <a:rPr lang="es-ES" sz="2400" i="1" dirty="0">
                <a:latin typeface="Helvetica"/>
                <a:cs typeface="Helvetica"/>
              </a:rPr>
              <a:t>, </a:t>
            </a:r>
            <a:r>
              <a:rPr lang="es-ES" sz="2400" i="1" dirty="0" err="1">
                <a:latin typeface="Helvetica"/>
                <a:cs typeface="Helvetica"/>
              </a:rPr>
              <a:t>reduced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photosynthetic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rates</a:t>
            </a:r>
            <a:r>
              <a:rPr lang="es-ES" sz="2400" i="1" dirty="0">
                <a:latin typeface="Helvetica"/>
                <a:cs typeface="Helvetica"/>
              </a:rPr>
              <a:t> and </a:t>
            </a:r>
            <a:r>
              <a:rPr lang="es-ES" sz="2400" i="1" dirty="0" err="1">
                <a:latin typeface="Helvetica"/>
                <a:cs typeface="Helvetica"/>
              </a:rPr>
              <a:t>transpiration</a:t>
            </a:r>
            <a:r>
              <a:rPr lang="es-ES" sz="2400" i="1" dirty="0">
                <a:latin typeface="Helvetica"/>
                <a:cs typeface="Helvetica"/>
              </a:rPr>
              <a:t>, and </a:t>
            </a:r>
            <a:r>
              <a:rPr lang="es-ES" sz="2400" i="1" dirty="0" err="1">
                <a:latin typeface="Helvetica"/>
                <a:cs typeface="Helvetica"/>
              </a:rPr>
              <a:t>nutrient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deficits</a:t>
            </a:r>
            <a:r>
              <a:rPr lang="es-ES" sz="2400" i="1" dirty="0">
                <a:latin typeface="Helvetica"/>
                <a:cs typeface="Helvetica"/>
              </a:rPr>
              <a:t> in </a:t>
            </a:r>
            <a:r>
              <a:rPr lang="es-ES" sz="2400" i="1" dirty="0" err="1">
                <a:latin typeface="Helvetica"/>
                <a:cs typeface="Helvetica"/>
              </a:rPr>
              <a:t>declining</a:t>
            </a:r>
            <a:r>
              <a:rPr lang="es-ES" sz="2400" i="1" dirty="0">
                <a:latin typeface="Helvetica"/>
                <a:cs typeface="Helvetica"/>
              </a:rPr>
              <a:t> </a:t>
            </a:r>
            <a:r>
              <a:rPr lang="es-ES" sz="2400" i="1" dirty="0" err="1">
                <a:latin typeface="Helvetica"/>
                <a:cs typeface="Helvetica"/>
              </a:rPr>
              <a:t>trees</a:t>
            </a:r>
            <a:endParaRPr lang="es-ES" sz="2400" i="1" dirty="0">
              <a:latin typeface="Helvetica"/>
              <a:cs typeface="Helvetica"/>
            </a:endParaRPr>
          </a:p>
        </p:txBody>
      </p:sp>
      <p:sp>
        <p:nvSpPr>
          <p:cNvPr id="8" name="Marcador de contenido 2">
            <a:extLst>
              <a:ext uri="{FF2B5EF4-FFF2-40B4-BE49-F238E27FC236}">
                <a16:creationId xmlns:a16="http://schemas.microsoft.com/office/drawing/2014/main" id="{5D2A598E-3271-64EB-5DA8-A70DDDCC8E1C}"/>
              </a:ext>
            </a:extLst>
          </p:cNvPr>
          <p:cNvSpPr txBox="1">
            <a:spLocks/>
          </p:cNvSpPr>
          <p:nvPr/>
        </p:nvSpPr>
        <p:spPr>
          <a:xfrm>
            <a:off x="633459" y="3188411"/>
            <a:ext cx="10925077" cy="2561279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Senescence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n-US" sz="2400" dirty="0">
                <a:latin typeface="Helvetica"/>
                <a:cs typeface="Helvetica"/>
              </a:rPr>
              <a:t>water stress-induced increased ABA and ROS trigger upregulation of senescence-associated genes (SAG), and to damages to photosynthetic apparatus </a:t>
            </a:r>
            <a:r>
              <a:rPr lang="en-U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Pigments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C:N ratio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Transpiration</a:t>
            </a:r>
            <a:r>
              <a:rPr lang="es-ES" sz="2400" b="1" dirty="0">
                <a:latin typeface="Helvetica"/>
                <a:cs typeface="Helvetica"/>
              </a:rPr>
              <a:t> and </a:t>
            </a:r>
            <a:r>
              <a:rPr lang="es-ES" sz="2400" b="1" dirty="0" err="1">
                <a:latin typeface="Helvetica"/>
                <a:cs typeface="Helvetica"/>
              </a:rPr>
              <a:t>photosynthetic</a:t>
            </a:r>
            <a:r>
              <a:rPr lang="es-ES" sz="2400" b="1" dirty="0">
                <a:latin typeface="Helvetica"/>
                <a:cs typeface="Helvetica"/>
              </a:rPr>
              <a:t> </a:t>
            </a:r>
            <a:r>
              <a:rPr lang="es-ES" sz="2400" b="1" dirty="0" err="1">
                <a:latin typeface="Helvetica"/>
                <a:cs typeface="Helvetica"/>
              </a:rPr>
              <a:t>rates</a:t>
            </a:r>
            <a:r>
              <a:rPr lang="es-ES" sz="2400" b="1" dirty="0">
                <a:latin typeface="Helvetica"/>
                <a:cs typeface="Helvetica"/>
              </a:rPr>
              <a:t>: </a:t>
            </a:r>
            <a:r>
              <a:rPr lang="es-ES" sz="2400" dirty="0" err="1">
                <a:latin typeface="Helvetica"/>
                <a:cs typeface="Helvetica"/>
              </a:rPr>
              <a:t>we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an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isohydric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behaviour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leading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to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stomatal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 err="1">
                <a:latin typeface="Helvetica"/>
                <a:cs typeface="Helvetica"/>
              </a:rPr>
              <a:t>closure</a:t>
            </a:r>
            <a:r>
              <a:rPr lang="es-ES" sz="2400" dirty="0">
                <a:latin typeface="Helvetica"/>
                <a:cs typeface="Helvetica"/>
              </a:rPr>
              <a:t> 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↑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13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C and </a:t>
            </a:r>
            <a:r>
              <a:rPr lang="el-GR" sz="2400" b="1" dirty="0">
                <a:latin typeface="Helvetica"/>
                <a:cs typeface="Helvetica"/>
                <a:sym typeface="Wingdings" panose="05000000000000000000" pitchFamily="2" charset="2"/>
              </a:rPr>
              <a:t>δ</a:t>
            </a:r>
            <a:r>
              <a:rPr lang="es-ES" sz="2400" b="1" baseline="30000" dirty="0">
                <a:latin typeface="Helvetica"/>
                <a:cs typeface="Helvetica"/>
                <a:sym typeface="Wingdings" panose="05000000000000000000" pitchFamily="2" charset="2"/>
              </a:rPr>
              <a:t>18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O in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leaves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and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wood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tissue</a:t>
            </a:r>
            <a:endParaRPr lang="es-ES" sz="2400" b="1" dirty="0">
              <a:latin typeface="Helvetica"/>
              <a:cs typeface="Helvetica"/>
              <a:sym typeface="Wingdings" panose="05000000000000000000" pitchFamily="2" charset="2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Nutrients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: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expected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limited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nutrient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uptake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due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to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reduced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400" dirty="0" err="1">
                <a:latin typeface="Helvetica"/>
                <a:cs typeface="Helvetica"/>
                <a:sym typeface="Wingdings" panose="05000000000000000000" pitchFamily="2" charset="2"/>
              </a:rPr>
              <a:t>availability</a:t>
            </a:r>
            <a:r>
              <a:rPr lang="es-ES" sz="2400" dirty="0">
                <a:latin typeface="Helvetica"/>
                <a:cs typeface="Helvetica"/>
                <a:sym typeface="Wingdings" panose="05000000000000000000" pitchFamily="2" charset="2"/>
              </a:rPr>
              <a:t>  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↓N </a:t>
            </a:r>
            <a:r>
              <a:rPr lang="es-ES" sz="2400" b="1" dirty="0" err="1">
                <a:latin typeface="Helvetica"/>
                <a:cs typeface="Helvetica"/>
                <a:sym typeface="Wingdings" panose="05000000000000000000" pitchFamily="2" charset="2"/>
              </a:rPr>
              <a:t>concentration</a:t>
            </a:r>
            <a:r>
              <a:rPr lang="es-ES" sz="2400" b="1" dirty="0">
                <a:latin typeface="Helvetica"/>
                <a:cs typeface="Helvetica"/>
                <a:sym typeface="Wingdings" panose="05000000000000000000" pitchFamily="2" charset="2"/>
              </a:rPr>
              <a:t> in </a:t>
            </a:r>
            <a:r>
              <a:rPr lang="es-ES" sz="2400" b="1" dirty="0" err="1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declining</a:t>
            </a:r>
            <a:r>
              <a:rPr lang="es-ES" sz="2400" b="1" dirty="0">
                <a:solidFill>
                  <a:srgbClr val="C00000"/>
                </a:solidFill>
                <a:latin typeface="Helvetica"/>
                <a:cs typeface="Helvetica"/>
                <a:sym typeface="Wingdings" panose="05000000000000000000" pitchFamily="2" charset="2"/>
              </a:rPr>
              <a:t> sites</a:t>
            </a:r>
            <a:endParaRPr lang="es-ES" sz="2400" b="1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endParaRPr lang="es-ES" sz="2400" b="1" dirty="0">
              <a:solidFill>
                <a:srgbClr val="C00000"/>
              </a:solidFill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288941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3B4EC-E283-5677-91B8-01AB140D1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7D8E0453-8B4A-B20C-AB68-7B3F1859961B}"/>
              </a:ext>
            </a:extLst>
          </p:cNvPr>
          <p:cNvGrpSpPr/>
          <p:nvPr/>
        </p:nvGrpSpPr>
        <p:grpSpPr>
          <a:xfrm>
            <a:off x="8527188" y="5371533"/>
            <a:ext cx="3301889" cy="1220763"/>
            <a:chOff x="6178013" y="5057218"/>
            <a:chExt cx="3301889" cy="1220763"/>
          </a:xfrm>
        </p:grpSpPr>
        <p:pic>
          <p:nvPicPr>
            <p:cNvPr id="21" name="Imagen 20">
              <a:extLst>
                <a:ext uri="{FF2B5EF4-FFF2-40B4-BE49-F238E27FC236}">
                  <a16:creationId xmlns:a16="http://schemas.microsoft.com/office/drawing/2014/main" id="{20EF1E68-78BF-4F46-EC92-7C9B7DC71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3835"/>
            <a:stretch/>
          </p:blipFill>
          <p:spPr>
            <a:xfrm>
              <a:off x="6364847" y="5057218"/>
              <a:ext cx="3115055" cy="1220763"/>
            </a:xfrm>
            <a:prstGeom prst="rect">
              <a:avLst/>
            </a:prstGeom>
          </p:spPr>
        </p:pic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E7EE9C73-8D0E-B84F-FBE1-CB7E50FBFF03}"/>
                </a:ext>
              </a:extLst>
            </p:cNvPr>
            <p:cNvSpPr txBox="1"/>
            <p:nvPr/>
          </p:nvSpPr>
          <p:spPr>
            <a:xfrm>
              <a:off x="6178013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2F5597"/>
                  </a:solidFill>
                </a:rPr>
                <a:t>Non-</a:t>
              </a:r>
              <a:r>
                <a:rPr lang="es-ES" sz="1100" dirty="0" err="1">
                  <a:solidFill>
                    <a:srgbClr val="2F5597"/>
                  </a:solidFill>
                </a:rPr>
                <a:t>declining</a:t>
              </a:r>
              <a:r>
                <a:rPr lang="es-ES" sz="1100" dirty="0">
                  <a:solidFill>
                    <a:srgbClr val="2F5597"/>
                  </a:solidFill>
                </a:rPr>
                <a:t> site</a:t>
              </a: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6E1F4340-629D-1579-80CB-121769E85279}"/>
                </a:ext>
              </a:extLst>
            </p:cNvPr>
            <p:cNvSpPr txBox="1"/>
            <p:nvPr/>
          </p:nvSpPr>
          <p:spPr>
            <a:xfrm>
              <a:off x="7313725" y="5989310"/>
              <a:ext cx="1217297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Non-</a:t>
              </a:r>
              <a:r>
                <a:rPr lang="es-ES" sz="1100" dirty="0" err="1">
                  <a:solidFill>
                    <a:srgbClr val="7030A0"/>
                  </a:solidFill>
                  <a:cs typeface="Helvetica" panose="020B0604020202020204"/>
                </a:rPr>
                <a:t>declining</a:t>
              </a:r>
              <a:r>
                <a:rPr lang="es-ES" sz="1100" dirty="0">
                  <a:solidFill>
                    <a:srgbClr val="7030A0"/>
                  </a:solidFill>
                  <a:cs typeface="Helvetica" panose="020B0604020202020204"/>
                </a:rPr>
                <a:t> site</a:t>
              </a: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AD6DA4FE-3CC6-6D36-6ECB-E616FD3C3825}"/>
                </a:ext>
              </a:extLst>
            </p:cNvPr>
            <p:cNvSpPr txBox="1"/>
            <p:nvPr/>
          </p:nvSpPr>
          <p:spPr>
            <a:xfrm>
              <a:off x="8482962" y="6002841"/>
              <a:ext cx="94609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100" dirty="0" err="1">
                  <a:solidFill>
                    <a:srgbClr val="C00000"/>
                  </a:solidFill>
                </a:rPr>
                <a:t>Declining</a:t>
              </a:r>
              <a:r>
                <a:rPr lang="es-ES" sz="1100" dirty="0">
                  <a:solidFill>
                    <a:srgbClr val="C00000"/>
                  </a:solidFill>
                </a:rPr>
                <a:t> site</a:t>
              </a:r>
            </a:p>
          </p:txBody>
        </p:sp>
      </p:grpSp>
      <p:grpSp>
        <p:nvGrpSpPr>
          <p:cNvPr id="11" name="Grupo 10">
            <a:extLst>
              <a:ext uri="{FF2B5EF4-FFF2-40B4-BE49-F238E27FC236}">
                <a16:creationId xmlns:a16="http://schemas.microsoft.com/office/drawing/2014/main" id="{0557B1E9-74A8-C0C5-AD5B-AA26E6A91D29}"/>
              </a:ext>
            </a:extLst>
          </p:cNvPr>
          <p:cNvGrpSpPr/>
          <p:nvPr/>
        </p:nvGrpSpPr>
        <p:grpSpPr>
          <a:xfrm>
            <a:off x="8527188" y="3944761"/>
            <a:ext cx="3477754" cy="1250117"/>
            <a:chOff x="1139560" y="5095351"/>
            <a:chExt cx="3477754" cy="1250117"/>
          </a:xfrm>
        </p:grpSpPr>
        <p:pic>
          <p:nvPicPr>
            <p:cNvPr id="17" name="Imagen 16">
              <a:extLst>
                <a:ext uri="{FF2B5EF4-FFF2-40B4-BE49-F238E27FC236}">
                  <a16:creationId xmlns:a16="http://schemas.microsoft.com/office/drawing/2014/main" id="{95D803EB-ABFC-2B48-4BBB-B4D3D82F33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7655"/>
            <a:stretch/>
          </p:blipFill>
          <p:spPr>
            <a:xfrm>
              <a:off x="1139560" y="5095351"/>
              <a:ext cx="3477754" cy="1250117"/>
            </a:xfrm>
            <a:prstGeom prst="rect">
              <a:avLst/>
            </a:prstGeom>
          </p:spPr>
        </p:pic>
        <p:sp>
          <p:nvSpPr>
            <p:cNvPr id="18" name="CuadroTexto 17">
              <a:extLst>
                <a:ext uri="{FF2B5EF4-FFF2-40B4-BE49-F238E27FC236}">
                  <a16:creationId xmlns:a16="http://schemas.microsoft.com/office/drawing/2014/main" id="{62EDC70A-6C9F-A939-3CEC-DA2DEB707299}"/>
                </a:ext>
              </a:extLst>
            </p:cNvPr>
            <p:cNvSpPr txBox="1"/>
            <p:nvPr/>
          </p:nvSpPr>
          <p:spPr>
            <a:xfrm>
              <a:off x="1609302" y="5843116"/>
              <a:ext cx="11320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>
                  <a:solidFill>
                    <a:srgbClr val="2F5597"/>
                  </a:solidFill>
                </a:rPr>
                <a:t>Non-</a:t>
              </a:r>
              <a:r>
                <a:rPr lang="es-ES" sz="1300" dirty="0" err="1">
                  <a:solidFill>
                    <a:srgbClr val="2F5597"/>
                  </a:solidFill>
                </a:rPr>
                <a:t>declining</a:t>
              </a:r>
              <a:endParaRPr lang="es-ES" sz="1300" dirty="0">
                <a:solidFill>
                  <a:srgbClr val="2F5597"/>
                </a:solidFill>
              </a:endParaRPr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9C373739-D140-0D69-94A9-07D1DDD39ACD}"/>
                </a:ext>
              </a:extLst>
            </p:cNvPr>
            <p:cNvSpPr txBox="1"/>
            <p:nvPr/>
          </p:nvSpPr>
          <p:spPr>
            <a:xfrm>
              <a:off x="3151746" y="5843116"/>
              <a:ext cx="811441" cy="29238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s-ES" sz="1300" dirty="0" err="1">
                  <a:solidFill>
                    <a:srgbClr val="C00000"/>
                  </a:solidFill>
                </a:rPr>
                <a:t>Declining</a:t>
              </a:r>
              <a:endParaRPr lang="es-ES" sz="1300" dirty="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D4A7DB54-4178-5298-6B51-7E7A57B25860}"/>
              </a:ext>
            </a:extLst>
          </p:cNvPr>
          <p:cNvGrpSpPr/>
          <p:nvPr/>
        </p:nvGrpSpPr>
        <p:grpSpPr>
          <a:xfrm>
            <a:off x="635710" y="1091933"/>
            <a:ext cx="3761427" cy="5167267"/>
            <a:chOff x="6872115" y="927995"/>
            <a:chExt cx="4007741" cy="5167267"/>
          </a:xfrm>
        </p:grpSpPr>
        <p:cxnSp>
          <p:nvCxnSpPr>
            <p:cNvPr id="6" name="Conector recto de flecha 5">
              <a:extLst>
                <a:ext uri="{FF2B5EF4-FFF2-40B4-BE49-F238E27FC236}">
                  <a16:creationId xmlns:a16="http://schemas.microsoft.com/office/drawing/2014/main" id="{1786FCCD-55EC-DFC5-277E-AF1DDBF94257}"/>
                </a:ext>
              </a:extLst>
            </p:cNvPr>
            <p:cNvCxnSpPr>
              <a:cxnSpLocks/>
            </p:cNvCxnSpPr>
            <p:nvPr/>
          </p:nvCxnSpPr>
          <p:spPr>
            <a:xfrm>
              <a:off x="7208697" y="1279802"/>
              <a:ext cx="329263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CuadroTexto 18">
              <a:extLst>
                <a:ext uri="{FF2B5EF4-FFF2-40B4-BE49-F238E27FC236}">
                  <a16:creationId xmlns:a16="http://schemas.microsoft.com/office/drawing/2014/main" id="{E88B7465-25BC-FAB4-8CFF-2E7A84028AB2}"/>
                </a:ext>
              </a:extLst>
            </p:cNvPr>
            <p:cNvSpPr txBox="1"/>
            <p:nvPr/>
          </p:nvSpPr>
          <p:spPr>
            <a:xfrm>
              <a:off x="8456917" y="927995"/>
              <a:ext cx="911247" cy="3738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s-E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s-ES" sz="1829">
                  <a:latin typeface="Arial" panose="020B0604020202020204" pitchFamily="34" charset="0"/>
                  <a:cs typeface="Arial" panose="020B0604020202020204" pitchFamily="34" charset="0"/>
                </a:rPr>
                <a:t>34 m</a:t>
              </a:r>
            </a:p>
          </p:txBody>
        </p:sp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30E7678A-7A50-7275-0F35-F468D9323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72115" y="1563478"/>
              <a:ext cx="4007741" cy="4531784"/>
            </a:xfrm>
            <a:prstGeom prst="rect">
              <a:avLst/>
            </a:prstGeom>
          </p:spPr>
        </p:pic>
      </p:grpSp>
      <p:sp>
        <p:nvSpPr>
          <p:cNvPr id="9" name="CuadroTexto 10">
            <a:extLst>
              <a:ext uri="{FF2B5EF4-FFF2-40B4-BE49-F238E27FC236}">
                <a16:creationId xmlns:a16="http://schemas.microsoft.com/office/drawing/2014/main" id="{BFC4E210-0B8F-7818-4DEA-F8337C5EB8D4}"/>
              </a:ext>
            </a:extLst>
          </p:cNvPr>
          <p:cNvSpPr txBox="1"/>
          <p:nvPr/>
        </p:nvSpPr>
        <p:spPr>
          <a:xfrm>
            <a:off x="4843220" y="1091933"/>
            <a:ext cx="5809299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Mature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2.-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Regeneration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3.-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Shrub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inventory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identity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&amp;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cover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4.- Target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LWC 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SLA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pigments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Isotopes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(C, N, O)</a:t>
            </a: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>
              <a:buClr>
                <a:srgbClr val="218317"/>
              </a:buClr>
            </a:pP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5.- </a:t>
            </a:r>
            <a:r>
              <a:rPr lang="es-ES" sz="2000" b="1" dirty="0" err="1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Soil</a:t>
            </a:r>
            <a:r>
              <a:rPr lang="es-ES" sz="2000" b="1" dirty="0">
                <a:solidFill>
                  <a:schemeClr val="accent6">
                    <a:lumMod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data</a:t>
            </a:r>
            <a:endParaRPr lang="es-ES" sz="2800" b="1" dirty="0">
              <a:solidFill>
                <a:schemeClr val="accent6">
                  <a:lumMod val="75000"/>
                </a:schemeClr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800100" lvl="1" indent="-342900">
              <a:buClr>
                <a:srgbClr val="218317"/>
              </a:buClr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Gráfico 11" descr="Abeto">
            <a:extLst>
              <a:ext uri="{FF2B5EF4-FFF2-40B4-BE49-F238E27FC236}">
                <a16:creationId xmlns:a16="http://schemas.microsoft.com/office/drawing/2014/main" id="{545A1811-C8ED-7AF6-9FB7-C0AAABC35A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826902" y="2389013"/>
            <a:ext cx="914400" cy="914400"/>
          </a:xfrm>
          <a:prstGeom prst="rect">
            <a:avLst/>
          </a:prstGeom>
        </p:spPr>
      </p:pic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89ECA156-2E40-F0AE-D17C-B2DCEA8419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7183" y="2746686"/>
            <a:ext cx="914400" cy="914400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B199FEF-6E3B-64F7-ABE6-499676A5843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13867" y="3030361"/>
            <a:ext cx="914400" cy="914400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F1C2D211-15A5-69E5-AA50-E3C085ECC3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37058" y="4127146"/>
            <a:ext cx="914400" cy="914400"/>
          </a:xfrm>
          <a:prstGeom prst="rect">
            <a:avLst/>
          </a:prstGeom>
        </p:spPr>
      </p:pic>
      <p:pic>
        <p:nvPicPr>
          <p:cNvPr id="16" name="Gráfico 15" descr="Abeto">
            <a:extLst>
              <a:ext uri="{FF2B5EF4-FFF2-40B4-BE49-F238E27FC236}">
                <a16:creationId xmlns:a16="http://schemas.microsoft.com/office/drawing/2014/main" id="{7A90B577-9218-845B-73D1-20C0BB8C1C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78353" y="4224808"/>
            <a:ext cx="914400" cy="914400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BDB7A46D-91B8-F459-9835-65013F61A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05782E1E-BC36-63F5-4AA7-2039232E13E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75871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5B835-B71E-2989-E7E7-A496A149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79B54AFA-0DF0-CB85-F678-98071C00F4C0}"/>
              </a:ext>
            </a:extLst>
          </p:cNvPr>
          <p:cNvSpPr txBox="1">
            <a:spLocks/>
          </p:cNvSpPr>
          <p:nvPr/>
        </p:nvSpPr>
        <p:spPr>
          <a:xfrm>
            <a:off x="883112" y="1248960"/>
            <a:ext cx="5303636" cy="382887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Morphological</a:t>
            </a:r>
            <a:endParaRPr lang="es-ES" sz="2400" b="1" dirty="0">
              <a:latin typeface="Helvetica"/>
              <a:ea typeface="Calibri" panose="020F0502020204030204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Tree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growth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dendro</a:t>
            </a:r>
            <a:endParaRPr lang="es-ES" sz="2000" dirty="0">
              <a:latin typeface="Helvetica"/>
              <a:cs typeface="Helvetica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traits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leaf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area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&amp;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defoliation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endParaRPr lang="es-ES" sz="2000" dirty="0">
              <a:latin typeface="Helvetica"/>
              <a:cs typeface="Helvetica"/>
            </a:endParaRPr>
          </a:p>
          <a:p>
            <a:pPr>
              <a:buClr>
                <a:srgbClr val="218317"/>
              </a:buClr>
            </a:pPr>
            <a:r>
              <a:rPr lang="es-ES" sz="2400" b="1" dirty="0" err="1">
                <a:latin typeface="Helvetica"/>
                <a:cs typeface="Helvetica"/>
              </a:rPr>
              <a:t>Physiological</a:t>
            </a:r>
            <a:endParaRPr lang="es-ES" sz="24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Photosynthesis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spectrophotometry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Water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relations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water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nutrients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C &amp; N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content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B0604020202020204" pitchFamily="34" charset="0"/>
              <a:buChar char="-"/>
            </a:pPr>
            <a:r>
              <a:rPr lang="es-ES" sz="2000" dirty="0" err="1">
                <a:latin typeface="Helvetica"/>
                <a:cs typeface="Helvetica"/>
              </a:rPr>
              <a:t>Leaf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 err="1">
                <a:latin typeface="Helvetica"/>
                <a:cs typeface="Helvetica"/>
              </a:rPr>
              <a:t>isotopes</a:t>
            </a:r>
            <a:r>
              <a:rPr lang="es-ES" sz="2000" dirty="0">
                <a:latin typeface="Helvetica"/>
                <a:cs typeface="Helvetica"/>
              </a:rPr>
              <a:t> </a:t>
            </a:r>
            <a:r>
              <a:rPr lang="es-ES" sz="2000" dirty="0">
                <a:solidFill>
                  <a:srgbClr val="218317"/>
                </a:solidFill>
                <a:latin typeface="Helvetica"/>
                <a:cs typeface="Helvetica"/>
                <a:sym typeface="Wingdings" panose="05000000000000000000" pitchFamily="2" charset="2"/>
              </a:rPr>
              <a:t></a:t>
            </a:r>
            <a:r>
              <a:rPr lang="es-ES" sz="2000" dirty="0">
                <a:latin typeface="Helvetica"/>
                <a:cs typeface="Helvetica"/>
                <a:sym typeface="Wingdings" panose="05000000000000000000" pitchFamily="2" charset="2"/>
              </a:rPr>
              <a:t> </a:t>
            </a:r>
            <a:r>
              <a:rPr lang="es-ES" sz="2000" dirty="0" err="1">
                <a:latin typeface="Helvetica"/>
                <a:cs typeface="Helvetica"/>
                <a:sym typeface="Wingdings" panose="05000000000000000000" pitchFamily="2" charset="2"/>
              </a:rPr>
              <a:t>isotopes</a:t>
            </a: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sz="20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F6A97FF-FF6A-EEE9-1CC0-AB48DB192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72FF20BA-0C7E-1C22-7F45-4CE624AEDEB1}"/>
              </a:ext>
            </a:extLst>
          </p:cNvPr>
          <p:cNvSpPr txBox="1">
            <a:spLocks/>
          </p:cNvSpPr>
          <p:nvPr/>
        </p:nvSpPr>
        <p:spPr>
          <a:xfrm>
            <a:off x="6683951" y="2123594"/>
            <a:ext cx="2563083" cy="169457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746FB2"/>
                </a:solidFill>
                <a:latin typeface="Helvetica"/>
                <a:cs typeface="Helvetica"/>
              </a:rPr>
              <a:t>Abies</a:t>
            </a:r>
            <a:r>
              <a:rPr lang="es-ES" sz="2400" i="1" dirty="0">
                <a:solidFill>
                  <a:srgbClr val="746FB2"/>
                </a:solidFill>
                <a:latin typeface="Helvetica"/>
                <a:cs typeface="Helvetica"/>
              </a:rPr>
              <a:t> alba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i="1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sylvestris</a:t>
            </a:r>
            <a:endParaRPr lang="es-ES" sz="2400" i="1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>
              <a:buClr>
                <a:srgbClr val="218317"/>
              </a:buClr>
              <a:buNone/>
            </a:pPr>
            <a:r>
              <a:rPr lang="es-ES" sz="2400" i="1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Pinus</a:t>
            </a:r>
            <a:r>
              <a:rPr lang="es-ES" sz="2400" i="1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pinea </a:t>
            </a:r>
          </a:p>
          <a:p>
            <a:pPr lvl="1">
              <a:buClr>
                <a:srgbClr val="218317"/>
              </a:buClr>
              <a:buFont typeface="Calibri" panose="02070309020205020404" pitchFamily="49" charset="0"/>
              <a:buChar char="-"/>
            </a:pP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24AEED58-709F-898C-12A6-99AB65DAD3F8}"/>
              </a:ext>
            </a:extLst>
          </p:cNvPr>
          <p:cNvSpPr txBox="1">
            <a:spLocks/>
          </p:cNvSpPr>
          <p:nvPr/>
        </p:nvSpPr>
        <p:spPr>
          <a:xfrm>
            <a:off x="7965492" y="4578350"/>
            <a:ext cx="3672037" cy="197199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endParaRPr lang="es-ES" sz="2400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b="1" u="sng" dirty="0">
                <a:latin typeface="Helvetica" panose="020B0604020202020204" pitchFamily="34" charset="0"/>
                <a:cs typeface="Helvetica" panose="020B0604020202020204" pitchFamily="34" charset="0"/>
              </a:rPr>
              <a:t>462 target </a:t>
            </a:r>
            <a:r>
              <a:rPr lang="es-ES" b="1" u="sng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b="1" u="sng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7" name="Marcador de contenido 2">
            <a:extLst>
              <a:ext uri="{FF2B5EF4-FFF2-40B4-BE49-F238E27FC236}">
                <a16:creationId xmlns:a16="http://schemas.microsoft.com/office/drawing/2014/main" id="{EC85E287-2566-DBE7-BD26-B22072E8579A}"/>
              </a:ext>
            </a:extLst>
          </p:cNvPr>
          <p:cNvSpPr txBox="1">
            <a:spLocks/>
          </p:cNvSpPr>
          <p:nvPr/>
        </p:nvSpPr>
        <p:spPr>
          <a:xfrm>
            <a:off x="7908218" y="2052059"/>
            <a:ext cx="3672037" cy="252629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746FB2"/>
                </a:solidFill>
                <a:latin typeface="Helvetica"/>
                <a:cs typeface="Helvetica"/>
              </a:rPr>
              <a:t>23 </a:t>
            </a:r>
            <a:r>
              <a:rPr lang="es-ES" sz="2400" dirty="0" err="1">
                <a:solidFill>
                  <a:srgbClr val="746FB2"/>
                </a:solidFill>
                <a:latin typeface="Helvetica"/>
                <a:cs typeface="Helvetica"/>
              </a:rPr>
              <a:t>plots</a:t>
            </a:r>
            <a:endParaRPr lang="es-ES" sz="2400" dirty="0">
              <a:solidFill>
                <a:srgbClr val="746FB2"/>
              </a:solidFill>
              <a:latin typeface="Helvetica"/>
              <a:cs typeface="Helvetica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51 </a:t>
            </a:r>
            <a:r>
              <a:rPr lang="es-ES" sz="2400" dirty="0" err="1">
                <a:solidFill>
                  <a:srgbClr val="1B9E7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1B9E7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r>
              <a:rPr lang="es-ES" sz="2400" dirty="0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17 </a:t>
            </a:r>
            <a:r>
              <a:rPr lang="es-ES" sz="2400" dirty="0" err="1">
                <a:solidFill>
                  <a:srgbClr val="DB5F02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sz="2400" dirty="0">
              <a:solidFill>
                <a:srgbClr val="DB5F02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0" indent="0" algn="r">
              <a:buClr>
                <a:srgbClr val="218317"/>
              </a:buClr>
              <a:buNone/>
            </a:pP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marL="457200" lvl="1" indent="0" algn="r">
              <a:buClr>
                <a:srgbClr val="218317"/>
              </a:buClr>
              <a:buNone/>
            </a:pPr>
            <a:r>
              <a:rPr lang="es-ES" dirty="0">
                <a:latin typeface="Helvetica" panose="020B0604020202020204" pitchFamily="34" charset="0"/>
                <a:cs typeface="Helvetica" panose="020B0604020202020204" pitchFamily="34" charset="0"/>
              </a:rPr>
              <a:t>5 targets  x  91 </a:t>
            </a:r>
            <a:r>
              <a:rPr lang="es-ES" dirty="0" err="1">
                <a:latin typeface="Helvetica" panose="020B0604020202020204" pitchFamily="34" charset="0"/>
                <a:cs typeface="Helvetica" panose="020B0604020202020204" pitchFamily="34" charset="0"/>
              </a:rPr>
              <a:t>plots</a:t>
            </a:r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algn="r"/>
            <a:endParaRPr lang="es-ES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D84DF4-2490-EB95-168F-DB742423D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Sampling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design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0EED7EC-8E57-6D07-021B-D020ECFE0CE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M&amp;M </a:t>
            </a:r>
            <a:r>
              <a:rPr lang="es-ES" sz="2800" b="1" dirty="0">
                <a:solidFill>
                  <a:srgbClr val="218317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53635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A2040-6365-F622-F23A-914222D9D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5FDB6A8-F163-F3D4-EC30-49CEB3E101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8E6C52-36FC-BBD5-61E6-16FA738B8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D11F7B4-877F-7888-17DE-AD1B78A6794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82A1B36E-3ABB-F08C-29F7-F2CBD400B7DA}"/>
              </a:ext>
            </a:extLst>
          </p:cNvPr>
          <p:cNvSpPr txBox="1"/>
          <p:nvPr/>
        </p:nvSpPr>
        <p:spPr>
          <a:xfrm>
            <a:off x="8140141" y="1128291"/>
            <a:ext cx="37650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Standardized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(BAI /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.)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series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site per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 Gray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bars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M.A.P. </a:t>
            </a:r>
          </a:p>
        </p:txBody>
      </p:sp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EC4888E8-B91F-1649-B685-B9DC89C18F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88915" y="5790863"/>
            <a:ext cx="804155" cy="804155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3CBFBD5C-D0DE-7C00-455A-88D672A207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77881" y="5786887"/>
            <a:ext cx="804155" cy="804155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222A6575-11AB-5D2A-6D6B-C4CC03D17F8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620574" y="5832970"/>
            <a:ext cx="804155" cy="804155"/>
          </a:xfrm>
          <a:prstGeom prst="rect">
            <a:avLst/>
          </a:prstGeom>
        </p:spPr>
      </p:pic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75F07DC1-48B2-72C8-AD77-2463E425B5E6}"/>
              </a:ext>
            </a:extLst>
          </p:cNvPr>
          <p:cNvSpPr txBox="1">
            <a:spLocks/>
          </p:cNvSpPr>
          <p:nvPr/>
        </p:nvSpPr>
        <p:spPr>
          <a:xfrm>
            <a:off x="5964337" y="6032842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5245EBD3-67F8-3621-8F84-981734C5881A}"/>
              </a:ext>
            </a:extLst>
          </p:cNvPr>
          <p:cNvSpPr txBox="1">
            <a:spLocks/>
          </p:cNvSpPr>
          <p:nvPr/>
        </p:nvSpPr>
        <p:spPr>
          <a:xfrm>
            <a:off x="7982036" y="6014743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FC04FBBF-51E3-9A14-F381-8EA28A200C74}"/>
              </a:ext>
            </a:extLst>
          </p:cNvPr>
          <p:cNvSpPr txBox="1">
            <a:spLocks/>
          </p:cNvSpPr>
          <p:nvPr/>
        </p:nvSpPr>
        <p:spPr>
          <a:xfrm>
            <a:off x="10424729" y="5991273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6857E74-C10E-A40D-C019-CA8CBA44823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32" y="1117358"/>
            <a:ext cx="8154335" cy="4529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598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32E8C-03E8-15C4-1010-B304AFCF5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1716AEF-64B6-8F12-1F38-2C377D440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31" y="1117357"/>
            <a:ext cx="8154336" cy="4529894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D76B239F-2EE2-2449-1C6C-6857B1AE0E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A08B11A-9F1B-5933-EFEA-24732DF51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B5216F0B-F9D3-72B7-A1AA-789170AC004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2" name="CuadroTexto 10">
            <a:extLst>
              <a:ext uri="{FF2B5EF4-FFF2-40B4-BE49-F238E27FC236}">
                <a16:creationId xmlns:a16="http://schemas.microsoft.com/office/drawing/2014/main" id="{702F51AC-6427-5B15-AF80-02BE9203202C}"/>
              </a:ext>
            </a:extLst>
          </p:cNvPr>
          <p:cNvSpPr txBox="1"/>
          <p:nvPr/>
        </p:nvSpPr>
        <p:spPr>
          <a:xfrm>
            <a:off x="8140141" y="1128291"/>
            <a:ext cx="37650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Standardized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(BAI /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d.b.h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.)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series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of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each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site per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. Gray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bars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SPEI</a:t>
            </a:r>
          </a:p>
        </p:txBody>
      </p:sp>
      <p:pic>
        <p:nvPicPr>
          <p:cNvPr id="13" name="Gráfico 12" descr="Abeto">
            <a:extLst>
              <a:ext uri="{FF2B5EF4-FFF2-40B4-BE49-F238E27FC236}">
                <a16:creationId xmlns:a16="http://schemas.microsoft.com/office/drawing/2014/main" id="{7A01E999-0288-6DE7-7514-B763B9103B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88915" y="5790863"/>
            <a:ext cx="804155" cy="804155"/>
          </a:xfrm>
          <a:prstGeom prst="rect">
            <a:avLst/>
          </a:prstGeom>
        </p:spPr>
      </p:pic>
      <p:pic>
        <p:nvPicPr>
          <p:cNvPr id="14" name="Gráfico 13" descr="Abeto">
            <a:extLst>
              <a:ext uri="{FF2B5EF4-FFF2-40B4-BE49-F238E27FC236}">
                <a16:creationId xmlns:a16="http://schemas.microsoft.com/office/drawing/2014/main" id="{D19908D3-0138-2D9E-15A7-071184736C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77881" y="5786887"/>
            <a:ext cx="804155" cy="804155"/>
          </a:xfrm>
          <a:prstGeom prst="rect">
            <a:avLst/>
          </a:prstGeom>
        </p:spPr>
      </p:pic>
      <p:pic>
        <p:nvPicPr>
          <p:cNvPr id="15" name="Gráfico 14" descr="Abeto">
            <a:extLst>
              <a:ext uri="{FF2B5EF4-FFF2-40B4-BE49-F238E27FC236}">
                <a16:creationId xmlns:a16="http://schemas.microsoft.com/office/drawing/2014/main" id="{E239149E-C34C-50A0-484C-2583751860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20574" y="5832970"/>
            <a:ext cx="804155" cy="804155"/>
          </a:xfrm>
          <a:prstGeom prst="rect">
            <a:avLst/>
          </a:prstGeom>
        </p:spPr>
      </p:pic>
      <p:sp>
        <p:nvSpPr>
          <p:cNvPr id="16" name="Marcador de contenido 2">
            <a:extLst>
              <a:ext uri="{FF2B5EF4-FFF2-40B4-BE49-F238E27FC236}">
                <a16:creationId xmlns:a16="http://schemas.microsoft.com/office/drawing/2014/main" id="{FC34378B-AF5F-F7F6-C3BF-7C3C3772317E}"/>
              </a:ext>
            </a:extLst>
          </p:cNvPr>
          <p:cNvSpPr txBox="1">
            <a:spLocks/>
          </p:cNvSpPr>
          <p:nvPr/>
        </p:nvSpPr>
        <p:spPr>
          <a:xfrm>
            <a:off x="5964337" y="6032842"/>
            <a:ext cx="1767271" cy="62373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746FB2"/>
                </a:solidFill>
                <a:latin typeface="Helvetica" panose="020B0604020202020204"/>
                <a:cs typeface="Helvetica"/>
              </a:rPr>
              <a:t>Abies</a:t>
            </a:r>
            <a:r>
              <a:rPr lang="es-ES" sz="1800" i="1" dirty="0">
                <a:solidFill>
                  <a:srgbClr val="746FB2"/>
                </a:solidFill>
                <a:latin typeface="Helvetica" panose="020B0604020202020204"/>
                <a:cs typeface="Helvetica"/>
              </a:rPr>
              <a:t> alba</a:t>
            </a:r>
          </a:p>
          <a:p>
            <a:pPr marL="0" indent="0">
              <a:buNone/>
            </a:pPr>
            <a:r>
              <a:rPr lang="es-ES" sz="1800" dirty="0" err="1">
                <a:solidFill>
                  <a:srgbClr val="746FB2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746FB2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7" name="Marcador de contenido 2">
            <a:extLst>
              <a:ext uri="{FF2B5EF4-FFF2-40B4-BE49-F238E27FC236}">
                <a16:creationId xmlns:a16="http://schemas.microsoft.com/office/drawing/2014/main" id="{4B0949C0-CE88-5F6F-2A2A-8F35A1825371}"/>
              </a:ext>
            </a:extLst>
          </p:cNvPr>
          <p:cNvSpPr txBox="1">
            <a:spLocks/>
          </p:cNvSpPr>
          <p:nvPr/>
        </p:nvSpPr>
        <p:spPr>
          <a:xfrm>
            <a:off x="7982036" y="6014743"/>
            <a:ext cx="1767271" cy="622381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1B9E77"/>
                </a:solidFill>
                <a:latin typeface="Helvetica" panose="020B0604020202020204"/>
                <a:cs typeface="Helvetica"/>
              </a:rPr>
              <a:t> </a:t>
            </a:r>
            <a:r>
              <a:rPr lang="es-ES" sz="1800" i="1" dirty="0" err="1">
                <a:solidFill>
                  <a:srgbClr val="1B9E77"/>
                </a:solidFill>
                <a:latin typeface="Helvetica" panose="020B0604020202020204"/>
                <a:cs typeface="Helvetica"/>
              </a:rPr>
              <a:t>sylvestris</a:t>
            </a: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/>
            </a:endParaRPr>
          </a:p>
          <a:p>
            <a:pPr marL="0" indent="0">
              <a:buNone/>
            </a:pPr>
            <a:r>
              <a:rPr lang="es-ES" sz="1800" dirty="0" err="1">
                <a:solidFill>
                  <a:srgbClr val="1B9E77"/>
                </a:solidFill>
                <a:latin typeface="Helvetica" panose="020B0604020202020204"/>
                <a:cs typeface="Helvetica" panose="020B0604020202020204"/>
              </a:rPr>
              <a:t>Temperate</a:t>
            </a:r>
            <a:endParaRPr lang="es-ES" sz="1800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  <a:p>
            <a:pPr marL="0" indent="0">
              <a:buClr>
                <a:srgbClr val="218317"/>
              </a:buClr>
              <a:buNone/>
            </a:pPr>
            <a:endParaRPr lang="es-ES" sz="1800" i="1" dirty="0">
              <a:solidFill>
                <a:srgbClr val="1B9E77"/>
              </a:solidFill>
              <a:latin typeface="Helvetica" panose="020B0604020202020204"/>
              <a:cs typeface="Helvetica" panose="020B0604020202020204"/>
            </a:endParaRPr>
          </a:p>
        </p:txBody>
      </p:sp>
      <p:sp>
        <p:nvSpPr>
          <p:cNvPr id="18" name="Marcador de contenido 2">
            <a:extLst>
              <a:ext uri="{FF2B5EF4-FFF2-40B4-BE49-F238E27FC236}">
                <a16:creationId xmlns:a16="http://schemas.microsoft.com/office/drawing/2014/main" id="{1135D57B-08D8-51F6-DEA9-E0E450608DBE}"/>
              </a:ext>
            </a:extLst>
          </p:cNvPr>
          <p:cNvSpPr txBox="1">
            <a:spLocks/>
          </p:cNvSpPr>
          <p:nvPr/>
        </p:nvSpPr>
        <p:spPr>
          <a:xfrm>
            <a:off x="10424729" y="5991273"/>
            <a:ext cx="1767271" cy="6183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s-ES" sz="1800" i="1" dirty="0" err="1">
                <a:solidFill>
                  <a:srgbClr val="DB5F02"/>
                </a:solidFill>
                <a:latin typeface="Helvetica" panose="020B0604020202020204"/>
                <a:cs typeface="Helvetica"/>
              </a:rPr>
              <a:t>Pinus</a:t>
            </a:r>
            <a:r>
              <a:rPr lang="es-ES" sz="1800" i="1" dirty="0">
                <a:solidFill>
                  <a:srgbClr val="DB5F02"/>
                </a:solidFill>
                <a:latin typeface="Helvetica" panose="020B0604020202020204"/>
                <a:cs typeface="Helvetica"/>
              </a:rPr>
              <a:t> pinea</a:t>
            </a:r>
          </a:p>
          <a:p>
            <a:pPr marL="0" indent="0">
              <a:buClr>
                <a:srgbClr val="218317"/>
              </a:buClr>
              <a:buNone/>
            </a:pPr>
            <a:r>
              <a:rPr lang="es-ES" sz="1800" dirty="0" err="1">
                <a:solidFill>
                  <a:srgbClr val="DB5F02"/>
                </a:solidFill>
                <a:latin typeface="Helvetica" panose="020B0604020202020204"/>
                <a:cs typeface="Helvetica" panose="020B0604020202020204"/>
              </a:rPr>
              <a:t>Mediterranean</a:t>
            </a:r>
            <a:endParaRPr lang="es-ES" sz="1800" dirty="0">
              <a:solidFill>
                <a:srgbClr val="DB5F02"/>
              </a:solidFill>
              <a:latin typeface="Helvetica" panose="020B0604020202020204"/>
              <a:cs typeface="Helvetica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27882134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0B495-ED0E-EF3A-6BD2-C7FA5BDD7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D5FF754-C5C9-4FE6-E5B4-75FCC20EA7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03C9F21-4171-725D-03AF-BEB30383F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2BDC4143-303B-7342-BFB0-950B435C6124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BFB288F5-1B92-5E80-314A-2213F6F76BCB}"/>
              </a:ext>
            </a:extLst>
          </p:cNvPr>
          <p:cNvSpPr txBox="1"/>
          <p:nvPr/>
        </p:nvSpPr>
        <p:spPr>
          <a:xfrm>
            <a:off x="413083" y="969430"/>
            <a:ext cx="113658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Boxplots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resulting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from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binning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scatterplots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~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/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morphological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 </a:t>
            </a:r>
          </a:p>
        </p:txBody>
      </p:sp>
      <p:sp>
        <p:nvSpPr>
          <p:cNvPr id="14" name="CuadroTexto 10">
            <a:extLst>
              <a:ext uri="{FF2B5EF4-FFF2-40B4-BE49-F238E27FC236}">
                <a16:creationId xmlns:a16="http://schemas.microsoft.com/office/drawing/2014/main" id="{FFB64ED1-1211-5C91-75C9-AAC316189016}"/>
              </a:ext>
            </a:extLst>
          </p:cNvPr>
          <p:cNvSpPr txBox="1"/>
          <p:nvPr/>
        </p:nvSpPr>
        <p:spPr>
          <a:xfrm>
            <a:off x="4011917" y="1338762"/>
            <a:ext cx="48709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24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Now</a:t>
            </a: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inverted</a:t>
            </a: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axis </a:t>
            </a:r>
            <a:r>
              <a:rPr lang="es-ES" sz="2400" dirty="0">
                <a:solidFill>
                  <a:srgbClr val="FF0000"/>
                </a:solidFill>
                <a:latin typeface="Helvetica" panose="020B0604020202020204" pitchFamily="34" charset="0"/>
                <a:cs typeface="Helvetica" panose="020B0604020202020204" pitchFamily="34" charset="0"/>
                <a:sym typeface="Wingdings" panose="05000000000000000000" pitchFamily="2" charset="2"/>
              </a:rPr>
              <a:t> )</a:t>
            </a:r>
            <a:endParaRPr lang="es-ES" sz="2400" dirty="0">
              <a:solidFill>
                <a:srgbClr val="FF0000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E3D626E-0187-7CF4-4194-B1CB0FF5D7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0952" y="2092634"/>
            <a:ext cx="9398196" cy="4176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655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48E7D-5612-D95C-DF42-5C78C6405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EC6333AE-E806-EA57-25B1-9A8C1E82D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8F015EF-EE04-BD1E-1D3B-B3F1ED806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CF56776-219A-C196-72A0-782D88403A6E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BBCC3E21-FF99-FC9B-5A90-421ED5E5E13E}"/>
              </a:ext>
            </a:extLst>
          </p:cNvPr>
          <p:cNvSpPr txBox="1"/>
          <p:nvPr/>
        </p:nvSpPr>
        <p:spPr>
          <a:xfrm>
            <a:off x="350196" y="3996418"/>
            <a:ext cx="334631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species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mainly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2000" i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alba,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drought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due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hydraulic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limiations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3CB32D6-410F-0171-323E-43A1141CA4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592" b="50371"/>
          <a:stretch/>
        </p:blipFill>
        <p:spPr>
          <a:xfrm>
            <a:off x="350196" y="953692"/>
            <a:ext cx="3070337" cy="289318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6805AE77-8D72-81FB-AB4B-ABD89DDEF6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124" r="8019" b="50371"/>
          <a:stretch/>
        </p:blipFill>
        <p:spPr>
          <a:xfrm>
            <a:off x="4538012" y="953692"/>
            <a:ext cx="6014817" cy="2893189"/>
          </a:xfrm>
          <a:prstGeom prst="rect">
            <a:avLst/>
          </a:prstGeom>
        </p:spPr>
      </p:pic>
      <p:sp>
        <p:nvSpPr>
          <p:cNvPr id="12" name="CuadroTexto 10">
            <a:extLst>
              <a:ext uri="{FF2B5EF4-FFF2-40B4-BE49-F238E27FC236}">
                <a16:creationId xmlns:a16="http://schemas.microsoft.com/office/drawing/2014/main" id="{5C3D8FAF-7AB8-A9B0-AF2A-4F24437C25F7}"/>
              </a:ext>
            </a:extLst>
          </p:cNvPr>
          <p:cNvSpPr txBox="1"/>
          <p:nvPr/>
        </p:nvSpPr>
        <p:spPr>
          <a:xfrm>
            <a:off x="4538012" y="4103465"/>
            <a:ext cx="6014817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Generally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l-GR" sz="2000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C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negatively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conductance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thus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implying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that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plants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shut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their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with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aridity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despite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VPD).</a:t>
            </a:r>
          </a:p>
        </p:txBody>
      </p:sp>
    </p:spTree>
    <p:extLst>
      <p:ext uri="{BB962C8B-B14F-4D97-AF65-F5344CB8AC3E}">
        <p14:creationId xmlns:p14="http://schemas.microsoft.com/office/powerpoint/2010/main" val="122432597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77EFA-FB22-6AE7-9F7B-FBC81C4EB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8DC16E75-696D-929D-72C8-C096F14BB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F1ED0F0-0EFD-9159-F371-46963A44D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5D2CE24-AE03-7CF8-FA55-C4E38034A812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DFB6E514-44A5-A5E4-D871-5A488FFD091B}"/>
              </a:ext>
            </a:extLst>
          </p:cNvPr>
          <p:cNvSpPr txBox="1"/>
          <p:nvPr/>
        </p:nvSpPr>
        <p:spPr>
          <a:xfrm>
            <a:off x="223737" y="3996418"/>
            <a:ext cx="357977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Chlorophylls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does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not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drop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as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levels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  <a:p>
            <a:pPr lvl="1" algn="ctr"/>
            <a:r>
              <a:rPr lang="es-ES" sz="2000" b="1" i="1" dirty="0" err="1">
                <a:latin typeface="Helvetica" panose="020B0604020202020204" pitchFamily="34" charset="0"/>
                <a:cs typeface="Helvetica" panose="020B0604020202020204" pitchFamily="34" charset="0"/>
              </a:rPr>
              <a:t>Abies</a:t>
            </a:r>
            <a:r>
              <a:rPr lang="es-ES" sz="2000" b="1" i="1" dirty="0">
                <a:latin typeface="Helvetica" panose="020B0604020202020204" pitchFamily="34" charset="0"/>
                <a:cs typeface="Helvetica" panose="020B0604020202020204" pitchFamily="34" charset="0"/>
              </a:rPr>
              <a:t> alba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seems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more vulnerable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9FB8D6F8-E6CF-CB36-9BE7-93CE323315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" t="50006" r="76526" b="365"/>
          <a:stretch/>
        </p:blipFill>
        <p:spPr>
          <a:xfrm>
            <a:off x="350196" y="953692"/>
            <a:ext cx="3070337" cy="2893189"/>
          </a:xfrm>
          <a:prstGeom prst="rect">
            <a:avLst/>
          </a:prstGeom>
        </p:spPr>
      </p:pic>
      <p:sp>
        <p:nvSpPr>
          <p:cNvPr id="4" name="CuadroTexto 10">
            <a:extLst>
              <a:ext uri="{FF2B5EF4-FFF2-40B4-BE49-F238E27FC236}">
                <a16:creationId xmlns:a16="http://schemas.microsoft.com/office/drawing/2014/main" id="{768ADF5C-4667-0C99-FFEE-F15BCC6598A9}"/>
              </a:ext>
            </a:extLst>
          </p:cNvPr>
          <p:cNvSpPr txBox="1"/>
          <p:nvPr/>
        </p:nvSpPr>
        <p:spPr>
          <a:xfrm>
            <a:off x="3753746" y="3996418"/>
            <a:ext cx="307033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At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intermidiate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levels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SLA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but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at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trend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inverts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57FD1B1-67EF-346A-2A26-53834D41E4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4" t="50000" r="53758" b="371"/>
          <a:stretch/>
        </p:blipFill>
        <p:spPr>
          <a:xfrm>
            <a:off x="3673813" y="953692"/>
            <a:ext cx="3070337" cy="2893189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CA47DC28-58A9-1B1F-D7CA-4517570562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964" t="50371" r="7628"/>
          <a:stretch/>
        </p:blipFill>
        <p:spPr>
          <a:xfrm>
            <a:off x="7236300" y="953692"/>
            <a:ext cx="3070337" cy="2893189"/>
          </a:xfrm>
          <a:prstGeom prst="rect">
            <a:avLst/>
          </a:prstGeom>
        </p:spPr>
      </p:pic>
      <p:sp>
        <p:nvSpPr>
          <p:cNvPr id="7" name="CuadroTexto 10">
            <a:extLst>
              <a:ext uri="{FF2B5EF4-FFF2-40B4-BE49-F238E27FC236}">
                <a16:creationId xmlns:a16="http://schemas.microsoft.com/office/drawing/2014/main" id="{F26F268C-BCBD-B544-32D3-1A1645F3B6CF}"/>
              </a:ext>
            </a:extLst>
          </p:cNvPr>
          <p:cNvSpPr txBox="1"/>
          <p:nvPr/>
        </p:nvSpPr>
        <p:spPr>
          <a:xfrm>
            <a:off x="7236299" y="3996418"/>
            <a:ext cx="307033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As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so do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differences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growth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non-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declining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9343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B7013-6D0A-7537-502D-486D1C6BA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3B2BFE58-A519-A475-6804-6B9D824ACE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8B6CD91-6F8B-1D09-D8A7-0AA69684D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5625C6D5-EFCE-0E08-5993-DC61E502933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9F1A8540-4C6A-82CF-52A9-CB66EF9B2B02}"/>
              </a:ext>
            </a:extLst>
          </p:cNvPr>
          <p:cNvSpPr txBox="1"/>
          <p:nvPr/>
        </p:nvSpPr>
        <p:spPr>
          <a:xfrm>
            <a:off x="164779" y="1041360"/>
            <a:ext cx="116819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Scatterplots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/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morphological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 ~ Mean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Annual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Precipitation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(mean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from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last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10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years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)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E69BDCFE-28F6-A8A9-7D8B-7DB48E3794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622" y="1872357"/>
            <a:ext cx="10306755" cy="4580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2202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3DFE-15BC-0CC3-4DD4-6BB8059ED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F1A7ECA8-8470-69CF-63F2-079F488AA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8F775AA-7061-CB15-CC32-84B922D69B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1FD26ACB-CE45-E406-281D-C5359F2D1998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CuadroTexto 10">
            <a:extLst>
              <a:ext uri="{FF2B5EF4-FFF2-40B4-BE49-F238E27FC236}">
                <a16:creationId xmlns:a16="http://schemas.microsoft.com/office/drawing/2014/main" id="{7CC4FF75-944D-4D0C-F1F3-41E86F2E6A4F}"/>
              </a:ext>
            </a:extLst>
          </p:cNvPr>
          <p:cNvSpPr txBox="1"/>
          <p:nvPr/>
        </p:nvSpPr>
        <p:spPr>
          <a:xfrm>
            <a:off x="216869" y="3932768"/>
            <a:ext cx="306709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Positive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relationship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MAP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Maybe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limiting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CBB1843F-83A7-B941-23A5-656F351B31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10" t="74906" r="55659" b="109"/>
          <a:stretch/>
        </p:blipFill>
        <p:spPr>
          <a:xfrm>
            <a:off x="8791866" y="1014072"/>
            <a:ext cx="2787817" cy="2772423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D8311DB6-FC03-1B0F-2550-8B5345F8847E}"/>
              </a:ext>
            </a:extLst>
          </p:cNvPr>
          <p:cNvSpPr txBox="1"/>
          <p:nvPr/>
        </p:nvSpPr>
        <p:spPr>
          <a:xfrm>
            <a:off x="8638998" y="3996411"/>
            <a:ext cx="334631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SLA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more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Thus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these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sites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exhibit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less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conservative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behaviour</a:t>
            </a:r>
            <a:endParaRPr lang="es-ES" sz="2000" b="1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0B2AAE7D-02DF-F896-7A58-828DA27328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7552" b="50923"/>
          <a:stretch/>
        </p:blipFill>
        <p:spPr>
          <a:xfrm>
            <a:off x="356506" y="1014072"/>
            <a:ext cx="2787816" cy="2708779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04146EBA-179B-17B6-2BEA-5034E3F973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25" t="346" r="55427" b="50577"/>
          <a:stretch/>
        </p:blipFill>
        <p:spPr>
          <a:xfrm>
            <a:off x="3216235" y="1045893"/>
            <a:ext cx="2787816" cy="2708779"/>
          </a:xfrm>
          <a:prstGeom prst="rect">
            <a:avLst/>
          </a:prstGeom>
        </p:spPr>
      </p:pic>
      <p:sp>
        <p:nvSpPr>
          <p:cNvPr id="14" name="CuadroTexto 10">
            <a:extLst>
              <a:ext uri="{FF2B5EF4-FFF2-40B4-BE49-F238E27FC236}">
                <a16:creationId xmlns:a16="http://schemas.microsoft.com/office/drawing/2014/main" id="{6FC9CC83-1091-F428-609E-4A873E7C6321}"/>
              </a:ext>
            </a:extLst>
          </p:cNvPr>
          <p:cNvSpPr txBox="1"/>
          <p:nvPr/>
        </p:nvSpPr>
        <p:spPr>
          <a:xfrm>
            <a:off x="3076597" y="3842522"/>
            <a:ext cx="57152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Lower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C:N ratios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could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be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related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chl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concentrations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vulnerability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as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photosynthetic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increase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FFB25EE4-577B-14C8-B248-D3C196F5A7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5" t="49755" r="77007" b="1168"/>
          <a:stretch/>
        </p:blipFill>
        <p:spPr>
          <a:xfrm>
            <a:off x="6004051" y="1045893"/>
            <a:ext cx="2787816" cy="270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4292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80E46-29DF-4D44-157F-C0236083C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0418EB6-77EB-AAB5-7FE5-455534EB1F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D212F7E-2E79-B91D-A29B-0A2ABA467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76CA957F-7592-446C-CFEB-8167D24D138A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A583168-FC81-9679-173F-E7361B6D8C3E}"/>
              </a:ext>
            </a:extLst>
          </p:cNvPr>
          <p:cNvSpPr txBox="1"/>
          <p:nvPr/>
        </p:nvSpPr>
        <p:spPr>
          <a:xfrm>
            <a:off x="7118708" y="3996411"/>
            <a:ext cx="334631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positive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relation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MAP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10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year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-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BAI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observed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963CE987-91DD-6CB2-2FFD-AA4E22B08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899" t="923" r="33653" b="50000"/>
          <a:stretch/>
        </p:blipFill>
        <p:spPr>
          <a:xfrm>
            <a:off x="346325" y="1014072"/>
            <a:ext cx="2787816" cy="270877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7C57CB05-6CC7-A73A-8BD3-009B79941A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47" r="11205" b="50923"/>
          <a:stretch/>
        </p:blipFill>
        <p:spPr>
          <a:xfrm>
            <a:off x="3134141" y="1014072"/>
            <a:ext cx="2787816" cy="2708779"/>
          </a:xfrm>
          <a:prstGeom prst="rect">
            <a:avLst/>
          </a:prstGeom>
        </p:spPr>
      </p:pic>
      <p:sp>
        <p:nvSpPr>
          <p:cNvPr id="5" name="CuadroTexto 10">
            <a:extLst>
              <a:ext uri="{FF2B5EF4-FFF2-40B4-BE49-F238E27FC236}">
                <a16:creationId xmlns:a16="http://schemas.microsoft.com/office/drawing/2014/main" id="{52DDF282-5E7D-6FD9-9711-F5336EBDB592}"/>
              </a:ext>
            </a:extLst>
          </p:cNvPr>
          <p:cNvSpPr txBox="1"/>
          <p:nvPr/>
        </p:nvSpPr>
        <p:spPr>
          <a:xfrm>
            <a:off x="962511" y="3996418"/>
            <a:ext cx="490949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and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O are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negatively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MAP.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slope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slightly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sights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lighter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lines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).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related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conductance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places,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thus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allowing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(and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water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loss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)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3547AAEB-73D6-095E-73EA-319454F8ED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256" t="50000" r="11296" b="923"/>
          <a:stretch/>
        </p:blipFill>
        <p:spPr>
          <a:xfrm>
            <a:off x="7397957" y="1014072"/>
            <a:ext cx="2787816" cy="270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3356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32BED-3736-FEAB-171A-F5DB8509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B4FE366D-D4C0-F7D3-0014-0434D1FAF7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C12E6D0-5B6D-EFEB-FAD2-4C46B82AA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B1B657E6-48DF-374B-3CFA-3E442052EB9B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9" name="CuadroTexto 10">
            <a:extLst>
              <a:ext uri="{FF2B5EF4-FFF2-40B4-BE49-F238E27FC236}">
                <a16:creationId xmlns:a16="http://schemas.microsoft.com/office/drawing/2014/main" id="{2D3BD283-A260-12C2-95B2-2149C0AAA33B}"/>
              </a:ext>
            </a:extLst>
          </p:cNvPr>
          <p:cNvSpPr txBox="1"/>
          <p:nvPr/>
        </p:nvSpPr>
        <p:spPr>
          <a:xfrm>
            <a:off x="962511" y="3996418"/>
            <a:ext cx="490949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Both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13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C and </a:t>
            </a:r>
            <a:r>
              <a:rPr lang="el-GR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δ</a:t>
            </a:r>
            <a:r>
              <a:rPr lang="es-ES" sz="2000" b="1" baseline="30000" dirty="0">
                <a:latin typeface="Helvetica" panose="020B0604020202020204" pitchFamily="34" charset="0"/>
                <a:cs typeface="Helvetica" panose="020B0604020202020204" pitchFamily="34" charset="0"/>
              </a:rPr>
              <a:t>18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O are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negatively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correlated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MAP.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slope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slightly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for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damaged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sights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(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lighter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lines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).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related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to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stomatal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conductance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values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in more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humid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places,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thus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allowing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higher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transpiration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rates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.</a:t>
            </a: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E5B71772-4715-4ACE-D656-B8C8D5884B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52" t="25015" r="55417" b="50000"/>
          <a:stretch/>
        </p:blipFill>
        <p:spPr>
          <a:xfrm>
            <a:off x="629442" y="1014077"/>
            <a:ext cx="2787817" cy="2772423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CF5E5876-8A44-9568-2B47-E8422E8ACA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385" t="25015" r="11284" b="50000"/>
          <a:stretch/>
        </p:blipFill>
        <p:spPr>
          <a:xfrm>
            <a:off x="3417259" y="1014076"/>
            <a:ext cx="2787817" cy="2772423"/>
          </a:xfrm>
          <a:prstGeom prst="rect">
            <a:avLst/>
          </a:prstGeom>
        </p:spPr>
      </p:pic>
      <p:sp>
        <p:nvSpPr>
          <p:cNvPr id="13" name="CuadroTexto 10">
            <a:extLst>
              <a:ext uri="{FF2B5EF4-FFF2-40B4-BE49-F238E27FC236}">
                <a16:creationId xmlns:a16="http://schemas.microsoft.com/office/drawing/2014/main" id="{701CE39C-6585-BA23-4F55-CC82259F67E3}"/>
              </a:ext>
            </a:extLst>
          </p:cNvPr>
          <p:cNvSpPr txBox="1"/>
          <p:nvPr/>
        </p:nvSpPr>
        <p:spPr>
          <a:xfrm>
            <a:off x="6866741" y="3996418"/>
            <a:ext cx="334631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algn="ctr"/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Positive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relationship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between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height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and MAP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only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in </a:t>
            </a:r>
            <a:r>
              <a:rPr lang="es-ES" sz="20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healthy</a:t>
            </a:r>
            <a:r>
              <a:rPr lang="es-ES" sz="2000" b="1" dirty="0">
                <a:latin typeface="Helvetica" panose="020B0604020202020204" pitchFamily="34" charset="0"/>
                <a:cs typeface="Helvetica" panose="020B0604020202020204" pitchFamily="34" charset="0"/>
              </a:rPr>
              <a:t> sites.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Maybe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defoliation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is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limiting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tree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000" dirty="0" err="1">
                <a:latin typeface="Helvetica" panose="020B0604020202020204" pitchFamily="34" charset="0"/>
                <a:cs typeface="Helvetica" panose="020B0604020202020204" pitchFamily="34" charset="0"/>
              </a:rPr>
              <a:t>size</a:t>
            </a:r>
            <a:r>
              <a:rPr lang="es-ES" sz="2000" dirty="0">
                <a:latin typeface="Helvetica" panose="020B0604020202020204" pitchFamily="34" charset="0"/>
                <a:cs typeface="Helvetica" panose="020B0604020202020204" pitchFamily="34" charset="0"/>
              </a:rPr>
              <a:t>?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9DBE3F1B-9188-5AC8-293B-4D8910A34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48" t="75015" r="55521"/>
          <a:stretch/>
        </p:blipFill>
        <p:spPr>
          <a:xfrm>
            <a:off x="7145989" y="1014076"/>
            <a:ext cx="2787817" cy="2772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0488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D993A-4DB5-4A80-B6D4-5E731B2FE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8DE55615-3C82-C874-ADB5-7C8FBE4AC4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622" y="1930395"/>
            <a:ext cx="10176167" cy="452266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D4BA61AA-71DA-2059-38C1-08FCD08CD5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88915" y="1477262"/>
            <a:ext cx="9366245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s-ES" altLang="es-ES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s-ES" altLang="es-E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70FEE40-438B-B89A-50EA-F71E8B581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9690902" cy="804155"/>
          </a:xfrm>
          <a:solidFill>
            <a:srgbClr val="218317"/>
          </a:solidFill>
        </p:spPr>
        <p:txBody>
          <a:bodyPr>
            <a:normAutofit/>
          </a:bodyPr>
          <a:lstStyle/>
          <a:p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	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Preliminary</a:t>
            </a:r>
            <a:r>
              <a:rPr lang="es-ES" sz="3200" b="1" dirty="0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3200" b="1" dirty="0" err="1">
                <a:solidFill>
                  <a:schemeClr val="bg1"/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results</a:t>
            </a:r>
            <a:endParaRPr lang="es-ES" sz="3200" b="1" dirty="0">
              <a:solidFill>
                <a:schemeClr val="bg1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C6747849-D6EE-1F28-F127-EAB2ABBBE5E1}"/>
              </a:ext>
            </a:extLst>
          </p:cNvPr>
          <p:cNvSpPr txBox="1">
            <a:spLocks/>
          </p:cNvSpPr>
          <p:nvPr/>
        </p:nvSpPr>
        <p:spPr>
          <a:xfrm>
            <a:off x="9690902" y="-1"/>
            <a:ext cx="2501098" cy="804157"/>
          </a:xfrm>
          <a:prstGeom prst="rect">
            <a:avLst/>
          </a:prstGeom>
          <a:solidFill>
            <a:srgbClr val="218317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" sz="2800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rPr>
              <a:t>Figures	</a:t>
            </a:r>
            <a:endParaRPr lang="es-ES" sz="2800" b="1" dirty="0">
              <a:solidFill>
                <a:srgbClr val="218317"/>
              </a:solidFill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13" name="CuadroTexto 10">
            <a:extLst>
              <a:ext uri="{FF2B5EF4-FFF2-40B4-BE49-F238E27FC236}">
                <a16:creationId xmlns:a16="http://schemas.microsoft.com/office/drawing/2014/main" id="{F88876D3-D396-01B3-E994-4CFCD8146DF3}"/>
              </a:ext>
            </a:extLst>
          </p:cNvPr>
          <p:cNvSpPr txBox="1"/>
          <p:nvPr/>
        </p:nvSpPr>
        <p:spPr>
          <a:xfrm>
            <a:off x="164779" y="1041360"/>
            <a:ext cx="11681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Scatterplots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dirty="0" err="1">
                <a:latin typeface="Helvetica" panose="020B0604020202020204" pitchFamily="34" charset="0"/>
                <a:cs typeface="Helvetica" panose="020B0604020202020204" pitchFamily="34" charset="0"/>
              </a:rPr>
              <a:t>representing</a:t>
            </a:r>
            <a:r>
              <a:rPr lang="es-ES" sz="24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leaf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/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morphological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traits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 ~ 12 </a:t>
            </a:r>
            <a:r>
              <a:rPr lang="es-ES" sz="2400" b="1" dirty="0" err="1">
                <a:latin typeface="Helvetica" panose="020B0604020202020204" pitchFamily="34" charset="0"/>
                <a:cs typeface="Helvetica" panose="020B0604020202020204" pitchFamily="34" charset="0"/>
              </a:rPr>
              <a:t>month</a:t>
            </a:r>
            <a:r>
              <a:rPr lang="es-ES" sz="2400" b="1" dirty="0">
                <a:latin typeface="Helvetica" panose="020B0604020202020204" pitchFamily="34" charset="0"/>
                <a:cs typeface="Helvetica" panose="020B0604020202020204" pitchFamily="34" charset="0"/>
              </a:rPr>
              <a:t> SPEI</a:t>
            </a:r>
            <a:endParaRPr lang="es-ES" sz="24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818576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1412</TotalTime>
  <Words>1154</Words>
  <Application>Microsoft Office PowerPoint</Application>
  <PresentationFormat>Panorámica</PresentationFormat>
  <Paragraphs>216</Paragraphs>
  <Slides>20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Helvetica</vt:lpstr>
      <vt:lpstr>Times New Roman</vt:lpstr>
      <vt:lpstr>Tema de Office</vt:lpstr>
      <vt:lpstr>Preliminar analyses  -  Figures</vt:lpstr>
      <vt:lpstr> Complementary strategies to cope with drought</vt:lpstr>
      <vt:lpstr> Complementary strategies to cope with drought</vt:lpstr>
      <vt:lpstr> Study area</vt:lpstr>
      <vt:lpstr>Presentación de PowerPoint</vt:lpstr>
      <vt:lpstr>Presentación de PowerPoint</vt:lpstr>
      <vt:lpstr>Presentación de PowerPoint</vt:lpstr>
      <vt:lpstr>Presentación de PowerPoint</vt:lpstr>
      <vt:lpstr> Sampling design</vt:lpstr>
      <vt:lpstr> Sampling design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  <vt:lpstr> Preliminary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Cristopher Fernández de Blas</dc:creator>
  <cp:lastModifiedBy>Cristopher Fernández de Blas</cp:lastModifiedBy>
  <cp:revision>11</cp:revision>
  <dcterms:created xsi:type="dcterms:W3CDTF">2025-04-25T13:52:31Z</dcterms:created>
  <dcterms:modified xsi:type="dcterms:W3CDTF">2025-05-28T09:08:04Z</dcterms:modified>
</cp:coreProperties>
</file>