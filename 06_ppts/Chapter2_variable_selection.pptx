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300" r:id="rId3"/>
    <p:sldId id="302" r:id="rId4"/>
    <p:sldId id="305" r:id="rId5"/>
    <p:sldId id="280" r:id="rId6"/>
    <p:sldId id="257" r:id="rId7"/>
    <p:sldId id="287" r:id="rId8"/>
    <p:sldId id="308" r:id="rId9"/>
    <p:sldId id="303" r:id="rId10"/>
    <p:sldId id="290" r:id="rId11"/>
    <p:sldId id="301" r:id="rId12"/>
    <p:sldId id="295" r:id="rId13"/>
    <p:sldId id="293" r:id="rId14"/>
    <p:sldId id="297" r:id="rId15"/>
    <p:sldId id="298" r:id="rId16"/>
    <p:sldId id="299" r:id="rId17"/>
    <p:sldId id="266" r:id="rId18"/>
    <p:sldId id="291" r:id="rId19"/>
    <p:sldId id="292" r:id="rId20"/>
    <p:sldId id="285" r:id="rId21"/>
    <p:sldId id="306" r:id="rId22"/>
    <p:sldId id="307" r:id="rId2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FF"/>
    <a:srgbClr val="996633"/>
    <a:srgbClr val="2F5597"/>
    <a:srgbClr val="F4B183"/>
    <a:srgbClr val="FF0909"/>
    <a:srgbClr val="CC99FF"/>
    <a:srgbClr val="33CCFF"/>
    <a:srgbClr val="00FF9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27" autoAdjust="0"/>
    <p:restoredTop sz="94660"/>
  </p:normalViewPr>
  <p:slideViewPr>
    <p:cSldViewPr snapToGrid="0">
      <p:cViewPr varScale="1">
        <p:scale>
          <a:sx n="82" d="100"/>
          <a:sy n="82" d="100"/>
        </p:scale>
        <p:origin x="79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88D9D2-07E9-4AA1-9670-856C9416EFC9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5FDE4-93F4-408E-86B8-0E5015E100E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633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B400-9A8A-7F03-B0EB-76C96DF3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3F435-3ED7-246C-A254-4E692088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87483-EBF4-3898-8648-A6AFD514D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7B01F-9577-0E8D-133F-B55FFE2D0E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5FDE4-93F4-408E-86B8-0E5015E100EF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8944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0AB7B-18CD-6B2F-1C80-D92E36461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5C7022-70F0-70A8-B18A-18C5778FBE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8E1034-B451-FF2C-DA99-83F9EBC3A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477CC-4DF5-48E1-E12B-D9B17C4CA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5FDE4-93F4-408E-86B8-0E5015E100E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88872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80B2-1491-5014-06C6-24808E8AB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A8CBB-3475-40AC-7897-73180665F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75B6F-402C-AEAB-8BE6-E3D886199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E434-DB8D-86DE-3837-233CA1FD66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5FDE4-93F4-408E-86B8-0E5015E100E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802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0654-52F4-4B40-EFDD-1978CF322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A65343-AB84-2B71-27B8-7CF2099F27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E8F7E-629B-A96E-015E-78E0F4544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0A9EF-98EB-FE50-4AB3-AB389D5A9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9E153-8A97-01FB-CC9B-6E79C5F15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002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9B885-2F5F-7D16-686C-F5202B717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6271F-8513-A1FB-66A6-ED1EE4ED1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77BC5-C505-926A-3E13-539C8BDFB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D2C89-5FE6-CC4C-9788-85C92C2BE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80C17-DC78-201B-A377-1EDCC247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5597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5750E-4C2C-3C05-C318-CD808E5EE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40AC8-83DA-0E85-3B5B-C5C301E00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A5115-10DF-5586-F737-DBC350CB5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19B05-8A55-B739-AEE2-F6B539247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20D43-576E-5735-125E-E900147EC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632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FA36B-ADD7-9B7D-BDA8-384F5EBF0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5ED6A-19EE-2FE7-2BEA-94AA3A9FE4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1865C-E9A3-2CCD-7DDB-BC52ACE0A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06929-C52E-E8B5-12A6-944C0225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C59DCA-B8AC-3997-18FB-42D9BD62C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473A30-FF5F-25BC-B780-C4222EB22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6177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82DC5-56B6-6340-AAD4-63D03F9AA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5F45F-7ECB-68E6-BF9E-BD7764DE7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5C999-97E0-81FA-E934-7312EB364F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E5C19-0F09-7E3E-E3C0-C306ACC650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C9A19B-C722-8FA0-E1DE-B75FDA1B4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F4CFF0-19E7-99DA-C9F7-79AF15D6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01FC14-E80A-E495-F3B1-357B662BE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89EAF-301B-B101-98F0-7A4D1DF6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2161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8A21C-86C0-A3B2-77C3-20693B186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A9D7-F3FA-59E0-9546-41FD9E7BF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75A5CE-1EA5-C04D-718C-4DC45E0C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A1EF8F-1D7B-3CB2-DBEA-2DEF41DC8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9709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D1367-C3A0-6087-3324-DAB17C2C1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D70741-7B34-5A62-934B-451C523B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9001E-CF60-4AE9-1CCB-197CB20B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06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0AB31-B7F8-874C-1D55-B1E8046FD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DDB17-50BF-5808-489E-4271D7B4C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DA1F0-F678-7414-6A2D-9E2D8F6F2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15082D-BA2F-1CA8-3B59-D9A70FE3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40F2A-6760-70E6-2CF9-EAF6B4C82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F5818-22CF-3231-41DE-DBE11D73B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68879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1A6F6-5CA1-535E-53DD-B68E8DB9A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88F982-2C77-16D0-058C-7E551BB86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CCA5D-1399-5CA4-C376-70AA538BA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1815B-9D4E-0B5A-FDCE-3705E3FA7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2F6FF5-1840-3885-7F6E-ACA25B873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DE6325-1949-F00B-9E66-F8E64189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258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6929-5B57-3A5F-1416-AB1B060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7EAE85-9F33-BFC5-E1CC-BB381395F1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ED2FE-040E-8C56-C221-9FF089EFA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A4887-DB08-E7FD-4ABB-514C7E48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6DB5C-9A0E-59FC-A12C-F247E25F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8066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770EDC-9A24-72B2-F40D-B8CA446F0A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F5BF5B-A23B-6232-E384-87A4ED651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24BCF-EDF5-5F5A-654E-D4891112E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7D32-D6BD-4015-8DEB-7076E2923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10BF6-A7FB-5C44-8CFF-9AAAFCF13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50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89B66-2C7B-D381-4C5E-66866155D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2B871A-9F46-DB8C-FF5A-B43F41906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0FA4-EE32-1E3D-3798-170981DD5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028B1A-6337-4A99-88FE-A8058CCFDBEA}" type="datetimeFigureOut">
              <a:rPr lang="es-ES" smtClean="0"/>
              <a:t>03/12/2025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A1FF5-9980-3C1A-19B6-259A38717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AB8434-F574-302B-655F-F471CA27E9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859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tiff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37296A-986F-FB5A-34E5-CF9CABD3D430}"/>
              </a:ext>
            </a:extLst>
          </p:cNvPr>
          <p:cNvSpPr/>
          <p:nvPr/>
        </p:nvSpPr>
        <p:spPr>
          <a:xfrm>
            <a:off x="0" y="0"/>
            <a:ext cx="12192000" cy="463731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02C69-B72E-D858-935F-A89769AF84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Variable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selection</a:t>
            </a:r>
            <a:b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</a:b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Objectives</a:t>
            </a:r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 1 &amp; 2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Results</a:t>
            </a:r>
            <a:b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</a:b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Model</a:t>
            </a:r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proposal</a:t>
            </a:r>
            <a:endParaRPr lang="es-ES" b="1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672DFB-4A94-5F33-58DA-ACCDE8C536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12381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 err="1">
                <a:latin typeface="Helvetica" panose="020B0604020202020204"/>
                <a:cs typeface="Helvetica" panose="020B0604020202020204"/>
              </a:rPr>
              <a:t>Chapter</a:t>
            </a:r>
            <a:r>
              <a:rPr lang="es-ES" sz="3200" dirty="0">
                <a:latin typeface="Helvetica" panose="020B0604020202020204"/>
                <a:cs typeface="Helvetica" panose="020B0604020202020204"/>
              </a:rPr>
              <a:t> 2</a:t>
            </a:r>
          </a:p>
          <a:p>
            <a:r>
              <a:rPr lang="es-ES" sz="3200" dirty="0">
                <a:latin typeface="Helvetica" panose="020B0604020202020204"/>
                <a:cs typeface="Helvetica" panose="020B0604020202020204"/>
              </a:rPr>
              <a:t>19/11/2025</a:t>
            </a:r>
          </a:p>
        </p:txBody>
      </p:sp>
    </p:spTree>
    <p:extLst>
      <p:ext uri="{BB962C8B-B14F-4D97-AF65-F5344CB8AC3E}">
        <p14:creationId xmlns:p14="http://schemas.microsoft.com/office/powerpoint/2010/main" val="3207605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7EF-275B-6A37-AC66-1DC6A0E36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FB57FE1-3D67-8C19-C9FB-39F0384E4CED}"/>
              </a:ext>
            </a:extLst>
          </p:cNvPr>
          <p:cNvSpPr/>
          <p:nvPr/>
        </p:nvSpPr>
        <p:spPr>
          <a:xfrm>
            <a:off x="521735" y="1471816"/>
            <a:ext cx="3317314" cy="18317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FE95CB-D0C8-984C-C6CA-CF28DA2AD06C}"/>
              </a:ext>
            </a:extLst>
          </p:cNvPr>
          <p:cNvSpPr/>
          <p:nvPr/>
        </p:nvSpPr>
        <p:spPr>
          <a:xfrm>
            <a:off x="521734" y="3429000"/>
            <a:ext cx="11486764" cy="140798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D75C0-9C61-A530-5129-ABFD37C9266F}"/>
              </a:ext>
            </a:extLst>
          </p:cNvPr>
          <p:cNvSpPr/>
          <p:nvPr/>
        </p:nvSpPr>
        <p:spPr>
          <a:xfrm>
            <a:off x="3881535" y="1477938"/>
            <a:ext cx="8126963" cy="18317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30832-4201-AED9-4F4C-3F27C44F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8" y="51505"/>
            <a:ext cx="11353801" cy="1111766"/>
          </a:xfrm>
        </p:spPr>
        <p:txBody>
          <a:bodyPr>
            <a:noAutofit/>
          </a:bodyPr>
          <a:lstStyle/>
          <a:p>
            <a:pPr algn="ctr"/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Theoretical</a:t>
            </a:r>
            <a:r>
              <a:rPr lang="es-ES" sz="3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framework</a:t>
            </a:r>
            <a:b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certain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and stands are more vulnerable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86EB4B-1142-C1C5-0E36-E2824D8C42E5}"/>
              </a:ext>
            </a:extLst>
          </p:cNvPr>
          <p:cNvSpPr/>
          <p:nvPr/>
        </p:nvSpPr>
        <p:spPr>
          <a:xfrm>
            <a:off x="708348" y="2341983"/>
            <a:ext cx="3005236" cy="8770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Height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d.b.h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age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Hegyi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C9384B-FB43-976D-46E5-F6702E4B10D3}"/>
              </a:ext>
            </a:extLst>
          </p:cNvPr>
          <p:cNvSpPr/>
          <p:nvPr/>
        </p:nvSpPr>
        <p:spPr>
          <a:xfrm>
            <a:off x="3977172" y="2341983"/>
            <a:ext cx="3005236" cy="877078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C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SLA, C:N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3697C-AE8E-4903-30B2-7BA31437541E}"/>
              </a:ext>
            </a:extLst>
          </p:cNvPr>
          <p:cNvSpPr/>
          <p:nvPr/>
        </p:nvSpPr>
        <p:spPr>
          <a:xfrm>
            <a:off x="7245996" y="2341983"/>
            <a:ext cx="3005236" cy="877078"/>
          </a:xfrm>
          <a:prstGeom prst="rect">
            <a:avLst/>
          </a:prstGeom>
          <a:solidFill>
            <a:srgbClr val="FF99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N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15N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DCAAE3-131A-0BE2-948C-86978A87BEFD}"/>
              </a:ext>
            </a:extLst>
          </p:cNvPr>
          <p:cNvSpPr/>
          <p:nvPr/>
        </p:nvSpPr>
        <p:spPr>
          <a:xfrm>
            <a:off x="7245996" y="3841666"/>
            <a:ext cx="3005236" cy="87707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a/b,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98CB19-5821-7795-B991-D716764AD61F}"/>
              </a:ext>
            </a:extLst>
          </p:cNvPr>
          <p:cNvSpPr/>
          <p:nvPr/>
        </p:nvSpPr>
        <p:spPr>
          <a:xfrm>
            <a:off x="3977172" y="3841666"/>
            <a:ext cx="3005236" cy="87707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Carotenoids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/ car.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91630F-1A86-E878-5DB8-E2B269788293}"/>
              </a:ext>
            </a:extLst>
          </p:cNvPr>
          <p:cNvSpPr/>
          <p:nvPr/>
        </p:nvSpPr>
        <p:spPr>
          <a:xfrm>
            <a:off x="708348" y="3841666"/>
            <a:ext cx="3005236" cy="877078"/>
          </a:xfrm>
          <a:prstGeom prst="rect">
            <a:avLst/>
          </a:prstGeom>
          <a:solidFill>
            <a:srgbClr val="33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LWC,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13C,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18O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EA462C-D8AE-BBD5-3FCB-9672EB95EAAB}"/>
              </a:ext>
            </a:extLst>
          </p:cNvPr>
          <p:cNvSpPr/>
          <p:nvPr/>
        </p:nvSpPr>
        <p:spPr>
          <a:xfrm>
            <a:off x="3977172" y="5341349"/>
            <a:ext cx="3005236" cy="877078"/>
          </a:xfrm>
          <a:prstGeom prst="rect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BAI80, BAI05, </a:t>
            </a:r>
            <a:r>
              <a:rPr lang="es-ES" dirty="0" err="1">
                <a:solidFill>
                  <a:sysClr val="windowText" lastClr="000000"/>
                </a:solidFill>
              </a:rPr>
              <a:t>Rt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Rs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E483984B-1FEF-AC91-AE79-8A6CA8E40F32}"/>
              </a:ext>
            </a:extLst>
          </p:cNvPr>
          <p:cNvSpPr txBox="1">
            <a:spLocks/>
          </p:cNvSpPr>
          <p:nvPr/>
        </p:nvSpPr>
        <p:spPr>
          <a:xfrm>
            <a:off x="708348" y="1975177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size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65232C8-FD27-CD1D-D231-3B099D23FE33}"/>
              </a:ext>
            </a:extLst>
          </p:cNvPr>
          <p:cNvSpPr txBox="1">
            <a:spLocks/>
          </p:cNvSpPr>
          <p:nvPr/>
        </p:nvSpPr>
        <p:spPr>
          <a:xfrm>
            <a:off x="3977172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C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60947E65-97AB-5D25-4918-2AE2582BB293}"/>
              </a:ext>
            </a:extLst>
          </p:cNvPr>
          <p:cNvSpPr txBox="1">
            <a:spLocks/>
          </p:cNvSpPr>
          <p:nvPr/>
        </p:nvSpPr>
        <p:spPr>
          <a:xfrm>
            <a:off x="7245996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E191C26A-A74C-090C-0F74-AEFCB81403C6}"/>
              </a:ext>
            </a:extLst>
          </p:cNvPr>
          <p:cNvSpPr txBox="1">
            <a:spLocks/>
          </p:cNvSpPr>
          <p:nvPr/>
        </p:nvSpPr>
        <p:spPr>
          <a:xfrm>
            <a:off x="3977172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Photoprotection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B9B0C8-53C0-57F2-6052-AAA204B3E57D}"/>
              </a:ext>
            </a:extLst>
          </p:cNvPr>
          <p:cNvSpPr txBox="1">
            <a:spLocks/>
          </p:cNvSpPr>
          <p:nvPr/>
        </p:nvSpPr>
        <p:spPr>
          <a:xfrm>
            <a:off x="708347" y="3474860"/>
            <a:ext cx="2109883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DCD7B0D0-2701-8597-E949-12031E7069DC}"/>
              </a:ext>
            </a:extLst>
          </p:cNvPr>
          <p:cNvSpPr txBox="1">
            <a:spLocks/>
          </p:cNvSpPr>
          <p:nvPr/>
        </p:nvSpPr>
        <p:spPr>
          <a:xfrm>
            <a:off x="3977171" y="4955220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EB97099-13CE-3962-D44B-D641DD83CE0C}"/>
              </a:ext>
            </a:extLst>
          </p:cNvPr>
          <p:cNvSpPr txBox="1"/>
          <p:nvPr/>
        </p:nvSpPr>
        <p:spPr>
          <a:xfrm>
            <a:off x="9270248" y="1513512"/>
            <a:ext cx="2738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Resource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economic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spectrum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leaf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N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F5D7B31D-BE9B-F5E8-3117-534A68A75A39}"/>
              </a:ext>
            </a:extLst>
          </p:cNvPr>
          <p:cNvSpPr txBox="1">
            <a:spLocks/>
          </p:cNvSpPr>
          <p:nvPr/>
        </p:nvSpPr>
        <p:spPr>
          <a:xfrm>
            <a:off x="7245996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Photosynthetic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CuadroTexto 6">
            <a:extLst>
              <a:ext uri="{FF2B5EF4-FFF2-40B4-BE49-F238E27FC236}">
                <a16:creationId xmlns:a16="http://schemas.microsoft.com/office/drawing/2014/main" id="{FFD8287F-45F1-81C3-0FFD-44560534D478}"/>
              </a:ext>
            </a:extLst>
          </p:cNvPr>
          <p:cNvSpPr txBox="1"/>
          <p:nvPr/>
        </p:nvSpPr>
        <p:spPr>
          <a:xfrm>
            <a:off x="10657401" y="3427430"/>
            <a:ext cx="1351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 </a:t>
            </a:r>
            <a:r>
              <a:rPr lang="es-ES" sz="1200" b="1" dirty="0" err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WUE</a:t>
            </a:r>
          </a:p>
        </p:txBody>
      </p:sp>
      <p:sp>
        <p:nvSpPr>
          <p:cNvPr id="28" name="CuadroTexto 6">
            <a:extLst>
              <a:ext uri="{FF2B5EF4-FFF2-40B4-BE49-F238E27FC236}">
                <a16:creationId xmlns:a16="http://schemas.microsoft.com/office/drawing/2014/main" id="{E7366CAD-64E0-068D-F7C2-CD7B4F861F1D}"/>
              </a:ext>
            </a:extLst>
          </p:cNvPr>
          <p:cNvSpPr txBox="1"/>
          <p:nvPr/>
        </p:nvSpPr>
        <p:spPr>
          <a:xfrm>
            <a:off x="3005615" y="1490582"/>
            <a:ext cx="833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es-ES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lang="es-ES" sz="12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85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C1C6E-7A93-7E99-8AA2-FF528EBD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F2BEE3F-D100-1BDE-BED6-59C0B0835F0B}"/>
              </a:ext>
            </a:extLst>
          </p:cNvPr>
          <p:cNvSpPr/>
          <p:nvPr/>
        </p:nvSpPr>
        <p:spPr>
          <a:xfrm>
            <a:off x="521735" y="1471816"/>
            <a:ext cx="3317314" cy="18317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920513-C40F-9152-DBF0-423CC75E7DDB}"/>
              </a:ext>
            </a:extLst>
          </p:cNvPr>
          <p:cNvSpPr/>
          <p:nvPr/>
        </p:nvSpPr>
        <p:spPr>
          <a:xfrm>
            <a:off x="521734" y="3429000"/>
            <a:ext cx="11486764" cy="140798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632B0D-F4CB-6091-8990-AC0D8FDD6F21}"/>
              </a:ext>
            </a:extLst>
          </p:cNvPr>
          <p:cNvSpPr/>
          <p:nvPr/>
        </p:nvSpPr>
        <p:spPr>
          <a:xfrm>
            <a:off x="3881535" y="1477938"/>
            <a:ext cx="8126963" cy="18317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DA8B72-E297-0FF8-65F6-C1B036CCC8DC}"/>
              </a:ext>
            </a:extLst>
          </p:cNvPr>
          <p:cNvSpPr/>
          <p:nvPr/>
        </p:nvSpPr>
        <p:spPr>
          <a:xfrm>
            <a:off x="708348" y="2341983"/>
            <a:ext cx="3005236" cy="8770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Height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d.b.h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age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Hegyi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1F9E4F-46FD-E5F3-3E7F-FBB8713C15DA}"/>
              </a:ext>
            </a:extLst>
          </p:cNvPr>
          <p:cNvSpPr/>
          <p:nvPr/>
        </p:nvSpPr>
        <p:spPr>
          <a:xfrm>
            <a:off x="3977172" y="2341983"/>
            <a:ext cx="3005236" cy="877078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C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b="1" dirty="0">
                <a:solidFill>
                  <a:sysClr val="windowText" lastClr="000000"/>
                </a:solidFill>
              </a:rPr>
              <a:t>SLA</a:t>
            </a:r>
            <a:r>
              <a:rPr lang="es-ES" dirty="0">
                <a:solidFill>
                  <a:sysClr val="windowText" lastClr="000000"/>
                </a:solidFill>
              </a:rPr>
              <a:t>, C:N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A1E63-05B8-13A1-5710-6FFFAF0D319D}"/>
              </a:ext>
            </a:extLst>
          </p:cNvPr>
          <p:cNvSpPr/>
          <p:nvPr/>
        </p:nvSpPr>
        <p:spPr>
          <a:xfrm>
            <a:off x="7245996" y="2341983"/>
            <a:ext cx="3005236" cy="877078"/>
          </a:xfrm>
          <a:prstGeom prst="rect">
            <a:avLst/>
          </a:prstGeom>
          <a:solidFill>
            <a:srgbClr val="FF99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ysClr val="windowText" lastClr="000000"/>
                </a:solidFill>
              </a:rPr>
              <a:t>N</a:t>
            </a:r>
            <a:r>
              <a:rPr lang="es-ES" dirty="0">
                <a:solidFill>
                  <a:sysClr val="windowText" lastClr="000000"/>
                </a:solidFill>
              </a:rPr>
              <a:t> </a:t>
            </a:r>
            <a:r>
              <a:rPr lang="es-ES" b="1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15N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055F79-7185-372E-667E-F14AC577CD41}"/>
              </a:ext>
            </a:extLst>
          </p:cNvPr>
          <p:cNvSpPr/>
          <p:nvPr/>
        </p:nvSpPr>
        <p:spPr>
          <a:xfrm>
            <a:off x="7245996" y="3841666"/>
            <a:ext cx="3005236" cy="87707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a/b,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0D6F05-0F35-7AB8-6364-BCBF1F69F6B2}"/>
              </a:ext>
            </a:extLst>
          </p:cNvPr>
          <p:cNvSpPr/>
          <p:nvPr/>
        </p:nvSpPr>
        <p:spPr>
          <a:xfrm>
            <a:off x="3977172" y="3841666"/>
            <a:ext cx="3005236" cy="87707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Carotenoids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/ car.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CFCF4B-9A28-A428-2F65-A60C5CE16D2D}"/>
              </a:ext>
            </a:extLst>
          </p:cNvPr>
          <p:cNvSpPr/>
          <p:nvPr/>
        </p:nvSpPr>
        <p:spPr>
          <a:xfrm>
            <a:off x="708348" y="3841666"/>
            <a:ext cx="3005236" cy="877078"/>
          </a:xfrm>
          <a:prstGeom prst="rect">
            <a:avLst/>
          </a:prstGeom>
          <a:solidFill>
            <a:srgbClr val="33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LWC, </a:t>
            </a:r>
            <a:r>
              <a:rPr lang="el-GR" b="1" dirty="0">
                <a:solidFill>
                  <a:sysClr val="windowText" lastClr="000000"/>
                </a:solidFill>
              </a:rPr>
              <a:t>δ</a:t>
            </a:r>
            <a:r>
              <a:rPr lang="es-ES" b="1" dirty="0">
                <a:solidFill>
                  <a:sysClr val="windowText" lastClr="000000"/>
                </a:solidFill>
              </a:rPr>
              <a:t>13C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18O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851C2C-E57F-1371-78C0-13C4898CCE3A}"/>
              </a:ext>
            </a:extLst>
          </p:cNvPr>
          <p:cNvSpPr/>
          <p:nvPr/>
        </p:nvSpPr>
        <p:spPr>
          <a:xfrm>
            <a:off x="3977172" y="5341349"/>
            <a:ext cx="3005236" cy="877078"/>
          </a:xfrm>
          <a:prstGeom prst="rect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ysClr val="windowText" lastClr="000000"/>
                </a:solidFill>
              </a:rPr>
              <a:t>BAI80</a:t>
            </a:r>
            <a:r>
              <a:rPr lang="es-ES" dirty="0">
                <a:solidFill>
                  <a:sysClr val="windowText" lastClr="000000"/>
                </a:solidFill>
              </a:rPr>
              <a:t>, BAI05, </a:t>
            </a:r>
            <a:r>
              <a:rPr lang="es-ES" dirty="0" err="1">
                <a:solidFill>
                  <a:sysClr val="windowText" lastClr="000000"/>
                </a:solidFill>
              </a:rPr>
              <a:t>Rt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Rs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2FDFAA2-AF4F-3D1A-511C-70CE297FACF3}"/>
              </a:ext>
            </a:extLst>
          </p:cNvPr>
          <p:cNvSpPr txBox="1">
            <a:spLocks/>
          </p:cNvSpPr>
          <p:nvPr/>
        </p:nvSpPr>
        <p:spPr>
          <a:xfrm>
            <a:off x="708348" y="1975177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size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7045220-362B-24F7-A9C0-F4A4A29A79BB}"/>
              </a:ext>
            </a:extLst>
          </p:cNvPr>
          <p:cNvSpPr txBox="1">
            <a:spLocks/>
          </p:cNvSpPr>
          <p:nvPr/>
        </p:nvSpPr>
        <p:spPr>
          <a:xfrm>
            <a:off x="3977172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C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E9B248C7-3D39-6953-D16B-AA91BB594335}"/>
              </a:ext>
            </a:extLst>
          </p:cNvPr>
          <p:cNvSpPr txBox="1">
            <a:spLocks/>
          </p:cNvSpPr>
          <p:nvPr/>
        </p:nvSpPr>
        <p:spPr>
          <a:xfrm>
            <a:off x="7245996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1D22EE1-27C8-C7A3-43D3-B239F10CEA80}"/>
              </a:ext>
            </a:extLst>
          </p:cNvPr>
          <p:cNvSpPr txBox="1">
            <a:spLocks/>
          </p:cNvSpPr>
          <p:nvPr/>
        </p:nvSpPr>
        <p:spPr>
          <a:xfrm>
            <a:off x="3977172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Photoprotection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1C10F34F-942D-2112-FADC-24B080A874A4}"/>
              </a:ext>
            </a:extLst>
          </p:cNvPr>
          <p:cNvSpPr txBox="1">
            <a:spLocks/>
          </p:cNvSpPr>
          <p:nvPr/>
        </p:nvSpPr>
        <p:spPr>
          <a:xfrm>
            <a:off x="708347" y="3474860"/>
            <a:ext cx="2109883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9A4F7795-1757-E650-EA50-9DF71FED6DD4}"/>
              </a:ext>
            </a:extLst>
          </p:cNvPr>
          <p:cNvSpPr txBox="1">
            <a:spLocks/>
          </p:cNvSpPr>
          <p:nvPr/>
        </p:nvSpPr>
        <p:spPr>
          <a:xfrm>
            <a:off x="3977171" y="4955220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F6A50B3-1FCA-E83D-F252-7A7DC9FF423E}"/>
              </a:ext>
            </a:extLst>
          </p:cNvPr>
          <p:cNvSpPr txBox="1"/>
          <p:nvPr/>
        </p:nvSpPr>
        <p:spPr>
          <a:xfrm>
            <a:off x="9270248" y="1513512"/>
            <a:ext cx="2738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Resource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economic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spectrum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leaf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N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DE1781CE-E4BB-633B-031A-3EB7BA94CEFE}"/>
              </a:ext>
            </a:extLst>
          </p:cNvPr>
          <p:cNvSpPr txBox="1">
            <a:spLocks/>
          </p:cNvSpPr>
          <p:nvPr/>
        </p:nvSpPr>
        <p:spPr>
          <a:xfrm>
            <a:off x="7245996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Photosynthetic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CuadroTexto 6">
            <a:extLst>
              <a:ext uri="{FF2B5EF4-FFF2-40B4-BE49-F238E27FC236}">
                <a16:creationId xmlns:a16="http://schemas.microsoft.com/office/drawing/2014/main" id="{0236E54A-0B1B-105A-4831-DC22AA25D89F}"/>
              </a:ext>
            </a:extLst>
          </p:cNvPr>
          <p:cNvSpPr txBox="1"/>
          <p:nvPr/>
        </p:nvSpPr>
        <p:spPr>
          <a:xfrm>
            <a:off x="10657401" y="3427430"/>
            <a:ext cx="1351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 </a:t>
            </a:r>
            <a:r>
              <a:rPr lang="es-ES" sz="1200" b="1" dirty="0" err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WUE</a:t>
            </a:r>
          </a:p>
        </p:txBody>
      </p:sp>
      <p:sp>
        <p:nvSpPr>
          <p:cNvPr id="28" name="CuadroTexto 6">
            <a:extLst>
              <a:ext uri="{FF2B5EF4-FFF2-40B4-BE49-F238E27FC236}">
                <a16:creationId xmlns:a16="http://schemas.microsoft.com/office/drawing/2014/main" id="{0040BD40-7A2F-39F5-5F5F-B0C9AD06D5D5}"/>
              </a:ext>
            </a:extLst>
          </p:cNvPr>
          <p:cNvSpPr txBox="1"/>
          <p:nvPr/>
        </p:nvSpPr>
        <p:spPr>
          <a:xfrm>
            <a:off x="3005615" y="1490582"/>
            <a:ext cx="833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es-ES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lang="es-ES" sz="12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84AA307-D174-65FA-AC3F-EB739D92A8C1}"/>
              </a:ext>
            </a:extLst>
          </p:cNvPr>
          <p:cNvSpPr txBox="1">
            <a:spLocks/>
          </p:cNvSpPr>
          <p:nvPr/>
        </p:nvSpPr>
        <p:spPr>
          <a:xfrm>
            <a:off x="419098" y="179023"/>
            <a:ext cx="11353801" cy="11117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600" b="1" dirty="0">
                <a:latin typeface="Helvetica" panose="020B0604020202020204" pitchFamily="34" charset="0"/>
                <a:cs typeface="Helvetica" panose="020B0604020202020204" pitchFamily="34" charset="0"/>
              </a:rPr>
              <a:t>Variable </a:t>
            </a:r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b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Theoretical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knowledge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42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18E55-9148-88F2-225F-ADEBB17DC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F5F806BF-0BB0-3A44-37C7-E29B16C984E2}"/>
              </a:ext>
            </a:extLst>
          </p:cNvPr>
          <p:cNvSpPr txBox="1">
            <a:spLocks/>
          </p:cNvSpPr>
          <p:nvPr/>
        </p:nvSpPr>
        <p:spPr>
          <a:xfrm>
            <a:off x="115753" y="348079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‘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Slow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’</a:t>
            </a:r>
          </a:p>
          <a:p>
            <a:pPr algn="ctr"/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3C0B86-E5AB-E414-90D8-0EAA207B7044}"/>
              </a:ext>
            </a:extLst>
          </p:cNvPr>
          <p:cNvSpPr txBox="1">
            <a:spLocks/>
          </p:cNvSpPr>
          <p:nvPr/>
        </p:nvSpPr>
        <p:spPr>
          <a:xfrm>
            <a:off x="4558090" y="348079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‘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Fast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’</a:t>
            </a:r>
          </a:p>
        </p:txBody>
      </p:sp>
      <p:cxnSp>
        <p:nvCxnSpPr>
          <p:cNvPr id="6" name="Conector recto de flecha 7">
            <a:extLst>
              <a:ext uri="{FF2B5EF4-FFF2-40B4-BE49-F238E27FC236}">
                <a16:creationId xmlns:a16="http://schemas.microsoft.com/office/drawing/2014/main" id="{029DBEEB-7F99-B4E7-C3A5-B76D6DE76636}"/>
              </a:ext>
            </a:extLst>
          </p:cNvPr>
          <p:cNvCxnSpPr>
            <a:cxnSpLocks/>
          </p:cNvCxnSpPr>
          <p:nvPr/>
        </p:nvCxnSpPr>
        <p:spPr>
          <a:xfrm>
            <a:off x="2787243" y="550833"/>
            <a:ext cx="1884784" cy="0"/>
          </a:xfrm>
          <a:prstGeom prst="straightConnector1">
            <a:avLst/>
          </a:prstGeom>
          <a:ln w="76200"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9D2891DC-7E0A-5717-6D8E-665AC92B4CC8}"/>
              </a:ext>
            </a:extLst>
          </p:cNvPr>
          <p:cNvSpPr txBox="1">
            <a:spLocks/>
          </p:cNvSpPr>
          <p:nvPr/>
        </p:nvSpPr>
        <p:spPr>
          <a:xfrm>
            <a:off x="293035" y="957567"/>
            <a:ext cx="3495519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SLA</a:t>
            </a: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1763974-EC07-DD66-0B9D-49357428B088}"/>
              </a:ext>
            </a:extLst>
          </p:cNvPr>
          <p:cNvSpPr txBox="1">
            <a:spLocks/>
          </p:cNvSpPr>
          <p:nvPr/>
        </p:nvSpPr>
        <p:spPr>
          <a:xfrm>
            <a:off x="4790088" y="932582"/>
            <a:ext cx="3880245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A7AFD3E7-7DB0-3B45-A288-F09D8B2D3EE4}"/>
              </a:ext>
            </a:extLst>
          </p:cNvPr>
          <p:cNvSpPr txBox="1">
            <a:spLocks/>
          </p:cNvSpPr>
          <p:nvPr/>
        </p:nvSpPr>
        <p:spPr>
          <a:xfrm>
            <a:off x="8180398" y="348079"/>
            <a:ext cx="3240271" cy="11117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i="1" dirty="0" err="1">
                <a:latin typeface="Helvetica"/>
                <a:cs typeface="Helvetica"/>
              </a:rPr>
              <a:t>Leaf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Economics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Spectrum</a:t>
            </a:r>
            <a:endParaRPr lang="es-ES" b="1" i="1" dirty="0">
              <a:latin typeface="Helvetica"/>
              <a:cs typeface="Helvetica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78B711A-F8C5-DF4E-E458-A64516AF8A3F}"/>
              </a:ext>
            </a:extLst>
          </p:cNvPr>
          <p:cNvSpPr txBox="1">
            <a:spLocks/>
          </p:cNvSpPr>
          <p:nvPr/>
        </p:nvSpPr>
        <p:spPr>
          <a:xfrm>
            <a:off x="8670333" y="1265216"/>
            <a:ext cx="2260401" cy="368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000" dirty="0">
                <a:latin typeface="Helvetica"/>
                <a:cs typeface="Helvetica"/>
              </a:rPr>
              <a:t>Wright </a:t>
            </a:r>
            <a:r>
              <a:rPr lang="es-ES" sz="2000" i="1" dirty="0">
                <a:latin typeface="Helvetica"/>
                <a:cs typeface="Helvetica"/>
              </a:rPr>
              <a:t>et al., </a:t>
            </a:r>
            <a:r>
              <a:rPr lang="es-ES" sz="2000" dirty="0">
                <a:latin typeface="Helvetica"/>
                <a:cs typeface="Helvetica"/>
              </a:rPr>
              <a:t>2004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3461037-FE30-617E-545E-C5009A5366DF}"/>
              </a:ext>
            </a:extLst>
          </p:cNvPr>
          <p:cNvSpPr txBox="1">
            <a:spLocks/>
          </p:cNvSpPr>
          <p:nvPr/>
        </p:nvSpPr>
        <p:spPr>
          <a:xfrm>
            <a:off x="115753" y="2568356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</a:t>
            </a:r>
          </a:p>
          <a:p>
            <a:pPr algn="ctr"/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DC63B7A-59C9-261D-0E81-FEBDCF1C2299}"/>
              </a:ext>
            </a:extLst>
          </p:cNvPr>
          <p:cNvSpPr txBox="1">
            <a:spLocks/>
          </p:cNvSpPr>
          <p:nvPr/>
        </p:nvSpPr>
        <p:spPr>
          <a:xfrm>
            <a:off x="4558090" y="2568356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Acquisitive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0" name="Conector recto de flecha 7">
            <a:extLst>
              <a:ext uri="{FF2B5EF4-FFF2-40B4-BE49-F238E27FC236}">
                <a16:creationId xmlns:a16="http://schemas.microsoft.com/office/drawing/2014/main" id="{CACA697F-4B97-534D-F9D3-329357033986}"/>
              </a:ext>
            </a:extLst>
          </p:cNvPr>
          <p:cNvCxnSpPr>
            <a:cxnSpLocks/>
          </p:cNvCxnSpPr>
          <p:nvPr/>
        </p:nvCxnSpPr>
        <p:spPr>
          <a:xfrm>
            <a:off x="2787243" y="2771110"/>
            <a:ext cx="1884784" cy="0"/>
          </a:xfrm>
          <a:prstGeom prst="straightConnector1">
            <a:avLst/>
          </a:prstGeom>
          <a:ln w="76200"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9E777633-47AE-7677-8FFD-123C6E985BD3}"/>
              </a:ext>
            </a:extLst>
          </p:cNvPr>
          <p:cNvSpPr txBox="1">
            <a:spLocks/>
          </p:cNvSpPr>
          <p:nvPr/>
        </p:nvSpPr>
        <p:spPr>
          <a:xfrm>
            <a:off x="293035" y="3177843"/>
            <a:ext cx="3495519" cy="181353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SLA</a:t>
            </a: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Transpiration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endParaRPr lang="es-ES" sz="1800" dirty="0">
              <a:latin typeface="Helvetica"/>
              <a:cs typeface="Helvetica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D14DA05A-02FA-1949-6A39-104832A14AB4}"/>
              </a:ext>
            </a:extLst>
          </p:cNvPr>
          <p:cNvSpPr txBox="1">
            <a:spLocks/>
          </p:cNvSpPr>
          <p:nvPr/>
        </p:nvSpPr>
        <p:spPr>
          <a:xfrm>
            <a:off x="4790088" y="3152859"/>
            <a:ext cx="3880245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>
                <a:latin typeface="Helvetica" panose="020B0604020202020204" pitchFamily="34" charset="0"/>
                <a:cs typeface="Calibri" panose="020F0502020204030204"/>
              </a:rPr>
              <a:t>SLA</a:t>
            </a: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Transpiration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473292CF-2A8C-EEA5-4F51-47894EEF2DC0}"/>
              </a:ext>
            </a:extLst>
          </p:cNvPr>
          <p:cNvSpPr txBox="1">
            <a:spLocks/>
          </p:cNvSpPr>
          <p:nvPr/>
        </p:nvSpPr>
        <p:spPr>
          <a:xfrm>
            <a:off x="8180398" y="2482091"/>
            <a:ext cx="3468654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i="1" dirty="0" err="1">
                <a:latin typeface="Helvetica"/>
                <a:cs typeface="Helvetica"/>
              </a:rPr>
              <a:t>Whole-plant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economics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spectrum</a:t>
            </a:r>
            <a:endParaRPr lang="es-ES" b="1" i="1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D546B59E-8FE0-E37C-436D-6BC86BED776B}"/>
              </a:ext>
            </a:extLst>
          </p:cNvPr>
          <p:cNvSpPr txBox="1">
            <a:spLocks/>
          </p:cNvSpPr>
          <p:nvPr/>
        </p:nvSpPr>
        <p:spPr>
          <a:xfrm>
            <a:off x="9160268" y="3761204"/>
            <a:ext cx="2260401" cy="368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000" dirty="0">
                <a:latin typeface="Helvetica"/>
                <a:cs typeface="Helvetica"/>
              </a:rPr>
              <a:t>Reich, 2014</a:t>
            </a: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5FE79CA3-DD17-6535-54ED-96A8E0737C60}"/>
              </a:ext>
            </a:extLst>
          </p:cNvPr>
          <p:cNvSpPr txBox="1">
            <a:spLocks/>
          </p:cNvSpPr>
          <p:nvPr/>
        </p:nvSpPr>
        <p:spPr>
          <a:xfrm>
            <a:off x="511076" y="5711431"/>
            <a:ext cx="1513668" cy="7017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Height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06087F28-5B44-A4B0-24D7-D09EDE230E75}"/>
              </a:ext>
            </a:extLst>
          </p:cNvPr>
          <p:cNvSpPr txBox="1">
            <a:spLocks/>
          </p:cNvSpPr>
          <p:nvPr/>
        </p:nvSpPr>
        <p:spPr>
          <a:xfrm>
            <a:off x="1789512" y="5584336"/>
            <a:ext cx="5255100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 err="1">
                <a:latin typeface="Helvetica"/>
                <a:cs typeface="Helvetica"/>
              </a:rPr>
              <a:t>Decoupled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from</a:t>
            </a:r>
            <a:r>
              <a:rPr lang="es-ES" sz="1800" dirty="0">
                <a:latin typeface="Helvetica"/>
                <a:cs typeface="Helvetica"/>
              </a:rPr>
              <a:t> LES (Díaz </a:t>
            </a:r>
            <a:r>
              <a:rPr lang="es-ES" sz="1800" i="1" dirty="0">
                <a:latin typeface="Helvetica"/>
                <a:cs typeface="Helvetica"/>
              </a:rPr>
              <a:t>et al., 2016)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 err="1">
                <a:latin typeface="Helvetica"/>
                <a:cs typeface="Helvetica"/>
              </a:rPr>
              <a:t>Conditions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hydraulics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Darcy’s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Law</a:t>
            </a:r>
            <a:r>
              <a:rPr lang="es-ES" sz="1800" dirty="0">
                <a:latin typeface="Helvetica"/>
                <a:cs typeface="Helvetica"/>
              </a:rPr>
              <a:t>)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146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D444-46AF-6694-1D08-E3AFCFC43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763AFC8C-A9E3-B7A1-643B-BAFEC3D34C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5683" y="349250"/>
            <a:ext cx="3254080" cy="65087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9D73AF5-5C7C-C444-2F9F-072F024D6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53" y="349250"/>
            <a:ext cx="3254080" cy="65087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CAB3E9-91CB-101A-CBBB-919403059C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44" y="349250"/>
            <a:ext cx="3209634" cy="6419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D7EDA-D4B0-54B4-480D-96E6D7873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0495" y="5654351"/>
            <a:ext cx="1547293" cy="432547"/>
          </a:xfrm>
        </p:spPr>
        <p:txBody>
          <a:bodyPr>
            <a:noAutofit/>
          </a:bodyPr>
          <a:lstStyle/>
          <a:p>
            <a:r>
              <a:rPr lang="es-ES" sz="16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05A661B6-1C18-0390-71D2-DBD1F777180F}"/>
              </a:ext>
            </a:extLst>
          </p:cNvPr>
          <p:cNvSpPr txBox="1">
            <a:spLocks/>
          </p:cNvSpPr>
          <p:nvPr/>
        </p:nvSpPr>
        <p:spPr>
          <a:xfrm>
            <a:off x="6096000" y="5654351"/>
            <a:ext cx="1547293" cy="43254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1600" b="1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1A82499-679D-CDBB-ED8B-6AD3B7A31B98}"/>
              </a:ext>
            </a:extLst>
          </p:cNvPr>
          <p:cNvSpPr txBox="1">
            <a:spLocks/>
          </p:cNvSpPr>
          <p:nvPr/>
        </p:nvSpPr>
        <p:spPr>
          <a:xfrm>
            <a:off x="9524689" y="5654350"/>
            <a:ext cx="1547293" cy="43254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pinea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E43C7959-32E7-4B39-2CE6-EF9D4F9FBA86}"/>
              </a:ext>
            </a:extLst>
          </p:cNvPr>
          <p:cNvSpPr/>
          <p:nvPr/>
        </p:nvSpPr>
        <p:spPr>
          <a:xfrm>
            <a:off x="647700" y="5461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Elipse 2">
            <a:extLst>
              <a:ext uri="{FF2B5EF4-FFF2-40B4-BE49-F238E27FC236}">
                <a16:creationId xmlns:a16="http://schemas.microsoft.com/office/drawing/2014/main" id="{62D29D43-EBFE-D79D-8AC9-7F4FA3BE792D}"/>
              </a:ext>
            </a:extLst>
          </p:cNvPr>
          <p:cNvSpPr/>
          <p:nvPr/>
        </p:nvSpPr>
        <p:spPr>
          <a:xfrm>
            <a:off x="3101006" y="14097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Elipse 2">
            <a:extLst>
              <a:ext uri="{FF2B5EF4-FFF2-40B4-BE49-F238E27FC236}">
                <a16:creationId xmlns:a16="http://schemas.microsoft.com/office/drawing/2014/main" id="{16B787C4-5947-2CC2-E536-D47B63BE6EC2}"/>
              </a:ext>
            </a:extLst>
          </p:cNvPr>
          <p:cNvSpPr/>
          <p:nvPr/>
        </p:nvSpPr>
        <p:spPr>
          <a:xfrm>
            <a:off x="3944286" y="5461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2">
            <a:extLst>
              <a:ext uri="{FF2B5EF4-FFF2-40B4-BE49-F238E27FC236}">
                <a16:creationId xmlns:a16="http://schemas.microsoft.com/office/drawing/2014/main" id="{480FA2D6-893A-3BB1-236F-2B43405582C5}"/>
              </a:ext>
            </a:extLst>
          </p:cNvPr>
          <p:cNvSpPr/>
          <p:nvPr/>
        </p:nvSpPr>
        <p:spPr>
          <a:xfrm>
            <a:off x="6433486" y="14097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Elipse 2">
            <a:extLst>
              <a:ext uri="{FF2B5EF4-FFF2-40B4-BE49-F238E27FC236}">
                <a16:creationId xmlns:a16="http://schemas.microsoft.com/office/drawing/2014/main" id="{0433FD15-8261-6AB1-84E4-19309FBF97D1}"/>
              </a:ext>
            </a:extLst>
          </p:cNvPr>
          <p:cNvSpPr/>
          <p:nvPr/>
        </p:nvSpPr>
        <p:spPr>
          <a:xfrm>
            <a:off x="7810166" y="5461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Elipse 2">
            <a:extLst>
              <a:ext uri="{FF2B5EF4-FFF2-40B4-BE49-F238E27FC236}">
                <a16:creationId xmlns:a16="http://schemas.microsoft.com/office/drawing/2014/main" id="{79FEC9EF-D124-3DDE-76A7-1CA6C805B4B5}"/>
              </a:ext>
            </a:extLst>
          </p:cNvPr>
          <p:cNvSpPr/>
          <p:nvPr/>
        </p:nvSpPr>
        <p:spPr>
          <a:xfrm>
            <a:off x="10298335" y="14097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lipse 2">
            <a:extLst>
              <a:ext uri="{FF2B5EF4-FFF2-40B4-BE49-F238E27FC236}">
                <a16:creationId xmlns:a16="http://schemas.microsoft.com/office/drawing/2014/main" id="{98D6E3DF-5EA1-3AF6-BFBD-D8BD0D6D082C}"/>
              </a:ext>
            </a:extLst>
          </p:cNvPr>
          <p:cNvSpPr/>
          <p:nvPr/>
        </p:nvSpPr>
        <p:spPr>
          <a:xfrm>
            <a:off x="7946295" y="231902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lipse 2">
            <a:extLst>
              <a:ext uri="{FF2B5EF4-FFF2-40B4-BE49-F238E27FC236}">
                <a16:creationId xmlns:a16="http://schemas.microsoft.com/office/drawing/2014/main" id="{3F6AAECC-68E7-C3B8-11B1-23041EA44BF0}"/>
              </a:ext>
            </a:extLst>
          </p:cNvPr>
          <p:cNvSpPr/>
          <p:nvPr/>
        </p:nvSpPr>
        <p:spPr>
          <a:xfrm>
            <a:off x="9395814" y="2157095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2">
            <a:extLst>
              <a:ext uri="{FF2B5EF4-FFF2-40B4-BE49-F238E27FC236}">
                <a16:creationId xmlns:a16="http://schemas.microsoft.com/office/drawing/2014/main" id="{51FFD874-CEEF-71F8-2E8B-C55D27E677F8}"/>
              </a:ext>
            </a:extLst>
          </p:cNvPr>
          <p:cNvSpPr/>
          <p:nvPr/>
        </p:nvSpPr>
        <p:spPr>
          <a:xfrm>
            <a:off x="5529934" y="2157095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lipse 2">
            <a:extLst>
              <a:ext uri="{FF2B5EF4-FFF2-40B4-BE49-F238E27FC236}">
                <a16:creationId xmlns:a16="http://schemas.microsoft.com/office/drawing/2014/main" id="{241F6622-9992-A2F0-D757-E92E04CF1F07}"/>
              </a:ext>
            </a:extLst>
          </p:cNvPr>
          <p:cNvSpPr/>
          <p:nvPr/>
        </p:nvSpPr>
        <p:spPr>
          <a:xfrm>
            <a:off x="4080105" y="231902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Elipse 2">
            <a:extLst>
              <a:ext uri="{FF2B5EF4-FFF2-40B4-BE49-F238E27FC236}">
                <a16:creationId xmlns:a16="http://schemas.microsoft.com/office/drawing/2014/main" id="{A95C6648-B659-65AA-054A-CEF0EDF057E8}"/>
              </a:ext>
            </a:extLst>
          </p:cNvPr>
          <p:cNvSpPr/>
          <p:nvPr/>
        </p:nvSpPr>
        <p:spPr>
          <a:xfrm>
            <a:off x="2215161" y="2157095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Elipse 2">
            <a:extLst>
              <a:ext uri="{FF2B5EF4-FFF2-40B4-BE49-F238E27FC236}">
                <a16:creationId xmlns:a16="http://schemas.microsoft.com/office/drawing/2014/main" id="{F1F59F91-AEC0-6CEE-9CBC-51A1199A1700}"/>
              </a:ext>
            </a:extLst>
          </p:cNvPr>
          <p:cNvSpPr/>
          <p:nvPr/>
        </p:nvSpPr>
        <p:spPr>
          <a:xfrm>
            <a:off x="791944" y="231902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Elipse 2">
            <a:extLst>
              <a:ext uri="{FF2B5EF4-FFF2-40B4-BE49-F238E27FC236}">
                <a16:creationId xmlns:a16="http://schemas.microsoft.com/office/drawing/2014/main" id="{876650EE-4D11-74B5-58C8-AD977A6E0DE9}"/>
              </a:ext>
            </a:extLst>
          </p:cNvPr>
          <p:cNvSpPr/>
          <p:nvPr/>
        </p:nvSpPr>
        <p:spPr>
          <a:xfrm>
            <a:off x="786963" y="3891281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Elipse 2">
            <a:extLst>
              <a:ext uri="{FF2B5EF4-FFF2-40B4-BE49-F238E27FC236}">
                <a16:creationId xmlns:a16="http://schemas.microsoft.com/office/drawing/2014/main" id="{39CD612E-5567-F660-C2FE-CC17BA695508}"/>
              </a:ext>
            </a:extLst>
          </p:cNvPr>
          <p:cNvSpPr/>
          <p:nvPr/>
        </p:nvSpPr>
        <p:spPr>
          <a:xfrm>
            <a:off x="2686791" y="4215131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Elipse 2">
            <a:extLst>
              <a:ext uri="{FF2B5EF4-FFF2-40B4-BE49-F238E27FC236}">
                <a16:creationId xmlns:a16="http://schemas.microsoft.com/office/drawing/2014/main" id="{62C7E873-1B4C-22BE-37C8-0A446950613E}"/>
              </a:ext>
            </a:extLst>
          </p:cNvPr>
          <p:cNvSpPr/>
          <p:nvPr/>
        </p:nvSpPr>
        <p:spPr>
          <a:xfrm>
            <a:off x="4080105" y="3930015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Elipse 2">
            <a:extLst>
              <a:ext uri="{FF2B5EF4-FFF2-40B4-BE49-F238E27FC236}">
                <a16:creationId xmlns:a16="http://schemas.microsoft.com/office/drawing/2014/main" id="{B97A92E5-2560-BDCA-3710-2A95FB76BDBA}"/>
              </a:ext>
            </a:extLst>
          </p:cNvPr>
          <p:cNvSpPr/>
          <p:nvPr/>
        </p:nvSpPr>
        <p:spPr>
          <a:xfrm>
            <a:off x="6046136" y="4267201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Elipse 2">
            <a:extLst>
              <a:ext uri="{FF2B5EF4-FFF2-40B4-BE49-F238E27FC236}">
                <a16:creationId xmlns:a16="http://schemas.microsoft.com/office/drawing/2014/main" id="{552DFA8B-0714-F1E6-040F-95E06998CA86}"/>
              </a:ext>
            </a:extLst>
          </p:cNvPr>
          <p:cNvSpPr/>
          <p:nvPr/>
        </p:nvSpPr>
        <p:spPr>
          <a:xfrm>
            <a:off x="516615" y="5233163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Elipse 2">
            <a:extLst>
              <a:ext uri="{FF2B5EF4-FFF2-40B4-BE49-F238E27FC236}">
                <a16:creationId xmlns:a16="http://schemas.microsoft.com/office/drawing/2014/main" id="{27CDA5BF-EFB2-3A4D-7B65-E0A7E4701B2C}"/>
              </a:ext>
            </a:extLst>
          </p:cNvPr>
          <p:cNvSpPr/>
          <p:nvPr/>
        </p:nvSpPr>
        <p:spPr>
          <a:xfrm>
            <a:off x="3847788" y="53305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Elipse 2">
            <a:extLst>
              <a:ext uri="{FF2B5EF4-FFF2-40B4-BE49-F238E27FC236}">
                <a16:creationId xmlns:a16="http://schemas.microsoft.com/office/drawing/2014/main" id="{8D76CDCB-E9DE-08B8-2919-C88FEB5BB64D}"/>
              </a:ext>
            </a:extLst>
          </p:cNvPr>
          <p:cNvSpPr/>
          <p:nvPr/>
        </p:nvSpPr>
        <p:spPr>
          <a:xfrm>
            <a:off x="7946295" y="3930015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Elipse 2">
            <a:extLst>
              <a:ext uri="{FF2B5EF4-FFF2-40B4-BE49-F238E27FC236}">
                <a16:creationId xmlns:a16="http://schemas.microsoft.com/office/drawing/2014/main" id="{20F5D9F3-F85B-872E-D245-154E9F827C1C}"/>
              </a:ext>
            </a:extLst>
          </p:cNvPr>
          <p:cNvSpPr/>
          <p:nvPr/>
        </p:nvSpPr>
        <p:spPr>
          <a:xfrm>
            <a:off x="9910985" y="4272281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Elipse 2">
            <a:extLst>
              <a:ext uri="{FF2B5EF4-FFF2-40B4-BE49-F238E27FC236}">
                <a16:creationId xmlns:a16="http://schemas.microsoft.com/office/drawing/2014/main" id="{8EEE43FD-5556-6186-8202-292B08FF9B87}"/>
              </a:ext>
            </a:extLst>
          </p:cNvPr>
          <p:cNvSpPr/>
          <p:nvPr/>
        </p:nvSpPr>
        <p:spPr>
          <a:xfrm>
            <a:off x="7726786" y="53305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8567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32D8-8ACA-65D2-C0CD-54263070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238" y="60478"/>
            <a:ext cx="10515600" cy="1111766"/>
          </a:xfrm>
        </p:spPr>
        <p:txBody>
          <a:bodyPr>
            <a:normAutofit/>
          </a:bodyPr>
          <a:lstStyle/>
          <a:p>
            <a:r>
              <a:rPr lang="es-ES" sz="35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endParaRPr lang="es-ES" sz="35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770B8-AE23-0D50-99C1-D5BD0C9AB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71359"/>
            <a:ext cx="7643712" cy="5221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1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characterise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whole-tree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2 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s-ES" b="1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. 3 –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modelise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describe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underlying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processes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decline</a:t>
            </a:r>
            <a:endParaRPr lang="es-ES" b="1" dirty="0">
              <a:highlight>
                <a:srgbClr val="FFFF00"/>
              </a:highlight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4" name="Grupo 20">
            <a:extLst>
              <a:ext uri="{FF2B5EF4-FFF2-40B4-BE49-F238E27FC236}">
                <a16:creationId xmlns:a16="http://schemas.microsoft.com/office/drawing/2014/main" id="{0605C183-C368-584C-449E-C716879242A6}"/>
              </a:ext>
            </a:extLst>
          </p:cNvPr>
          <p:cNvGrpSpPr/>
          <p:nvPr/>
        </p:nvGrpSpPr>
        <p:grpSpPr>
          <a:xfrm>
            <a:off x="8731786" y="3250074"/>
            <a:ext cx="3044617" cy="1094038"/>
            <a:chOff x="1139560" y="5095351"/>
            <a:chExt cx="3477754" cy="1250117"/>
          </a:xfrm>
        </p:grpSpPr>
        <p:pic>
          <p:nvPicPr>
            <p:cNvPr id="5" name="Imagen 3">
              <a:extLst>
                <a:ext uri="{FF2B5EF4-FFF2-40B4-BE49-F238E27FC236}">
                  <a16:creationId xmlns:a16="http://schemas.microsoft.com/office/drawing/2014/main" id="{EAEADE5F-9169-40CC-5A04-E56D1378F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4">
              <a:extLst>
                <a:ext uri="{FF2B5EF4-FFF2-40B4-BE49-F238E27FC236}">
                  <a16:creationId xmlns:a16="http://schemas.microsoft.com/office/drawing/2014/main" id="{797BD3E0-10F8-801B-2CC0-D36E45A525E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17">
              <a:extLst>
                <a:ext uri="{FF2B5EF4-FFF2-40B4-BE49-F238E27FC236}">
                  <a16:creationId xmlns:a16="http://schemas.microsoft.com/office/drawing/2014/main" id="{5A0DDFC1-3EAC-7A51-D810-D6ECEA6F396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9E41B5B-7F05-B548-C2E6-253FD42A4D71}"/>
              </a:ext>
            </a:extLst>
          </p:cNvPr>
          <p:cNvGrpSpPr/>
          <p:nvPr/>
        </p:nvGrpSpPr>
        <p:grpSpPr>
          <a:xfrm>
            <a:off x="8486196" y="1592286"/>
            <a:ext cx="3619560" cy="1271459"/>
            <a:chOff x="3495617" y="5492674"/>
            <a:chExt cx="3619560" cy="1271459"/>
          </a:xfrm>
        </p:grpSpPr>
        <p:pic>
          <p:nvPicPr>
            <p:cNvPr id="9" name="Gráfico 12" descr="Abeto">
              <a:extLst>
                <a:ext uri="{FF2B5EF4-FFF2-40B4-BE49-F238E27FC236}">
                  <a16:creationId xmlns:a16="http://schemas.microsoft.com/office/drawing/2014/main" id="{D858E199-3212-67EB-EBC9-E71B422F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10" name="Gráfico 13" descr="Abeto">
              <a:extLst>
                <a:ext uri="{FF2B5EF4-FFF2-40B4-BE49-F238E27FC236}">
                  <a16:creationId xmlns:a16="http://schemas.microsoft.com/office/drawing/2014/main" id="{848FD841-E02E-ED25-E688-8BE999AD88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11" name="Gráfico 14" descr="Abeto">
              <a:extLst>
                <a:ext uri="{FF2B5EF4-FFF2-40B4-BE49-F238E27FC236}">
                  <a16:creationId xmlns:a16="http://schemas.microsoft.com/office/drawing/2014/main" id="{7CEC21AF-CE70-3D3D-608A-D8D170F14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12" name="Marcador de contenido 2">
              <a:extLst>
                <a:ext uri="{FF2B5EF4-FFF2-40B4-BE49-F238E27FC236}">
                  <a16:creationId xmlns:a16="http://schemas.microsoft.com/office/drawing/2014/main" id="{842A3770-4D0E-5F31-BED2-70734071EDC3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Marcador de contenido 2">
              <a:extLst>
                <a:ext uri="{FF2B5EF4-FFF2-40B4-BE49-F238E27FC236}">
                  <a16:creationId xmlns:a16="http://schemas.microsoft.com/office/drawing/2014/main" id="{80307FD6-F93A-CA17-4332-75E759697FB6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4" name="Marcador de contenido 2">
              <a:extLst>
                <a:ext uri="{FF2B5EF4-FFF2-40B4-BE49-F238E27FC236}">
                  <a16:creationId xmlns:a16="http://schemas.microsoft.com/office/drawing/2014/main" id="{FDF89547-417F-6E9A-3258-44D307F6DC30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5" name="CuadroTexto 18">
              <a:extLst>
                <a:ext uri="{FF2B5EF4-FFF2-40B4-BE49-F238E27FC236}">
                  <a16:creationId xmlns:a16="http://schemas.microsoft.com/office/drawing/2014/main" id="{69B11806-AA0A-FCA3-5A38-3CF79480DE0F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0B4AA8C9-F914-89F1-B43C-4160EF394572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1C6977C-F225-4CB6-32F4-0CE11A599556}"/>
              </a:ext>
            </a:extLst>
          </p:cNvPr>
          <p:cNvGrpSpPr/>
          <p:nvPr/>
        </p:nvGrpSpPr>
        <p:grpSpPr>
          <a:xfrm>
            <a:off x="8816254" y="4730441"/>
            <a:ext cx="2875680" cy="1152743"/>
            <a:chOff x="8825518" y="5542858"/>
            <a:chExt cx="2875680" cy="115274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4203EE-883F-3041-75A9-7BFDD26F97B8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21" name="Graphic 20" descr="Fir tree">
                <a:extLst>
                  <a:ext uri="{FF2B5EF4-FFF2-40B4-BE49-F238E27FC236}">
                    <a16:creationId xmlns:a16="http://schemas.microsoft.com/office/drawing/2014/main" id="{89525936-7BC2-B4B2-7522-B682DF41D0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2" name="Graphic 21" descr="Fir tree">
                <a:extLst>
                  <a:ext uri="{FF2B5EF4-FFF2-40B4-BE49-F238E27FC236}">
                    <a16:creationId xmlns:a16="http://schemas.microsoft.com/office/drawing/2014/main" id="{8FE83555-7546-1320-E3B3-DF73860D3C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3" name="Graphic 22" descr="Fir tree">
                <a:extLst>
                  <a:ext uri="{FF2B5EF4-FFF2-40B4-BE49-F238E27FC236}">
                    <a16:creationId xmlns:a16="http://schemas.microsoft.com/office/drawing/2014/main" id="{558FCF57-F145-7D55-36BC-BC5AA59371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4" name="CuadroTexto 18">
                <a:extLst>
                  <a:ext uri="{FF2B5EF4-FFF2-40B4-BE49-F238E27FC236}">
                    <a16:creationId xmlns:a16="http://schemas.microsoft.com/office/drawing/2014/main" id="{4019EE85-A3D5-3976-D2BD-FBA107876BA0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5" name="CuadroTexto 18">
                <a:extLst>
                  <a:ext uri="{FF2B5EF4-FFF2-40B4-BE49-F238E27FC236}">
                    <a16:creationId xmlns:a16="http://schemas.microsoft.com/office/drawing/2014/main" id="{DC75FA01-A1B7-262B-7B64-F4DA997FAB11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6" name="CuadroTexto 18">
                <a:extLst>
                  <a:ext uri="{FF2B5EF4-FFF2-40B4-BE49-F238E27FC236}">
                    <a16:creationId xmlns:a16="http://schemas.microsoft.com/office/drawing/2014/main" id="{EDFF3398-30EB-DBB6-3892-835567BDB55A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3ADCEE78-C0D0-1D5A-0774-1F817DCF5637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20" name="CuadroTexto 18">
              <a:extLst>
                <a:ext uri="{FF2B5EF4-FFF2-40B4-BE49-F238E27FC236}">
                  <a16:creationId xmlns:a16="http://schemas.microsoft.com/office/drawing/2014/main" id="{51A3B255-E846-D7A0-822E-FFA8C2F0EB50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D8BFDD7A-7364-125E-73D9-AF5036D646EF}"/>
              </a:ext>
            </a:extLst>
          </p:cNvPr>
          <p:cNvSpPr txBox="1">
            <a:spLocks/>
          </p:cNvSpPr>
          <p:nvPr/>
        </p:nvSpPr>
        <p:spPr>
          <a:xfrm>
            <a:off x="2939125" y="248606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AIC </a:t>
            </a:r>
            <a:r>
              <a:rPr lang="es-ES" sz="2400" b="1" dirty="0" err="1">
                <a:latin typeface="Helvetica"/>
                <a:cs typeface="Helvetica"/>
              </a:rPr>
              <a:t>comparison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A47C9C24-1B01-E34A-D18E-0A63A5D7D877}"/>
              </a:ext>
            </a:extLst>
          </p:cNvPr>
          <p:cNvSpPr txBox="1">
            <a:spLocks/>
          </p:cNvSpPr>
          <p:nvPr/>
        </p:nvSpPr>
        <p:spPr>
          <a:xfrm>
            <a:off x="2948077" y="424303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D014E0D4-6374-DD36-8917-1773A371C43C}"/>
              </a:ext>
            </a:extLst>
          </p:cNvPr>
          <p:cNvSpPr txBox="1">
            <a:spLocks/>
          </p:cNvSpPr>
          <p:nvPr/>
        </p:nvSpPr>
        <p:spPr>
          <a:xfrm>
            <a:off x="2880801" y="600000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rgbClr val="FF0000"/>
                </a:solidFill>
                <a:latin typeface="Helvetica"/>
                <a:cs typeface="Helvetica"/>
              </a:rPr>
              <a:t>DECIDE WHAT TO MODEL</a:t>
            </a:r>
            <a:endParaRPr lang="es-ES" sz="2400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792305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A7C9A-35CE-4D80-3B05-437D15F33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FF6D-ED13-6784-C000-C1C3A1137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4783" y="-119354"/>
            <a:ext cx="16002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1. </a:t>
            </a:r>
          </a:p>
        </p:txBody>
      </p:sp>
      <p:grpSp>
        <p:nvGrpSpPr>
          <p:cNvPr id="9" name="Grupo 20">
            <a:extLst>
              <a:ext uri="{FF2B5EF4-FFF2-40B4-BE49-F238E27FC236}">
                <a16:creationId xmlns:a16="http://schemas.microsoft.com/office/drawing/2014/main" id="{93BDD2EA-264E-C66C-C366-99397CDAF31D}"/>
              </a:ext>
            </a:extLst>
          </p:cNvPr>
          <p:cNvGrpSpPr/>
          <p:nvPr/>
        </p:nvGrpSpPr>
        <p:grpSpPr>
          <a:xfrm>
            <a:off x="602478" y="212577"/>
            <a:ext cx="2315162" cy="836734"/>
            <a:chOff x="1139560" y="5095351"/>
            <a:chExt cx="3477754" cy="1250117"/>
          </a:xfrm>
        </p:grpSpPr>
        <p:pic>
          <p:nvPicPr>
            <p:cNvPr id="10" name="Imagen 3">
              <a:extLst>
                <a:ext uri="{FF2B5EF4-FFF2-40B4-BE49-F238E27FC236}">
                  <a16:creationId xmlns:a16="http://schemas.microsoft.com/office/drawing/2014/main" id="{4B547358-92FB-036C-FCB6-505F2B743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1" name="CuadroTexto 4">
              <a:extLst>
                <a:ext uri="{FF2B5EF4-FFF2-40B4-BE49-F238E27FC236}">
                  <a16:creationId xmlns:a16="http://schemas.microsoft.com/office/drawing/2014/main" id="{F2926389-A2B5-0170-E09E-CF3B48E582C2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2" name="CuadroTexto 17">
              <a:extLst>
                <a:ext uri="{FF2B5EF4-FFF2-40B4-BE49-F238E27FC236}">
                  <a16:creationId xmlns:a16="http://schemas.microsoft.com/office/drawing/2014/main" id="{02A3E811-5353-FAF1-E5F6-AF08B4FB7C36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14">
            <a:extLst>
              <a:ext uri="{FF2B5EF4-FFF2-40B4-BE49-F238E27FC236}">
                <a16:creationId xmlns:a16="http://schemas.microsoft.com/office/drawing/2014/main" id="{BB3CAE14-572F-66A7-DE82-0A8262969D50}"/>
              </a:ext>
            </a:extLst>
          </p:cNvPr>
          <p:cNvGrpSpPr/>
          <p:nvPr/>
        </p:nvGrpSpPr>
        <p:grpSpPr>
          <a:xfrm>
            <a:off x="7727017" y="545166"/>
            <a:ext cx="1177136" cy="619275"/>
            <a:chOff x="9731871" y="5542858"/>
            <a:chExt cx="1969327" cy="1783026"/>
          </a:xfrm>
        </p:grpSpPr>
        <p:grpSp>
          <p:nvGrpSpPr>
            <p:cNvPr id="13" name="Group 15">
              <a:extLst>
                <a:ext uri="{FF2B5EF4-FFF2-40B4-BE49-F238E27FC236}">
                  <a16:creationId xmlns:a16="http://schemas.microsoft.com/office/drawing/2014/main" id="{E220F13D-16D2-2252-980E-00442D1408EC}"/>
                </a:ext>
              </a:extLst>
            </p:cNvPr>
            <p:cNvGrpSpPr/>
            <p:nvPr/>
          </p:nvGrpSpPr>
          <p:grpSpPr>
            <a:xfrm>
              <a:off x="9731871" y="5542858"/>
              <a:ext cx="1969327" cy="1783026"/>
              <a:chOff x="9731871" y="5542858"/>
              <a:chExt cx="1969327" cy="1783026"/>
            </a:xfrm>
          </p:grpSpPr>
          <p:pic>
            <p:nvPicPr>
              <p:cNvPr id="15" name="Graphic 18" descr="Fir tree">
                <a:extLst>
                  <a:ext uri="{FF2B5EF4-FFF2-40B4-BE49-F238E27FC236}">
                    <a16:creationId xmlns:a16="http://schemas.microsoft.com/office/drawing/2014/main" id="{94F2A371-2A3E-4575-92D5-073C7C1DD1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9" descr="Fir tree">
                <a:extLst>
                  <a:ext uri="{FF2B5EF4-FFF2-40B4-BE49-F238E27FC236}">
                    <a16:creationId xmlns:a16="http://schemas.microsoft.com/office/drawing/2014/main" id="{A95EA4BC-6DDB-81B3-A1EA-DCD346EA5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7" name="CuadroTexto 18">
                <a:extLst>
                  <a:ext uri="{FF2B5EF4-FFF2-40B4-BE49-F238E27FC236}">
                    <a16:creationId xmlns:a16="http://schemas.microsoft.com/office/drawing/2014/main" id="{DFFBAC85-D45D-985B-B97E-5BFC05497F1B}"/>
                  </a:ext>
                </a:extLst>
              </p:cNvPr>
              <p:cNvSpPr txBox="1"/>
              <p:nvPr/>
            </p:nvSpPr>
            <p:spPr>
              <a:xfrm>
                <a:off x="9731871" y="6357048"/>
                <a:ext cx="1037054" cy="79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675DCDCD-EF07-0488-419E-F28EEF1ED85B}"/>
                  </a:ext>
                </a:extLst>
              </p:cNvPr>
              <p:cNvSpPr txBox="1"/>
              <p:nvPr/>
            </p:nvSpPr>
            <p:spPr>
              <a:xfrm>
                <a:off x="10664144" y="6351114"/>
                <a:ext cx="1037054" cy="974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E23BA8E6-7799-92B9-115A-36336C81F78F}"/>
                </a:ext>
              </a:extLst>
            </p:cNvPr>
            <p:cNvSpPr txBox="1"/>
            <p:nvPr/>
          </p:nvSpPr>
          <p:spPr>
            <a:xfrm>
              <a:off x="10378083" y="5793364"/>
              <a:ext cx="855243" cy="531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6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94F1EBFC-8009-D0D5-4FFF-785FA7600A56}"/>
              </a:ext>
            </a:extLst>
          </p:cNvPr>
          <p:cNvSpPr txBox="1">
            <a:spLocks/>
          </p:cNvSpPr>
          <p:nvPr/>
        </p:nvSpPr>
        <p:spPr>
          <a:xfrm>
            <a:off x="609355" y="1251962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32AF6FCF-160D-6105-F1E5-FD39426DA7DB}"/>
              </a:ext>
            </a:extLst>
          </p:cNvPr>
          <p:cNvSpPr txBox="1">
            <a:spLocks/>
          </p:cNvSpPr>
          <p:nvPr/>
        </p:nvSpPr>
        <p:spPr>
          <a:xfrm>
            <a:off x="609355" y="1727331"/>
            <a:ext cx="2775195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(site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productivity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 (conservative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l-GR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increased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WUE)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↓BAI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endParaRPr lang="es-ES" sz="20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28404D4B-137A-0367-DB73-0A7671C4A342}"/>
              </a:ext>
            </a:extLst>
          </p:cNvPr>
          <p:cNvSpPr txBox="1">
            <a:spLocks/>
          </p:cNvSpPr>
          <p:nvPr/>
        </p:nvSpPr>
        <p:spPr>
          <a:xfrm>
            <a:off x="356686" y="3289857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C4A7BBCA-4F87-57D5-DA42-36A46A7CB2A2}"/>
              </a:ext>
            </a:extLst>
          </p:cNvPr>
          <p:cNvSpPr txBox="1">
            <a:spLocks/>
          </p:cNvSpPr>
          <p:nvPr/>
        </p:nvSpPr>
        <p:spPr>
          <a:xfrm>
            <a:off x="356686" y="3765227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D15E231-E11B-8AFB-67AF-62377076321F}"/>
              </a:ext>
            </a:extLst>
          </p:cNvPr>
          <p:cNvSpPr txBox="1">
            <a:spLocks/>
          </p:cNvSpPr>
          <p:nvPr/>
        </p:nvSpPr>
        <p:spPr>
          <a:xfrm>
            <a:off x="495709" y="4741390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7C7C4E82-E9BA-A5A0-9917-C7C2F75D90ED}"/>
              </a:ext>
            </a:extLst>
          </p:cNvPr>
          <p:cNvSpPr txBox="1">
            <a:spLocks/>
          </p:cNvSpPr>
          <p:nvPr/>
        </p:nvSpPr>
        <p:spPr>
          <a:xfrm>
            <a:off x="419099" y="5310847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25EF246-F66D-F130-6FF6-258A623CF6AB}"/>
              </a:ext>
            </a:extLst>
          </p:cNvPr>
          <p:cNvSpPr txBox="1">
            <a:spLocks/>
          </p:cNvSpPr>
          <p:nvPr/>
        </p:nvSpPr>
        <p:spPr>
          <a:xfrm>
            <a:off x="9676403" y="129040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BE3BEBCE-2304-087A-1543-A641CC0FF140}"/>
              </a:ext>
            </a:extLst>
          </p:cNvPr>
          <p:cNvSpPr txBox="1">
            <a:spLocks/>
          </p:cNvSpPr>
          <p:nvPr/>
        </p:nvSpPr>
        <p:spPr>
          <a:xfrm>
            <a:off x="9676403" y="176577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solidFill>
                  <a:srgbClr val="FF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s-ES" sz="1700" dirty="0" err="1">
                <a:solidFill>
                  <a:srgbClr val="FF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solidFill>
                <a:srgbClr val="FF0000"/>
              </a:solidFill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26AC1A9F-41B8-3745-97E1-C9DFC5F9BF69}"/>
              </a:ext>
            </a:extLst>
          </p:cNvPr>
          <p:cNvSpPr txBox="1">
            <a:spLocks/>
          </p:cNvSpPr>
          <p:nvPr/>
        </p:nvSpPr>
        <p:spPr>
          <a:xfrm>
            <a:off x="9460098" y="2714964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0A0E498-502D-03C5-483E-D016FDD5F694}"/>
              </a:ext>
            </a:extLst>
          </p:cNvPr>
          <p:cNvSpPr txBox="1">
            <a:spLocks/>
          </p:cNvSpPr>
          <p:nvPr/>
        </p:nvSpPr>
        <p:spPr>
          <a:xfrm>
            <a:off x="9460098" y="3190334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&amp; Car.</a:t>
            </a: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141DF086-F27A-618A-26D1-97A409751C49}"/>
              </a:ext>
            </a:extLst>
          </p:cNvPr>
          <p:cNvSpPr txBox="1">
            <a:spLocks/>
          </p:cNvSpPr>
          <p:nvPr/>
        </p:nvSpPr>
        <p:spPr>
          <a:xfrm>
            <a:off x="9593716" y="454647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03AFCFE9-3761-4318-98D2-42F4ECC385E6}"/>
              </a:ext>
            </a:extLst>
          </p:cNvPr>
          <p:cNvSpPr txBox="1">
            <a:spLocks/>
          </p:cNvSpPr>
          <p:nvPr/>
        </p:nvSpPr>
        <p:spPr>
          <a:xfrm>
            <a:off x="9517106" y="5115928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&amp; Car.</a:t>
            </a:r>
          </a:p>
        </p:txBody>
      </p:sp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DAFF88E9-2D9E-0197-F71D-C5B48197F00E}"/>
              </a:ext>
            </a:extLst>
          </p:cNvPr>
          <p:cNvSpPr txBox="1">
            <a:spLocks/>
          </p:cNvSpPr>
          <p:nvPr/>
        </p:nvSpPr>
        <p:spPr>
          <a:xfrm>
            <a:off x="8251969" y="6129431"/>
            <a:ext cx="337397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Not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strong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correlations</a:t>
            </a:r>
            <a:endParaRPr lang="es-ES" sz="20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solidFill>
                <a:srgbClr val="FF0000"/>
              </a:solidFill>
              <a:latin typeface="Helvetica"/>
              <a:cs typeface="Helvetica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D4653-BF54-F5B1-EFC1-C0F4E9DA5B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849" y="0"/>
            <a:ext cx="2420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085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A6A19-9857-EF87-F337-B01A46409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B6C750D-033C-5BE5-082E-48532212C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694"/>
          <a:stretch>
            <a:fillRect/>
          </a:stretch>
        </p:blipFill>
        <p:spPr>
          <a:xfrm>
            <a:off x="1324947" y="44842"/>
            <a:ext cx="4945506" cy="63488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0CF2B3-8B38-2B77-20C1-DA35701855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423" b="5023"/>
          <a:stretch>
            <a:fillRect/>
          </a:stretch>
        </p:blipFill>
        <p:spPr>
          <a:xfrm>
            <a:off x="6410412" y="44842"/>
            <a:ext cx="4852200" cy="681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679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9EC2-D259-9937-F256-C6132B3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E5C6E-B2C4-CD24-ED26-90BFA1A05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085" y="-262928"/>
            <a:ext cx="16002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1. </a:t>
            </a:r>
          </a:p>
        </p:txBody>
      </p:sp>
      <p:grpSp>
        <p:nvGrpSpPr>
          <p:cNvPr id="9" name="Grupo 20">
            <a:extLst>
              <a:ext uri="{FF2B5EF4-FFF2-40B4-BE49-F238E27FC236}">
                <a16:creationId xmlns:a16="http://schemas.microsoft.com/office/drawing/2014/main" id="{4AB14A46-0943-B21E-7742-ADF3319BFC6B}"/>
              </a:ext>
            </a:extLst>
          </p:cNvPr>
          <p:cNvGrpSpPr/>
          <p:nvPr/>
        </p:nvGrpSpPr>
        <p:grpSpPr>
          <a:xfrm>
            <a:off x="839371" y="174808"/>
            <a:ext cx="2315162" cy="836734"/>
            <a:chOff x="1139560" y="5095351"/>
            <a:chExt cx="3477754" cy="1250117"/>
          </a:xfrm>
        </p:grpSpPr>
        <p:pic>
          <p:nvPicPr>
            <p:cNvPr id="10" name="Imagen 3">
              <a:extLst>
                <a:ext uri="{FF2B5EF4-FFF2-40B4-BE49-F238E27FC236}">
                  <a16:creationId xmlns:a16="http://schemas.microsoft.com/office/drawing/2014/main" id="{4F3FB91C-CE5F-0D6D-BDAA-93F389DF3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1" name="CuadroTexto 4">
              <a:extLst>
                <a:ext uri="{FF2B5EF4-FFF2-40B4-BE49-F238E27FC236}">
                  <a16:creationId xmlns:a16="http://schemas.microsoft.com/office/drawing/2014/main" id="{D5749B63-2B70-1B10-4779-2AC2E2EF533F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2" name="CuadroTexto 17">
              <a:extLst>
                <a:ext uri="{FF2B5EF4-FFF2-40B4-BE49-F238E27FC236}">
                  <a16:creationId xmlns:a16="http://schemas.microsoft.com/office/drawing/2014/main" id="{2878DAF8-D6A5-95D9-4A29-F4A020122A60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14">
            <a:extLst>
              <a:ext uri="{FF2B5EF4-FFF2-40B4-BE49-F238E27FC236}">
                <a16:creationId xmlns:a16="http://schemas.microsoft.com/office/drawing/2014/main" id="{845CD1EB-9AFD-96CB-9731-B5F677A1A88A}"/>
              </a:ext>
            </a:extLst>
          </p:cNvPr>
          <p:cNvGrpSpPr/>
          <p:nvPr/>
        </p:nvGrpSpPr>
        <p:grpSpPr>
          <a:xfrm>
            <a:off x="9862783" y="249173"/>
            <a:ext cx="1177136" cy="951864"/>
            <a:chOff x="9731871" y="5542858"/>
            <a:chExt cx="1969327" cy="1783026"/>
          </a:xfrm>
        </p:grpSpPr>
        <p:grpSp>
          <p:nvGrpSpPr>
            <p:cNvPr id="13" name="Group 15">
              <a:extLst>
                <a:ext uri="{FF2B5EF4-FFF2-40B4-BE49-F238E27FC236}">
                  <a16:creationId xmlns:a16="http://schemas.microsoft.com/office/drawing/2014/main" id="{0E4889DE-627D-6977-02EF-18C729691AE7}"/>
                </a:ext>
              </a:extLst>
            </p:cNvPr>
            <p:cNvGrpSpPr/>
            <p:nvPr/>
          </p:nvGrpSpPr>
          <p:grpSpPr>
            <a:xfrm>
              <a:off x="9731871" y="5542858"/>
              <a:ext cx="1969327" cy="1783026"/>
              <a:chOff x="9731871" y="5542858"/>
              <a:chExt cx="1969327" cy="1783026"/>
            </a:xfrm>
          </p:grpSpPr>
          <p:pic>
            <p:nvPicPr>
              <p:cNvPr id="15" name="Graphic 18" descr="Fir tree">
                <a:extLst>
                  <a:ext uri="{FF2B5EF4-FFF2-40B4-BE49-F238E27FC236}">
                    <a16:creationId xmlns:a16="http://schemas.microsoft.com/office/drawing/2014/main" id="{4038D435-05C8-C4F7-7F17-793FB704C7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9" descr="Fir tree">
                <a:extLst>
                  <a:ext uri="{FF2B5EF4-FFF2-40B4-BE49-F238E27FC236}">
                    <a16:creationId xmlns:a16="http://schemas.microsoft.com/office/drawing/2014/main" id="{2F5538DE-0E0B-4B6E-D6A8-52688F6585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7" name="CuadroTexto 18">
                <a:extLst>
                  <a:ext uri="{FF2B5EF4-FFF2-40B4-BE49-F238E27FC236}">
                    <a16:creationId xmlns:a16="http://schemas.microsoft.com/office/drawing/2014/main" id="{81EADC8A-44FE-7B86-778E-9BC7486B7359}"/>
                  </a:ext>
                </a:extLst>
              </p:cNvPr>
              <p:cNvSpPr txBox="1"/>
              <p:nvPr/>
            </p:nvSpPr>
            <p:spPr>
              <a:xfrm>
                <a:off x="9731871" y="6357048"/>
                <a:ext cx="1037054" cy="79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A85DF457-33A1-B4E7-BC9D-0FAB61663521}"/>
                  </a:ext>
                </a:extLst>
              </p:cNvPr>
              <p:cNvSpPr txBox="1"/>
              <p:nvPr/>
            </p:nvSpPr>
            <p:spPr>
              <a:xfrm>
                <a:off x="10664144" y="6351114"/>
                <a:ext cx="1037054" cy="974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E0609843-E152-F6EE-FB12-48A86226FBEC}"/>
                </a:ext>
              </a:extLst>
            </p:cNvPr>
            <p:cNvSpPr txBox="1"/>
            <p:nvPr/>
          </p:nvSpPr>
          <p:spPr>
            <a:xfrm>
              <a:off x="10378083" y="5793364"/>
              <a:ext cx="855243" cy="531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6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D4DD929-59E6-9393-BAE3-F135A4981AF0}"/>
              </a:ext>
            </a:extLst>
          </p:cNvPr>
          <p:cNvSpPr txBox="1">
            <a:spLocks/>
          </p:cNvSpPr>
          <p:nvPr/>
        </p:nvSpPr>
        <p:spPr>
          <a:xfrm>
            <a:off x="609355" y="1251962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2E2ADE40-64FB-AE42-65C3-23B2866762E4}"/>
              </a:ext>
            </a:extLst>
          </p:cNvPr>
          <p:cNvSpPr txBox="1">
            <a:spLocks/>
          </p:cNvSpPr>
          <p:nvPr/>
        </p:nvSpPr>
        <p:spPr>
          <a:xfrm>
            <a:off x="609355" y="1727331"/>
            <a:ext cx="2775195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(site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productivity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 (conservative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l-GR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increased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WUE)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↓BAI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endParaRPr lang="es-ES" sz="20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1B30E8D6-F5D8-DED7-DEF6-9E7A21D573B9}"/>
              </a:ext>
            </a:extLst>
          </p:cNvPr>
          <p:cNvSpPr txBox="1">
            <a:spLocks/>
          </p:cNvSpPr>
          <p:nvPr/>
        </p:nvSpPr>
        <p:spPr>
          <a:xfrm>
            <a:off x="356686" y="3289857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EE55DCAF-5107-BA3D-3442-347C0BDB7B38}"/>
              </a:ext>
            </a:extLst>
          </p:cNvPr>
          <p:cNvSpPr txBox="1">
            <a:spLocks/>
          </p:cNvSpPr>
          <p:nvPr/>
        </p:nvSpPr>
        <p:spPr>
          <a:xfrm>
            <a:off x="356686" y="3765227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C06CCC84-9CCB-3CA5-C14F-80F7B88D2BEF}"/>
              </a:ext>
            </a:extLst>
          </p:cNvPr>
          <p:cNvSpPr txBox="1">
            <a:spLocks/>
          </p:cNvSpPr>
          <p:nvPr/>
        </p:nvSpPr>
        <p:spPr>
          <a:xfrm>
            <a:off x="495709" y="4741390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5342C7B-6CE8-3919-8CB4-B6BF51AC9BBA}"/>
              </a:ext>
            </a:extLst>
          </p:cNvPr>
          <p:cNvSpPr txBox="1">
            <a:spLocks/>
          </p:cNvSpPr>
          <p:nvPr/>
        </p:nvSpPr>
        <p:spPr>
          <a:xfrm>
            <a:off x="419099" y="5310847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400E36AE-C675-91D8-D4E0-9252D8600150}"/>
              </a:ext>
            </a:extLst>
          </p:cNvPr>
          <p:cNvSpPr txBox="1">
            <a:spLocks/>
          </p:cNvSpPr>
          <p:nvPr/>
        </p:nvSpPr>
        <p:spPr>
          <a:xfrm>
            <a:off x="9676403" y="129040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2C61CD2F-5369-BCBC-74D0-CBF63FB52FC2}"/>
              </a:ext>
            </a:extLst>
          </p:cNvPr>
          <p:cNvSpPr txBox="1">
            <a:spLocks/>
          </p:cNvSpPr>
          <p:nvPr/>
        </p:nvSpPr>
        <p:spPr>
          <a:xfrm>
            <a:off x="9676403" y="176577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45D600CF-BEBC-2AC0-1407-C03115D1083C}"/>
              </a:ext>
            </a:extLst>
          </p:cNvPr>
          <p:cNvSpPr txBox="1">
            <a:spLocks/>
          </p:cNvSpPr>
          <p:nvPr/>
        </p:nvSpPr>
        <p:spPr>
          <a:xfrm>
            <a:off x="9460098" y="2714964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3638A6E-4699-2556-B56A-BC7D353F6FDD}"/>
              </a:ext>
            </a:extLst>
          </p:cNvPr>
          <p:cNvSpPr txBox="1">
            <a:spLocks/>
          </p:cNvSpPr>
          <p:nvPr/>
        </p:nvSpPr>
        <p:spPr>
          <a:xfrm>
            <a:off x="9460098" y="3190334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&amp; Car.</a:t>
            </a: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D6DC88E7-C690-54C4-0AC2-B017A9C09918}"/>
              </a:ext>
            </a:extLst>
          </p:cNvPr>
          <p:cNvSpPr txBox="1">
            <a:spLocks/>
          </p:cNvSpPr>
          <p:nvPr/>
        </p:nvSpPr>
        <p:spPr>
          <a:xfrm>
            <a:off x="9593716" y="454647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2CBE08CF-C43E-F383-28CF-B0C11B833C45}"/>
              </a:ext>
            </a:extLst>
          </p:cNvPr>
          <p:cNvSpPr txBox="1">
            <a:spLocks/>
          </p:cNvSpPr>
          <p:nvPr/>
        </p:nvSpPr>
        <p:spPr>
          <a:xfrm>
            <a:off x="9517106" y="5115928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&amp; Car.</a:t>
            </a:r>
          </a:p>
        </p:txBody>
      </p: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F0114B34-EF75-E845-D0CB-96716D9725C0}"/>
              </a:ext>
            </a:extLst>
          </p:cNvPr>
          <p:cNvSpPr txBox="1">
            <a:spLocks/>
          </p:cNvSpPr>
          <p:nvPr/>
        </p:nvSpPr>
        <p:spPr>
          <a:xfrm>
            <a:off x="4453625" y="1251962"/>
            <a:ext cx="3583334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sites: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Shorter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, more conservative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14C730FE-087F-3233-2184-F266CBA121FD}"/>
              </a:ext>
            </a:extLst>
          </p:cNvPr>
          <p:cNvSpPr/>
          <p:nvPr/>
        </p:nvSpPr>
        <p:spPr>
          <a:xfrm>
            <a:off x="3480317" y="1164441"/>
            <a:ext cx="751333" cy="4676521"/>
          </a:xfrm>
          <a:prstGeom prst="rightBrace">
            <a:avLst>
              <a:gd name="adj1" fmla="val 8333"/>
              <a:gd name="adj2" fmla="val 10295"/>
            </a:avLst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Marcador de contenido 2">
            <a:extLst>
              <a:ext uri="{FF2B5EF4-FFF2-40B4-BE49-F238E27FC236}">
                <a16:creationId xmlns:a16="http://schemas.microsoft.com/office/drawing/2014/main" id="{B9BC3EB0-ED34-6567-C07C-B89F559D39DF}"/>
              </a:ext>
            </a:extLst>
          </p:cNvPr>
          <p:cNvSpPr txBox="1">
            <a:spLocks/>
          </p:cNvSpPr>
          <p:nvPr/>
        </p:nvSpPr>
        <p:spPr>
          <a:xfrm>
            <a:off x="4453625" y="3429000"/>
            <a:ext cx="3583334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chlorophyll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6725FDAC-620B-A35E-96AF-7F5B79C4968A}"/>
              </a:ext>
            </a:extLst>
          </p:cNvPr>
          <p:cNvSpPr/>
          <p:nvPr/>
        </p:nvSpPr>
        <p:spPr>
          <a:xfrm rot="10800000">
            <a:off x="8262694" y="1201037"/>
            <a:ext cx="751333" cy="4676521"/>
          </a:xfrm>
          <a:prstGeom prst="rightBrace">
            <a:avLst>
              <a:gd name="adj1" fmla="val 8333"/>
              <a:gd name="adj2" fmla="val 39624"/>
            </a:avLst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6126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06A4E-9E87-C982-8842-450732B8D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BBEC0-DFE9-0CB0-CC7B-61090BE6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39545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EA2D664-8232-908F-A858-FF9A577A9B41}"/>
              </a:ext>
            </a:extLst>
          </p:cNvPr>
          <p:cNvSpPr txBox="1">
            <a:spLocks/>
          </p:cNvSpPr>
          <p:nvPr/>
        </p:nvSpPr>
        <p:spPr>
          <a:xfrm>
            <a:off x="6741099" y="1438494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4000" b="1" dirty="0" err="1">
                <a:latin typeface="Helvetica"/>
                <a:cs typeface="Helvetica"/>
              </a:rPr>
              <a:t>PCAs</a:t>
            </a:r>
            <a:endParaRPr lang="es-ES" sz="4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4000" dirty="0">
              <a:latin typeface="Helvetica"/>
              <a:cs typeface="Helvetica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E400EFF2-9D7C-C204-C92B-9A28ECC12150}"/>
              </a:ext>
            </a:extLst>
          </p:cNvPr>
          <p:cNvSpPr txBox="1">
            <a:spLocks/>
          </p:cNvSpPr>
          <p:nvPr/>
        </p:nvSpPr>
        <p:spPr>
          <a:xfrm>
            <a:off x="6741099" y="2176409"/>
            <a:ext cx="3850107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000" dirty="0" err="1">
                <a:latin typeface="Helvetica"/>
                <a:cs typeface="Helvetica"/>
              </a:rPr>
              <a:t>Existence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of</a:t>
            </a:r>
            <a:r>
              <a:rPr lang="es-ES" sz="3000" dirty="0">
                <a:latin typeface="Helvetica"/>
                <a:cs typeface="Helvetica"/>
              </a:rPr>
              <a:t> a global </a:t>
            </a:r>
            <a:r>
              <a:rPr lang="es-ES" sz="3000" dirty="0" err="1">
                <a:latin typeface="Helvetica"/>
                <a:cs typeface="Helvetica"/>
              </a:rPr>
              <a:t>plant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traits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spectrum</a:t>
            </a:r>
            <a:r>
              <a:rPr lang="es-ES" sz="3000" dirty="0">
                <a:latin typeface="Helvetica"/>
                <a:cs typeface="Helvetica"/>
              </a:rPr>
              <a:t>!</a:t>
            </a:r>
            <a:endParaRPr lang="es-ES" sz="3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4000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B498BE06-5F66-CCBC-60DF-477B2D034C11}"/>
              </a:ext>
            </a:extLst>
          </p:cNvPr>
          <p:cNvSpPr txBox="1">
            <a:spLocks/>
          </p:cNvSpPr>
          <p:nvPr/>
        </p:nvSpPr>
        <p:spPr>
          <a:xfrm>
            <a:off x="5701261" y="3706941"/>
            <a:ext cx="6267386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Temperate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: PC1 – </a:t>
            </a:r>
            <a:r>
              <a:rPr lang="es-ES" sz="2400" dirty="0" err="1">
                <a:latin typeface="Helvetica"/>
                <a:cs typeface="Helvetica"/>
              </a:rPr>
              <a:t>resource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acquisition</a:t>
            </a:r>
            <a:r>
              <a:rPr lang="es-ES" sz="2400" dirty="0">
                <a:latin typeface="Helvetica"/>
                <a:cs typeface="Helvetica"/>
              </a:rPr>
              <a:t> / PC2 -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Taller </a:t>
            </a:r>
            <a:r>
              <a:rPr lang="es-ES" sz="2400" dirty="0" err="1">
                <a:latin typeface="Helvetica"/>
                <a:cs typeface="Helvetica"/>
              </a:rPr>
              <a:t>trees</a:t>
            </a:r>
            <a:r>
              <a:rPr lang="es-ES" sz="2400" dirty="0">
                <a:latin typeface="Helvetica"/>
                <a:cs typeface="Helvetica"/>
              </a:rPr>
              <a:t> ‘</a:t>
            </a:r>
            <a:r>
              <a:rPr lang="es-ES" sz="2400" dirty="0" err="1">
                <a:latin typeface="Helvetica"/>
                <a:cs typeface="Helvetica"/>
              </a:rPr>
              <a:t>faster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strategies</a:t>
            </a:r>
            <a:r>
              <a:rPr lang="es-ES" sz="2400" dirty="0">
                <a:latin typeface="Helvetica"/>
                <a:cs typeface="Helvetica"/>
              </a:rPr>
              <a:t>’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6CCDCB2-1B35-3F95-443D-0000F3075E2B}"/>
              </a:ext>
            </a:extLst>
          </p:cNvPr>
          <p:cNvSpPr txBox="1">
            <a:spLocks/>
          </p:cNvSpPr>
          <p:nvPr/>
        </p:nvSpPr>
        <p:spPr>
          <a:xfrm>
            <a:off x="5701261" y="4994905"/>
            <a:ext cx="6267386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Mediterranean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: PC1 – </a:t>
            </a:r>
            <a:r>
              <a:rPr lang="es-ES" sz="2400" dirty="0" err="1">
                <a:latin typeface="Helvetica"/>
                <a:cs typeface="Helvetica"/>
              </a:rPr>
              <a:t>resource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acquisition</a:t>
            </a:r>
            <a:r>
              <a:rPr lang="es-ES" sz="2400" dirty="0">
                <a:latin typeface="Helvetica"/>
                <a:cs typeface="Helvetica"/>
              </a:rPr>
              <a:t>?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Taller </a:t>
            </a:r>
            <a:r>
              <a:rPr lang="es-ES" sz="2400" dirty="0" err="1">
                <a:latin typeface="Helvetica"/>
                <a:cs typeface="Helvetica"/>
              </a:rPr>
              <a:t>trees</a:t>
            </a:r>
            <a:r>
              <a:rPr lang="es-ES" sz="2400" dirty="0">
                <a:latin typeface="Helvetica"/>
                <a:cs typeface="Helvetica"/>
              </a:rPr>
              <a:t> ‘</a:t>
            </a:r>
            <a:r>
              <a:rPr lang="es-ES" sz="2400" dirty="0" err="1">
                <a:latin typeface="Helvetica"/>
                <a:cs typeface="Helvetica"/>
              </a:rPr>
              <a:t>slower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strategies</a:t>
            </a:r>
            <a:r>
              <a:rPr lang="es-ES" sz="2400" dirty="0">
                <a:latin typeface="Helvetica"/>
                <a:cs typeface="Helvetica"/>
              </a:rPr>
              <a:t>’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F92326-D046-3971-9C7D-579C180AB9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05"/>
          <a:stretch>
            <a:fillRect/>
          </a:stretch>
        </p:blipFill>
        <p:spPr>
          <a:xfrm>
            <a:off x="500933" y="1058705"/>
            <a:ext cx="4492769" cy="5528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51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C3E6E-B7A7-FFF5-0AD9-98A84432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7356-EDAF-56A5-8806-02E0D4DD7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1CB17504-F64A-7414-A2CF-46DFB8CC8BF2}"/>
              </a:ext>
            </a:extLst>
          </p:cNvPr>
          <p:cNvSpPr txBox="1">
            <a:spLocks/>
          </p:cNvSpPr>
          <p:nvPr/>
        </p:nvSpPr>
        <p:spPr>
          <a:xfrm>
            <a:off x="1346139" y="2324988"/>
            <a:ext cx="8910381" cy="21708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Two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options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r>
              <a:rPr lang="es-ES" sz="2400" b="1" dirty="0" err="1">
                <a:latin typeface="Helvetica"/>
                <a:cs typeface="Helvetica"/>
              </a:rPr>
              <a:t>Different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PCAs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check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how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changes</a:t>
            </a:r>
            <a:r>
              <a:rPr lang="es-ES" sz="2400" b="1" dirty="0">
                <a:latin typeface="Helvetica"/>
                <a:cs typeface="Helvetica"/>
              </a:rPr>
              <a:t>.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r>
              <a:rPr lang="es-ES" sz="2400" b="1" u="sng" dirty="0">
                <a:latin typeface="Helvetica"/>
                <a:cs typeface="Helvetica"/>
              </a:rPr>
              <a:t>PCA </a:t>
            </a:r>
            <a:r>
              <a:rPr lang="es-ES" sz="2400" b="1" u="sng" dirty="0" err="1">
                <a:latin typeface="Helvetica"/>
                <a:cs typeface="Helvetica"/>
              </a:rPr>
              <a:t>all</a:t>
            </a:r>
            <a:r>
              <a:rPr lang="es-ES" sz="2400" b="1" u="sng" dirty="0">
                <a:latin typeface="Helvetica"/>
                <a:cs typeface="Helvetica"/>
              </a:rPr>
              <a:t> </a:t>
            </a:r>
            <a:r>
              <a:rPr lang="es-ES" sz="2400" b="1" u="sng" dirty="0" err="1">
                <a:latin typeface="Helvetica"/>
                <a:cs typeface="Helvetica"/>
              </a:rPr>
              <a:t>together</a:t>
            </a:r>
            <a:endParaRPr lang="es-ES" sz="2400" b="1" u="sng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b="1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b="1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done </a:t>
            </a:r>
            <a:r>
              <a:rPr lang="es-ES" sz="2400" b="1" dirty="0" err="1">
                <a:latin typeface="Helvetica"/>
                <a:cs typeface="Helvetica"/>
              </a:rPr>
              <a:t>both</a:t>
            </a:r>
            <a:r>
              <a:rPr lang="es-ES" sz="2400" b="1" dirty="0">
                <a:latin typeface="Helvetica"/>
                <a:cs typeface="Helvetica"/>
              </a:rPr>
              <a:t>! </a:t>
            </a:r>
            <a:r>
              <a:rPr lang="es-ES" sz="2400" b="1" dirty="0" err="1">
                <a:latin typeface="Helvetica"/>
                <a:cs typeface="Helvetica"/>
              </a:rPr>
              <a:t>But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nice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results</a:t>
            </a:r>
            <a:r>
              <a:rPr lang="es-ES" sz="2400" b="1" dirty="0">
                <a:latin typeface="Helvetica"/>
                <a:cs typeface="Helvetica"/>
              </a:rPr>
              <a:t> come </a:t>
            </a:r>
            <a:r>
              <a:rPr lang="es-ES" sz="2400" b="1" dirty="0" err="1">
                <a:latin typeface="Helvetica"/>
                <a:cs typeface="Helvetica"/>
              </a:rPr>
              <a:t>from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the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first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b="1" dirty="0" err="1">
                <a:latin typeface="Helvetica"/>
                <a:cs typeface="Helvetica"/>
              </a:rPr>
              <a:t>because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changes</a:t>
            </a:r>
            <a:r>
              <a:rPr lang="es-ES" sz="2400" b="1" dirty="0">
                <a:latin typeface="Helvetica"/>
                <a:cs typeface="Helvetica"/>
              </a:rPr>
              <a:t>.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endParaRPr lang="es-ES" sz="2400" b="1" dirty="0">
              <a:latin typeface="Helvetica"/>
              <a:cs typeface="Helvetica"/>
            </a:endParaRPr>
          </a:p>
          <a:p>
            <a:pPr marL="742950" indent="-742950" algn="just">
              <a:buClr>
                <a:srgbClr val="218317"/>
              </a:buClr>
              <a:buAutoNum type="arabicParenBoth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781559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tails are in the caption following the image">
            <a:extLst>
              <a:ext uri="{FF2B5EF4-FFF2-40B4-BE49-F238E27FC236}">
                <a16:creationId xmlns:a16="http://schemas.microsoft.com/office/drawing/2014/main" id="{4BEB4700-95DF-B8D8-DABA-A3D0F671E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092" y="4090049"/>
            <a:ext cx="3232055" cy="2521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6B115F-E3B5-740F-510C-5B8100D5C1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67" t="31703" r="58667" b="9629"/>
          <a:stretch>
            <a:fillRect/>
          </a:stretch>
        </p:blipFill>
        <p:spPr>
          <a:xfrm>
            <a:off x="8483600" y="0"/>
            <a:ext cx="3495040" cy="4023360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49D8B786-E55E-D358-AAFD-5CD222E5E986}"/>
              </a:ext>
            </a:extLst>
          </p:cNvPr>
          <p:cNvSpPr txBox="1">
            <a:spLocks/>
          </p:cNvSpPr>
          <p:nvPr/>
        </p:nvSpPr>
        <p:spPr>
          <a:xfrm>
            <a:off x="6165393" y="15727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16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Soheili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2023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hollow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 vs.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(full)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oaks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parenchyma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anatomy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1028" name="Picture 4" descr="figure 3">
            <a:extLst>
              <a:ext uri="{FF2B5EF4-FFF2-40B4-BE49-F238E27FC236}">
                <a16:creationId xmlns:a16="http://schemas.microsoft.com/office/drawing/2014/main" id="{07697A91-A110-FFDB-C5E8-364B21288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16" y="157278"/>
            <a:ext cx="2707844" cy="511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2040EAC-1BB9-EFEA-31B0-3EAF57571059}"/>
              </a:ext>
            </a:extLst>
          </p:cNvPr>
          <p:cNvSpPr txBox="1">
            <a:spLocks/>
          </p:cNvSpPr>
          <p:nvPr/>
        </p:nvSpPr>
        <p:spPr>
          <a:xfrm>
            <a:off x="2842260" y="40111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6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Yu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2023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Control (AM) vs.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Moderate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(MW) vs. Severe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warming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(SW) 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F5C3DD8-0CD4-E82F-6ABF-F0221C215D0F}"/>
              </a:ext>
            </a:extLst>
          </p:cNvPr>
          <p:cNvSpPr txBox="1">
            <a:spLocks/>
          </p:cNvSpPr>
          <p:nvPr/>
        </p:nvSpPr>
        <p:spPr>
          <a:xfrm>
            <a:off x="3777793" y="215371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Luong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&amp; </a:t>
            </a:r>
            <a:r>
              <a:rPr lang="es-ES" sz="1600" b="1" i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Loik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2022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Different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stress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treatments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C3 and C4 Californian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grasses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1030" name="Picture 6" descr="Details are in the caption following the image">
            <a:extLst>
              <a:ext uri="{FF2B5EF4-FFF2-40B4-BE49-F238E27FC236}">
                <a16:creationId xmlns:a16="http://schemas.microsoft.com/office/drawing/2014/main" id="{4A779747-900D-C429-DBF4-CAE323218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975" y="3260258"/>
            <a:ext cx="3096418" cy="3440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69D118E-7A14-CCD1-32A1-648B50A1ADD6}"/>
              </a:ext>
            </a:extLst>
          </p:cNvPr>
          <p:cNvSpPr txBox="1">
            <a:spLocks/>
          </p:cNvSpPr>
          <p:nvPr/>
        </p:nvSpPr>
        <p:spPr>
          <a:xfrm>
            <a:off x="6296885" y="508695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Rosas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2021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Mediterranean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species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783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4DF34-3447-356A-2B00-7A0ABFDF5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92BD-0336-C01F-9D17-D46FFC015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Supporting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8B2EC5-ED17-397F-08A0-364D1DC41E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705"/>
          <a:stretch>
            <a:fillRect/>
          </a:stretch>
        </p:blipFill>
        <p:spPr>
          <a:xfrm>
            <a:off x="500933" y="1058705"/>
            <a:ext cx="4492769" cy="5528707"/>
          </a:xfrm>
          <a:prstGeom prst="rect">
            <a:avLst/>
          </a:prstGeom>
        </p:spPr>
      </p:pic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57F8ABC8-DB2B-4754-700B-44FE4F299AB6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27491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PERMANOVA:</a:t>
            </a:r>
          </a:p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vs. Non-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significant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divergence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Healthy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vs.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Damaged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no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significant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divergence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2111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B4B2B-C790-BBC4-40C5-7CE36D493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EAF3-C3C6-2C42-29AF-110A84506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00FAB01-EABD-4D9F-ABA9-E5D7A55FB294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Abies</a:t>
            </a:r>
            <a:r>
              <a:rPr lang="es-ES" b="1" i="1" dirty="0">
                <a:latin typeface="Helvetica"/>
                <a:cs typeface="Helvetica"/>
              </a:rPr>
              <a:t> alba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0A4AC2-40F7-9CD5-A21B-683A1797B34C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27491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Similar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functional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space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acquisitive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SLA)</a:t>
            </a:r>
          </a:p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more conservative (↑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C)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BEAAA-384E-4B83-A268-83925CF57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372"/>
          <a:stretch>
            <a:fillRect/>
          </a:stretch>
        </p:blipFill>
        <p:spPr>
          <a:xfrm>
            <a:off x="419099" y="2495619"/>
            <a:ext cx="6046784" cy="206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60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8DE4-F523-08A1-396B-E70D216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204F-3199-45F0-1D48-927FF1200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A727803-7D2A-F2D1-7462-8D304F47065E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sylvestris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3D9330-DFBC-3997-8EDF-5CBC301F9F7D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27491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Reduced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sites!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acquisitive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, N and SLA)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more conservative (↑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C)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1D3D16-7830-4B07-9D2C-FE9F081CE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924" b="48448"/>
          <a:stretch>
            <a:fillRect/>
          </a:stretch>
        </p:blipFill>
        <p:spPr>
          <a:xfrm>
            <a:off x="419099" y="2495619"/>
            <a:ext cx="6046784" cy="206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605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23CB2-4643-F8E9-9F37-C7EA3318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B0C65-3C30-BEA9-A09E-C8A30B55F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2C14040-F6B8-EB7B-7A18-6A68DB63C877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pinea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AB77E6-6546-70E0-7438-F315789B8D9C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37855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 </a:t>
            </a:r>
          </a:p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 LES?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iWUE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?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↑N 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PS?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6442FF-26C2-EB34-E02A-CFC3E753A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449" b="22923"/>
          <a:stretch>
            <a:fillRect/>
          </a:stretch>
        </p:blipFill>
        <p:spPr>
          <a:xfrm>
            <a:off x="419099" y="2495619"/>
            <a:ext cx="6046784" cy="2066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253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5EB73-49FA-81E9-6A86-DFBA8DB0F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040AC-0AC7-519C-A3CD-AEDB9BE0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25397"/>
            <a:ext cx="11353801" cy="807474"/>
          </a:xfrm>
        </p:spPr>
        <p:txBody>
          <a:bodyPr>
            <a:noAutofit/>
          </a:bodyPr>
          <a:lstStyle/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b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(in non-decline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LES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clorophyll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WUE)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A2CFB7-4CCB-1AA6-BD03-43CAF9B17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556"/>
          <a:stretch>
            <a:fillRect/>
          </a:stretch>
        </p:blipFill>
        <p:spPr>
          <a:xfrm>
            <a:off x="1384170" y="1313383"/>
            <a:ext cx="9423659" cy="38252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CE4950-9A19-FEAE-99B8-600CB5158E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7F749C8-D8E1-E87C-0569-EB8841CC0D6E}"/>
              </a:ext>
            </a:extLst>
          </p:cNvPr>
          <p:cNvSpPr txBox="1">
            <a:spLocks/>
          </p:cNvSpPr>
          <p:nvPr/>
        </p:nvSpPr>
        <p:spPr>
          <a:xfrm rot="16200000">
            <a:off x="-491007" y="2425066"/>
            <a:ext cx="244883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Abies</a:t>
            </a:r>
            <a:r>
              <a:rPr lang="es-ES" b="1" i="1" dirty="0">
                <a:latin typeface="Helvetica"/>
                <a:cs typeface="Helvetica"/>
              </a:rPr>
              <a:t> alba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1284707-50F8-244F-73EA-A84C138CE98A}"/>
              </a:ext>
            </a:extLst>
          </p:cNvPr>
          <p:cNvSpPr txBox="1">
            <a:spLocks/>
          </p:cNvSpPr>
          <p:nvPr/>
        </p:nvSpPr>
        <p:spPr>
          <a:xfrm>
            <a:off x="916816" y="5417432"/>
            <a:ext cx="3931570" cy="121346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Drought-induced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decline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collapses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Yu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2022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8B35BA92-89B9-BF11-C8A7-00D46814F2ED}"/>
              </a:ext>
            </a:extLst>
          </p:cNvPr>
          <p:cNvSpPr txBox="1">
            <a:spLocks/>
          </p:cNvSpPr>
          <p:nvPr/>
        </p:nvSpPr>
        <p:spPr>
          <a:xfrm>
            <a:off x="4757505" y="5397721"/>
            <a:ext cx="3596503" cy="8526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determined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resource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acquisition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DA6C19A1-8685-DBC5-6671-0B30D943E933}"/>
              </a:ext>
            </a:extLst>
          </p:cNvPr>
          <p:cNvSpPr txBox="1">
            <a:spLocks/>
          </p:cNvSpPr>
          <p:nvPr/>
        </p:nvSpPr>
        <p:spPr>
          <a:xfrm>
            <a:off x="8176397" y="5397721"/>
            <a:ext cx="3596503" cy="8526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limited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stomatal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regulation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C4A178-E465-F429-D368-BA5EBBF0485E}"/>
              </a:ext>
            </a:extLst>
          </p:cNvPr>
          <p:cNvSpPr/>
          <p:nvPr/>
        </p:nvSpPr>
        <p:spPr>
          <a:xfrm rot="1382455">
            <a:off x="8537511" y="1703417"/>
            <a:ext cx="513183" cy="291793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AC45BD1-86B5-385E-27C8-B7A1E8D9C734}"/>
              </a:ext>
            </a:extLst>
          </p:cNvPr>
          <p:cNvSpPr/>
          <p:nvPr/>
        </p:nvSpPr>
        <p:spPr>
          <a:xfrm rot="12883266">
            <a:off x="6176566" y="1183898"/>
            <a:ext cx="969220" cy="2244453"/>
          </a:xfrm>
          <a:prstGeom prst="ellipse">
            <a:avLst/>
          </a:prstGeom>
          <a:noFill/>
          <a:ln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07E30C7-8E8E-A1B8-35C6-5BDCDD69BDE4}"/>
              </a:ext>
            </a:extLst>
          </p:cNvPr>
          <p:cNvSpPr txBox="1">
            <a:spLocks/>
          </p:cNvSpPr>
          <p:nvPr/>
        </p:nvSpPr>
        <p:spPr>
          <a:xfrm>
            <a:off x="3694144" y="4092676"/>
            <a:ext cx="4292813" cy="6379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Supporting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175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9C3FA-2D50-2078-87BE-13ABB0ED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8D1FB30-F7F2-8501-3637-0B0906710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40" b="39184"/>
          <a:stretch>
            <a:fillRect/>
          </a:stretch>
        </p:blipFill>
        <p:spPr>
          <a:xfrm>
            <a:off x="1384170" y="1313382"/>
            <a:ext cx="9413837" cy="38252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85E40-8E4B-909C-F998-487927F36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696EC30-5C34-171A-B3BE-AB4153936C85}"/>
              </a:ext>
            </a:extLst>
          </p:cNvPr>
          <p:cNvSpPr txBox="1">
            <a:spLocks/>
          </p:cNvSpPr>
          <p:nvPr/>
        </p:nvSpPr>
        <p:spPr>
          <a:xfrm>
            <a:off x="4635975" y="5675879"/>
            <a:ext cx="3596503" cy="8849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limited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stomatal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regulation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ACBA158-C93F-B54A-B04F-137938D88F21}"/>
              </a:ext>
            </a:extLst>
          </p:cNvPr>
          <p:cNvSpPr txBox="1">
            <a:spLocks/>
          </p:cNvSpPr>
          <p:nvPr/>
        </p:nvSpPr>
        <p:spPr>
          <a:xfrm>
            <a:off x="7841330" y="5675879"/>
            <a:ext cx="3931570" cy="12134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preserved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even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decline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conditions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08FF7465-39FF-2437-4C59-15CD986C9225}"/>
              </a:ext>
            </a:extLst>
          </p:cNvPr>
          <p:cNvSpPr txBox="1">
            <a:spLocks/>
          </p:cNvSpPr>
          <p:nvPr/>
        </p:nvSpPr>
        <p:spPr>
          <a:xfrm>
            <a:off x="935841" y="5544618"/>
            <a:ext cx="3596503" cy="884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Defoliation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‘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slow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’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strategy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CC19B19-4C30-5947-F9C3-A79FA8E50429}"/>
              </a:ext>
            </a:extLst>
          </p:cNvPr>
          <p:cNvSpPr/>
          <p:nvPr/>
        </p:nvSpPr>
        <p:spPr>
          <a:xfrm>
            <a:off x="6786464" y="3746240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C1D10F5-EE42-0B89-03D9-CA722902D1A8}"/>
              </a:ext>
            </a:extLst>
          </p:cNvPr>
          <p:cNvSpPr/>
          <p:nvPr/>
        </p:nvSpPr>
        <p:spPr>
          <a:xfrm>
            <a:off x="10093718" y="2862106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DC23A373-0A9C-829B-D6C5-EDB193D64EB8}"/>
              </a:ext>
            </a:extLst>
          </p:cNvPr>
          <p:cNvSpPr txBox="1">
            <a:spLocks/>
          </p:cNvSpPr>
          <p:nvPr/>
        </p:nvSpPr>
        <p:spPr>
          <a:xfrm rot="16200000">
            <a:off x="-753261" y="2687320"/>
            <a:ext cx="297334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sylvestris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6F7BA1-8FC8-C6D8-A689-FD1BA195684E}"/>
              </a:ext>
            </a:extLst>
          </p:cNvPr>
          <p:cNvSpPr txBox="1">
            <a:spLocks/>
          </p:cNvSpPr>
          <p:nvPr/>
        </p:nvSpPr>
        <p:spPr>
          <a:xfrm>
            <a:off x="419099" y="125397"/>
            <a:ext cx="11353801" cy="8074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b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(in non-decline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LES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clorophyll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WUE)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50CC6-E2A9-778C-5404-C604AD72B8A5}"/>
              </a:ext>
            </a:extLst>
          </p:cNvPr>
          <p:cNvSpPr txBox="1">
            <a:spLocks/>
          </p:cNvSpPr>
          <p:nvPr/>
        </p:nvSpPr>
        <p:spPr>
          <a:xfrm>
            <a:off x="3694144" y="4092676"/>
            <a:ext cx="4292813" cy="6379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Supporting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34071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87DD9-595A-E9C2-13C8-DE62FC6F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48CC2A-089A-9F0E-2741-703E0F374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8" b="8848"/>
          <a:stretch>
            <a:fillRect/>
          </a:stretch>
        </p:blipFill>
        <p:spPr>
          <a:xfrm>
            <a:off x="1384170" y="1313383"/>
            <a:ext cx="9423659" cy="3825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50314F-6E20-81B7-EE6C-FFBF66D5D2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3C6CB505-6324-C5CF-568B-75017E46A016}"/>
              </a:ext>
            </a:extLst>
          </p:cNvPr>
          <p:cNvSpPr txBox="1">
            <a:spLocks/>
          </p:cNvSpPr>
          <p:nvPr/>
        </p:nvSpPr>
        <p:spPr>
          <a:xfrm rot="16200000">
            <a:off x="-753261" y="2687320"/>
            <a:ext cx="297334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pinea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78BDA7D-D3B9-21D0-5A08-51DF2EC34F77}"/>
              </a:ext>
            </a:extLst>
          </p:cNvPr>
          <p:cNvSpPr txBox="1">
            <a:spLocks/>
          </p:cNvSpPr>
          <p:nvPr/>
        </p:nvSpPr>
        <p:spPr>
          <a:xfrm>
            <a:off x="4297747" y="5312224"/>
            <a:ext cx="3596503" cy="1732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Larger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‘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slower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’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Trade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-off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-PS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4BC47F7-E5E6-E1DF-215D-1251505EA638}"/>
              </a:ext>
            </a:extLst>
          </p:cNvPr>
          <p:cNvSpPr txBox="1">
            <a:spLocks/>
          </p:cNvSpPr>
          <p:nvPr/>
        </p:nvSpPr>
        <p:spPr>
          <a:xfrm>
            <a:off x="419099" y="125397"/>
            <a:ext cx="11353801" cy="8074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Mediterranean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+ WUE,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LES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coordinated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0D3FAD-2711-B4C0-DED2-7EFCD0FAA120}"/>
              </a:ext>
            </a:extLst>
          </p:cNvPr>
          <p:cNvSpPr/>
          <p:nvPr/>
        </p:nvSpPr>
        <p:spPr>
          <a:xfrm>
            <a:off x="9231084" y="1384050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F4EE91D-F7F3-F20B-FE5C-7FE20F76181B}"/>
              </a:ext>
            </a:extLst>
          </p:cNvPr>
          <p:cNvSpPr/>
          <p:nvPr/>
        </p:nvSpPr>
        <p:spPr>
          <a:xfrm>
            <a:off x="8767663" y="4559568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E023D6B-1008-8FA0-29A6-613DFF3DD832}"/>
              </a:ext>
            </a:extLst>
          </p:cNvPr>
          <p:cNvSpPr/>
          <p:nvPr/>
        </p:nvSpPr>
        <p:spPr>
          <a:xfrm>
            <a:off x="6204855" y="2593919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B2F6CE-A374-5482-10BF-840EA5916B6B}"/>
              </a:ext>
            </a:extLst>
          </p:cNvPr>
          <p:cNvSpPr/>
          <p:nvPr/>
        </p:nvSpPr>
        <p:spPr>
          <a:xfrm>
            <a:off x="4929671" y="4081092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26DDD73D-3ABB-A866-9A39-9F6F2887F820}"/>
              </a:ext>
            </a:extLst>
          </p:cNvPr>
          <p:cNvSpPr txBox="1">
            <a:spLocks/>
          </p:cNvSpPr>
          <p:nvPr/>
        </p:nvSpPr>
        <p:spPr>
          <a:xfrm>
            <a:off x="8443649" y="5351607"/>
            <a:ext cx="3596503" cy="1732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N-SLA?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8D2F2B-5D37-03AE-6308-BDEA8D1CE52A}"/>
              </a:ext>
            </a:extLst>
          </p:cNvPr>
          <p:cNvSpPr txBox="1">
            <a:spLocks/>
          </p:cNvSpPr>
          <p:nvPr/>
        </p:nvSpPr>
        <p:spPr>
          <a:xfrm>
            <a:off x="3694144" y="4092676"/>
            <a:ext cx="4292813" cy="63794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Supporting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26849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F4C11-8825-593C-AC5F-B986617D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FE22B-3689-0300-14A3-E24753B57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F07C1720-BD5E-A84D-63E4-1AE928273B63}"/>
              </a:ext>
            </a:extLst>
          </p:cNvPr>
          <p:cNvSpPr txBox="1">
            <a:spLocks/>
          </p:cNvSpPr>
          <p:nvPr/>
        </p:nvSpPr>
        <p:spPr>
          <a:xfrm>
            <a:off x="1175657" y="1906551"/>
            <a:ext cx="10291666" cy="33092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Existence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within-species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endParaRPr lang="es-ES" sz="32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 +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// PS</a:t>
            </a:r>
          </a:p>
          <a:p>
            <a:pPr>
              <a:buClr>
                <a:srgbClr val="218317"/>
              </a:buClr>
            </a:pP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shift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towards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more conservative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(LES)</a:t>
            </a:r>
          </a:p>
          <a:p>
            <a:pPr>
              <a:buClr>
                <a:srgbClr val="218317"/>
              </a:buClr>
            </a:pPr>
            <a:endParaRPr lang="es-ES" sz="32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32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189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76901-BC67-D18F-910A-0A0D2C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652DC-86B6-D341-47BF-0FF187583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3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structure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5649A2A0-E4DC-64F2-34FC-CE7AD9AC735B}"/>
              </a:ext>
            </a:extLst>
          </p:cNvPr>
          <p:cNvSpPr txBox="1">
            <a:spLocks/>
          </p:cNvSpPr>
          <p:nvPr/>
        </p:nvSpPr>
        <p:spPr>
          <a:xfrm>
            <a:off x="4881841" y="5866385"/>
            <a:ext cx="2090421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WUE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(d13C, d18O)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36916226-E84E-0DA8-D362-174035752862}"/>
              </a:ext>
            </a:extLst>
          </p:cNvPr>
          <p:cNvSpPr txBox="1">
            <a:spLocks/>
          </p:cNvSpPr>
          <p:nvPr/>
        </p:nvSpPr>
        <p:spPr>
          <a:xfrm>
            <a:off x="967327" y="1701650"/>
            <a:ext cx="2620012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(N, SLA)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EA29C258-1252-6BE3-599F-DAAD3178E26B}"/>
              </a:ext>
            </a:extLst>
          </p:cNvPr>
          <p:cNvSpPr txBox="1">
            <a:spLocks/>
          </p:cNvSpPr>
          <p:nvPr/>
        </p:nvSpPr>
        <p:spPr>
          <a:xfrm>
            <a:off x="9090343" y="18335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(h)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C93890E0-0826-0DF6-1C2A-8EB42AC39F58}"/>
              </a:ext>
            </a:extLst>
          </p:cNvPr>
          <p:cNvSpPr txBox="1">
            <a:spLocks/>
          </p:cNvSpPr>
          <p:nvPr/>
        </p:nvSpPr>
        <p:spPr>
          <a:xfrm>
            <a:off x="4982491" y="18335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(BAI80)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5CEFA4A4-26DE-FF5E-BDCB-8A21E9508B77}"/>
              </a:ext>
            </a:extLst>
          </p:cNvPr>
          <p:cNvSpPr/>
          <p:nvPr/>
        </p:nvSpPr>
        <p:spPr>
          <a:xfrm rot="16200000">
            <a:off x="3917783" y="966083"/>
            <a:ext cx="268604" cy="2189498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BF5BFA68-8263-8477-9D2A-AA762FE5813B}"/>
              </a:ext>
            </a:extLst>
          </p:cNvPr>
          <p:cNvSpPr/>
          <p:nvPr/>
        </p:nvSpPr>
        <p:spPr>
          <a:xfrm rot="5400000">
            <a:off x="7846677" y="801323"/>
            <a:ext cx="268604" cy="252752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DE9BE6-0B57-9B3F-1CBC-A86A969D4050}"/>
              </a:ext>
            </a:extLst>
          </p:cNvPr>
          <p:cNvSpPr/>
          <p:nvPr/>
        </p:nvSpPr>
        <p:spPr>
          <a:xfrm rot="18762096" flipH="1">
            <a:off x="3782124" y="1845906"/>
            <a:ext cx="346993" cy="3054542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CB8192-7FB7-B6A9-B020-57DEC9494A45}"/>
              </a:ext>
            </a:extLst>
          </p:cNvPr>
          <p:cNvSpPr txBox="1">
            <a:spLocks/>
          </p:cNvSpPr>
          <p:nvPr/>
        </p:nvSpPr>
        <p:spPr>
          <a:xfrm>
            <a:off x="8758740" y="4062857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12FC7992-8173-5E2C-4351-4277896DE7A6}"/>
              </a:ext>
            </a:extLst>
          </p:cNvPr>
          <p:cNvSpPr/>
          <p:nvPr/>
        </p:nvSpPr>
        <p:spPr>
          <a:xfrm>
            <a:off x="5777040" y="2671273"/>
            <a:ext cx="300025" cy="140380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24347066-41F6-EB07-D883-800BE4A68AB2}"/>
              </a:ext>
            </a:extLst>
          </p:cNvPr>
          <p:cNvSpPr txBox="1">
            <a:spLocks/>
          </p:cNvSpPr>
          <p:nvPr/>
        </p:nvSpPr>
        <p:spPr>
          <a:xfrm>
            <a:off x="6049452" y="2987985"/>
            <a:ext cx="1603895" cy="891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consequence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Camarero et al. 2015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B3F8CC38-406A-17C6-CD83-CDEA39CAA84C}"/>
              </a:ext>
            </a:extLst>
          </p:cNvPr>
          <p:cNvSpPr txBox="1">
            <a:spLocks/>
          </p:cNvSpPr>
          <p:nvPr/>
        </p:nvSpPr>
        <p:spPr>
          <a:xfrm>
            <a:off x="1124281" y="2999730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(=PS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capacity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 determines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(=d13C)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(Benavides et al. 2023; Querejeta et al. 2025)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2E6A6AE0-8B62-D771-1471-2339226FE1D2}"/>
              </a:ext>
            </a:extLst>
          </p:cNvPr>
          <p:cNvSpPr txBox="1">
            <a:spLocks/>
          </p:cNvSpPr>
          <p:nvPr/>
        </p:nvSpPr>
        <p:spPr>
          <a:xfrm>
            <a:off x="2022717" y="4062857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Nm and SLA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regardless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12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Yu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 et al. 2022)</a:t>
            </a:r>
          </a:p>
        </p:txBody>
      </p:sp>
      <p:sp>
        <p:nvSpPr>
          <p:cNvPr id="33" name="Marcador de contenido 2">
            <a:extLst>
              <a:ext uri="{FF2B5EF4-FFF2-40B4-BE49-F238E27FC236}">
                <a16:creationId xmlns:a16="http://schemas.microsoft.com/office/drawing/2014/main" id="{C8F70ED8-CEDF-EA6F-DA3C-43732A51AF4A}"/>
              </a:ext>
            </a:extLst>
          </p:cNvPr>
          <p:cNvSpPr txBox="1">
            <a:spLocks/>
          </p:cNvSpPr>
          <p:nvPr/>
        </p:nvSpPr>
        <p:spPr>
          <a:xfrm>
            <a:off x="4952275" y="4279109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u="sng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Defoliation</a:t>
            </a:r>
            <a:endParaRPr lang="es-ES" sz="2000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E61902D1-F4AC-4BA4-9C9A-3C247E4A99FE}"/>
              </a:ext>
            </a:extLst>
          </p:cNvPr>
          <p:cNvSpPr txBox="1">
            <a:spLocks/>
          </p:cNvSpPr>
          <p:nvPr/>
        </p:nvSpPr>
        <p:spPr>
          <a:xfrm>
            <a:off x="8439537" y="4613220"/>
            <a:ext cx="2527530" cy="108798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Most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form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RuBisCo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other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phosotynthetic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enzymes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already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summarizes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it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Field &amp; Mooney 1986; Galiano et al. 2011; Benavides et al. 2023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)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92AB3B52-30DF-64D7-3B46-D65B7C8E0986}"/>
              </a:ext>
            </a:extLst>
          </p:cNvPr>
          <p:cNvSpPr txBox="1">
            <a:spLocks/>
          </p:cNvSpPr>
          <p:nvPr/>
        </p:nvSpPr>
        <p:spPr>
          <a:xfrm>
            <a:off x="3508534" y="1337277"/>
            <a:ext cx="16364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hydraulics</a:t>
            </a:r>
            <a:endParaRPr lang="es-ES" sz="12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1" name="Grupo 20">
            <a:extLst>
              <a:ext uri="{FF2B5EF4-FFF2-40B4-BE49-F238E27FC236}">
                <a16:creationId xmlns:a16="http://schemas.microsoft.com/office/drawing/2014/main" id="{BFDBB271-4258-871B-9B5F-8B1B61E98905}"/>
              </a:ext>
            </a:extLst>
          </p:cNvPr>
          <p:cNvGrpSpPr/>
          <p:nvPr/>
        </p:nvGrpSpPr>
        <p:grpSpPr>
          <a:xfrm>
            <a:off x="9004764" y="392631"/>
            <a:ext cx="3044617" cy="1094038"/>
            <a:chOff x="1139560" y="5095351"/>
            <a:chExt cx="3477754" cy="1250117"/>
          </a:xfrm>
        </p:grpSpPr>
        <p:pic>
          <p:nvPicPr>
            <p:cNvPr id="12" name="Imagen 3">
              <a:extLst>
                <a:ext uri="{FF2B5EF4-FFF2-40B4-BE49-F238E27FC236}">
                  <a16:creationId xmlns:a16="http://schemas.microsoft.com/office/drawing/2014/main" id="{1625DB47-A059-C196-08AC-69C7426E16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3" name="CuadroTexto 4">
              <a:extLst>
                <a:ext uri="{FF2B5EF4-FFF2-40B4-BE49-F238E27FC236}">
                  <a16:creationId xmlns:a16="http://schemas.microsoft.com/office/drawing/2014/main" id="{5060EDE0-C2EE-67F6-F0B9-03E5627633B5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17">
              <a:extLst>
                <a:ext uri="{FF2B5EF4-FFF2-40B4-BE49-F238E27FC236}">
                  <a16:creationId xmlns:a16="http://schemas.microsoft.com/office/drawing/2014/main" id="{C3B95AA0-0A6C-6F24-325F-12CCB0E62709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7" name="Arrow: Down 16">
            <a:extLst>
              <a:ext uri="{FF2B5EF4-FFF2-40B4-BE49-F238E27FC236}">
                <a16:creationId xmlns:a16="http://schemas.microsoft.com/office/drawing/2014/main" id="{4E804287-C2A5-0BAC-0DE0-2A3EA7DE69AD}"/>
              </a:ext>
            </a:extLst>
          </p:cNvPr>
          <p:cNvSpPr/>
          <p:nvPr/>
        </p:nvSpPr>
        <p:spPr>
          <a:xfrm>
            <a:off x="5777040" y="4947331"/>
            <a:ext cx="300023" cy="709046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49952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A2F2C-92A8-62E3-8EBF-B7B92E8D0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44549-A61A-F751-A3CC-2290CCE49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3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structure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510883CA-00DC-F875-A3FF-080B48F348F3}"/>
              </a:ext>
            </a:extLst>
          </p:cNvPr>
          <p:cNvSpPr txBox="1">
            <a:spLocks/>
          </p:cNvSpPr>
          <p:nvPr/>
        </p:nvSpPr>
        <p:spPr>
          <a:xfrm>
            <a:off x="4852018" y="4333539"/>
            <a:ext cx="2090421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WUE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(d13C, d18O)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5604EF5-0413-EFE9-AA96-768A5CCD7322}"/>
              </a:ext>
            </a:extLst>
          </p:cNvPr>
          <p:cNvSpPr txBox="1">
            <a:spLocks/>
          </p:cNvSpPr>
          <p:nvPr/>
        </p:nvSpPr>
        <p:spPr>
          <a:xfrm>
            <a:off x="967327" y="1701650"/>
            <a:ext cx="2620012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(N, SLA)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60B1CDD-B550-F8BF-9BFD-08C8C70C51C9}"/>
              </a:ext>
            </a:extLst>
          </p:cNvPr>
          <p:cNvSpPr txBox="1">
            <a:spLocks/>
          </p:cNvSpPr>
          <p:nvPr/>
        </p:nvSpPr>
        <p:spPr>
          <a:xfrm>
            <a:off x="9090343" y="18335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(h)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A95C5CFF-7BF1-DEB7-9781-31D80A634C6F}"/>
              </a:ext>
            </a:extLst>
          </p:cNvPr>
          <p:cNvSpPr txBox="1">
            <a:spLocks/>
          </p:cNvSpPr>
          <p:nvPr/>
        </p:nvSpPr>
        <p:spPr>
          <a:xfrm>
            <a:off x="4982491" y="18335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(BAI80)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830E246A-2B99-13BF-FF49-A3D3AC31FC4A}"/>
              </a:ext>
            </a:extLst>
          </p:cNvPr>
          <p:cNvSpPr/>
          <p:nvPr/>
        </p:nvSpPr>
        <p:spPr>
          <a:xfrm rot="5400000">
            <a:off x="4001265" y="964172"/>
            <a:ext cx="268604" cy="2189498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279241AF-E9F8-7669-221F-711694BD9ED1}"/>
              </a:ext>
            </a:extLst>
          </p:cNvPr>
          <p:cNvSpPr/>
          <p:nvPr/>
        </p:nvSpPr>
        <p:spPr>
          <a:xfrm rot="5400000">
            <a:off x="7846677" y="801323"/>
            <a:ext cx="268604" cy="252752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82C62B4-7642-46B0-C974-5920D658DC7F}"/>
              </a:ext>
            </a:extLst>
          </p:cNvPr>
          <p:cNvSpPr/>
          <p:nvPr/>
        </p:nvSpPr>
        <p:spPr>
          <a:xfrm rot="18762096" flipH="1">
            <a:off x="3782124" y="1845906"/>
            <a:ext cx="346993" cy="3054542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D19283-6B6D-F30E-2162-6275FE9BBE55}"/>
              </a:ext>
            </a:extLst>
          </p:cNvPr>
          <p:cNvSpPr txBox="1">
            <a:spLocks/>
          </p:cNvSpPr>
          <p:nvPr/>
        </p:nvSpPr>
        <p:spPr>
          <a:xfrm>
            <a:off x="133592" y="5962251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6B7F2D71-17AE-3812-8545-B9C33B62B3EA}"/>
              </a:ext>
            </a:extLst>
          </p:cNvPr>
          <p:cNvSpPr/>
          <p:nvPr/>
        </p:nvSpPr>
        <p:spPr>
          <a:xfrm>
            <a:off x="5777040" y="2671273"/>
            <a:ext cx="300025" cy="140380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37F169A5-51D1-46CE-837A-9C295254C4D1}"/>
              </a:ext>
            </a:extLst>
          </p:cNvPr>
          <p:cNvSpPr txBox="1">
            <a:spLocks/>
          </p:cNvSpPr>
          <p:nvPr/>
        </p:nvSpPr>
        <p:spPr>
          <a:xfrm>
            <a:off x="6049452" y="2987985"/>
            <a:ext cx="1603895" cy="891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consequence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Camarero et al. 2015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F304112B-8474-BEDF-7570-8D0511EAE107}"/>
              </a:ext>
            </a:extLst>
          </p:cNvPr>
          <p:cNvSpPr txBox="1">
            <a:spLocks/>
          </p:cNvSpPr>
          <p:nvPr/>
        </p:nvSpPr>
        <p:spPr>
          <a:xfrm>
            <a:off x="1124281" y="2999730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(=PS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capacity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 determines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(=d13C)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(Benavides et al. 2023; Querejeta et al. 2025)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38B52973-174A-E37B-7433-5B55D97192E7}"/>
              </a:ext>
            </a:extLst>
          </p:cNvPr>
          <p:cNvSpPr txBox="1">
            <a:spLocks/>
          </p:cNvSpPr>
          <p:nvPr/>
        </p:nvSpPr>
        <p:spPr>
          <a:xfrm>
            <a:off x="2022717" y="4062857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Nm and SLA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regardless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12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Yu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 et al. 2022)</a:t>
            </a:r>
          </a:p>
        </p:txBody>
      </p:sp>
      <p:sp>
        <p:nvSpPr>
          <p:cNvPr id="33" name="Marcador de contenido 2">
            <a:extLst>
              <a:ext uri="{FF2B5EF4-FFF2-40B4-BE49-F238E27FC236}">
                <a16:creationId xmlns:a16="http://schemas.microsoft.com/office/drawing/2014/main" id="{B8792B4D-A6E8-985D-FE1F-55E53B372EB3}"/>
              </a:ext>
            </a:extLst>
          </p:cNvPr>
          <p:cNvSpPr txBox="1">
            <a:spLocks/>
          </p:cNvSpPr>
          <p:nvPr/>
        </p:nvSpPr>
        <p:spPr>
          <a:xfrm>
            <a:off x="7518693" y="4133208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u="sng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Defoliation</a:t>
            </a:r>
            <a:endParaRPr lang="es-ES" sz="2000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7DB08D6-1DAA-1FCC-D20E-79EFFCDC0547}"/>
              </a:ext>
            </a:extLst>
          </p:cNvPr>
          <p:cNvSpPr txBox="1">
            <a:spLocks/>
          </p:cNvSpPr>
          <p:nvPr/>
        </p:nvSpPr>
        <p:spPr>
          <a:xfrm>
            <a:off x="1799206" y="5584214"/>
            <a:ext cx="2527530" cy="108798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Most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form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RuBisCo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other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phosotynthetic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enzymes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already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summarizes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it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Field &amp; Mooney 1986; Galiano et al. 2011; Benavides et al. 2023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)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D622200A-6315-7F63-F68B-7070D752B204}"/>
              </a:ext>
            </a:extLst>
          </p:cNvPr>
          <p:cNvSpPr txBox="1">
            <a:spLocks/>
          </p:cNvSpPr>
          <p:nvPr/>
        </p:nvSpPr>
        <p:spPr>
          <a:xfrm>
            <a:off x="3508534" y="1337277"/>
            <a:ext cx="16364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hydraulics</a:t>
            </a:r>
            <a:endParaRPr lang="es-ES" sz="12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1" name="Grupo 20">
            <a:extLst>
              <a:ext uri="{FF2B5EF4-FFF2-40B4-BE49-F238E27FC236}">
                <a16:creationId xmlns:a16="http://schemas.microsoft.com/office/drawing/2014/main" id="{FAD5372F-B3B7-2FC3-68A8-08C081849CDD}"/>
              </a:ext>
            </a:extLst>
          </p:cNvPr>
          <p:cNvGrpSpPr/>
          <p:nvPr/>
        </p:nvGrpSpPr>
        <p:grpSpPr>
          <a:xfrm>
            <a:off x="9004764" y="392631"/>
            <a:ext cx="3044617" cy="1094038"/>
            <a:chOff x="1139560" y="5095351"/>
            <a:chExt cx="3477754" cy="1250117"/>
          </a:xfrm>
        </p:grpSpPr>
        <p:pic>
          <p:nvPicPr>
            <p:cNvPr id="12" name="Imagen 3">
              <a:extLst>
                <a:ext uri="{FF2B5EF4-FFF2-40B4-BE49-F238E27FC236}">
                  <a16:creationId xmlns:a16="http://schemas.microsoft.com/office/drawing/2014/main" id="{E8782FD7-F678-20DA-B6E3-C638ECA269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3" name="CuadroTexto 4">
              <a:extLst>
                <a:ext uri="{FF2B5EF4-FFF2-40B4-BE49-F238E27FC236}">
                  <a16:creationId xmlns:a16="http://schemas.microsoft.com/office/drawing/2014/main" id="{74859A63-D039-0454-24F7-91D326C71850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17">
              <a:extLst>
                <a:ext uri="{FF2B5EF4-FFF2-40B4-BE49-F238E27FC236}">
                  <a16:creationId xmlns:a16="http://schemas.microsoft.com/office/drawing/2014/main" id="{06192F3E-1D10-CF7D-AD1A-A6AC865230BE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4A87F2F-F8C7-C3BC-6F56-EE944020C286}"/>
              </a:ext>
            </a:extLst>
          </p:cNvPr>
          <p:cNvSpPr/>
          <p:nvPr/>
        </p:nvSpPr>
        <p:spPr>
          <a:xfrm rot="16200000">
            <a:off x="6913369" y="4120881"/>
            <a:ext cx="300023" cy="709046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46A00E2-9937-DF03-7BF6-2DF061F55B23}"/>
              </a:ext>
            </a:extLst>
          </p:cNvPr>
          <p:cNvGrpSpPr/>
          <p:nvPr/>
        </p:nvGrpSpPr>
        <p:grpSpPr>
          <a:xfrm>
            <a:off x="10618513" y="5492477"/>
            <a:ext cx="1573487" cy="1262735"/>
            <a:chOff x="5541690" y="5492674"/>
            <a:chExt cx="1573487" cy="1262735"/>
          </a:xfrm>
        </p:grpSpPr>
        <p:pic>
          <p:nvPicPr>
            <p:cNvPr id="20" name="Gráfico 14" descr="Abeto">
              <a:extLst>
                <a:ext uri="{FF2B5EF4-FFF2-40B4-BE49-F238E27FC236}">
                  <a16:creationId xmlns:a16="http://schemas.microsoft.com/office/drawing/2014/main" id="{D788014B-363C-88C3-E0E8-50E9B49F3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23" name="Marcador de contenido 2">
              <a:extLst>
                <a:ext uri="{FF2B5EF4-FFF2-40B4-BE49-F238E27FC236}">
                  <a16:creationId xmlns:a16="http://schemas.microsoft.com/office/drawing/2014/main" id="{AF66DCAF-1569-DF21-8AD0-691987015D4B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565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4690</TotalTime>
  <Words>1311</Words>
  <Application>Microsoft Office PowerPoint</Application>
  <PresentationFormat>Widescreen</PresentationFormat>
  <Paragraphs>261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Helvetica</vt:lpstr>
      <vt:lpstr>Office Theme</vt:lpstr>
      <vt:lpstr>Variable selection Objectives 1 &amp; 2 Results Model proposal</vt:lpstr>
      <vt:lpstr>Theoretical framework How certain trees and stands are more vulnerable to drought?</vt:lpstr>
      <vt:lpstr>PowerPoint Presentation</vt:lpstr>
      <vt:lpstr>PowerPoint Presentation</vt:lpstr>
      <vt:lpstr>Abies alba</vt:lpstr>
      <vt:lpstr>Objectives</vt:lpstr>
      <vt:lpstr>Obj. 1. </vt:lpstr>
      <vt:lpstr>PowerPoint Presentation</vt:lpstr>
      <vt:lpstr>Obj. 1. </vt:lpstr>
      <vt:lpstr>Obj. 2 – To assess trait coordination within species  </vt:lpstr>
      <vt:lpstr>Obj. 2 – To assess trait coordination within species  </vt:lpstr>
      <vt:lpstr>PowerPoint Presentation</vt:lpstr>
      <vt:lpstr>Obj. 2 – Maybe to Supporting?  </vt:lpstr>
      <vt:lpstr>Obj. 2 – To assess trait coordination within species  </vt:lpstr>
      <vt:lpstr>Obj. 2 – To assess trait coordination within species  </vt:lpstr>
      <vt:lpstr>Obj. 2 – To assess trait coordination within species  </vt:lpstr>
      <vt:lpstr>Obj. 2: Lower trait coordination in declining than non-declining sites (in non-decline three groups: LES + height, clorophyll, WUE)</vt:lpstr>
      <vt:lpstr>PowerPoint Presentation</vt:lpstr>
      <vt:lpstr>PowerPoint Presentation</vt:lpstr>
      <vt:lpstr>Obj. 2 – To assess trait coordination within species  </vt:lpstr>
      <vt:lpstr>Obj. 3 – Model structure  </vt:lpstr>
      <vt:lpstr>Obj. 3 – Model structure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25</cp:revision>
  <dcterms:created xsi:type="dcterms:W3CDTF">2025-10-21T22:46:46Z</dcterms:created>
  <dcterms:modified xsi:type="dcterms:W3CDTF">2025-12-03T12:04:29Z</dcterms:modified>
</cp:coreProperties>
</file>