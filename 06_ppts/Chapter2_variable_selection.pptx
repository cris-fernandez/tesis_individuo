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00" r:id="rId3"/>
    <p:sldId id="302" r:id="rId4"/>
    <p:sldId id="305" r:id="rId5"/>
    <p:sldId id="280" r:id="rId6"/>
    <p:sldId id="257" r:id="rId7"/>
    <p:sldId id="287" r:id="rId8"/>
    <p:sldId id="303" r:id="rId9"/>
    <p:sldId id="290" r:id="rId10"/>
    <p:sldId id="301" r:id="rId11"/>
    <p:sldId id="266" r:id="rId12"/>
    <p:sldId id="291" r:id="rId13"/>
    <p:sldId id="292" r:id="rId14"/>
    <p:sldId id="295" r:id="rId15"/>
    <p:sldId id="293" r:id="rId16"/>
    <p:sldId id="297" r:id="rId17"/>
    <p:sldId id="298" r:id="rId18"/>
    <p:sldId id="299" r:id="rId19"/>
    <p:sldId id="285" r:id="rId20"/>
    <p:sldId id="294" r:id="rId21"/>
    <p:sldId id="306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996633"/>
    <a:srgbClr val="2F5597"/>
    <a:srgbClr val="F4B183"/>
    <a:srgbClr val="FF0909"/>
    <a:srgbClr val="CC99FF"/>
    <a:srgbClr val="33CCFF"/>
    <a:srgbClr val="00FF9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8D9D2-07E9-4AA1-9670-856C9416EFC9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5FDE4-93F4-408E-86B8-0E5015E100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33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B400-9A8A-7F03-B0EB-76C96DF3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3F435-3ED7-246C-A254-4E6920880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87483-EBF4-3898-8648-A6AFD514D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7B01F-9577-0E8D-133F-B55FFE2D0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5FDE4-93F4-408E-86B8-0E5015E100E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944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80B2-1491-5014-06C6-24808E8AB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A8CBB-3475-40AC-7897-73180665F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75B6F-402C-AEAB-8BE6-E3D886199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6E434-DB8D-86DE-3837-233CA1FD6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5FDE4-93F4-408E-86B8-0E5015E100E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80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0654-52F4-4B40-EFDD-1978CF322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65343-AB84-2B71-27B8-7CF2099F2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E8F7E-629B-A96E-015E-78E0F454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0A9EF-98EB-FE50-4AB3-AB389D5A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E153-8A97-01FB-CC9B-6E79C5F1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02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B885-2F5F-7D16-686C-F5202B7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271F-8513-A1FB-66A6-ED1EE4ED1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77BC5-C505-926A-3E13-539C8BDF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D2C89-5FE6-CC4C-9788-85C92C2B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80C17-DC78-201B-A377-1EDCC247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559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750E-4C2C-3C05-C318-CD808E5E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40AC8-83DA-0E85-3B5B-C5C301E00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A5115-10DF-5586-F737-DBC350CB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19B05-8A55-B739-AEE2-F6B53924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20D43-576E-5735-125E-E900147E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63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A36B-ADD7-9B7D-BDA8-384F5EBF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5ED6A-19EE-2FE7-2BEA-94AA3A9FE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1865C-E9A3-2CCD-7DDB-BC52ACE0A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06929-C52E-E8B5-12A6-944C0225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59DCA-B8AC-3997-18FB-42D9BD62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73A30-FF5F-25BC-B780-C4222EB2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17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2DC5-56B6-6340-AAD4-63D03F9AA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5F45F-7ECB-68E6-BF9E-BD7764D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5C999-97E0-81FA-E934-7312EB364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E5C19-0F09-7E3E-E3C0-C306ACC65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9A19B-C722-8FA0-E1DE-B75FDA1B4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4CFF0-19E7-99DA-C9F7-79AF15D6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1FC14-E80A-E495-F3B1-357B662B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89EAF-301B-B101-98F0-7A4D1DF6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216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A21C-86C0-A3B2-77C3-20693B18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DA9D7-F3FA-59E0-9546-41FD9E7BF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5A5CE-1EA5-C04D-718C-4DC45E0C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1EF8F-1D7B-3CB2-DBEA-2DEF41DC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970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D1367-C3A0-6087-3324-DAB17C2C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70741-7B34-5A62-934B-451C523B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9001E-CF60-4AE9-1CCB-197CB20B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06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AB31-B7F8-874C-1D55-B1E8046F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DB17-50BF-5808-489E-4271D7B4C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DA1F0-F678-7414-6A2D-9E2D8F6F2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5082D-BA2F-1CA8-3B59-D9A70FE3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40F2A-6760-70E6-2CF9-EAF6B4C8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F5818-22CF-3231-41DE-DBE11D73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887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A6F6-5CA1-535E-53DD-B68E8DB9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88F982-2C77-16D0-058C-7E551BB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CCA5D-1399-5CA4-C376-70AA538BA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1815B-9D4E-0B5A-FDCE-3705E3FA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F6FF5-1840-3885-7F6E-ACA25B87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E6325-1949-F00B-9E66-F8E64189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25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6929-5B57-3A5F-1416-AB1B060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EAE85-9F33-BFC5-E1CC-BB381395F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ED2FE-040E-8C56-C221-9FF089EF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A4887-DB08-E7FD-4ABB-514C7E48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DB5C-9A0E-59FC-A12C-F247E25F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806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70EDC-9A24-72B2-F40D-B8CA446F0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5BF5B-A23B-6232-E384-87A4ED651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24BCF-EDF5-5F5A-654E-D4891112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7D32-D6BD-4015-8DEB-7076E292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0BF6-A7FB-5C44-8CFF-9AAAFCF1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03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89B66-2C7B-D381-4C5E-66866155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B871A-9F46-DB8C-FF5A-B43F4190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0FA4-EE32-1E3D-3798-170981DD5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8B1A-6337-4A99-88FE-A8058CCFDBEA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A1FF5-9980-3C1A-19B6-259A38717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B8434-F574-302B-655F-F471CA27E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3B229-EAA6-4382-B69C-194DF6E06E9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59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tiff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7296A-986F-FB5A-34E5-CF9CABD3D430}"/>
              </a:ext>
            </a:extLst>
          </p:cNvPr>
          <p:cNvSpPr/>
          <p:nvPr/>
        </p:nvSpPr>
        <p:spPr>
          <a:xfrm>
            <a:off x="0" y="0"/>
            <a:ext cx="12192000" cy="4637314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02C69-B72E-D858-935F-A89769AF8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Variable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selection</a:t>
            </a:r>
            <a:br>
              <a:rPr lang="es-ES" b="1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</a:br>
            <a:r>
              <a:rPr lang="es-ES" b="1" dirty="0" err="1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Objectives</a:t>
            </a:r>
            <a:r>
              <a:rPr lang="es-ES" b="1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 1 &amp; 2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Results</a:t>
            </a:r>
            <a:br>
              <a:rPr lang="es-ES" b="1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</a:br>
            <a:r>
              <a:rPr lang="es-ES" b="1" dirty="0" err="1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Model</a:t>
            </a:r>
            <a:r>
              <a:rPr lang="es-ES" b="1" dirty="0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/>
                <a:cs typeface="Helvetica" panose="020B0604020202020204"/>
              </a:rPr>
              <a:t>proposal</a:t>
            </a:r>
            <a:endParaRPr lang="es-ES" b="1" dirty="0">
              <a:solidFill>
                <a:schemeClr val="bg1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72DFB-4A94-5F33-58DA-ACCDE8C53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2381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 err="1">
                <a:latin typeface="Helvetica" panose="020B0604020202020204"/>
                <a:cs typeface="Helvetica" panose="020B0604020202020204"/>
              </a:rPr>
              <a:t>Chapter</a:t>
            </a:r>
            <a:r>
              <a:rPr lang="es-ES" sz="3200" dirty="0">
                <a:latin typeface="Helvetica" panose="020B0604020202020204"/>
                <a:cs typeface="Helvetica" panose="020B0604020202020204"/>
              </a:rPr>
              <a:t> 2</a:t>
            </a:r>
          </a:p>
          <a:p>
            <a:r>
              <a:rPr lang="es-ES" sz="3200" dirty="0">
                <a:latin typeface="Helvetica" panose="020B0604020202020204"/>
                <a:cs typeface="Helvetica" panose="020B0604020202020204"/>
              </a:rPr>
              <a:t>19/11/2025</a:t>
            </a:r>
          </a:p>
        </p:txBody>
      </p:sp>
    </p:spTree>
    <p:extLst>
      <p:ext uri="{BB962C8B-B14F-4D97-AF65-F5344CB8AC3E}">
        <p14:creationId xmlns:p14="http://schemas.microsoft.com/office/powerpoint/2010/main" val="320760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7EF-275B-6A37-AC66-1DC6A0E3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FB57FE1-3D67-8C19-C9FB-39F0384E4CED}"/>
              </a:ext>
            </a:extLst>
          </p:cNvPr>
          <p:cNvSpPr/>
          <p:nvPr/>
        </p:nvSpPr>
        <p:spPr>
          <a:xfrm>
            <a:off x="521735" y="1471816"/>
            <a:ext cx="3317314" cy="18317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FE95CB-D0C8-984C-C6CA-CF28DA2AD06C}"/>
              </a:ext>
            </a:extLst>
          </p:cNvPr>
          <p:cNvSpPr/>
          <p:nvPr/>
        </p:nvSpPr>
        <p:spPr>
          <a:xfrm>
            <a:off x="521734" y="3429000"/>
            <a:ext cx="11486764" cy="14079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D75C0-9C61-A530-5129-ABFD37C9266F}"/>
              </a:ext>
            </a:extLst>
          </p:cNvPr>
          <p:cNvSpPr/>
          <p:nvPr/>
        </p:nvSpPr>
        <p:spPr>
          <a:xfrm>
            <a:off x="3881535" y="1477938"/>
            <a:ext cx="8126963" cy="18317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30832-4201-AED9-4F4C-3F27C44F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8" y="51505"/>
            <a:ext cx="11353801" cy="1111766"/>
          </a:xfrm>
        </p:spPr>
        <p:txBody>
          <a:bodyPr>
            <a:noAutofit/>
          </a:bodyPr>
          <a:lstStyle/>
          <a:p>
            <a:pPr algn="ctr"/>
            <a:r>
              <a:rPr lang="es-ES" sz="3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Theoretical</a:t>
            </a:r>
            <a:r>
              <a:rPr lang="es-E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framework</a:t>
            </a:r>
            <a:b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certain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and stands are more vulnerable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86EB4B-1142-C1C5-0E36-E2824D8C42E5}"/>
              </a:ext>
            </a:extLst>
          </p:cNvPr>
          <p:cNvSpPr/>
          <p:nvPr/>
        </p:nvSpPr>
        <p:spPr>
          <a:xfrm>
            <a:off x="708348" y="2341983"/>
            <a:ext cx="3005236" cy="87707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ysClr val="windowText" lastClr="000000"/>
                </a:solidFill>
              </a:rPr>
              <a:t>Height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d.b.h</a:t>
            </a:r>
            <a:r>
              <a:rPr lang="es-ES" dirty="0">
                <a:solidFill>
                  <a:sysClr val="windowText" lastClr="000000"/>
                </a:solidFill>
              </a:rPr>
              <a:t>., </a:t>
            </a:r>
            <a:r>
              <a:rPr lang="es-ES" dirty="0" err="1">
                <a:solidFill>
                  <a:sysClr val="windowText" lastClr="000000"/>
                </a:solidFill>
              </a:rPr>
              <a:t>age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Hegyi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C9384B-FB43-976D-46E5-F6702E4B10D3}"/>
              </a:ext>
            </a:extLst>
          </p:cNvPr>
          <p:cNvSpPr/>
          <p:nvPr/>
        </p:nvSpPr>
        <p:spPr>
          <a:xfrm>
            <a:off x="3977172" y="2341983"/>
            <a:ext cx="3005236" cy="877078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C </a:t>
            </a:r>
            <a:r>
              <a:rPr lang="es-ES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SLA, C:N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3697C-AE8E-4903-30B2-7BA31437541E}"/>
              </a:ext>
            </a:extLst>
          </p:cNvPr>
          <p:cNvSpPr/>
          <p:nvPr/>
        </p:nvSpPr>
        <p:spPr>
          <a:xfrm>
            <a:off x="7245996" y="2341983"/>
            <a:ext cx="3005236" cy="877078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N </a:t>
            </a:r>
            <a:r>
              <a:rPr lang="es-ES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15N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DCAAE3-131A-0BE2-948C-86978A87BEFD}"/>
              </a:ext>
            </a:extLst>
          </p:cNvPr>
          <p:cNvSpPr/>
          <p:nvPr/>
        </p:nvSpPr>
        <p:spPr>
          <a:xfrm>
            <a:off x="7245996" y="3841666"/>
            <a:ext cx="3005236" cy="87707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a/b,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98CB19-5821-7795-B991-D716764AD61F}"/>
              </a:ext>
            </a:extLst>
          </p:cNvPr>
          <p:cNvSpPr/>
          <p:nvPr/>
        </p:nvSpPr>
        <p:spPr>
          <a:xfrm>
            <a:off x="3977172" y="3841666"/>
            <a:ext cx="3005236" cy="8770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ysClr val="windowText" lastClr="000000"/>
                </a:solidFill>
              </a:rPr>
              <a:t>Carotenoids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/ car.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91630F-1A86-E878-5DB8-E2B269788293}"/>
              </a:ext>
            </a:extLst>
          </p:cNvPr>
          <p:cNvSpPr/>
          <p:nvPr/>
        </p:nvSpPr>
        <p:spPr>
          <a:xfrm>
            <a:off x="708348" y="3841666"/>
            <a:ext cx="3005236" cy="877078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LWC,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13C,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18O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EA462C-D8AE-BBD5-3FCB-9672EB95EAAB}"/>
              </a:ext>
            </a:extLst>
          </p:cNvPr>
          <p:cNvSpPr/>
          <p:nvPr/>
        </p:nvSpPr>
        <p:spPr>
          <a:xfrm>
            <a:off x="3977172" y="5341349"/>
            <a:ext cx="3005236" cy="87707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BAI80, BAI05, </a:t>
            </a:r>
            <a:r>
              <a:rPr lang="es-ES" dirty="0" err="1">
                <a:solidFill>
                  <a:sysClr val="windowText" lastClr="000000"/>
                </a:solidFill>
              </a:rPr>
              <a:t>Rt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Rs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483984B-1FEF-AC91-AE79-8A6CA8E40F32}"/>
              </a:ext>
            </a:extLst>
          </p:cNvPr>
          <p:cNvSpPr txBox="1">
            <a:spLocks/>
          </p:cNvSpPr>
          <p:nvPr/>
        </p:nvSpPr>
        <p:spPr>
          <a:xfrm>
            <a:off x="708348" y="1975177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size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265232C8-FD27-CD1D-D231-3B099D23FE33}"/>
              </a:ext>
            </a:extLst>
          </p:cNvPr>
          <p:cNvSpPr txBox="1">
            <a:spLocks/>
          </p:cNvSpPr>
          <p:nvPr/>
        </p:nvSpPr>
        <p:spPr>
          <a:xfrm>
            <a:off x="3977172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C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60947E65-97AB-5D25-4918-2AE2582BB293}"/>
              </a:ext>
            </a:extLst>
          </p:cNvPr>
          <p:cNvSpPr txBox="1">
            <a:spLocks/>
          </p:cNvSpPr>
          <p:nvPr/>
        </p:nvSpPr>
        <p:spPr>
          <a:xfrm>
            <a:off x="7245996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E191C26A-A74C-090C-0F74-AEFCB81403C6}"/>
              </a:ext>
            </a:extLst>
          </p:cNvPr>
          <p:cNvSpPr txBox="1">
            <a:spLocks/>
          </p:cNvSpPr>
          <p:nvPr/>
        </p:nvSpPr>
        <p:spPr>
          <a:xfrm>
            <a:off x="3977172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Photoprotection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CB9B0C8-53C0-57F2-6052-AAA204B3E57D}"/>
              </a:ext>
            </a:extLst>
          </p:cNvPr>
          <p:cNvSpPr txBox="1">
            <a:spLocks/>
          </p:cNvSpPr>
          <p:nvPr/>
        </p:nvSpPr>
        <p:spPr>
          <a:xfrm>
            <a:off x="708347" y="3474860"/>
            <a:ext cx="2109883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DCD7B0D0-2701-8597-E949-12031E7069DC}"/>
              </a:ext>
            </a:extLst>
          </p:cNvPr>
          <p:cNvSpPr txBox="1">
            <a:spLocks/>
          </p:cNvSpPr>
          <p:nvPr/>
        </p:nvSpPr>
        <p:spPr>
          <a:xfrm>
            <a:off x="3977171" y="4955220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B97099-13CE-3962-D44B-D641DD83CE0C}"/>
              </a:ext>
            </a:extLst>
          </p:cNvPr>
          <p:cNvSpPr txBox="1"/>
          <p:nvPr/>
        </p:nvSpPr>
        <p:spPr>
          <a:xfrm>
            <a:off x="9270248" y="1513512"/>
            <a:ext cx="273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spectrum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r"/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N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F5D7B31D-BE9B-F5E8-3117-534A68A75A39}"/>
              </a:ext>
            </a:extLst>
          </p:cNvPr>
          <p:cNvSpPr txBox="1">
            <a:spLocks/>
          </p:cNvSpPr>
          <p:nvPr/>
        </p:nvSpPr>
        <p:spPr>
          <a:xfrm>
            <a:off x="7245996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Photosynthetic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6" name="CuadroTexto 6">
            <a:extLst>
              <a:ext uri="{FF2B5EF4-FFF2-40B4-BE49-F238E27FC236}">
                <a16:creationId xmlns:a16="http://schemas.microsoft.com/office/drawing/2014/main" id="{FFD8287F-45F1-81C3-0FFD-44560534D478}"/>
              </a:ext>
            </a:extLst>
          </p:cNvPr>
          <p:cNvSpPr txBox="1"/>
          <p:nvPr/>
        </p:nvSpPr>
        <p:spPr>
          <a:xfrm>
            <a:off x="10657401" y="3427430"/>
            <a:ext cx="1351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E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economy</a:t>
            </a:r>
            <a:r>
              <a:rPr lang="es-E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WUE</a:t>
            </a:r>
          </a:p>
        </p:txBody>
      </p:sp>
      <p:sp>
        <p:nvSpPr>
          <p:cNvPr id="28" name="CuadroTexto 6">
            <a:extLst>
              <a:ext uri="{FF2B5EF4-FFF2-40B4-BE49-F238E27FC236}">
                <a16:creationId xmlns:a16="http://schemas.microsoft.com/office/drawing/2014/main" id="{E7366CAD-64E0-068D-F7C2-CD7B4F861F1D}"/>
              </a:ext>
            </a:extLst>
          </p:cNvPr>
          <p:cNvSpPr txBox="1"/>
          <p:nvPr/>
        </p:nvSpPr>
        <p:spPr>
          <a:xfrm>
            <a:off x="3005615" y="1490582"/>
            <a:ext cx="833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es-E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5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C1C6E-7A93-7E99-8AA2-FF528EBD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F2BEE3F-D100-1BDE-BED6-59C0B0835F0B}"/>
              </a:ext>
            </a:extLst>
          </p:cNvPr>
          <p:cNvSpPr/>
          <p:nvPr/>
        </p:nvSpPr>
        <p:spPr>
          <a:xfrm>
            <a:off x="521735" y="1471816"/>
            <a:ext cx="3317314" cy="18317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920513-C40F-9152-DBF0-423CC75E7DDB}"/>
              </a:ext>
            </a:extLst>
          </p:cNvPr>
          <p:cNvSpPr/>
          <p:nvPr/>
        </p:nvSpPr>
        <p:spPr>
          <a:xfrm>
            <a:off x="521734" y="3429000"/>
            <a:ext cx="11486764" cy="14079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32B0D-F4CB-6091-8990-AC0D8FDD6F21}"/>
              </a:ext>
            </a:extLst>
          </p:cNvPr>
          <p:cNvSpPr/>
          <p:nvPr/>
        </p:nvSpPr>
        <p:spPr>
          <a:xfrm>
            <a:off x="3881535" y="1477938"/>
            <a:ext cx="8126963" cy="18317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DA8B72-E297-0FF8-65F6-C1B036CCC8DC}"/>
              </a:ext>
            </a:extLst>
          </p:cNvPr>
          <p:cNvSpPr/>
          <p:nvPr/>
        </p:nvSpPr>
        <p:spPr>
          <a:xfrm>
            <a:off x="708348" y="2341983"/>
            <a:ext cx="3005236" cy="87707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ysClr val="windowText" lastClr="000000"/>
                </a:solidFill>
              </a:rPr>
              <a:t>Height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d.b.h</a:t>
            </a:r>
            <a:r>
              <a:rPr lang="es-ES" dirty="0">
                <a:solidFill>
                  <a:sysClr val="windowText" lastClr="000000"/>
                </a:solidFill>
              </a:rPr>
              <a:t>., </a:t>
            </a:r>
            <a:r>
              <a:rPr lang="es-ES" dirty="0" err="1">
                <a:solidFill>
                  <a:sysClr val="windowText" lastClr="000000"/>
                </a:solidFill>
              </a:rPr>
              <a:t>age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Hegyi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F9E4F-46FD-E5F3-3E7F-FBB8713C15DA}"/>
              </a:ext>
            </a:extLst>
          </p:cNvPr>
          <p:cNvSpPr/>
          <p:nvPr/>
        </p:nvSpPr>
        <p:spPr>
          <a:xfrm>
            <a:off x="3977172" y="2341983"/>
            <a:ext cx="3005236" cy="877078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C </a:t>
            </a:r>
            <a:r>
              <a:rPr lang="es-ES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b="1" dirty="0">
                <a:solidFill>
                  <a:sysClr val="windowText" lastClr="000000"/>
                </a:solidFill>
              </a:rPr>
              <a:t>SLA</a:t>
            </a:r>
            <a:r>
              <a:rPr lang="es-ES" dirty="0">
                <a:solidFill>
                  <a:sysClr val="windowText" lastClr="000000"/>
                </a:solidFill>
              </a:rPr>
              <a:t>, C:N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A1E63-05B8-13A1-5710-6FFFAF0D319D}"/>
              </a:ext>
            </a:extLst>
          </p:cNvPr>
          <p:cNvSpPr/>
          <p:nvPr/>
        </p:nvSpPr>
        <p:spPr>
          <a:xfrm>
            <a:off x="7245996" y="2341983"/>
            <a:ext cx="3005236" cy="877078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ysClr val="windowText" lastClr="000000"/>
                </a:solidFill>
              </a:rPr>
              <a:t>N</a:t>
            </a:r>
            <a:r>
              <a:rPr lang="es-ES" dirty="0">
                <a:solidFill>
                  <a:sysClr val="windowText" lastClr="000000"/>
                </a:solidFill>
              </a:rPr>
              <a:t> </a:t>
            </a:r>
            <a:r>
              <a:rPr lang="es-ES" b="1" dirty="0" err="1">
                <a:solidFill>
                  <a:sysClr val="windowText" lastClr="000000"/>
                </a:solidFill>
              </a:rPr>
              <a:t>content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15N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055F79-7185-372E-667E-F14AC577CD41}"/>
              </a:ext>
            </a:extLst>
          </p:cNvPr>
          <p:cNvSpPr/>
          <p:nvPr/>
        </p:nvSpPr>
        <p:spPr>
          <a:xfrm>
            <a:off x="7245996" y="3841666"/>
            <a:ext cx="3005236" cy="87707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a/b,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A,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0D6F05-0F35-7AB8-6364-BCBF1F69F6B2}"/>
              </a:ext>
            </a:extLst>
          </p:cNvPr>
          <p:cNvSpPr/>
          <p:nvPr/>
        </p:nvSpPr>
        <p:spPr>
          <a:xfrm>
            <a:off x="3977172" y="3841666"/>
            <a:ext cx="3005236" cy="87707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ysClr val="windowText" lastClr="000000"/>
                </a:solidFill>
              </a:rPr>
              <a:t>Carotenoids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Chl</a:t>
            </a:r>
            <a:r>
              <a:rPr lang="es-ES" dirty="0">
                <a:solidFill>
                  <a:sysClr val="windowText" lastClr="000000"/>
                </a:solidFill>
              </a:rPr>
              <a:t>. / car.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CFCF4B-9A28-A428-2F65-A60C5CE16D2D}"/>
              </a:ext>
            </a:extLst>
          </p:cNvPr>
          <p:cNvSpPr/>
          <p:nvPr/>
        </p:nvSpPr>
        <p:spPr>
          <a:xfrm>
            <a:off x="708348" y="3841666"/>
            <a:ext cx="3005236" cy="877078"/>
          </a:xfrm>
          <a:prstGeom prst="rect">
            <a:avLst/>
          </a:prstGeom>
          <a:solidFill>
            <a:srgbClr val="33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ysClr val="windowText" lastClr="000000"/>
                </a:solidFill>
              </a:rPr>
              <a:t>LWC, </a:t>
            </a:r>
            <a:r>
              <a:rPr lang="el-GR" b="1" dirty="0">
                <a:solidFill>
                  <a:sysClr val="windowText" lastClr="000000"/>
                </a:solidFill>
              </a:rPr>
              <a:t>δ</a:t>
            </a:r>
            <a:r>
              <a:rPr lang="es-ES" b="1" dirty="0">
                <a:solidFill>
                  <a:sysClr val="windowText" lastClr="000000"/>
                </a:solidFill>
              </a:rPr>
              <a:t>13C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l-GR" dirty="0">
                <a:solidFill>
                  <a:sysClr val="windowText" lastClr="000000"/>
                </a:solidFill>
              </a:rPr>
              <a:t>δ</a:t>
            </a:r>
            <a:r>
              <a:rPr lang="es-ES" dirty="0">
                <a:solidFill>
                  <a:sysClr val="windowText" lastClr="000000"/>
                </a:solidFill>
              </a:rPr>
              <a:t>18O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851C2C-E57F-1371-78C0-13C4898CCE3A}"/>
              </a:ext>
            </a:extLst>
          </p:cNvPr>
          <p:cNvSpPr/>
          <p:nvPr/>
        </p:nvSpPr>
        <p:spPr>
          <a:xfrm>
            <a:off x="3977172" y="5341349"/>
            <a:ext cx="3005236" cy="87707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ysClr val="windowText" lastClr="000000"/>
                </a:solidFill>
              </a:rPr>
              <a:t>BAI80</a:t>
            </a:r>
            <a:r>
              <a:rPr lang="es-ES" dirty="0">
                <a:solidFill>
                  <a:sysClr val="windowText" lastClr="000000"/>
                </a:solidFill>
              </a:rPr>
              <a:t>, BAI05, </a:t>
            </a:r>
            <a:r>
              <a:rPr lang="es-ES" dirty="0" err="1">
                <a:solidFill>
                  <a:sysClr val="windowText" lastClr="000000"/>
                </a:solidFill>
              </a:rPr>
              <a:t>Rt</a:t>
            </a:r>
            <a:r>
              <a:rPr lang="es-ES" dirty="0">
                <a:solidFill>
                  <a:sysClr val="windowText" lastClr="000000"/>
                </a:solidFill>
              </a:rPr>
              <a:t>, </a:t>
            </a:r>
            <a:r>
              <a:rPr lang="es-ES" dirty="0" err="1">
                <a:solidFill>
                  <a:sysClr val="windowText" lastClr="000000"/>
                </a:solidFill>
              </a:rPr>
              <a:t>Rs</a:t>
            </a: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2FDFAA2-AF4F-3D1A-511C-70CE297FACF3}"/>
              </a:ext>
            </a:extLst>
          </p:cNvPr>
          <p:cNvSpPr txBox="1">
            <a:spLocks/>
          </p:cNvSpPr>
          <p:nvPr/>
        </p:nvSpPr>
        <p:spPr>
          <a:xfrm>
            <a:off x="708348" y="1975177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size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17045220-362B-24F7-A9C0-F4A4A29A79BB}"/>
              </a:ext>
            </a:extLst>
          </p:cNvPr>
          <p:cNvSpPr txBox="1">
            <a:spLocks/>
          </p:cNvSpPr>
          <p:nvPr/>
        </p:nvSpPr>
        <p:spPr>
          <a:xfrm>
            <a:off x="3977172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C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E9B248C7-3D39-6953-D16B-AA91BB594335}"/>
              </a:ext>
            </a:extLst>
          </p:cNvPr>
          <p:cNvSpPr txBox="1">
            <a:spLocks/>
          </p:cNvSpPr>
          <p:nvPr/>
        </p:nvSpPr>
        <p:spPr>
          <a:xfrm>
            <a:off x="7245996" y="1975177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A1D22EE1-27C8-C7A3-43D3-B239F10CEA80}"/>
              </a:ext>
            </a:extLst>
          </p:cNvPr>
          <p:cNvSpPr txBox="1">
            <a:spLocks/>
          </p:cNvSpPr>
          <p:nvPr/>
        </p:nvSpPr>
        <p:spPr>
          <a:xfrm>
            <a:off x="3977172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Photoprotection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1C10F34F-942D-2112-FADC-24B080A874A4}"/>
              </a:ext>
            </a:extLst>
          </p:cNvPr>
          <p:cNvSpPr txBox="1">
            <a:spLocks/>
          </p:cNvSpPr>
          <p:nvPr/>
        </p:nvSpPr>
        <p:spPr>
          <a:xfrm>
            <a:off x="708347" y="3474860"/>
            <a:ext cx="2109883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use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9A4F7795-1757-E650-EA50-9DF71FED6DD4}"/>
              </a:ext>
            </a:extLst>
          </p:cNvPr>
          <p:cNvSpPr txBox="1">
            <a:spLocks/>
          </p:cNvSpPr>
          <p:nvPr/>
        </p:nvSpPr>
        <p:spPr>
          <a:xfrm>
            <a:off x="3977171" y="4955220"/>
            <a:ext cx="211882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6A50B3-1FCA-E83D-F252-7A7DC9FF423E}"/>
              </a:ext>
            </a:extLst>
          </p:cNvPr>
          <p:cNvSpPr txBox="1"/>
          <p:nvPr/>
        </p:nvSpPr>
        <p:spPr>
          <a:xfrm>
            <a:off x="9270248" y="1513512"/>
            <a:ext cx="2738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spectrum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r"/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s-ES" sz="1200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</a:t>
            </a:r>
            <a:r>
              <a:rPr lang="es-ES" sz="1200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N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DE1781CE-E4BB-633B-031A-3EB7BA94CEFE}"/>
              </a:ext>
            </a:extLst>
          </p:cNvPr>
          <p:cNvSpPr txBox="1">
            <a:spLocks/>
          </p:cNvSpPr>
          <p:nvPr/>
        </p:nvSpPr>
        <p:spPr>
          <a:xfrm>
            <a:off x="7245996" y="3474860"/>
            <a:ext cx="266933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dirty="0" err="1">
                <a:latin typeface="Helvetica"/>
                <a:cs typeface="Helvetica"/>
              </a:rPr>
              <a:t>Photosynthetic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6" name="CuadroTexto 6">
            <a:extLst>
              <a:ext uri="{FF2B5EF4-FFF2-40B4-BE49-F238E27FC236}">
                <a16:creationId xmlns:a16="http://schemas.microsoft.com/office/drawing/2014/main" id="{0236E54A-0B1B-105A-4831-DC22AA25D89F}"/>
              </a:ext>
            </a:extLst>
          </p:cNvPr>
          <p:cNvSpPr txBox="1"/>
          <p:nvPr/>
        </p:nvSpPr>
        <p:spPr>
          <a:xfrm>
            <a:off x="10657401" y="3427430"/>
            <a:ext cx="1351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E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economy</a:t>
            </a:r>
            <a:r>
              <a:rPr lang="es-E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WUE</a:t>
            </a:r>
          </a:p>
        </p:txBody>
      </p:sp>
      <p:sp>
        <p:nvSpPr>
          <p:cNvPr id="28" name="CuadroTexto 6">
            <a:extLst>
              <a:ext uri="{FF2B5EF4-FFF2-40B4-BE49-F238E27FC236}">
                <a16:creationId xmlns:a16="http://schemas.microsoft.com/office/drawing/2014/main" id="{0040BD40-7A2F-39F5-5F5F-B0C9AD06D5D5}"/>
              </a:ext>
            </a:extLst>
          </p:cNvPr>
          <p:cNvSpPr txBox="1"/>
          <p:nvPr/>
        </p:nvSpPr>
        <p:spPr>
          <a:xfrm>
            <a:off x="3005615" y="1490582"/>
            <a:ext cx="833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es-E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84AA307-D174-65FA-AC3F-EB739D92A8C1}"/>
              </a:ext>
            </a:extLst>
          </p:cNvPr>
          <p:cNvSpPr txBox="1">
            <a:spLocks/>
          </p:cNvSpPr>
          <p:nvPr/>
        </p:nvSpPr>
        <p:spPr>
          <a:xfrm>
            <a:off x="419098" y="179023"/>
            <a:ext cx="11353801" cy="111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Variable </a:t>
            </a:r>
            <a:r>
              <a:rPr lang="es-ES" sz="3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b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Theoretical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knowledge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4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18E55-9148-88F2-225F-ADEBB17D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5F806BF-0BB0-3A44-37C7-E29B16C984E2}"/>
              </a:ext>
            </a:extLst>
          </p:cNvPr>
          <p:cNvSpPr txBox="1">
            <a:spLocks/>
          </p:cNvSpPr>
          <p:nvPr/>
        </p:nvSpPr>
        <p:spPr>
          <a:xfrm>
            <a:off x="115753" y="348079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‘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Slow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’</a:t>
            </a:r>
          </a:p>
          <a:p>
            <a:pPr algn="ctr"/>
            <a:endParaRPr lang="es-ES" sz="24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3C0B86-E5AB-E414-90D8-0EAA207B7044}"/>
              </a:ext>
            </a:extLst>
          </p:cNvPr>
          <p:cNvSpPr txBox="1">
            <a:spLocks/>
          </p:cNvSpPr>
          <p:nvPr/>
        </p:nvSpPr>
        <p:spPr>
          <a:xfrm>
            <a:off x="4558090" y="348079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‘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Fast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’</a:t>
            </a:r>
          </a:p>
        </p:txBody>
      </p:sp>
      <p:cxnSp>
        <p:nvCxnSpPr>
          <p:cNvPr id="6" name="Conector recto de flecha 7">
            <a:extLst>
              <a:ext uri="{FF2B5EF4-FFF2-40B4-BE49-F238E27FC236}">
                <a16:creationId xmlns:a16="http://schemas.microsoft.com/office/drawing/2014/main" id="{029DBEEB-7F99-B4E7-C3A5-B76D6DE76636}"/>
              </a:ext>
            </a:extLst>
          </p:cNvPr>
          <p:cNvCxnSpPr>
            <a:cxnSpLocks/>
          </p:cNvCxnSpPr>
          <p:nvPr/>
        </p:nvCxnSpPr>
        <p:spPr>
          <a:xfrm>
            <a:off x="2787243" y="550833"/>
            <a:ext cx="1884784" cy="0"/>
          </a:xfrm>
          <a:prstGeom prst="straightConnector1">
            <a:avLst/>
          </a:prstGeom>
          <a:ln w="76200"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D2891DC-7E0A-5717-6D8E-665AC92B4CC8}"/>
              </a:ext>
            </a:extLst>
          </p:cNvPr>
          <p:cNvSpPr txBox="1">
            <a:spLocks/>
          </p:cNvSpPr>
          <p:nvPr/>
        </p:nvSpPr>
        <p:spPr>
          <a:xfrm>
            <a:off x="293035" y="957567"/>
            <a:ext cx="3495519" cy="12736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N </a:t>
            </a:r>
            <a:r>
              <a:rPr lang="es-ES" sz="1800" dirty="0" err="1">
                <a:latin typeface="Helvetica"/>
                <a:cs typeface="Helvetica"/>
              </a:rPr>
              <a:t>content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</a:t>
            </a:r>
            <a:r>
              <a:rPr lang="es-ES" sz="1800" dirty="0" err="1">
                <a:latin typeface="Helvetica"/>
                <a:cs typeface="Helvetica"/>
              </a:rPr>
              <a:t>Photosynthetic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SLA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1763974-EC07-DD66-0B9D-49357428B088}"/>
              </a:ext>
            </a:extLst>
          </p:cNvPr>
          <p:cNvSpPr txBox="1">
            <a:spLocks/>
          </p:cNvSpPr>
          <p:nvPr/>
        </p:nvSpPr>
        <p:spPr>
          <a:xfrm>
            <a:off x="4790088" y="932582"/>
            <a:ext cx="3880245" cy="1273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N </a:t>
            </a:r>
            <a:r>
              <a:rPr lang="es-ES" sz="1800" dirty="0" err="1">
                <a:latin typeface="Helvetica"/>
                <a:cs typeface="Helvetica"/>
              </a:rPr>
              <a:t>content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</a:t>
            </a:r>
            <a:r>
              <a:rPr lang="es-ES" sz="1800" dirty="0" err="1">
                <a:latin typeface="Helvetica"/>
                <a:cs typeface="Helvetica"/>
              </a:rPr>
              <a:t>Photosynthetic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</a:t>
            </a:r>
            <a:r>
              <a:rPr lang="es-ES" sz="1800" dirty="0">
                <a:latin typeface="Helvetica" panose="020B0604020202020204" pitchFamily="34" charset="0"/>
                <a:cs typeface="Calibri" panose="020F0502020204030204"/>
              </a:rPr>
              <a:t>SLA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A7AFD3E7-7DB0-3B45-A288-F09D8B2D3EE4}"/>
              </a:ext>
            </a:extLst>
          </p:cNvPr>
          <p:cNvSpPr txBox="1">
            <a:spLocks/>
          </p:cNvSpPr>
          <p:nvPr/>
        </p:nvSpPr>
        <p:spPr>
          <a:xfrm>
            <a:off x="8180398" y="348079"/>
            <a:ext cx="3240271" cy="11117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i="1" dirty="0" err="1">
                <a:latin typeface="Helvetica"/>
                <a:cs typeface="Helvetica"/>
              </a:rPr>
              <a:t>Leaf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Economics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Spectrum</a:t>
            </a:r>
            <a:endParaRPr lang="es-ES" b="1" i="1" dirty="0">
              <a:latin typeface="Helvetica"/>
              <a:cs typeface="Helvetica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78B711A-F8C5-DF4E-E458-A64516AF8A3F}"/>
              </a:ext>
            </a:extLst>
          </p:cNvPr>
          <p:cNvSpPr txBox="1">
            <a:spLocks/>
          </p:cNvSpPr>
          <p:nvPr/>
        </p:nvSpPr>
        <p:spPr>
          <a:xfrm>
            <a:off x="8670333" y="1265216"/>
            <a:ext cx="2260401" cy="36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latin typeface="Helvetica"/>
                <a:cs typeface="Helvetica"/>
              </a:rPr>
              <a:t>Wright </a:t>
            </a:r>
            <a:r>
              <a:rPr lang="es-ES" sz="2000" i="1" dirty="0">
                <a:latin typeface="Helvetica"/>
                <a:cs typeface="Helvetica"/>
              </a:rPr>
              <a:t>et al., </a:t>
            </a:r>
            <a:r>
              <a:rPr lang="es-ES" sz="2000" dirty="0">
                <a:latin typeface="Helvetica"/>
                <a:cs typeface="Helvetica"/>
              </a:rPr>
              <a:t>2004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3461037-FE30-617E-545E-C5009A5366DF}"/>
              </a:ext>
            </a:extLst>
          </p:cNvPr>
          <p:cNvSpPr txBox="1">
            <a:spLocks/>
          </p:cNvSpPr>
          <p:nvPr/>
        </p:nvSpPr>
        <p:spPr>
          <a:xfrm>
            <a:off x="115753" y="2568356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Conservative</a:t>
            </a:r>
          </a:p>
          <a:p>
            <a:pPr algn="ctr"/>
            <a:endParaRPr lang="es-ES" sz="24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DC63B7A-59C9-261D-0E81-FEBDCF1C2299}"/>
              </a:ext>
            </a:extLst>
          </p:cNvPr>
          <p:cNvSpPr txBox="1">
            <a:spLocks/>
          </p:cNvSpPr>
          <p:nvPr/>
        </p:nvSpPr>
        <p:spPr>
          <a:xfrm>
            <a:off x="4558090" y="2568356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Acquisitive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0" name="Conector recto de flecha 7">
            <a:extLst>
              <a:ext uri="{FF2B5EF4-FFF2-40B4-BE49-F238E27FC236}">
                <a16:creationId xmlns:a16="http://schemas.microsoft.com/office/drawing/2014/main" id="{CACA697F-4B97-534D-F9D3-329357033986}"/>
              </a:ext>
            </a:extLst>
          </p:cNvPr>
          <p:cNvCxnSpPr>
            <a:cxnSpLocks/>
          </p:cNvCxnSpPr>
          <p:nvPr/>
        </p:nvCxnSpPr>
        <p:spPr>
          <a:xfrm>
            <a:off x="2787243" y="2771110"/>
            <a:ext cx="1884784" cy="0"/>
          </a:xfrm>
          <a:prstGeom prst="straightConnector1">
            <a:avLst/>
          </a:prstGeom>
          <a:ln w="76200"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E777633-47AE-7677-8FFD-123C6E985BD3}"/>
              </a:ext>
            </a:extLst>
          </p:cNvPr>
          <p:cNvSpPr txBox="1">
            <a:spLocks/>
          </p:cNvSpPr>
          <p:nvPr/>
        </p:nvSpPr>
        <p:spPr>
          <a:xfrm>
            <a:off x="293035" y="3177843"/>
            <a:ext cx="3495519" cy="181353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N </a:t>
            </a:r>
            <a:r>
              <a:rPr lang="es-ES" sz="1800" dirty="0" err="1">
                <a:latin typeface="Helvetica"/>
                <a:cs typeface="Helvetica"/>
              </a:rPr>
              <a:t>content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</a:t>
            </a:r>
            <a:r>
              <a:rPr lang="es-ES" sz="1800" dirty="0" err="1">
                <a:latin typeface="Helvetica"/>
                <a:cs typeface="Helvetica"/>
              </a:rPr>
              <a:t>Photosynthetic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SLA</a:t>
            </a: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</a:t>
            </a:r>
            <a:r>
              <a:rPr lang="es-ES" sz="1800" dirty="0" err="1">
                <a:latin typeface="Helvetica"/>
                <a:cs typeface="Helvetica"/>
              </a:rPr>
              <a:t>Transpiration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↓ </a:t>
            </a:r>
            <a:r>
              <a:rPr lang="es-ES" sz="1800" dirty="0" err="1">
                <a:latin typeface="Helvetica"/>
                <a:cs typeface="Helvetica"/>
              </a:rPr>
              <a:t>Growth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endParaRPr lang="es-ES" sz="1800" dirty="0">
              <a:latin typeface="Helvetica"/>
              <a:cs typeface="Helvetica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D14DA05A-02FA-1949-6A39-104832A14AB4}"/>
              </a:ext>
            </a:extLst>
          </p:cNvPr>
          <p:cNvSpPr txBox="1">
            <a:spLocks/>
          </p:cNvSpPr>
          <p:nvPr/>
        </p:nvSpPr>
        <p:spPr>
          <a:xfrm>
            <a:off x="4790088" y="3152859"/>
            <a:ext cx="3880245" cy="1273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N </a:t>
            </a:r>
            <a:r>
              <a:rPr lang="es-ES" sz="1800" dirty="0" err="1">
                <a:latin typeface="Helvetica"/>
                <a:cs typeface="Helvetica"/>
              </a:rPr>
              <a:t>content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</a:t>
            </a:r>
            <a:r>
              <a:rPr lang="es-ES" sz="1800" dirty="0" err="1">
                <a:latin typeface="Helvetica"/>
                <a:cs typeface="Helvetica"/>
              </a:rPr>
              <a:t>Photosynthetic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</a:t>
            </a:r>
            <a:r>
              <a:rPr lang="es-ES" sz="1800" dirty="0">
                <a:latin typeface="Helvetica" panose="020B0604020202020204" pitchFamily="34" charset="0"/>
                <a:cs typeface="Calibri" panose="020F0502020204030204"/>
              </a:rPr>
              <a:t>SLA</a:t>
            </a: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</a:t>
            </a:r>
            <a:r>
              <a:rPr lang="es-ES" sz="1800" dirty="0" err="1">
                <a:latin typeface="Helvetica"/>
                <a:cs typeface="Helvetica"/>
              </a:rPr>
              <a:t>Transpiration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>
                <a:latin typeface="Helvetica"/>
                <a:cs typeface="Helvetica"/>
              </a:rPr>
              <a:t>↑ </a:t>
            </a:r>
            <a:r>
              <a:rPr lang="es-ES" sz="1800" dirty="0" err="1">
                <a:latin typeface="Helvetica"/>
                <a:cs typeface="Helvetica"/>
              </a:rPr>
              <a:t>Growth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rates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473292CF-2A8C-EEA5-4F51-47894EEF2DC0}"/>
              </a:ext>
            </a:extLst>
          </p:cNvPr>
          <p:cNvSpPr txBox="1">
            <a:spLocks/>
          </p:cNvSpPr>
          <p:nvPr/>
        </p:nvSpPr>
        <p:spPr>
          <a:xfrm>
            <a:off x="8180398" y="2482091"/>
            <a:ext cx="3468654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i="1" dirty="0" err="1">
                <a:latin typeface="Helvetica"/>
                <a:cs typeface="Helvetica"/>
              </a:rPr>
              <a:t>Whole-plant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economics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spectrum</a:t>
            </a:r>
            <a:endParaRPr lang="es-ES" b="1" i="1" dirty="0">
              <a:latin typeface="Helvetica"/>
              <a:cs typeface="Helvetica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D546B59E-8FE0-E37C-436D-6BC86BED776B}"/>
              </a:ext>
            </a:extLst>
          </p:cNvPr>
          <p:cNvSpPr txBox="1">
            <a:spLocks/>
          </p:cNvSpPr>
          <p:nvPr/>
        </p:nvSpPr>
        <p:spPr>
          <a:xfrm>
            <a:off x="9160268" y="3761204"/>
            <a:ext cx="2260401" cy="36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dirty="0">
                <a:latin typeface="Helvetica"/>
                <a:cs typeface="Helvetica"/>
              </a:rPr>
              <a:t>Reich, 2014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FE79CA3-DD17-6535-54ED-96A8E0737C60}"/>
              </a:ext>
            </a:extLst>
          </p:cNvPr>
          <p:cNvSpPr txBox="1">
            <a:spLocks/>
          </p:cNvSpPr>
          <p:nvPr/>
        </p:nvSpPr>
        <p:spPr>
          <a:xfrm>
            <a:off x="511076" y="5711431"/>
            <a:ext cx="1513668" cy="7017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Height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06087F28-5B44-A4B0-24D7-D09EDE230E75}"/>
              </a:ext>
            </a:extLst>
          </p:cNvPr>
          <p:cNvSpPr txBox="1">
            <a:spLocks/>
          </p:cNvSpPr>
          <p:nvPr/>
        </p:nvSpPr>
        <p:spPr>
          <a:xfrm>
            <a:off x="1789512" y="5584336"/>
            <a:ext cx="5255100" cy="1273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1800" dirty="0" err="1">
                <a:latin typeface="Helvetica"/>
                <a:cs typeface="Helvetica"/>
              </a:rPr>
              <a:t>Decoupled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from</a:t>
            </a:r>
            <a:r>
              <a:rPr lang="es-ES" sz="1800" dirty="0">
                <a:latin typeface="Helvetica"/>
                <a:cs typeface="Helvetica"/>
              </a:rPr>
              <a:t> LES (Díaz </a:t>
            </a:r>
            <a:r>
              <a:rPr lang="es-ES" sz="1800" i="1" dirty="0">
                <a:latin typeface="Helvetica"/>
                <a:cs typeface="Helvetica"/>
              </a:rPr>
              <a:t>et al., 2016)</a:t>
            </a:r>
            <a:endParaRPr lang="es-ES" sz="18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1800" dirty="0" err="1">
                <a:latin typeface="Helvetica"/>
                <a:cs typeface="Helvetica"/>
              </a:rPr>
              <a:t>Conditions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hydraulics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growth</a:t>
            </a:r>
            <a:r>
              <a:rPr lang="es-ES" sz="1800" dirty="0">
                <a:latin typeface="Helvetica"/>
                <a:cs typeface="Helvetica"/>
              </a:rPr>
              <a:t> (</a:t>
            </a:r>
            <a:r>
              <a:rPr lang="es-ES" sz="1800" dirty="0" err="1">
                <a:latin typeface="Helvetica"/>
                <a:cs typeface="Helvetica"/>
              </a:rPr>
              <a:t>Darcy’s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Law</a:t>
            </a:r>
            <a:r>
              <a:rPr lang="es-ES" sz="1800" dirty="0">
                <a:latin typeface="Helvetica"/>
                <a:cs typeface="Helvetica"/>
              </a:rPr>
              <a:t>)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14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D444-46AF-6694-1D08-E3AFCFC4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63AFC8C-A9E3-B7A1-643B-BAFEC3D34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683" y="349250"/>
            <a:ext cx="3254080" cy="65087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D73AF5-5C7C-C444-2F9F-072F024D6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253" y="349250"/>
            <a:ext cx="3254080" cy="6508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CAB3E9-91CB-101A-CBBB-919403059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44" y="349250"/>
            <a:ext cx="3209634" cy="641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D7EDA-D4B0-54B4-480D-96E6D7873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495" y="5654351"/>
            <a:ext cx="1547293" cy="432547"/>
          </a:xfrm>
        </p:spPr>
        <p:txBody>
          <a:bodyPr>
            <a:noAutofit/>
          </a:bodyPr>
          <a:lstStyle/>
          <a:p>
            <a:r>
              <a:rPr lang="es-ES" sz="16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5A661B6-1C18-0390-71D2-DBD1F777180F}"/>
              </a:ext>
            </a:extLst>
          </p:cNvPr>
          <p:cNvSpPr txBox="1">
            <a:spLocks/>
          </p:cNvSpPr>
          <p:nvPr/>
        </p:nvSpPr>
        <p:spPr>
          <a:xfrm>
            <a:off x="6096000" y="5654351"/>
            <a:ext cx="1547293" cy="432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16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16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1A82499-679D-CDBB-ED8B-6AD3B7A31B98}"/>
              </a:ext>
            </a:extLst>
          </p:cNvPr>
          <p:cNvSpPr txBox="1">
            <a:spLocks/>
          </p:cNvSpPr>
          <p:nvPr/>
        </p:nvSpPr>
        <p:spPr>
          <a:xfrm>
            <a:off x="9524689" y="5654350"/>
            <a:ext cx="1547293" cy="432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P. pinea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43C7959-32E7-4B39-2CE6-EF9D4F9FBA86}"/>
              </a:ext>
            </a:extLst>
          </p:cNvPr>
          <p:cNvSpPr/>
          <p:nvPr/>
        </p:nvSpPr>
        <p:spPr>
          <a:xfrm>
            <a:off x="647700" y="5461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2">
            <a:extLst>
              <a:ext uri="{FF2B5EF4-FFF2-40B4-BE49-F238E27FC236}">
                <a16:creationId xmlns:a16="http://schemas.microsoft.com/office/drawing/2014/main" id="{62D29D43-EBFE-D79D-8AC9-7F4FA3BE792D}"/>
              </a:ext>
            </a:extLst>
          </p:cNvPr>
          <p:cNvSpPr/>
          <p:nvPr/>
        </p:nvSpPr>
        <p:spPr>
          <a:xfrm>
            <a:off x="3101006" y="14097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2">
            <a:extLst>
              <a:ext uri="{FF2B5EF4-FFF2-40B4-BE49-F238E27FC236}">
                <a16:creationId xmlns:a16="http://schemas.microsoft.com/office/drawing/2014/main" id="{16B787C4-5947-2CC2-E536-D47B63BE6EC2}"/>
              </a:ext>
            </a:extLst>
          </p:cNvPr>
          <p:cNvSpPr/>
          <p:nvPr/>
        </p:nvSpPr>
        <p:spPr>
          <a:xfrm>
            <a:off x="3944286" y="5461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2">
            <a:extLst>
              <a:ext uri="{FF2B5EF4-FFF2-40B4-BE49-F238E27FC236}">
                <a16:creationId xmlns:a16="http://schemas.microsoft.com/office/drawing/2014/main" id="{480FA2D6-893A-3BB1-236F-2B43405582C5}"/>
              </a:ext>
            </a:extLst>
          </p:cNvPr>
          <p:cNvSpPr/>
          <p:nvPr/>
        </p:nvSpPr>
        <p:spPr>
          <a:xfrm>
            <a:off x="6433486" y="14097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2">
            <a:extLst>
              <a:ext uri="{FF2B5EF4-FFF2-40B4-BE49-F238E27FC236}">
                <a16:creationId xmlns:a16="http://schemas.microsoft.com/office/drawing/2014/main" id="{0433FD15-8261-6AB1-84E4-19309FBF97D1}"/>
              </a:ext>
            </a:extLst>
          </p:cNvPr>
          <p:cNvSpPr/>
          <p:nvPr/>
        </p:nvSpPr>
        <p:spPr>
          <a:xfrm>
            <a:off x="7810166" y="5461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2">
            <a:extLst>
              <a:ext uri="{FF2B5EF4-FFF2-40B4-BE49-F238E27FC236}">
                <a16:creationId xmlns:a16="http://schemas.microsoft.com/office/drawing/2014/main" id="{79FEC9EF-D124-3DDE-76A7-1CA6C805B4B5}"/>
              </a:ext>
            </a:extLst>
          </p:cNvPr>
          <p:cNvSpPr/>
          <p:nvPr/>
        </p:nvSpPr>
        <p:spPr>
          <a:xfrm>
            <a:off x="10298335" y="14097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2">
            <a:extLst>
              <a:ext uri="{FF2B5EF4-FFF2-40B4-BE49-F238E27FC236}">
                <a16:creationId xmlns:a16="http://schemas.microsoft.com/office/drawing/2014/main" id="{98D6E3DF-5EA1-3AF6-BFBD-D8BD0D6D082C}"/>
              </a:ext>
            </a:extLst>
          </p:cNvPr>
          <p:cNvSpPr/>
          <p:nvPr/>
        </p:nvSpPr>
        <p:spPr>
          <a:xfrm>
            <a:off x="7946295" y="231902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2">
            <a:extLst>
              <a:ext uri="{FF2B5EF4-FFF2-40B4-BE49-F238E27FC236}">
                <a16:creationId xmlns:a16="http://schemas.microsoft.com/office/drawing/2014/main" id="{3F6AAECC-68E7-C3B8-11B1-23041EA44BF0}"/>
              </a:ext>
            </a:extLst>
          </p:cNvPr>
          <p:cNvSpPr/>
          <p:nvPr/>
        </p:nvSpPr>
        <p:spPr>
          <a:xfrm>
            <a:off x="9395814" y="2157095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2">
            <a:extLst>
              <a:ext uri="{FF2B5EF4-FFF2-40B4-BE49-F238E27FC236}">
                <a16:creationId xmlns:a16="http://schemas.microsoft.com/office/drawing/2014/main" id="{51FFD874-CEEF-71F8-2E8B-C55D27E677F8}"/>
              </a:ext>
            </a:extLst>
          </p:cNvPr>
          <p:cNvSpPr/>
          <p:nvPr/>
        </p:nvSpPr>
        <p:spPr>
          <a:xfrm>
            <a:off x="5529934" y="2157095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2">
            <a:extLst>
              <a:ext uri="{FF2B5EF4-FFF2-40B4-BE49-F238E27FC236}">
                <a16:creationId xmlns:a16="http://schemas.microsoft.com/office/drawing/2014/main" id="{241F6622-9992-A2F0-D757-E92E04CF1F07}"/>
              </a:ext>
            </a:extLst>
          </p:cNvPr>
          <p:cNvSpPr/>
          <p:nvPr/>
        </p:nvSpPr>
        <p:spPr>
          <a:xfrm>
            <a:off x="4080105" y="231902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2">
            <a:extLst>
              <a:ext uri="{FF2B5EF4-FFF2-40B4-BE49-F238E27FC236}">
                <a16:creationId xmlns:a16="http://schemas.microsoft.com/office/drawing/2014/main" id="{A95C6648-B659-65AA-054A-CEF0EDF057E8}"/>
              </a:ext>
            </a:extLst>
          </p:cNvPr>
          <p:cNvSpPr/>
          <p:nvPr/>
        </p:nvSpPr>
        <p:spPr>
          <a:xfrm>
            <a:off x="2215161" y="2157095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2">
            <a:extLst>
              <a:ext uri="{FF2B5EF4-FFF2-40B4-BE49-F238E27FC236}">
                <a16:creationId xmlns:a16="http://schemas.microsoft.com/office/drawing/2014/main" id="{F1F59F91-AEC0-6CEE-9CBC-51A1199A1700}"/>
              </a:ext>
            </a:extLst>
          </p:cNvPr>
          <p:cNvSpPr/>
          <p:nvPr/>
        </p:nvSpPr>
        <p:spPr>
          <a:xfrm>
            <a:off x="791944" y="231902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2">
            <a:extLst>
              <a:ext uri="{FF2B5EF4-FFF2-40B4-BE49-F238E27FC236}">
                <a16:creationId xmlns:a16="http://schemas.microsoft.com/office/drawing/2014/main" id="{876650EE-4D11-74B5-58C8-AD977A6E0DE9}"/>
              </a:ext>
            </a:extLst>
          </p:cNvPr>
          <p:cNvSpPr/>
          <p:nvPr/>
        </p:nvSpPr>
        <p:spPr>
          <a:xfrm>
            <a:off x="786963" y="3891281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2">
            <a:extLst>
              <a:ext uri="{FF2B5EF4-FFF2-40B4-BE49-F238E27FC236}">
                <a16:creationId xmlns:a16="http://schemas.microsoft.com/office/drawing/2014/main" id="{39CD612E-5567-F660-C2FE-CC17BA695508}"/>
              </a:ext>
            </a:extLst>
          </p:cNvPr>
          <p:cNvSpPr/>
          <p:nvPr/>
        </p:nvSpPr>
        <p:spPr>
          <a:xfrm>
            <a:off x="2686791" y="4215131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2">
            <a:extLst>
              <a:ext uri="{FF2B5EF4-FFF2-40B4-BE49-F238E27FC236}">
                <a16:creationId xmlns:a16="http://schemas.microsoft.com/office/drawing/2014/main" id="{62C7E873-1B4C-22BE-37C8-0A446950613E}"/>
              </a:ext>
            </a:extLst>
          </p:cNvPr>
          <p:cNvSpPr/>
          <p:nvPr/>
        </p:nvSpPr>
        <p:spPr>
          <a:xfrm>
            <a:off x="4080105" y="3930015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2">
            <a:extLst>
              <a:ext uri="{FF2B5EF4-FFF2-40B4-BE49-F238E27FC236}">
                <a16:creationId xmlns:a16="http://schemas.microsoft.com/office/drawing/2014/main" id="{B97A92E5-2560-BDCA-3710-2A95FB76BDBA}"/>
              </a:ext>
            </a:extLst>
          </p:cNvPr>
          <p:cNvSpPr/>
          <p:nvPr/>
        </p:nvSpPr>
        <p:spPr>
          <a:xfrm>
            <a:off x="6046136" y="4267201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Elipse 2">
            <a:extLst>
              <a:ext uri="{FF2B5EF4-FFF2-40B4-BE49-F238E27FC236}">
                <a16:creationId xmlns:a16="http://schemas.microsoft.com/office/drawing/2014/main" id="{552DFA8B-0714-F1E6-040F-95E06998CA86}"/>
              </a:ext>
            </a:extLst>
          </p:cNvPr>
          <p:cNvSpPr/>
          <p:nvPr/>
        </p:nvSpPr>
        <p:spPr>
          <a:xfrm>
            <a:off x="516615" y="5233163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">
            <a:extLst>
              <a:ext uri="{FF2B5EF4-FFF2-40B4-BE49-F238E27FC236}">
                <a16:creationId xmlns:a16="http://schemas.microsoft.com/office/drawing/2014/main" id="{27CDA5BF-EFB2-3A4D-7B65-E0A7E4701B2C}"/>
              </a:ext>
            </a:extLst>
          </p:cNvPr>
          <p:cNvSpPr/>
          <p:nvPr/>
        </p:nvSpPr>
        <p:spPr>
          <a:xfrm>
            <a:off x="3847788" y="53305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">
            <a:extLst>
              <a:ext uri="{FF2B5EF4-FFF2-40B4-BE49-F238E27FC236}">
                <a16:creationId xmlns:a16="http://schemas.microsoft.com/office/drawing/2014/main" id="{8D76CDCB-E9DE-08B8-2919-C88FEB5BB64D}"/>
              </a:ext>
            </a:extLst>
          </p:cNvPr>
          <p:cNvSpPr/>
          <p:nvPr/>
        </p:nvSpPr>
        <p:spPr>
          <a:xfrm>
            <a:off x="7946295" y="3930015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2">
            <a:extLst>
              <a:ext uri="{FF2B5EF4-FFF2-40B4-BE49-F238E27FC236}">
                <a16:creationId xmlns:a16="http://schemas.microsoft.com/office/drawing/2014/main" id="{20F5D9F3-F85B-872E-D245-154E9F827C1C}"/>
              </a:ext>
            </a:extLst>
          </p:cNvPr>
          <p:cNvSpPr/>
          <p:nvPr/>
        </p:nvSpPr>
        <p:spPr>
          <a:xfrm>
            <a:off x="9910985" y="4272281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">
            <a:extLst>
              <a:ext uri="{FF2B5EF4-FFF2-40B4-BE49-F238E27FC236}">
                <a16:creationId xmlns:a16="http://schemas.microsoft.com/office/drawing/2014/main" id="{8EEE43FD-5556-6186-8202-292B08FF9B87}"/>
              </a:ext>
            </a:extLst>
          </p:cNvPr>
          <p:cNvSpPr/>
          <p:nvPr/>
        </p:nvSpPr>
        <p:spPr>
          <a:xfrm>
            <a:off x="7726786" y="5330500"/>
            <a:ext cx="387350" cy="323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856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32D8-8ACA-65D2-C0CD-54263070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38" y="60478"/>
            <a:ext cx="10515600" cy="1111766"/>
          </a:xfrm>
        </p:spPr>
        <p:txBody>
          <a:bodyPr>
            <a:normAutofit/>
          </a:bodyPr>
          <a:lstStyle/>
          <a:p>
            <a:r>
              <a:rPr lang="es-ES" sz="35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endParaRPr lang="es-ES" sz="35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770B8-AE23-0D50-99C1-D5BD0C9AB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71359"/>
            <a:ext cx="7643712" cy="5221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1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whole-tree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2 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s-ES" b="1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b="1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. 3 –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modelise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describe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underlying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processes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highlight>
                  <a:srgbClr val="FFFF00"/>
                </a:highlight>
                <a:latin typeface="Helvetica" panose="020B0604020202020204" pitchFamily="34" charset="0"/>
                <a:cs typeface="Helvetica" panose="020B0604020202020204" pitchFamily="34" charset="0"/>
              </a:rPr>
              <a:t> decline</a:t>
            </a:r>
            <a:endParaRPr lang="es-ES" b="1" dirty="0">
              <a:highlight>
                <a:srgbClr val="FFFF00"/>
              </a:highlight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upo 20">
            <a:extLst>
              <a:ext uri="{FF2B5EF4-FFF2-40B4-BE49-F238E27FC236}">
                <a16:creationId xmlns:a16="http://schemas.microsoft.com/office/drawing/2014/main" id="{0605C183-C368-584C-449E-C716879242A6}"/>
              </a:ext>
            </a:extLst>
          </p:cNvPr>
          <p:cNvGrpSpPr/>
          <p:nvPr/>
        </p:nvGrpSpPr>
        <p:grpSpPr>
          <a:xfrm>
            <a:off x="8731786" y="3250074"/>
            <a:ext cx="3044617" cy="1094038"/>
            <a:chOff x="1139560" y="5095351"/>
            <a:chExt cx="3477754" cy="1250117"/>
          </a:xfrm>
        </p:grpSpPr>
        <p:pic>
          <p:nvPicPr>
            <p:cNvPr id="5" name="Imagen 3">
              <a:extLst>
                <a:ext uri="{FF2B5EF4-FFF2-40B4-BE49-F238E27FC236}">
                  <a16:creationId xmlns:a16="http://schemas.microsoft.com/office/drawing/2014/main" id="{EAEADE5F-9169-40CC-5A04-E56D1378F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6" name="CuadroTexto 4">
              <a:extLst>
                <a:ext uri="{FF2B5EF4-FFF2-40B4-BE49-F238E27FC236}">
                  <a16:creationId xmlns:a16="http://schemas.microsoft.com/office/drawing/2014/main" id="{797BD3E0-10F8-801B-2CC0-D36E45A525E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7" name="CuadroTexto 17">
              <a:extLst>
                <a:ext uri="{FF2B5EF4-FFF2-40B4-BE49-F238E27FC236}">
                  <a16:creationId xmlns:a16="http://schemas.microsoft.com/office/drawing/2014/main" id="{5A0DDFC1-3EAC-7A51-D810-D6ECEA6F3961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9E41B5B-7F05-B548-C2E6-253FD42A4D71}"/>
              </a:ext>
            </a:extLst>
          </p:cNvPr>
          <p:cNvGrpSpPr/>
          <p:nvPr/>
        </p:nvGrpSpPr>
        <p:grpSpPr>
          <a:xfrm>
            <a:off x="8486196" y="1592286"/>
            <a:ext cx="3619560" cy="1271459"/>
            <a:chOff x="3495617" y="5492674"/>
            <a:chExt cx="3619560" cy="1271459"/>
          </a:xfrm>
        </p:grpSpPr>
        <p:pic>
          <p:nvPicPr>
            <p:cNvPr id="9" name="Gráfico 12" descr="Abeto">
              <a:extLst>
                <a:ext uri="{FF2B5EF4-FFF2-40B4-BE49-F238E27FC236}">
                  <a16:creationId xmlns:a16="http://schemas.microsoft.com/office/drawing/2014/main" id="{D858E199-3212-67EB-EBC9-E71B422F8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10" name="Gráfico 13" descr="Abeto">
              <a:extLst>
                <a:ext uri="{FF2B5EF4-FFF2-40B4-BE49-F238E27FC236}">
                  <a16:creationId xmlns:a16="http://schemas.microsoft.com/office/drawing/2014/main" id="{848FD841-E02E-ED25-E688-8BE999AD8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11" name="Gráfico 14" descr="Abeto">
              <a:extLst>
                <a:ext uri="{FF2B5EF4-FFF2-40B4-BE49-F238E27FC236}">
                  <a16:creationId xmlns:a16="http://schemas.microsoft.com/office/drawing/2014/main" id="{7CEC21AF-CE70-3D3D-608A-D8D170F14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12" name="Marcador de contenido 2">
              <a:extLst>
                <a:ext uri="{FF2B5EF4-FFF2-40B4-BE49-F238E27FC236}">
                  <a16:creationId xmlns:a16="http://schemas.microsoft.com/office/drawing/2014/main" id="{842A3770-4D0E-5F31-BED2-70734071EDC3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3" name="Marcador de contenido 2">
              <a:extLst>
                <a:ext uri="{FF2B5EF4-FFF2-40B4-BE49-F238E27FC236}">
                  <a16:creationId xmlns:a16="http://schemas.microsoft.com/office/drawing/2014/main" id="{80307FD6-F93A-CA17-4332-75E759697FB6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4" name="Marcador de contenido 2">
              <a:extLst>
                <a:ext uri="{FF2B5EF4-FFF2-40B4-BE49-F238E27FC236}">
                  <a16:creationId xmlns:a16="http://schemas.microsoft.com/office/drawing/2014/main" id="{FDF89547-417F-6E9A-3258-44D307F6DC30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5" name="CuadroTexto 18">
              <a:extLst>
                <a:ext uri="{FF2B5EF4-FFF2-40B4-BE49-F238E27FC236}">
                  <a16:creationId xmlns:a16="http://schemas.microsoft.com/office/drawing/2014/main" id="{69B11806-AA0A-FCA3-5A38-3CF79480DE0F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16" name="CuadroTexto 18">
              <a:extLst>
                <a:ext uri="{FF2B5EF4-FFF2-40B4-BE49-F238E27FC236}">
                  <a16:creationId xmlns:a16="http://schemas.microsoft.com/office/drawing/2014/main" id="{0B4AA8C9-F914-89F1-B43C-4160EF394572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C6977C-F225-4CB6-32F4-0CE11A599556}"/>
              </a:ext>
            </a:extLst>
          </p:cNvPr>
          <p:cNvGrpSpPr/>
          <p:nvPr/>
        </p:nvGrpSpPr>
        <p:grpSpPr>
          <a:xfrm>
            <a:off x="8816254" y="4730441"/>
            <a:ext cx="2875680" cy="1152743"/>
            <a:chOff x="8825518" y="5542858"/>
            <a:chExt cx="2875680" cy="115274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54203EE-883F-3041-75A9-7BFDD26F97B8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21" name="Graphic 20" descr="Fir tree">
                <a:extLst>
                  <a:ext uri="{FF2B5EF4-FFF2-40B4-BE49-F238E27FC236}">
                    <a16:creationId xmlns:a16="http://schemas.microsoft.com/office/drawing/2014/main" id="{89525936-7BC2-B4B2-7522-B682DF41D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2" name="Graphic 21" descr="Fir tree">
                <a:extLst>
                  <a:ext uri="{FF2B5EF4-FFF2-40B4-BE49-F238E27FC236}">
                    <a16:creationId xmlns:a16="http://schemas.microsoft.com/office/drawing/2014/main" id="{8FE83555-7546-1320-E3B3-DF73860D3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3" name="Graphic 22" descr="Fir tree">
                <a:extLst>
                  <a:ext uri="{FF2B5EF4-FFF2-40B4-BE49-F238E27FC236}">
                    <a16:creationId xmlns:a16="http://schemas.microsoft.com/office/drawing/2014/main" id="{558FCF57-F145-7D55-36BC-BC5AA5937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4" name="CuadroTexto 18">
                <a:extLst>
                  <a:ext uri="{FF2B5EF4-FFF2-40B4-BE49-F238E27FC236}">
                    <a16:creationId xmlns:a16="http://schemas.microsoft.com/office/drawing/2014/main" id="{4019EE85-A3D5-3976-D2BD-FBA107876BA0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5" name="CuadroTexto 18">
                <a:extLst>
                  <a:ext uri="{FF2B5EF4-FFF2-40B4-BE49-F238E27FC236}">
                    <a16:creationId xmlns:a16="http://schemas.microsoft.com/office/drawing/2014/main" id="{DC75FA01-A1B7-262B-7B64-F4DA997FAB11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6" name="CuadroTexto 18">
                <a:extLst>
                  <a:ext uri="{FF2B5EF4-FFF2-40B4-BE49-F238E27FC236}">
                    <a16:creationId xmlns:a16="http://schemas.microsoft.com/office/drawing/2014/main" id="{EDFF3398-30EB-DBB6-3892-835567BDB55A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3ADCEE78-C0D0-1D5A-0774-1F817DCF5637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20" name="CuadroTexto 18">
              <a:extLst>
                <a:ext uri="{FF2B5EF4-FFF2-40B4-BE49-F238E27FC236}">
                  <a16:creationId xmlns:a16="http://schemas.microsoft.com/office/drawing/2014/main" id="{51A3B255-E846-D7A0-822E-FFA8C2F0EB50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D8BFDD7A-7364-125E-73D9-AF5036D646EF}"/>
              </a:ext>
            </a:extLst>
          </p:cNvPr>
          <p:cNvSpPr txBox="1">
            <a:spLocks/>
          </p:cNvSpPr>
          <p:nvPr/>
        </p:nvSpPr>
        <p:spPr>
          <a:xfrm>
            <a:off x="2939125" y="2486063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AIC </a:t>
            </a:r>
            <a:r>
              <a:rPr lang="es-ES" sz="2400" b="1" dirty="0" err="1">
                <a:latin typeface="Helvetica"/>
                <a:cs typeface="Helvetica"/>
              </a:rPr>
              <a:t>comparison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A47C9C24-1B01-E34A-D18E-0A63A5D7D877}"/>
              </a:ext>
            </a:extLst>
          </p:cNvPr>
          <p:cNvSpPr txBox="1">
            <a:spLocks/>
          </p:cNvSpPr>
          <p:nvPr/>
        </p:nvSpPr>
        <p:spPr>
          <a:xfrm>
            <a:off x="2948077" y="4243033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PCA </a:t>
            </a:r>
            <a:r>
              <a:rPr lang="es-ES" sz="2400" b="1" dirty="0" err="1">
                <a:latin typeface="Helvetica"/>
                <a:cs typeface="Helvetica"/>
              </a:rPr>
              <a:t>ordination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D014E0D4-6374-DD36-8917-1773A371C43C}"/>
              </a:ext>
            </a:extLst>
          </p:cNvPr>
          <p:cNvSpPr txBox="1">
            <a:spLocks/>
          </p:cNvSpPr>
          <p:nvPr/>
        </p:nvSpPr>
        <p:spPr>
          <a:xfrm>
            <a:off x="2880801" y="6000003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rgbClr val="FF0000"/>
                </a:solidFill>
                <a:latin typeface="Helvetica"/>
                <a:cs typeface="Helvetica"/>
              </a:rPr>
              <a:t>DECIDE WHAT TO MODEL</a:t>
            </a:r>
            <a:endParaRPr lang="es-ES" sz="2400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92305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A7C9A-35CE-4D80-3B05-437D15F3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FF6D-ED13-6784-C000-C1C3A113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85" y="-262928"/>
            <a:ext cx="16002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1. </a:t>
            </a:r>
          </a:p>
        </p:txBody>
      </p:sp>
      <p:grpSp>
        <p:nvGrpSpPr>
          <p:cNvPr id="9" name="Grupo 20">
            <a:extLst>
              <a:ext uri="{FF2B5EF4-FFF2-40B4-BE49-F238E27FC236}">
                <a16:creationId xmlns:a16="http://schemas.microsoft.com/office/drawing/2014/main" id="{93BDD2EA-264E-C66C-C366-99397CDAF31D}"/>
              </a:ext>
            </a:extLst>
          </p:cNvPr>
          <p:cNvGrpSpPr/>
          <p:nvPr/>
        </p:nvGrpSpPr>
        <p:grpSpPr>
          <a:xfrm>
            <a:off x="602478" y="212577"/>
            <a:ext cx="2315162" cy="836734"/>
            <a:chOff x="1139560" y="5095351"/>
            <a:chExt cx="3477754" cy="1250117"/>
          </a:xfrm>
        </p:grpSpPr>
        <p:pic>
          <p:nvPicPr>
            <p:cNvPr id="10" name="Imagen 3">
              <a:extLst>
                <a:ext uri="{FF2B5EF4-FFF2-40B4-BE49-F238E27FC236}">
                  <a16:creationId xmlns:a16="http://schemas.microsoft.com/office/drawing/2014/main" id="{4B547358-92FB-036C-FCB6-505F2B743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1" name="CuadroTexto 4">
              <a:extLst>
                <a:ext uri="{FF2B5EF4-FFF2-40B4-BE49-F238E27FC236}">
                  <a16:creationId xmlns:a16="http://schemas.microsoft.com/office/drawing/2014/main" id="{F2926389-A2B5-0170-E09E-CF3B48E582C2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2" name="CuadroTexto 17">
              <a:extLst>
                <a:ext uri="{FF2B5EF4-FFF2-40B4-BE49-F238E27FC236}">
                  <a16:creationId xmlns:a16="http://schemas.microsoft.com/office/drawing/2014/main" id="{02A3E811-5353-FAF1-E5F6-AF08B4FB7C36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BB3CAE14-572F-66A7-DE82-0A8262969D50}"/>
              </a:ext>
            </a:extLst>
          </p:cNvPr>
          <p:cNvGrpSpPr/>
          <p:nvPr/>
        </p:nvGrpSpPr>
        <p:grpSpPr>
          <a:xfrm>
            <a:off x="7727017" y="545166"/>
            <a:ext cx="1177136" cy="619275"/>
            <a:chOff x="9731871" y="5542858"/>
            <a:chExt cx="1969327" cy="1783026"/>
          </a:xfrm>
        </p:grpSpPr>
        <p:grpSp>
          <p:nvGrpSpPr>
            <p:cNvPr id="13" name="Group 15">
              <a:extLst>
                <a:ext uri="{FF2B5EF4-FFF2-40B4-BE49-F238E27FC236}">
                  <a16:creationId xmlns:a16="http://schemas.microsoft.com/office/drawing/2014/main" id="{E220F13D-16D2-2252-980E-00442D1408EC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783026"/>
              <a:chOff x="9731871" y="5542858"/>
              <a:chExt cx="1969327" cy="1783026"/>
            </a:xfrm>
          </p:grpSpPr>
          <p:pic>
            <p:nvPicPr>
              <p:cNvPr id="15" name="Graphic 18" descr="Fir tree">
                <a:extLst>
                  <a:ext uri="{FF2B5EF4-FFF2-40B4-BE49-F238E27FC236}">
                    <a16:creationId xmlns:a16="http://schemas.microsoft.com/office/drawing/2014/main" id="{94F2A371-2A3E-4575-92D5-073C7C1DD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6" name="Graphic 19" descr="Fir tree">
                <a:extLst>
                  <a:ext uri="{FF2B5EF4-FFF2-40B4-BE49-F238E27FC236}">
                    <a16:creationId xmlns:a16="http://schemas.microsoft.com/office/drawing/2014/main" id="{A95EA4BC-6DDB-81B3-A1EA-DCD346EA5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7" name="CuadroTexto 18">
                <a:extLst>
                  <a:ext uri="{FF2B5EF4-FFF2-40B4-BE49-F238E27FC236}">
                    <a16:creationId xmlns:a16="http://schemas.microsoft.com/office/drawing/2014/main" id="{DFFBAC85-D45D-985B-B97E-5BFC05497F1B}"/>
                  </a:ext>
                </a:extLst>
              </p:cNvPr>
              <p:cNvSpPr txBox="1"/>
              <p:nvPr/>
            </p:nvSpPr>
            <p:spPr>
              <a:xfrm>
                <a:off x="9731871" y="6357048"/>
                <a:ext cx="1037054" cy="79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4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4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4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4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4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4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8" name="CuadroTexto 18">
                <a:extLst>
                  <a:ext uri="{FF2B5EF4-FFF2-40B4-BE49-F238E27FC236}">
                    <a16:creationId xmlns:a16="http://schemas.microsoft.com/office/drawing/2014/main" id="{675DCDCD-EF07-0488-419E-F28EEF1ED85B}"/>
                  </a:ext>
                </a:extLst>
              </p:cNvPr>
              <p:cNvSpPr txBox="1"/>
              <p:nvPr/>
            </p:nvSpPr>
            <p:spPr>
              <a:xfrm>
                <a:off x="10664144" y="6351114"/>
                <a:ext cx="1037054" cy="974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4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4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4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4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4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4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4" name="CuadroTexto 18">
              <a:extLst>
                <a:ext uri="{FF2B5EF4-FFF2-40B4-BE49-F238E27FC236}">
                  <a16:creationId xmlns:a16="http://schemas.microsoft.com/office/drawing/2014/main" id="{E23BA8E6-7799-92B9-115A-36336C81F78F}"/>
                </a:ext>
              </a:extLst>
            </p:cNvPr>
            <p:cNvSpPr txBox="1"/>
            <p:nvPr/>
          </p:nvSpPr>
          <p:spPr>
            <a:xfrm>
              <a:off x="10378083" y="5793364"/>
              <a:ext cx="855243" cy="531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6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94F1EBFC-8009-D0D5-4FFF-785FA7600A56}"/>
              </a:ext>
            </a:extLst>
          </p:cNvPr>
          <p:cNvSpPr txBox="1">
            <a:spLocks/>
          </p:cNvSpPr>
          <p:nvPr/>
        </p:nvSpPr>
        <p:spPr>
          <a:xfrm>
            <a:off x="609355" y="1251962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Abies</a:t>
            </a:r>
            <a:r>
              <a:rPr lang="es-ES" sz="2000" b="1" i="1" dirty="0">
                <a:latin typeface="Helvetica"/>
                <a:cs typeface="Helvetica"/>
              </a:rPr>
              <a:t> alba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32AF6FCF-160D-6105-F1E5-FD39426DA7DB}"/>
              </a:ext>
            </a:extLst>
          </p:cNvPr>
          <p:cNvSpPr txBox="1">
            <a:spLocks/>
          </p:cNvSpPr>
          <p:nvPr/>
        </p:nvSpPr>
        <p:spPr>
          <a:xfrm>
            <a:off x="609355" y="1727331"/>
            <a:ext cx="2775195" cy="15371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(site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productivity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SLA (conservative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strategies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 </a:t>
            </a:r>
            <a:r>
              <a:rPr lang="el-GR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 (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increased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WUE)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↓BAI (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lower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endParaRPr lang="es-ES" sz="20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28404D4B-137A-0367-DB73-0A7671C4A342}"/>
              </a:ext>
            </a:extLst>
          </p:cNvPr>
          <p:cNvSpPr txBox="1">
            <a:spLocks/>
          </p:cNvSpPr>
          <p:nvPr/>
        </p:nvSpPr>
        <p:spPr>
          <a:xfrm>
            <a:off x="356686" y="3289857"/>
            <a:ext cx="231820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</a:t>
            </a:r>
            <a:r>
              <a:rPr lang="es-ES" sz="2000" b="1" i="1" dirty="0" err="1">
                <a:latin typeface="Helvetica"/>
                <a:cs typeface="Helvetica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C4A7BBCA-4F87-57D5-DA42-36A46A7CB2A2}"/>
              </a:ext>
            </a:extLst>
          </p:cNvPr>
          <p:cNvSpPr txBox="1">
            <a:spLocks/>
          </p:cNvSpPr>
          <p:nvPr/>
        </p:nvSpPr>
        <p:spPr>
          <a:xfrm>
            <a:off x="356686" y="3765227"/>
            <a:ext cx="2318208" cy="950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BAI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7D15E231-E11B-8AFB-67AF-62377076321F}"/>
              </a:ext>
            </a:extLst>
          </p:cNvPr>
          <p:cNvSpPr txBox="1">
            <a:spLocks/>
          </p:cNvSpPr>
          <p:nvPr/>
        </p:nvSpPr>
        <p:spPr>
          <a:xfrm>
            <a:off x="495709" y="4741390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7C7C4E82-E9BA-A5A0-9917-C7C2F75D90ED}"/>
              </a:ext>
            </a:extLst>
          </p:cNvPr>
          <p:cNvSpPr txBox="1">
            <a:spLocks/>
          </p:cNvSpPr>
          <p:nvPr/>
        </p:nvSpPr>
        <p:spPr>
          <a:xfrm>
            <a:off x="419099" y="5310847"/>
            <a:ext cx="2318208" cy="903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SLA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25EF246-F66D-F130-6FF6-258A623CF6AB}"/>
              </a:ext>
            </a:extLst>
          </p:cNvPr>
          <p:cNvSpPr txBox="1">
            <a:spLocks/>
          </p:cNvSpPr>
          <p:nvPr/>
        </p:nvSpPr>
        <p:spPr>
          <a:xfrm>
            <a:off x="9676403" y="1290401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Abies</a:t>
            </a:r>
            <a:r>
              <a:rPr lang="es-ES" sz="2000" b="1" i="1" dirty="0">
                <a:latin typeface="Helvetica"/>
                <a:cs typeface="Helvetica"/>
              </a:rPr>
              <a:t> alba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BE3BEBCE-2304-087A-1543-A641CC0FF140}"/>
              </a:ext>
            </a:extLst>
          </p:cNvPr>
          <p:cNvSpPr txBox="1">
            <a:spLocks/>
          </p:cNvSpPr>
          <p:nvPr/>
        </p:nvSpPr>
        <p:spPr>
          <a:xfrm>
            <a:off x="9676403" y="1765771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26AC1A9F-41B8-3745-97E1-C9DFC5F9BF69}"/>
              </a:ext>
            </a:extLst>
          </p:cNvPr>
          <p:cNvSpPr txBox="1">
            <a:spLocks/>
          </p:cNvSpPr>
          <p:nvPr/>
        </p:nvSpPr>
        <p:spPr>
          <a:xfrm>
            <a:off x="9460098" y="2714964"/>
            <a:ext cx="231820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</a:t>
            </a:r>
            <a:r>
              <a:rPr lang="es-ES" sz="2000" b="1" i="1" dirty="0" err="1">
                <a:latin typeface="Helvetica"/>
                <a:cs typeface="Helvetica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E0A0E498-502D-03C5-483E-D016FDD5F694}"/>
              </a:ext>
            </a:extLst>
          </p:cNvPr>
          <p:cNvSpPr txBox="1">
            <a:spLocks/>
          </p:cNvSpPr>
          <p:nvPr/>
        </p:nvSpPr>
        <p:spPr>
          <a:xfrm>
            <a:off x="9460098" y="3190334"/>
            <a:ext cx="2318208" cy="950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Chl</a:t>
            </a: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</a:t>
            </a: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BAI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141DF086-F27A-618A-26D1-97A409751C49}"/>
              </a:ext>
            </a:extLst>
          </p:cNvPr>
          <p:cNvSpPr txBox="1">
            <a:spLocks/>
          </p:cNvSpPr>
          <p:nvPr/>
        </p:nvSpPr>
        <p:spPr>
          <a:xfrm>
            <a:off x="9593716" y="4546471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03AFCFE9-3761-4318-98D2-42F4ECC385E6}"/>
              </a:ext>
            </a:extLst>
          </p:cNvPr>
          <p:cNvSpPr txBox="1">
            <a:spLocks/>
          </p:cNvSpPr>
          <p:nvPr/>
        </p:nvSpPr>
        <p:spPr>
          <a:xfrm>
            <a:off x="9517106" y="5115928"/>
            <a:ext cx="2318208" cy="903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Chl</a:t>
            </a: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DC3C1B4-7EA3-E609-FA74-949754D8F4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653" y="682906"/>
            <a:ext cx="2928154" cy="5965630"/>
          </a:xfrm>
          <a:prstGeom prst="rect">
            <a:avLst/>
          </a:prstGeom>
        </p:spPr>
      </p:pic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DAFF88E9-2D9E-0197-F71D-C5B48197F00E}"/>
              </a:ext>
            </a:extLst>
          </p:cNvPr>
          <p:cNvSpPr txBox="1">
            <a:spLocks/>
          </p:cNvSpPr>
          <p:nvPr/>
        </p:nvSpPr>
        <p:spPr>
          <a:xfrm>
            <a:off x="8251969" y="6129431"/>
            <a:ext cx="3373974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dirty="0" err="1">
                <a:solidFill>
                  <a:srgbClr val="FF0000"/>
                </a:solidFill>
                <a:latin typeface="Helvetica"/>
                <a:cs typeface="Helvetica"/>
              </a:rPr>
              <a:t>Too</a:t>
            </a:r>
            <a:r>
              <a:rPr lang="es-ES" sz="2000" b="1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Helvetica"/>
                <a:cs typeface="Helvetica"/>
              </a:rPr>
              <a:t>few</a:t>
            </a:r>
            <a:r>
              <a:rPr lang="es-ES" sz="2000" b="1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Helvetica"/>
                <a:cs typeface="Helvetica"/>
              </a:rPr>
              <a:t>significant</a:t>
            </a:r>
            <a:r>
              <a:rPr lang="es-ES" sz="2000" b="1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Helvetica"/>
                <a:cs typeface="Helvetica"/>
              </a:rPr>
              <a:t>diferences</a:t>
            </a:r>
            <a:r>
              <a:rPr lang="es-ES" sz="2000" b="1" dirty="0">
                <a:solidFill>
                  <a:srgbClr val="FF0000"/>
                </a:solidFill>
                <a:latin typeface="Helvetica"/>
                <a:cs typeface="Helvetica"/>
              </a:rPr>
              <a:t>?</a:t>
            </a:r>
            <a:endParaRPr lang="es-ES" sz="2000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5408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9EC2-D259-9937-F256-C6132B3B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5C6E-B2C4-CD24-ED26-90BFA1A05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8085" y="-262928"/>
            <a:ext cx="16002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1. </a:t>
            </a:r>
          </a:p>
        </p:txBody>
      </p:sp>
      <p:grpSp>
        <p:nvGrpSpPr>
          <p:cNvPr id="9" name="Grupo 20">
            <a:extLst>
              <a:ext uri="{FF2B5EF4-FFF2-40B4-BE49-F238E27FC236}">
                <a16:creationId xmlns:a16="http://schemas.microsoft.com/office/drawing/2014/main" id="{4AB14A46-0943-B21E-7742-ADF3319BFC6B}"/>
              </a:ext>
            </a:extLst>
          </p:cNvPr>
          <p:cNvGrpSpPr/>
          <p:nvPr/>
        </p:nvGrpSpPr>
        <p:grpSpPr>
          <a:xfrm>
            <a:off x="839371" y="174808"/>
            <a:ext cx="2315162" cy="836734"/>
            <a:chOff x="1139560" y="5095351"/>
            <a:chExt cx="3477754" cy="1250117"/>
          </a:xfrm>
        </p:grpSpPr>
        <p:pic>
          <p:nvPicPr>
            <p:cNvPr id="10" name="Imagen 3">
              <a:extLst>
                <a:ext uri="{FF2B5EF4-FFF2-40B4-BE49-F238E27FC236}">
                  <a16:creationId xmlns:a16="http://schemas.microsoft.com/office/drawing/2014/main" id="{4F3FB91C-CE5F-0D6D-BDAA-93F389DF3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1" name="CuadroTexto 4">
              <a:extLst>
                <a:ext uri="{FF2B5EF4-FFF2-40B4-BE49-F238E27FC236}">
                  <a16:creationId xmlns:a16="http://schemas.microsoft.com/office/drawing/2014/main" id="{D5749B63-2B70-1B10-4779-2AC2E2EF533F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2" name="CuadroTexto 17">
              <a:extLst>
                <a:ext uri="{FF2B5EF4-FFF2-40B4-BE49-F238E27FC236}">
                  <a16:creationId xmlns:a16="http://schemas.microsoft.com/office/drawing/2014/main" id="{2878DAF8-D6A5-95D9-4A29-F4A020122A60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845CD1EB-9AFD-96CB-9731-B5F677A1A88A}"/>
              </a:ext>
            </a:extLst>
          </p:cNvPr>
          <p:cNvGrpSpPr/>
          <p:nvPr/>
        </p:nvGrpSpPr>
        <p:grpSpPr>
          <a:xfrm>
            <a:off x="9862783" y="249173"/>
            <a:ext cx="1177136" cy="951864"/>
            <a:chOff x="9731871" y="5542858"/>
            <a:chExt cx="1969327" cy="1783026"/>
          </a:xfrm>
        </p:grpSpPr>
        <p:grpSp>
          <p:nvGrpSpPr>
            <p:cNvPr id="13" name="Group 15">
              <a:extLst>
                <a:ext uri="{FF2B5EF4-FFF2-40B4-BE49-F238E27FC236}">
                  <a16:creationId xmlns:a16="http://schemas.microsoft.com/office/drawing/2014/main" id="{0E4889DE-627D-6977-02EF-18C729691AE7}"/>
                </a:ext>
              </a:extLst>
            </p:cNvPr>
            <p:cNvGrpSpPr/>
            <p:nvPr/>
          </p:nvGrpSpPr>
          <p:grpSpPr>
            <a:xfrm>
              <a:off x="9731871" y="5542858"/>
              <a:ext cx="1969327" cy="1783026"/>
              <a:chOff x="9731871" y="5542858"/>
              <a:chExt cx="1969327" cy="1783026"/>
            </a:xfrm>
          </p:grpSpPr>
          <p:pic>
            <p:nvPicPr>
              <p:cNvPr id="15" name="Graphic 18" descr="Fir tree">
                <a:extLst>
                  <a:ext uri="{FF2B5EF4-FFF2-40B4-BE49-F238E27FC236}">
                    <a16:creationId xmlns:a16="http://schemas.microsoft.com/office/drawing/2014/main" id="{4038D435-05C8-C4F7-7F17-793FB704C7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6" name="Graphic 19" descr="Fir tree">
                <a:extLst>
                  <a:ext uri="{FF2B5EF4-FFF2-40B4-BE49-F238E27FC236}">
                    <a16:creationId xmlns:a16="http://schemas.microsoft.com/office/drawing/2014/main" id="{2F5538DE-0E0B-4B6E-D6A8-52688F6585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7" name="CuadroTexto 18">
                <a:extLst>
                  <a:ext uri="{FF2B5EF4-FFF2-40B4-BE49-F238E27FC236}">
                    <a16:creationId xmlns:a16="http://schemas.microsoft.com/office/drawing/2014/main" id="{81EADC8A-44FE-7B86-778E-9BC7486B7359}"/>
                  </a:ext>
                </a:extLst>
              </p:cNvPr>
              <p:cNvSpPr txBox="1"/>
              <p:nvPr/>
            </p:nvSpPr>
            <p:spPr>
              <a:xfrm>
                <a:off x="9731871" y="6357048"/>
                <a:ext cx="1037054" cy="79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4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4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4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4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4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4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8" name="CuadroTexto 18">
                <a:extLst>
                  <a:ext uri="{FF2B5EF4-FFF2-40B4-BE49-F238E27FC236}">
                    <a16:creationId xmlns:a16="http://schemas.microsoft.com/office/drawing/2014/main" id="{A85DF457-33A1-B4E7-BC9D-0FAB61663521}"/>
                  </a:ext>
                </a:extLst>
              </p:cNvPr>
              <p:cNvSpPr txBox="1"/>
              <p:nvPr/>
            </p:nvSpPr>
            <p:spPr>
              <a:xfrm>
                <a:off x="10664144" y="6351114"/>
                <a:ext cx="1037054" cy="974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4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4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4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4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4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4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14" name="CuadroTexto 18">
              <a:extLst>
                <a:ext uri="{FF2B5EF4-FFF2-40B4-BE49-F238E27FC236}">
                  <a16:creationId xmlns:a16="http://schemas.microsoft.com/office/drawing/2014/main" id="{E0609843-E152-F6EE-FB12-48A86226FBEC}"/>
                </a:ext>
              </a:extLst>
            </p:cNvPr>
            <p:cNvSpPr txBox="1"/>
            <p:nvPr/>
          </p:nvSpPr>
          <p:spPr>
            <a:xfrm>
              <a:off x="10378083" y="5793364"/>
              <a:ext cx="855243" cy="531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6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ED4DD929-59E6-9393-BAE3-F135A4981AF0}"/>
              </a:ext>
            </a:extLst>
          </p:cNvPr>
          <p:cNvSpPr txBox="1">
            <a:spLocks/>
          </p:cNvSpPr>
          <p:nvPr/>
        </p:nvSpPr>
        <p:spPr>
          <a:xfrm>
            <a:off x="609355" y="1251962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Abies</a:t>
            </a:r>
            <a:r>
              <a:rPr lang="es-ES" sz="2000" b="1" i="1" dirty="0">
                <a:latin typeface="Helvetica"/>
                <a:cs typeface="Helvetica"/>
              </a:rPr>
              <a:t> alba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2E2ADE40-64FB-AE42-65C3-23B2866762E4}"/>
              </a:ext>
            </a:extLst>
          </p:cNvPr>
          <p:cNvSpPr txBox="1">
            <a:spLocks/>
          </p:cNvSpPr>
          <p:nvPr/>
        </p:nvSpPr>
        <p:spPr>
          <a:xfrm>
            <a:off x="609355" y="1727331"/>
            <a:ext cx="2775195" cy="15371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(site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productivity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SLA (conservative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strategies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 </a:t>
            </a:r>
            <a:r>
              <a:rPr lang="el-GR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 (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increased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WUE)</a:t>
            </a:r>
          </a:p>
          <a:p>
            <a:pPr>
              <a:buClr>
                <a:srgbClr val="218317"/>
              </a:buClr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↓BAI (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lower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endParaRPr lang="es-ES" sz="20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1B30E8D6-F5D8-DED7-DEF6-9E7A21D573B9}"/>
              </a:ext>
            </a:extLst>
          </p:cNvPr>
          <p:cNvSpPr txBox="1">
            <a:spLocks/>
          </p:cNvSpPr>
          <p:nvPr/>
        </p:nvSpPr>
        <p:spPr>
          <a:xfrm>
            <a:off x="356686" y="3289857"/>
            <a:ext cx="231820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</a:t>
            </a:r>
            <a:r>
              <a:rPr lang="es-ES" sz="2000" b="1" i="1" dirty="0" err="1">
                <a:latin typeface="Helvetica"/>
                <a:cs typeface="Helvetica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EE55DCAF-5107-BA3D-3442-347C0BDB7B38}"/>
              </a:ext>
            </a:extLst>
          </p:cNvPr>
          <p:cNvSpPr txBox="1">
            <a:spLocks/>
          </p:cNvSpPr>
          <p:nvPr/>
        </p:nvSpPr>
        <p:spPr>
          <a:xfrm>
            <a:off x="356686" y="3765227"/>
            <a:ext cx="2318208" cy="950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BAI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C06CCC84-9CCB-3CA5-C14F-80F7B88D2BEF}"/>
              </a:ext>
            </a:extLst>
          </p:cNvPr>
          <p:cNvSpPr txBox="1">
            <a:spLocks/>
          </p:cNvSpPr>
          <p:nvPr/>
        </p:nvSpPr>
        <p:spPr>
          <a:xfrm>
            <a:off x="495709" y="4741390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E5342C7B-6CE8-3919-8CB4-B6BF51AC9BBA}"/>
              </a:ext>
            </a:extLst>
          </p:cNvPr>
          <p:cNvSpPr txBox="1">
            <a:spLocks/>
          </p:cNvSpPr>
          <p:nvPr/>
        </p:nvSpPr>
        <p:spPr>
          <a:xfrm>
            <a:off x="419099" y="5310847"/>
            <a:ext cx="2318208" cy="903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SLA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400E36AE-C675-91D8-D4E0-9252D8600150}"/>
              </a:ext>
            </a:extLst>
          </p:cNvPr>
          <p:cNvSpPr txBox="1">
            <a:spLocks/>
          </p:cNvSpPr>
          <p:nvPr/>
        </p:nvSpPr>
        <p:spPr>
          <a:xfrm>
            <a:off x="9676403" y="1290401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Abies</a:t>
            </a:r>
            <a:r>
              <a:rPr lang="es-ES" sz="2000" b="1" i="1" dirty="0">
                <a:latin typeface="Helvetica"/>
                <a:cs typeface="Helvetica"/>
              </a:rPr>
              <a:t> alba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2C61CD2F-5369-BCBC-74D0-CBF63FB52FC2}"/>
              </a:ext>
            </a:extLst>
          </p:cNvPr>
          <p:cNvSpPr txBox="1">
            <a:spLocks/>
          </p:cNvSpPr>
          <p:nvPr/>
        </p:nvSpPr>
        <p:spPr>
          <a:xfrm>
            <a:off x="9676403" y="1765771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7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45D600CF-BEBC-2AC0-1407-C03115D1083C}"/>
              </a:ext>
            </a:extLst>
          </p:cNvPr>
          <p:cNvSpPr txBox="1">
            <a:spLocks/>
          </p:cNvSpPr>
          <p:nvPr/>
        </p:nvSpPr>
        <p:spPr>
          <a:xfrm>
            <a:off x="9460098" y="2714964"/>
            <a:ext cx="231820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</a:t>
            </a:r>
            <a:r>
              <a:rPr lang="es-ES" sz="2000" b="1" i="1" dirty="0" err="1">
                <a:latin typeface="Helvetica"/>
                <a:cs typeface="Helvetica"/>
              </a:rPr>
              <a:t>sylvestris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E3638A6E-4699-2556-B56A-BC7D353F6FDD}"/>
              </a:ext>
            </a:extLst>
          </p:cNvPr>
          <p:cNvSpPr txBox="1">
            <a:spLocks/>
          </p:cNvSpPr>
          <p:nvPr/>
        </p:nvSpPr>
        <p:spPr>
          <a:xfrm>
            <a:off x="9460098" y="3190334"/>
            <a:ext cx="2318208" cy="950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Chl</a:t>
            </a: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</a:t>
            </a:r>
          </a:p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BAI</a:t>
            </a: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D6DC88E7-C690-54C4-0AC2-B017A9C09918}"/>
              </a:ext>
            </a:extLst>
          </p:cNvPr>
          <p:cNvSpPr txBox="1">
            <a:spLocks/>
          </p:cNvSpPr>
          <p:nvPr/>
        </p:nvSpPr>
        <p:spPr>
          <a:xfrm>
            <a:off x="9593716" y="4546471"/>
            <a:ext cx="1767702" cy="366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i="1" dirty="0" err="1">
                <a:latin typeface="Helvetica"/>
                <a:cs typeface="Helvetica"/>
              </a:rPr>
              <a:t>Pinus</a:t>
            </a:r>
            <a:r>
              <a:rPr lang="es-ES" sz="2000" b="1" i="1" dirty="0">
                <a:latin typeface="Helvetica"/>
                <a:cs typeface="Helvetica"/>
              </a:rPr>
              <a:t> pinea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2000" dirty="0">
              <a:latin typeface="Helvetica"/>
              <a:cs typeface="Helvetica"/>
            </a:endParaRP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2CBE08CF-C43E-F383-28CF-B0C11B833C45}"/>
              </a:ext>
            </a:extLst>
          </p:cNvPr>
          <p:cNvSpPr txBox="1">
            <a:spLocks/>
          </p:cNvSpPr>
          <p:nvPr/>
        </p:nvSpPr>
        <p:spPr>
          <a:xfrm>
            <a:off x="9517106" y="5115928"/>
            <a:ext cx="2318208" cy="903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↓ </a:t>
            </a:r>
            <a:r>
              <a:rPr lang="es-ES" sz="17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Chl</a:t>
            </a:r>
            <a:r>
              <a:rPr lang="es-ES" sz="17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0114B34-EF75-E845-D0CB-96716D9725C0}"/>
              </a:ext>
            </a:extLst>
          </p:cNvPr>
          <p:cNvSpPr txBox="1">
            <a:spLocks/>
          </p:cNvSpPr>
          <p:nvPr/>
        </p:nvSpPr>
        <p:spPr>
          <a:xfrm>
            <a:off x="4453625" y="1251962"/>
            <a:ext cx="3583334" cy="1537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sites: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Shorter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trees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, more conservative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strategies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4C730FE-087F-3233-2184-F266CBA121FD}"/>
              </a:ext>
            </a:extLst>
          </p:cNvPr>
          <p:cNvSpPr/>
          <p:nvPr/>
        </p:nvSpPr>
        <p:spPr>
          <a:xfrm>
            <a:off x="3480317" y="1164441"/>
            <a:ext cx="751333" cy="4676521"/>
          </a:xfrm>
          <a:prstGeom prst="rightBrace">
            <a:avLst>
              <a:gd name="adj1" fmla="val 8333"/>
              <a:gd name="adj2" fmla="val 10295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B9BC3EB0-ED34-6567-C07C-B89F559D39DF}"/>
              </a:ext>
            </a:extLst>
          </p:cNvPr>
          <p:cNvSpPr txBox="1">
            <a:spLocks/>
          </p:cNvSpPr>
          <p:nvPr/>
        </p:nvSpPr>
        <p:spPr>
          <a:xfrm>
            <a:off x="4453625" y="3429000"/>
            <a:ext cx="3583334" cy="1537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trees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</a:t>
            </a: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Lower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chlorophyll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and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6725FDAC-620B-A35E-96AF-7F5B79C4968A}"/>
              </a:ext>
            </a:extLst>
          </p:cNvPr>
          <p:cNvSpPr/>
          <p:nvPr/>
        </p:nvSpPr>
        <p:spPr>
          <a:xfrm rot="10800000">
            <a:off x="8262694" y="1201037"/>
            <a:ext cx="751333" cy="4676521"/>
          </a:xfrm>
          <a:prstGeom prst="rightBrace">
            <a:avLst>
              <a:gd name="adj1" fmla="val 8333"/>
              <a:gd name="adj2" fmla="val 39624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126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6A4E-9E87-C982-8842-450732B8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BEC0-DFE9-0CB0-CC7B-61090BE61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EEA2D664-8232-908F-A858-FF9A577A9B41}"/>
              </a:ext>
            </a:extLst>
          </p:cNvPr>
          <p:cNvSpPr txBox="1">
            <a:spLocks/>
          </p:cNvSpPr>
          <p:nvPr/>
        </p:nvSpPr>
        <p:spPr>
          <a:xfrm>
            <a:off x="7198299" y="1578228"/>
            <a:ext cx="3850107" cy="7379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4000" b="1" dirty="0" err="1">
                <a:latin typeface="Helvetica"/>
                <a:cs typeface="Helvetica"/>
              </a:rPr>
              <a:t>PCAs</a:t>
            </a:r>
            <a:endParaRPr lang="es-ES" sz="4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4000" dirty="0">
              <a:latin typeface="Helvetica"/>
              <a:cs typeface="Helvetic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9D7AD-E7CE-772A-240B-4851A4664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277" y="1163495"/>
            <a:ext cx="5494176" cy="5494176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19E76D6E-F00B-363D-7203-6D05E84F19F7}"/>
              </a:ext>
            </a:extLst>
          </p:cNvPr>
          <p:cNvSpPr txBox="1">
            <a:spLocks/>
          </p:cNvSpPr>
          <p:nvPr/>
        </p:nvSpPr>
        <p:spPr>
          <a:xfrm>
            <a:off x="1560931" y="1328614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400" b="1" i="1" dirty="0" err="1">
                <a:latin typeface="Helvetica"/>
                <a:cs typeface="Helvetica"/>
              </a:rPr>
              <a:t>Abies</a:t>
            </a:r>
            <a:r>
              <a:rPr lang="es-ES" sz="1400" b="1" i="1" dirty="0">
                <a:latin typeface="Helvetica"/>
                <a:cs typeface="Helvetica"/>
              </a:rPr>
              <a:t> alba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400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D4F31AD-8952-74D5-34B6-98286FE57BC2}"/>
              </a:ext>
            </a:extLst>
          </p:cNvPr>
          <p:cNvSpPr txBox="1">
            <a:spLocks/>
          </p:cNvSpPr>
          <p:nvPr/>
        </p:nvSpPr>
        <p:spPr>
          <a:xfrm>
            <a:off x="4379615" y="1328614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400" b="1" i="1" dirty="0">
                <a:latin typeface="Helvetica"/>
                <a:cs typeface="Helvetica"/>
              </a:rPr>
              <a:t>P. </a:t>
            </a:r>
            <a:r>
              <a:rPr lang="es-ES" sz="1400" b="1" i="1" dirty="0" err="1">
                <a:latin typeface="Helvetica"/>
                <a:cs typeface="Helvetica"/>
              </a:rPr>
              <a:t>sylvestris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400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EEAD00F-25C4-8469-981B-2F3DC9708170}"/>
              </a:ext>
            </a:extLst>
          </p:cNvPr>
          <p:cNvSpPr txBox="1">
            <a:spLocks/>
          </p:cNvSpPr>
          <p:nvPr/>
        </p:nvSpPr>
        <p:spPr>
          <a:xfrm>
            <a:off x="1560931" y="4081743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400" b="1" i="1" dirty="0">
                <a:latin typeface="Helvetica"/>
                <a:cs typeface="Helvetica"/>
              </a:rPr>
              <a:t>P. pinea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400" dirty="0">
              <a:latin typeface="Helvetica"/>
              <a:cs typeface="Helvetica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400EFF2-9D7C-C204-C92B-9A28ECC12150}"/>
              </a:ext>
            </a:extLst>
          </p:cNvPr>
          <p:cNvSpPr txBox="1">
            <a:spLocks/>
          </p:cNvSpPr>
          <p:nvPr/>
        </p:nvSpPr>
        <p:spPr>
          <a:xfrm>
            <a:off x="7375623" y="2363592"/>
            <a:ext cx="3850107" cy="134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000" dirty="0" err="1">
                <a:latin typeface="Helvetica"/>
                <a:cs typeface="Helvetica"/>
              </a:rPr>
              <a:t>Existence</a:t>
            </a:r>
            <a:r>
              <a:rPr lang="es-ES" sz="3000" dirty="0">
                <a:latin typeface="Helvetica"/>
                <a:cs typeface="Helvetica"/>
              </a:rPr>
              <a:t> </a:t>
            </a:r>
            <a:r>
              <a:rPr lang="es-ES" sz="3000" dirty="0" err="1">
                <a:latin typeface="Helvetica"/>
                <a:cs typeface="Helvetica"/>
              </a:rPr>
              <a:t>of</a:t>
            </a:r>
            <a:r>
              <a:rPr lang="es-ES" sz="3000" dirty="0">
                <a:latin typeface="Helvetica"/>
                <a:cs typeface="Helvetica"/>
              </a:rPr>
              <a:t> a global </a:t>
            </a:r>
            <a:r>
              <a:rPr lang="es-ES" sz="3000" dirty="0" err="1">
                <a:latin typeface="Helvetica"/>
                <a:cs typeface="Helvetica"/>
              </a:rPr>
              <a:t>plant</a:t>
            </a:r>
            <a:r>
              <a:rPr lang="es-ES" sz="3000" dirty="0">
                <a:latin typeface="Helvetica"/>
                <a:cs typeface="Helvetica"/>
              </a:rPr>
              <a:t> </a:t>
            </a:r>
            <a:r>
              <a:rPr lang="es-ES" sz="3000" dirty="0" err="1">
                <a:latin typeface="Helvetica"/>
                <a:cs typeface="Helvetica"/>
              </a:rPr>
              <a:t>traits</a:t>
            </a:r>
            <a:r>
              <a:rPr lang="es-ES" sz="3000" dirty="0">
                <a:latin typeface="Helvetica"/>
                <a:cs typeface="Helvetica"/>
              </a:rPr>
              <a:t> </a:t>
            </a:r>
            <a:r>
              <a:rPr lang="es-ES" sz="3000" dirty="0" err="1">
                <a:latin typeface="Helvetica"/>
                <a:cs typeface="Helvetica"/>
              </a:rPr>
              <a:t>spectrum</a:t>
            </a:r>
            <a:r>
              <a:rPr lang="es-ES" sz="3000" dirty="0">
                <a:latin typeface="Helvetica"/>
                <a:cs typeface="Helvetica"/>
              </a:rPr>
              <a:t>!</a:t>
            </a:r>
            <a:endParaRPr lang="es-ES" sz="3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4000" dirty="0">
              <a:latin typeface="Helvetica"/>
              <a:cs typeface="Helvetica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9E53F1-8778-49BC-DB5A-EEA57065A97A}"/>
              </a:ext>
            </a:extLst>
          </p:cNvPr>
          <p:cNvCxnSpPr/>
          <p:nvPr/>
        </p:nvCxnSpPr>
        <p:spPr>
          <a:xfrm flipV="1">
            <a:off x="1175657" y="1328614"/>
            <a:ext cx="2834112" cy="1909108"/>
          </a:xfrm>
          <a:prstGeom prst="line">
            <a:avLst/>
          </a:prstGeom>
          <a:ln w="28575">
            <a:solidFill>
              <a:srgbClr val="FF0909">
                <a:alpha val="50196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AE7B05-FD9E-7CFF-DD7F-29C6C4A176CA}"/>
              </a:ext>
            </a:extLst>
          </p:cNvPr>
          <p:cNvCxnSpPr/>
          <p:nvPr/>
        </p:nvCxnSpPr>
        <p:spPr>
          <a:xfrm flipV="1">
            <a:off x="3994341" y="1320707"/>
            <a:ext cx="2834112" cy="1909108"/>
          </a:xfrm>
          <a:prstGeom prst="line">
            <a:avLst/>
          </a:prstGeom>
          <a:ln w="28575">
            <a:solidFill>
              <a:srgbClr val="FF0909">
                <a:alpha val="50196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A0D59-7579-DE97-A3D8-F8BC7170999C}"/>
              </a:ext>
            </a:extLst>
          </p:cNvPr>
          <p:cNvCxnSpPr/>
          <p:nvPr/>
        </p:nvCxnSpPr>
        <p:spPr>
          <a:xfrm flipV="1">
            <a:off x="1888733" y="4265146"/>
            <a:ext cx="2834112" cy="1909108"/>
          </a:xfrm>
          <a:prstGeom prst="line">
            <a:avLst/>
          </a:prstGeom>
          <a:ln w="28575">
            <a:solidFill>
              <a:srgbClr val="FF0909">
                <a:alpha val="50196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498BE06-5F66-CCBC-60DF-477B2D034C11}"/>
              </a:ext>
            </a:extLst>
          </p:cNvPr>
          <p:cNvSpPr txBox="1">
            <a:spLocks/>
          </p:cNvSpPr>
          <p:nvPr/>
        </p:nvSpPr>
        <p:spPr>
          <a:xfrm>
            <a:off x="5104102" y="4081743"/>
            <a:ext cx="6267386" cy="134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Temperate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: PC1 – </a:t>
            </a:r>
            <a:r>
              <a:rPr lang="es-ES" sz="2400" dirty="0" err="1">
                <a:latin typeface="Helvetica"/>
                <a:cs typeface="Helvetica"/>
              </a:rPr>
              <a:t>resource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acquisition</a:t>
            </a:r>
            <a:r>
              <a:rPr lang="es-ES" sz="2400" dirty="0">
                <a:latin typeface="Helvetica"/>
                <a:cs typeface="Helvetica"/>
              </a:rPr>
              <a:t> / PC2 -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Taller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 ‘</a:t>
            </a:r>
            <a:r>
              <a:rPr lang="es-ES" sz="2400" dirty="0" err="1">
                <a:latin typeface="Helvetica"/>
                <a:cs typeface="Helvetica"/>
              </a:rPr>
              <a:t>faster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strategies</a:t>
            </a:r>
            <a:r>
              <a:rPr lang="es-ES" sz="2400" dirty="0">
                <a:latin typeface="Helvetica"/>
                <a:cs typeface="Helvetica"/>
              </a:rPr>
              <a:t>’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66CCDCB2-1B35-3F95-443D-0000F3075E2B}"/>
              </a:ext>
            </a:extLst>
          </p:cNvPr>
          <p:cNvSpPr txBox="1">
            <a:spLocks/>
          </p:cNvSpPr>
          <p:nvPr/>
        </p:nvSpPr>
        <p:spPr>
          <a:xfrm>
            <a:off x="5104102" y="5369707"/>
            <a:ext cx="6267386" cy="1343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Mediterranean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species</a:t>
            </a:r>
            <a:r>
              <a:rPr lang="es-ES" sz="2400" dirty="0">
                <a:latin typeface="Helvetica"/>
                <a:cs typeface="Helvetica"/>
              </a:rPr>
              <a:t>: PC1 – </a:t>
            </a:r>
            <a:r>
              <a:rPr lang="es-ES" sz="2400" dirty="0" err="1">
                <a:latin typeface="Helvetica"/>
                <a:cs typeface="Helvetica"/>
              </a:rPr>
              <a:t>resource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acquisition</a:t>
            </a:r>
            <a:r>
              <a:rPr lang="es-ES" sz="2400" dirty="0">
                <a:latin typeface="Helvetica"/>
                <a:cs typeface="Helvetica"/>
              </a:rPr>
              <a:t>?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Taller </a:t>
            </a:r>
            <a:r>
              <a:rPr lang="es-ES" sz="2400" dirty="0" err="1">
                <a:latin typeface="Helvetica"/>
                <a:cs typeface="Helvetica"/>
              </a:rPr>
              <a:t>trees</a:t>
            </a:r>
            <a:r>
              <a:rPr lang="es-ES" sz="2400" dirty="0">
                <a:latin typeface="Helvetica"/>
                <a:cs typeface="Helvetica"/>
              </a:rPr>
              <a:t> ‘</a:t>
            </a:r>
            <a:r>
              <a:rPr lang="es-ES" sz="2400" dirty="0" err="1">
                <a:latin typeface="Helvetica"/>
                <a:cs typeface="Helvetica"/>
              </a:rPr>
              <a:t>slower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strategies</a:t>
            </a:r>
            <a:r>
              <a:rPr lang="es-ES" sz="2400" dirty="0">
                <a:latin typeface="Helvetica"/>
                <a:cs typeface="Helvetica"/>
              </a:rPr>
              <a:t>’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9105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C3E6E-B7A7-FFF5-0AD9-98A84432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7356-EDAF-56A5-8806-02E0D4DD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1CB17504-F64A-7414-A2CF-46DFB8CC8BF2}"/>
              </a:ext>
            </a:extLst>
          </p:cNvPr>
          <p:cNvSpPr txBox="1">
            <a:spLocks/>
          </p:cNvSpPr>
          <p:nvPr/>
        </p:nvSpPr>
        <p:spPr>
          <a:xfrm>
            <a:off x="1346139" y="2324988"/>
            <a:ext cx="8910381" cy="21708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Two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options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742950" indent="-742950" algn="just">
              <a:buClr>
                <a:srgbClr val="218317"/>
              </a:buClr>
              <a:buAutoNum type="arabicParenBoth"/>
            </a:pPr>
            <a:r>
              <a:rPr lang="es-ES" sz="2400" b="1" dirty="0" err="1">
                <a:latin typeface="Helvetica"/>
                <a:cs typeface="Helvetica"/>
              </a:rPr>
              <a:t>Different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PCAs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check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how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ordination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changes</a:t>
            </a:r>
            <a:r>
              <a:rPr lang="es-ES" sz="2400" b="1" dirty="0">
                <a:latin typeface="Helvetica"/>
                <a:cs typeface="Helvetica"/>
              </a:rPr>
              <a:t>.</a:t>
            </a:r>
          </a:p>
          <a:p>
            <a:pPr marL="742950" indent="-742950" algn="just">
              <a:buClr>
                <a:srgbClr val="218317"/>
              </a:buClr>
              <a:buAutoNum type="arabicParenBoth"/>
            </a:pPr>
            <a:r>
              <a:rPr lang="es-ES" sz="2400" b="1" dirty="0">
                <a:latin typeface="Helvetica"/>
                <a:cs typeface="Helvetica"/>
              </a:rPr>
              <a:t>PCA </a:t>
            </a:r>
            <a:r>
              <a:rPr lang="es-ES" sz="2400" b="1" dirty="0" err="1">
                <a:latin typeface="Helvetica"/>
                <a:cs typeface="Helvetica"/>
              </a:rPr>
              <a:t>all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together</a:t>
            </a:r>
            <a:endParaRPr lang="es-ES" sz="2400" b="1" dirty="0">
              <a:latin typeface="Helvetica"/>
              <a:cs typeface="Helvetica"/>
            </a:endParaRPr>
          </a:p>
          <a:p>
            <a:pPr marL="0" indent="0" algn="just">
              <a:buClr>
                <a:srgbClr val="218317"/>
              </a:buClr>
              <a:buNone/>
            </a:pPr>
            <a:endParaRPr lang="es-ES" sz="2400" b="1" dirty="0">
              <a:latin typeface="Helvetica"/>
              <a:cs typeface="Helvetica"/>
            </a:endParaRPr>
          </a:p>
          <a:p>
            <a:pPr marL="0" indent="0" algn="just">
              <a:buClr>
                <a:srgbClr val="218317"/>
              </a:buClr>
              <a:buNone/>
            </a:pPr>
            <a:endParaRPr lang="es-ES" sz="2400" b="1" dirty="0">
              <a:latin typeface="Helvetica"/>
              <a:cs typeface="Helvetica"/>
            </a:endParaRPr>
          </a:p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done </a:t>
            </a:r>
            <a:r>
              <a:rPr lang="es-ES" sz="2400" b="1" dirty="0" err="1">
                <a:latin typeface="Helvetica"/>
                <a:cs typeface="Helvetica"/>
              </a:rPr>
              <a:t>both</a:t>
            </a:r>
            <a:r>
              <a:rPr lang="es-ES" sz="2400" b="1" dirty="0">
                <a:latin typeface="Helvetica"/>
                <a:cs typeface="Helvetica"/>
              </a:rPr>
              <a:t>! </a:t>
            </a:r>
            <a:r>
              <a:rPr lang="es-ES" sz="2400" b="1" dirty="0" err="1">
                <a:latin typeface="Helvetica"/>
                <a:cs typeface="Helvetica"/>
              </a:rPr>
              <a:t>But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nice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results</a:t>
            </a:r>
            <a:r>
              <a:rPr lang="es-ES" sz="2400" b="1" dirty="0">
                <a:latin typeface="Helvetica"/>
                <a:cs typeface="Helvetica"/>
              </a:rPr>
              <a:t> come </a:t>
            </a:r>
            <a:r>
              <a:rPr lang="es-ES" sz="2400" b="1" dirty="0" err="1">
                <a:latin typeface="Helvetica"/>
                <a:cs typeface="Helvetica"/>
              </a:rPr>
              <a:t>from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the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first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b="1" dirty="0" err="1">
                <a:latin typeface="Helvetica"/>
                <a:cs typeface="Helvetica"/>
              </a:rPr>
              <a:t>because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ordination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changes</a:t>
            </a:r>
            <a:r>
              <a:rPr lang="es-ES" sz="2400" b="1" dirty="0">
                <a:latin typeface="Helvetica"/>
                <a:cs typeface="Helvetica"/>
              </a:rPr>
              <a:t>.</a:t>
            </a:r>
          </a:p>
          <a:p>
            <a:pPr marL="742950" indent="-742950" algn="just">
              <a:buClr>
                <a:srgbClr val="218317"/>
              </a:buClr>
              <a:buAutoNum type="arabicParenBoth"/>
            </a:pPr>
            <a:endParaRPr lang="es-ES" sz="2400" b="1" dirty="0">
              <a:latin typeface="Helvetica"/>
              <a:cs typeface="Helvetica"/>
            </a:endParaRPr>
          </a:p>
          <a:p>
            <a:pPr marL="742950" indent="-742950" algn="just">
              <a:buClr>
                <a:srgbClr val="218317"/>
              </a:buClr>
              <a:buAutoNum type="arabicParenBoth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buClr>
                <a:srgbClr val="218317"/>
              </a:buClr>
              <a:buNone/>
            </a:pPr>
            <a:endParaRPr lang="es-ES" sz="24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81559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5EB73-49FA-81E9-6A86-DFBA8DB0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40AC-0AC7-519C-A3CD-AEDB9BE0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25397"/>
            <a:ext cx="11353801" cy="807474"/>
          </a:xfrm>
        </p:spPr>
        <p:txBody>
          <a:bodyPr>
            <a:noAutofit/>
          </a:bodyPr>
          <a:lstStyle/>
          <a:p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. 2: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b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(in non-decline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three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LES +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clorophyll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, WUE)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2CFB7-4CCB-1AA6-BD03-43CAF9B17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56"/>
          <a:stretch>
            <a:fillRect/>
          </a:stretch>
        </p:blipFill>
        <p:spPr>
          <a:xfrm>
            <a:off x="1384170" y="1313383"/>
            <a:ext cx="9423659" cy="3825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CE4950-9A19-FEAE-99B8-600CB5158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8" t="93333" r="34529" b="2323"/>
          <a:stretch>
            <a:fillRect/>
          </a:stretch>
        </p:blipFill>
        <p:spPr>
          <a:xfrm rot="16200000">
            <a:off x="10203182" y="2814900"/>
            <a:ext cx="2331720" cy="545897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D7F749C8-D8E1-E87C-0569-EB8841CC0D6E}"/>
              </a:ext>
            </a:extLst>
          </p:cNvPr>
          <p:cNvSpPr txBox="1">
            <a:spLocks/>
          </p:cNvSpPr>
          <p:nvPr/>
        </p:nvSpPr>
        <p:spPr>
          <a:xfrm rot="16200000">
            <a:off x="-491007" y="2425066"/>
            <a:ext cx="2448838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Abies</a:t>
            </a:r>
            <a:r>
              <a:rPr lang="es-ES" b="1" i="1" dirty="0">
                <a:latin typeface="Helvetica"/>
                <a:cs typeface="Helvetica"/>
              </a:rPr>
              <a:t> alba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dirty="0">
              <a:latin typeface="Helvetica"/>
              <a:cs typeface="Helvetica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11284707-50F8-244F-73EA-A84C138CE98A}"/>
              </a:ext>
            </a:extLst>
          </p:cNvPr>
          <p:cNvSpPr txBox="1">
            <a:spLocks/>
          </p:cNvSpPr>
          <p:nvPr/>
        </p:nvSpPr>
        <p:spPr>
          <a:xfrm>
            <a:off x="916816" y="5417432"/>
            <a:ext cx="3931570" cy="12134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Drought-induced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decline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collapses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Yu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2022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8B35BA92-89B9-BF11-C8A7-00D46814F2ED}"/>
              </a:ext>
            </a:extLst>
          </p:cNvPr>
          <p:cNvSpPr txBox="1">
            <a:spLocks/>
          </p:cNvSpPr>
          <p:nvPr/>
        </p:nvSpPr>
        <p:spPr>
          <a:xfrm>
            <a:off x="4757505" y="5397721"/>
            <a:ext cx="3596503" cy="8526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determined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by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resource</a:t>
            </a:r>
            <a:r>
              <a:rPr lang="es-ES" sz="2400" dirty="0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acquisition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DA6C19A1-8685-DBC5-6671-0B30D943E933}"/>
              </a:ext>
            </a:extLst>
          </p:cNvPr>
          <p:cNvSpPr txBox="1">
            <a:spLocks/>
          </p:cNvSpPr>
          <p:nvPr/>
        </p:nvSpPr>
        <p:spPr>
          <a:xfrm>
            <a:off x="8176397" y="5397721"/>
            <a:ext cx="3596503" cy="8526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limited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by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stomatal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regulation</a:t>
            </a:r>
            <a:endParaRPr lang="es-ES" sz="24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C4A178-E465-F429-D368-BA5EBBF0485E}"/>
              </a:ext>
            </a:extLst>
          </p:cNvPr>
          <p:cNvSpPr/>
          <p:nvPr/>
        </p:nvSpPr>
        <p:spPr>
          <a:xfrm rot="1382455">
            <a:off x="8537511" y="1703417"/>
            <a:ext cx="513183" cy="29179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C45BD1-86B5-385E-27C8-B7A1E8D9C734}"/>
              </a:ext>
            </a:extLst>
          </p:cNvPr>
          <p:cNvSpPr/>
          <p:nvPr/>
        </p:nvSpPr>
        <p:spPr>
          <a:xfrm rot="12883266">
            <a:off x="6176566" y="1183898"/>
            <a:ext cx="969220" cy="2244453"/>
          </a:xfrm>
          <a:prstGeom prst="ellipse">
            <a:avLst/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17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9C3FA-2D50-2078-87BE-13ABB0ED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8D1FB30-F7F2-8501-3637-0B0906710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40" b="39184"/>
          <a:stretch>
            <a:fillRect/>
          </a:stretch>
        </p:blipFill>
        <p:spPr>
          <a:xfrm>
            <a:off x="1384170" y="1313382"/>
            <a:ext cx="9413837" cy="38252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F85E40-8E4B-909C-F998-487927F36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8" t="93333" r="34529" b="2323"/>
          <a:stretch>
            <a:fillRect/>
          </a:stretch>
        </p:blipFill>
        <p:spPr>
          <a:xfrm rot="16200000">
            <a:off x="10203182" y="2814900"/>
            <a:ext cx="2331720" cy="545897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696EC30-5C34-171A-B3BE-AB4153936C85}"/>
              </a:ext>
            </a:extLst>
          </p:cNvPr>
          <p:cNvSpPr txBox="1">
            <a:spLocks/>
          </p:cNvSpPr>
          <p:nvPr/>
        </p:nvSpPr>
        <p:spPr>
          <a:xfrm>
            <a:off x="4635975" y="5675879"/>
            <a:ext cx="3596503" cy="8849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limited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stomatal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regulation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ACBA158-C93F-B54A-B04F-137938D88F21}"/>
              </a:ext>
            </a:extLst>
          </p:cNvPr>
          <p:cNvSpPr txBox="1">
            <a:spLocks/>
          </p:cNvSpPr>
          <p:nvPr/>
        </p:nvSpPr>
        <p:spPr>
          <a:xfrm>
            <a:off x="7841330" y="5675879"/>
            <a:ext cx="3931570" cy="12134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LES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preserved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even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decline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conditions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08FF7465-39FF-2437-4C59-15CD986C9225}"/>
              </a:ext>
            </a:extLst>
          </p:cNvPr>
          <p:cNvSpPr txBox="1">
            <a:spLocks/>
          </p:cNvSpPr>
          <p:nvPr/>
        </p:nvSpPr>
        <p:spPr>
          <a:xfrm>
            <a:off x="935841" y="5544618"/>
            <a:ext cx="3596503" cy="8849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 ‘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slow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’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strategy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C19B19-4C30-5947-F9C3-A79FA8E50429}"/>
              </a:ext>
            </a:extLst>
          </p:cNvPr>
          <p:cNvSpPr/>
          <p:nvPr/>
        </p:nvSpPr>
        <p:spPr>
          <a:xfrm>
            <a:off x="6786464" y="3746240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1D10F5-EE42-0B89-03D9-CA722902D1A8}"/>
              </a:ext>
            </a:extLst>
          </p:cNvPr>
          <p:cNvSpPr/>
          <p:nvPr/>
        </p:nvSpPr>
        <p:spPr>
          <a:xfrm>
            <a:off x="10093718" y="2862106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DC23A373-0A9C-829B-D6C5-EDB193D64EB8}"/>
              </a:ext>
            </a:extLst>
          </p:cNvPr>
          <p:cNvSpPr txBox="1">
            <a:spLocks/>
          </p:cNvSpPr>
          <p:nvPr/>
        </p:nvSpPr>
        <p:spPr>
          <a:xfrm rot="16200000">
            <a:off x="-753261" y="2687320"/>
            <a:ext cx="297334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sylvestris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dirty="0">
              <a:latin typeface="Helvetica"/>
              <a:cs typeface="Helvetica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6F7BA1-8FC8-C6D8-A689-FD1BA195684E}"/>
              </a:ext>
            </a:extLst>
          </p:cNvPr>
          <p:cNvSpPr txBox="1">
            <a:spLocks/>
          </p:cNvSpPr>
          <p:nvPr/>
        </p:nvSpPr>
        <p:spPr>
          <a:xfrm>
            <a:off x="419099" y="125397"/>
            <a:ext cx="11353801" cy="8074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. 2: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b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(in non-decline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three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LES +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clorophyll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, WUE)</a:t>
            </a:r>
          </a:p>
        </p:txBody>
      </p:sp>
    </p:spTree>
    <p:extLst>
      <p:ext uri="{BB962C8B-B14F-4D97-AF65-F5344CB8AC3E}">
        <p14:creationId xmlns:p14="http://schemas.microsoft.com/office/powerpoint/2010/main" val="3163407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7DD9-595A-E9C2-13C8-DE62FC6F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48CC2A-089A-9F0E-2741-703E0F374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08" b="8848"/>
          <a:stretch>
            <a:fillRect/>
          </a:stretch>
        </p:blipFill>
        <p:spPr>
          <a:xfrm>
            <a:off x="1384170" y="1313383"/>
            <a:ext cx="9423659" cy="3825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50314F-6E20-81B7-EE6C-FFBF66D5D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8" t="93333" r="34529" b="2323"/>
          <a:stretch>
            <a:fillRect/>
          </a:stretch>
        </p:blipFill>
        <p:spPr>
          <a:xfrm rot="16200000">
            <a:off x="10203182" y="2814900"/>
            <a:ext cx="2331720" cy="545897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C6CB505-6324-C5CF-568B-75017E46A016}"/>
              </a:ext>
            </a:extLst>
          </p:cNvPr>
          <p:cNvSpPr txBox="1">
            <a:spLocks/>
          </p:cNvSpPr>
          <p:nvPr/>
        </p:nvSpPr>
        <p:spPr>
          <a:xfrm rot="16200000">
            <a:off x="-753261" y="2687320"/>
            <a:ext cx="297334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pinea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dirty="0">
              <a:latin typeface="Helvetica"/>
              <a:cs typeface="Helvetica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78BDA7D-D3B9-21D0-5A08-51DF2EC34F77}"/>
              </a:ext>
            </a:extLst>
          </p:cNvPr>
          <p:cNvSpPr txBox="1">
            <a:spLocks/>
          </p:cNvSpPr>
          <p:nvPr/>
        </p:nvSpPr>
        <p:spPr>
          <a:xfrm>
            <a:off x="4297747" y="5312224"/>
            <a:ext cx="3596503" cy="17323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Larger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trees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‘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slower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’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strategies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Trade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-off </a:t>
            </a:r>
            <a:r>
              <a:rPr lang="es-ES" sz="2400" dirty="0" err="1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solidFill>
                  <a:srgbClr val="C0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-PS</a:t>
            </a:r>
            <a:endParaRPr lang="es-ES" sz="24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BC47F7-E5E6-E1DF-215D-1251505EA638}"/>
              </a:ext>
            </a:extLst>
          </p:cNvPr>
          <p:cNvSpPr txBox="1">
            <a:spLocks/>
          </p:cNvSpPr>
          <p:nvPr/>
        </p:nvSpPr>
        <p:spPr>
          <a:xfrm>
            <a:off x="419099" y="125397"/>
            <a:ext cx="11353801" cy="8074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. 2: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Mediterranean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+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+ WUE,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LES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coordinated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0D3FAD-2711-B4C0-DED2-7EFCD0FAA120}"/>
              </a:ext>
            </a:extLst>
          </p:cNvPr>
          <p:cNvSpPr/>
          <p:nvPr/>
        </p:nvSpPr>
        <p:spPr>
          <a:xfrm>
            <a:off x="9231084" y="1384050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EE91D-F7F3-F20B-FE5C-7FE20F76181B}"/>
              </a:ext>
            </a:extLst>
          </p:cNvPr>
          <p:cNvSpPr/>
          <p:nvPr/>
        </p:nvSpPr>
        <p:spPr>
          <a:xfrm>
            <a:off x="8767663" y="4559568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023D6B-1008-8FA0-29A6-613DFF3DD832}"/>
              </a:ext>
            </a:extLst>
          </p:cNvPr>
          <p:cNvSpPr/>
          <p:nvPr/>
        </p:nvSpPr>
        <p:spPr>
          <a:xfrm>
            <a:off x="6204855" y="2593919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B2F6CE-A374-5482-10BF-840EA5916B6B}"/>
              </a:ext>
            </a:extLst>
          </p:cNvPr>
          <p:cNvSpPr/>
          <p:nvPr/>
        </p:nvSpPr>
        <p:spPr>
          <a:xfrm>
            <a:off x="4929671" y="4081092"/>
            <a:ext cx="578498" cy="345233"/>
          </a:xfrm>
          <a:prstGeom prst="ellipse">
            <a:avLst/>
          </a:prstGeom>
          <a:noFill/>
          <a:ln w="28575">
            <a:solidFill>
              <a:srgbClr val="FF09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6DDD73D-3ABB-A866-9A39-9F6F2887F820}"/>
              </a:ext>
            </a:extLst>
          </p:cNvPr>
          <p:cNvSpPr txBox="1">
            <a:spLocks/>
          </p:cNvSpPr>
          <p:nvPr/>
        </p:nvSpPr>
        <p:spPr>
          <a:xfrm>
            <a:off x="8443649" y="5351607"/>
            <a:ext cx="3596503" cy="17323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N-SLA?</a:t>
            </a:r>
          </a:p>
        </p:txBody>
      </p:sp>
    </p:spTree>
    <p:extLst>
      <p:ext uri="{BB962C8B-B14F-4D97-AF65-F5344CB8AC3E}">
        <p14:creationId xmlns:p14="http://schemas.microsoft.com/office/powerpoint/2010/main" val="3922684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tails are in the caption following the image">
            <a:extLst>
              <a:ext uri="{FF2B5EF4-FFF2-40B4-BE49-F238E27FC236}">
                <a16:creationId xmlns:a16="http://schemas.microsoft.com/office/drawing/2014/main" id="{4BEB4700-95DF-B8D8-DABA-A3D0F671E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092" y="4090049"/>
            <a:ext cx="3232055" cy="252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6B115F-E3B5-740F-510C-5B8100D5C1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67" t="31703" r="58667" b="9629"/>
          <a:stretch>
            <a:fillRect/>
          </a:stretch>
        </p:blipFill>
        <p:spPr>
          <a:xfrm>
            <a:off x="8483600" y="0"/>
            <a:ext cx="3495040" cy="4023360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49D8B786-E55E-D358-AAFD-5CD222E5E986}"/>
              </a:ext>
            </a:extLst>
          </p:cNvPr>
          <p:cNvSpPr txBox="1">
            <a:spLocks/>
          </p:cNvSpPr>
          <p:nvPr/>
        </p:nvSpPr>
        <p:spPr>
          <a:xfrm>
            <a:off x="6165393" y="157278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Soheili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2023</a:t>
            </a:r>
          </a:p>
          <a:p>
            <a:pPr marL="0" indent="0" algn="r">
              <a:buClr>
                <a:srgbClr val="218317"/>
              </a:buClr>
              <a:buNone/>
            </a:pP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Healthy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hollow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 vs.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(full)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oaks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.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parenchyma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anatomy</a:t>
            </a:r>
            <a:endParaRPr lang="es-ES" sz="16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pic>
        <p:nvPicPr>
          <p:cNvPr id="1028" name="Picture 4" descr="figure 3">
            <a:extLst>
              <a:ext uri="{FF2B5EF4-FFF2-40B4-BE49-F238E27FC236}">
                <a16:creationId xmlns:a16="http://schemas.microsoft.com/office/drawing/2014/main" id="{07697A91-A110-FFDB-C5E8-364B21288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16" y="157278"/>
            <a:ext cx="2707844" cy="511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2040EAC-1BB9-EFEA-31B0-3EAF57571059}"/>
              </a:ext>
            </a:extLst>
          </p:cNvPr>
          <p:cNvSpPr txBox="1">
            <a:spLocks/>
          </p:cNvSpPr>
          <p:nvPr/>
        </p:nvSpPr>
        <p:spPr>
          <a:xfrm>
            <a:off x="2842260" y="401118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Yu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2023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Control (AM) vs.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Moderate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(MW) vs. Severe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warming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(SW)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F5C3DD8-0CD4-E82F-6ABF-F0221C215D0F}"/>
              </a:ext>
            </a:extLst>
          </p:cNvPr>
          <p:cNvSpPr txBox="1">
            <a:spLocks/>
          </p:cNvSpPr>
          <p:nvPr/>
        </p:nvSpPr>
        <p:spPr>
          <a:xfrm>
            <a:off x="3777793" y="2153718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Luong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&amp; </a:t>
            </a:r>
            <a:r>
              <a:rPr lang="es-ES" sz="1600" b="1" i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Loik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2022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Different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stress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treatments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C3 and C4 Californian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grasses</a:t>
            </a:r>
            <a:endParaRPr lang="es-ES" sz="16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pic>
        <p:nvPicPr>
          <p:cNvPr id="1030" name="Picture 6" descr="Details are in the caption following the image">
            <a:extLst>
              <a:ext uri="{FF2B5EF4-FFF2-40B4-BE49-F238E27FC236}">
                <a16:creationId xmlns:a16="http://schemas.microsoft.com/office/drawing/2014/main" id="{4A779747-900D-C429-DBF4-CAE323218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975" y="3260258"/>
            <a:ext cx="3096418" cy="344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69D118E-7A14-CCD1-32A1-648B50A1ADD6}"/>
              </a:ext>
            </a:extLst>
          </p:cNvPr>
          <p:cNvSpPr txBox="1">
            <a:spLocks/>
          </p:cNvSpPr>
          <p:nvPr/>
        </p:nvSpPr>
        <p:spPr>
          <a:xfrm>
            <a:off x="6296885" y="5086951"/>
            <a:ext cx="2318207" cy="12752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Rosas </a:t>
            </a:r>
            <a:r>
              <a:rPr lang="es-ES" sz="1600" b="1" i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et al. 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2021</a:t>
            </a:r>
          </a:p>
          <a:p>
            <a:pPr marL="0" indent="0" algn="r">
              <a:buClr>
                <a:srgbClr val="218317"/>
              </a:buClr>
              <a:buNone/>
            </a:pP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Mediterranean</a:t>
            </a:r>
            <a:r>
              <a:rPr lang="es-ES" sz="16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species</a:t>
            </a:r>
            <a:endParaRPr lang="es-ES" sz="16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83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DF34-3447-356A-2B00-7A0ABFDF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92BD-0336-C01F-9D17-D46FFC01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Maybe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Supporting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A3C85-6D55-458F-C609-B6987759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619" y="1163495"/>
            <a:ext cx="5572760" cy="557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1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4B2B-C790-BBC4-40C5-7CE36D49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EAF3-C3C6-2C42-29AF-110A8450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DDFCB-C7B6-C107-34FD-2D7863355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08" b="50140"/>
          <a:stretch>
            <a:fillRect/>
          </a:stretch>
        </p:blipFill>
        <p:spPr>
          <a:xfrm>
            <a:off x="899160" y="1163495"/>
            <a:ext cx="5196840" cy="5121608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00FAB01-EABD-4D9F-ABA9-E5D7A55FB294}"/>
              </a:ext>
            </a:extLst>
          </p:cNvPr>
          <p:cNvSpPr txBox="1">
            <a:spLocks/>
          </p:cNvSpPr>
          <p:nvPr/>
        </p:nvSpPr>
        <p:spPr>
          <a:xfrm>
            <a:off x="7854102" y="1352572"/>
            <a:ext cx="304461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Abies</a:t>
            </a:r>
            <a:r>
              <a:rPr lang="es-ES" b="1" i="1" dirty="0">
                <a:latin typeface="Helvetica"/>
                <a:cs typeface="Helvetica"/>
              </a:rPr>
              <a:t> alba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0A4AC2-40F7-9CD5-A21B-683A1797B34C}"/>
              </a:ext>
            </a:extLst>
          </p:cNvPr>
          <p:cNvSpPr txBox="1">
            <a:spLocks/>
          </p:cNvSpPr>
          <p:nvPr/>
        </p:nvSpPr>
        <p:spPr>
          <a:xfrm>
            <a:off x="6715761" y="2269853"/>
            <a:ext cx="4317930" cy="2749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Similar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variability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functional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space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Non-</a:t>
            </a: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more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acquisitive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(↑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and SLA)</a:t>
            </a:r>
          </a:p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 more conservative (↑</a:t>
            </a:r>
            <a:r>
              <a:rPr lang="el-GR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4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C)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6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D8DE4-F523-08A1-396B-E70D2162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204F-3199-45F0-1D48-927FF120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27619-B610-2027-882D-B2E4BFA7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50" r="-742" b="50140"/>
          <a:stretch>
            <a:fillRect/>
          </a:stretch>
        </p:blipFill>
        <p:spPr>
          <a:xfrm>
            <a:off x="899160" y="1163495"/>
            <a:ext cx="5196840" cy="5121608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A727803-7D2A-F2D1-7462-8D304F47065E}"/>
              </a:ext>
            </a:extLst>
          </p:cNvPr>
          <p:cNvSpPr txBox="1">
            <a:spLocks/>
          </p:cNvSpPr>
          <p:nvPr/>
        </p:nvSpPr>
        <p:spPr>
          <a:xfrm>
            <a:off x="7854102" y="1352572"/>
            <a:ext cx="304461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</a:t>
            </a:r>
            <a:r>
              <a:rPr lang="es-ES" b="1" i="1" dirty="0" err="1">
                <a:latin typeface="Helvetica"/>
                <a:cs typeface="Helvetica"/>
              </a:rPr>
              <a:t>sylvestris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3D9330-DFBC-3997-8EDF-5CBC301F9F7D}"/>
              </a:ext>
            </a:extLst>
          </p:cNvPr>
          <p:cNvSpPr txBox="1">
            <a:spLocks/>
          </p:cNvSpPr>
          <p:nvPr/>
        </p:nvSpPr>
        <p:spPr>
          <a:xfrm>
            <a:off x="6715761" y="2269853"/>
            <a:ext cx="4317930" cy="2749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Reduced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variability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sites!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Non-</a:t>
            </a: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more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acquisitive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(↑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, N and SLA)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 more conservative (↑</a:t>
            </a:r>
            <a:r>
              <a:rPr lang="el-GR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4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C)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605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23CB2-4643-F8E9-9F37-C7EA3318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0C65-3C30-BEA9-A09E-C8A30B55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45CFF8-661B-3DF1-7E24-158C2FFE6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2" t="50000" r="50000" b="140"/>
          <a:stretch>
            <a:fillRect/>
          </a:stretch>
        </p:blipFill>
        <p:spPr>
          <a:xfrm>
            <a:off x="899160" y="1163495"/>
            <a:ext cx="5196840" cy="5121608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2C14040-F6B8-EB7B-7A18-6A68DB63C877}"/>
              </a:ext>
            </a:extLst>
          </p:cNvPr>
          <p:cNvSpPr txBox="1">
            <a:spLocks/>
          </p:cNvSpPr>
          <p:nvPr/>
        </p:nvSpPr>
        <p:spPr>
          <a:xfrm>
            <a:off x="7854102" y="1352572"/>
            <a:ext cx="3044616" cy="3668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i="1" dirty="0" err="1">
                <a:latin typeface="Helvetica"/>
                <a:cs typeface="Helvetica"/>
              </a:rPr>
              <a:t>Pinus</a:t>
            </a:r>
            <a:r>
              <a:rPr lang="es-ES" b="1" i="1" dirty="0">
                <a:latin typeface="Helvetica"/>
                <a:cs typeface="Helvetica"/>
              </a:rPr>
              <a:t> pinea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AB77E6-6546-70E0-7438-F315789B8D9C}"/>
              </a:ext>
            </a:extLst>
          </p:cNvPr>
          <p:cNvSpPr txBox="1">
            <a:spLocks/>
          </p:cNvSpPr>
          <p:nvPr/>
        </p:nvSpPr>
        <p:spPr>
          <a:xfrm>
            <a:off x="6715761" y="2269853"/>
            <a:ext cx="4317930" cy="37855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More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variability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sites </a:t>
            </a:r>
          </a:p>
          <a:p>
            <a:pPr>
              <a:buClr>
                <a:srgbClr val="218317"/>
              </a:buClr>
            </a:pP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 LES?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Non-</a:t>
            </a: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↑ 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and ↑</a:t>
            </a:r>
            <a:r>
              <a:rPr lang="el-GR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2400" baseline="30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↑</a:t>
            </a:r>
            <a:r>
              <a:rPr lang="es-ES" sz="24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iWUE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?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:  ↑N  </a:t>
            </a:r>
            <a:r>
              <a:rPr lang="es-ES" sz="2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  <a:sym typeface="Wingdings" panose="05000000000000000000" pitchFamily="2" charset="2"/>
              </a:rPr>
              <a:t> PS?</a:t>
            </a: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253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4C11-8825-593C-AC5F-B986617D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E22B-3689-0300-14A3-E24753B5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2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assess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07C1720-BD5E-A84D-63E4-1AE928273B63}"/>
              </a:ext>
            </a:extLst>
          </p:cNvPr>
          <p:cNvSpPr txBox="1">
            <a:spLocks/>
          </p:cNvSpPr>
          <p:nvPr/>
        </p:nvSpPr>
        <p:spPr>
          <a:xfrm>
            <a:off x="1175657" y="1906551"/>
            <a:ext cx="10291666" cy="33092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Existence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of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within-species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trait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coordination</a:t>
            </a:r>
            <a:endParaRPr lang="es-ES" sz="32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LES +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// PS</a:t>
            </a:r>
          </a:p>
          <a:p>
            <a:pPr>
              <a:buClr>
                <a:srgbClr val="218317"/>
              </a:buClr>
            </a:pP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Declining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shift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towards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more conservative </a:t>
            </a:r>
            <a:r>
              <a:rPr lang="es-ES" sz="3200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strategies</a:t>
            </a:r>
            <a:r>
              <a:rPr lang="es-ES" sz="32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(LES)</a:t>
            </a:r>
          </a:p>
          <a:p>
            <a:pPr>
              <a:buClr>
                <a:srgbClr val="218317"/>
              </a:buClr>
            </a:pPr>
            <a:endParaRPr lang="es-ES" sz="32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32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189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6A4B-29D7-3F19-D1D2-D025751A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-Shape 25">
            <a:extLst>
              <a:ext uri="{FF2B5EF4-FFF2-40B4-BE49-F238E27FC236}">
                <a16:creationId xmlns:a16="http://schemas.microsoft.com/office/drawing/2014/main" id="{117FD5CF-AF8A-FCA8-A3C8-C5B6EA12BFC1}"/>
              </a:ext>
            </a:extLst>
          </p:cNvPr>
          <p:cNvSpPr/>
          <p:nvPr/>
        </p:nvSpPr>
        <p:spPr>
          <a:xfrm rot="5400000">
            <a:off x="2809620" y="1840703"/>
            <a:ext cx="3579929" cy="4783048"/>
          </a:xfrm>
          <a:prstGeom prst="corner">
            <a:avLst>
              <a:gd name="adj1" fmla="val 35044"/>
              <a:gd name="adj2" fmla="val 30645"/>
            </a:avLst>
          </a:prstGeom>
          <a:solidFill>
            <a:srgbClr val="F4B183">
              <a:alpha val="32941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L-Shape 26">
            <a:extLst>
              <a:ext uri="{FF2B5EF4-FFF2-40B4-BE49-F238E27FC236}">
                <a16:creationId xmlns:a16="http://schemas.microsoft.com/office/drawing/2014/main" id="{333A76B1-98DF-3B32-083F-348209C8798A}"/>
              </a:ext>
            </a:extLst>
          </p:cNvPr>
          <p:cNvSpPr/>
          <p:nvPr/>
        </p:nvSpPr>
        <p:spPr>
          <a:xfrm rot="5400000">
            <a:off x="6592788" y="1453509"/>
            <a:ext cx="3579929" cy="5557438"/>
          </a:xfrm>
          <a:prstGeom prst="corner">
            <a:avLst>
              <a:gd name="adj1" fmla="val 43450"/>
              <a:gd name="adj2" fmla="val 30645"/>
            </a:avLst>
          </a:prstGeom>
          <a:solidFill>
            <a:schemeClr val="accent6">
              <a:lumMod val="60000"/>
              <a:lumOff val="40000"/>
              <a:alpha val="32941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6223A-5A13-6D87-39B3-A235E17D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3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structure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55CF17A-7D05-38DE-2108-86CF15FEA06B}"/>
              </a:ext>
            </a:extLst>
          </p:cNvPr>
          <p:cNvSpPr txBox="1">
            <a:spLocks/>
          </p:cNvSpPr>
          <p:nvPr/>
        </p:nvSpPr>
        <p:spPr>
          <a:xfrm>
            <a:off x="4599584" y="725777"/>
            <a:ext cx="3149600" cy="56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Precipitation</a:t>
            </a:r>
            <a:r>
              <a:rPr lang="es-ES" sz="2000" b="1" dirty="0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/ </a:t>
            </a:r>
            <a:r>
              <a:rPr lang="es-ES" sz="2000" b="1" dirty="0" err="1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drought</a:t>
            </a:r>
            <a:endParaRPr lang="es-ES" sz="2000" b="1" dirty="0">
              <a:solidFill>
                <a:schemeClr val="accent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89A589C-F7F6-A126-0601-6F1B7EF74B3C}"/>
              </a:ext>
            </a:extLst>
          </p:cNvPr>
          <p:cNvSpPr txBox="1">
            <a:spLocks/>
          </p:cNvSpPr>
          <p:nvPr/>
        </p:nvSpPr>
        <p:spPr>
          <a:xfrm>
            <a:off x="4659440" y="1030663"/>
            <a:ext cx="3149600" cy="56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solidFill>
                  <a:srgbClr val="FF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Temperature</a:t>
            </a:r>
            <a:endParaRPr lang="es-ES" sz="2000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4D97C43-8A0C-B8CA-4E65-5FFC48D5F31C}"/>
              </a:ext>
            </a:extLst>
          </p:cNvPr>
          <p:cNvSpPr txBox="1">
            <a:spLocks/>
          </p:cNvSpPr>
          <p:nvPr/>
        </p:nvSpPr>
        <p:spPr>
          <a:xfrm>
            <a:off x="1778888" y="2693176"/>
            <a:ext cx="2090421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WUE 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(d13C)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FC9DFB9-EF4C-EA43-7208-9BB08E2EEC95}"/>
              </a:ext>
            </a:extLst>
          </p:cNvPr>
          <p:cNvSpPr txBox="1">
            <a:spLocks/>
          </p:cNvSpPr>
          <p:nvPr/>
        </p:nvSpPr>
        <p:spPr>
          <a:xfrm>
            <a:off x="1514091" y="4872657"/>
            <a:ext cx="2620012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LES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(N, SLA)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6EEB5F7-F152-92CC-E91D-54EB3E850179}"/>
              </a:ext>
            </a:extLst>
          </p:cNvPr>
          <p:cNvSpPr txBox="1">
            <a:spLocks/>
          </p:cNvSpPr>
          <p:nvPr/>
        </p:nvSpPr>
        <p:spPr>
          <a:xfrm>
            <a:off x="9547543" y="2795765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size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(h)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38BC004A-7D40-D8C3-FCF0-B63F381CF15F}"/>
              </a:ext>
            </a:extLst>
          </p:cNvPr>
          <p:cNvSpPr txBox="1">
            <a:spLocks/>
          </p:cNvSpPr>
          <p:nvPr/>
        </p:nvSpPr>
        <p:spPr>
          <a:xfrm>
            <a:off x="5439691" y="2795765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(BAI80)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2AB6796-D601-E0F3-2A72-83ADB22B3E5C}"/>
              </a:ext>
            </a:extLst>
          </p:cNvPr>
          <p:cNvSpPr/>
          <p:nvPr/>
        </p:nvSpPr>
        <p:spPr>
          <a:xfrm rot="16200000">
            <a:off x="4374983" y="1928283"/>
            <a:ext cx="268604" cy="2189498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E8945B2-7DA6-E6B6-211C-6C7F33319508}"/>
              </a:ext>
            </a:extLst>
          </p:cNvPr>
          <p:cNvSpPr/>
          <p:nvPr/>
        </p:nvSpPr>
        <p:spPr>
          <a:xfrm rot="5400000">
            <a:off x="8303877" y="1763523"/>
            <a:ext cx="268604" cy="2527529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AE7D583-2CAB-1EF5-65A7-BD3BACB16430}"/>
              </a:ext>
            </a:extLst>
          </p:cNvPr>
          <p:cNvSpPr/>
          <p:nvPr/>
        </p:nvSpPr>
        <p:spPr>
          <a:xfrm rot="10800000">
            <a:off x="2674085" y="3496603"/>
            <a:ext cx="300025" cy="994511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C6E2D0-6D03-9371-5009-C2AFABF4632E}"/>
              </a:ext>
            </a:extLst>
          </p:cNvPr>
          <p:cNvSpPr txBox="1">
            <a:spLocks/>
          </p:cNvSpPr>
          <p:nvPr/>
        </p:nvSpPr>
        <p:spPr>
          <a:xfrm>
            <a:off x="9215940" y="5025057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D04A7F7-3EB2-8806-B224-16F6C08BFA6F}"/>
              </a:ext>
            </a:extLst>
          </p:cNvPr>
          <p:cNvSpPr/>
          <p:nvPr/>
        </p:nvSpPr>
        <p:spPr>
          <a:xfrm>
            <a:off x="6234240" y="3633473"/>
            <a:ext cx="300025" cy="1403809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484A68F-57EE-AE43-25E6-F34A61EB2B5D}"/>
              </a:ext>
            </a:extLst>
          </p:cNvPr>
          <p:cNvSpPr/>
          <p:nvPr/>
        </p:nvSpPr>
        <p:spPr>
          <a:xfrm rot="17522635">
            <a:off x="8604736" y="694205"/>
            <a:ext cx="242194" cy="2508648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495B964E-7881-1533-7946-CD3C746ACA40}"/>
              </a:ext>
            </a:extLst>
          </p:cNvPr>
          <p:cNvSpPr/>
          <p:nvPr/>
        </p:nvSpPr>
        <p:spPr>
          <a:xfrm>
            <a:off x="6229615" y="1568300"/>
            <a:ext cx="277037" cy="994511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E1B8D89-C914-5C34-369C-F67BCAC8D112}"/>
              </a:ext>
            </a:extLst>
          </p:cNvPr>
          <p:cNvSpPr/>
          <p:nvPr/>
        </p:nvSpPr>
        <p:spPr>
          <a:xfrm rot="3221936">
            <a:off x="4279168" y="1276172"/>
            <a:ext cx="227943" cy="1578257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A7E8D97-3ABB-DB14-4C48-D887B61B3DF6}"/>
              </a:ext>
            </a:extLst>
          </p:cNvPr>
          <p:cNvSpPr txBox="1">
            <a:spLocks/>
          </p:cNvSpPr>
          <p:nvPr/>
        </p:nvSpPr>
        <p:spPr>
          <a:xfrm>
            <a:off x="6506652" y="3950185"/>
            <a:ext cx="1603895" cy="891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consequence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Camarero et al. 2015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E5A3205-7FB5-1FE3-70FB-FCD7B05264EA}"/>
              </a:ext>
            </a:extLst>
          </p:cNvPr>
          <p:cNvSpPr txBox="1">
            <a:spLocks/>
          </p:cNvSpPr>
          <p:nvPr/>
        </p:nvSpPr>
        <p:spPr>
          <a:xfrm>
            <a:off x="741179" y="3612312"/>
            <a:ext cx="19329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(=PS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capacity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) determines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(=d13C)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(Benavides et al. 2023; Querejeta et al. 2025)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C31C8078-0379-C930-B791-09486971F2C4}"/>
              </a:ext>
            </a:extLst>
          </p:cNvPr>
          <p:cNvSpPr txBox="1">
            <a:spLocks/>
          </p:cNvSpPr>
          <p:nvPr/>
        </p:nvSpPr>
        <p:spPr>
          <a:xfrm>
            <a:off x="3826140" y="3178522"/>
            <a:ext cx="1366697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conditions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C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uptake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(Galiano et al. 2011)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1DF78BF-D3DE-07E9-8D0F-731D868F5571}"/>
              </a:ext>
            </a:extLst>
          </p:cNvPr>
          <p:cNvSpPr txBox="1">
            <a:spLocks/>
          </p:cNvSpPr>
          <p:nvPr/>
        </p:nvSpPr>
        <p:spPr>
          <a:xfrm>
            <a:off x="1857645" y="5910241"/>
            <a:ext cx="19329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Nm and SLA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regardless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stress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Yu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et al. 2022)</a:t>
            </a:r>
          </a:p>
        </p:txBody>
      </p: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F76450A7-9811-035B-5F61-52CFBD2C4393}"/>
              </a:ext>
            </a:extLst>
          </p:cNvPr>
          <p:cNvSpPr txBox="1">
            <a:spLocks/>
          </p:cNvSpPr>
          <p:nvPr/>
        </p:nvSpPr>
        <p:spPr>
          <a:xfrm>
            <a:off x="5592091" y="5359168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u="sng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20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4166073E-EB7C-A7BF-06E5-C966564E862C}"/>
              </a:ext>
            </a:extLst>
          </p:cNvPr>
          <p:cNvSpPr txBox="1">
            <a:spLocks/>
          </p:cNvSpPr>
          <p:nvPr/>
        </p:nvSpPr>
        <p:spPr>
          <a:xfrm>
            <a:off x="8896737" y="5575420"/>
            <a:ext cx="2527530" cy="1087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Most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N in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form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RuBisCo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other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phosotynthetic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enzymes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content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already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summarizes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algn="ctr"/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Field &amp; Mooney 1986; Galiano et al. 2011; Benavides et al. 2023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)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51091591-2B71-BF2F-00F3-C95FA9AB0A06}"/>
              </a:ext>
            </a:extLst>
          </p:cNvPr>
          <p:cNvSpPr txBox="1">
            <a:spLocks/>
          </p:cNvSpPr>
          <p:nvPr/>
        </p:nvSpPr>
        <p:spPr>
          <a:xfrm>
            <a:off x="4511041" y="1797916"/>
            <a:ext cx="16364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l-GR" sz="12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2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effectively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(Rosas et al. 2021)</a:t>
            </a:r>
          </a:p>
        </p:txBody>
      </p:sp>
      <p:grpSp>
        <p:nvGrpSpPr>
          <p:cNvPr id="11" name="Grupo 20">
            <a:extLst>
              <a:ext uri="{FF2B5EF4-FFF2-40B4-BE49-F238E27FC236}">
                <a16:creationId xmlns:a16="http://schemas.microsoft.com/office/drawing/2014/main" id="{777CC830-F6D3-CED8-D0B1-99C32A7648AB}"/>
              </a:ext>
            </a:extLst>
          </p:cNvPr>
          <p:cNvGrpSpPr/>
          <p:nvPr/>
        </p:nvGrpSpPr>
        <p:grpSpPr>
          <a:xfrm>
            <a:off x="9004764" y="392631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C0B67FD6-35AA-8E7D-CD9B-786B63FB7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4126B38D-FA87-98AA-0D90-3D5DC3CA50DE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8847DDB6-BC5B-9578-5786-FFD418B81E83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61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6901-BC67-D18F-910A-0A0D2CE8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52DC-86B6-D341-47BF-0FF18758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. 3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–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structure</a:t>
            </a: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D208B31-F941-A059-293E-2415A01BBFF3}"/>
              </a:ext>
            </a:extLst>
          </p:cNvPr>
          <p:cNvSpPr txBox="1">
            <a:spLocks/>
          </p:cNvSpPr>
          <p:nvPr/>
        </p:nvSpPr>
        <p:spPr>
          <a:xfrm>
            <a:off x="4599584" y="725777"/>
            <a:ext cx="3149600" cy="56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Precipitation</a:t>
            </a:r>
            <a:r>
              <a:rPr lang="es-ES" sz="2000" b="1" dirty="0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/ </a:t>
            </a:r>
            <a:r>
              <a:rPr lang="es-ES" sz="2000" b="1" dirty="0" err="1">
                <a:solidFill>
                  <a:schemeClr val="accent1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drought</a:t>
            </a:r>
            <a:endParaRPr lang="es-ES" sz="2000" b="1" dirty="0">
              <a:solidFill>
                <a:schemeClr val="accent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A69C25A-7817-E75E-9B17-A2D5B3A54FD8}"/>
              </a:ext>
            </a:extLst>
          </p:cNvPr>
          <p:cNvSpPr txBox="1">
            <a:spLocks/>
          </p:cNvSpPr>
          <p:nvPr/>
        </p:nvSpPr>
        <p:spPr>
          <a:xfrm>
            <a:off x="4659440" y="1030663"/>
            <a:ext cx="3149600" cy="56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solidFill>
                  <a:srgbClr val="FF0000"/>
                </a:solidFill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Temperature</a:t>
            </a:r>
            <a:endParaRPr lang="es-ES" sz="2000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49A2A0-E4DC-64F2-34FC-CE7AD9AC735B}"/>
              </a:ext>
            </a:extLst>
          </p:cNvPr>
          <p:cNvSpPr txBox="1">
            <a:spLocks/>
          </p:cNvSpPr>
          <p:nvPr/>
        </p:nvSpPr>
        <p:spPr>
          <a:xfrm>
            <a:off x="4572422" y="5491766"/>
            <a:ext cx="2090421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WUE 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(d13C, d18O)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36916226-E84E-0DA8-D362-174035752862}"/>
              </a:ext>
            </a:extLst>
          </p:cNvPr>
          <p:cNvSpPr txBox="1">
            <a:spLocks/>
          </p:cNvSpPr>
          <p:nvPr/>
        </p:nvSpPr>
        <p:spPr>
          <a:xfrm>
            <a:off x="1424527" y="2663850"/>
            <a:ext cx="2620012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LES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(N, SLA)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A29C258-1252-6BE3-599F-DAAD3178E26B}"/>
              </a:ext>
            </a:extLst>
          </p:cNvPr>
          <p:cNvSpPr txBox="1">
            <a:spLocks/>
          </p:cNvSpPr>
          <p:nvPr/>
        </p:nvSpPr>
        <p:spPr>
          <a:xfrm>
            <a:off x="9547543" y="2795765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Tree</a:t>
            </a: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size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 (h)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C93890E0-0826-0DF6-1C2A-8EB42AC39F58}"/>
              </a:ext>
            </a:extLst>
          </p:cNvPr>
          <p:cNvSpPr txBox="1">
            <a:spLocks/>
          </p:cNvSpPr>
          <p:nvPr/>
        </p:nvSpPr>
        <p:spPr>
          <a:xfrm>
            <a:off x="5439691" y="2795765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Growth</a:t>
            </a:r>
            <a:endParaRPr lang="es-ES" sz="2000" b="1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(BAI80)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CEFA4A4-26DE-FF5E-BDCB-8A21E9508B77}"/>
              </a:ext>
            </a:extLst>
          </p:cNvPr>
          <p:cNvSpPr/>
          <p:nvPr/>
        </p:nvSpPr>
        <p:spPr>
          <a:xfrm rot="16200000">
            <a:off x="4374983" y="1928283"/>
            <a:ext cx="268604" cy="2189498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F5BFA68-8263-8477-9D2A-AA762FE5813B}"/>
              </a:ext>
            </a:extLst>
          </p:cNvPr>
          <p:cNvSpPr/>
          <p:nvPr/>
        </p:nvSpPr>
        <p:spPr>
          <a:xfrm rot="5400000">
            <a:off x="8303877" y="1763523"/>
            <a:ext cx="268604" cy="2527529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FDE9BE6-0B57-9B3F-1CBC-A86A969D4050}"/>
              </a:ext>
            </a:extLst>
          </p:cNvPr>
          <p:cNvSpPr/>
          <p:nvPr/>
        </p:nvSpPr>
        <p:spPr>
          <a:xfrm rot="19280253">
            <a:off x="3757848" y="3092395"/>
            <a:ext cx="300025" cy="2780094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CB8192-7FB7-B6A9-B020-57DEC9494A45}"/>
              </a:ext>
            </a:extLst>
          </p:cNvPr>
          <p:cNvSpPr txBox="1">
            <a:spLocks/>
          </p:cNvSpPr>
          <p:nvPr/>
        </p:nvSpPr>
        <p:spPr>
          <a:xfrm>
            <a:off x="9215940" y="5025057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2FC7992-8173-5E2C-4351-4277896DE7A6}"/>
              </a:ext>
            </a:extLst>
          </p:cNvPr>
          <p:cNvSpPr/>
          <p:nvPr/>
        </p:nvSpPr>
        <p:spPr>
          <a:xfrm>
            <a:off x="6234240" y="3633473"/>
            <a:ext cx="300025" cy="1403809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18C8450A-9FC2-9494-2C4C-78589FBD20AD}"/>
              </a:ext>
            </a:extLst>
          </p:cNvPr>
          <p:cNvSpPr/>
          <p:nvPr/>
        </p:nvSpPr>
        <p:spPr>
          <a:xfrm rot="17522635">
            <a:off x="8604736" y="694205"/>
            <a:ext cx="242194" cy="2508648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57F7AD3-9D2D-7CEB-4FFD-4590C21542C4}"/>
              </a:ext>
            </a:extLst>
          </p:cNvPr>
          <p:cNvSpPr/>
          <p:nvPr/>
        </p:nvSpPr>
        <p:spPr>
          <a:xfrm>
            <a:off x="6229615" y="1568300"/>
            <a:ext cx="277037" cy="994511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DF79843-66FA-416E-B3D6-BAB563A4EAB1}"/>
              </a:ext>
            </a:extLst>
          </p:cNvPr>
          <p:cNvSpPr/>
          <p:nvPr/>
        </p:nvSpPr>
        <p:spPr>
          <a:xfrm rot="3221936">
            <a:off x="4279168" y="1276172"/>
            <a:ext cx="227943" cy="1578257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4347066-41F6-EB07-D883-800BE4A68AB2}"/>
              </a:ext>
            </a:extLst>
          </p:cNvPr>
          <p:cNvSpPr txBox="1">
            <a:spLocks/>
          </p:cNvSpPr>
          <p:nvPr/>
        </p:nvSpPr>
        <p:spPr>
          <a:xfrm>
            <a:off x="6506652" y="3950185"/>
            <a:ext cx="1603895" cy="891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consequence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Camarero et al. 2015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B3F8CC38-406A-17C6-CD83-CDEA39CAA84C}"/>
              </a:ext>
            </a:extLst>
          </p:cNvPr>
          <p:cNvSpPr txBox="1">
            <a:spLocks/>
          </p:cNvSpPr>
          <p:nvPr/>
        </p:nvSpPr>
        <p:spPr>
          <a:xfrm>
            <a:off x="1581481" y="3961930"/>
            <a:ext cx="19329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(=PS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capacity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) determines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(=d13C)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(Benavides et al. 2023; Querejeta et al. 2025)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2E6A6AE0-8B62-D771-1471-2339226FE1D2}"/>
              </a:ext>
            </a:extLst>
          </p:cNvPr>
          <p:cNvSpPr txBox="1">
            <a:spLocks/>
          </p:cNvSpPr>
          <p:nvPr/>
        </p:nvSpPr>
        <p:spPr>
          <a:xfrm>
            <a:off x="2479917" y="5025057"/>
            <a:ext cx="19329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Nm and SLA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regardless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stress 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Yu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et al. 2022)</a:t>
            </a:r>
          </a:p>
        </p:txBody>
      </p: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C8F70ED8-CEDF-EA6F-DA3C-43732A51AF4A}"/>
              </a:ext>
            </a:extLst>
          </p:cNvPr>
          <p:cNvSpPr txBox="1">
            <a:spLocks/>
          </p:cNvSpPr>
          <p:nvPr/>
        </p:nvSpPr>
        <p:spPr>
          <a:xfrm>
            <a:off x="6384253" y="5327453"/>
            <a:ext cx="1889125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u="sng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2000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61902D1-F4AC-4BA4-9C9A-3C247E4A99FE}"/>
              </a:ext>
            </a:extLst>
          </p:cNvPr>
          <p:cNvSpPr txBox="1">
            <a:spLocks/>
          </p:cNvSpPr>
          <p:nvPr/>
        </p:nvSpPr>
        <p:spPr>
          <a:xfrm>
            <a:off x="8896737" y="5575420"/>
            <a:ext cx="2527530" cy="1087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Most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N in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form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RuBisCo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other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phosotynthetic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enzymes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N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content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already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summarizes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algn="ctr"/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s-ES" sz="1200" i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Field &amp; Mooney 1986; Galiano et al. 2011; Benavides et al. 2023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)</a:t>
            </a:r>
            <a:endParaRPr lang="es-E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92AB3B52-30DF-64D7-3B46-D65B7C8E0986}"/>
              </a:ext>
            </a:extLst>
          </p:cNvPr>
          <p:cNvSpPr txBox="1">
            <a:spLocks/>
          </p:cNvSpPr>
          <p:nvPr/>
        </p:nvSpPr>
        <p:spPr>
          <a:xfrm>
            <a:off x="3965734" y="2299477"/>
            <a:ext cx="1636404" cy="8675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SLA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related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hydraulics</a:t>
            </a:r>
            <a:endParaRPr lang="es-E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1" name="Grupo 20">
            <a:extLst>
              <a:ext uri="{FF2B5EF4-FFF2-40B4-BE49-F238E27FC236}">
                <a16:creationId xmlns:a16="http://schemas.microsoft.com/office/drawing/2014/main" id="{BFDBB271-4258-871B-9B5F-8B1B61E98905}"/>
              </a:ext>
            </a:extLst>
          </p:cNvPr>
          <p:cNvGrpSpPr/>
          <p:nvPr/>
        </p:nvGrpSpPr>
        <p:grpSpPr>
          <a:xfrm>
            <a:off x="9004764" y="392631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1625DB47-A059-C196-08AC-69C7426E1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5060EDE0-C2EE-67F6-F0B9-03E5627633B5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C3B95AA0-0A6C-6F24-325F-12CCB0E62709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499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4535</TotalTime>
  <Words>1304</Words>
  <Application>Microsoft Office PowerPoint</Application>
  <PresentationFormat>Widescreen</PresentationFormat>
  <Paragraphs>262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Helvetica</vt:lpstr>
      <vt:lpstr>Office Theme</vt:lpstr>
      <vt:lpstr>Variable selection Objectives 1 &amp; 2 Results Model proposal</vt:lpstr>
      <vt:lpstr>Theoretical framework How certain trees and stands are more vulnerable to drought?</vt:lpstr>
      <vt:lpstr>PowerPoint Presentation</vt:lpstr>
      <vt:lpstr>PowerPoint Presentation</vt:lpstr>
      <vt:lpstr>Abies alba</vt:lpstr>
      <vt:lpstr>Objectives</vt:lpstr>
      <vt:lpstr>Obj. 1. </vt:lpstr>
      <vt:lpstr>Obj. 1. </vt:lpstr>
      <vt:lpstr>Obj. 2 – To assess trait coordination within species  </vt:lpstr>
      <vt:lpstr>Obj. 2 – To assess trait coordination within species  </vt:lpstr>
      <vt:lpstr>Obj. 2: Lower trait coordination in declining than non-declining sites (in non-decline three groups: LES + height, clorophyll, WUE)</vt:lpstr>
      <vt:lpstr>PowerPoint Presentation</vt:lpstr>
      <vt:lpstr>PowerPoint Presentation</vt:lpstr>
      <vt:lpstr>PowerPoint Presentation</vt:lpstr>
      <vt:lpstr>Obj. 2 – Maybe to Supporting?  </vt:lpstr>
      <vt:lpstr>Obj. 2 – To assess trait coordination within species  </vt:lpstr>
      <vt:lpstr>Obj. 2 – To assess trait coordination within species  </vt:lpstr>
      <vt:lpstr>Obj. 2 – To assess trait coordination within species  </vt:lpstr>
      <vt:lpstr>Obj. 2 – To assess trait coordination within species  </vt:lpstr>
      <vt:lpstr>Obj. 3 – Model structure  </vt:lpstr>
      <vt:lpstr>Obj. 3 – Model structure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23</cp:revision>
  <dcterms:created xsi:type="dcterms:W3CDTF">2025-10-21T22:46:46Z</dcterms:created>
  <dcterms:modified xsi:type="dcterms:W3CDTF">2025-11-24T12:13:39Z</dcterms:modified>
</cp:coreProperties>
</file>