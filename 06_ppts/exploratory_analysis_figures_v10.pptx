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500" r:id="rId2"/>
    <p:sldId id="341" r:id="rId3"/>
    <p:sldId id="454" r:id="rId4"/>
    <p:sldId id="304" r:id="rId5"/>
    <p:sldId id="468" r:id="rId6"/>
    <p:sldId id="469" r:id="rId7"/>
    <p:sldId id="485" r:id="rId8"/>
    <p:sldId id="487" r:id="rId9"/>
    <p:sldId id="457" r:id="rId10"/>
    <p:sldId id="456" r:id="rId11"/>
    <p:sldId id="471" r:id="rId12"/>
    <p:sldId id="488" r:id="rId13"/>
    <p:sldId id="489" r:id="rId14"/>
    <p:sldId id="490" r:id="rId15"/>
    <p:sldId id="474" r:id="rId16"/>
    <p:sldId id="282" r:id="rId17"/>
    <p:sldId id="404" r:id="rId18"/>
    <p:sldId id="459" r:id="rId19"/>
    <p:sldId id="406" r:id="rId20"/>
    <p:sldId id="335" r:id="rId21"/>
    <p:sldId id="342" r:id="rId22"/>
    <p:sldId id="337" r:id="rId23"/>
    <p:sldId id="407" r:id="rId24"/>
    <p:sldId id="409" r:id="rId25"/>
    <p:sldId id="458" r:id="rId26"/>
    <p:sldId id="413" r:id="rId27"/>
    <p:sldId id="491" r:id="rId28"/>
    <p:sldId id="496" r:id="rId29"/>
    <p:sldId id="497" r:id="rId30"/>
    <p:sldId id="463" r:id="rId31"/>
    <p:sldId id="479" r:id="rId32"/>
    <p:sldId id="498" r:id="rId33"/>
    <p:sldId id="453" r:id="rId34"/>
    <p:sldId id="499" r:id="rId35"/>
    <p:sldId id="257" r:id="rId36"/>
    <p:sldId id="462" r:id="rId37"/>
    <p:sldId id="492" r:id="rId38"/>
    <p:sldId id="493" r:id="rId3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4BCF0B-13A8-F3D9-5213-32840108FAB3}" name="Cristopher Fernández de Blas" initials="CF" userId="13a2925ceb8d18c3" providerId="Windows Live"/>
  <p188:author id="{9B18557D-7187-C966-2E91-CE8B6CF86FC3}" name="Charlotte Grossiord" initials="" userId="S::charlotte.grossiord@wsl.ch::81d5e498-a7ae-4007-b872-c94d21631f5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0304"/>
    <a:srgbClr val="218317"/>
    <a:srgbClr val="EA7EB4"/>
    <a:srgbClr val="DC267F"/>
    <a:srgbClr val="FFD475"/>
    <a:srgbClr val="D71515"/>
    <a:srgbClr val="AB9CF6"/>
    <a:srgbClr val="FFB000"/>
    <a:srgbClr val="785EF0"/>
    <a:srgbClr val="2274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94"/>
  </p:normalViewPr>
  <p:slideViewPr>
    <p:cSldViewPr snapToGrid="0">
      <p:cViewPr varScale="1">
        <p:scale>
          <a:sx n="82" d="100"/>
          <a:sy n="82" d="100"/>
        </p:scale>
        <p:origin x="42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983DD-E218-4F5B-97E6-73372FCDFB94}" type="datetimeFigureOut">
              <a:rPr lang="es-ES" smtClean="0"/>
              <a:t>24/07/2025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FFF-AA8A-422F-901E-D94C39C8B22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0083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0985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0363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4738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55023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7735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A989B-27BE-50F7-0E94-10EE8C484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1394AF4-5129-0CB2-432E-D6E42B521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4A3977A-16F0-851A-CD49-4F4163899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0CD203-739E-AD56-C72B-E5D30E2E02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3646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DAD38-C5CD-95CA-C247-6EADA33E0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28DF978-B78E-8C04-26CB-95DADA30F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21605FF-97AB-1A0A-CBE5-B61531888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1481B6B-BB97-3024-8586-518BAB104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2781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65412-03CE-A3F4-4906-885BDCC86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EDCF900-5B33-B1F9-7D2D-C5C7E88F3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C0AE34B-94EB-EDB4-26DB-CF721B4C3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66A2D56-9DCF-BEFD-4419-2E2A52701F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10768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89FB9-4200-807F-339E-5D641189B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4C0785-2B1C-8C71-FEDE-2A8431143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18D6763-F416-5CCF-ACA4-7636BF535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5BE7A7-58D3-D3CF-5341-CEACDA4A04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1799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64531-77DD-B023-BD48-4240FE551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13CD9D1-576B-A5E3-105A-4D2272EC5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86A4DDA-5A36-8B92-5F44-42C442473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6A6A9E5-8152-CF08-C9E3-53C8FCFBD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6354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D8D14-8A9C-4F20-4D95-ED30BB2A8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F74AA6-1E57-8F3D-7642-5248C99E3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5C8F271-0653-203B-FEDA-A664F8537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68EC92-9CBB-45D8-B88C-10E7AE346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3134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30405-03BC-BA28-9A0D-24AA5947E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921C0C6-807E-938D-9905-0C1D7A0C8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777784F-F6F9-4AC8-D9DC-7076A2EEF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81741B-F274-FAAC-53C1-3EDF5CC22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35589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DFE64-8AE2-3B87-7546-152F3541D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CC6695C-A171-FD10-306F-D62444C37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CBF29B5-31C5-DB27-6B02-05365060D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C9848E-7D36-7513-5EAC-5B4F41A23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35435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C7532-2EB7-72BA-DD2A-72FCDD42A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36C3E06-2EBE-5226-2AB9-F352706C1B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852A52E-AC1F-DD0B-8E96-BA61D43311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FAA22EB-5340-5E9B-6B5F-1E31E7E4B1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736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B4180-59FF-A57E-6CA0-3DBBBD2F8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9A9B1D1-C247-5547-F4C8-9394E4CFE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5FC8F0-9437-C5FE-F8DA-555CF0D7D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45CB3D-D2D7-DA1F-4432-F5E10F180E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706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640DE-EF5A-BF63-2E51-3F00BBC82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6BF010-56F3-6C41-3ED4-6C6CD7B86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B884DF-EF45-3ED4-7FED-EDBF9117A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24/07/2025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4C811A-9D34-4AB3-450F-9DA4CF3A4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5F95F7-3C7B-946C-366A-49B04093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0099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9DE6E-BF0C-E652-3C51-49F5B25CC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9BD04C-625F-583F-FC5B-0B03DB01F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C05C8-58D0-6801-9E5F-F0B2E40CE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24/07/2025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83DC1A-F7D9-17B6-DD6B-F8340D3E5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60615A-9ABF-3407-3DD7-7F2A4626C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0492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D798C-EF3C-75D7-DF34-7D4C4274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5D251F-D0F0-354A-F45F-27D2789AA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BC9AAB-A900-C82B-BE85-C8F40230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24/07/2025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CAC175-7E84-92B8-4A79-9CBAFDBD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42F1AF-BA78-B1B5-EC60-FA0ADA414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6038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D3BAE-9F26-0518-54AF-3E926C2C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8A59CD-AFDE-1619-A608-CDEC2CDC6B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9CCD51C-A4E4-C6A4-BBD0-93E4CAEB7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F563BB-C9D2-279E-8859-0E318201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24/07/2025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14AD24-34FC-A14B-6E80-F6F63915C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A1E899-44E6-3273-3EE1-32945AC3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2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DA15D-25C4-382E-22A7-81D0B791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8AE567-062B-49F4-8619-63F87A397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420789-F3FF-21AF-9D54-CD59B6751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71177D8-E0EE-7BD1-068F-C81B122CD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8A0FCD-E226-F963-4F76-8996CB9B8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6CDC16D-2FED-2D12-3D08-D6F077A7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24/07/2025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CFB62D-A51A-2454-4405-88CE76E5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74924C-DB70-2D03-5E1D-0C3DDF4CC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4069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4F3FD-BF5F-164B-AAF7-98EC5A3E3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37ECC9-AC2F-85D7-F049-98C88DF4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24/07/2025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BC12025-51E5-6BB4-4D99-1EAD8C36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52ADA6-2C6B-24C3-2868-EF4353B0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0041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36E515E-F511-61BB-3E91-09426519D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24/07/2025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4634D0-27C9-95EF-3E84-BE4C1A27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4E3C35-4075-3D27-0B82-3A6CC319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1944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10776-5E34-0607-D69E-3EF7EC6E4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EEC768-6F4D-C19A-89E0-6A794544B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35944C-60F6-AF2F-105B-501D42549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F41D29-352F-5057-8D57-E152E682A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24/07/2025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E0DC31-00EB-A127-3B45-719984479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5EF0AB-281F-DE3B-5B75-1EBA35933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5262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A6A52-845E-5021-3313-F13CB32E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993D278-CC78-61F0-4FC8-993DFC68C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383A53A-9C6B-26A9-6123-57B769CDC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633E21-3097-61E0-8610-BEF2D3E5D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24/07/2025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0A8BFE-DEEE-886A-DD29-0927196B8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1C076B-F3BC-8A46-DF79-E64A3019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013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063C6-B53F-825E-64CB-3015916A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2F3F1A8-F0E5-5999-2539-3162C3A5E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91299C-664F-B1DC-502B-AACAA5B12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24/07/2025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FE2D33-E41C-7A2D-954D-B7377B44C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D44EEB-61E8-1F17-C276-395DCEB35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782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C72534-2A4D-909F-7175-F0B6627FC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2AD40B-7F62-DB1B-BC75-257EF759F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93092A-D1B6-2D0C-7F7C-F9B47D515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24/07/2025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F58730-2AEA-FFBD-4EB1-6446AC44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09B5FE-8900-CDE3-A45F-9CE5E24B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53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D114144-76B6-9D89-6BFE-9EA6B5100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FF20E2-1DD1-B589-89E2-410C47E23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F1B9EB-6037-B051-58F5-0FB73F7BA5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2A3C-7F5D-464A-B794-A5CF9734955A}" type="datetimeFigureOut">
              <a:rPr lang="es-ES" smtClean="0"/>
              <a:t>24/07/2025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C72BF2-7511-AB6D-DE0B-5A6923A82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F6153C-F5E0-E3A2-16A0-F50E14478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3685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11" Type="http://schemas.openxmlformats.org/officeDocument/2006/relationships/image" Target="../media/image17.png"/><Relationship Id="rId5" Type="http://schemas.openxmlformats.org/officeDocument/2006/relationships/image" Target="../media/image21.png"/><Relationship Id="rId10" Type="http://schemas.openxmlformats.org/officeDocument/2006/relationships/image" Target="../media/image16.svg"/><Relationship Id="rId4" Type="http://schemas.openxmlformats.org/officeDocument/2006/relationships/image" Target="../media/image20.png"/><Relationship Id="rId9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4.tiff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5.tiff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26.tiff"/><Relationship Id="rId9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tif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5.tiff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26.tiff"/><Relationship Id="rId9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8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4E07E-D324-71E9-E008-BA7D56CD1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847CB74-E264-BA69-2960-793B448D1D9D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735636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AE8B853-5D20-7343-5D11-5F73E9C32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2404"/>
            <a:ext cx="9144000" cy="3188380"/>
          </a:xfrm>
        </p:spPr>
        <p:txBody>
          <a:bodyPr>
            <a:normAutofit fontScale="90000"/>
          </a:bodyPr>
          <a:lstStyle/>
          <a:p>
            <a:r>
              <a:rPr lang="es-ES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Chapter</a:t>
            </a: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2 – </a:t>
            </a:r>
            <a:r>
              <a:rPr lang="es-ES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Assessing</a:t>
            </a: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individual </a:t>
            </a:r>
            <a:r>
              <a:rPr lang="es-ES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determining</a:t>
            </a: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vulnerability</a:t>
            </a:r>
            <a:endParaRPr lang="es-ES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030D7EC-85BE-3D39-C65E-E6C882998F82}"/>
              </a:ext>
            </a:extLst>
          </p:cNvPr>
          <p:cNvSpPr txBox="1">
            <a:spLocks/>
          </p:cNvSpPr>
          <p:nvPr/>
        </p:nvSpPr>
        <p:spPr>
          <a:xfrm>
            <a:off x="1" y="5735636"/>
            <a:ext cx="12192000" cy="1122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>
                <a:latin typeface="Helvetica"/>
                <a:cs typeface="Helvetica"/>
              </a:rPr>
              <a:t>Cristopher Fernández de Blas - 24/07/2025	IB-</a:t>
            </a:r>
            <a:r>
              <a:rPr lang="es-ES" sz="3200" dirty="0" err="1">
                <a:latin typeface="Helvetica"/>
                <a:cs typeface="Helvetica"/>
              </a:rPr>
              <a:t>ForRes</a:t>
            </a:r>
            <a:r>
              <a:rPr lang="es-ES" sz="3200" dirty="0">
                <a:latin typeface="Helvetica"/>
                <a:cs typeface="Helvetica"/>
              </a:rPr>
              <a:t> Project </a:t>
            </a:r>
          </a:p>
        </p:txBody>
      </p:sp>
    </p:spTree>
    <p:extLst>
      <p:ext uri="{BB962C8B-B14F-4D97-AF65-F5344CB8AC3E}">
        <p14:creationId xmlns:p14="http://schemas.microsoft.com/office/powerpoint/2010/main" val="1774835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4A987-8E48-280D-E7CC-510D650B5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Trees on the Edge: Understanding Douglas-fir Decline and Mortality in  Southwest Oregon | OSU Extension Service">
            <a:extLst>
              <a:ext uri="{FF2B5EF4-FFF2-40B4-BE49-F238E27FC236}">
                <a16:creationId xmlns:a16="http://schemas.microsoft.com/office/drawing/2014/main" id="{10367549-1026-C488-5876-09B6139F50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51" b="15946"/>
          <a:stretch/>
        </p:blipFill>
        <p:spPr bwMode="auto">
          <a:xfrm>
            <a:off x="3054763" y="1749582"/>
            <a:ext cx="6082473" cy="3358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79781540-947F-806E-0694-E726A1E765ED}"/>
              </a:ext>
            </a:extLst>
          </p:cNvPr>
          <p:cNvSpPr txBox="1">
            <a:spLocks/>
          </p:cNvSpPr>
          <p:nvPr/>
        </p:nvSpPr>
        <p:spPr>
          <a:xfrm>
            <a:off x="153017" y="1019998"/>
            <a:ext cx="11709532" cy="13372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sz="3200" err="1">
                <a:latin typeface="Helvetica"/>
                <a:cs typeface="Helvetica"/>
              </a:rPr>
              <a:t>It</a:t>
            </a:r>
            <a:r>
              <a:rPr lang="es-ES" sz="3200">
                <a:latin typeface="Helvetica"/>
                <a:cs typeface="Helvetica"/>
              </a:rPr>
              <a:t> </a:t>
            </a:r>
            <a:r>
              <a:rPr lang="es-ES" sz="3200" err="1">
                <a:latin typeface="Helvetica"/>
                <a:cs typeface="Helvetica"/>
              </a:rPr>
              <a:t>is</a:t>
            </a:r>
            <a:r>
              <a:rPr lang="es-ES" sz="3200">
                <a:latin typeface="Helvetica"/>
                <a:cs typeface="Helvetica"/>
              </a:rPr>
              <a:t> </a:t>
            </a:r>
            <a:r>
              <a:rPr lang="es-ES" sz="3200" err="1">
                <a:latin typeface="Helvetica"/>
                <a:cs typeface="Helvetica"/>
              </a:rPr>
              <a:t>hard</a:t>
            </a:r>
            <a:r>
              <a:rPr lang="es-ES" sz="3200">
                <a:latin typeface="Helvetica"/>
                <a:cs typeface="Helvetica"/>
              </a:rPr>
              <a:t> </a:t>
            </a:r>
            <a:r>
              <a:rPr lang="es-ES" sz="3200" err="1">
                <a:latin typeface="Helvetica"/>
                <a:cs typeface="Helvetica"/>
              </a:rPr>
              <a:t>to</a:t>
            </a:r>
            <a:r>
              <a:rPr lang="es-ES" sz="3200">
                <a:latin typeface="Helvetica"/>
                <a:cs typeface="Helvetica"/>
              </a:rPr>
              <a:t> </a:t>
            </a:r>
            <a:r>
              <a:rPr lang="es-ES" sz="3200" err="1">
                <a:latin typeface="Helvetica"/>
                <a:cs typeface="Helvetica"/>
              </a:rPr>
              <a:t>forecast</a:t>
            </a:r>
            <a:r>
              <a:rPr lang="es-ES" sz="3200">
                <a:latin typeface="Helvetica"/>
                <a:cs typeface="Helvetica"/>
              </a:rPr>
              <a:t> </a:t>
            </a:r>
            <a:r>
              <a:rPr lang="es-ES" sz="3200" err="1">
                <a:latin typeface="Helvetica"/>
                <a:cs typeface="Helvetica"/>
              </a:rPr>
              <a:t>drought-induced</a:t>
            </a:r>
            <a:r>
              <a:rPr lang="es-ES" sz="3200">
                <a:latin typeface="Helvetica"/>
                <a:cs typeface="Helvetica"/>
              </a:rPr>
              <a:t> die-back </a:t>
            </a:r>
            <a:r>
              <a:rPr lang="es-ES" sz="3200" err="1">
                <a:latin typeface="Helvetica"/>
                <a:cs typeface="Helvetica"/>
              </a:rPr>
              <a:t>events</a:t>
            </a:r>
            <a:endParaRPr lang="es-ES" sz="3200">
              <a:latin typeface="Helvetica"/>
              <a:cs typeface="Helvetica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B7F0C8A6-D36B-E2BB-A94E-FA9002271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29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29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Drought-induced</a:t>
            </a:r>
            <a:r>
              <a:rPr lang="es-ES" sz="29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9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9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9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mortality</a:t>
            </a:r>
            <a:endParaRPr lang="es-ES" sz="29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Original “death spiral” from Manion (1991) describing biotic and... |  Download Scientific Diagram">
            <a:extLst>
              <a:ext uri="{FF2B5EF4-FFF2-40B4-BE49-F238E27FC236}">
                <a16:creationId xmlns:a16="http://schemas.microsoft.com/office/drawing/2014/main" id="{ADD07D04-7217-3275-1F63-0E6BE590A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20" y="1858090"/>
            <a:ext cx="2672740" cy="3250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Dead Pine Tree – Photos Public Domain">
            <a:extLst>
              <a:ext uri="{FF2B5EF4-FFF2-40B4-BE49-F238E27FC236}">
                <a16:creationId xmlns:a16="http://schemas.microsoft.com/office/drawing/2014/main" id="{541BA644-CF11-0384-ABC7-D2AD6FE4C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1930" y="3807466"/>
            <a:ext cx="1710612" cy="256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836884B-99ED-D5AD-864C-98C470AA9185}"/>
              </a:ext>
            </a:extLst>
          </p:cNvPr>
          <p:cNvSpPr txBox="1">
            <a:spLocks/>
          </p:cNvSpPr>
          <p:nvPr/>
        </p:nvSpPr>
        <p:spPr>
          <a:xfrm>
            <a:off x="10121175" y="3807466"/>
            <a:ext cx="2459409" cy="1051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b="1">
                <a:latin typeface="Helvetica" panose="020B0604020202020204" pitchFamily="34" charset="0"/>
                <a:cs typeface="Helvetica" panose="020B0604020202020204" pitchFamily="34" charset="0"/>
              </a:rPr>
              <a:t>Individual </a:t>
            </a: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level</a:t>
            </a:r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812A7CE1-B498-71BA-ACAB-F8AB56577FAD}"/>
              </a:ext>
            </a:extLst>
          </p:cNvPr>
          <p:cNvGrpSpPr/>
          <p:nvPr/>
        </p:nvGrpSpPr>
        <p:grpSpPr>
          <a:xfrm>
            <a:off x="6848359" y="4089754"/>
            <a:ext cx="1156529" cy="1538950"/>
            <a:chOff x="6527591" y="4904433"/>
            <a:chExt cx="1156529" cy="1538950"/>
          </a:xfrm>
        </p:grpSpPr>
        <p:sp>
          <p:nvSpPr>
            <p:cNvPr id="6" name="Triángulo isósceles 5">
              <a:extLst>
                <a:ext uri="{FF2B5EF4-FFF2-40B4-BE49-F238E27FC236}">
                  <a16:creationId xmlns:a16="http://schemas.microsoft.com/office/drawing/2014/main" id="{B01FFFBC-D897-9971-1EDB-E838FBF81A2A}"/>
                </a:ext>
              </a:extLst>
            </p:cNvPr>
            <p:cNvSpPr/>
            <p:nvPr/>
          </p:nvSpPr>
          <p:spPr>
            <a:xfrm rot="8499904">
              <a:off x="7235961" y="4996921"/>
              <a:ext cx="448159" cy="1446462"/>
            </a:xfrm>
            <a:prstGeom prst="triangle">
              <a:avLst/>
            </a:prstGeom>
            <a:solidFill>
              <a:srgbClr val="2183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Triángulo isósceles 7">
              <a:extLst>
                <a:ext uri="{FF2B5EF4-FFF2-40B4-BE49-F238E27FC236}">
                  <a16:creationId xmlns:a16="http://schemas.microsoft.com/office/drawing/2014/main" id="{C8B95656-D402-A8F4-31C2-DBEA3C25C88A}"/>
                </a:ext>
              </a:extLst>
            </p:cNvPr>
            <p:cNvSpPr/>
            <p:nvPr/>
          </p:nvSpPr>
          <p:spPr>
            <a:xfrm rot="19291684">
              <a:off x="6527591" y="4904433"/>
              <a:ext cx="878698" cy="371984"/>
            </a:xfrm>
            <a:prstGeom prst="triangle">
              <a:avLst/>
            </a:prstGeom>
            <a:solidFill>
              <a:srgbClr val="2183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6DDD3D6A-02B8-AC23-3DE9-25BF6BF2B355}"/>
              </a:ext>
            </a:extLst>
          </p:cNvPr>
          <p:cNvSpPr txBox="1">
            <a:spLocks/>
          </p:cNvSpPr>
          <p:nvPr/>
        </p:nvSpPr>
        <p:spPr>
          <a:xfrm>
            <a:off x="3054763" y="5509923"/>
            <a:ext cx="6027576" cy="684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Early-warning</a:t>
            </a:r>
            <a:r>
              <a:rPr lang="es-ES" b="1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signals</a:t>
            </a:r>
            <a:r>
              <a:rPr lang="es-ES" b="1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  <a:p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62230E7-0412-0DD2-A63D-F97F4A5F3604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9101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6B4A0-35BD-216E-20B8-00F98CCD1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19DE75C5-D846-9CB9-4570-565DEB5FD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068E0E6-B03E-37E1-938B-1E01F441BECF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6089516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3200" b="1" dirty="0" err="1">
                <a:latin typeface="Helvetica"/>
                <a:cs typeface="Helvetica"/>
              </a:rPr>
              <a:t>Mortality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rates</a:t>
            </a:r>
            <a:r>
              <a:rPr lang="es-ES" sz="3200" b="1" dirty="0">
                <a:latin typeface="Helvetica"/>
                <a:cs typeface="Helvetica"/>
              </a:rPr>
              <a:t> are </a:t>
            </a:r>
            <a:r>
              <a:rPr lang="es-ES" sz="3200" b="1" dirty="0" err="1">
                <a:latin typeface="Helvetica"/>
                <a:cs typeface="Helvetica"/>
              </a:rPr>
              <a:t>highly</a:t>
            </a:r>
            <a:r>
              <a:rPr lang="es-ES" sz="3200" b="1" dirty="0">
                <a:latin typeface="Helvetica"/>
                <a:cs typeface="Helvetica"/>
              </a:rPr>
              <a:t> variable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7E7F35B5-4E0E-15FE-694B-D1B8681A02A3}"/>
              </a:ext>
            </a:extLst>
          </p:cNvPr>
          <p:cNvSpPr txBox="1"/>
          <p:nvPr/>
        </p:nvSpPr>
        <p:spPr>
          <a:xfrm>
            <a:off x="418288" y="2598018"/>
            <a:ext cx="709855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Predisposing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extrinsic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conditions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or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intrinsic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traits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increase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chances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undergo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die-off (i.e.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climate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Inciting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single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events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trigger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mortality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(i.e.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outbreaks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, etc.)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Contributing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non-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lethal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agents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further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contribute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mortality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(i.e.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parasitic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fungi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).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Picture 2" descr="Original “death spiral” from Manion (1991) describing biotic ...">
            <a:extLst>
              <a:ext uri="{FF2B5EF4-FFF2-40B4-BE49-F238E27FC236}">
                <a16:creationId xmlns:a16="http://schemas.microsoft.com/office/drawing/2014/main" id="{CA1CA5A4-9864-80A9-A20B-0A47A8F769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055" y="1226789"/>
            <a:ext cx="3643597" cy="443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8A74FF43-BF03-F0CD-F5D9-41F5B265DAA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Complementary strategies to cope with 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C3F98B51-8B48-9C7B-21F1-01DBA31BDCE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7623F2-A5CB-27A8-DF3B-CA8CB960913E}"/>
              </a:ext>
            </a:extLst>
          </p:cNvPr>
          <p:cNvSpPr txBox="1"/>
          <p:nvPr/>
        </p:nvSpPr>
        <p:spPr>
          <a:xfrm>
            <a:off x="-1068420" y="1951687"/>
            <a:ext cx="73297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Dieoff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triggered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inciting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C881A9-EF0E-7E72-F789-712FC55248F5}"/>
              </a:ext>
            </a:extLst>
          </p:cNvPr>
          <p:cNvSpPr/>
          <p:nvPr/>
        </p:nvSpPr>
        <p:spPr>
          <a:xfrm>
            <a:off x="418288" y="2529191"/>
            <a:ext cx="7098556" cy="1429966"/>
          </a:xfrm>
          <a:prstGeom prst="rect">
            <a:avLst/>
          </a:prstGeom>
          <a:noFill/>
          <a:ln w="57150"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FE030A-29F9-B95B-F3B5-87902873A368}"/>
              </a:ext>
            </a:extLst>
          </p:cNvPr>
          <p:cNvSpPr txBox="1"/>
          <p:nvPr/>
        </p:nvSpPr>
        <p:spPr>
          <a:xfrm>
            <a:off x="5087566" y="2061170"/>
            <a:ext cx="28189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2000" b="1" dirty="0" err="1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Forecasting</a:t>
            </a:r>
            <a:r>
              <a:rPr lang="es-ES" sz="20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tool</a:t>
            </a:r>
            <a:r>
              <a:rPr lang="es-ES" sz="20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!</a:t>
            </a:r>
            <a:endParaRPr lang="es-ES" sz="24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B1ED97-7258-BF65-60C7-1F129DE866F4}"/>
              </a:ext>
            </a:extLst>
          </p:cNvPr>
          <p:cNvSpPr txBox="1"/>
          <p:nvPr/>
        </p:nvSpPr>
        <p:spPr>
          <a:xfrm>
            <a:off x="8016934" y="5826955"/>
            <a:ext cx="33479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Manion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et al.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1991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076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F1E34-A69D-DADA-E287-034C7886D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654471-27AA-762D-935F-08C20B449A45}"/>
              </a:ext>
            </a:extLst>
          </p:cNvPr>
          <p:cNvSpPr txBox="1">
            <a:spLocks/>
          </p:cNvSpPr>
          <p:nvPr/>
        </p:nvSpPr>
        <p:spPr>
          <a:xfrm>
            <a:off x="2182398" y="1622717"/>
            <a:ext cx="2722485" cy="12736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Isohydric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57776ACF-C2D5-1F5A-B3CB-7C6DEC9834AB}"/>
              </a:ext>
            </a:extLst>
          </p:cNvPr>
          <p:cNvSpPr txBox="1">
            <a:spLocks/>
          </p:cNvSpPr>
          <p:nvPr/>
        </p:nvSpPr>
        <p:spPr>
          <a:xfrm>
            <a:off x="6624735" y="1622717"/>
            <a:ext cx="2756263" cy="1101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Anisohydric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E7DC63F-7F98-F3D6-5905-8CA4CA583E04}"/>
              </a:ext>
            </a:extLst>
          </p:cNvPr>
          <p:cNvCxnSpPr>
            <a:cxnSpLocks/>
          </p:cNvCxnSpPr>
          <p:nvPr/>
        </p:nvCxnSpPr>
        <p:spPr>
          <a:xfrm>
            <a:off x="4739951" y="1825471"/>
            <a:ext cx="1884784" cy="0"/>
          </a:xfrm>
          <a:prstGeom prst="straightConnector1">
            <a:avLst/>
          </a:prstGeom>
          <a:ln w="76200">
            <a:solidFill>
              <a:srgbClr val="218317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F105CAE0-BBA3-51E4-1609-E516C7404CE6}"/>
              </a:ext>
            </a:extLst>
          </p:cNvPr>
          <p:cNvSpPr txBox="1">
            <a:spLocks/>
          </p:cNvSpPr>
          <p:nvPr/>
        </p:nvSpPr>
        <p:spPr>
          <a:xfrm>
            <a:off x="2300761" y="2602556"/>
            <a:ext cx="3495519" cy="24108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/>
              <a:buChar char="-"/>
            </a:pPr>
            <a:r>
              <a:rPr lang="es-ES" sz="2400" dirty="0" err="1">
                <a:latin typeface="Helvetica"/>
                <a:cs typeface="Helvetica"/>
              </a:rPr>
              <a:t>Maintain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leaf</a:t>
            </a:r>
            <a:r>
              <a:rPr lang="es-ES" sz="2400" dirty="0">
                <a:latin typeface="Helvetica"/>
                <a:cs typeface="Helvetica"/>
              </a:rPr>
              <a:t> Ψ</a:t>
            </a:r>
          </a:p>
          <a:p>
            <a:pPr>
              <a:buFont typeface="Calibri"/>
              <a:buChar char="-"/>
            </a:pPr>
            <a:r>
              <a:rPr lang="es-ES" sz="2400" b="1" dirty="0" err="1">
                <a:latin typeface="Helvetica"/>
                <a:cs typeface="Helvetica"/>
              </a:rPr>
              <a:t>Stomatal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closure</a:t>
            </a:r>
            <a:endParaRPr lang="es-ES" sz="2400" b="1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2400" dirty="0">
                <a:latin typeface="Helvetica"/>
                <a:cs typeface="Helvetica"/>
              </a:rPr>
              <a:t>↓ </a:t>
            </a:r>
            <a:r>
              <a:rPr lang="es-ES" sz="2400" dirty="0" err="1">
                <a:latin typeface="Helvetica"/>
                <a:cs typeface="Helvetica"/>
              </a:rPr>
              <a:t>Transpiration</a:t>
            </a:r>
            <a:endParaRPr lang="es-ES" sz="24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2400" dirty="0">
                <a:latin typeface="Helvetica"/>
                <a:cs typeface="Helvetica"/>
              </a:rPr>
              <a:t>↓ </a:t>
            </a:r>
            <a:r>
              <a:rPr lang="es-ES" sz="2400" dirty="0" err="1">
                <a:latin typeface="Helvetica"/>
                <a:cs typeface="Helvetica"/>
              </a:rPr>
              <a:t>Photosynthetic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rates</a:t>
            </a:r>
            <a:endParaRPr lang="es-ES" sz="2400" dirty="0">
              <a:latin typeface="Helvetica"/>
              <a:cs typeface="Helvetica"/>
            </a:endParaRP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1660BAB1-4C20-961E-81F7-512FFC819A56}"/>
              </a:ext>
            </a:extLst>
          </p:cNvPr>
          <p:cNvSpPr txBox="1">
            <a:spLocks/>
          </p:cNvSpPr>
          <p:nvPr/>
        </p:nvSpPr>
        <p:spPr>
          <a:xfrm>
            <a:off x="6553738" y="2602555"/>
            <a:ext cx="3880245" cy="24108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s-ES" sz="2400" dirty="0" err="1">
                <a:latin typeface="Helvetica"/>
                <a:ea typeface="Calibri" panose="020F0502020204030204"/>
                <a:cs typeface="Helvetica"/>
              </a:rPr>
              <a:t>Close</a:t>
            </a:r>
            <a:r>
              <a:rPr lang="es-ES" sz="2400" dirty="0">
                <a:latin typeface="Helvetica"/>
                <a:ea typeface="Calibri" panose="020F0502020204030204"/>
                <a:cs typeface="Helvetica"/>
              </a:rPr>
              <a:t> </a:t>
            </a:r>
            <a:r>
              <a:rPr lang="es-ES" sz="2400" dirty="0" err="1">
                <a:latin typeface="Helvetica"/>
                <a:ea typeface="Calibri" panose="020F0502020204030204"/>
                <a:cs typeface="Helvetica"/>
              </a:rPr>
              <a:t>to</a:t>
            </a:r>
            <a:r>
              <a:rPr lang="es-ES" sz="2400" dirty="0">
                <a:latin typeface="Helvetica"/>
                <a:ea typeface="Calibri" panose="020F0502020204030204"/>
                <a:cs typeface="Helvetica"/>
              </a:rPr>
              <a:t> </a:t>
            </a:r>
            <a:r>
              <a:rPr lang="es-ES" sz="2400" dirty="0" err="1">
                <a:latin typeface="Helvetica"/>
                <a:ea typeface="Calibri" panose="020F0502020204030204"/>
                <a:cs typeface="Helvetica"/>
              </a:rPr>
              <a:t>hydrulic</a:t>
            </a:r>
            <a:r>
              <a:rPr lang="es-ES" sz="2400" dirty="0">
                <a:latin typeface="Helvetica"/>
                <a:ea typeface="Calibri" panose="020F0502020204030204"/>
                <a:cs typeface="Helvetica"/>
              </a:rPr>
              <a:t> safety </a:t>
            </a:r>
            <a:r>
              <a:rPr lang="es-ES" sz="2400" dirty="0" err="1">
                <a:latin typeface="Helvetica"/>
                <a:ea typeface="Calibri" panose="020F0502020204030204"/>
                <a:cs typeface="Helvetica"/>
              </a:rPr>
              <a:t>margin</a:t>
            </a:r>
            <a:r>
              <a:rPr lang="es-ES" sz="2400" dirty="0">
                <a:latin typeface="Helvetica"/>
                <a:ea typeface="Calibri" panose="020F0502020204030204"/>
                <a:cs typeface="Helvetica"/>
              </a:rPr>
              <a:t> </a:t>
            </a:r>
            <a:r>
              <a:rPr lang="es-ES" sz="2400" dirty="0">
                <a:latin typeface="Helvetica"/>
                <a:ea typeface="Calibri" panose="020F0502020204030204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dirty="0" err="1">
                <a:latin typeface="Helvetica"/>
                <a:cs typeface="Helvetica"/>
              </a:rPr>
              <a:t>Leaf</a:t>
            </a:r>
            <a:r>
              <a:rPr lang="es-ES" sz="2400" dirty="0">
                <a:latin typeface="Helvetica"/>
                <a:cs typeface="Helvetica"/>
              </a:rPr>
              <a:t> ↓Ψ</a:t>
            </a:r>
            <a:endParaRPr lang="es-ES" sz="2400" dirty="0">
              <a:cs typeface="Calibri" panose="020F0502020204030204"/>
            </a:endParaRPr>
          </a:p>
          <a:p>
            <a:pPr>
              <a:buFont typeface="Calibri"/>
              <a:buChar char="-"/>
            </a:pPr>
            <a:r>
              <a:rPr lang="es-ES" sz="2400" b="1" dirty="0" err="1">
                <a:latin typeface="Helvetica"/>
                <a:cs typeface="Helvetica"/>
              </a:rPr>
              <a:t>Embolism</a:t>
            </a:r>
            <a:endParaRPr lang="es-ES" sz="2400" b="1" dirty="0">
              <a:latin typeface="Helvetica" panose="020B0604020202020204" pitchFamily="34" charset="0"/>
              <a:cs typeface="Calibri" panose="020F0502020204030204"/>
            </a:endParaRPr>
          </a:p>
          <a:p>
            <a:pPr>
              <a:buFont typeface="Calibri"/>
              <a:buChar char="-"/>
            </a:pPr>
            <a:r>
              <a:rPr lang="es-ES" sz="2400" dirty="0">
                <a:latin typeface="Helvetica"/>
                <a:cs typeface="Helvetica"/>
              </a:rPr>
              <a:t>↑ </a:t>
            </a:r>
            <a:r>
              <a:rPr lang="es-ES" sz="2400" dirty="0" err="1">
                <a:latin typeface="Helvetica"/>
                <a:cs typeface="Helvetica"/>
              </a:rPr>
              <a:t>Transpiration</a:t>
            </a:r>
            <a:endParaRPr lang="es-ES" sz="2400" dirty="0">
              <a:latin typeface="Helvetica" panose="020B0604020202020204" pitchFamily="34" charset="0"/>
              <a:cs typeface="Calibri" panose="020F0502020204030204"/>
            </a:endParaRPr>
          </a:p>
          <a:p>
            <a:pPr>
              <a:buFont typeface="Calibri"/>
              <a:buChar char="-"/>
            </a:pPr>
            <a:r>
              <a:rPr lang="es-ES" sz="2400" dirty="0">
                <a:latin typeface="Helvetica"/>
                <a:cs typeface="Helvetica"/>
              </a:rPr>
              <a:t>↑ </a:t>
            </a:r>
            <a:r>
              <a:rPr lang="es-ES" sz="2400" dirty="0" err="1">
                <a:latin typeface="Helvetica" panose="020B0604020202020204" pitchFamily="34" charset="0"/>
                <a:cs typeface="Calibri" panose="020F0502020204030204"/>
              </a:rPr>
              <a:t>Photosynthetic</a:t>
            </a:r>
            <a:r>
              <a:rPr lang="es-ES" sz="2400" dirty="0">
                <a:latin typeface="Helvetica" panose="020B0604020202020204" pitchFamily="34" charset="0"/>
                <a:cs typeface="Calibri" panose="020F0502020204030204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Calibri" panose="020F0502020204030204"/>
              </a:rPr>
              <a:t>rates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9E3FEF1-F294-3810-DDC5-43B7C278F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73834-FE5A-03E2-F5BC-C18E44196CDC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9" name="Gráfico 12" descr="Abeto">
            <a:extLst>
              <a:ext uri="{FF2B5EF4-FFF2-40B4-BE49-F238E27FC236}">
                <a16:creationId xmlns:a16="http://schemas.microsoft.com/office/drawing/2014/main" id="{A3E4286E-9079-069A-97F2-6ECADD6EA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5744" y="3128892"/>
            <a:ext cx="844061" cy="844061"/>
          </a:xfrm>
          <a:prstGeom prst="rect">
            <a:avLst/>
          </a:prstGeom>
        </p:spPr>
      </p:pic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FB9529A5-A2A5-0872-75F2-BBB63ABAC71E}"/>
              </a:ext>
            </a:extLst>
          </p:cNvPr>
          <p:cNvSpPr txBox="1">
            <a:spLocks/>
          </p:cNvSpPr>
          <p:nvPr/>
        </p:nvSpPr>
        <p:spPr>
          <a:xfrm>
            <a:off x="-113467" y="2602555"/>
            <a:ext cx="2722485" cy="5015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Conifers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385C43B2-5F64-09CA-A9F4-E75A2167049C}"/>
              </a:ext>
            </a:extLst>
          </p:cNvPr>
          <p:cNvSpPr txBox="1">
            <a:spLocks/>
          </p:cNvSpPr>
          <p:nvPr/>
        </p:nvSpPr>
        <p:spPr>
          <a:xfrm>
            <a:off x="7193129" y="5013444"/>
            <a:ext cx="2601461" cy="12736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Hydraulic</a:t>
            </a:r>
            <a:r>
              <a:rPr lang="es-ES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failure</a:t>
            </a:r>
            <a:endParaRPr lang="es-ES" b="1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b="1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7D69B58A-0E98-9186-341D-1FEA299CCABC}"/>
              </a:ext>
            </a:extLst>
          </p:cNvPr>
          <p:cNvSpPr txBox="1">
            <a:spLocks/>
          </p:cNvSpPr>
          <p:nvPr/>
        </p:nvSpPr>
        <p:spPr>
          <a:xfrm>
            <a:off x="2755615" y="4945224"/>
            <a:ext cx="2601461" cy="12736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Carbon</a:t>
            </a:r>
            <a:r>
              <a:rPr lang="es-ES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starvation</a:t>
            </a:r>
            <a:endParaRPr lang="es-ES" b="1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b="1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878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A7753-B5D5-14CF-DA45-21CD41F86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31364477-9BE4-A846-4BF3-08CD05779886}"/>
              </a:ext>
            </a:extLst>
          </p:cNvPr>
          <p:cNvCxnSpPr>
            <a:cxnSpLocks/>
          </p:cNvCxnSpPr>
          <p:nvPr/>
        </p:nvCxnSpPr>
        <p:spPr>
          <a:xfrm>
            <a:off x="1468910" y="2061436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9DADE83F-5FD9-3C81-F98F-DFC9300B4B5B}"/>
              </a:ext>
            </a:extLst>
          </p:cNvPr>
          <p:cNvSpPr txBox="1">
            <a:spLocks/>
          </p:cNvSpPr>
          <p:nvPr/>
        </p:nvSpPr>
        <p:spPr>
          <a:xfrm>
            <a:off x="-339777" y="943334"/>
            <a:ext cx="3495519" cy="6863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C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starvation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61AC41D1-4651-0583-E902-D03AC3ACB7FE}"/>
              </a:ext>
            </a:extLst>
          </p:cNvPr>
          <p:cNvSpPr txBox="1">
            <a:spLocks/>
          </p:cNvSpPr>
          <p:nvPr/>
        </p:nvSpPr>
        <p:spPr>
          <a:xfrm>
            <a:off x="8696481" y="943334"/>
            <a:ext cx="3495519" cy="6863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Hydraulic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failure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81B84C1-4D85-ED42-D574-5BF805EE2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C848C4-D70A-FBB9-B36D-CFC00C76963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562AFE-6CB2-FE42-EAFA-7B8DC08F5D63}"/>
              </a:ext>
            </a:extLst>
          </p:cNvPr>
          <p:cNvSpPr/>
          <p:nvPr/>
        </p:nvSpPr>
        <p:spPr>
          <a:xfrm>
            <a:off x="871751" y="1536798"/>
            <a:ext cx="1194318" cy="382555"/>
          </a:xfrm>
          <a:prstGeom prst="rect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/>
              <a:t>Drought</a:t>
            </a:r>
            <a:endParaRPr lang="es-ES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6DA635-2AF3-EFD2-914B-84DA8336344D}"/>
              </a:ext>
            </a:extLst>
          </p:cNvPr>
          <p:cNvSpPr/>
          <p:nvPr/>
        </p:nvSpPr>
        <p:spPr>
          <a:xfrm>
            <a:off x="2978767" y="1536798"/>
            <a:ext cx="1194318" cy="382555"/>
          </a:xfrm>
          <a:prstGeom prst="rect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↑ </a:t>
            </a:r>
            <a:r>
              <a:rPr lang="es-ES" b="1" dirty="0" err="1"/>
              <a:t>Temp</a:t>
            </a:r>
            <a:r>
              <a:rPr lang="es-ES" b="1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7AAA9B-934F-42D8-64AF-47F8F94D3C50}"/>
              </a:ext>
            </a:extLst>
          </p:cNvPr>
          <p:cNvSpPr txBox="1"/>
          <p:nvPr/>
        </p:nvSpPr>
        <p:spPr>
          <a:xfrm>
            <a:off x="673791" y="2654901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l-GR" sz="1600" dirty="0">
                <a:latin typeface="Helvetica" panose="020B0604020202020204" pitchFamily="34" charset="0"/>
                <a:cs typeface="Helvetica" panose="020B0604020202020204" pitchFamily="34" charset="0"/>
              </a:rPr>
              <a:t>Ψ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soil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B4875C-C6C5-9D4A-38F3-43CFB3547432}"/>
              </a:ext>
            </a:extLst>
          </p:cNvPr>
          <p:cNvSpPr txBox="1"/>
          <p:nvPr/>
        </p:nvSpPr>
        <p:spPr>
          <a:xfrm>
            <a:off x="2066069" y="2651996"/>
            <a:ext cx="30197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↑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Evapotranspirative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demand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3" name="Conector recto de flecha 3">
            <a:extLst>
              <a:ext uri="{FF2B5EF4-FFF2-40B4-BE49-F238E27FC236}">
                <a16:creationId xmlns:a16="http://schemas.microsoft.com/office/drawing/2014/main" id="{522187B4-07AE-1558-7BCC-F8E49832A643}"/>
              </a:ext>
            </a:extLst>
          </p:cNvPr>
          <p:cNvCxnSpPr>
            <a:cxnSpLocks/>
          </p:cNvCxnSpPr>
          <p:nvPr/>
        </p:nvCxnSpPr>
        <p:spPr>
          <a:xfrm>
            <a:off x="3580420" y="2061437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3">
            <a:extLst>
              <a:ext uri="{FF2B5EF4-FFF2-40B4-BE49-F238E27FC236}">
                <a16:creationId xmlns:a16="http://schemas.microsoft.com/office/drawing/2014/main" id="{0472CBE4-7E50-3A1D-715F-FFD09CA5E73E}"/>
              </a:ext>
            </a:extLst>
          </p:cNvPr>
          <p:cNvCxnSpPr>
            <a:cxnSpLocks/>
          </p:cNvCxnSpPr>
          <p:nvPr/>
        </p:nvCxnSpPr>
        <p:spPr>
          <a:xfrm>
            <a:off x="3575925" y="3137647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3">
            <a:extLst>
              <a:ext uri="{FF2B5EF4-FFF2-40B4-BE49-F238E27FC236}">
                <a16:creationId xmlns:a16="http://schemas.microsoft.com/office/drawing/2014/main" id="{C51F248F-3A65-99FD-E4CD-0C7C9497881B}"/>
              </a:ext>
            </a:extLst>
          </p:cNvPr>
          <p:cNvCxnSpPr>
            <a:cxnSpLocks/>
          </p:cNvCxnSpPr>
          <p:nvPr/>
        </p:nvCxnSpPr>
        <p:spPr>
          <a:xfrm>
            <a:off x="1468910" y="3132554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2DF1573-3294-C037-7E73-27D031E9F10F}"/>
              </a:ext>
            </a:extLst>
          </p:cNvPr>
          <p:cNvSpPr txBox="1"/>
          <p:nvPr/>
        </p:nvSpPr>
        <p:spPr>
          <a:xfrm>
            <a:off x="612863" y="3723035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Transpiration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1E0B1A-0FD6-BFEB-8592-7347FAF7E5E0}"/>
              </a:ext>
            </a:extLst>
          </p:cNvPr>
          <p:cNvSpPr txBox="1"/>
          <p:nvPr/>
        </p:nvSpPr>
        <p:spPr>
          <a:xfrm>
            <a:off x="2780806" y="3698174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lang="es-ES" sz="1600" b="1" baseline="-25000" dirty="0" err="1"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endParaRPr lang="es-ES" b="1" baseline="-25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28" name="Conector recto de flecha 3">
            <a:extLst>
              <a:ext uri="{FF2B5EF4-FFF2-40B4-BE49-F238E27FC236}">
                <a16:creationId xmlns:a16="http://schemas.microsoft.com/office/drawing/2014/main" id="{D0FF7B76-47DB-92C4-BB60-F0D36B9A4529}"/>
              </a:ext>
            </a:extLst>
          </p:cNvPr>
          <p:cNvCxnSpPr>
            <a:cxnSpLocks/>
          </p:cNvCxnSpPr>
          <p:nvPr/>
        </p:nvCxnSpPr>
        <p:spPr>
          <a:xfrm flipH="1">
            <a:off x="2385000" y="3892312"/>
            <a:ext cx="642719" cy="0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3">
            <a:extLst>
              <a:ext uri="{FF2B5EF4-FFF2-40B4-BE49-F238E27FC236}">
                <a16:creationId xmlns:a16="http://schemas.microsoft.com/office/drawing/2014/main" id="{9F18AA62-85AF-ABD7-4978-44E5C48D70A1}"/>
              </a:ext>
            </a:extLst>
          </p:cNvPr>
          <p:cNvCxnSpPr>
            <a:cxnSpLocks/>
          </p:cNvCxnSpPr>
          <p:nvPr/>
        </p:nvCxnSpPr>
        <p:spPr>
          <a:xfrm>
            <a:off x="1468910" y="4227346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D37F04A-B160-D004-8BA6-D3E93D581389}"/>
              </a:ext>
            </a:extLst>
          </p:cNvPr>
          <p:cNvSpPr txBox="1"/>
          <p:nvPr/>
        </p:nvSpPr>
        <p:spPr>
          <a:xfrm>
            <a:off x="543702" y="4791169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Photosynthesis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2" name="Conector recto de flecha 3">
            <a:extLst>
              <a:ext uri="{FF2B5EF4-FFF2-40B4-BE49-F238E27FC236}">
                <a16:creationId xmlns:a16="http://schemas.microsoft.com/office/drawing/2014/main" id="{8F147705-9389-5970-0E85-542DA9842FDA}"/>
              </a:ext>
            </a:extLst>
          </p:cNvPr>
          <p:cNvCxnSpPr>
            <a:cxnSpLocks/>
          </p:cNvCxnSpPr>
          <p:nvPr/>
        </p:nvCxnSpPr>
        <p:spPr>
          <a:xfrm>
            <a:off x="1466693" y="5247493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E8CB7C0-C36A-E20A-0E2A-F9A648B6E830}"/>
              </a:ext>
            </a:extLst>
          </p:cNvPr>
          <p:cNvSpPr txBox="1"/>
          <p:nvPr/>
        </p:nvSpPr>
        <p:spPr>
          <a:xfrm>
            <a:off x="534585" y="5813507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5" name="Conector recto de flecha 3">
            <a:extLst>
              <a:ext uri="{FF2B5EF4-FFF2-40B4-BE49-F238E27FC236}">
                <a16:creationId xmlns:a16="http://schemas.microsoft.com/office/drawing/2014/main" id="{BAAB73B8-4137-2645-CDF1-A32BD342AD89}"/>
              </a:ext>
            </a:extLst>
          </p:cNvPr>
          <p:cNvCxnSpPr>
            <a:cxnSpLocks/>
          </p:cNvCxnSpPr>
          <p:nvPr/>
        </p:nvCxnSpPr>
        <p:spPr>
          <a:xfrm>
            <a:off x="2501098" y="4960446"/>
            <a:ext cx="633602" cy="0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EAFA422-0B4E-A2F0-E7DB-D3C7D0508518}"/>
              </a:ext>
            </a:extLst>
          </p:cNvPr>
          <p:cNvSpPr txBox="1"/>
          <p:nvPr/>
        </p:nvSpPr>
        <p:spPr>
          <a:xfrm>
            <a:off x="2995036" y="4791169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C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tradeoffs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9" name="Conector recto de flecha 3">
            <a:extLst>
              <a:ext uri="{FF2B5EF4-FFF2-40B4-BE49-F238E27FC236}">
                <a16:creationId xmlns:a16="http://schemas.microsoft.com/office/drawing/2014/main" id="{410D0CF3-2E16-9BAD-3C17-0413F2553076}"/>
              </a:ext>
            </a:extLst>
          </p:cNvPr>
          <p:cNvCxnSpPr>
            <a:cxnSpLocks/>
          </p:cNvCxnSpPr>
          <p:nvPr/>
        </p:nvCxnSpPr>
        <p:spPr>
          <a:xfrm flipH="1">
            <a:off x="2002245" y="5172333"/>
            <a:ext cx="1254139" cy="673723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3">
            <a:extLst>
              <a:ext uri="{FF2B5EF4-FFF2-40B4-BE49-F238E27FC236}">
                <a16:creationId xmlns:a16="http://schemas.microsoft.com/office/drawing/2014/main" id="{92EBD7A6-AEB9-7EC4-AAF6-5CFADFD08256}"/>
              </a:ext>
            </a:extLst>
          </p:cNvPr>
          <p:cNvCxnSpPr>
            <a:cxnSpLocks/>
          </p:cNvCxnSpPr>
          <p:nvPr/>
        </p:nvCxnSpPr>
        <p:spPr>
          <a:xfrm>
            <a:off x="3905606" y="5247493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B501D3C-E8B8-9922-0890-64D78035426F}"/>
              </a:ext>
            </a:extLst>
          </p:cNvPr>
          <p:cNvSpPr txBox="1"/>
          <p:nvPr/>
        </p:nvSpPr>
        <p:spPr>
          <a:xfrm>
            <a:off x="3110487" y="5738126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↓Defenses</a:t>
            </a:r>
            <a:endParaRPr lang="es-ES" baseline="-25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45" name="Conector recto de flecha 3">
            <a:extLst>
              <a:ext uri="{FF2B5EF4-FFF2-40B4-BE49-F238E27FC236}">
                <a16:creationId xmlns:a16="http://schemas.microsoft.com/office/drawing/2014/main" id="{47ECB8DA-6A9E-FFEA-C995-3BB3FC8D1725}"/>
              </a:ext>
            </a:extLst>
          </p:cNvPr>
          <p:cNvCxnSpPr>
            <a:cxnSpLocks/>
          </p:cNvCxnSpPr>
          <p:nvPr/>
        </p:nvCxnSpPr>
        <p:spPr>
          <a:xfrm>
            <a:off x="4554829" y="5129723"/>
            <a:ext cx="955842" cy="488774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0198703-F469-A562-60AA-77B715C08E48}"/>
              </a:ext>
            </a:extLst>
          </p:cNvPr>
          <p:cNvSpPr txBox="1"/>
          <p:nvPr/>
        </p:nvSpPr>
        <p:spPr>
          <a:xfrm>
            <a:off x="4734865" y="5738126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endParaRPr lang="es-ES" baseline="-25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48" name="Conector recto de flecha 3">
            <a:extLst>
              <a:ext uri="{FF2B5EF4-FFF2-40B4-BE49-F238E27FC236}">
                <a16:creationId xmlns:a16="http://schemas.microsoft.com/office/drawing/2014/main" id="{91425695-7990-DF2D-9F12-71F52C17EA27}"/>
              </a:ext>
            </a:extLst>
          </p:cNvPr>
          <p:cNvCxnSpPr>
            <a:cxnSpLocks/>
          </p:cNvCxnSpPr>
          <p:nvPr/>
        </p:nvCxnSpPr>
        <p:spPr>
          <a:xfrm>
            <a:off x="8474257" y="2060443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C346DF53-E281-A4A8-55A4-0F708836A13B}"/>
              </a:ext>
            </a:extLst>
          </p:cNvPr>
          <p:cNvSpPr/>
          <p:nvPr/>
        </p:nvSpPr>
        <p:spPr>
          <a:xfrm>
            <a:off x="7877098" y="1535805"/>
            <a:ext cx="1194318" cy="382555"/>
          </a:xfrm>
          <a:prstGeom prst="rect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/>
              <a:t>Drought</a:t>
            </a:r>
            <a:endParaRPr lang="es-ES" b="1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F7B9E6B-6EA0-3137-95F1-61F81A444641}"/>
              </a:ext>
            </a:extLst>
          </p:cNvPr>
          <p:cNvSpPr/>
          <p:nvPr/>
        </p:nvSpPr>
        <p:spPr>
          <a:xfrm>
            <a:off x="9984114" y="1535805"/>
            <a:ext cx="1194318" cy="382555"/>
          </a:xfrm>
          <a:prstGeom prst="rect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↑ </a:t>
            </a:r>
            <a:r>
              <a:rPr lang="es-ES" b="1" dirty="0" err="1"/>
              <a:t>Temp</a:t>
            </a:r>
            <a:r>
              <a:rPr lang="es-ES" b="1" dirty="0"/>
              <a:t>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6D4BB9-7ABC-039E-8127-FDAB66EE8FA2}"/>
              </a:ext>
            </a:extLst>
          </p:cNvPr>
          <p:cNvSpPr txBox="1"/>
          <p:nvPr/>
        </p:nvSpPr>
        <p:spPr>
          <a:xfrm>
            <a:off x="7679138" y="2653908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l-GR" sz="1600" dirty="0">
                <a:latin typeface="Helvetica" panose="020B0604020202020204" pitchFamily="34" charset="0"/>
                <a:cs typeface="Helvetica" panose="020B0604020202020204" pitchFamily="34" charset="0"/>
              </a:rPr>
              <a:t>Ψ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soil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4945532-EF9B-E82C-9E36-57275A3BE558}"/>
              </a:ext>
            </a:extLst>
          </p:cNvPr>
          <p:cNvSpPr txBox="1"/>
          <p:nvPr/>
        </p:nvSpPr>
        <p:spPr>
          <a:xfrm>
            <a:off x="9071416" y="2651003"/>
            <a:ext cx="30197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↑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Evapotranspirative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demand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53" name="Conector recto de flecha 3">
            <a:extLst>
              <a:ext uri="{FF2B5EF4-FFF2-40B4-BE49-F238E27FC236}">
                <a16:creationId xmlns:a16="http://schemas.microsoft.com/office/drawing/2014/main" id="{5517A01B-315F-5388-A7D2-8F20325AB7AC}"/>
              </a:ext>
            </a:extLst>
          </p:cNvPr>
          <p:cNvCxnSpPr>
            <a:cxnSpLocks/>
          </p:cNvCxnSpPr>
          <p:nvPr/>
        </p:nvCxnSpPr>
        <p:spPr>
          <a:xfrm>
            <a:off x="10585767" y="2060444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3">
            <a:extLst>
              <a:ext uri="{FF2B5EF4-FFF2-40B4-BE49-F238E27FC236}">
                <a16:creationId xmlns:a16="http://schemas.microsoft.com/office/drawing/2014/main" id="{AC484AE8-ACF8-89FE-D6A5-1CEF681CA2F5}"/>
              </a:ext>
            </a:extLst>
          </p:cNvPr>
          <p:cNvCxnSpPr>
            <a:cxnSpLocks/>
          </p:cNvCxnSpPr>
          <p:nvPr/>
        </p:nvCxnSpPr>
        <p:spPr>
          <a:xfrm>
            <a:off x="10563141" y="3135735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3">
            <a:extLst>
              <a:ext uri="{FF2B5EF4-FFF2-40B4-BE49-F238E27FC236}">
                <a16:creationId xmlns:a16="http://schemas.microsoft.com/office/drawing/2014/main" id="{9046DCD0-CCD5-ADE1-8B7C-965CC65D5F7A}"/>
              </a:ext>
            </a:extLst>
          </p:cNvPr>
          <p:cNvCxnSpPr>
            <a:cxnSpLocks/>
          </p:cNvCxnSpPr>
          <p:nvPr/>
        </p:nvCxnSpPr>
        <p:spPr>
          <a:xfrm>
            <a:off x="8456126" y="3130642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646BD5C-2D3E-21A6-225B-06AD02769F05}"/>
              </a:ext>
            </a:extLst>
          </p:cNvPr>
          <p:cNvSpPr txBox="1"/>
          <p:nvPr/>
        </p:nvSpPr>
        <p:spPr>
          <a:xfrm>
            <a:off x="7661007" y="3598012"/>
            <a:ext cx="15902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↑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Tension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>
              <a:buClr>
                <a:srgbClr val="218317"/>
              </a:buClr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xylem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58" name="Conector recto de flecha 3">
            <a:extLst>
              <a:ext uri="{FF2B5EF4-FFF2-40B4-BE49-F238E27FC236}">
                <a16:creationId xmlns:a16="http://schemas.microsoft.com/office/drawing/2014/main" id="{BDA0C371-0C9A-9D5C-5210-E3512D9FABCA}"/>
              </a:ext>
            </a:extLst>
          </p:cNvPr>
          <p:cNvCxnSpPr>
            <a:cxnSpLocks/>
          </p:cNvCxnSpPr>
          <p:nvPr/>
        </p:nvCxnSpPr>
        <p:spPr>
          <a:xfrm flipH="1">
            <a:off x="9071416" y="3890400"/>
            <a:ext cx="514155" cy="191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3">
            <a:extLst>
              <a:ext uri="{FF2B5EF4-FFF2-40B4-BE49-F238E27FC236}">
                <a16:creationId xmlns:a16="http://schemas.microsoft.com/office/drawing/2014/main" id="{88F7075F-14FA-3D8E-5297-F7858DFB4FFE}"/>
              </a:ext>
            </a:extLst>
          </p:cNvPr>
          <p:cNvCxnSpPr>
            <a:cxnSpLocks/>
          </p:cNvCxnSpPr>
          <p:nvPr/>
        </p:nvCxnSpPr>
        <p:spPr>
          <a:xfrm>
            <a:off x="8456126" y="4225434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A09C74C-4DA5-65AC-D6D3-799CF433D0AB}"/>
              </a:ext>
            </a:extLst>
          </p:cNvPr>
          <p:cNvSpPr txBox="1"/>
          <p:nvPr/>
        </p:nvSpPr>
        <p:spPr>
          <a:xfrm>
            <a:off x="9362975" y="3696262"/>
            <a:ext cx="24003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↑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Transpiration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53866C4-D870-820D-669D-4D280436DEDA}"/>
              </a:ext>
            </a:extLst>
          </p:cNvPr>
          <p:cNvSpPr txBox="1"/>
          <p:nvPr/>
        </p:nvSpPr>
        <p:spPr>
          <a:xfrm>
            <a:off x="7536182" y="4791169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Embolism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8AA4912-1B5B-60B4-2C02-86F7CF60DE0B}"/>
              </a:ext>
            </a:extLst>
          </p:cNvPr>
          <p:cNvSpPr txBox="1"/>
          <p:nvPr/>
        </p:nvSpPr>
        <p:spPr>
          <a:xfrm>
            <a:off x="7478078" y="5963241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76" name="Conector recto de flecha 3">
            <a:extLst>
              <a:ext uri="{FF2B5EF4-FFF2-40B4-BE49-F238E27FC236}">
                <a16:creationId xmlns:a16="http://schemas.microsoft.com/office/drawing/2014/main" id="{20D9370D-5BFD-EEF1-16E8-716BE14847C9}"/>
              </a:ext>
            </a:extLst>
          </p:cNvPr>
          <p:cNvCxnSpPr>
            <a:cxnSpLocks/>
          </p:cNvCxnSpPr>
          <p:nvPr/>
        </p:nvCxnSpPr>
        <p:spPr>
          <a:xfrm>
            <a:off x="9140231" y="4931501"/>
            <a:ext cx="633602" cy="0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643C73AC-DC31-4406-8974-83653360B6C5}"/>
              </a:ext>
            </a:extLst>
          </p:cNvPr>
          <p:cNvSpPr txBox="1"/>
          <p:nvPr/>
        </p:nvSpPr>
        <p:spPr>
          <a:xfrm>
            <a:off x="9734331" y="4622080"/>
            <a:ext cx="15902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Hydraulic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conductance</a:t>
            </a:r>
            <a:endParaRPr lang="es-ES" b="1" baseline="-25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89" name="Conector recto de flecha 3">
            <a:extLst>
              <a:ext uri="{FF2B5EF4-FFF2-40B4-BE49-F238E27FC236}">
                <a16:creationId xmlns:a16="http://schemas.microsoft.com/office/drawing/2014/main" id="{10761385-C6CB-3C10-7300-A59A4928CEF2}"/>
              </a:ext>
            </a:extLst>
          </p:cNvPr>
          <p:cNvCxnSpPr>
            <a:cxnSpLocks/>
          </p:cNvCxnSpPr>
          <p:nvPr/>
        </p:nvCxnSpPr>
        <p:spPr>
          <a:xfrm>
            <a:off x="10514783" y="5369114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B570FEEC-D3EF-A336-3A86-46E8CF41C4EA}"/>
              </a:ext>
            </a:extLst>
          </p:cNvPr>
          <p:cNvSpPr txBox="1"/>
          <p:nvPr/>
        </p:nvSpPr>
        <p:spPr>
          <a:xfrm>
            <a:off x="9589575" y="5932937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Photosynthesis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91" name="Conector recto de flecha 3">
            <a:extLst>
              <a:ext uri="{FF2B5EF4-FFF2-40B4-BE49-F238E27FC236}">
                <a16:creationId xmlns:a16="http://schemas.microsoft.com/office/drawing/2014/main" id="{AE73362B-F71A-E61B-580F-59B247C008EE}"/>
              </a:ext>
            </a:extLst>
          </p:cNvPr>
          <p:cNvCxnSpPr>
            <a:cxnSpLocks/>
          </p:cNvCxnSpPr>
          <p:nvPr/>
        </p:nvCxnSpPr>
        <p:spPr>
          <a:xfrm flipH="1">
            <a:off x="8775143" y="5270055"/>
            <a:ext cx="1254139" cy="673723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Marcador de contenido 2">
            <a:extLst>
              <a:ext uri="{FF2B5EF4-FFF2-40B4-BE49-F238E27FC236}">
                <a16:creationId xmlns:a16="http://schemas.microsoft.com/office/drawing/2014/main" id="{F7EAE8BC-CC61-F411-2D06-CB2C8B55BADA}"/>
              </a:ext>
            </a:extLst>
          </p:cNvPr>
          <p:cNvSpPr txBox="1">
            <a:spLocks/>
          </p:cNvSpPr>
          <p:nvPr/>
        </p:nvSpPr>
        <p:spPr>
          <a:xfrm>
            <a:off x="4784128" y="3824068"/>
            <a:ext cx="2895010" cy="68632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Not</a:t>
            </a:r>
            <a:r>
              <a:rPr lang="es-ES" sz="24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mutually</a:t>
            </a:r>
            <a:r>
              <a:rPr lang="es-ES" sz="24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exclusive!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6E05AC-4522-A09B-AEF7-840D4F477CE3}"/>
              </a:ext>
            </a:extLst>
          </p:cNvPr>
          <p:cNvSpPr txBox="1"/>
          <p:nvPr/>
        </p:nvSpPr>
        <p:spPr>
          <a:xfrm>
            <a:off x="9046974" y="6472919"/>
            <a:ext cx="33479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McDowell 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et al.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, 2008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346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1E2CD-1C19-7E65-C112-F6A5133C7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3DEDBC0D-3A1C-583D-E05E-3A725F5D3325}"/>
              </a:ext>
            </a:extLst>
          </p:cNvPr>
          <p:cNvCxnSpPr>
            <a:cxnSpLocks/>
          </p:cNvCxnSpPr>
          <p:nvPr/>
        </p:nvCxnSpPr>
        <p:spPr>
          <a:xfrm>
            <a:off x="1468910" y="2061436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1CB46EA8-D3F7-AA1D-FECA-094EF868243E}"/>
              </a:ext>
            </a:extLst>
          </p:cNvPr>
          <p:cNvSpPr txBox="1">
            <a:spLocks/>
          </p:cNvSpPr>
          <p:nvPr/>
        </p:nvSpPr>
        <p:spPr>
          <a:xfrm>
            <a:off x="-339777" y="943334"/>
            <a:ext cx="8634691" cy="6863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Predisposing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affect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these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mechanisms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5D52192-2809-8E60-3A32-F3D5B8F0C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5DB8F2-2453-963D-28E7-6F4E3245C73F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0D9D5F-43EA-DA80-EC52-3D6BE7ECEDB1}"/>
              </a:ext>
            </a:extLst>
          </p:cNvPr>
          <p:cNvSpPr/>
          <p:nvPr/>
        </p:nvSpPr>
        <p:spPr>
          <a:xfrm>
            <a:off x="871751" y="1536798"/>
            <a:ext cx="1194318" cy="382555"/>
          </a:xfrm>
          <a:prstGeom prst="rect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/>
              <a:t>Drought</a:t>
            </a:r>
            <a:endParaRPr lang="es-ES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EA4DA0-8292-957D-32F1-790B98CBC27C}"/>
              </a:ext>
            </a:extLst>
          </p:cNvPr>
          <p:cNvSpPr/>
          <p:nvPr/>
        </p:nvSpPr>
        <p:spPr>
          <a:xfrm>
            <a:off x="2978767" y="1536798"/>
            <a:ext cx="1194318" cy="382555"/>
          </a:xfrm>
          <a:prstGeom prst="rect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↑ </a:t>
            </a:r>
            <a:r>
              <a:rPr lang="es-ES" b="1" dirty="0" err="1"/>
              <a:t>Temp</a:t>
            </a:r>
            <a:r>
              <a:rPr lang="es-ES" b="1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9D8602-9F7C-AF80-1361-5FB28D678265}"/>
              </a:ext>
            </a:extLst>
          </p:cNvPr>
          <p:cNvSpPr txBox="1"/>
          <p:nvPr/>
        </p:nvSpPr>
        <p:spPr>
          <a:xfrm>
            <a:off x="673791" y="2654901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l-GR" sz="1600" dirty="0">
                <a:latin typeface="Helvetica" panose="020B0604020202020204" pitchFamily="34" charset="0"/>
                <a:cs typeface="Helvetica" panose="020B0604020202020204" pitchFamily="34" charset="0"/>
              </a:rPr>
              <a:t>Ψ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soil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8630E2-EC55-A4B4-0D8E-8E42E5B98CD4}"/>
              </a:ext>
            </a:extLst>
          </p:cNvPr>
          <p:cNvSpPr txBox="1"/>
          <p:nvPr/>
        </p:nvSpPr>
        <p:spPr>
          <a:xfrm>
            <a:off x="2066069" y="2651996"/>
            <a:ext cx="30197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↑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Evapotranspirative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demand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3" name="Conector recto de flecha 3">
            <a:extLst>
              <a:ext uri="{FF2B5EF4-FFF2-40B4-BE49-F238E27FC236}">
                <a16:creationId xmlns:a16="http://schemas.microsoft.com/office/drawing/2014/main" id="{C51D0403-6029-1ABE-144C-4AC7A423ADF1}"/>
              </a:ext>
            </a:extLst>
          </p:cNvPr>
          <p:cNvCxnSpPr>
            <a:cxnSpLocks/>
          </p:cNvCxnSpPr>
          <p:nvPr/>
        </p:nvCxnSpPr>
        <p:spPr>
          <a:xfrm>
            <a:off x="3580420" y="2061437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3">
            <a:extLst>
              <a:ext uri="{FF2B5EF4-FFF2-40B4-BE49-F238E27FC236}">
                <a16:creationId xmlns:a16="http://schemas.microsoft.com/office/drawing/2014/main" id="{9C25558E-58F2-C567-0AE2-6C23F40A8046}"/>
              </a:ext>
            </a:extLst>
          </p:cNvPr>
          <p:cNvCxnSpPr>
            <a:cxnSpLocks/>
          </p:cNvCxnSpPr>
          <p:nvPr/>
        </p:nvCxnSpPr>
        <p:spPr>
          <a:xfrm>
            <a:off x="3575925" y="3137647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3">
            <a:extLst>
              <a:ext uri="{FF2B5EF4-FFF2-40B4-BE49-F238E27FC236}">
                <a16:creationId xmlns:a16="http://schemas.microsoft.com/office/drawing/2014/main" id="{786091D5-9265-D393-8A09-4AD5045FE7F7}"/>
              </a:ext>
            </a:extLst>
          </p:cNvPr>
          <p:cNvCxnSpPr>
            <a:cxnSpLocks/>
          </p:cNvCxnSpPr>
          <p:nvPr/>
        </p:nvCxnSpPr>
        <p:spPr>
          <a:xfrm>
            <a:off x="1468910" y="3132554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68DB367-0A4F-9F85-386A-B95016189251}"/>
              </a:ext>
            </a:extLst>
          </p:cNvPr>
          <p:cNvSpPr txBox="1"/>
          <p:nvPr/>
        </p:nvSpPr>
        <p:spPr>
          <a:xfrm>
            <a:off x="612863" y="3723035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Transpiration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F63780-D05C-D51B-B222-EEFEF5B190B0}"/>
              </a:ext>
            </a:extLst>
          </p:cNvPr>
          <p:cNvSpPr txBox="1"/>
          <p:nvPr/>
        </p:nvSpPr>
        <p:spPr>
          <a:xfrm>
            <a:off x="2780806" y="3698174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lang="es-ES" sz="1600" b="1" baseline="-25000" dirty="0" err="1"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endParaRPr lang="es-ES" b="1" baseline="-25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28" name="Conector recto de flecha 3">
            <a:extLst>
              <a:ext uri="{FF2B5EF4-FFF2-40B4-BE49-F238E27FC236}">
                <a16:creationId xmlns:a16="http://schemas.microsoft.com/office/drawing/2014/main" id="{F454C607-550A-6A23-2211-C8832EE40C90}"/>
              </a:ext>
            </a:extLst>
          </p:cNvPr>
          <p:cNvCxnSpPr>
            <a:cxnSpLocks/>
          </p:cNvCxnSpPr>
          <p:nvPr/>
        </p:nvCxnSpPr>
        <p:spPr>
          <a:xfrm flipH="1">
            <a:off x="2385000" y="3892312"/>
            <a:ext cx="642719" cy="0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3">
            <a:extLst>
              <a:ext uri="{FF2B5EF4-FFF2-40B4-BE49-F238E27FC236}">
                <a16:creationId xmlns:a16="http://schemas.microsoft.com/office/drawing/2014/main" id="{FB38AF68-CC41-C6A8-80B5-0B024A965EB7}"/>
              </a:ext>
            </a:extLst>
          </p:cNvPr>
          <p:cNvCxnSpPr>
            <a:cxnSpLocks/>
          </p:cNvCxnSpPr>
          <p:nvPr/>
        </p:nvCxnSpPr>
        <p:spPr>
          <a:xfrm>
            <a:off x="1468910" y="4227346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AB79119-7257-D2AD-8A6F-57B6717807A6}"/>
              </a:ext>
            </a:extLst>
          </p:cNvPr>
          <p:cNvSpPr txBox="1"/>
          <p:nvPr/>
        </p:nvSpPr>
        <p:spPr>
          <a:xfrm>
            <a:off x="543702" y="4791169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Photosynthesis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2" name="Conector recto de flecha 3">
            <a:extLst>
              <a:ext uri="{FF2B5EF4-FFF2-40B4-BE49-F238E27FC236}">
                <a16:creationId xmlns:a16="http://schemas.microsoft.com/office/drawing/2014/main" id="{738052AD-3043-6321-02A4-9ADE61971963}"/>
              </a:ext>
            </a:extLst>
          </p:cNvPr>
          <p:cNvCxnSpPr>
            <a:cxnSpLocks/>
          </p:cNvCxnSpPr>
          <p:nvPr/>
        </p:nvCxnSpPr>
        <p:spPr>
          <a:xfrm>
            <a:off x="1466693" y="5247493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363BF88-99C8-B1B0-8FED-4C16465623A7}"/>
              </a:ext>
            </a:extLst>
          </p:cNvPr>
          <p:cNvSpPr txBox="1"/>
          <p:nvPr/>
        </p:nvSpPr>
        <p:spPr>
          <a:xfrm>
            <a:off x="534585" y="5813507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5" name="Conector recto de flecha 3">
            <a:extLst>
              <a:ext uri="{FF2B5EF4-FFF2-40B4-BE49-F238E27FC236}">
                <a16:creationId xmlns:a16="http://schemas.microsoft.com/office/drawing/2014/main" id="{2850818A-367B-D5D2-CAC3-1935F60532F7}"/>
              </a:ext>
            </a:extLst>
          </p:cNvPr>
          <p:cNvCxnSpPr>
            <a:cxnSpLocks/>
          </p:cNvCxnSpPr>
          <p:nvPr/>
        </p:nvCxnSpPr>
        <p:spPr>
          <a:xfrm>
            <a:off x="2501098" y="4960446"/>
            <a:ext cx="633602" cy="0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A918C69-95FE-03F7-AFBA-DC2165450A10}"/>
              </a:ext>
            </a:extLst>
          </p:cNvPr>
          <p:cNvSpPr txBox="1"/>
          <p:nvPr/>
        </p:nvSpPr>
        <p:spPr>
          <a:xfrm>
            <a:off x="2995036" y="4791169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C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tradeoffs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9" name="Conector recto de flecha 3">
            <a:extLst>
              <a:ext uri="{FF2B5EF4-FFF2-40B4-BE49-F238E27FC236}">
                <a16:creationId xmlns:a16="http://schemas.microsoft.com/office/drawing/2014/main" id="{66A26E90-D249-E84C-1125-575254810CEF}"/>
              </a:ext>
            </a:extLst>
          </p:cNvPr>
          <p:cNvCxnSpPr>
            <a:cxnSpLocks/>
          </p:cNvCxnSpPr>
          <p:nvPr/>
        </p:nvCxnSpPr>
        <p:spPr>
          <a:xfrm flipH="1">
            <a:off x="2002245" y="5172333"/>
            <a:ext cx="1254139" cy="673723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3">
            <a:extLst>
              <a:ext uri="{FF2B5EF4-FFF2-40B4-BE49-F238E27FC236}">
                <a16:creationId xmlns:a16="http://schemas.microsoft.com/office/drawing/2014/main" id="{4DB1CE15-5194-1E46-4C54-E9276F0C21C7}"/>
              </a:ext>
            </a:extLst>
          </p:cNvPr>
          <p:cNvCxnSpPr>
            <a:cxnSpLocks/>
          </p:cNvCxnSpPr>
          <p:nvPr/>
        </p:nvCxnSpPr>
        <p:spPr>
          <a:xfrm>
            <a:off x="3905606" y="5247493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0DE9CBB-CCF6-9434-1B57-983C4D931E5B}"/>
              </a:ext>
            </a:extLst>
          </p:cNvPr>
          <p:cNvSpPr txBox="1"/>
          <p:nvPr/>
        </p:nvSpPr>
        <p:spPr>
          <a:xfrm>
            <a:off x="3110487" y="5738126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↓Defenses</a:t>
            </a:r>
            <a:endParaRPr lang="es-ES" baseline="-25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45" name="Conector recto de flecha 3">
            <a:extLst>
              <a:ext uri="{FF2B5EF4-FFF2-40B4-BE49-F238E27FC236}">
                <a16:creationId xmlns:a16="http://schemas.microsoft.com/office/drawing/2014/main" id="{76B24518-548B-67BB-5480-CF4457D20D97}"/>
              </a:ext>
            </a:extLst>
          </p:cNvPr>
          <p:cNvCxnSpPr>
            <a:cxnSpLocks/>
          </p:cNvCxnSpPr>
          <p:nvPr/>
        </p:nvCxnSpPr>
        <p:spPr>
          <a:xfrm>
            <a:off x="4554829" y="5129723"/>
            <a:ext cx="955842" cy="488774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4445A3F-8B04-B55C-F316-0555D6E8E7C6}"/>
              </a:ext>
            </a:extLst>
          </p:cNvPr>
          <p:cNvSpPr txBox="1"/>
          <p:nvPr/>
        </p:nvSpPr>
        <p:spPr>
          <a:xfrm>
            <a:off x="4734865" y="5738126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endParaRPr lang="es-ES" baseline="-25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48" name="Conector recto de flecha 3">
            <a:extLst>
              <a:ext uri="{FF2B5EF4-FFF2-40B4-BE49-F238E27FC236}">
                <a16:creationId xmlns:a16="http://schemas.microsoft.com/office/drawing/2014/main" id="{DB33BDAB-5741-BCC2-0FA1-F4E5A13FF835}"/>
              </a:ext>
            </a:extLst>
          </p:cNvPr>
          <p:cNvCxnSpPr>
            <a:cxnSpLocks/>
          </p:cNvCxnSpPr>
          <p:nvPr/>
        </p:nvCxnSpPr>
        <p:spPr>
          <a:xfrm>
            <a:off x="8474257" y="2060443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66D826F2-9E9C-DEF8-0AC9-686A9E05C619}"/>
              </a:ext>
            </a:extLst>
          </p:cNvPr>
          <p:cNvSpPr/>
          <p:nvPr/>
        </p:nvSpPr>
        <p:spPr>
          <a:xfrm>
            <a:off x="7877098" y="1535805"/>
            <a:ext cx="1194318" cy="382555"/>
          </a:xfrm>
          <a:prstGeom prst="rect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/>
              <a:t>Drought</a:t>
            </a:r>
            <a:endParaRPr lang="es-ES" b="1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BF2F0AC-3F56-FCA2-BC32-B9101AA103C5}"/>
              </a:ext>
            </a:extLst>
          </p:cNvPr>
          <p:cNvSpPr/>
          <p:nvPr/>
        </p:nvSpPr>
        <p:spPr>
          <a:xfrm>
            <a:off x="9984114" y="1535805"/>
            <a:ext cx="1194318" cy="382555"/>
          </a:xfrm>
          <a:prstGeom prst="rect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↑ </a:t>
            </a:r>
            <a:r>
              <a:rPr lang="es-ES" b="1" dirty="0" err="1"/>
              <a:t>Temp</a:t>
            </a:r>
            <a:r>
              <a:rPr lang="es-ES" b="1" dirty="0"/>
              <a:t>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1D16A0-866F-CC75-9509-707F96844A68}"/>
              </a:ext>
            </a:extLst>
          </p:cNvPr>
          <p:cNvSpPr txBox="1"/>
          <p:nvPr/>
        </p:nvSpPr>
        <p:spPr>
          <a:xfrm>
            <a:off x="7679138" y="2653908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l-GR" sz="1600" dirty="0">
                <a:latin typeface="Helvetica" panose="020B0604020202020204" pitchFamily="34" charset="0"/>
                <a:cs typeface="Helvetica" panose="020B0604020202020204" pitchFamily="34" charset="0"/>
              </a:rPr>
              <a:t>Ψ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soil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B05853A-FDB2-D06C-EAB0-0AD47AC57A53}"/>
              </a:ext>
            </a:extLst>
          </p:cNvPr>
          <p:cNvSpPr txBox="1"/>
          <p:nvPr/>
        </p:nvSpPr>
        <p:spPr>
          <a:xfrm>
            <a:off x="9071416" y="2651003"/>
            <a:ext cx="30197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↑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Evapotranspirative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demand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53" name="Conector recto de flecha 3">
            <a:extLst>
              <a:ext uri="{FF2B5EF4-FFF2-40B4-BE49-F238E27FC236}">
                <a16:creationId xmlns:a16="http://schemas.microsoft.com/office/drawing/2014/main" id="{71C8CD16-D2AE-CAE8-0730-AD3A0E749D8E}"/>
              </a:ext>
            </a:extLst>
          </p:cNvPr>
          <p:cNvCxnSpPr>
            <a:cxnSpLocks/>
          </p:cNvCxnSpPr>
          <p:nvPr/>
        </p:nvCxnSpPr>
        <p:spPr>
          <a:xfrm>
            <a:off x="10585767" y="2060444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3">
            <a:extLst>
              <a:ext uri="{FF2B5EF4-FFF2-40B4-BE49-F238E27FC236}">
                <a16:creationId xmlns:a16="http://schemas.microsoft.com/office/drawing/2014/main" id="{8770AE80-9C0F-9CCB-DE01-0F58FC6B830B}"/>
              </a:ext>
            </a:extLst>
          </p:cNvPr>
          <p:cNvCxnSpPr>
            <a:cxnSpLocks/>
          </p:cNvCxnSpPr>
          <p:nvPr/>
        </p:nvCxnSpPr>
        <p:spPr>
          <a:xfrm>
            <a:off x="10563141" y="3135735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3">
            <a:extLst>
              <a:ext uri="{FF2B5EF4-FFF2-40B4-BE49-F238E27FC236}">
                <a16:creationId xmlns:a16="http://schemas.microsoft.com/office/drawing/2014/main" id="{19D01A5C-B711-DC39-0F29-D5CDE915B1D9}"/>
              </a:ext>
            </a:extLst>
          </p:cNvPr>
          <p:cNvCxnSpPr>
            <a:cxnSpLocks/>
          </p:cNvCxnSpPr>
          <p:nvPr/>
        </p:nvCxnSpPr>
        <p:spPr>
          <a:xfrm>
            <a:off x="8456126" y="3130642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BEDA4F2-FFD0-840A-F883-2BA84FF2A12C}"/>
              </a:ext>
            </a:extLst>
          </p:cNvPr>
          <p:cNvSpPr txBox="1"/>
          <p:nvPr/>
        </p:nvSpPr>
        <p:spPr>
          <a:xfrm>
            <a:off x="7661007" y="3598012"/>
            <a:ext cx="15902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↑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Tension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>
              <a:buClr>
                <a:srgbClr val="218317"/>
              </a:buClr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xylem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58" name="Conector recto de flecha 3">
            <a:extLst>
              <a:ext uri="{FF2B5EF4-FFF2-40B4-BE49-F238E27FC236}">
                <a16:creationId xmlns:a16="http://schemas.microsoft.com/office/drawing/2014/main" id="{D8C73F3E-2FAF-0FBF-0302-A20571152D59}"/>
              </a:ext>
            </a:extLst>
          </p:cNvPr>
          <p:cNvCxnSpPr>
            <a:cxnSpLocks/>
          </p:cNvCxnSpPr>
          <p:nvPr/>
        </p:nvCxnSpPr>
        <p:spPr>
          <a:xfrm flipH="1">
            <a:off x="9071416" y="3890400"/>
            <a:ext cx="514155" cy="191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3">
            <a:extLst>
              <a:ext uri="{FF2B5EF4-FFF2-40B4-BE49-F238E27FC236}">
                <a16:creationId xmlns:a16="http://schemas.microsoft.com/office/drawing/2014/main" id="{36644395-63C5-0427-4C07-0DC7748DED49}"/>
              </a:ext>
            </a:extLst>
          </p:cNvPr>
          <p:cNvCxnSpPr>
            <a:cxnSpLocks/>
          </p:cNvCxnSpPr>
          <p:nvPr/>
        </p:nvCxnSpPr>
        <p:spPr>
          <a:xfrm>
            <a:off x="8456126" y="4225434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CF23BFCC-52D3-8999-554D-470A49865B20}"/>
              </a:ext>
            </a:extLst>
          </p:cNvPr>
          <p:cNvSpPr txBox="1"/>
          <p:nvPr/>
        </p:nvSpPr>
        <p:spPr>
          <a:xfrm>
            <a:off x="9362975" y="3696262"/>
            <a:ext cx="24003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↑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Transpiration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E528F02-294A-D978-9AC3-6940B7E47AEA}"/>
              </a:ext>
            </a:extLst>
          </p:cNvPr>
          <p:cNvSpPr txBox="1"/>
          <p:nvPr/>
        </p:nvSpPr>
        <p:spPr>
          <a:xfrm>
            <a:off x="7536182" y="4791169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Embolism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27084FE-B930-8334-F1C8-5FAA733C3CC8}"/>
              </a:ext>
            </a:extLst>
          </p:cNvPr>
          <p:cNvSpPr txBox="1"/>
          <p:nvPr/>
        </p:nvSpPr>
        <p:spPr>
          <a:xfrm>
            <a:off x="7478078" y="5963241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76" name="Conector recto de flecha 3">
            <a:extLst>
              <a:ext uri="{FF2B5EF4-FFF2-40B4-BE49-F238E27FC236}">
                <a16:creationId xmlns:a16="http://schemas.microsoft.com/office/drawing/2014/main" id="{959BC0B8-C3FA-FC2B-1436-048FF6DEEA40}"/>
              </a:ext>
            </a:extLst>
          </p:cNvPr>
          <p:cNvCxnSpPr>
            <a:cxnSpLocks/>
          </p:cNvCxnSpPr>
          <p:nvPr/>
        </p:nvCxnSpPr>
        <p:spPr>
          <a:xfrm>
            <a:off x="9140231" y="4931501"/>
            <a:ext cx="633602" cy="0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64F1F0E8-8218-1A28-943C-A5AEEB751175}"/>
              </a:ext>
            </a:extLst>
          </p:cNvPr>
          <p:cNvSpPr txBox="1"/>
          <p:nvPr/>
        </p:nvSpPr>
        <p:spPr>
          <a:xfrm>
            <a:off x="9734331" y="4622080"/>
            <a:ext cx="15902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Hydraulic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conductance</a:t>
            </a:r>
            <a:endParaRPr lang="es-ES" b="1" baseline="-25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89" name="Conector recto de flecha 3">
            <a:extLst>
              <a:ext uri="{FF2B5EF4-FFF2-40B4-BE49-F238E27FC236}">
                <a16:creationId xmlns:a16="http://schemas.microsoft.com/office/drawing/2014/main" id="{036FD0F3-FFBF-A7CB-7E75-168164367B0C}"/>
              </a:ext>
            </a:extLst>
          </p:cNvPr>
          <p:cNvCxnSpPr>
            <a:cxnSpLocks/>
          </p:cNvCxnSpPr>
          <p:nvPr/>
        </p:nvCxnSpPr>
        <p:spPr>
          <a:xfrm>
            <a:off x="10514783" y="5369114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8E44FF6-553A-1CCB-9D9C-4E6A26751901}"/>
              </a:ext>
            </a:extLst>
          </p:cNvPr>
          <p:cNvSpPr txBox="1"/>
          <p:nvPr/>
        </p:nvSpPr>
        <p:spPr>
          <a:xfrm>
            <a:off x="9589575" y="5932937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Photosynthesis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91" name="Conector recto de flecha 3">
            <a:extLst>
              <a:ext uri="{FF2B5EF4-FFF2-40B4-BE49-F238E27FC236}">
                <a16:creationId xmlns:a16="http://schemas.microsoft.com/office/drawing/2014/main" id="{B0AC50EF-1FE0-333C-D58C-016D9AF28F58}"/>
              </a:ext>
            </a:extLst>
          </p:cNvPr>
          <p:cNvCxnSpPr>
            <a:cxnSpLocks/>
          </p:cNvCxnSpPr>
          <p:nvPr/>
        </p:nvCxnSpPr>
        <p:spPr>
          <a:xfrm flipH="1">
            <a:off x="8775143" y="5270055"/>
            <a:ext cx="1254139" cy="673723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D0A443C-399D-7381-7F57-F70C42EAC02B}"/>
              </a:ext>
            </a:extLst>
          </p:cNvPr>
          <p:cNvSpPr txBox="1"/>
          <p:nvPr/>
        </p:nvSpPr>
        <p:spPr>
          <a:xfrm>
            <a:off x="6678824" y="3176061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b="1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B75314-9D79-3B4E-6099-2FDB301D051C}"/>
              </a:ext>
            </a:extLst>
          </p:cNvPr>
          <p:cNvSpPr txBox="1"/>
          <p:nvPr/>
        </p:nvSpPr>
        <p:spPr>
          <a:xfrm>
            <a:off x="-339777" y="4201398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endParaRPr lang="es-ES" b="1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31521E-3018-45A8-15BC-08308E069ECB}"/>
              </a:ext>
            </a:extLst>
          </p:cNvPr>
          <p:cNvSpPr txBox="1"/>
          <p:nvPr/>
        </p:nvSpPr>
        <p:spPr>
          <a:xfrm>
            <a:off x="1666146" y="2007437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endParaRPr lang="es-ES" b="1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4" name="Conector recto de flecha 3">
            <a:extLst>
              <a:ext uri="{FF2B5EF4-FFF2-40B4-BE49-F238E27FC236}">
                <a16:creationId xmlns:a16="http://schemas.microsoft.com/office/drawing/2014/main" id="{0156CFDC-42BE-F991-61DA-5AB4BC4A2945}"/>
              </a:ext>
            </a:extLst>
          </p:cNvPr>
          <p:cNvCxnSpPr>
            <a:cxnSpLocks/>
          </p:cNvCxnSpPr>
          <p:nvPr/>
        </p:nvCxnSpPr>
        <p:spPr>
          <a:xfrm>
            <a:off x="7564986" y="3622268"/>
            <a:ext cx="357824" cy="24327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3">
            <a:extLst>
              <a:ext uri="{FF2B5EF4-FFF2-40B4-BE49-F238E27FC236}">
                <a16:creationId xmlns:a16="http://schemas.microsoft.com/office/drawing/2014/main" id="{B761C48C-2820-A598-40DA-3C8CE8B080D4}"/>
              </a:ext>
            </a:extLst>
          </p:cNvPr>
          <p:cNvCxnSpPr>
            <a:cxnSpLocks/>
          </p:cNvCxnSpPr>
          <p:nvPr/>
        </p:nvCxnSpPr>
        <p:spPr>
          <a:xfrm>
            <a:off x="673791" y="3477012"/>
            <a:ext cx="327355" cy="292212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B2EBC63-0079-477E-177F-D95FA7252DAC}"/>
              </a:ext>
            </a:extLst>
          </p:cNvPr>
          <p:cNvSpPr txBox="1"/>
          <p:nvPr/>
        </p:nvSpPr>
        <p:spPr>
          <a:xfrm>
            <a:off x="6623384" y="2059401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endParaRPr lang="es-ES" b="1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4" name="Conector recto de flecha 3">
            <a:extLst>
              <a:ext uri="{FF2B5EF4-FFF2-40B4-BE49-F238E27FC236}">
                <a16:creationId xmlns:a16="http://schemas.microsoft.com/office/drawing/2014/main" id="{E8F4CA4F-BF96-8A70-C40C-554EC0D6E66D}"/>
              </a:ext>
            </a:extLst>
          </p:cNvPr>
          <p:cNvCxnSpPr>
            <a:cxnSpLocks/>
          </p:cNvCxnSpPr>
          <p:nvPr/>
        </p:nvCxnSpPr>
        <p:spPr>
          <a:xfrm>
            <a:off x="7670928" y="2489064"/>
            <a:ext cx="357824" cy="24327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">
            <a:extLst>
              <a:ext uri="{FF2B5EF4-FFF2-40B4-BE49-F238E27FC236}">
                <a16:creationId xmlns:a16="http://schemas.microsoft.com/office/drawing/2014/main" id="{32C07D0C-140A-EBED-8B98-815C7BBCDF72}"/>
              </a:ext>
            </a:extLst>
          </p:cNvPr>
          <p:cNvCxnSpPr>
            <a:cxnSpLocks/>
          </p:cNvCxnSpPr>
          <p:nvPr/>
        </p:nvCxnSpPr>
        <p:spPr>
          <a:xfrm flipH="1">
            <a:off x="1931789" y="2367530"/>
            <a:ext cx="243443" cy="38599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E5BAC2A-3AE4-78F0-7BA4-98F65781EDF0}"/>
              </a:ext>
            </a:extLst>
          </p:cNvPr>
          <p:cNvSpPr txBox="1"/>
          <p:nvPr/>
        </p:nvSpPr>
        <p:spPr>
          <a:xfrm>
            <a:off x="4270999" y="4133118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Rs</a:t>
            </a:r>
            <a:r>
              <a:rPr lang="es-ES" sz="16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16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Rt</a:t>
            </a:r>
            <a:endParaRPr lang="es-ES" b="1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41" name="Conector recto de flecha 3">
            <a:extLst>
              <a:ext uri="{FF2B5EF4-FFF2-40B4-BE49-F238E27FC236}">
                <a16:creationId xmlns:a16="http://schemas.microsoft.com/office/drawing/2014/main" id="{49214A7C-6C3B-B97C-C019-97D5CAA89722}"/>
              </a:ext>
            </a:extLst>
          </p:cNvPr>
          <p:cNvCxnSpPr>
            <a:cxnSpLocks/>
          </p:cNvCxnSpPr>
          <p:nvPr/>
        </p:nvCxnSpPr>
        <p:spPr>
          <a:xfrm flipH="1">
            <a:off x="4613143" y="4545507"/>
            <a:ext cx="243443" cy="38599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BF9C23B-F4DB-1B76-2A69-AB7C357CEDCB}"/>
              </a:ext>
            </a:extLst>
          </p:cNvPr>
          <p:cNvSpPr txBox="1"/>
          <p:nvPr/>
        </p:nvSpPr>
        <p:spPr>
          <a:xfrm>
            <a:off x="-260534" y="3042434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b="1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46" name="Conector recto de flecha 3">
            <a:extLst>
              <a:ext uri="{FF2B5EF4-FFF2-40B4-BE49-F238E27FC236}">
                <a16:creationId xmlns:a16="http://schemas.microsoft.com/office/drawing/2014/main" id="{4DF5EA35-F677-488F-2376-66F73AE5E774}"/>
              </a:ext>
            </a:extLst>
          </p:cNvPr>
          <p:cNvCxnSpPr>
            <a:cxnSpLocks/>
          </p:cNvCxnSpPr>
          <p:nvPr/>
        </p:nvCxnSpPr>
        <p:spPr>
          <a:xfrm>
            <a:off x="662287" y="4556646"/>
            <a:ext cx="327355" cy="292212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8B64D9D-F657-0239-7F13-07587C003FC9}"/>
              </a:ext>
            </a:extLst>
          </p:cNvPr>
          <p:cNvSpPr txBox="1"/>
          <p:nvPr/>
        </p:nvSpPr>
        <p:spPr>
          <a:xfrm>
            <a:off x="3687655" y="3475067"/>
            <a:ext cx="15902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Former</a:t>
            </a:r>
            <a:r>
              <a:rPr lang="es-ES" sz="16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endParaRPr lang="es-ES" b="1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60" name="Conector recto de flecha 3">
            <a:extLst>
              <a:ext uri="{FF2B5EF4-FFF2-40B4-BE49-F238E27FC236}">
                <a16:creationId xmlns:a16="http://schemas.microsoft.com/office/drawing/2014/main" id="{86455880-5C66-06E5-CEDF-A7FDAD393E52}"/>
              </a:ext>
            </a:extLst>
          </p:cNvPr>
          <p:cNvCxnSpPr>
            <a:cxnSpLocks/>
          </p:cNvCxnSpPr>
          <p:nvPr/>
        </p:nvCxnSpPr>
        <p:spPr>
          <a:xfrm flipH="1">
            <a:off x="4025655" y="4156357"/>
            <a:ext cx="394668" cy="527255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03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448B8-9818-814A-3E1D-B2F3C8379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75D2F92-892D-1D28-BD54-70C45A179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A218FDE8-329E-0FA5-B92B-D01F56AB4870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6253100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3200" b="1" dirty="0" err="1">
                <a:latin typeface="Helvetica"/>
                <a:cs typeface="Helvetica"/>
              </a:rPr>
              <a:t>Mortality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solidFill>
                  <a:srgbClr val="FF0000"/>
                </a:solidFill>
                <a:latin typeface="Helvetica"/>
                <a:cs typeface="Helvetica"/>
              </a:rPr>
              <a:t>may</a:t>
            </a:r>
            <a:r>
              <a:rPr lang="es-ES" sz="3200" b="1" dirty="0">
                <a:solidFill>
                  <a:srgbClr val="FF0000"/>
                </a:solidFill>
                <a:latin typeface="Helvetica"/>
                <a:cs typeface="Helvetica"/>
              </a:rPr>
              <a:t> be</a:t>
            </a:r>
            <a:r>
              <a:rPr lang="es-ES" sz="3200" b="1" dirty="0">
                <a:latin typeface="Helvetica"/>
                <a:cs typeface="Helvetica"/>
              </a:rPr>
              <a:t> a </a:t>
            </a:r>
            <a:r>
              <a:rPr lang="es-ES" sz="3200" b="1" dirty="0" err="1">
                <a:latin typeface="Helvetica"/>
                <a:cs typeface="Helvetica"/>
              </a:rPr>
              <a:t>fast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or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slow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process</a:t>
            </a:r>
            <a:r>
              <a:rPr lang="es-ES" sz="3200" b="1" dirty="0">
                <a:latin typeface="Helvetica"/>
                <a:cs typeface="Helvetica"/>
              </a:rPr>
              <a:t> /</a:t>
            </a:r>
          </a:p>
          <a:p>
            <a:pPr marL="0" indent="0" algn="ctr">
              <a:buClr>
                <a:srgbClr val="218317"/>
              </a:buClr>
              <a:buNone/>
            </a:pPr>
            <a:r>
              <a:rPr lang="es-ES" sz="3200" b="1" dirty="0" err="1">
                <a:latin typeface="Helvetica"/>
                <a:cs typeface="Helvetica"/>
                <a:sym typeface="Wingdings" panose="05000000000000000000" pitchFamily="2" charset="2"/>
              </a:rPr>
              <a:t>Mortality</a:t>
            </a:r>
            <a:r>
              <a:rPr lang="es-ES" sz="32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3200" b="1" dirty="0" err="1">
                <a:latin typeface="Helvetica"/>
                <a:cs typeface="Helvetica"/>
                <a:sym typeface="Wingdings" panose="05000000000000000000" pitchFamily="2" charset="2"/>
              </a:rPr>
              <a:t>rates</a:t>
            </a:r>
            <a:r>
              <a:rPr lang="es-ES" sz="3200" b="1" dirty="0">
                <a:latin typeface="Helvetica"/>
                <a:cs typeface="Helvetica"/>
                <a:sym typeface="Wingdings" panose="05000000000000000000" pitchFamily="2" charset="2"/>
              </a:rPr>
              <a:t> are </a:t>
            </a:r>
            <a:r>
              <a:rPr lang="es-ES" sz="3200" b="1" dirty="0" err="1">
                <a:latin typeface="Helvetica"/>
                <a:cs typeface="Helvetica"/>
                <a:sym typeface="Wingdings" panose="05000000000000000000" pitchFamily="2" charset="2"/>
              </a:rPr>
              <a:t>highly</a:t>
            </a:r>
            <a:r>
              <a:rPr lang="es-ES" sz="3200" b="1" dirty="0">
                <a:latin typeface="Helvetica"/>
                <a:cs typeface="Helvetica"/>
                <a:sym typeface="Wingdings" panose="05000000000000000000" pitchFamily="2" charset="2"/>
              </a:rPr>
              <a:t> variable  look </a:t>
            </a:r>
            <a:r>
              <a:rPr lang="es-ES" sz="3200" b="1" dirty="0" err="1">
                <a:latin typeface="Helvetica"/>
                <a:cs typeface="Helvetica"/>
                <a:sym typeface="Wingdings" panose="05000000000000000000" pitchFamily="2" charset="2"/>
              </a:rPr>
              <a:t>into</a:t>
            </a:r>
            <a:r>
              <a:rPr lang="es-ES" sz="32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3200" b="1" dirty="0" err="1">
                <a:latin typeface="Helvetica"/>
                <a:cs typeface="Helvetica"/>
                <a:sym typeface="Wingdings" panose="05000000000000000000" pitchFamily="2" charset="2"/>
              </a:rPr>
              <a:t>predisposing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BE7C5AD4-3F03-38A1-B74B-824FC08281CD}"/>
              </a:ext>
            </a:extLst>
          </p:cNvPr>
          <p:cNvSpPr txBox="1"/>
          <p:nvPr/>
        </p:nvSpPr>
        <p:spPr>
          <a:xfrm>
            <a:off x="418288" y="2056069"/>
            <a:ext cx="6680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Dieoff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modulated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by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predisposing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Picture 2" descr="Original “death spiral” from Manion (1991) describing biotic ...">
            <a:extLst>
              <a:ext uri="{FF2B5EF4-FFF2-40B4-BE49-F238E27FC236}">
                <a16:creationId xmlns:a16="http://schemas.microsoft.com/office/drawing/2014/main" id="{214C2CB9-3E7B-309A-074F-6698F9635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055" y="1226789"/>
            <a:ext cx="3643597" cy="443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ACC56EE6-533A-201B-B9A8-86F4C485319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Complementary strategies to cope with 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E34992C-D293-32CB-0984-2C1A75C313B4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CFEB40-CC53-52BC-6D12-BDF8207B3CBA}"/>
              </a:ext>
            </a:extLst>
          </p:cNvPr>
          <p:cNvSpPr/>
          <p:nvPr/>
        </p:nvSpPr>
        <p:spPr>
          <a:xfrm>
            <a:off x="3866491" y="3096541"/>
            <a:ext cx="3232065" cy="1479109"/>
          </a:xfrm>
          <a:prstGeom prst="rect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 err="1">
                <a:latin typeface="Helvetica" panose="020B0604020202020204"/>
                <a:cs typeface="Helvetica" panose="020B0604020202020204"/>
              </a:rPr>
              <a:t>Potential</a:t>
            </a:r>
            <a:r>
              <a:rPr lang="es-ES" sz="2400" b="1" dirty="0">
                <a:latin typeface="Helvetica" panose="020B0604020202020204"/>
                <a:cs typeface="Helvetica" panose="020B0604020202020204"/>
              </a:rPr>
              <a:t> </a:t>
            </a:r>
            <a:r>
              <a:rPr lang="es-ES" sz="2400" b="1" dirty="0" err="1">
                <a:latin typeface="Helvetica" panose="020B0604020202020204"/>
                <a:cs typeface="Helvetica" panose="020B0604020202020204"/>
              </a:rPr>
              <a:t>predictors</a:t>
            </a:r>
            <a:r>
              <a:rPr lang="es-ES" sz="2400" b="1" dirty="0">
                <a:latin typeface="Helvetica" panose="020B0604020202020204"/>
                <a:cs typeface="Helvetica" panose="020B0604020202020204"/>
              </a:rPr>
              <a:t> </a:t>
            </a:r>
            <a:r>
              <a:rPr lang="es-ES" sz="2400" b="1" dirty="0" err="1">
                <a:latin typeface="Helvetica" panose="020B0604020202020204"/>
                <a:cs typeface="Helvetica" panose="020B0604020202020204"/>
              </a:rPr>
              <a:t>for</a:t>
            </a:r>
            <a:r>
              <a:rPr lang="es-ES" sz="2400" b="1" dirty="0">
                <a:latin typeface="Helvetica" panose="020B0604020202020204"/>
                <a:cs typeface="Helvetica" panose="020B0604020202020204"/>
              </a:rPr>
              <a:t> </a:t>
            </a:r>
            <a:r>
              <a:rPr lang="es-ES" sz="2400" b="1" dirty="0" err="1">
                <a:latin typeface="Helvetica" panose="020B0604020202020204"/>
                <a:cs typeface="Helvetica" panose="020B0604020202020204"/>
              </a:rPr>
              <a:t>drought-induced</a:t>
            </a:r>
            <a:r>
              <a:rPr lang="es-ES" sz="2400" b="1" dirty="0">
                <a:latin typeface="Helvetica" panose="020B0604020202020204"/>
                <a:cs typeface="Helvetica" panose="020B0604020202020204"/>
              </a:rPr>
              <a:t> die-off! 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5F5054B-8F28-F08E-31B8-73E0CAFAF8C0}"/>
              </a:ext>
            </a:extLst>
          </p:cNvPr>
          <p:cNvSpPr txBox="1"/>
          <p:nvPr/>
        </p:nvSpPr>
        <p:spPr>
          <a:xfrm>
            <a:off x="604901" y="3096541"/>
            <a:ext cx="3063789" cy="2308324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dbh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Hegyi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index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1980)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Lloret’s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(2012, 2017, 2022)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Lloret’s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(2012, 2017)</a:t>
            </a:r>
          </a:p>
        </p:txBody>
      </p:sp>
    </p:spTree>
    <p:extLst>
      <p:ext uri="{BB962C8B-B14F-4D97-AF65-F5344CB8AC3E}">
        <p14:creationId xmlns:p14="http://schemas.microsoft.com/office/powerpoint/2010/main" val="4248549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FC5F9-F7B5-CFB0-E272-77F39DB9E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256940-3EF4-9175-F7A0-C89B996D495D}"/>
              </a:ext>
            </a:extLst>
          </p:cNvPr>
          <p:cNvSpPr txBox="1">
            <a:spLocks/>
          </p:cNvSpPr>
          <p:nvPr/>
        </p:nvSpPr>
        <p:spPr>
          <a:xfrm>
            <a:off x="2536623" y="2287614"/>
            <a:ext cx="2722485" cy="12736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Conservative</a:t>
            </a:r>
          </a:p>
          <a:p>
            <a:pPr algn="ctr"/>
            <a:endParaRPr lang="es-ES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8C512665-739E-3397-8CA4-F476CFA4CE16}"/>
              </a:ext>
            </a:extLst>
          </p:cNvPr>
          <p:cNvSpPr txBox="1">
            <a:spLocks/>
          </p:cNvSpPr>
          <p:nvPr/>
        </p:nvSpPr>
        <p:spPr>
          <a:xfrm>
            <a:off x="6978960" y="2287614"/>
            <a:ext cx="2756263" cy="1101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Acquisitive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1771FB44-7DBF-7F6B-63BF-072784304A04}"/>
              </a:ext>
            </a:extLst>
          </p:cNvPr>
          <p:cNvCxnSpPr>
            <a:cxnSpLocks/>
          </p:cNvCxnSpPr>
          <p:nvPr/>
        </p:nvCxnSpPr>
        <p:spPr>
          <a:xfrm>
            <a:off x="5208113" y="2490368"/>
            <a:ext cx="1884784" cy="0"/>
          </a:xfrm>
          <a:prstGeom prst="straightConnector1">
            <a:avLst/>
          </a:prstGeom>
          <a:ln w="76200">
            <a:solidFill>
              <a:srgbClr val="218317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ACDC0856-4A59-D106-6449-6FBA2DD84B92}"/>
              </a:ext>
            </a:extLst>
          </p:cNvPr>
          <p:cNvSpPr txBox="1">
            <a:spLocks/>
          </p:cNvSpPr>
          <p:nvPr/>
        </p:nvSpPr>
        <p:spPr>
          <a:xfrm>
            <a:off x="2552518" y="3199232"/>
            <a:ext cx="3495519" cy="24108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/>
              <a:buChar char="-"/>
            </a:pPr>
            <a:r>
              <a:rPr lang="es-ES" sz="2400" dirty="0">
                <a:latin typeface="Helvetica"/>
                <a:cs typeface="Helvetica"/>
              </a:rPr>
              <a:t>↓ N </a:t>
            </a:r>
            <a:r>
              <a:rPr lang="es-ES" sz="2400" dirty="0" err="1">
                <a:latin typeface="Helvetica"/>
                <a:cs typeface="Helvetica"/>
              </a:rPr>
              <a:t>content</a:t>
            </a:r>
            <a:endParaRPr lang="es-ES" sz="24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2400" dirty="0">
                <a:latin typeface="Helvetica"/>
                <a:cs typeface="Helvetica"/>
              </a:rPr>
              <a:t>↓ </a:t>
            </a:r>
            <a:r>
              <a:rPr lang="es-ES" sz="2400" dirty="0" err="1">
                <a:latin typeface="Helvetica"/>
                <a:cs typeface="Helvetica"/>
              </a:rPr>
              <a:t>Photosynthesis</a:t>
            </a:r>
            <a:endParaRPr lang="es-ES" sz="24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2400" dirty="0">
                <a:latin typeface="Helvetica"/>
                <a:cs typeface="Helvetica"/>
              </a:rPr>
              <a:t>↓ </a:t>
            </a:r>
            <a:r>
              <a:rPr lang="es-ES" sz="2400" dirty="0" err="1">
                <a:latin typeface="Helvetica"/>
                <a:cs typeface="Helvetica"/>
              </a:rPr>
              <a:t>Growth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rates</a:t>
            </a:r>
            <a:endParaRPr lang="es-ES" sz="24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2400" dirty="0">
                <a:latin typeface="Helvetica"/>
                <a:cs typeface="Helvetica"/>
              </a:rPr>
              <a:t>↓ SLA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5BA7BDDD-3B6A-2BC1-FB5D-79996F1E269C}"/>
              </a:ext>
            </a:extLst>
          </p:cNvPr>
          <p:cNvSpPr txBox="1">
            <a:spLocks/>
          </p:cNvSpPr>
          <p:nvPr/>
        </p:nvSpPr>
        <p:spPr>
          <a:xfrm>
            <a:off x="6971279" y="3199231"/>
            <a:ext cx="3880245" cy="24108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/>
              <a:buChar char="-"/>
            </a:pPr>
            <a:r>
              <a:rPr lang="es-ES" sz="2400" dirty="0">
                <a:latin typeface="Helvetica"/>
                <a:cs typeface="Helvetica"/>
              </a:rPr>
              <a:t>↑ N </a:t>
            </a:r>
            <a:r>
              <a:rPr lang="es-ES" sz="2400" dirty="0" err="1">
                <a:latin typeface="Helvetica"/>
                <a:cs typeface="Helvetica"/>
              </a:rPr>
              <a:t>content</a:t>
            </a:r>
            <a:endParaRPr lang="es-ES" sz="24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2400" dirty="0">
                <a:latin typeface="Helvetica"/>
                <a:cs typeface="Helvetica"/>
              </a:rPr>
              <a:t>↑ </a:t>
            </a:r>
            <a:r>
              <a:rPr lang="es-ES" sz="2400" dirty="0" err="1">
                <a:latin typeface="Helvetica"/>
                <a:cs typeface="Helvetica"/>
              </a:rPr>
              <a:t>Photosynthesis</a:t>
            </a:r>
            <a:endParaRPr lang="es-ES" sz="24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2400" dirty="0">
                <a:latin typeface="Helvetica"/>
                <a:cs typeface="Helvetica"/>
              </a:rPr>
              <a:t>↑ </a:t>
            </a:r>
            <a:r>
              <a:rPr lang="es-ES" sz="2400" dirty="0" err="1">
                <a:latin typeface="Helvetica"/>
                <a:cs typeface="Helvetica"/>
              </a:rPr>
              <a:t>Growth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rates</a:t>
            </a:r>
            <a:endParaRPr lang="es-ES" sz="2400" dirty="0">
              <a:latin typeface="Helvetica" panose="020B0604020202020204" pitchFamily="34" charset="0"/>
              <a:cs typeface="Calibri" panose="020F0502020204030204"/>
            </a:endParaRPr>
          </a:p>
          <a:p>
            <a:pPr>
              <a:buFont typeface="Calibri"/>
              <a:buChar char="-"/>
            </a:pPr>
            <a:r>
              <a:rPr lang="es-ES" sz="2400" dirty="0">
                <a:latin typeface="Helvetica"/>
                <a:cs typeface="Helvetica"/>
              </a:rPr>
              <a:t>↑ </a:t>
            </a:r>
            <a:r>
              <a:rPr lang="es-ES" sz="2400" dirty="0">
                <a:latin typeface="Helvetica" panose="020B0604020202020204" pitchFamily="34" charset="0"/>
                <a:cs typeface="Calibri" panose="020F0502020204030204"/>
              </a:rPr>
              <a:t>SLA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687D609-D808-4552-9A94-7262784A7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Resource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-use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10D024-0478-2C81-6C61-1FB726223AC7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9936D787-A691-D61C-99BE-5C5BAC9B2CA3}"/>
              </a:ext>
            </a:extLst>
          </p:cNvPr>
          <p:cNvSpPr txBox="1">
            <a:spLocks/>
          </p:cNvSpPr>
          <p:nvPr/>
        </p:nvSpPr>
        <p:spPr>
          <a:xfrm>
            <a:off x="2796632" y="1454532"/>
            <a:ext cx="6598736" cy="52400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3200" b="1" i="1" dirty="0" err="1">
                <a:latin typeface="Helvetica"/>
                <a:cs typeface="Helvetica"/>
              </a:rPr>
              <a:t>Leaf</a:t>
            </a:r>
            <a:r>
              <a:rPr lang="es-ES" sz="3200" b="1" i="1" dirty="0">
                <a:latin typeface="Helvetica"/>
                <a:cs typeface="Helvetica"/>
              </a:rPr>
              <a:t> </a:t>
            </a:r>
            <a:r>
              <a:rPr lang="es-ES" sz="3200" b="1" i="1" dirty="0" err="1">
                <a:latin typeface="Helvetica"/>
                <a:cs typeface="Helvetica"/>
              </a:rPr>
              <a:t>Economics</a:t>
            </a:r>
            <a:r>
              <a:rPr lang="es-ES" sz="3200" b="1" i="1" dirty="0">
                <a:latin typeface="Helvetica"/>
                <a:cs typeface="Helvetica"/>
              </a:rPr>
              <a:t> </a:t>
            </a:r>
            <a:r>
              <a:rPr lang="es-ES" sz="3200" b="1" i="1" dirty="0" err="1">
                <a:latin typeface="Helvetica"/>
                <a:cs typeface="Helvetica"/>
              </a:rPr>
              <a:t>Spectrum</a:t>
            </a:r>
            <a:endParaRPr lang="es-ES" sz="3200" b="1" i="1" dirty="0">
              <a:latin typeface="Helvetica"/>
              <a:cs typeface="Helvetic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B659F-D059-62D2-A1E2-60F0FB2857FD}"/>
              </a:ext>
            </a:extLst>
          </p:cNvPr>
          <p:cNvSpPr txBox="1"/>
          <p:nvPr/>
        </p:nvSpPr>
        <p:spPr>
          <a:xfrm>
            <a:off x="9046974" y="6472919"/>
            <a:ext cx="33479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Wright 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et al.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, 2004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344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F1E6B-54C0-D0A4-BB44-5F6FDCE67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19C8DA7-E3A5-977A-0D1A-BE8222F40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Responses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A74F66-6E00-84D8-CEFF-9E73E9771BF4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8930BB8C-DF26-3C55-5D1D-7015719258F6}"/>
              </a:ext>
            </a:extLst>
          </p:cNvPr>
          <p:cNvSpPr txBox="1">
            <a:spLocks/>
          </p:cNvSpPr>
          <p:nvPr/>
        </p:nvSpPr>
        <p:spPr>
          <a:xfrm>
            <a:off x="2173279" y="4662117"/>
            <a:ext cx="2255203" cy="3751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600" dirty="0">
                <a:latin typeface="Helvetica"/>
                <a:ea typeface="Calibri"/>
                <a:cs typeface="Helvetica"/>
              </a:rPr>
              <a:t>N </a:t>
            </a:r>
            <a:r>
              <a:rPr lang="es-ES" sz="1600" dirty="0" err="1">
                <a:latin typeface="Helvetica"/>
                <a:ea typeface="Calibri"/>
                <a:cs typeface="Helvetica"/>
              </a:rPr>
              <a:t>reabsorption</a:t>
            </a:r>
            <a:endParaRPr lang="es-ES" sz="1600" dirty="0">
              <a:ea typeface="Calibri"/>
              <a:cs typeface="Calibri"/>
            </a:endParaRPr>
          </a:p>
        </p:txBody>
      </p:sp>
      <p:cxnSp>
        <p:nvCxnSpPr>
          <p:cNvPr id="3" name="Conector recto de flecha 3">
            <a:extLst>
              <a:ext uri="{FF2B5EF4-FFF2-40B4-BE49-F238E27FC236}">
                <a16:creationId xmlns:a16="http://schemas.microsoft.com/office/drawing/2014/main" id="{847BC9D7-DC51-4A41-A386-8C047AD53445}"/>
              </a:ext>
            </a:extLst>
          </p:cNvPr>
          <p:cNvCxnSpPr>
            <a:cxnSpLocks/>
          </p:cNvCxnSpPr>
          <p:nvPr/>
        </p:nvCxnSpPr>
        <p:spPr>
          <a:xfrm flipH="1">
            <a:off x="8895783" y="1773491"/>
            <a:ext cx="6958" cy="464113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1BB06E3-E7D0-ED37-C1C1-84E7C15A98BF}"/>
              </a:ext>
            </a:extLst>
          </p:cNvPr>
          <p:cNvSpPr/>
          <p:nvPr/>
        </p:nvSpPr>
        <p:spPr>
          <a:xfrm>
            <a:off x="8305582" y="1248853"/>
            <a:ext cx="1194318" cy="382555"/>
          </a:xfrm>
          <a:prstGeom prst="rect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/>
              <a:t>Drought</a:t>
            </a:r>
            <a:endParaRPr lang="es-E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967DF2-AEEC-573A-B5D2-64D8AF83EC72}"/>
              </a:ext>
            </a:extLst>
          </p:cNvPr>
          <p:cNvSpPr/>
          <p:nvPr/>
        </p:nvSpPr>
        <p:spPr>
          <a:xfrm>
            <a:off x="10412598" y="1248853"/>
            <a:ext cx="1194318" cy="382555"/>
          </a:xfrm>
          <a:prstGeom prst="rect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↑ </a:t>
            </a:r>
            <a:r>
              <a:rPr lang="es-ES" b="1" dirty="0" err="1"/>
              <a:t>Temp</a:t>
            </a:r>
            <a:r>
              <a:rPr lang="es-ES" b="1" dirty="0"/>
              <a:t>.</a:t>
            </a:r>
          </a:p>
        </p:txBody>
      </p:sp>
      <p:cxnSp>
        <p:nvCxnSpPr>
          <p:cNvPr id="10" name="Conector recto de flecha 3">
            <a:extLst>
              <a:ext uri="{FF2B5EF4-FFF2-40B4-BE49-F238E27FC236}">
                <a16:creationId xmlns:a16="http://schemas.microsoft.com/office/drawing/2014/main" id="{34B3038F-7DB5-EAE3-436F-34338921ADFB}"/>
              </a:ext>
            </a:extLst>
          </p:cNvPr>
          <p:cNvCxnSpPr>
            <a:cxnSpLocks/>
          </p:cNvCxnSpPr>
          <p:nvPr/>
        </p:nvCxnSpPr>
        <p:spPr>
          <a:xfrm>
            <a:off x="11014251" y="1773492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5D3789F-371C-7CBC-917D-06DB4C123C7A}"/>
              </a:ext>
            </a:extLst>
          </p:cNvPr>
          <p:cNvSpPr txBox="1"/>
          <p:nvPr/>
        </p:nvSpPr>
        <p:spPr>
          <a:xfrm>
            <a:off x="8107622" y="2449699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l-GR" sz="1600" dirty="0">
                <a:latin typeface="Helvetica" panose="020B0604020202020204" pitchFamily="34" charset="0"/>
                <a:cs typeface="Helvetica" panose="020B0604020202020204" pitchFamily="34" charset="0"/>
              </a:rPr>
              <a:t>Ψ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plant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24B894-8328-594C-4A73-B89F141A199F}"/>
              </a:ext>
            </a:extLst>
          </p:cNvPr>
          <p:cNvSpPr txBox="1"/>
          <p:nvPr/>
        </p:nvSpPr>
        <p:spPr>
          <a:xfrm>
            <a:off x="10214638" y="2449699"/>
            <a:ext cx="15902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↑Oxidative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11D0B0-152F-BD0D-BC14-DFB1EAA1EA0A}"/>
              </a:ext>
            </a:extLst>
          </p:cNvPr>
          <p:cNvSpPr txBox="1"/>
          <p:nvPr/>
        </p:nvSpPr>
        <p:spPr>
          <a:xfrm>
            <a:off x="8100664" y="3429000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↓LWC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24" name="Conector recto de flecha 3">
            <a:extLst>
              <a:ext uri="{FF2B5EF4-FFF2-40B4-BE49-F238E27FC236}">
                <a16:creationId xmlns:a16="http://schemas.microsoft.com/office/drawing/2014/main" id="{394D36ED-9FA6-F1BE-8734-5AFFFB54DCBE}"/>
              </a:ext>
            </a:extLst>
          </p:cNvPr>
          <p:cNvCxnSpPr>
            <a:cxnSpLocks/>
          </p:cNvCxnSpPr>
          <p:nvPr/>
        </p:nvCxnSpPr>
        <p:spPr>
          <a:xfrm>
            <a:off x="8895783" y="2911463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3">
            <a:extLst>
              <a:ext uri="{FF2B5EF4-FFF2-40B4-BE49-F238E27FC236}">
                <a16:creationId xmlns:a16="http://schemas.microsoft.com/office/drawing/2014/main" id="{FC5F43CB-27BB-F63C-051A-01EA9EE9AEC8}"/>
              </a:ext>
            </a:extLst>
          </p:cNvPr>
          <p:cNvCxnSpPr>
            <a:cxnSpLocks/>
          </p:cNvCxnSpPr>
          <p:nvPr/>
        </p:nvCxnSpPr>
        <p:spPr>
          <a:xfrm flipV="1">
            <a:off x="9690902" y="2964541"/>
            <a:ext cx="633602" cy="384497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3">
            <a:extLst>
              <a:ext uri="{FF2B5EF4-FFF2-40B4-BE49-F238E27FC236}">
                <a16:creationId xmlns:a16="http://schemas.microsoft.com/office/drawing/2014/main" id="{2221D2E3-6F70-EE73-C8C8-85A5EF8263DB}"/>
              </a:ext>
            </a:extLst>
          </p:cNvPr>
          <p:cNvCxnSpPr>
            <a:cxnSpLocks/>
          </p:cNvCxnSpPr>
          <p:nvPr/>
        </p:nvCxnSpPr>
        <p:spPr>
          <a:xfrm>
            <a:off x="10966932" y="3236479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89D4E43-5D9B-07D9-AF6D-AB40D374B9E4}"/>
              </a:ext>
            </a:extLst>
          </p:cNvPr>
          <p:cNvSpPr txBox="1"/>
          <p:nvPr/>
        </p:nvSpPr>
        <p:spPr>
          <a:xfrm>
            <a:off x="10171813" y="3889866"/>
            <a:ext cx="15902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., ↑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Carotenoids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29" name="Conector recto de flecha 3">
            <a:extLst>
              <a:ext uri="{FF2B5EF4-FFF2-40B4-BE49-F238E27FC236}">
                <a16:creationId xmlns:a16="http://schemas.microsoft.com/office/drawing/2014/main" id="{4380F0C5-59DC-8448-446E-D9539D1A6569}"/>
              </a:ext>
            </a:extLst>
          </p:cNvPr>
          <p:cNvCxnSpPr>
            <a:cxnSpLocks/>
          </p:cNvCxnSpPr>
          <p:nvPr/>
        </p:nvCxnSpPr>
        <p:spPr>
          <a:xfrm flipH="1">
            <a:off x="7448193" y="1773491"/>
            <a:ext cx="930697" cy="592363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635D40A-9AE6-02D7-C4D0-C972FCD4FD4B}"/>
              </a:ext>
            </a:extLst>
          </p:cNvPr>
          <p:cNvSpPr txBox="1"/>
          <p:nvPr/>
        </p:nvSpPr>
        <p:spPr>
          <a:xfrm>
            <a:off x="4428482" y="2449699"/>
            <a:ext cx="30197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↑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Evapotranspirative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demand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3" name="Conector recto de flecha 3">
            <a:extLst>
              <a:ext uri="{FF2B5EF4-FFF2-40B4-BE49-F238E27FC236}">
                <a16:creationId xmlns:a16="http://schemas.microsoft.com/office/drawing/2014/main" id="{CBA7957B-B83F-B357-BE33-0ED5758DDCB0}"/>
              </a:ext>
            </a:extLst>
          </p:cNvPr>
          <p:cNvCxnSpPr>
            <a:cxnSpLocks/>
          </p:cNvCxnSpPr>
          <p:nvPr/>
        </p:nvCxnSpPr>
        <p:spPr>
          <a:xfrm flipH="1">
            <a:off x="7448194" y="1856234"/>
            <a:ext cx="3375316" cy="762741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">
            <a:extLst>
              <a:ext uri="{FF2B5EF4-FFF2-40B4-BE49-F238E27FC236}">
                <a16:creationId xmlns:a16="http://schemas.microsoft.com/office/drawing/2014/main" id="{7762E936-EAFC-C6BB-28CE-672D663411D1}"/>
              </a:ext>
            </a:extLst>
          </p:cNvPr>
          <p:cNvCxnSpPr>
            <a:cxnSpLocks/>
          </p:cNvCxnSpPr>
          <p:nvPr/>
        </p:nvCxnSpPr>
        <p:spPr>
          <a:xfrm>
            <a:off x="6016333" y="4096450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B30A758-F6DA-DC92-C6E7-B8E36EB7285E}"/>
              </a:ext>
            </a:extLst>
          </p:cNvPr>
          <p:cNvSpPr txBox="1"/>
          <p:nvPr/>
        </p:nvSpPr>
        <p:spPr>
          <a:xfrm>
            <a:off x="4943919" y="4662118"/>
            <a:ext cx="19888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Photosynthesis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9" name="Conector recto de flecha 3">
            <a:extLst>
              <a:ext uri="{FF2B5EF4-FFF2-40B4-BE49-F238E27FC236}">
                <a16:creationId xmlns:a16="http://schemas.microsoft.com/office/drawing/2014/main" id="{15BE66BB-A868-D8A7-FADA-1F0BA57DE865}"/>
              </a:ext>
            </a:extLst>
          </p:cNvPr>
          <p:cNvCxnSpPr>
            <a:cxnSpLocks/>
          </p:cNvCxnSpPr>
          <p:nvPr/>
        </p:nvCxnSpPr>
        <p:spPr>
          <a:xfrm>
            <a:off x="5990852" y="3063863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CC8E19A-F296-42F0-B118-FC34B0C64049}"/>
              </a:ext>
            </a:extLst>
          </p:cNvPr>
          <p:cNvSpPr txBox="1"/>
          <p:nvPr/>
        </p:nvSpPr>
        <p:spPr>
          <a:xfrm>
            <a:off x="5195733" y="3635820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Transpiration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41" name="Conector recto de flecha 3">
            <a:extLst>
              <a:ext uri="{FF2B5EF4-FFF2-40B4-BE49-F238E27FC236}">
                <a16:creationId xmlns:a16="http://schemas.microsoft.com/office/drawing/2014/main" id="{AA13D460-56C0-1988-2E68-68CE4768C20D}"/>
              </a:ext>
            </a:extLst>
          </p:cNvPr>
          <p:cNvCxnSpPr>
            <a:cxnSpLocks/>
            <a:stCxn id="28" idx="1"/>
          </p:cNvCxnSpPr>
          <p:nvPr/>
        </p:nvCxnSpPr>
        <p:spPr>
          <a:xfrm flipH="1" flipV="1">
            <a:off x="6840505" y="3797215"/>
            <a:ext cx="3331308" cy="385039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3">
            <a:extLst>
              <a:ext uri="{FF2B5EF4-FFF2-40B4-BE49-F238E27FC236}">
                <a16:creationId xmlns:a16="http://schemas.microsoft.com/office/drawing/2014/main" id="{52C431A7-1588-693B-BF8E-51EDD76166DA}"/>
              </a:ext>
            </a:extLst>
          </p:cNvPr>
          <p:cNvCxnSpPr>
            <a:cxnSpLocks/>
          </p:cNvCxnSpPr>
          <p:nvPr/>
        </p:nvCxnSpPr>
        <p:spPr>
          <a:xfrm flipH="1">
            <a:off x="4183320" y="4774909"/>
            <a:ext cx="642719" cy="0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BA66314-37BC-88D9-A7FE-0756C2BF643C}"/>
              </a:ext>
            </a:extLst>
          </p:cNvPr>
          <p:cNvSpPr txBox="1"/>
          <p:nvPr/>
        </p:nvSpPr>
        <p:spPr>
          <a:xfrm>
            <a:off x="1368490" y="2449699"/>
            <a:ext cx="30197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↓Cell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turgor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2901736-FECB-5575-7B93-EAB6C30B011A}"/>
              </a:ext>
            </a:extLst>
          </p:cNvPr>
          <p:cNvSpPr txBox="1"/>
          <p:nvPr/>
        </p:nvSpPr>
        <p:spPr>
          <a:xfrm>
            <a:off x="1254445" y="3684472"/>
            <a:ext cx="30197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 SLA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6" name="Conector recto de flecha 3">
            <a:extLst>
              <a:ext uri="{FF2B5EF4-FFF2-40B4-BE49-F238E27FC236}">
                <a16:creationId xmlns:a16="http://schemas.microsoft.com/office/drawing/2014/main" id="{C4381787-34E2-A145-71CA-98E6423C310D}"/>
              </a:ext>
            </a:extLst>
          </p:cNvPr>
          <p:cNvCxnSpPr>
            <a:cxnSpLocks/>
          </p:cNvCxnSpPr>
          <p:nvPr/>
        </p:nvCxnSpPr>
        <p:spPr>
          <a:xfrm flipH="1">
            <a:off x="3622339" y="2636041"/>
            <a:ext cx="806143" cy="0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3">
            <a:extLst>
              <a:ext uri="{FF2B5EF4-FFF2-40B4-BE49-F238E27FC236}">
                <a16:creationId xmlns:a16="http://schemas.microsoft.com/office/drawing/2014/main" id="{C7F83479-8AAF-E933-072C-EA4152440C64}"/>
              </a:ext>
            </a:extLst>
          </p:cNvPr>
          <p:cNvCxnSpPr>
            <a:cxnSpLocks/>
          </p:cNvCxnSpPr>
          <p:nvPr/>
        </p:nvCxnSpPr>
        <p:spPr>
          <a:xfrm>
            <a:off x="2878346" y="3010788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3">
            <a:extLst>
              <a:ext uri="{FF2B5EF4-FFF2-40B4-BE49-F238E27FC236}">
                <a16:creationId xmlns:a16="http://schemas.microsoft.com/office/drawing/2014/main" id="{284B761D-FF63-163C-5884-628B146E2CC3}"/>
              </a:ext>
            </a:extLst>
          </p:cNvPr>
          <p:cNvCxnSpPr>
            <a:cxnSpLocks/>
          </p:cNvCxnSpPr>
          <p:nvPr/>
        </p:nvCxnSpPr>
        <p:spPr>
          <a:xfrm>
            <a:off x="6522098" y="4023026"/>
            <a:ext cx="1856792" cy="1129588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EF638E1-7AF4-FFB3-2B50-D89922102317}"/>
              </a:ext>
            </a:extLst>
          </p:cNvPr>
          <p:cNvSpPr txBox="1"/>
          <p:nvPr/>
        </p:nvSpPr>
        <p:spPr>
          <a:xfrm>
            <a:off x="8215817" y="5124639"/>
            <a:ext cx="1590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↑</a:t>
            </a:r>
            <a:r>
              <a:rPr lang="el-GR" sz="1600" dirty="0">
                <a:latin typeface="Helvetica" panose="020B0604020202020204" pitchFamily="34" charset="0"/>
                <a:cs typeface="Helvetica" panose="020B0604020202020204" pitchFamily="34" charset="0"/>
              </a:rPr>
              <a:t> δ</a:t>
            </a:r>
            <a:r>
              <a:rPr lang="es-ES" sz="16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C,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</a:p>
        </p:txBody>
      </p:sp>
      <p:cxnSp>
        <p:nvCxnSpPr>
          <p:cNvPr id="22" name="Conector recto de flecha 3">
            <a:extLst>
              <a:ext uri="{FF2B5EF4-FFF2-40B4-BE49-F238E27FC236}">
                <a16:creationId xmlns:a16="http://schemas.microsoft.com/office/drawing/2014/main" id="{00C4E838-4247-F642-C118-7E7B0FF5AF47}"/>
              </a:ext>
            </a:extLst>
          </p:cNvPr>
          <p:cNvCxnSpPr>
            <a:cxnSpLocks/>
          </p:cNvCxnSpPr>
          <p:nvPr/>
        </p:nvCxnSpPr>
        <p:spPr>
          <a:xfrm>
            <a:off x="6014449" y="5225692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E802D9F-3E3C-E1D6-35AF-4614008CD30A}"/>
              </a:ext>
            </a:extLst>
          </p:cNvPr>
          <p:cNvSpPr txBox="1"/>
          <p:nvPr/>
        </p:nvSpPr>
        <p:spPr>
          <a:xfrm>
            <a:off x="5082341" y="5791706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0" name="Conector recto de flecha 3">
            <a:extLst>
              <a:ext uri="{FF2B5EF4-FFF2-40B4-BE49-F238E27FC236}">
                <a16:creationId xmlns:a16="http://schemas.microsoft.com/office/drawing/2014/main" id="{E72354C9-1103-FEAE-38FD-5563401180B6}"/>
              </a:ext>
            </a:extLst>
          </p:cNvPr>
          <p:cNvCxnSpPr>
            <a:cxnSpLocks/>
          </p:cNvCxnSpPr>
          <p:nvPr/>
        </p:nvCxnSpPr>
        <p:spPr>
          <a:xfrm>
            <a:off x="3283689" y="5152614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C8BA431-470A-A059-7B80-9F777F93919A}"/>
              </a:ext>
            </a:extLst>
          </p:cNvPr>
          <p:cNvSpPr txBox="1"/>
          <p:nvPr/>
        </p:nvSpPr>
        <p:spPr>
          <a:xfrm>
            <a:off x="2332905" y="5719366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↓C:N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A93625-76BF-E53A-EFB8-61E7EA519732}"/>
              </a:ext>
            </a:extLst>
          </p:cNvPr>
          <p:cNvSpPr txBox="1"/>
          <p:nvPr/>
        </p:nvSpPr>
        <p:spPr>
          <a:xfrm>
            <a:off x="322864" y="5719366"/>
            <a:ext cx="18504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5" name="Conector recto de flecha 3">
            <a:extLst>
              <a:ext uri="{FF2B5EF4-FFF2-40B4-BE49-F238E27FC236}">
                <a16:creationId xmlns:a16="http://schemas.microsoft.com/office/drawing/2014/main" id="{DCB12E71-F889-0B11-A0D7-04FB80A7AA82}"/>
              </a:ext>
            </a:extLst>
          </p:cNvPr>
          <p:cNvCxnSpPr>
            <a:cxnSpLocks/>
          </p:cNvCxnSpPr>
          <p:nvPr/>
        </p:nvCxnSpPr>
        <p:spPr>
          <a:xfrm flipH="1">
            <a:off x="2121582" y="5904032"/>
            <a:ext cx="642719" cy="0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C3657A01-88C7-3EF6-3BAB-79B58330F519}"/>
              </a:ext>
            </a:extLst>
          </p:cNvPr>
          <p:cNvSpPr txBox="1">
            <a:spLocks/>
          </p:cNvSpPr>
          <p:nvPr/>
        </p:nvSpPr>
        <p:spPr>
          <a:xfrm>
            <a:off x="322864" y="1279015"/>
            <a:ext cx="7267544" cy="6863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Towards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a more conservative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strategy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72767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CE067-61C9-BECA-174F-73EDF5ADD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AA79378-1D21-8DD6-E347-4CA11BB06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AA1F4F3-C189-F447-F1A0-C1A463700C6F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6253100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3200" b="1" dirty="0" err="1">
                <a:latin typeface="Helvetica"/>
                <a:cs typeface="Helvetica"/>
              </a:rPr>
              <a:t>Mortality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solidFill>
                  <a:srgbClr val="FF0000"/>
                </a:solidFill>
                <a:latin typeface="Helvetica"/>
                <a:cs typeface="Helvetica"/>
              </a:rPr>
              <a:t>may</a:t>
            </a:r>
            <a:r>
              <a:rPr lang="es-ES" sz="3200" b="1" dirty="0">
                <a:solidFill>
                  <a:srgbClr val="FF0000"/>
                </a:solidFill>
                <a:latin typeface="Helvetica"/>
                <a:cs typeface="Helvetica"/>
              </a:rPr>
              <a:t> be</a:t>
            </a:r>
            <a:r>
              <a:rPr lang="es-ES" sz="3200" b="1" dirty="0">
                <a:latin typeface="Helvetica"/>
                <a:cs typeface="Helvetica"/>
              </a:rPr>
              <a:t> a </a:t>
            </a:r>
            <a:r>
              <a:rPr lang="es-ES" sz="3200" b="1" dirty="0" err="1">
                <a:latin typeface="Helvetica"/>
                <a:cs typeface="Helvetica"/>
              </a:rPr>
              <a:t>fast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or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slow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process</a:t>
            </a:r>
            <a:r>
              <a:rPr lang="es-ES" sz="3200" b="1" dirty="0">
                <a:latin typeface="Helvetica"/>
                <a:cs typeface="Helvetica"/>
              </a:rPr>
              <a:t> /</a:t>
            </a:r>
          </a:p>
          <a:p>
            <a:pPr marL="0" indent="0" algn="ctr">
              <a:buClr>
                <a:srgbClr val="218317"/>
              </a:buClr>
              <a:buNone/>
            </a:pPr>
            <a:r>
              <a:rPr lang="es-ES" sz="3200" b="1" dirty="0" err="1">
                <a:latin typeface="Helvetica"/>
                <a:cs typeface="Helvetica"/>
                <a:sym typeface="Wingdings" panose="05000000000000000000" pitchFamily="2" charset="2"/>
              </a:rPr>
              <a:t>Mortality</a:t>
            </a:r>
            <a:r>
              <a:rPr lang="es-ES" sz="32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3200" b="1" dirty="0" err="1">
                <a:latin typeface="Helvetica"/>
                <a:cs typeface="Helvetica"/>
                <a:sym typeface="Wingdings" panose="05000000000000000000" pitchFamily="2" charset="2"/>
              </a:rPr>
              <a:t>rates</a:t>
            </a:r>
            <a:r>
              <a:rPr lang="es-ES" sz="3200" b="1" dirty="0">
                <a:latin typeface="Helvetica"/>
                <a:cs typeface="Helvetica"/>
                <a:sym typeface="Wingdings" panose="05000000000000000000" pitchFamily="2" charset="2"/>
              </a:rPr>
              <a:t> are </a:t>
            </a:r>
            <a:r>
              <a:rPr lang="es-ES" sz="3200" b="1" dirty="0" err="1">
                <a:latin typeface="Helvetica"/>
                <a:cs typeface="Helvetica"/>
                <a:sym typeface="Wingdings" panose="05000000000000000000" pitchFamily="2" charset="2"/>
              </a:rPr>
              <a:t>highly</a:t>
            </a:r>
            <a:r>
              <a:rPr lang="es-ES" sz="3200" b="1" dirty="0">
                <a:latin typeface="Helvetica"/>
                <a:cs typeface="Helvetica"/>
                <a:sym typeface="Wingdings" panose="05000000000000000000" pitchFamily="2" charset="2"/>
              </a:rPr>
              <a:t> variable  look </a:t>
            </a:r>
            <a:r>
              <a:rPr lang="es-ES" sz="3200" b="1" dirty="0" err="1">
                <a:latin typeface="Helvetica"/>
                <a:cs typeface="Helvetica"/>
                <a:sym typeface="Wingdings" panose="05000000000000000000" pitchFamily="2" charset="2"/>
              </a:rPr>
              <a:t>into</a:t>
            </a:r>
            <a:r>
              <a:rPr lang="es-ES" sz="32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3200" b="1" dirty="0" err="1">
                <a:latin typeface="Helvetica"/>
                <a:cs typeface="Helvetica"/>
                <a:sym typeface="Wingdings" panose="05000000000000000000" pitchFamily="2" charset="2"/>
              </a:rPr>
              <a:t>predisposing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2C4DB050-BF9F-8D7C-7B9A-F4BFAFCDCEA1}"/>
              </a:ext>
            </a:extLst>
          </p:cNvPr>
          <p:cNvSpPr txBox="1"/>
          <p:nvPr/>
        </p:nvSpPr>
        <p:spPr>
          <a:xfrm>
            <a:off x="0" y="2056069"/>
            <a:ext cx="709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Dieoff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may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induce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several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responses: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Picture 2" descr="Original “death spiral” from Manion (1991) describing biotic ...">
            <a:extLst>
              <a:ext uri="{FF2B5EF4-FFF2-40B4-BE49-F238E27FC236}">
                <a16:creationId xmlns:a16="http://schemas.microsoft.com/office/drawing/2014/main" id="{A329C9DD-39A8-2780-92CC-F20F2D307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055" y="1226789"/>
            <a:ext cx="3643597" cy="443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2">
            <a:extLst>
              <a:ext uri="{FF2B5EF4-FFF2-40B4-BE49-F238E27FC236}">
                <a16:creationId xmlns:a16="http://schemas.microsoft.com/office/drawing/2014/main" id="{C4296D98-52D8-4F0E-57DE-1B35FF21AD25}"/>
              </a:ext>
            </a:extLst>
          </p:cNvPr>
          <p:cNvSpPr txBox="1"/>
          <p:nvPr/>
        </p:nvSpPr>
        <p:spPr>
          <a:xfrm>
            <a:off x="1295157" y="2909106"/>
            <a:ext cx="3063789" cy="313932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carotenoids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Nutrients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(C, N, C:N)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LWC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Wood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(05, 10, 15, 20)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8272FBD-5FB8-8D01-73D5-F83A4E4C860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Complementary strategies to cope with 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74E3658E-0D43-A41C-F23B-1C210F54DC9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6" name="TextBox 16">
            <a:extLst>
              <a:ext uri="{FF2B5EF4-FFF2-40B4-BE49-F238E27FC236}">
                <a16:creationId xmlns:a16="http://schemas.microsoft.com/office/drawing/2014/main" id="{56716A86-82E2-AC28-1D02-3AA5D6065B7E}"/>
              </a:ext>
            </a:extLst>
          </p:cNvPr>
          <p:cNvSpPr txBox="1"/>
          <p:nvPr/>
        </p:nvSpPr>
        <p:spPr>
          <a:xfrm>
            <a:off x="7463813" y="3372138"/>
            <a:ext cx="1823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Helvetica" panose="020B0604020202020204" pitchFamily="34" charset="0"/>
                <a:cs typeface="Helvetica" panose="020B0604020202020204" pitchFamily="34" charset="0"/>
              </a:rPr>
              <a:t>=/=</a:t>
            </a:r>
          </a:p>
        </p:txBody>
      </p:sp>
    </p:spTree>
    <p:extLst>
      <p:ext uri="{BB962C8B-B14F-4D97-AF65-F5344CB8AC3E}">
        <p14:creationId xmlns:p14="http://schemas.microsoft.com/office/powerpoint/2010/main" val="1920872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CE1DA-4763-73EA-08A9-66EC22793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04B6278A-86A2-9C8D-5059-18C708091E0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Complementary strategies to cope with 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17001985-FC47-1BD5-13FB-8F851E7AE4FB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A21A98-1FA5-64FA-AFE8-47844E72A77B}"/>
              </a:ext>
            </a:extLst>
          </p:cNvPr>
          <p:cNvSpPr/>
          <p:nvPr/>
        </p:nvSpPr>
        <p:spPr>
          <a:xfrm>
            <a:off x="485192" y="2318657"/>
            <a:ext cx="2957804" cy="111034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Extrinsic</a:t>
            </a:r>
            <a:r>
              <a:rPr lang="es-ES" sz="2000" b="1" dirty="0"/>
              <a:t> </a:t>
            </a:r>
            <a:r>
              <a:rPr lang="es-ES" sz="2000" b="1" dirty="0" err="1"/>
              <a:t>factors</a:t>
            </a:r>
            <a:endParaRPr lang="es-ES" sz="2000" b="1" dirty="0"/>
          </a:p>
          <a:p>
            <a:pPr marL="342900" indent="-342900">
              <a:buFontTx/>
              <a:buChar char="-"/>
            </a:pPr>
            <a:r>
              <a:rPr lang="es-ES" sz="2000" dirty="0" err="1"/>
              <a:t>Abiotic</a:t>
            </a:r>
            <a:r>
              <a:rPr lang="es-ES" sz="2000" dirty="0"/>
              <a:t> (</a:t>
            </a:r>
            <a:r>
              <a:rPr lang="es-ES" sz="2000" dirty="0" err="1"/>
              <a:t>climate</a:t>
            </a:r>
            <a:r>
              <a:rPr lang="es-ES" sz="2000" dirty="0"/>
              <a:t>, </a:t>
            </a:r>
            <a:r>
              <a:rPr lang="es-ES" sz="2000" dirty="0" err="1"/>
              <a:t>soil</a:t>
            </a:r>
            <a:r>
              <a:rPr lang="es-ES" sz="2000" dirty="0"/>
              <a:t>)</a:t>
            </a:r>
          </a:p>
          <a:p>
            <a:pPr marL="285750" indent="-285750">
              <a:buFontTx/>
              <a:buChar char="-"/>
            </a:pPr>
            <a:r>
              <a:rPr lang="es-ES" sz="2000" dirty="0" err="1"/>
              <a:t>Biotic</a:t>
            </a:r>
            <a:r>
              <a:rPr lang="es-ES" sz="2000" dirty="0"/>
              <a:t> (</a:t>
            </a:r>
            <a:r>
              <a:rPr lang="es-ES" dirty="0" err="1"/>
              <a:t>competition</a:t>
            </a:r>
            <a:r>
              <a:rPr lang="es-ES" dirty="0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272E18-6003-92A2-6B1E-A85D87D3F447}"/>
              </a:ext>
            </a:extLst>
          </p:cNvPr>
          <p:cNvSpPr/>
          <p:nvPr/>
        </p:nvSpPr>
        <p:spPr>
          <a:xfrm>
            <a:off x="485192" y="4707875"/>
            <a:ext cx="2957804" cy="158347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Intrinsic</a:t>
            </a:r>
            <a:r>
              <a:rPr lang="es-ES" sz="2000" b="1" dirty="0"/>
              <a:t> </a:t>
            </a:r>
            <a:r>
              <a:rPr lang="es-ES" sz="2000" b="1" dirty="0" err="1"/>
              <a:t>factors</a:t>
            </a:r>
            <a:endParaRPr lang="es-ES" sz="2000" b="1" dirty="0"/>
          </a:p>
          <a:p>
            <a:pPr marL="342900" indent="-342900">
              <a:buFontTx/>
              <a:buChar char="-"/>
            </a:pPr>
            <a:r>
              <a:rPr lang="es-ES" sz="2000" dirty="0" err="1"/>
              <a:t>Hydraulic</a:t>
            </a:r>
            <a:r>
              <a:rPr lang="es-ES" sz="2000" dirty="0"/>
              <a:t> </a:t>
            </a:r>
            <a:r>
              <a:rPr lang="es-ES" sz="2000" dirty="0" err="1"/>
              <a:t>traits</a:t>
            </a:r>
            <a:r>
              <a:rPr lang="es-ES" sz="2000" dirty="0"/>
              <a:t> </a:t>
            </a:r>
          </a:p>
          <a:p>
            <a:pPr marL="342900" indent="-342900">
              <a:buFontTx/>
              <a:buChar char="-"/>
            </a:pPr>
            <a:r>
              <a:rPr lang="es-ES" sz="2000" dirty="0" err="1"/>
              <a:t>Tree</a:t>
            </a:r>
            <a:r>
              <a:rPr lang="es-ES" sz="2000" dirty="0"/>
              <a:t> </a:t>
            </a:r>
            <a:r>
              <a:rPr lang="es-ES" sz="2000" dirty="0" err="1"/>
              <a:t>size</a:t>
            </a:r>
            <a:r>
              <a:rPr lang="es-ES" sz="2000" dirty="0"/>
              <a:t> (</a:t>
            </a:r>
            <a:r>
              <a:rPr lang="es-ES" sz="2000" dirty="0" err="1"/>
              <a:t>height</a:t>
            </a:r>
            <a:r>
              <a:rPr lang="es-ES" sz="2000" dirty="0"/>
              <a:t>, </a:t>
            </a:r>
            <a:r>
              <a:rPr lang="es-ES" sz="2000" dirty="0" err="1"/>
              <a:t>dbh</a:t>
            </a:r>
            <a:r>
              <a:rPr lang="es-ES" sz="2000" dirty="0"/>
              <a:t>)</a:t>
            </a:r>
          </a:p>
          <a:p>
            <a:pPr marL="342900" indent="-342900">
              <a:buFontTx/>
              <a:buChar char="-"/>
            </a:pPr>
            <a:r>
              <a:rPr lang="es-ES" sz="2000" dirty="0" err="1"/>
              <a:t>Tree</a:t>
            </a:r>
            <a:r>
              <a:rPr lang="es-ES" sz="2000" dirty="0"/>
              <a:t> </a:t>
            </a:r>
            <a:r>
              <a:rPr lang="es-ES" sz="2000" dirty="0" err="1"/>
              <a:t>age</a:t>
            </a:r>
            <a:endParaRPr lang="es-ES" sz="2000" dirty="0"/>
          </a:p>
          <a:p>
            <a:pPr marL="342900" indent="-342900">
              <a:buFontTx/>
              <a:buChar char="-"/>
            </a:pPr>
            <a:r>
              <a:rPr lang="es-ES" sz="2000" dirty="0"/>
              <a:t>Long-</a:t>
            </a:r>
            <a:r>
              <a:rPr lang="es-ES" sz="2000" dirty="0" err="1"/>
              <a:t>term</a:t>
            </a:r>
            <a:r>
              <a:rPr lang="es-ES" sz="2000" dirty="0"/>
              <a:t> </a:t>
            </a:r>
            <a:r>
              <a:rPr lang="es-ES" sz="2000" dirty="0" err="1"/>
              <a:t>growth</a:t>
            </a:r>
            <a:endParaRPr lang="es-E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7AC865F-34A9-6F32-AC72-F019E6D7EF20}"/>
              </a:ext>
            </a:extLst>
          </p:cNvPr>
          <p:cNvCxnSpPr>
            <a:cxnSpLocks/>
          </p:cNvCxnSpPr>
          <p:nvPr/>
        </p:nvCxnSpPr>
        <p:spPr>
          <a:xfrm>
            <a:off x="1969692" y="3743086"/>
            <a:ext cx="0" cy="724677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690A6FBD-80D7-67FE-1DC6-4E63CF9BDC7A}"/>
              </a:ext>
            </a:extLst>
          </p:cNvPr>
          <p:cNvSpPr txBox="1">
            <a:spLocks/>
          </p:cNvSpPr>
          <p:nvPr/>
        </p:nvSpPr>
        <p:spPr>
          <a:xfrm>
            <a:off x="0" y="920470"/>
            <a:ext cx="4021043" cy="111664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Predisposing</a:t>
            </a:r>
            <a:r>
              <a:rPr lang="es-ES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endParaRPr lang="es-ES" sz="1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(Sánchez-Salguero et al. 2012, Allen et al. 2015)</a:t>
            </a:r>
          </a:p>
          <a:p>
            <a:pPr marL="0" indent="0" algn="ctr">
              <a:buNone/>
            </a:pP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(De Soto et al. 2020, Serra-Maluquer et al. 2021, Valeriano et al. 2021)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5DC7B6-554B-1F89-6EC5-E94136B3153A}"/>
              </a:ext>
            </a:extLst>
          </p:cNvPr>
          <p:cNvSpPr/>
          <p:nvPr/>
        </p:nvSpPr>
        <p:spPr>
          <a:xfrm>
            <a:off x="4775731" y="2452055"/>
            <a:ext cx="3416546" cy="111034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Morphological</a:t>
            </a:r>
            <a:r>
              <a:rPr lang="es-ES" sz="2000" b="1" dirty="0"/>
              <a:t> responses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/>
              <a:t>SLA</a:t>
            </a:r>
          </a:p>
          <a:p>
            <a:pPr marL="285750" indent="-285750">
              <a:buFontTx/>
              <a:buChar char="-"/>
            </a:pPr>
            <a:r>
              <a:rPr lang="es-ES" sz="2000" dirty="0" err="1"/>
              <a:t>Leaves</a:t>
            </a:r>
            <a:r>
              <a:rPr lang="es-ES" sz="2000" dirty="0"/>
              <a:t> </a:t>
            </a:r>
            <a:r>
              <a:rPr lang="es-ES" sz="2000" dirty="0" err="1"/>
              <a:t>nutrients</a:t>
            </a:r>
            <a:r>
              <a:rPr lang="es-ES" sz="2000" dirty="0"/>
              <a:t> (C, N, C:N)</a:t>
            </a:r>
            <a:endParaRPr lang="es-E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73D92E-E7D9-A747-4EEC-7FBFBB83DAD0}"/>
              </a:ext>
            </a:extLst>
          </p:cNvPr>
          <p:cNvSpPr/>
          <p:nvPr/>
        </p:nvSpPr>
        <p:spPr>
          <a:xfrm>
            <a:off x="4775731" y="3637043"/>
            <a:ext cx="3416546" cy="245836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Physiological</a:t>
            </a:r>
            <a:r>
              <a:rPr lang="es-ES" sz="2000" b="1" dirty="0"/>
              <a:t> responses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 err="1"/>
              <a:t>Pigments</a:t>
            </a:r>
            <a:r>
              <a:rPr lang="es-ES" sz="2000" dirty="0"/>
              <a:t> (</a:t>
            </a:r>
            <a:r>
              <a:rPr lang="es-ES" sz="2000" dirty="0" err="1"/>
              <a:t>Chl</a:t>
            </a:r>
            <a:r>
              <a:rPr lang="es-ES" sz="2000" dirty="0"/>
              <a:t>., </a:t>
            </a:r>
            <a:r>
              <a:rPr lang="es-ES" sz="2000" dirty="0" err="1"/>
              <a:t>carotenoids</a:t>
            </a:r>
            <a:r>
              <a:rPr lang="es-ES" sz="2000" dirty="0"/>
              <a:t>)</a:t>
            </a:r>
          </a:p>
          <a:p>
            <a:pPr marL="285750" indent="-285750">
              <a:buFontTx/>
              <a:buChar char="-"/>
            </a:pPr>
            <a:r>
              <a:rPr lang="es-ES" sz="2000" dirty="0"/>
              <a:t>LWC</a:t>
            </a:r>
          </a:p>
          <a:p>
            <a:pPr marL="285750" indent="-285750">
              <a:buFontTx/>
              <a:buChar char="-"/>
            </a:pPr>
            <a:r>
              <a:rPr lang="es-ES" sz="2000" dirty="0" err="1"/>
              <a:t>Leaves</a:t>
            </a:r>
            <a:r>
              <a:rPr lang="es-ES" sz="2000" dirty="0"/>
              <a:t> </a:t>
            </a:r>
            <a:r>
              <a:rPr lang="es-ES" sz="2000" dirty="0" err="1"/>
              <a:t>isotopes</a:t>
            </a:r>
            <a:r>
              <a:rPr lang="es-ES" sz="2000" dirty="0"/>
              <a:t> (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C,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 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/>
              <a:t>Wood </a:t>
            </a:r>
            <a:r>
              <a:rPr lang="es-ES" sz="2000" dirty="0" err="1"/>
              <a:t>isotopes</a:t>
            </a:r>
            <a:endParaRPr lang="es-E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8BF27A6-0B6D-DBCA-8436-BD9B3B0439FC}"/>
              </a:ext>
            </a:extLst>
          </p:cNvPr>
          <p:cNvCxnSpPr>
            <a:cxnSpLocks/>
          </p:cNvCxnSpPr>
          <p:nvPr/>
        </p:nvCxnSpPr>
        <p:spPr>
          <a:xfrm>
            <a:off x="3820264" y="2752486"/>
            <a:ext cx="751736" cy="25474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E52A376-60A6-EA55-AE18-E89025470C62}"/>
              </a:ext>
            </a:extLst>
          </p:cNvPr>
          <p:cNvCxnSpPr>
            <a:cxnSpLocks/>
          </p:cNvCxnSpPr>
          <p:nvPr/>
        </p:nvCxnSpPr>
        <p:spPr>
          <a:xfrm flipV="1">
            <a:off x="3820264" y="5198661"/>
            <a:ext cx="651963" cy="300951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715D4F8-736D-5BB3-59C8-66532FED40FF}"/>
              </a:ext>
            </a:extLst>
          </p:cNvPr>
          <p:cNvCxnSpPr>
            <a:cxnSpLocks/>
          </p:cNvCxnSpPr>
          <p:nvPr/>
        </p:nvCxnSpPr>
        <p:spPr>
          <a:xfrm flipV="1">
            <a:off x="3695062" y="3238148"/>
            <a:ext cx="876938" cy="1770678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594D5AA-935C-8FD1-6FE5-447451B08BD5}"/>
              </a:ext>
            </a:extLst>
          </p:cNvPr>
          <p:cNvCxnSpPr>
            <a:cxnSpLocks/>
          </p:cNvCxnSpPr>
          <p:nvPr/>
        </p:nvCxnSpPr>
        <p:spPr>
          <a:xfrm>
            <a:off x="3712190" y="3238148"/>
            <a:ext cx="943786" cy="1628076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8C90770D-E532-3213-9E56-BB3785E6DA6D}"/>
              </a:ext>
            </a:extLst>
          </p:cNvPr>
          <p:cNvSpPr/>
          <p:nvPr/>
        </p:nvSpPr>
        <p:spPr>
          <a:xfrm>
            <a:off x="9120931" y="3514235"/>
            <a:ext cx="2831583" cy="1220173"/>
          </a:xfrm>
          <a:prstGeom prst="rect">
            <a:avLst/>
          </a:prstGeom>
          <a:solidFill>
            <a:srgbClr val="B75EBE"/>
          </a:solidFill>
          <a:ln>
            <a:solidFill>
              <a:srgbClr val="B75E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Whole-plant</a:t>
            </a:r>
            <a:r>
              <a:rPr lang="es-ES" sz="2000" b="1" dirty="0"/>
              <a:t> responses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/>
              <a:t>Short-</a:t>
            </a:r>
            <a:r>
              <a:rPr lang="es-ES" sz="2000" dirty="0" err="1"/>
              <a:t>term</a:t>
            </a:r>
            <a:r>
              <a:rPr lang="es-ES" sz="2000" dirty="0"/>
              <a:t> </a:t>
            </a:r>
            <a:r>
              <a:rPr lang="es-ES" sz="2000" dirty="0" err="1"/>
              <a:t>growth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 err="1"/>
              <a:t>Defoliation</a:t>
            </a:r>
            <a:endParaRPr lang="es-E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59E5D76-4488-EA0A-20C1-E3FC310364D0}"/>
              </a:ext>
            </a:extLst>
          </p:cNvPr>
          <p:cNvCxnSpPr>
            <a:cxnSpLocks/>
          </p:cNvCxnSpPr>
          <p:nvPr/>
        </p:nvCxnSpPr>
        <p:spPr>
          <a:xfrm>
            <a:off x="8280736" y="3110778"/>
            <a:ext cx="697894" cy="79001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25BEB1C-CA5B-3F8D-0D8A-0B7FC4B1AA92}"/>
              </a:ext>
            </a:extLst>
          </p:cNvPr>
          <p:cNvCxnSpPr>
            <a:cxnSpLocks/>
          </p:cNvCxnSpPr>
          <p:nvPr/>
        </p:nvCxnSpPr>
        <p:spPr>
          <a:xfrm flipV="1">
            <a:off x="8280736" y="4221804"/>
            <a:ext cx="697894" cy="666172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arcador de contenido 2">
            <a:extLst>
              <a:ext uri="{FF2B5EF4-FFF2-40B4-BE49-F238E27FC236}">
                <a16:creationId xmlns:a16="http://schemas.microsoft.com/office/drawing/2014/main" id="{23E0A0AC-5A73-2742-E8B0-82D0188DEECC}"/>
              </a:ext>
            </a:extLst>
          </p:cNvPr>
          <p:cNvSpPr txBox="1">
            <a:spLocks/>
          </p:cNvSpPr>
          <p:nvPr/>
        </p:nvSpPr>
        <p:spPr>
          <a:xfrm>
            <a:off x="7319691" y="955424"/>
            <a:ext cx="2619983" cy="10020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Responses</a:t>
            </a:r>
          </a:p>
          <a:p>
            <a:pPr marL="0" indent="0" algn="ctr">
              <a:buNone/>
            </a:pP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(Liu et al. 2017,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Jaleel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et al. 2018)</a:t>
            </a:r>
          </a:p>
        </p:txBody>
      </p:sp>
    </p:spTree>
    <p:extLst>
      <p:ext uri="{BB962C8B-B14F-4D97-AF65-F5344CB8AC3E}">
        <p14:creationId xmlns:p14="http://schemas.microsoft.com/office/powerpoint/2010/main" val="1734042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D87DC-431B-85B9-AE5E-BF0EA43E5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AC4B275-2947-8374-4C4F-424A1D4BA42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Complementary strategies to cope with 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F160BC8F-99FC-2D6D-D862-C4DD4505732E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705100-808D-250B-BD04-25AE437A4331}"/>
              </a:ext>
            </a:extLst>
          </p:cNvPr>
          <p:cNvSpPr/>
          <p:nvPr/>
        </p:nvSpPr>
        <p:spPr>
          <a:xfrm>
            <a:off x="485192" y="2318657"/>
            <a:ext cx="2957804" cy="111034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Extrinsic</a:t>
            </a:r>
            <a:r>
              <a:rPr lang="es-ES" sz="2000" b="1" dirty="0"/>
              <a:t> </a:t>
            </a:r>
            <a:r>
              <a:rPr lang="es-ES" sz="2000" b="1" dirty="0" err="1"/>
              <a:t>factors</a:t>
            </a:r>
            <a:endParaRPr lang="es-ES" sz="2000" b="1" dirty="0"/>
          </a:p>
          <a:p>
            <a:pPr marL="342900" indent="-342900">
              <a:buFontTx/>
              <a:buChar char="-"/>
            </a:pPr>
            <a:r>
              <a:rPr lang="es-ES" sz="2000" dirty="0" err="1"/>
              <a:t>Abiotic</a:t>
            </a:r>
            <a:r>
              <a:rPr lang="es-ES" sz="2000" dirty="0"/>
              <a:t> (</a:t>
            </a:r>
            <a:r>
              <a:rPr lang="es-ES" sz="2000" dirty="0" err="1"/>
              <a:t>climate</a:t>
            </a:r>
            <a:r>
              <a:rPr lang="es-ES" sz="2000" dirty="0"/>
              <a:t>, </a:t>
            </a:r>
            <a:r>
              <a:rPr lang="es-ES" sz="2000" dirty="0" err="1"/>
              <a:t>soil</a:t>
            </a:r>
            <a:r>
              <a:rPr lang="es-ES" sz="2000" dirty="0"/>
              <a:t>)</a:t>
            </a:r>
          </a:p>
          <a:p>
            <a:pPr marL="285750" indent="-285750">
              <a:buFontTx/>
              <a:buChar char="-"/>
            </a:pPr>
            <a:r>
              <a:rPr lang="es-ES" sz="2000" dirty="0" err="1"/>
              <a:t>Biotic</a:t>
            </a:r>
            <a:r>
              <a:rPr lang="es-ES" sz="2000" dirty="0"/>
              <a:t> (</a:t>
            </a:r>
            <a:r>
              <a:rPr lang="es-ES" dirty="0" err="1"/>
              <a:t>competition</a:t>
            </a:r>
            <a:r>
              <a:rPr lang="es-ES" dirty="0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89D5E3-41CB-78B4-A4B1-7C987311554F}"/>
              </a:ext>
            </a:extLst>
          </p:cNvPr>
          <p:cNvSpPr/>
          <p:nvPr/>
        </p:nvSpPr>
        <p:spPr>
          <a:xfrm>
            <a:off x="485192" y="4707875"/>
            <a:ext cx="2957804" cy="158347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Intrinsic</a:t>
            </a:r>
            <a:r>
              <a:rPr lang="es-ES" sz="2000" b="1" dirty="0"/>
              <a:t> </a:t>
            </a:r>
            <a:r>
              <a:rPr lang="es-ES" sz="2000" b="1" dirty="0" err="1"/>
              <a:t>factors</a:t>
            </a:r>
            <a:endParaRPr lang="es-ES" sz="2000" b="1" dirty="0"/>
          </a:p>
          <a:p>
            <a:pPr marL="342900" indent="-342900">
              <a:buFontTx/>
              <a:buChar char="-"/>
            </a:pPr>
            <a:r>
              <a:rPr lang="es-ES" sz="2000" dirty="0" err="1"/>
              <a:t>Hydraulic</a:t>
            </a:r>
            <a:r>
              <a:rPr lang="es-ES" sz="2000" dirty="0"/>
              <a:t> </a:t>
            </a:r>
            <a:r>
              <a:rPr lang="es-ES" sz="2000" dirty="0" err="1"/>
              <a:t>traits</a:t>
            </a:r>
            <a:r>
              <a:rPr lang="es-ES" sz="2000" dirty="0"/>
              <a:t> </a:t>
            </a:r>
          </a:p>
          <a:p>
            <a:pPr marL="342900" indent="-342900">
              <a:buFontTx/>
              <a:buChar char="-"/>
            </a:pPr>
            <a:r>
              <a:rPr lang="es-ES" sz="2000" dirty="0" err="1"/>
              <a:t>Tree</a:t>
            </a:r>
            <a:r>
              <a:rPr lang="es-ES" sz="2000" dirty="0"/>
              <a:t> </a:t>
            </a:r>
            <a:r>
              <a:rPr lang="es-ES" sz="2000" dirty="0" err="1"/>
              <a:t>size</a:t>
            </a:r>
            <a:r>
              <a:rPr lang="es-ES" sz="2000" dirty="0"/>
              <a:t> (</a:t>
            </a:r>
            <a:r>
              <a:rPr lang="es-ES" sz="2000" dirty="0" err="1"/>
              <a:t>height</a:t>
            </a:r>
            <a:r>
              <a:rPr lang="es-ES" sz="2000" dirty="0"/>
              <a:t>, </a:t>
            </a:r>
            <a:r>
              <a:rPr lang="es-ES" sz="2000" dirty="0" err="1"/>
              <a:t>dbh</a:t>
            </a:r>
            <a:r>
              <a:rPr lang="es-ES" sz="2000" dirty="0"/>
              <a:t>)</a:t>
            </a:r>
          </a:p>
          <a:p>
            <a:pPr marL="342900" indent="-342900">
              <a:buFontTx/>
              <a:buChar char="-"/>
            </a:pPr>
            <a:r>
              <a:rPr lang="es-ES" sz="2000" dirty="0" err="1"/>
              <a:t>Tree</a:t>
            </a:r>
            <a:r>
              <a:rPr lang="es-ES" sz="2000" dirty="0"/>
              <a:t> </a:t>
            </a:r>
            <a:r>
              <a:rPr lang="es-ES" sz="2000" dirty="0" err="1"/>
              <a:t>age</a:t>
            </a:r>
            <a:endParaRPr lang="es-ES" sz="2000" dirty="0"/>
          </a:p>
          <a:p>
            <a:pPr marL="342900" indent="-342900">
              <a:buFontTx/>
              <a:buChar char="-"/>
            </a:pPr>
            <a:r>
              <a:rPr lang="es-ES" sz="2000" dirty="0"/>
              <a:t>Long-</a:t>
            </a:r>
            <a:r>
              <a:rPr lang="es-ES" sz="2000" dirty="0" err="1"/>
              <a:t>term</a:t>
            </a:r>
            <a:r>
              <a:rPr lang="es-ES" sz="2000" dirty="0"/>
              <a:t> </a:t>
            </a:r>
            <a:r>
              <a:rPr lang="es-ES" sz="2000" dirty="0" err="1"/>
              <a:t>growth</a:t>
            </a:r>
            <a:endParaRPr lang="es-E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CEDD940-59EC-D633-C564-91409322F7AC}"/>
              </a:ext>
            </a:extLst>
          </p:cNvPr>
          <p:cNvCxnSpPr>
            <a:cxnSpLocks/>
          </p:cNvCxnSpPr>
          <p:nvPr/>
        </p:nvCxnSpPr>
        <p:spPr>
          <a:xfrm>
            <a:off x="1969692" y="3743086"/>
            <a:ext cx="0" cy="724677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6318F7A-7B13-08C2-6371-DA576C9412D7}"/>
              </a:ext>
            </a:extLst>
          </p:cNvPr>
          <p:cNvSpPr/>
          <p:nvPr/>
        </p:nvSpPr>
        <p:spPr>
          <a:xfrm>
            <a:off x="4775731" y="2452055"/>
            <a:ext cx="3416546" cy="111034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Morphological</a:t>
            </a:r>
            <a:r>
              <a:rPr lang="es-ES" sz="2000" b="1" dirty="0"/>
              <a:t> responses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/>
              <a:t>SLA</a:t>
            </a:r>
          </a:p>
          <a:p>
            <a:pPr marL="285750" indent="-285750">
              <a:buFontTx/>
              <a:buChar char="-"/>
            </a:pPr>
            <a:r>
              <a:rPr lang="es-ES" sz="2000" dirty="0" err="1"/>
              <a:t>Leaves</a:t>
            </a:r>
            <a:r>
              <a:rPr lang="es-ES" sz="2000" dirty="0"/>
              <a:t> </a:t>
            </a:r>
            <a:r>
              <a:rPr lang="es-ES" sz="2000" dirty="0" err="1"/>
              <a:t>nutrients</a:t>
            </a:r>
            <a:r>
              <a:rPr lang="es-ES" sz="2000" dirty="0"/>
              <a:t> (C, N, C:N)</a:t>
            </a:r>
            <a:endParaRPr lang="es-E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D3BDAD-6DD7-A7E8-12F7-0F4DA782ED19}"/>
              </a:ext>
            </a:extLst>
          </p:cNvPr>
          <p:cNvSpPr/>
          <p:nvPr/>
        </p:nvSpPr>
        <p:spPr>
          <a:xfrm>
            <a:off x="4775731" y="3637043"/>
            <a:ext cx="3416546" cy="245836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Physiological</a:t>
            </a:r>
            <a:r>
              <a:rPr lang="es-ES" sz="2000" b="1" dirty="0"/>
              <a:t> responses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 err="1"/>
              <a:t>Pigments</a:t>
            </a:r>
            <a:r>
              <a:rPr lang="es-ES" sz="2000" dirty="0"/>
              <a:t> (</a:t>
            </a:r>
            <a:r>
              <a:rPr lang="es-ES" sz="2000" dirty="0" err="1"/>
              <a:t>Chl</a:t>
            </a:r>
            <a:r>
              <a:rPr lang="es-ES" sz="2000" dirty="0"/>
              <a:t>., </a:t>
            </a:r>
            <a:r>
              <a:rPr lang="es-ES" sz="2000" dirty="0" err="1"/>
              <a:t>carotenoids</a:t>
            </a:r>
            <a:r>
              <a:rPr lang="es-ES" sz="2000" dirty="0"/>
              <a:t>)</a:t>
            </a:r>
          </a:p>
          <a:p>
            <a:pPr marL="285750" indent="-285750">
              <a:buFontTx/>
              <a:buChar char="-"/>
            </a:pPr>
            <a:r>
              <a:rPr lang="es-ES" sz="2000" dirty="0"/>
              <a:t>LWC</a:t>
            </a:r>
          </a:p>
          <a:p>
            <a:pPr marL="285750" indent="-285750">
              <a:buFontTx/>
              <a:buChar char="-"/>
            </a:pPr>
            <a:r>
              <a:rPr lang="es-ES" sz="2000" dirty="0" err="1"/>
              <a:t>Leaves</a:t>
            </a:r>
            <a:r>
              <a:rPr lang="es-ES" sz="2000" dirty="0"/>
              <a:t> </a:t>
            </a:r>
            <a:r>
              <a:rPr lang="es-ES" sz="2000" dirty="0" err="1"/>
              <a:t>isotopes</a:t>
            </a:r>
            <a:r>
              <a:rPr lang="es-ES" sz="2000" dirty="0"/>
              <a:t> (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C,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 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/>
              <a:t>Wood </a:t>
            </a:r>
            <a:r>
              <a:rPr lang="es-ES" sz="2000" dirty="0" err="1"/>
              <a:t>isotopes</a:t>
            </a:r>
            <a:endParaRPr lang="es-E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FD5D163-A3D9-3EF9-92BC-EA623BDED4FF}"/>
              </a:ext>
            </a:extLst>
          </p:cNvPr>
          <p:cNvCxnSpPr>
            <a:cxnSpLocks/>
          </p:cNvCxnSpPr>
          <p:nvPr/>
        </p:nvCxnSpPr>
        <p:spPr>
          <a:xfrm>
            <a:off x="3820264" y="2752486"/>
            <a:ext cx="751736" cy="25474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4DE6C47-7960-D82B-9535-834A7E8E6436}"/>
              </a:ext>
            </a:extLst>
          </p:cNvPr>
          <p:cNvCxnSpPr>
            <a:cxnSpLocks/>
          </p:cNvCxnSpPr>
          <p:nvPr/>
        </p:nvCxnSpPr>
        <p:spPr>
          <a:xfrm flipV="1">
            <a:off x="3820264" y="5198661"/>
            <a:ext cx="651963" cy="300951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62FCB07-698C-8E42-2E4F-00DBB5E039DD}"/>
              </a:ext>
            </a:extLst>
          </p:cNvPr>
          <p:cNvCxnSpPr>
            <a:cxnSpLocks/>
          </p:cNvCxnSpPr>
          <p:nvPr/>
        </p:nvCxnSpPr>
        <p:spPr>
          <a:xfrm flipV="1">
            <a:off x="3695062" y="3238148"/>
            <a:ext cx="876938" cy="1770678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F66F924-BEB0-2D75-BBBF-4B49FC79F7A0}"/>
              </a:ext>
            </a:extLst>
          </p:cNvPr>
          <p:cNvCxnSpPr>
            <a:cxnSpLocks/>
          </p:cNvCxnSpPr>
          <p:nvPr/>
        </p:nvCxnSpPr>
        <p:spPr>
          <a:xfrm>
            <a:off x="3712190" y="3238148"/>
            <a:ext cx="943786" cy="1628076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8212C2E-A8E8-846B-F38F-323D8B3F8669}"/>
              </a:ext>
            </a:extLst>
          </p:cNvPr>
          <p:cNvSpPr/>
          <p:nvPr/>
        </p:nvSpPr>
        <p:spPr>
          <a:xfrm>
            <a:off x="9120931" y="3514235"/>
            <a:ext cx="2831583" cy="1220173"/>
          </a:xfrm>
          <a:prstGeom prst="rect">
            <a:avLst/>
          </a:prstGeom>
          <a:solidFill>
            <a:srgbClr val="B75EBE"/>
          </a:solidFill>
          <a:ln>
            <a:solidFill>
              <a:srgbClr val="B75E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Whole-plant</a:t>
            </a:r>
            <a:r>
              <a:rPr lang="es-ES" sz="2000" b="1" dirty="0"/>
              <a:t> responses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/>
              <a:t>Short-</a:t>
            </a:r>
            <a:r>
              <a:rPr lang="es-ES" sz="2000" dirty="0" err="1"/>
              <a:t>term</a:t>
            </a:r>
            <a:r>
              <a:rPr lang="es-ES" sz="2000" dirty="0"/>
              <a:t> </a:t>
            </a:r>
            <a:r>
              <a:rPr lang="es-ES" sz="2000" dirty="0" err="1"/>
              <a:t>growth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 err="1"/>
              <a:t>Defoliation</a:t>
            </a:r>
            <a:endParaRPr lang="es-E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42251B9-2AB5-3A06-DA7B-749E26950269}"/>
              </a:ext>
            </a:extLst>
          </p:cNvPr>
          <p:cNvCxnSpPr>
            <a:cxnSpLocks/>
          </p:cNvCxnSpPr>
          <p:nvPr/>
        </p:nvCxnSpPr>
        <p:spPr>
          <a:xfrm>
            <a:off x="8280736" y="3110778"/>
            <a:ext cx="697894" cy="79001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E5898AB-8967-20EA-1A30-BB3E7BD2DE07}"/>
              </a:ext>
            </a:extLst>
          </p:cNvPr>
          <p:cNvCxnSpPr>
            <a:cxnSpLocks/>
          </p:cNvCxnSpPr>
          <p:nvPr/>
        </p:nvCxnSpPr>
        <p:spPr>
          <a:xfrm flipV="1">
            <a:off x="8280736" y="4221804"/>
            <a:ext cx="697894" cy="666172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8672D0-6E80-32D0-311B-70508644CA9F}"/>
              </a:ext>
            </a:extLst>
          </p:cNvPr>
          <p:cNvSpPr txBox="1">
            <a:spLocks/>
          </p:cNvSpPr>
          <p:nvPr/>
        </p:nvSpPr>
        <p:spPr>
          <a:xfrm>
            <a:off x="1343214" y="1085255"/>
            <a:ext cx="9858186" cy="884903"/>
          </a:xfrm>
          <a:prstGeom prst="rect">
            <a:avLst/>
          </a:prstGeom>
          <a:ln w="38100">
            <a:solidFill>
              <a:srgbClr val="218317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Main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objective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predisposing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indivual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drought-induced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die-off.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835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21270-AC5B-9836-A3A7-9CC65635B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846DBA54-2EE8-792C-E162-991C254C0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1240E4-294B-2414-2B5F-FA2D35572E87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G.I.K.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E1D19D0F-86EA-738E-3FAE-610938A3F620}"/>
              </a:ext>
            </a:extLst>
          </p:cNvPr>
          <p:cNvSpPr txBox="1">
            <a:spLocks/>
          </p:cNvSpPr>
          <p:nvPr/>
        </p:nvSpPr>
        <p:spPr>
          <a:xfrm>
            <a:off x="9147571" y="5472862"/>
            <a:ext cx="2957804" cy="8041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 err="1">
                <a:latin typeface="Helvetica"/>
                <a:cs typeface="Helvetica"/>
              </a:rPr>
              <a:t>We</a:t>
            </a:r>
            <a:r>
              <a:rPr lang="es-ES" sz="2000" b="1" dirty="0">
                <a:latin typeface="Helvetica"/>
                <a:cs typeface="Helvetica"/>
              </a:rPr>
              <a:t> are </a:t>
            </a:r>
            <a:r>
              <a:rPr lang="es-ES" sz="2000" b="1" dirty="0" err="1">
                <a:latin typeface="Helvetica"/>
                <a:cs typeface="Helvetica"/>
              </a:rPr>
              <a:t>still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unable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to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forecast</a:t>
            </a:r>
            <a:r>
              <a:rPr lang="es-ES" sz="2000" b="1" dirty="0">
                <a:latin typeface="Helvetica"/>
                <a:cs typeface="Helvetica"/>
              </a:rPr>
              <a:t> die-off!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F39FC9-AA6A-B2F3-C57C-13F71C0085BF}"/>
              </a:ext>
            </a:extLst>
          </p:cNvPr>
          <p:cNvSpPr/>
          <p:nvPr/>
        </p:nvSpPr>
        <p:spPr>
          <a:xfrm>
            <a:off x="511832" y="3524029"/>
            <a:ext cx="2957804" cy="48985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Extrinsic</a:t>
            </a:r>
            <a:r>
              <a:rPr lang="es-ES" sz="2000" b="1" dirty="0"/>
              <a:t> </a:t>
            </a:r>
            <a:r>
              <a:rPr lang="es-ES" sz="2000" b="1" dirty="0" err="1"/>
              <a:t>factors</a:t>
            </a:r>
            <a:endParaRPr lang="es-E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841B79-A886-818E-DF34-210F7CC1DE70}"/>
              </a:ext>
            </a:extLst>
          </p:cNvPr>
          <p:cNvSpPr/>
          <p:nvPr/>
        </p:nvSpPr>
        <p:spPr>
          <a:xfrm>
            <a:off x="511832" y="5292761"/>
            <a:ext cx="2957804" cy="48985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Intrinsic</a:t>
            </a:r>
            <a:r>
              <a:rPr lang="es-ES" sz="2000" b="1" dirty="0"/>
              <a:t> </a:t>
            </a:r>
            <a:r>
              <a:rPr lang="es-ES" sz="2000" b="1" dirty="0" err="1"/>
              <a:t>factors</a:t>
            </a:r>
            <a:endParaRPr lang="es-E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EBDDE2-55EA-1F64-8284-064D78ED379F}"/>
              </a:ext>
            </a:extLst>
          </p:cNvPr>
          <p:cNvCxnSpPr>
            <a:cxnSpLocks/>
          </p:cNvCxnSpPr>
          <p:nvPr/>
        </p:nvCxnSpPr>
        <p:spPr>
          <a:xfrm>
            <a:off x="1996332" y="4327972"/>
            <a:ext cx="0" cy="724677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37DC640-75C9-E6AB-865F-BC4E7975CF9B}"/>
              </a:ext>
            </a:extLst>
          </p:cNvPr>
          <p:cNvSpPr/>
          <p:nvPr/>
        </p:nvSpPr>
        <p:spPr>
          <a:xfrm>
            <a:off x="4802371" y="3524029"/>
            <a:ext cx="3416546" cy="421774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Morphological</a:t>
            </a:r>
            <a:r>
              <a:rPr lang="es-ES" sz="2000" b="1" dirty="0"/>
              <a:t> responses</a:t>
            </a:r>
            <a:endParaRPr lang="es-ES" sz="2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C2DAE5-B0AA-2812-0246-579C4E3B62B0}"/>
              </a:ext>
            </a:extLst>
          </p:cNvPr>
          <p:cNvSpPr/>
          <p:nvPr/>
        </p:nvSpPr>
        <p:spPr>
          <a:xfrm>
            <a:off x="4819680" y="5292761"/>
            <a:ext cx="3416546" cy="48985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Physiological</a:t>
            </a:r>
            <a:r>
              <a:rPr lang="es-ES" sz="2000" b="1" dirty="0"/>
              <a:t> responses</a:t>
            </a:r>
            <a:endParaRPr lang="es-E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0386733-84C4-4C94-21BA-95E1776F40E7}"/>
              </a:ext>
            </a:extLst>
          </p:cNvPr>
          <p:cNvCxnSpPr>
            <a:cxnSpLocks/>
          </p:cNvCxnSpPr>
          <p:nvPr/>
        </p:nvCxnSpPr>
        <p:spPr>
          <a:xfrm>
            <a:off x="3908335" y="5593712"/>
            <a:ext cx="690305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CDE48FE-2869-F450-77BE-246918ED6CC7}"/>
              </a:ext>
            </a:extLst>
          </p:cNvPr>
          <p:cNvCxnSpPr>
            <a:cxnSpLocks/>
          </p:cNvCxnSpPr>
          <p:nvPr/>
        </p:nvCxnSpPr>
        <p:spPr>
          <a:xfrm flipV="1">
            <a:off x="3738830" y="3823034"/>
            <a:ext cx="859810" cy="149626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8C387A-A7C1-30CF-9865-C09A708C3093}"/>
              </a:ext>
            </a:extLst>
          </p:cNvPr>
          <p:cNvCxnSpPr>
            <a:cxnSpLocks/>
          </p:cNvCxnSpPr>
          <p:nvPr/>
        </p:nvCxnSpPr>
        <p:spPr>
          <a:xfrm>
            <a:off x="3738830" y="3823034"/>
            <a:ext cx="943786" cy="1628076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E9140E9-0EBE-E605-5FE5-6BDC3044E12A}"/>
              </a:ext>
            </a:extLst>
          </p:cNvPr>
          <p:cNvSpPr/>
          <p:nvPr/>
        </p:nvSpPr>
        <p:spPr>
          <a:xfrm>
            <a:off x="9147571" y="4099121"/>
            <a:ext cx="2831583" cy="1220173"/>
          </a:xfrm>
          <a:prstGeom prst="rect">
            <a:avLst/>
          </a:prstGeom>
          <a:solidFill>
            <a:srgbClr val="B75EBE"/>
          </a:solidFill>
          <a:ln>
            <a:solidFill>
              <a:srgbClr val="B75E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Whole-plant</a:t>
            </a:r>
            <a:r>
              <a:rPr lang="es-ES" sz="2000" b="1" dirty="0"/>
              <a:t> responses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/>
              <a:t>Short-</a:t>
            </a:r>
            <a:r>
              <a:rPr lang="es-ES" sz="2000" dirty="0" err="1"/>
              <a:t>term</a:t>
            </a:r>
            <a:r>
              <a:rPr lang="es-ES" sz="2000" dirty="0"/>
              <a:t> </a:t>
            </a:r>
            <a:r>
              <a:rPr lang="es-ES" sz="2000" dirty="0" err="1"/>
              <a:t>growth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 err="1"/>
              <a:t>Defoliation</a:t>
            </a:r>
            <a:endParaRPr lang="es-E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280D616-EA6B-FA29-284E-68AE14F028BC}"/>
              </a:ext>
            </a:extLst>
          </p:cNvPr>
          <p:cNvCxnSpPr>
            <a:cxnSpLocks/>
          </p:cNvCxnSpPr>
          <p:nvPr/>
        </p:nvCxnSpPr>
        <p:spPr>
          <a:xfrm>
            <a:off x="8307376" y="3695664"/>
            <a:ext cx="697894" cy="79001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6FA3B76-B062-F59C-D6D0-7FCA86DE54FD}"/>
              </a:ext>
            </a:extLst>
          </p:cNvPr>
          <p:cNvCxnSpPr>
            <a:cxnSpLocks/>
          </p:cNvCxnSpPr>
          <p:nvPr/>
        </p:nvCxnSpPr>
        <p:spPr>
          <a:xfrm flipV="1">
            <a:off x="8307376" y="4806690"/>
            <a:ext cx="697894" cy="666172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7B9AE947-0A2C-C657-CA9F-F0B0B7DE9B20}"/>
              </a:ext>
            </a:extLst>
          </p:cNvPr>
          <p:cNvSpPr txBox="1">
            <a:spLocks/>
          </p:cNvSpPr>
          <p:nvPr/>
        </p:nvSpPr>
        <p:spPr>
          <a:xfrm>
            <a:off x="511832" y="2396579"/>
            <a:ext cx="2753882" cy="8849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Lack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regional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scale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studies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4F848EB-27DD-B21B-24B8-A2B07271C6F5}"/>
              </a:ext>
            </a:extLst>
          </p:cNvPr>
          <p:cNvCxnSpPr>
            <a:cxnSpLocks/>
          </p:cNvCxnSpPr>
          <p:nvPr/>
        </p:nvCxnSpPr>
        <p:spPr>
          <a:xfrm>
            <a:off x="3865570" y="3726034"/>
            <a:ext cx="690305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FE7A8794-292B-4FDD-B009-A1A9B4AFDFCE}"/>
              </a:ext>
            </a:extLst>
          </p:cNvPr>
          <p:cNvSpPr txBox="1">
            <a:spLocks/>
          </p:cNvSpPr>
          <p:nvPr/>
        </p:nvSpPr>
        <p:spPr>
          <a:xfrm>
            <a:off x="5133703" y="2347441"/>
            <a:ext cx="2753882" cy="10979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Understudied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species-specific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responses</a:t>
            </a: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5F68E816-A02A-58F0-5177-12128CD6D394}"/>
              </a:ext>
            </a:extLst>
          </p:cNvPr>
          <p:cNvSpPr txBox="1">
            <a:spLocks/>
          </p:cNvSpPr>
          <p:nvPr/>
        </p:nvSpPr>
        <p:spPr>
          <a:xfrm>
            <a:off x="3874495" y="2573095"/>
            <a:ext cx="647881" cy="4217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+</a:t>
            </a: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4367D8A6-54F1-2270-5436-B0C0851AEE2B}"/>
              </a:ext>
            </a:extLst>
          </p:cNvPr>
          <p:cNvSpPr txBox="1">
            <a:spLocks/>
          </p:cNvSpPr>
          <p:nvPr/>
        </p:nvSpPr>
        <p:spPr>
          <a:xfrm>
            <a:off x="8374268" y="1564103"/>
            <a:ext cx="3472006" cy="1194776"/>
          </a:xfrm>
          <a:prstGeom prst="rect">
            <a:avLst/>
          </a:prstGeom>
          <a:ln w="57150">
            <a:solidFill>
              <a:srgbClr val="218317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1.: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predisposing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factors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determining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tree</a:t>
            </a:r>
            <a:r>
              <a:rPr lang="es-ES" sz="1800" dirty="0">
                <a:latin typeface="Helvetica"/>
                <a:cs typeface="Helvetica"/>
              </a:rPr>
              <a:t> die-off</a:t>
            </a:r>
            <a:endParaRPr lang="es-ES" sz="1800" dirty="0">
              <a:solidFill>
                <a:srgbClr val="FF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E72211-B334-43A4-F524-90D3AE34A6E2}"/>
              </a:ext>
            </a:extLst>
          </p:cNvPr>
          <p:cNvSpPr txBox="1">
            <a:spLocks/>
          </p:cNvSpPr>
          <p:nvPr/>
        </p:nvSpPr>
        <p:spPr>
          <a:xfrm>
            <a:off x="1343215" y="1276588"/>
            <a:ext cx="5820543" cy="88490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still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do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not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know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relative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importance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predisposing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at regional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scale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across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205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64147-E0AE-8037-3F30-F60F11FFF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B69698FE-909B-1C65-F7B5-335639821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8E903A-B766-63F0-3005-B354A924835E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G.I.K.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69B321E4-AABE-F728-0AE4-B3E032D43536}"/>
              </a:ext>
            </a:extLst>
          </p:cNvPr>
          <p:cNvSpPr txBox="1">
            <a:spLocks/>
          </p:cNvSpPr>
          <p:nvPr/>
        </p:nvSpPr>
        <p:spPr>
          <a:xfrm>
            <a:off x="9147571" y="5472862"/>
            <a:ext cx="2957804" cy="8041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 err="1">
                <a:latin typeface="Helvetica"/>
                <a:cs typeface="Helvetica"/>
              </a:rPr>
              <a:t>We</a:t>
            </a:r>
            <a:r>
              <a:rPr lang="es-ES" sz="2000" b="1" dirty="0">
                <a:latin typeface="Helvetica"/>
                <a:cs typeface="Helvetica"/>
              </a:rPr>
              <a:t> are </a:t>
            </a:r>
            <a:r>
              <a:rPr lang="es-ES" sz="2000" b="1" dirty="0" err="1">
                <a:latin typeface="Helvetica"/>
                <a:cs typeface="Helvetica"/>
              </a:rPr>
              <a:t>still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unable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to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forecast</a:t>
            </a:r>
            <a:r>
              <a:rPr lang="es-ES" sz="2000" b="1" dirty="0">
                <a:latin typeface="Helvetica"/>
                <a:cs typeface="Helvetica"/>
              </a:rPr>
              <a:t> die-off!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2A1C61-F943-5F3F-CB94-800746138EE6}"/>
              </a:ext>
            </a:extLst>
          </p:cNvPr>
          <p:cNvSpPr/>
          <p:nvPr/>
        </p:nvSpPr>
        <p:spPr>
          <a:xfrm>
            <a:off x="511832" y="3524029"/>
            <a:ext cx="2957804" cy="48985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Extrinsic</a:t>
            </a:r>
            <a:r>
              <a:rPr lang="es-ES" sz="2000" b="1" dirty="0"/>
              <a:t> </a:t>
            </a:r>
            <a:r>
              <a:rPr lang="es-ES" sz="2000" b="1" dirty="0" err="1"/>
              <a:t>factors</a:t>
            </a:r>
            <a:endParaRPr lang="es-E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EE9C6C-8F69-42B4-6B28-C998ADAA7984}"/>
              </a:ext>
            </a:extLst>
          </p:cNvPr>
          <p:cNvSpPr/>
          <p:nvPr/>
        </p:nvSpPr>
        <p:spPr>
          <a:xfrm>
            <a:off x="511832" y="5292761"/>
            <a:ext cx="2957804" cy="48985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Intrinsic</a:t>
            </a:r>
            <a:r>
              <a:rPr lang="es-ES" sz="2000" b="1" dirty="0"/>
              <a:t> </a:t>
            </a:r>
            <a:r>
              <a:rPr lang="es-ES" sz="2000" b="1" dirty="0" err="1"/>
              <a:t>factors</a:t>
            </a:r>
            <a:endParaRPr lang="es-E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18DF5AE-ECFF-9BE4-7FB5-3F1E304DBB58}"/>
              </a:ext>
            </a:extLst>
          </p:cNvPr>
          <p:cNvCxnSpPr>
            <a:cxnSpLocks/>
          </p:cNvCxnSpPr>
          <p:nvPr/>
        </p:nvCxnSpPr>
        <p:spPr>
          <a:xfrm>
            <a:off x="1996332" y="4327972"/>
            <a:ext cx="0" cy="724677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7A9F50D-6CAE-4563-DF14-A6D455F3403E}"/>
              </a:ext>
            </a:extLst>
          </p:cNvPr>
          <p:cNvSpPr/>
          <p:nvPr/>
        </p:nvSpPr>
        <p:spPr>
          <a:xfrm>
            <a:off x="4802371" y="3524029"/>
            <a:ext cx="3416546" cy="421774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Morphological</a:t>
            </a:r>
            <a:r>
              <a:rPr lang="es-ES" sz="2000" b="1" dirty="0"/>
              <a:t> responses</a:t>
            </a:r>
            <a:endParaRPr lang="es-ES" sz="2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9213FF-1DA0-0F7D-C69D-CC7F2FF1AED4}"/>
              </a:ext>
            </a:extLst>
          </p:cNvPr>
          <p:cNvSpPr/>
          <p:nvPr/>
        </p:nvSpPr>
        <p:spPr>
          <a:xfrm>
            <a:off x="4819680" y="5292761"/>
            <a:ext cx="3416546" cy="48985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Physiological</a:t>
            </a:r>
            <a:r>
              <a:rPr lang="es-ES" sz="2000" b="1" dirty="0"/>
              <a:t> responses</a:t>
            </a:r>
            <a:endParaRPr lang="es-E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EF44B74-6880-79E8-4750-CB4EE62AD883}"/>
              </a:ext>
            </a:extLst>
          </p:cNvPr>
          <p:cNvCxnSpPr>
            <a:cxnSpLocks/>
          </p:cNvCxnSpPr>
          <p:nvPr/>
        </p:nvCxnSpPr>
        <p:spPr>
          <a:xfrm>
            <a:off x="3908335" y="5593712"/>
            <a:ext cx="690305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1A25E74-4B55-7126-AB09-F49674479AF7}"/>
              </a:ext>
            </a:extLst>
          </p:cNvPr>
          <p:cNvCxnSpPr>
            <a:cxnSpLocks/>
          </p:cNvCxnSpPr>
          <p:nvPr/>
        </p:nvCxnSpPr>
        <p:spPr>
          <a:xfrm flipV="1">
            <a:off x="3738830" y="3823034"/>
            <a:ext cx="859810" cy="149626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3D0E422-FFA1-9C2B-E375-3209795C0A67}"/>
              </a:ext>
            </a:extLst>
          </p:cNvPr>
          <p:cNvCxnSpPr>
            <a:cxnSpLocks/>
          </p:cNvCxnSpPr>
          <p:nvPr/>
        </p:nvCxnSpPr>
        <p:spPr>
          <a:xfrm>
            <a:off x="3738830" y="3823034"/>
            <a:ext cx="943786" cy="1628076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8C44D18-3190-85FF-0515-563BA35FBEA4}"/>
              </a:ext>
            </a:extLst>
          </p:cNvPr>
          <p:cNvSpPr/>
          <p:nvPr/>
        </p:nvSpPr>
        <p:spPr>
          <a:xfrm>
            <a:off x="9147571" y="4099121"/>
            <a:ext cx="2831583" cy="1220173"/>
          </a:xfrm>
          <a:prstGeom prst="rect">
            <a:avLst/>
          </a:prstGeom>
          <a:solidFill>
            <a:srgbClr val="B75EBE"/>
          </a:solidFill>
          <a:ln>
            <a:solidFill>
              <a:srgbClr val="B75E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Whole-plant</a:t>
            </a:r>
            <a:r>
              <a:rPr lang="es-ES" sz="2000" b="1" dirty="0"/>
              <a:t> responses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/>
              <a:t>Short-</a:t>
            </a:r>
            <a:r>
              <a:rPr lang="es-ES" sz="2000" dirty="0" err="1"/>
              <a:t>term</a:t>
            </a:r>
            <a:r>
              <a:rPr lang="es-ES" sz="2000" dirty="0"/>
              <a:t> </a:t>
            </a:r>
            <a:r>
              <a:rPr lang="es-ES" sz="2000" dirty="0" err="1"/>
              <a:t>growth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 err="1"/>
              <a:t>Defoliation</a:t>
            </a:r>
            <a:endParaRPr lang="es-E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AE774C7-5541-CF16-FAA1-7733189A17E0}"/>
              </a:ext>
            </a:extLst>
          </p:cNvPr>
          <p:cNvCxnSpPr>
            <a:cxnSpLocks/>
          </p:cNvCxnSpPr>
          <p:nvPr/>
        </p:nvCxnSpPr>
        <p:spPr>
          <a:xfrm>
            <a:off x="8307376" y="3695664"/>
            <a:ext cx="697894" cy="79001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60EE139-5580-177B-4E16-83D04A60F911}"/>
              </a:ext>
            </a:extLst>
          </p:cNvPr>
          <p:cNvCxnSpPr>
            <a:cxnSpLocks/>
          </p:cNvCxnSpPr>
          <p:nvPr/>
        </p:nvCxnSpPr>
        <p:spPr>
          <a:xfrm flipV="1">
            <a:off x="8307376" y="4806690"/>
            <a:ext cx="697894" cy="666172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D8A8F54B-F924-086E-2D07-2EDCBCD8F767}"/>
              </a:ext>
            </a:extLst>
          </p:cNvPr>
          <p:cNvSpPr txBox="1">
            <a:spLocks/>
          </p:cNvSpPr>
          <p:nvPr/>
        </p:nvSpPr>
        <p:spPr>
          <a:xfrm>
            <a:off x="511832" y="2396579"/>
            <a:ext cx="2753882" cy="8849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Lack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regional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scale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studies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543693B-B324-F0A3-38C0-DC0911709C65}"/>
              </a:ext>
            </a:extLst>
          </p:cNvPr>
          <p:cNvCxnSpPr>
            <a:cxnSpLocks/>
          </p:cNvCxnSpPr>
          <p:nvPr/>
        </p:nvCxnSpPr>
        <p:spPr>
          <a:xfrm>
            <a:off x="3865570" y="3726034"/>
            <a:ext cx="690305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BCC399ED-E05A-E694-E659-6049EC5A7B1D}"/>
              </a:ext>
            </a:extLst>
          </p:cNvPr>
          <p:cNvSpPr txBox="1">
            <a:spLocks/>
          </p:cNvSpPr>
          <p:nvPr/>
        </p:nvSpPr>
        <p:spPr>
          <a:xfrm>
            <a:off x="5133703" y="2347441"/>
            <a:ext cx="2753882" cy="10979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Understudied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species-specific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responses</a:t>
            </a: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A27ACF64-42FA-2149-BB92-1814E6456B55}"/>
              </a:ext>
            </a:extLst>
          </p:cNvPr>
          <p:cNvSpPr txBox="1">
            <a:spLocks/>
          </p:cNvSpPr>
          <p:nvPr/>
        </p:nvSpPr>
        <p:spPr>
          <a:xfrm>
            <a:off x="3874495" y="2573095"/>
            <a:ext cx="647881" cy="4217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+</a:t>
            </a: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5C220F2C-0EAE-0D0A-42D2-9411AE533EDB}"/>
              </a:ext>
            </a:extLst>
          </p:cNvPr>
          <p:cNvSpPr txBox="1">
            <a:spLocks/>
          </p:cNvSpPr>
          <p:nvPr/>
        </p:nvSpPr>
        <p:spPr>
          <a:xfrm>
            <a:off x="8374268" y="1564102"/>
            <a:ext cx="3472006" cy="1598233"/>
          </a:xfrm>
          <a:prstGeom prst="rect">
            <a:avLst/>
          </a:prstGeom>
          <a:ln w="57150">
            <a:solidFill>
              <a:srgbClr val="218317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2.: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characterize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tree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morphological</a:t>
            </a:r>
            <a:r>
              <a:rPr lang="es-ES" sz="1800" dirty="0">
                <a:latin typeface="Helvetica"/>
                <a:cs typeface="Helvetica"/>
              </a:rPr>
              <a:t>, </a:t>
            </a:r>
            <a:r>
              <a:rPr lang="es-ES" sz="1800" dirty="0" err="1">
                <a:latin typeface="Helvetica"/>
                <a:cs typeface="Helvetica"/>
              </a:rPr>
              <a:t>physiological</a:t>
            </a:r>
            <a:r>
              <a:rPr lang="es-ES" sz="1800" dirty="0">
                <a:latin typeface="Helvetica"/>
                <a:cs typeface="Helvetica"/>
              </a:rPr>
              <a:t> and </a:t>
            </a:r>
            <a:r>
              <a:rPr lang="es-ES" sz="1800" dirty="0" err="1">
                <a:latin typeface="Helvetica"/>
                <a:cs typeface="Helvetica"/>
              </a:rPr>
              <a:t>whole-plant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>
                <a:latin typeface="Helvetica"/>
                <a:cs typeface="Helvetica"/>
              </a:rPr>
              <a:t>responses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drought</a:t>
            </a:r>
            <a:r>
              <a:rPr lang="es-ES" sz="1800" dirty="0">
                <a:latin typeface="Helvetica"/>
                <a:cs typeface="Helvetica"/>
              </a:rPr>
              <a:t> at regional </a:t>
            </a:r>
            <a:r>
              <a:rPr lang="es-ES" sz="1800" dirty="0" err="1">
                <a:latin typeface="Helvetica"/>
                <a:cs typeface="Helvetica"/>
              </a:rPr>
              <a:t>level</a:t>
            </a:r>
            <a:r>
              <a:rPr lang="es-ES" sz="1800" dirty="0">
                <a:latin typeface="Helvetica"/>
                <a:cs typeface="Helvetica"/>
              </a:rPr>
              <a:t> and </a:t>
            </a:r>
            <a:r>
              <a:rPr lang="es-ES" sz="1800" dirty="0" err="1">
                <a:latin typeface="Helvetica"/>
                <a:cs typeface="Helvetica"/>
              </a:rPr>
              <a:t>across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species</a:t>
            </a:r>
            <a:r>
              <a:rPr lang="es-ES" sz="1800" dirty="0">
                <a:latin typeface="Helvetica"/>
                <a:cs typeface="Helvetica"/>
              </a:rPr>
              <a:t> and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what</a:t>
            </a:r>
            <a:r>
              <a:rPr lang="es-ES" sz="1800" dirty="0">
                <a:latin typeface="Helvetica"/>
                <a:cs typeface="Helvetica"/>
              </a:rPr>
              <a:t> responses are more </a:t>
            </a:r>
            <a:r>
              <a:rPr lang="es-ES" sz="1800" dirty="0" err="1">
                <a:latin typeface="Helvetica"/>
                <a:cs typeface="Helvetica"/>
              </a:rPr>
              <a:t>affected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DF45BA-7395-C7D6-1CA1-80DADA633817}"/>
              </a:ext>
            </a:extLst>
          </p:cNvPr>
          <p:cNvSpPr txBox="1">
            <a:spLocks/>
          </p:cNvSpPr>
          <p:nvPr/>
        </p:nvSpPr>
        <p:spPr>
          <a:xfrm>
            <a:off x="1343215" y="1276588"/>
            <a:ext cx="5820543" cy="88490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lack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regional-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scale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studies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integrating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multiple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drought-induced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several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728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AE075-2F38-2E77-61F2-35B891209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69965196-9E28-B63F-9879-18A842A89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C598D9-5745-01AB-4352-372547428FDD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G.I.K.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FE09CEFD-9A9C-20B0-CE87-7172379F3C34}"/>
              </a:ext>
            </a:extLst>
          </p:cNvPr>
          <p:cNvSpPr txBox="1">
            <a:spLocks/>
          </p:cNvSpPr>
          <p:nvPr/>
        </p:nvSpPr>
        <p:spPr>
          <a:xfrm>
            <a:off x="9147571" y="5472862"/>
            <a:ext cx="2957804" cy="8041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 err="1">
                <a:latin typeface="Helvetica"/>
                <a:cs typeface="Helvetica"/>
              </a:rPr>
              <a:t>We</a:t>
            </a:r>
            <a:r>
              <a:rPr lang="es-ES" sz="2000" b="1" dirty="0">
                <a:latin typeface="Helvetica"/>
                <a:cs typeface="Helvetica"/>
              </a:rPr>
              <a:t> are </a:t>
            </a:r>
            <a:r>
              <a:rPr lang="es-ES" sz="2000" b="1" dirty="0" err="1">
                <a:latin typeface="Helvetica"/>
                <a:cs typeface="Helvetica"/>
              </a:rPr>
              <a:t>still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unable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to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forecast</a:t>
            </a:r>
            <a:r>
              <a:rPr lang="es-ES" sz="2000" b="1" dirty="0">
                <a:latin typeface="Helvetica"/>
                <a:cs typeface="Helvetica"/>
              </a:rPr>
              <a:t> die-off!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9DD6B0-C28B-6DF4-F245-479513D2F849}"/>
              </a:ext>
            </a:extLst>
          </p:cNvPr>
          <p:cNvSpPr/>
          <p:nvPr/>
        </p:nvSpPr>
        <p:spPr>
          <a:xfrm>
            <a:off x="511832" y="3524029"/>
            <a:ext cx="2957804" cy="48985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Extrinsic</a:t>
            </a:r>
            <a:r>
              <a:rPr lang="es-ES" sz="2000" b="1" dirty="0"/>
              <a:t> </a:t>
            </a:r>
            <a:r>
              <a:rPr lang="es-ES" sz="2000" b="1" dirty="0" err="1"/>
              <a:t>factors</a:t>
            </a:r>
            <a:endParaRPr lang="es-E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93C968-E57C-1E17-C340-99461A8E6760}"/>
              </a:ext>
            </a:extLst>
          </p:cNvPr>
          <p:cNvSpPr/>
          <p:nvPr/>
        </p:nvSpPr>
        <p:spPr>
          <a:xfrm>
            <a:off x="511832" y="5292761"/>
            <a:ext cx="2957804" cy="48985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Intrinsic</a:t>
            </a:r>
            <a:r>
              <a:rPr lang="es-ES" sz="2000" b="1" dirty="0"/>
              <a:t> </a:t>
            </a:r>
            <a:r>
              <a:rPr lang="es-ES" sz="2000" b="1" dirty="0" err="1"/>
              <a:t>factors</a:t>
            </a:r>
            <a:endParaRPr lang="es-E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4CEE853-B9F2-B4C5-22C0-966EC446ACDC}"/>
              </a:ext>
            </a:extLst>
          </p:cNvPr>
          <p:cNvCxnSpPr>
            <a:cxnSpLocks/>
          </p:cNvCxnSpPr>
          <p:nvPr/>
        </p:nvCxnSpPr>
        <p:spPr>
          <a:xfrm>
            <a:off x="1996332" y="4327972"/>
            <a:ext cx="0" cy="724677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88B9E3E-1007-6468-D7E6-368CD00BF853}"/>
              </a:ext>
            </a:extLst>
          </p:cNvPr>
          <p:cNvSpPr/>
          <p:nvPr/>
        </p:nvSpPr>
        <p:spPr>
          <a:xfrm>
            <a:off x="4802371" y="3524029"/>
            <a:ext cx="3416546" cy="421774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Morphological</a:t>
            </a:r>
            <a:r>
              <a:rPr lang="es-ES" sz="2000" b="1" dirty="0"/>
              <a:t> responses</a:t>
            </a:r>
            <a:endParaRPr lang="es-ES" sz="2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E856CB-EE30-20F1-132B-70B04262B0B7}"/>
              </a:ext>
            </a:extLst>
          </p:cNvPr>
          <p:cNvSpPr/>
          <p:nvPr/>
        </p:nvSpPr>
        <p:spPr>
          <a:xfrm>
            <a:off x="4819680" y="5292761"/>
            <a:ext cx="3416546" cy="48985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Physiological</a:t>
            </a:r>
            <a:r>
              <a:rPr lang="es-ES" sz="2000" b="1" dirty="0"/>
              <a:t> responses</a:t>
            </a:r>
            <a:endParaRPr lang="es-E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68ED63-9A0D-AC30-353A-F54989BBF601}"/>
              </a:ext>
            </a:extLst>
          </p:cNvPr>
          <p:cNvCxnSpPr>
            <a:cxnSpLocks/>
          </p:cNvCxnSpPr>
          <p:nvPr/>
        </p:nvCxnSpPr>
        <p:spPr>
          <a:xfrm>
            <a:off x="3908335" y="5593712"/>
            <a:ext cx="690305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D7A2E64-627F-A89E-2050-12BC9C8CA99E}"/>
              </a:ext>
            </a:extLst>
          </p:cNvPr>
          <p:cNvCxnSpPr>
            <a:cxnSpLocks/>
          </p:cNvCxnSpPr>
          <p:nvPr/>
        </p:nvCxnSpPr>
        <p:spPr>
          <a:xfrm flipV="1">
            <a:off x="3738830" y="3823034"/>
            <a:ext cx="859810" cy="149626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BDDC105-D705-24F2-1D4A-C3EBB417A3BD}"/>
              </a:ext>
            </a:extLst>
          </p:cNvPr>
          <p:cNvCxnSpPr>
            <a:cxnSpLocks/>
          </p:cNvCxnSpPr>
          <p:nvPr/>
        </p:nvCxnSpPr>
        <p:spPr>
          <a:xfrm>
            <a:off x="3738830" y="3823034"/>
            <a:ext cx="943786" cy="1628076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2A7C942-0CAD-F28D-43D5-3B0579AA0BB3}"/>
              </a:ext>
            </a:extLst>
          </p:cNvPr>
          <p:cNvSpPr/>
          <p:nvPr/>
        </p:nvSpPr>
        <p:spPr>
          <a:xfrm>
            <a:off x="9147571" y="4099121"/>
            <a:ext cx="2831583" cy="1220173"/>
          </a:xfrm>
          <a:prstGeom prst="rect">
            <a:avLst/>
          </a:prstGeom>
          <a:solidFill>
            <a:srgbClr val="B75EBE"/>
          </a:solidFill>
          <a:ln>
            <a:solidFill>
              <a:srgbClr val="B75E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Whole-plant</a:t>
            </a:r>
            <a:r>
              <a:rPr lang="es-ES" sz="2000" b="1" dirty="0"/>
              <a:t> responses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/>
              <a:t>Short-</a:t>
            </a:r>
            <a:r>
              <a:rPr lang="es-ES" sz="2000" dirty="0" err="1"/>
              <a:t>term</a:t>
            </a:r>
            <a:r>
              <a:rPr lang="es-ES" sz="2000" dirty="0"/>
              <a:t> </a:t>
            </a:r>
            <a:r>
              <a:rPr lang="es-ES" sz="2000" dirty="0" err="1"/>
              <a:t>growth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 err="1"/>
              <a:t>Defoliation</a:t>
            </a:r>
            <a:endParaRPr lang="es-E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4CCC88A-FEB0-5C54-111E-8432CA07CAED}"/>
              </a:ext>
            </a:extLst>
          </p:cNvPr>
          <p:cNvCxnSpPr>
            <a:cxnSpLocks/>
          </p:cNvCxnSpPr>
          <p:nvPr/>
        </p:nvCxnSpPr>
        <p:spPr>
          <a:xfrm>
            <a:off x="8307376" y="3695664"/>
            <a:ext cx="697894" cy="79001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9E49CF-F5F1-4BEB-5CFD-B4728D572094}"/>
              </a:ext>
            </a:extLst>
          </p:cNvPr>
          <p:cNvCxnSpPr>
            <a:cxnSpLocks/>
          </p:cNvCxnSpPr>
          <p:nvPr/>
        </p:nvCxnSpPr>
        <p:spPr>
          <a:xfrm flipV="1">
            <a:off x="8307376" y="4806690"/>
            <a:ext cx="697894" cy="666172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3272A74-940C-F284-5E14-42D435F0064C}"/>
              </a:ext>
            </a:extLst>
          </p:cNvPr>
          <p:cNvCxnSpPr>
            <a:cxnSpLocks/>
          </p:cNvCxnSpPr>
          <p:nvPr/>
        </p:nvCxnSpPr>
        <p:spPr>
          <a:xfrm>
            <a:off x="3865570" y="3726034"/>
            <a:ext cx="690305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6381E57D-456B-C94B-F549-0CFB3D7C0D94}"/>
              </a:ext>
            </a:extLst>
          </p:cNvPr>
          <p:cNvSpPr txBox="1">
            <a:spLocks/>
          </p:cNvSpPr>
          <p:nvPr/>
        </p:nvSpPr>
        <p:spPr>
          <a:xfrm>
            <a:off x="1147665" y="1461725"/>
            <a:ext cx="6016093" cy="14307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still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do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not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know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how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traits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converge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upon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how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varies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across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Underlooked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interactions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responses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C55BEFE7-0544-F180-86C6-98BCB4B7BCC6}"/>
              </a:ext>
            </a:extLst>
          </p:cNvPr>
          <p:cNvSpPr txBox="1">
            <a:spLocks/>
          </p:cNvSpPr>
          <p:nvPr/>
        </p:nvSpPr>
        <p:spPr>
          <a:xfrm>
            <a:off x="8374268" y="1564103"/>
            <a:ext cx="3472006" cy="1430766"/>
          </a:xfrm>
          <a:prstGeom prst="rect">
            <a:avLst/>
          </a:prstGeom>
          <a:ln w="57150">
            <a:solidFill>
              <a:srgbClr val="218317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3.: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the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convergence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of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traits</a:t>
            </a:r>
            <a:r>
              <a:rPr lang="es-ES" sz="1800" dirty="0">
                <a:latin typeface="Helvetica"/>
                <a:cs typeface="Helvetica"/>
              </a:rPr>
              <a:t> and </a:t>
            </a:r>
            <a:r>
              <a:rPr lang="es-ES" sz="1800" dirty="0" err="1">
                <a:latin typeface="Helvetica"/>
                <a:cs typeface="Helvetica"/>
              </a:rPr>
              <a:t>the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coordination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between</a:t>
            </a:r>
            <a:r>
              <a:rPr lang="es-ES" sz="1800" dirty="0">
                <a:latin typeface="Helvetica"/>
                <a:cs typeface="Helvetica"/>
              </a:rPr>
              <a:t> responses in </a:t>
            </a:r>
            <a:r>
              <a:rPr lang="es-ES" sz="1800" dirty="0" err="1">
                <a:latin typeface="Helvetica"/>
                <a:cs typeface="Helvetica"/>
              </a:rPr>
              <a:t>healthy</a:t>
            </a:r>
            <a:r>
              <a:rPr lang="es-ES" sz="1800" dirty="0">
                <a:latin typeface="Helvetica"/>
                <a:cs typeface="Helvetica"/>
              </a:rPr>
              <a:t> vs. </a:t>
            </a:r>
            <a:r>
              <a:rPr lang="es-ES" sz="1800" dirty="0" err="1">
                <a:latin typeface="Helvetica"/>
                <a:cs typeface="Helvetica"/>
              </a:rPr>
              <a:t>damaged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trees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696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0204C-F11E-9B27-13A1-D01D21F6E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C34324-CEFD-1EFD-2467-7B61612321A3}"/>
              </a:ext>
            </a:extLst>
          </p:cNvPr>
          <p:cNvSpPr txBox="1">
            <a:spLocks/>
          </p:cNvSpPr>
          <p:nvPr/>
        </p:nvSpPr>
        <p:spPr>
          <a:xfrm>
            <a:off x="623546" y="1374438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1.-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the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predisposing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factors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determining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drought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susceptibility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their</a:t>
            </a:r>
            <a:r>
              <a:rPr lang="es-ES" sz="2400" dirty="0">
                <a:latin typeface="Helvetica"/>
                <a:cs typeface="Helvetica"/>
              </a:rPr>
              <a:t> relative </a:t>
            </a:r>
            <a:r>
              <a:rPr lang="es-ES" sz="2400" dirty="0" err="1">
                <a:latin typeface="Helvetica"/>
                <a:cs typeface="Helvetica"/>
              </a:rPr>
              <a:t>importance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across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species</a:t>
            </a:r>
            <a:endParaRPr lang="es-ES" sz="2400" dirty="0">
              <a:latin typeface="Helvetica"/>
              <a:cs typeface="Helvetica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4C414708-B8E9-19C2-E949-7CED186D0D11}"/>
              </a:ext>
            </a:extLst>
          </p:cNvPr>
          <p:cNvSpPr txBox="1">
            <a:spLocks/>
          </p:cNvSpPr>
          <p:nvPr/>
        </p:nvSpPr>
        <p:spPr>
          <a:xfrm>
            <a:off x="623546" y="2776552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H1.-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size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past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growth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competition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leaves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traits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determine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vulnerability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drought</a:t>
            </a:r>
            <a:r>
              <a:rPr lang="es-ES" sz="2400" i="1" dirty="0">
                <a:latin typeface="Helvetica"/>
                <a:cs typeface="Helvetica"/>
              </a:rPr>
              <a:t>: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A9F656-B91B-8B88-37C0-78549A7B183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8EBD559-FF21-01E8-287A-D770A4F85C2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EED41255-ED85-C941-16C7-80273695DD5E}"/>
              </a:ext>
            </a:extLst>
          </p:cNvPr>
          <p:cNvGrpSpPr/>
          <p:nvPr/>
        </p:nvGrpSpPr>
        <p:grpSpPr>
          <a:xfrm>
            <a:off x="443946" y="4487957"/>
            <a:ext cx="3477754" cy="1250117"/>
            <a:chOff x="1139560" y="5095351"/>
            <a:chExt cx="3477754" cy="1250117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55D17402-96E9-A56B-30C4-8061982E6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17FF3BC9-79A4-4A97-EB19-18CB43D3097D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FAD85D67-8A8A-77BB-35F9-E448677F08EF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9F8E907-7A83-FE6B-9B43-609DC0943302}"/>
              </a:ext>
            </a:extLst>
          </p:cNvPr>
          <p:cNvGrpSpPr/>
          <p:nvPr/>
        </p:nvGrpSpPr>
        <p:grpSpPr>
          <a:xfrm>
            <a:off x="4286220" y="4466362"/>
            <a:ext cx="3619560" cy="1271459"/>
            <a:chOff x="3495617" y="5492674"/>
            <a:chExt cx="3619560" cy="1271459"/>
          </a:xfrm>
        </p:grpSpPr>
        <p:pic>
          <p:nvPicPr>
            <p:cNvPr id="33" name="Gráfico 12" descr="Abeto">
              <a:extLst>
                <a:ext uri="{FF2B5EF4-FFF2-40B4-BE49-F238E27FC236}">
                  <a16:creationId xmlns:a16="http://schemas.microsoft.com/office/drawing/2014/main" id="{3BC31B9D-171B-E347-CDD4-F3BD4A9D2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39430" y="5492675"/>
              <a:ext cx="618077" cy="618077"/>
            </a:xfrm>
            <a:prstGeom prst="rect">
              <a:avLst/>
            </a:prstGeom>
          </p:spPr>
        </p:pic>
        <p:pic>
          <p:nvPicPr>
            <p:cNvPr id="34" name="Gráfico 13" descr="Abeto">
              <a:extLst>
                <a:ext uri="{FF2B5EF4-FFF2-40B4-BE49-F238E27FC236}">
                  <a16:creationId xmlns:a16="http://schemas.microsoft.com/office/drawing/2014/main" id="{5C9F6577-8734-19F6-6EFA-862CAA1C0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954479" y="5497846"/>
              <a:ext cx="618077" cy="618077"/>
            </a:xfrm>
            <a:prstGeom prst="rect">
              <a:avLst/>
            </a:prstGeom>
          </p:spPr>
        </p:pic>
        <p:pic>
          <p:nvPicPr>
            <p:cNvPr id="35" name="Gráfico 14" descr="Abeto">
              <a:extLst>
                <a:ext uri="{FF2B5EF4-FFF2-40B4-BE49-F238E27FC236}">
                  <a16:creationId xmlns:a16="http://schemas.microsoft.com/office/drawing/2014/main" id="{4CB8096A-9AC8-59C1-F082-4254863F5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019396" y="5492674"/>
              <a:ext cx="618077" cy="618077"/>
            </a:xfrm>
            <a:prstGeom prst="rect">
              <a:avLst/>
            </a:prstGeom>
          </p:spPr>
        </p:pic>
        <p:sp>
          <p:nvSpPr>
            <p:cNvPr id="36" name="Marcador de contenido 2">
              <a:extLst>
                <a:ext uri="{FF2B5EF4-FFF2-40B4-BE49-F238E27FC236}">
                  <a16:creationId xmlns:a16="http://schemas.microsoft.com/office/drawing/2014/main" id="{38120DF7-1494-7262-30A2-E86C28F458C9}"/>
                </a:ext>
              </a:extLst>
            </p:cNvPr>
            <p:cNvSpPr txBox="1">
              <a:spLocks/>
            </p:cNvSpPr>
            <p:nvPr/>
          </p:nvSpPr>
          <p:spPr>
            <a:xfrm>
              <a:off x="3495617" y="6211458"/>
              <a:ext cx="1305702" cy="5502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Abies</a:t>
              </a:r>
              <a:r>
                <a:rPr lang="es-ES" sz="1200" i="1" dirty="0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 alba </a:t>
              </a:r>
              <a:r>
                <a:rPr lang="es-ES" sz="1200" dirty="0" err="1">
                  <a:solidFill>
                    <a:srgbClr val="785EF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37" name="Marcador de contenido 2">
              <a:extLst>
                <a:ext uri="{FF2B5EF4-FFF2-40B4-BE49-F238E27FC236}">
                  <a16:creationId xmlns:a16="http://schemas.microsoft.com/office/drawing/2014/main" id="{BAA3C433-81D8-7CA6-D0E1-B340ADD1D030}"/>
                </a:ext>
              </a:extLst>
            </p:cNvPr>
            <p:cNvSpPr txBox="1">
              <a:spLocks/>
            </p:cNvSpPr>
            <p:nvPr/>
          </p:nvSpPr>
          <p:spPr>
            <a:xfrm>
              <a:off x="4488565" y="6215039"/>
              <a:ext cx="1549903" cy="5490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sylvestris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dirty="0" err="1">
                  <a:solidFill>
                    <a:srgbClr val="FFB00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38" name="Marcador de contenido 2">
              <a:extLst>
                <a:ext uri="{FF2B5EF4-FFF2-40B4-BE49-F238E27FC236}">
                  <a16:creationId xmlns:a16="http://schemas.microsoft.com/office/drawing/2014/main" id="{2B45DB06-7506-F58B-0040-D76EA09F2AC8}"/>
                </a:ext>
              </a:extLst>
            </p:cNvPr>
            <p:cNvSpPr txBox="1">
              <a:spLocks/>
            </p:cNvSpPr>
            <p:nvPr/>
          </p:nvSpPr>
          <p:spPr>
            <a:xfrm>
              <a:off x="5541690" y="6209867"/>
              <a:ext cx="1573487" cy="54554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s-ES" sz="1100" i="1" dirty="0" err="1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100" i="1" dirty="0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 pinea </a:t>
              </a:r>
              <a:r>
                <a:rPr lang="es-ES" sz="1100" dirty="0" err="1">
                  <a:solidFill>
                    <a:srgbClr val="DC267F"/>
                  </a:solidFill>
                  <a:latin typeface="Helvetica" panose="020B0604020202020204"/>
                  <a:cs typeface="Helvetica" panose="020B0604020202020204"/>
                </a:rPr>
                <a:t>Mediterranean</a:t>
              </a:r>
              <a:endParaRPr lang="es-ES" sz="1100" dirty="0">
                <a:solidFill>
                  <a:srgbClr val="DC267F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39" name="CuadroTexto 18">
              <a:extLst>
                <a:ext uri="{FF2B5EF4-FFF2-40B4-BE49-F238E27FC236}">
                  <a16:creationId xmlns:a16="http://schemas.microsoft.com/office/drawing/2014/main" id="{22FB198E-053B-E705-AE4F-C2CB980F0A38}"/>
                </a:ext>
              </a:extLst>
            </p:cNvPr>
            <p:cNvSpPr txBox="1"/>
            <p:nvPr/>
          </p:nvSpPr>
          <p:spPr>
            <a:xfrm>
              <a:off x="4296135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40" name="CuadroTexto 18">
              <a:extLst>
                <a:ext uri="{FF2B5EF4-FFF2-40B4-BE49-F238E27FC236}">
                  <a16:creationId xmlns:a16="http://schemas.microsoft.com/office/drawing/2014/main" id="{077E74DB-829B-E229-5FA7-B4EA4667CB1D}"/>
                </a:ext>
              </a:extLst>
            </p:cNvPr>
            <p:cNvSpPr txBox="1"/>
            <p:nvPr/>
          </p:nvSpPr>
          <p:spPr>
            <a:xfrm>
              <a:off x="5391386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C1AF84-4368-DE3E-102D-5AB5D78F4C03}"/>
              </a:ext>
            </a:extLst>
          </p:cNvPr>
          <p:cNvGrpSpPr/>
          <p:nvPr/>
        </p:nvGrpSpPr>
        <p:grpSpPr>
          <a:xfrm>
            <a:off x="8672943" y="4487957"/>
            <a:ext cx="2875680" cy="1152743"/>
            <a:chOff x="8825518" y="5542858"/>
            <a:chExt cx="2875680" cy="115274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65DDBD0-0251-17C8-2D75-4DA0021A7B6E}"/>
                </a:ext>
              </a:extLst>
            </p:cNvPr>
            <p:cNvGrpSpPr/>
            <p:nvPr/>
          </p:nvGrpSpPr>
          <p:grpSpPr>
            <a:xfrm>
              <a:off x="8825518" y="5542858"/>
              <a:ext cx="2875680" cy="1152743"/>
              <a:chOff x="8825518" y="5542858"/>
              <a:chExt cx="2875680" cy="1152743"/>
            </a:xfrm>
          </p:grpSpPr>
          <p:pic>
            <p:nvPicPr>
              <p:cNvPr id="43" name="Graphic 42" descr="Fir tree">
                <a:extLst>
                  <a:ext uri="{FF2B5EF4-FFF2-40B4-BE49-F238E27FC236}">
                    <a16:creationId xmlns:a16="http://schemas.microsoft.com/office/drawing/2014/main" id="{6BAC7D72-2382-CB17-9929-929DC40660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44" name="Graphic 43" descr="Fir tree">
                <a:extLst>
                  <a:ext uri="{FF2B5EF4-FFF2-40B4-BE49-F238E27FC236}">
                    <a16:creationId xmlns:a16="http://schemas.microsoft.com/office/drawing/2014/main" id="{6625DDC1-1775-3544-5C4B-9E3B994B11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45" name="Graphic 44" descr="Fir tree">
                <a:extLst>
                  <a:ext uri="{FF2B5EF4-FFF2-40B4-BE49-F238E27FC236}">
                    <a16:creationId xmlns:a16="http://schemas.microsoft.com/office/drawing/2014/main" id="{252C49D7-E408-227E-42CD-B4F09964C5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8955921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46" name="CuadroTexto 18">
                <a:extLst>
                  <a:ext uri="{FF2B5EF4-FFF2-40B4-BE49-F238E27FC236}">
                    <a16:creationId xmlns:a16="http://schemas.microsoft.com/office/drawing/2014/main" id="{832B98B7-63F8-0FB6-29D9-BDEE302E7979}"/>
                  </a:ext>
                </a:extLst>
              </p:cNvPr>
              <p:cNvSpPr txBox="1"/>
              <p:nvPr/>
            </p:nvSpPr>
            <p:spPr>
              <a:xfrm>
                <a:off x="8825518" y="6357047"/>
                <a:ext cx="10080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2274A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Non-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47" name="CuadroTexto 18">
                <a:extLst>
                  <a:ext uri="{FF2B5EF4-FFF2-40B4-BE49-F238E27FC236}">
                    <a16:creationId xmlns:a16="http://schemas.microsoft.com/office/drawing/2014/main" id="{DE7705C8-364C-D663-2169-3A2128787BB5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48" name="CuadroTexto 18">
                <a:extLst>
                  <a:ext uri="{FF2B5EF4-FFF2-40B4-BE49-F238E27FC236}">
                    <a16:creationId xmlns:a16="http://schemas.microsoft.com/office/drawing/2014/main" id="{2632BF63-2F56-7328-E0C9-26808AD80B35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41" name="CuadroTexto 18">
              <a:extLst>
                <a:ext uri="{FF2B5EF4-FFF2-40B4-BE49-F238E27FC236}">
                  <a16:creationId xmlns:a16="http://schemas.microsoft.com/office/drawing/2014/main" id="{ED2A3BE7-AB35-CCA7-D073-F29E31DCE829}"/>
                </a:ext>
              </a:extLst>
            </p:cNvPr>
            <p:cNvSpPr txBox="1"/>
            <p:nvPr/>
          </p:nvSpPr>
          <p:spPr>
            <a:xfrm>
              <a:off x="9402761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42" name="CuadroTexto 18">
              <a:extLst>
                <a:ext uri="{FF2B5EF4-FFF2-40B4-BE49-F238E27FC236}">
                  <a16:creationId xmlns:a16="http://schemas.microsoft.com/office/drawing/2014/main" id="{390B8857-5922-C8A9-F4D1-FF80ACEDDDDB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4222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4D7E4-D331-675E-633E-A5F0F37A5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7AC64E-6013-908B-301B-6ABF5F510488}"/>
              </a:ext>
            </a:extLst>
          </p:cNvPr>
          <p:cNvSpPr txBox="1">
            <a:spLocks/>
          </p:cNvSpPr>
          <p:nvPr/>
        </p:nvSpPr>
        <p:spPr>
          <a:xfrm>
            <a:off x="623546" y="972273"/>
            <a:ext cx="10465002" cy="15489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 panose="020B0604020202020204"/>
                <a:cs typeface="Helvetica"/>
              </a:rPr>
              <a:t>. 1.-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the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predisposing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factors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determining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drought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susceptibility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their</a:t>
            </a:r>
            <a:r>
              <a:rPr lang="es-ES" sz="2400" dirty="0">
                <a:latin typeface="Helvetica"/>
                <a:cs typeface="Helvetica"/>
              </a:rPr>
              <a:t> relative </a:t>
            </a:r>
            <a:r>
              <a:rPr lang="es-ES" sz="2400" dirty="0" err="1">
                <a:latin typeface="Helvetica"/>
                <a:cs typeface="Helvetica"/>
              </a:rPr>
              <a:t>importance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across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species</a:t>
            </a:r>
            <a:endParaRPr lang="es-ES" sz="2400" dirty="0">
              <a:latin typeface="Helvetica"/>
              <a:cs typeface="Helvetica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DB95DEED-31A7-D314-C668-90CD69061438}"/>
              </a:ext>
            </a:extLst>
          </p:cNvPr>
          <p:cNvSpPr txBox="1">
            <a:spLocks/>
          </p:cNvSpPr>
          <p:nvPr/>
        </p:nvSpPr>
        <p:spPr>
          <a:xfrm>
            <a:off x="623545" y="1904330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H1.-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size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past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growth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resilience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competition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leaves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traits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be </a:t>
            </a:r>
            <a:r>
              <a:rPr lang="es-ES" sz="2400" i="1" dirty="0" err="1">
                <a:latin typeface="Helvetica"/>
                <a:cs typeface="Helvetica"/>
              </a:rPr>
              <a:t>main</a:t>
            </a:r>
            <a:r>
              <a:rPr lang="es-ES" sz="2400" i="1" dirty="0">
                <a:latin typeface="Helvetica"/>
                <a:cs typeface="Helvetica"/>
              </a:rPr>
              <a:t> drivers </a:t>
            </a:r>
            <a:r>
              <a:rPr lang="es-ES" sz="2400" i="1" dirty="0" err="1">
                <a:latin typeface="Helvetica"/>
                <a:cs typeface="Helvetica"/>
              </a:rPr>
              <a:t>for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mortality</a:t>
            </a:r>
            <a:r>
              <a:rPr lang="es-ES" sz="2400" i="1" dirty="0">
                <a:latin typeface="Helvetica"/>
                <a:cs typeface="Helvetica"/>
              </a:rPr>
              <a:t>: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991C1F3-927E-0A5B-823D-083C6903814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2B30C19-F59E-C526-9CA2-5F4EEDCFA1C8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EC3B70F2-E30A-36DE-F606-69C112A48A9A}"/>
              </a:ext>
            </a:extLst>
          </p:cNvPr>
          <p:cNvSpPr txBox="1">
            <a:spLocks/>
          </p:cNvSpPr>
          <p:nvPr/>
        </p:nvSpPr>
        <p:spPr>
          <a:xfrm>
            <a:off x="643378" y="2969723"/>
            <a:ext cx="11206500" cy="32937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000" b="1" dirty="0" err="1">
                <a:latin typeface="Helvetica"/>
                <a:cs typeface="Helvetica"/>
              </a:rPr>
              <a:t>Size</a:t>
            </a:r>
            <a:r>
              <a:rPr lang="es-ES" sz="2000" b="1" dirty="0">
                <a:latin typeface="Helvetica"/>
                <a:cs typeface="Helvetica"/>
              </a:rPr>
              <a:t>: </a:t>
            </a:r>
            <a:r>
              <a:rPr lang="es-ES" sz="2000" b="1" dirty="0" err="1">
                <a:latin typeface="Helvetica"/>
                <a:cs typeface="Helvetica"/>
              </a:rPr>
              <a:t>bigger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trees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will</a:t>
            </a:r>
            <a:r>
              <a:rPr lang="es-ES" sz="2000" dirty="0">
                <a:latin typeface="Helvetica"/>
                <a:cs typeface="Helvetica"/>
              </a:rPr>
              <a:t> be more vulnerable </a:t>
            </a:r>
            <a:r>
              <a:rPr lang="es-ES" sz="2000" dirty="0" err="1">
                <a:latin typeface="Helvetica"/>
                <a:cs typeface="Helvetica"/>
              </a:rPr>
              <a:t>due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to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hydraulic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limitations</a:t>
            </a:r>
            <a:r>
              <a:rPr lang="es-ES" sz="2000" dirty="0">
                <a:latin typeface="Helvetica"/>
                <a:cs typeface="Helvetica"/>
              </a:rPr>
              <a:t> (</a:t>
            </a:r>
            <a:r>
              <a:rPr lang="es-ES" sz="2000" dirty="0" err="1">
                <a:latin typeface="Helvetica"/>
                <a:cs typeface="Helvetica"/>
              </a:rPr>
              <a:t>increased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hydraulic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resistance</a:t>
            </a:r>
            <a:r>
              <a:rPr lang="es-ES" sz="2000" dirty="0">
                <a:latin typeface="Helvetica"/>
                <a:cs typeface="Helvetica"/>
              </a:rPr>
              <a:t>) 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↑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height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,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age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dbh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0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0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r>
              <a:rPr lang="es-ES" sz="2000" b="1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</a:p>
          <a:p>
            <a:pPr>
              <a:buClr>
                <a:srgbClr val="218317"/>
              </a:buClr>
            </a:pPr>
            <a:r>
              <a:rPr lang="es-ES" sz="2000" b="1" dirty="0" err="1">
                <a:latin typeface="Helvetica"/>
                <a:cs typeface="Helvetica"/>
              </a:rPr>
              <a:t>Growth</a:t>
            </a:r>
            <a:r>
              <a:rPr lang="es-ES" sz="2000" b="1" dirty="0">
                <a:latin typeface="Helvetica"/>
                <a:cs typeface="Helvetica"/>
              </a:rPr>
              <a:t>: </a:t>
            </a:r>
            <a:r>
              <a:rPr lang="es-ES" sz="2000" dirty="0" err="1">
                <a:latin typeface="Helvetica"/>
                <a:cs typeface="Helvetica"/>
              </a:rPr>
              <a:t>we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expect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b="1" dirty="0">
                <a:latin typeface="Helvetica"/>
                <a:cs typeface="Helvetica"/>
              </a:rPr>
              <a:t>a </a:t>
            </a:r>
            <a:r>
              <a:rPr lang="es-ES" sz="2000" b="1" dirty="0" err="1">
                <a:latin typeface="Helvetica"/>
                <a:cs typeface="Helvetica"/>
              </a:rPr>
              <a:t>reduced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growth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trend</a:t>
            </a:r>
            <a:r>
              <a:rPr lang="es-ES" sz="2000" b="1" dirty="0">
                <a:latin typeface="Helvetica"/>
                <a:cs typeface="Helvetica"/>
              </a:rPr>
              <a:t>, and </a:t>
            </a:r>
            <a:r>
              <a:rPr lang="es-ES" sz="2000" b="1" dirty="0" err="1">
                <a:latin typeface="Helvetica"/>
                <a:cs typeface="Helvetica"/>
              </a:rPr>
              <a:t>resilience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↓ BAI,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Rt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Rs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0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0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</a:p>
          <a:p>
            <a:pPr>
              <a:buClr>
                <a:srgbClr val="218317"/>
              </a:buClr>
            </a:pP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Leaves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traits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: 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a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higher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SLA leads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faster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loss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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↑ SLA in </a:t>
            </a:r>
            <a:r>
              <a:rPr lang="es-ES" sz="20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0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r>
              <a:rPr lang="es-ES" sz="2000" b="1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</a:p>
          <a:p>
            <a:pPr>
              <a:buClr>
                <a:srgbClr val="218317"/>
              </a:buClr>
            </a:pPr>
            <a:r>
              <a:rPr lang="es-ES" sz="2000" b="1" dirty="0" err="1">
                <a:latin typeface="Helvetica"/>
                <a:cs typeface="Helvetica"/>
              </a:rPr>
              <a:t>Competition</a:t>
            </a:r>
            <a:r>
              <a:rPr lang="es-ES" sz="2000" b="1" dirty="0">
                <a:latin typeface="Helvetica"/>
                <a:cs typeface="Helvetica"/>
              </a:rPr>
              <a:t>: </a:t>
            </a:r>
            <a:r>
              <a:rPr lang="es-ES" sz="2000" dirty="0" err="1">
                <a:latin typeface="Helvetica"/>
                <a:cs typeface="Helvetica"/>
              </a:rPr>
              <a:t>competition</a:t>
            </a:r>
            <a:r>
              <a:rPr lang="es-ES" sz="2000" dirty="0">
                <a:latin typeface="Helvetica"/>
                <a:cs typeface="Helvetica"/>
              </a:rPr>
              <a:t> reduces </a:t>
            </a: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availability</a:t>
            </a:r>
            <a:r>
              <a:rPr lang="es-ES" sz="2000" dirty="0">
                <a:latin typeface="Helvetica"/>
                <a:cs typeface="Helvetica"/>
              </a:rPr>
              <a:t> per </a:t>
            </a: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and </a:t>
            </a:r>
            <a:r>
              <a:rPr lang="es-ES" sz="2000" dirty="0" err="1">
                <a:latin typeface="Helvetica"/>
                <a:cs typeface="Helvetica"/>
              </a:rPr>
              <a:t>increases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interception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↑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Hegyi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index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0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0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r>
              <a:rPr lang="es-ES" sz="2000" b="1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  <a:endParaRPr lang="es-ES" sz="2000" b="1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endParaRPr lang="es-ES" sz="2000" b="1" dirty="0">
              <a:solidFill>
                <a:srgbClr val="C00000"/>
              </a:solidFill>
              <a:latin typeface="Helvetica"/>
              <a:cs typeface="Helvetica"/>
            </a:endParaRPr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56084E07-2C04-CD6D-31F4-50F1D21AE7B1}"/>
              </a:ext>
            </a:extLst>
          </p:cNvPr>
          <p:cNvSpPr txBox="1">
            <a:spLocks/>
          </p:cNvSpPr>
          <p:nvPr/>
        </p:nvSpPr>
        <p:spPr>
          <a:xfrm>
            <a:off x="694186" y="5806884"/>
            <a:ext cx="2198835" cy="1006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Figs. 2 &amp; 3: </a:t>
            </a:r>
            <a:r>
              <a:rPr lang="es-ES" sz="2400" b="1" dirty="0" err="1">
                <a:latin typeface="Helvetica"/>
                <a:cs typeface="Helvetica"/>
              </a:rPr>
              <a:t>boxplot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AB4415D-E508-B44C-517B-B995B9D8A17A}"/>
              </a:ext>
            </a:extLst>
          </p:cNvPr>
          <p:cNvGrpSpPr/>
          <p:nvPr/>
        </p:nvGrpSpPr>
        <p:grpSpPr>
          <a:xfrm>
            <a:off x="3495617" y="5492674"/>
            <a:ext cx="3619560" cy="1271459"/>
            <a:chOff x="3495617" y="5492674"/>
            <a:chExt cx="3619560" cy="1271459"/>
          </a:xfrm>
        </p:grpSpPr>
        <p:pic>
          <p:nvPicPr>
            <p:cNvPr id="22" name="Gráfico 12" descr="Abeto">
              <a:extLst>
                <a:ext uri="{FF2B5EF4-FFF2-40B4-BE49-F238E27FC236}">
                  <a16:creationId xmlns:a16="http://schemas.microsoft.com/office/drawing/2014/main" id="{AC02F84F-0C3B-51BE-4EC6-5C74C6637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39430" y="5492675"/>
              <a:ext cx="618077" cy="618077"/>
            </a:xfrm>
            <a:prstGeom prst="rect">
              <a:avLst/>
            </a:prstGeom>
          </p:spPr>
        </p:pic>
        <p:pic>
          <p:nvPicPr>
            <p:cNvPr id="23" name="Gráfico 13" descr="Abeto">
              <a:extLst>
                <a:ext uri="{FF2B5EF4-FFF2-40B4-BE49-F238E27FC236}">
                  <a16:creationId xmlns:a16="http://schemas.microsoft.com/office/drawing/2014/main" id="{2CED8C8A-412E-A858-C64A-AA4C828FC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954479" y="5497846"/>
              <a:ext cx="618077" cy="618077"/>
            </a:xfrm>
            <a:prstGeom prst="rect">
              <a:avLst/>
            </a:prstGeom>
          </p:spPr>
        </p:pic>
        <p:pic>
          <p:nvPicPr>
            <p:cNvPr id="24" name="Gráfico 14" descr="Abeto">
              <a:extLst>
                <a:ext uri="{FF2B5EF4-FFF2-40B4-BE49-F238E27FC236}">
                  <a16:creationId xmlns:a16="http://schemas.microsoft.com/office/drawing/2014/main" id="{D0E371E1-FF0C-2897-27EC-DAAE068B65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019396" y="5492674"/>
              <a:ext cx="618077" cy="618077"/>
            </a:xfrm>
            <a:prstGeom prst="rect">
              <a:avLst/>
            </a:prstGeom>
          </p:spPr>
        </p:pic>
        <p:sp>
          <p:nvSpPr>
            <p:cNvPr id="25" name="Marcador de contenido 2">
              <a:extLst>
                <a:ext uri="{FF2B5EF4-FFF2-40B4-BE49-F238E27FC236}">
                  <a16:creationId xmlns:a16="http://schemas.microsoft.com/office/drawing/2014/main" id="{E97A57E8-CFBD-F5AE-FC1A-518E6F114990}"/>
                </a:ext>
              </a:extLst>
            </p:cNvPr>
            <p:cNvSpPr txBox="1">
              <a:spLocks/>
            </p:cNvSpPr>
            <p:nvPr/>
          </p:nvSpPr>
          <p:spPr>
            <a:xfrm>
              <a:off x="3495617" y="6211458"/>
              <a:ext cx="1305702" cy="5502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Abies</a:t>
              </a:r>
              <a:r>
                <a:rPr lang="es-ES" sz="1200" i="1" dirty="0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 alba </a:t>
              </a:r>
              <a:r>
                <a:rPr lang="es-ES" sz="1200" dirty="0" err="1">
                  <a:solidFill>
                    <a:srgbClr val="785EF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26" name="Marcador de contenido 2">
              <a:extLst>
                <a:ext uri="{FF2B5EF4-FFF2-40B4-BE49-F238E27FC236}">
                  <a16:creationId xmlns:a16="http://schemas.microsoft.com/office/drawing/2014/main" id="{4610296F-889E-2FEA-7AFA-095562B99E94}"/>
                </a:ext>
              </a:extLst>
            </p:cNvPr>
            <p:cNvSpPr txBox="1">
              <a:spLocks/>
            </p:cNvSpPr>
            <p:nvPr/>
          </p:nvSpPr>
          <p:spPr>
            <a:xfrm>
              <a:off x="4488565" y="6215039"/>
              <a:ext cx="1549903" cy="5490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sylvestris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dirty="0" err="1">
                  <a:solidFill>
                    <a:srgbClr val="FFB00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27" name="Marcador de contenido 2">
              <a:extLst>
                <a:ext uri="{FF2B5EF4-FFF2-40B4-BE49-F238E27FC236}">
                  <a16:creationId xmlns:a16="http://schemas.microsoft.com/office/drawing/2014/main" id="{E5D78DD7-DADA-BF19-EF42-3C987C584762}"/>
                </a:ext>
              </a:extLst>
            </p:cNvPr>
            <p:cNvSpPr txBox="1">
              <a:spLocks/>
            </p:cNvSpPr>
            <p:nvPr/>
          </p:nvSpPr>
          <p:spPr>
            <a:xfrm>
              <a:off x="5541690" y="6209867"/>
              <a:ext cx="1573487" cy="54554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s-ES" sz="1100" i="1" dirty="0" err="1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100" i="1" dirty="0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 pinea </a:t>
              </a:r>
              <a:r>
                <a:rPr lang="es-ES" sz="1100" dirty="0" err="1">
                  <a:solidFill>
                    <a:srgbClr val="DC267F"/>
                  </a:solidFill>
                  <a:latin typeface="Helvetica" panose="020B0604020202020204"/>
                  <a:cs typeface="Helvetica" panose="020B0604020202020204"/>
                </a:rPr>
                <a:t>Mediterranean</a:t>
              </a:r>
              <a:endParaRPr lang="es-ES" sz="1100" dirty="0">
                <a:solidFill>
                  <a:srgbClr val="DC267F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16" name="CuadroTexto 18">
              <a:extLst>
                <a:ext uri="{FF2B5EF4-FFF2-40B4-BE49-F238E27FC236}">
                  <a16:creationId xmlns:a16="http://schemas.microsoft.com/office/drawing/2014/main" id="{3518C806-9C9A-13B9-C080-B495F5078F77}"/>
                </a:ext>
              </a:extLst>
            </p:cNvPr>
            <p:cNvSpPr txBox="1"/>
            <p:nvPr/>
          </p:nvSpPr>
          <p:spPr>
            <a:xfrm>
              <a:off x="4296135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30" name="CuadroTexto 18">
              <a:extLst>
                <a:ext uri="{FF2B5EF4-FFF2-40B4-BE49-F238E27FC236}">
                  <a16:creationId xmlns:a16="http://schemas.microsoft.com/office/drawing/2014/main" id="{91FC8266-4AAC-F8B5-6525-3100475137A1}"/>
                </a:ext>
              </a:extLst>
            </p:cNvPr>
            <p:cNvSpPr txBox="1"/>
            <p:nvPr/>
          </p:nvSpPr>
          <p:spPr>
            <a:xfrm>
              <a:off x="5391386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8FC646D-FA30-482A-F95C-D6863305F59E}"/>
              </a:ext>
            </a:extLst>
          </p:cNvPr>
          <p:cNvGrpSpPr/>
          <p:nvPr/>
        </p:nvGrpSpPr>
        <p:grpSpPr>
          <a:xfrm>
            <a:off x="8626711" y="5379600"/>
            <a:ext cx="2875680" cy="1152743"/>
            <a:chOff x="8825518" y="5542858"/>
            <a:chExt cx="2875680" cy="1152743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FEEDAADA-0E83-ED42-FBFC-4D3F1BD24487}"/>
                </a:ext>
              </a:extLst>
            </p:cNvPr>
            <p:cNvGrpSpPr/>
            <p:nvPr/>
          </p:nvGrpSpPr>
          <p:grpSpPr>
            <a:xfrm>
              <a:off x="8825518" y="5542858"/>
              <a:ext cx="2875680" cy="1152743"/>
              <a:chOff x="8825518" y="5542858"/>
              <a:chExt cx="2875680" cy="1152743"/>
            </a:xfrm>
          </p:grpSpPr>
          <p:pic>
            <p:nvPicPr>
              <p:cNvPr id="51" name="Graphic 50" descr="Fir tree">
                <a:extLst>
                  <a:ext uri="{FF2B5EF4-FFF2-40B4-BE49-F238E27FC236}">
                    <a16:creationId xmlns:a16="http://schemas.microsoft.com/office/drawing/2014/main" id="{FCD977B5-B059-C021-1C30-CBECCFF1E4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52" name="Graphic 51" descr="Fir tree">
                <a:extLst>
                  <a:ext uri="{FF2B5EF4-FFF2-40B4-BE49-F238E27FC236}">
                    <a16:creationId xmlns:a16="http://schemas.microsoft.com/office/drawing/2014/main" id="{26CF372D-6C5F-0D9B-6299-8CC5BE00BC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53" name="Graphic 52" descr="Fir tree">
                <a:extLst>
                  <a:ext uri="{FF2B5EF4-FFF2-40B4-BE49-F238E27FC236}">
                    <a16:creationId xmlns:a16="http://schemas.microsoft.com/office/drawing/2014/main" id="{3CD910E4-CCD5-49D6-2F9A-59B3462224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8955921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54" name="CuadroTexto 18">
                <a:extLst>
                  <a:ext uri="{FF2B5EF4-FFF2-40B4-BE49-F238E27FC236}">
                    <a16:creationId xmlns:a16="http://schemas.microsoft.com/office/drawing/2014/main" id="{59BC316F-8FF6-3379-AA1E-0F8F588D4764}"/>
                  </a:ext>
                </a:extLst>
              </p:cNvPr>
              <p:cNvSpPr txBox="1"/>
              <p:nvPr/>
            </p:nvSpPr>
            <p:spPr>
              <a:xfrm>
                <a:off x="8825518" y="6357047"/>
                <a:ext cx="10080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2274A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Non-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55" name="CuadroTexto 18">
                <a:extLst>
                  <a:ext uri="{FF2B5EF4-FFF2-40B4-BE49-F238E27FC236}">
                    <a16:creationId xmlns:a16="http://schemas.microsoft.com/office/drawing/2014/main" id="{AC1E67B0-FF23-9283-8303-0DC4F0983676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56" name="CuadroTexto 18">
                <a:extLst>
                  <a:ext uri="{FF2B5EF4-FFF2-40B4-BE49-F238E27FC236}">
                    <a16:creationId xmlns:a16="http://schemas.microsoft.com/office/drawing/2014/main" id="{641B3C71-9540-9640-E00E-8300977B0ED6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49" name="CuadroTexto 18">
              <a:extLst>
                <a:ext uri="{FF2B5EF4-FFF2-40B4-BE49-F238E27FC236}">
                  <a16:creationId xmlns:a16="http://schemas.microsoft.com/office/drawing/2014/main" id="{F8121C46-DD18-9C7B-8B45-DC170322CBA0}"/>
                </a:ext>
              </a:extLst>
            </p:cNvPr>
            <p:cNvSpPr txBox="1"/>
            <p:nvPr/>
          </p:nvSpPr>
          <p:spPr>
            <a:xfrm>
              <a:off x="9402761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50" name="CuadroTexto 18">
              <a:extLst>
                <a:ext uri="{FF2B5EF4-FFF2-40B4-BE49-F238E27FC236}">
                  <a16:creationId xmlns:a16="http://schemas.microsoft.com/office/drawing/2014/main" id="{04FAB4FA-6E51-918E-2501-D1D3C1903415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6339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73334-2C83-86EA-F971-0B9265642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1531D4ED-68A9-CECB-ED15-4387DD59AD3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D1A1BFE-DC92-E0F0-8D46-80BECDF3116D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3CA477B-6568-71AB-FBD0-613CC0134996}"/>
              </a:ext>
            </a:extLst>
          </p:cNvPr>
          <p:cNvSpPr txBox="1">
            <a:spLocks/>
          </p:cNvSpPr>
          <p:nvPr/>
        </p:nvSpPr>
        <p:spPr>
          <a:xfrm>
            <a:off x="633459" y="2109533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H2.-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drought-induced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reduced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photosynthetic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pigments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concentrations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increased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iWUE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leaves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nutrients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allocation</a:t>
            </a:r>
            <a:endParaRPr lang="es-ES" sz="2400" i="1" dirty="0">
              <a:latin typeface="Helvetica"/>
              <a:cs typeface="Helvetica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8C25AC63-98C6-64BF-F6DD-B75119648688}"/>
              </a:ext>
            </a:extLst>
          </p:cNvPr>
          <p:cNvSpPr txBox="1">
            <a:spLocks/>
          </p:cNvSpPr>
          <p:nvPr/>
        </p:nvSpPr>
        <p:spPr>
          <a:xfrm>
            <a:off x="633459" y="2951923"/>
            <a:ext cx="10925077" cy="33991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000" b="1" dirty="0" err="1">
                <a:latin typeface="Helvetica"/>
                <a:cs typeface="Helvetica"/>
              </a:rPr>
              <a:t>Pigments</a:t>
            </a:r>
            <a:r>
              <a:rPr lang="es-ES" sz="2000" b="1" dirty="0">
                <a:latin typeface="Helvetica"/>
                <a:cs typeface="Helvetica"/>
              </a:rPr>
              <a:t>: </a:t>
            </a:r>
            <a:r>
              <a:rPr lang="en-US" sz="2000" dirty="0">
                <a:latin typeface="Helvetica"/>
                <a:cs typeface="Helvetica"/>
              </a:rPr>
              <a:t>water stress-induced increased ABA and ROS trigger upregulation of senescence-associated genes (SAG), and to damages to photosynthetic apparatus </a:t>
            </a:r>
            <a:r>
              <a:rPr lang="en-US" sz="20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↓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Pigments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concentration</a:t>
            </a:r>
            <a:endParaRPr lang="es-ES" sz="2000" b="1" dirty="0">
              <a:solidFill>
                <a:srgbClr val="C00000"/>
              </a:solidFill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r>
              <a:rPr lang="es-ES" sz="2000" b="1" dirty="0" err="1">
                <a:latin typeface="Helvetica"/>
                <a:cs typeface="Helvetica"/>
              </a:rPr>
              <a:t>iWUE</a:t>
            </a:r>
            <a:r>
              <a:rPr lang="es-ES" sz="2000" b="1" dirty="0">
                <a:latin typeface="Helvetica"/>
                <a:cs typeface="Helvetica"/>
              </a:rPr>
              <a:t>: </a:t>
            </a:r>
            <a:r>
              <a:rPr lang="es-ES" sz="2000" dirty="0" err="1">
                <a:latin typeface="Helvetica"/>
                <a:cs typeface="Helvetica"/>
              </a:rPr>
              <a:t>we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an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isohydric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behaviour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leading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to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stomatal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closure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↑ </a:t>
            </a:r>
            <a:r>
              <a:rPr lang="el-GR" sz="2000" b="1" dirty="0">
                <a:latin typeface="Helvetica"/>
                <a:cs typeface="Helvetica"/>
                <a:sym typeface="Wingdings" panose="05000000000000000000" pitchFamily="2" charset="2"/>
              </a:rPr>
              <a:t>δ</a:t>
            </a:r>
            <a:r>
              <a:rPr lang="es-ES" sz="2000" b="1" baseline="30000" dirty="0">
                <a:latin typeface="Helvetica"/>
                <a:cs typeface="Helvetica"/>
                <a:sym typeface="Wingdings" panose="05000000000000000000" pitchFamily="2" charset="2"/>
              </a:rPr>
              <a:t>13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C and </a:t>
            </a:r>
            <a:r>
              <a:rPr lang="el-GR" sz="2000" b="1" dirty="0">
                <a:latin typeface="Helvetica"/>
                <a:cs typeface="Helvetica"/>
                <a:sym typeface="Wingdings" panose="05000000000000000000" pitchFamily="2" charset="2"/>
              </a:rPr>
              <a:t>δ</a:t>
            </a:r>
            <a:r>
              <a:rPr lang="es-ES" sz="2000" b="1" baseline="30000" dirty="0">
                <a:latin typeface="Helvetica"/>
                <a:cs typeface="Helvetica"/>
                <a:sym typeface="Wingdings" panose="05000000000000000000" pitchFamily="2" charset="2"/>
              </a:rPr>
              <a:t>18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O in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leaves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and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wood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tissue</a:t>
            </a:r>
            <a:endParaRPr lang="es-ES" sz="20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Nutrients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: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nutrient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allocation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leaves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due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drought-induced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reduced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nutrients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uptake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 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↓N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concentration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and ↑ C:N ratio in </a:t>
            </a:r>
            <a:r>
              <a:rPr lang="es-ES" sz="20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0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endParaRPr lang="es-ES" sz="2000" b="1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endParaRPr lang="es-ES" sz="2000" b="1" dirty="0">
              <a:solidFill>
                <a:srgbClr val="C00000"/>
              </a:solidFill>
              <a:latin typeface="Helvetica"/>
              <a:cs typeface="Helvetica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7E0554-C1E2-14A8-189C-36E143C46AFE}"/>
              </a:ext>
            </a:extLst>
          </p:cNvPr>
          <p:cNvSpPr txBox="1">
            <a:spLocks/>
          </p:cNvSpPr>
          <p:nvPr/>
        </p:nvSpPr>
        <p:spPr>
          <a:xfrm>
            <a:off x="623546" y="972273"/>
            <a:ext cx="10465002" cy="15489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 panose="020B0604020202020204"/>
                <a:cs typeface="Helvetica"/>
              </a:rPr>
              <a:t>. 2.-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characterize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tree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morphological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physiological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whole-plant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>
                <a:latin typeface="Helvetica"/>
                <a:cs typeface="Helvetica"/>
              </a:rPr>
              <a:t>responses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drought</a:t>
            </a:r>
            <a:r>
              <a:rPr lang="es-ES" sz="2400" dirty="0">
                <a:latin typeface="Helvetica"/>
                <a:cs typeface="Helvetica"/>
              </a:rPr>
              <a:t> at regional </a:t>
            </a:r>
            <a:r>
              <a:rPr lang="es-ES" sz="2400" dirty="0" err="1">
                <a:latin typeface="Helvetica"/>
                <a:cs typeface="Helvetica"/>
              </a:rPr>
              <a:t>level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across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species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what</a:t>
            </a:r>
            <a:r>
              <a:rPr lang="es-ES" sz="2400" dirty="0">
                <a:latin typeface="Helvetica"/>
                <a:cs typeface="Helvetica"/>
              </a:rPr>
              <a:t> responses are more </a:t>
            </a:r>
            <a:r>
              <a:rPr lang="es-ES" sz="2400" dirty="0" err="1">
                <a:latin typeface="Helvetica"/>
                <a:cs typeface="Helvetica"/>
              </a:rPr>
              <a:t>affected</a:t>
            </a:r>
            <a:r>
              <a:rPr lang="es-ES" sz="2400" dirty="0">
                <a:latin typeface="Helvetica"/>
                <a:cs typeface="Helvetica"/>
              </a:rPr>
              <a:t>.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DC06579-601D-BC08-C423-61DCE851E5EA}"/>
              </a:ext>
            </a:extLst>
          </p:cNvPr>
          <p:cNvGrpSpPr/>
          <p:nvPr/>
        </p:nvGrpSpPr>
        <p:grpSpPr>
          <a:xfrm>
            <a:off x="3495617" y="5492674"/>
            <a:ext cx="3619560" cy="1271459"/>
            <a:chOff x="3495617" y="5492674"/>
            <a:chExt cx="3619560" cy="1271459"/>
          </a:xfrm>
        </p:grpSpPr>
        <p:pic>
          <p:nvPicPr>
            <p:cNvPr id="40" name="Gráfico 12" descr="Abeto">
              <a:extLst>
                <a:ext uri="{FF2B5EF4-FFF2-40B4-BE49-F238E27FC236}">
                  <a16:creationId xmlns:a16="http://schemas.microsoft.com/office/drawing/2014/main" id="{ABAF2CD7-02B0-2A65-CB1A-90D051EFC6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39430" y="5492675"/>
              <a:ext cx="618077" cy="618077"/>
            </a:xfrm>
            <a:prstGeom prst="rect">
              <a:avLst/>
            </a:prstGeom>
          </p:spPr>
        </p:pic>
        <p:pic>
          <p:nvPicPr>
            <p:cNvPr id="41" name="Gráfico 13" descr="Abeto">
              <a:extLst>
                <a:ext uri="{FF2B5EF4-FFF2-40B4-BE49-F238E27FC236}">
                  <a16:creationId xmlns:a16="http://schemas.microsoft.com/office/drawing/2014/main" id="{8D62CDEA-54DE-51CA-EE2E-3A249E337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954479" y="5497846"/>
              <a:ext cx="618077" cy="618077"/>
            </a:xfrm>
            <a:prstGeom prst="rect">
              <a:avLst/>
            </a:prstGeom>
          </p:spPr>
        </p:pic>
        <p:pic>
          <p:nvPicPr>
            <p:cNvPr id="42" name="Gráfico 14" descr="Abeto">
              <a:extLst>
                <a:ext uri="{FF2B5EF4-FFF2-40B4-BE49-F238E27FC236}">
                  <a16:creationId xmlns:a16="http://schemas.microsoft.com/office/drawing/2014/main" id="{633293F9-731B-FF05-95E6-FCE7C29B7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019396" y="5492674"/>
              <a:ext cx="618077" cy="618077"/>
            </a:xfrm>
            <a:prstGeom prst="rect">
              <a:avLst/>
            </a:prstGeom>
          </p:spPr>
        </p:pic>
        <p:sp>
          <p:nvSpPr>
            <p:cNvPr id="43" name="Marcador de contenido 2">
              <a:extLst>
                <a:ext uri="{FF2B5EF4-FFF2-40B4-BE49-F238E27FC236}">
                  <a16:creationId xmlns:a16="http://schemas.microsoft.com/office/drawing/2014/main" id="{F24C988F-1A47-2343-11B3-4E05FCFC84C3}"/>
                </a:ext>
              </a:extLst>
            </p:cNvPr>
            <p:cNvSpPr txBox="1">
              <a:spLocks/>
            </p:cNvSpPr>
            <p:nvPr/>
          </p:nvSpPr>
          <p:spPr>
            <a:xfrm>
              <a:off x="3495617" y="6211458"/>
              <a:ext cx="1305702" cy="5502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Abies</a:t>
              </a:r>
              <a:r>
                <a:rPr lang="es-ES" sz="1200" i="1" dirty="0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 alba </a:t>
              </a:r>
              <a:r>
                <a:rPr lang="es-ES" sz="1200" dirty="0" err="1">
                  <a:solidFill>
                    <a:srgbClr val="785EF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44" name="Marcador de contenido 2">
              <a:extLst>
                <a:ext uri="{FF2B5EF4-FFF2-40B4-BE49-F238E27FC236}">
                  <a16:creationId xmlns:a16="http://schemas.microsoft.com/office/drawing/2014/main" id="{BE10BCF2-A324-8BF4-F89E-72B4590EB683}"/>
                </a:ext>
              </a:extLst>
            </p:cNvPr>
            <p:cNvSpPr txBox="1">
              <a:spLocks/>
            </p:cNvSpPr>
            <p:nvPr/>
          </p:nvSpPr>
          <p:spPr>
            <a:xfrm>
              <a:off x="4488565" y="6215039"/>
              <a:ext cx="1549903" cy="5490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sylvestris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dirty="0" err="1">
                  <a:solidFill>
                    <a:srgbClr val="FFB00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45" name="Marcador de contenido 2">
              <a:extLst>
                <a:ext uri="{FF2B5EF4-FFF2-40B4-BE49-F238E27FC236}">
                  <a16:creationId xmlns:a16="http://schemas.microsoft.com/office/drawing/2014/main" id="{77DA9514-DAA0-469F-B34D-E324E333C7E6}"/>
                </a:ext>
              </a:extLst>
            </p:cNvPr>
            <p:cNvSpPr txBox="1">
              <a:spLocks/>
            </p:cNvSpPr>
            <p:nvPr/>
          </p:nvSpPr>
          <p:spPr>
            <a:xfrm>
              <a:off x="5541690" y="6209867"/>
              <a:ext cx="1573487" cy="54554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s-ES" sz="1100" i="1" dirty="0" err="1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100" i="1" dirty="0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 pinea </a:t>
              </a:r>
              <a:r>
                <a:rPr lang="es-ES" sz="1100" dirty="0" err="1">
                  <a:solidFill>
                    <a:srgbClr val="DC267F"/>
                  </a:solidFill>
                  <a:latin typeface="Helvetica" panose="020B0604020202020204"/>
                  <a:cs typeface="Helvetica" panose="020B0604020202020204"/>
                </a:rPr>
                <a:t>Mediterranean</a:t>
              </a:r>
              <a:endParaRPr lang="es-ES" sz="1100" dirty="0">
                <a:solidFill>
                  <a:srgbClr val="DC267F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46" name="CuadroTexto 18">
              <a:extLst>
                <a:ext uri="{FF2B5EF4-FFF2-40B4-BE49-F238E27FC236}">
                  <a16:creationId xmlns:a16="http://schemas.microsoft.com/office/drawing/2014/main" id="{5875A177-374D-0E0E-1CA8-61F9CFE6A07A}"/>
                </a:ext>
              </a:extLst>
            </p:cNvPr>
            <p:cNvSpPr txBox="1"/>
            <p:nvPr/>
          </p:nvSpPr>
          <p:spPr>
            <a:xfrm>
              <a:off x="4296135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47" name="CuadroTexto 18">
              <a:extLst>
                <a:ext uri="{FF2B5EF4-FFF2-40B4-BE49-F238E27FC236}">
                  <a16:creationId xmlns:a16="http://schemas.microsoft.com/office/drawing/2014/main" id="{A965AD35-419F-22CA-9505-4F688A2BEFB4}"/>
                </a:ext>
              </a:extLst>
            </p:cNvPr>
            <p:cNvSpPr txBox="1"/>
            <p:nvPr/>
          </p:nvSpPr>
          <p:spPr>
            <a:xfrm>
              <a:off x="5391386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D7437BD-BCDC-156E-B29B-5C6E0D030CD7}"/>
              </a:ext>
            </a:extLst>
          </p:cNvPr>
          <p:cNvGrpSpPr/>
          <p:nvPr/>
        </p:nvGrpSpPr>
        <p:grpSpPr>
          <a:xfrm>
            <a:off x="8626711" y="5379600"/>
            <a:ext cx="2875680" cy="1152743"/>
            <a:chOff x="8825518" y="5542858"/>
            <a:chExt cx="2875680" cy="115274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14463B9-7D96-F83D-B18C-8F615DBBC9DC}"/>
                </a:ext>
              </a:extLst>
            </p:cNvPr>
            <p:cNvGrpSpPr/>
            <p:nvPr/>
          </p:nvGrpSpPr>
          <p:grpSpPr>
            <a:xfrm>
              <a:off x="8825518" y="5542858"/>
              <a:ext cx="2875680" cy="1152743"/>
              <a:chOff x="8825518" y="5542858"/>
              <a:chExt cx="2875680" cy="1152743"/>
            </a:xfrm>
          </p:grpSpPr>
          <p:pic>
            <p:nvPicPr>
              <p:cNvPr id="11" name="Graphic 10" descr="Fir tree">
                <a:extLst>
                  <a:ext uri="{FF2B5EF4-FFF2-40B4-BE49-F238E27FC236}">
                    <a16:creationId xmlns:a16="http://schemas.microsoft.com/office/drawing/2014/main" id="{56F1911D-DFF2-D7CC-6346-A5482E21A1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12" name="Graphic 11" descr="Fir tree">
                <a:extLst>
                  <a:ext uri="{FF2B5EF4-FFF2-40B4-BE49-F238E27FC236}">
                    <a16:creationId xmlns:a16="http://schemas.microsoft.com/office/drawing/2014/main" id="{D92E68BE-D510-4D7D-BADB-95F42F56F1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13" name="Graphic 12" descr="Fir tree">
                <a:extLst>
                  <a:ext uri="{FF2B5EF4-FFF2-40B4-BE49-F238E27FC236}">
                    <a16:creationId xmlns:a16="http://schemas.microsoft.com/office/drawing/2014/main" id="{31B6D55C-88C7-6C7A-BA09-7BDABE56FD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8955921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14" name="CuadroTexto 18">
                <a:extLst>
                  <a:ext uri="{FF2B5EF4-FFF2-40B4-BE49-F238E27FC236}">
                    <a16:creationId xmlns:a16="http://schemas.microsoft.com/office/drawing/2014/main" id="{007BD07D-0747-5B0A-C00A-FF51BE19BB26}"/>
                  </a:ext>
                </a:extLst>
              </p:cNvPr>
              <p:cNvSpPr txBox="1"/>
              <p:nvPr/>
            </p:nvSpPr>
            <p:spPr>
              <a:xfrm>
                <a:off x="8825518" y="6357047"/>
                <a:ext cx="10080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2274A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Non-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15" name="CuadroTexto 18">
                <a:extLst>
                  <a:ext uri="{FF2B5EF4-FFF2-40B4-BE49-F238E27FC236}">
                    <a16:creationId xmlns:a16="http://schemas.microsoft.com/office/drawing/2014/main" id="{3492781C-2375-BEB8-1647-F0DF22DE3DEB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16" name="CuadroTexto 18">
                <a:extLst>
                  <a:ext uri="{FF2B5EF4-FFF2-40B4-BE49-F238E27FC236}">
                    <a16:creationId xmlns:a16="http://schemas.microsoft.com/office/drawing/2014/main" id="{DC74F95A-0304-2EB4-4A84-166575AF383E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6" name="CuadroTexto 18">
              <a:extLst>
                <a:ext uri="{FF2B5EF4-FFF2-40B4-BE49-F238E27FC236}">
                  <a16:creationId xmlns:a16="http://schemas.microsoft.com/office/drawing/2014/main" id="{5F4D807C-894F-23D0-3C9C-31843B61B447}"/>
                </a:ext>
              </a:extLst>
            </p:cNvPr>
            <p:cNvSpPr txBox="1"/>
            <p:nvPr/>
          </p:nvSpPr>
          <p:spPr>
            <a:xfrm>
              <a:off x="9402761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7" name="CuadroTexto 18">
              <a:extLst>
                <a:ext uri="{FF2B5EF4-FFF2-40B4-BE49-F238E27FC236}">
                  <a16:creationId xmlns:a16="http://schemas.microsoft.com/office/drawing/2014/main" id="{5858F9D1-6C03-2968-70CD-64C632D2B55E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E52A40DF-7513-CF76-D1D8-0A5F4345E83A}"/>
              </a:ext>
            </a:extLst>
          </p:cNvPr>
          <p:cNvSpPr txBox="1">
            <a:spLocks/>
          </p:cNvSpPr>
          <p:nvPr/>
        </p:nvSpPr>
        <p:spPr>
          <a:xfrm>
            <a:off x="694186" y="5806884"/>
            <a:ext cx="2198835" cy="1006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Figs. 4 &amp; 5: </a:t>
            </a:r>
            <a:r>
              <a:rPr lang="es-ES" sz="2400" b="1" dirty="0" err="1">
                <a:latin typeface="Helvetica"/>
                <a:cs typeface="Helvetica"/>
              </a:rPr>
              <a:t>boxplot</a:t>
            </a:r>
            <a:r>
              <a:rPr lang="es-ES" sz="2400" b="1" dirty="0">
                <a:latin typeface="Helvetica"/>
                <a:cs typeface="Helvetica"/>
              </a:rPr>
              <a:t> + RR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886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7D948-86BD-7218-880B-80096F80D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55ABC543-C68D-55DD-197B-359CA9BABF5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61FBC3C-017C-E532-87EF-270CA7195D0F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4C51AA4-52F0-151B-7375-C783F89B7860}"/>
              </a:ext>
            </a:extLst>
          </p:cNvPr>
          <p:cNvSpPr txBox="1">
            <a:spLocks/>
          </p:cNvSpPr>
          <p:nvPr/>
        </p:nvSpPr>
        <p:spPr>
          <a:xfrm>
            <a:off x="633461" y="1025596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3.-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the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convergence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of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traits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the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coordination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between</a:t>
            </a:r>
            <a:r>
              <a:rPr lang="es-ES" sz="2400" dirty="0">
                <a:latin typeface="Helvetica"/>
                <a:cs typeface="Helvetica"/>
              </a:rPr>
              <a:t> responses in </a:t>
            </a:r>
            <a:r>
              <a:rPr lang="es-ES" sz="2400" dirty="0" err="1">
                <a:latin typeface="Helvetica"/>
                <a:cs typeface="Helvetica"/>
              </a:rPr>
              <a:t>healthy</a:t>
            </a:r>
            <a:r>
              <a:rPr lang="es-ES" sz="2400" dirty="0">
                <a:latin typeface="Helvetica"/>
                <a:cs typeface="Helvetica"/>
              </a:rPr>
              <a:t> vs. </a:t>
            </a:r>
            <a:r>
              <a:rPr lang="es-ES" sz="2400" dirty="0" err="1">
                <a:latin typeface="Helvetica"/>
                <a:cs typeface="Helvetica"/>
              </a:rPr>
              <a:t>damaged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trees</a:t>
            </a:r>
            <a:r>
              <a:rPr lang="es-ES" sz="2400" dirty="0">
                <a:latin typeface="Helvetica"/>
                <a:cs typeface="Helvetica"/>
              </a:rPr>
              <a:t>.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7C371B6A-D08A-2959-5BDA-6D76133D6F74}"/>
              </a:ext>
            </a:extLst>
          </p:cNvPr>
          <p:cNvSpPr txBox="1">
            <a:spLocks/>
          </p:cNvSpPr>
          <p:nvPr/>
        </p:nvSpPr>
        <p:spPr>
          <a:xfrm>
            <a:off x="633460" y="1988018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H3</a:t>
            </a:r>
            <a:r>
              <a:rPr lang="es-ES" sz="2400" i="1" dirty="0">
                <a:latin typeface="Helvetica"/>
                <a:cs typeface="Helvetica"/>
              </a:rPr>
              <a:t>.-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a </a:t>
            </a:r>
            <a:r>
              <a:rPr lang="es-ES" sz="2400" i="1" dirty="0" err="1">
                <a:latin typeface="Helvetica"/>
                <a:cs typeface="Helvetica"/>
              </a:rPr>
              <a:t>coordination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of</a:t>
            </a:r>
            <a:r>
              <a:rPr lang="es-ES" sz="2400" i="1" dirty="0">
                <a:latin typeface="Helvetica"/>
                <a:cs typeface="Helvetica"/>
              </a:rPr>
              <a:t> conservative </a:t>
            </a:r>
            <a:r>
              <a:rPr lang="es-ES" sz="2400" i="1" dirty="0" err="1">
                <a:latin typeface="Helvetica"/>
                <a:cs typeface="Helvetica"/>
              </a:rPr>
              <a:t>strategies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induced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by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drought</a:t>
            </a:r>
            <a:r>
              <a:rPr lang="es-ES" sz="2400" i="1" dirty="0">
                <a:latin typeface="Helvetica"/>
                <a:cs typeface="Helvetica"/>
              </a:rPr>
              <a:t>, and </a:t>
            </a:r>
            <a:r>
              <a:rPr lang="es-ES" sz="2400" b="1" i="1" dirty="0" err="1">
                <a:latin typeface="Helvetica"/>
                <a:cs typeface="Helvetica"/>
              </a:rPr>
              <a:t>variations</a:t>
            </a:r>
            <a:r>
              <a:rPr lang="es-ES" sz="2400" b="1" i="1" dirty="0">
                <a:latin typeface="Helvetica"/>
                <a:cs typeface="Helvetica"/>
              </a:rPr>
              <a:t> </a:t>
            </a:r>
            <a:r>
              <a:rPr lang="es-ES" sz="2400" i="1" dirty="0">
                <a:latin typeface="Helvetica"/>
                <a:cs typeface="Helvetica"/>
              </a:rPr>
              <a:t>in </a:t>
            </a:r>
            <a:r>
              <a:rPr lang="es-ES" sz="2400" i="1" dirty="0" err="1">
                <a:latin typeface="Helvetica"/>
                <a:cs typeface="Helvetica"/>
              </a:rPr>
              <a:t>each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species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path</a:t>
            </a:r>
            <a:endParaRPr lang="es-ES" sz="2400" i="1" dirty="0">
              <a:latin typeface="Helvetica"/>
              <a:cs typeface="Helvetica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388DFB22-E1DD-5B95-1421-CEA06847A806}"/>
              </a:ext>
            </a:extLst>
          </p:cNvPr>
          <p:cNvSpPr txBox="1">
            <a:spLocks/>
          </p:cNvSpPr>
          <p:nvPr/>
        </p:nvSpPr>
        <p:spPr>
          <a:xfrm>
            <a:off x="3488956" y="5666286"/>
            <a:ext cx="4838513" cy="1006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Fig. 6.: </a:t>
            </a:r>
            <a:r>
              <a:rPr lang="es-ES" sz="2400" b="1" dirty="0" err="1">
                <a:latin typeface="Helvetica"/>
                <a:cs typeface="Helvetica"/>
              </a:rPr>
              <a:t>PCAs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FC5150C-4499-CC9C-61B4-6593EA0F3983}"/>
              </a:ext>
            </a:extLst>
          </p:cNvPr>
          <p:cNvGrpSpPr/>
          <p:nvPr/>
        </p:nvGrpSpPr>
        <p:grpSpPr>
          <a:xfrm>
            <a:off x="4286220" y="2932295"/>
            <a:ext cx="3619560" cy="1271459"/>
            <a:chOff x="3495617" y="5492674"/>
            <a:chExt cx="3619560" cy="1271459"/>
          </a:xfrm>
        </p:grpSpPr>
        <p:pic>
          <p:nvPicPr>
            <p:cNvPr id="29" name="Gráfico 12" descr="Abeto">
              <a:extLst>
                <a:ext uri="{FF2B5EF4-FFF2-40B4-BE49-F238E27FC236}">
                  <a16:creationId xmlns:a16="http://schemas.microsoft.com/office/drawing/2014/main" id="{24C3FE9D-7731-FD4A-E0A5-F262BAC51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39430" y="5492675"/>
              <a:ext cx="618077" cy="618077"/>
            </a:xfrm>
            <a:prstGeom prst="rect">
              <a:avLst/>
            </a:prstGeom>
          </p:spPr>
        </p:pic>
        <p:pic>
          <p:nvPicPr>
            <p:cNvPr id="30" name="Gráfico 13" descr="Abeto">
              <a:extLst>
                <a:ext uri="{FF2B5EF4-FFF2-40B4-BE49-F238E27FC236}">
                  <a16:creationId xmlns:a16="http://schemas.microsoft.com/office/drawing/2014/main" id="{4BB48F82-AB4E-5F59-F060-EB2663D81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954479" y="5497846"/>
              <a:ext cx="618077" cy="618077"/>
            </a:xfrm>
            <a:prstGeom prst="rect">
              <a:avLst/>
            </a:prstGeom>
          </p:spPr>
        </p:pic>
        <p:pic>
          <p:nvPicPr>
            <p:cNvPr id="31" name="Gráfico 14" descr="Abeto">
              <a:extLst>
                <a:ext uri="{FF2B5EF4-FFF2-40B4-BE49-F238E27FC236}">
                  <a16:creationId xmlns:a16="http://schemas.microsoft.com/office/drawing/2014/main" id="{687F9E50-C135-D006-5E2B-92EDEE7D0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019396" y="5492674"/>
              <a:ext cx="618077" cy="618077"/>
            </a:xfrm>
            <a:prstGeom prst="rect">
              <a:avLst/>
            </a:prstGeom>
          </p:spPr>
        </p:pic>
        <p:sp>
          <p:nvSpPr>
            <p:cNvPr id="32" name="Marcador de contenido 2">
              <a:extLst>
                <a:ext uri="{FF2B5EF4-FFF2-40B4-BE49-F238E27FC236}">
                  <a16:creationId xmlns:a16="http://schemas.microsoft.com/office/drawing/2014/main" id="{4B91C203-1000-FC71-7F21-9DF439CB2727}"/>
                </a:ext>
              </a:extLst>
            </p:cNvPr>
            <p:cNvSpPr txBox="1">
              <a:spLocks/>
            </p:cNvSpPr>
            <p:nvPr/>
          </p:nvSpPr>
          <p:spPr>
            <a:xfrm>
              <a:off x="3495617" y="6211458"/>
              <a:ext cx="1305702" cy="5502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Abies</a:t>
              </a:r>
              <a:r>
                <a:rPr lang="es-ES" sz="1200" i="1" dirty="0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 alba </a:t>
              </a:r>
              <a:r>
                <a:rPr lang="es-ES" sz="1200" dirty="0" err="1">
                  <a:solidFill>
                    <a:srgbClr val="785EF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33" name="Marcador de contenido 2">
              <a:extLst>
                <a:ext uri="{FF2B5EF4-FFF2-40B4-BE49-F238E27FC236}">
                  <a16:creationId xmlns:a16="http://schemas.microsoft.com/office/drawing/2014/main" id="{3B85A865-2408-43DC-AFAF-C49A18B3DA02}"/>
                </a:ext>
              </a:extLst>
            </p:cNvPr>
            <p:cNvSpPr txBox="1">
              <a:spLocks/>
            </p:cNvSpPr>
            <p:nvPr/>
          </p:nvSpPr>
          <p:spPr>
            <a:xfrm>
              <a:off x="4488565" y="6215039"/>
              <a:ext cx="1549903" cy="5490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sylvestris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dirty="0" err="1">
                  <a:solidFill>
                    <a:srgbClr val="FFB00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34" name="Marcador de contenido 2">
              <a:extLst>
                <a:ext uri="{FF2B5EF4-FFF2-40B4-BE49-F238E27FC236}">
                  <a16:creationId xmlns:a16="http://schemas.microsoft.com/office/drawing/2014/main" id="{EE31BF7C-812B-9FC1-4AE0-8FD566A362D8}"/>
                </a:ext>
              </a:extLst>
            </p:cNvPr>
            <p:cNvSpPr txBox="1">
              <a:spLocks/>
            </p:cNvSpPr>
            <p:nvPr/>
          </p:nvSpPr>
          <p:spPr>
            <a:xfrm>
              <a:off x="5541690" y="6209867"/>
              <a:ext cx="1573487" cy="54554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s-ES" sz="1100" i="1" dirty="0" err="1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100" i="1" dirty="0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 pinea </a:t>
              </a:r>
              <a:r>
                <a:rPr lang="es-ES" sz="1100" dirty="0" err="1">
                  <a:solidFill>
                    <a:srgbClr val="DC267F"/>
                  </a:solidFill>
                  <a:latin typeface="Helvetica" panose="020B0604020202020204"/>
                  <a:cs typeface="Helvetica" panose="020B0604020202020204"/>
                </a:rPr>
                <a:t>Mediterranean</a:t>
              </a:r>
              <a:endParaRPr lang="es-ES" sz="1100" dirty="0">
                <a:solidFill>
                  <a:srgbClr val="DC267F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35" name="CuadroTexto 18">
              <a:extLst>
                <a:ext uri="{FF2B5EF4-FFF2-40B4-BE49-F238E27FC236}">
                  <a16:creationId xmlns:a16="http://schemas.microsoft.com/office/drawing/2014/main" id="{AD38C01A-3585-DBED-1E80-9D4148F383C7}"/>
                </a:ext>
              </a:extLst>
            </p:cNvPr>
            <p:cNvSpPr txBox="1"/>
            <p:nvPr/>
          </p:nvSpPr>
          <p:spPr>
            <a:xfrm>
              <a:off x="4296135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36" name="CuadroTexto 18">
              <a:extLst>
                <a:ext uri="{FF2B5EF4-FFF2-40B4-BE49-F238E27FC236}">
                  <a16:creationId xmlns:a16="http://schemas.microsoft.com/office/drawing/2014/main" id="{DC8A653A-BE53-07BC-8DD6-8F27B6C5E5C1}"/>
                </a:ext>
              </a:extLst>
            </p:cNvPr>
            <p:cNvSpPr txBox="1"/>
            <p:nvPr/>
          </p:nvSpPr>
          <p:spPr>
            <a:xfrm>
              <a:off x="5391386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E230EEF-A6DF-4F16-D44E-548FC4B6DEEE}"/>
              </a:ext>
            </a:extLst>
          </p:cNvPr>
          <p:cNvGrpSpPr/>
          <p:nvPr/>
        </p:nvGrpSpPr>
        <p:grpSpPr>
          <a:xfrm>
            <a:off x="4630033" y="4358787"/>
            <a:ext cx="2875680" cy="1152743"/>
            <a:chOff x="8825518" y="5542858"/>
            <a:chExt cx="2875680" cy="1152743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747A46F-7B2C-5527-0FD3-326C4D8FF0E6}"/>
                </a:ext>
              </a:extLst>
            </p:cNvPr>
            <p:cNvGrpSpPr/>
            <p:nvPr/>
          </p:nvGrpSpPr>
          <p:grpSpPr>
            <a:xfrm>
              <a:off x="8825518" y="5542858"/>
              <a:ext cx="2875680" cy="1152743"/>
              <a:chOff x="8825518" y="5542858"/>
              <a:chExt cx="2875680" cy="1152743"/>
            </a:xfrm>
          </p:grpSpPr>
          <p:pic>
            <p:nvPicPr>
              <p:cNvPr id="20" name="Graphic 19" descr="Fir tree">
                <a:extLst>
                  <a:ext uri="{FF2B5EF4-FFF2-40B4-BE49-F238E27FC236}">
                    <a16:creationId xmlns:a16="http://schemas.microsoft.com/office/drawing/2014/main" id="{54182296-9D9E-2407-93CE-22305F9474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21" name="Graphic 20" descr="Fir tree">
                <a:extLst>
                  <a:ext uri="{FF2B5EF4-FFF2-40B4-BE49-F238E27FC236}">
                    <a16:creationId xmlns:a16="http://schemas.microsoft.com/office/drawing/2014/main" id="{7E05538D-BC5D-C629-A292-A4DB5BBB5E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22" name="Graphic 21" descr="Fir tree">
                <a:extLst>
                  <a:ext uri="{FF2B5EF4-FFF2-40B4-BE49-F238E27FC236}">
                    <a16:creationId xmlns:a16="http://schemas.microsoft.com/office/drawing/2014/main" id="{0AA34782-4875-317C-D156-27DBE84FEC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8955921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23" name="CuadroTexto 18">
                <a:extLst>
                  <a:ext uri="{FF2B5EF4-FFF2-40B4-BE49-F238E27FC236}">
                    <a16:creationId xmlns:a16="http://schemas.microsoft.com/office/drawing/2014/main" id="{ECF4DE5E-BAB5-C799-FB5A-C8CB64FEAF70}"/>
                  </a:ext>
                </a:extLst>
              </p:cNvPr>
              <p:cNvSpPr txBox="1"/>
              <p:nvPr/>
            </p:nvSpPr>
            <p:spPr>
              <a:xfrm>
                <a:off x="8825518" y="6357047"/>
                <a:ext cx="10080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2274A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Non-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24" name="CuadroTexto 18">
                <a:extLst>
                  <a:ext uri="{FF2B5EF4-FFF2-40B4-BE49-F238E27FC236}">
                    <a16:creationId xmlns:a16="http://schemas.microsoft.com/office/drawing/2014/main" id="{FF4FF587-1420-2133-E705-68503972B7DE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25" name="CuadroTexto 18">
                <a:extLst>
                  <a:ext uri="{FF2B5EF4-FFF2-40B4-BE49-F238E27FC236}">
                    <a16:creationId xmlns:a16="http://schemas.microsoft.com/office/drawing/2014/main" id="{D4C77766-1C54-B161-A430-9D981FA6E3EF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18" name="CuadroTexto 18">
              <a:extLst>
                <a:ext uri="{FF2B5EF4-FFF2-40B4-BE49-F238E27FC236}">
                  <a16:creationId xmlns:a16="http://schemas.microsoft.com/office/drawing/2014/main" id="{96C1196D-46F0-E0A8-B59C-1493863B1864}"/>
                </a:ext>
              </a:extLst>
            </p:cNvPr>
            <p:cNvSpPr txBox="1"/>
            <p:nvPr/>
          </p:nvSpPr>
          <p:spPr>
            <a:xfrm>
              <a:off x="9402761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618B928C-48DD-9DD3-7C5A-7C1FA4BA6573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8300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E7F21-1BC3-58B7-C745-2A6CDB767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3F1333E-2125-6A2D-2319-F40D20FEC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894" y="754558"/>
            <a:ext cx="3749456" cy="6053846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0D2A7F3A-5D92-B637-7E53-8726C79BA350}"/>
              </a:ext>
            </a:extLst>
          </p:cNvPr>
          <p:cNvSpPr txBox="1">
            <a:spLocks/>
          </p:cNvSpPr>
          <p:nvPr/>
        </p:nvSpPr>
        <p:spPr>
          <a:xfrm>
            <a:off x="1354388" y="2694491"/>
            <a:ext cx="3242000" cy="22235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Field data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marL="457200" lvl="1" indent="0" algn="ct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02/2023 – 09/2023</a:t>
            </a:r>
          </a:p>
          <a:p>
            <a:pPr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A999C6EA-7AE8-D840-9E31-A752303D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Study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area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AAA2A6D-DB68-AD63-0A06-EA976E24DC0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8D7DC10-0A24-5913-467C-1DEA0F80E6D2}"/>
              </a:ext>
            </a:extLst>
          </p:cNvPr>
          <p:cNvSpPr txBox="1">
            <a:spLocks/>
          </p:cNvSpPr>
          <p:nvPr/>
        </p:nvSpPr>
        <p:spPr>
          <a:xfrm>
            <a:off x="1354388" y="5382902"/>
            <a:ext cx="3927650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b="1" dirty="0">
                <a:latin typeface="Helvetica"/>
                <a:cs typeface="Helvetica"/>
              </a:rPr>
              <a:t>14 sites, 91 </a:t>
            </a:r>
            <a:r>
              <a:rPr lang="es-ES" b="1" dirty="0" err="1">
                <a:latin typeface="Helvetica"/>
                <a:cs typeface="Helvetica"/>
              </a:rPr>
              <a:t>plots</a:t>
            </a:r>
            <a:r>
              <a:rPr lang="es-ES" b="1" dirty="0">
                <a:latin typeface="Helvetica"/>
                <a:cs typeface="Helvetica"/>
              </a:rPr>
              <a:t> </a:t>
            </a:r>
          </a:p>
          <a:p>
            <a:pPr marL="0" indent="0" algn="ctr">
              <a:buClr>
                <a:srgbClr val="218317"/>
              </a:buClr>
              <a:buNone/>
            </a:pPr>
            <a:r>
              <a:rPr lang="es-ES" b="1" dirty="0">
                <a:solidFill>
                  <a:srgbClr val="FF0000"/>
                </a:solidFill>
                <a:latin typeface="Helvetica"/>
                <a:cs typeface="Helvetica"/>
              </a:rPr>
              <a:t>462 target </a:t>
            </a:r>
            <a:r>
              <a:rPr lang="es-ES" b="1" dirty="0" err="1">
                <a:solidFill>
                  <a:srgbClr val="FF0000"/>
                </a:solidFill>
                <a:latin typeface="Helvetica"/>
                <a:cs typeface="Helvetica"/>
              </a:rPr>
              <a:t>trees</a:t>
            </a:r>
            <a:endParaRPr lang="es-ES" b="1" dirty="0">
              <a:solidFill>
                <a:srgbClr val="FF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890B8ACB-5314-6A10-2AB3-9ECB817D1B6C}"/>
              </a:ext>
            </a:extLst>
          </p:cNvPr>
          <p:cNvSpPr txBox="1">
            <a:spLocks/>
          </p:cNvSpPr>
          <p:nvPr/>
        </p:nvSpPr>
        <p:spPr>
          <a:xfrm>
            <a:off x="127518" y="990543"/>
            <a:ext cx="4976327" cy="13550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>
              <a:buClr>
                <a:srgbClr val="218317"/>
              </a:buClr>
              <a:buNone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Fig. 1.: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Study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sites in Iberia.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Coloured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areas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represent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distribution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area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each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algn="just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F2859508-218F-C191-3C74-ABD62487DB27}"/>
              </a:ext>
            </a:extLst>
          </p:cNvPr>
          <p:cNvSpPr txBox="1"/>
          <p:nvPr/>
        </p:nvSpPr>
        <p:spPr>
          <a:xfrm>
            <a:off x="7961077" y="6346740"/>
            <a:ext cx="4785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Fig. 1 </a:t>
            </a: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639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3B4EC-E283-5677-91B8-01AB140D1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0557B1E9-74A8-C0C5-AD5B-AA26E6A91D29}"/>
              </a:ext>
            </a:extLst>
          </p:cNvPr>
          <p:cNvGrpSpPr/>
          <p:nvPr/>
        </p:nvGrpSpPr>
        <p:grpSpPr>
          <a:xfrm>
            <a:off x="8527188" y="3944761"/>
            <a:ext cx="3477754" cy="1250117"/>
            <a:chOff x="1139560" y="5095351"/>
            <a:chExt cx="3477754" cy="1250117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95D803EB-ABFC-2B48-4BBB-B4D3D82F3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62EDC70A-6C9F-A939-3CEC-DA2DEB707299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9C373739-D140-0D69-94A9-07D1DDD39ACD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D4A7DB54-4178-5298-6B51-7E7A57B25860}"/>
              </a:ext>
            </a:extLst>
          </p:cNvPr>
          <p:cNvGrpSpPr/>
          <p:nvPr/>
        </p:nvGrpSpPr>
        <p:grpSpPr>
          <a:xfrm>
            <a:off x="635710" y="1091933"/>
            <a:ext cx="3761427" cy="5167267"/>
            <a:chOff x="6872115" y="927995"/>
            <a:chExt cx="4007741" cy="5167267"/>
          </a:xfrm>
        </p:grpSpPr>
        <p:cxnSp>
          <p:nvCxnSpPr>
            <p:cNvPr id="6" name="Conector recto de flecha 5">
              <a:extLst>
                <a:ext uri="{FF2B5EF4-FFF2-40B4-BE49-F238E27FC236}">
                  <a16:creationId xmlns:a16="http://schemas.microsoft.com/office/drawing/2014/main" id="{1786FCCD-55EC-DFC5-277E-AF1DDBF94257}"/>
                </a:ext>
              </a:extLst>
            </p:cNvPr>
            <p:cNvCxnSpPr>
              <a:cxnSpLocks/>
            </p:cNvCxnSpPr>
            <p:nvPr/>
          </p:nvCxnSpPr>
          <p:spPr>
            <a:xfrm>
              <a:off x="7208697" y="1279802"/>
              <a:ext cx="32926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CuadroTexto 18">
              <a:extLst>
                <a:ext uri="{FF2B5EF4-FFF2-40B4-BE49-F238E27FC236}">
                  <a16:creationId xmlns:a16="http://schemas.microsoft.com/office/drawing/2014/main" id="{E88B7465-25BC-FAB4-8CFF-2E7A84028AB2}"/>
                </a:ext>
              </a:extLst>
            </p:cNvPr>
            <p:cNvSpPr txBox="1"/>
            <p:nvPr/>
          </p:nvSpPr>
          <p:spPr>
            <a:xfrm>
              <a:off x="8456917" y="927995"/>
              <a:ext cx="911247" cy="373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829" dirty="0">
                  <a:latin typeface="Arial" panose="020B0604020202020204" pitchFamily="34" charset="0"/>
                  <a:cs typeface="Arial" panose="020B0604020202020204" pitchFamily="34" charset="0"/>
                </a:rPr>
                <a:t>34 m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30E7678A-7A50-7275-0F35-F468D9323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72115" y="1563478"/>
              <a:ext cx="4007741" cy="4531784"/>
            </a:xfrm>
            <a:prstGeom prst="rect">
              <a:avLst/>
            </a:prstGeom>
          </p:spPr>
        </p:pic>
      </p:grpSp>
      <p:sp>
        <p:nvSpPr>
          <p:cNvPr id="9" name="CuadroTexto 10">
            <a:extLst>
              <a:ext uri="{FF2B5EF4-FFF2-40B4-BE49-F238E27FC236}">
                <a16:creationId xmlns:a16="http://schemas.microsoft.com/office/drawing/2014/main" id="{BFC4E210-0B8F-7818-4DEA-F8337C5EB8D4}"/>
              </a:ext>
            </a:extLst>
          </p:cNvPr>
          <p:cNvSpPr txBox="1"/>
          <p:nvPr/>
        </p:nvSpPr>
        <p:spPr>
          <a:xfrm>
            <a:off x="4843220" y="1091933"/>
            <a:ext cx="5225669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Mature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0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Regeneration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0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Shrub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0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cover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4.- Target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endParaRPr lang="es-ES" sz="20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LWC 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Photosynthetic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(C, N, O)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Soil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data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Gráfico 11" descr="Abeto">
            <a:extLst>
              <a:ext uri="{FF2B5EF4-FFF2-40B4-BE49-F238E27FC236}">
                <a16:creationId xmlns:a16="http://schemas.microsoft.com/office/drawing/2014/main" id="{545A1811-C8ED-7AF6-9FB7-C0AAABC35A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26902" y="2389013"/>
            <a:ext cx="914400" cy="914400"/>
          </a:xfrm>
          <a:prstGeom prst="rect">
            <a:avLst/>
          </a:prstGeom>
        </p:spPr>
      </p:pic>
      <p:pic>
        <p:nvPicPr>
          <p:cNvPr id="13" name="Gráfico 12" descr="Abeto">
            <a:extLst>
              <a:ext uri="{FF2B5EF4-FFF2-40B4-BE49-F238E27FC236}">
                <a16:creationId xmlns:a16="http://schemas.microsoft.com/office/drawing/2014/main" id="{89ECA156-2E40-F0AE-D17C-B2DCEA8419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7183" y="2746686"/>
            <a:ext cx="914400" cy="914400"/>
          </a:xfrm>
          <a:prstGeom prst="rect">
            <a:avLst/>
          </a:prstGeom>
        </p:spPr>
      </p:pic>
      <p:pic>
        <p:nvPicPr>
          <p:cNvPr id="14" name="Gráfico 13" descr="Abeto">
            <a:extLst>
              <a:ext uri="{FF2B5EF4-FFF2-40B4-BE49-F238E27FC236}">
                <a16:creationId xmlns:a16="http://schemas.microsoft.com/office/drawing/2014/main" id="{3B199FEF-6E3B-64F7-ABE6-499676A584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3867" y="3030361"/>
            <a:ext cx="914400" cy="914400"/>
          </a:xfrm>
          <a:prstGeom prst="rect">
            <a:avLst/>
          </a:prstGeom>
        </p:spPr>
      </p:pic>
      <p:pic>
        <p:nvPicPr>
          <p:cNvPr id="15" name="Gráfico 14" descr="Abeto">
            <a:extLst>
              <a:ext uri="{FF2B5EF4-FFF2-40B4-BE49-F238E27FC236}">
                <a16:creationId xmlns:a16="http://schemas.microsoft.com/office/drawing/2014/main" id="{F1C2D211-15A5-69E5-AA50-E3C085ECC3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37058" y="4127146"/>
            <a:ext cx="914400" cy="914400"/>
          </a:xfrm>
          <a:prstGeom prst="rect">
            <a:avLst/>
          </a:prstGeom>
        </p:spPr>
      </p:pic>
      <p:pic>
        <p:nvPicPr>
          <p:cNvPr id="16" name="Gráfico 15" descr="Abeto">
            <a:extLst>
              <a:ext uri="{FF2B5EF4-FFF2-40B4-BE49-F238E27FC236}">
                <a16:creationId xmlns:a16="http://schemas.microsoft.com/office/drawing/2014/main" id="{7A90B577-9218-845B-73D1-20C0BB8C1C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78353" y="4224808"/>
            <a:ext cx="914400" cy="91440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BDB7A46D-91B8-F459-9835-65013F61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5782E1E-BC36-63F5-4AA7-2039232E13E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76D248D-9F25-84D8-B8A3-89EC232E95B6}"/>
              </a:ext>
            </a:extLst>
          </p:cNvPr>
          <p:cNvGrpSpPr/>
          <p:nvPr/>
        </p:nvGrpSpPr>
        <p:grpSpPr>
          <a:xfrm>
            <a:off x="8825518" y="5542858"/>
            <a:ext cx="2875680" cy="1152743"/>
            <a:chOff x="8825518" y="5542858"/>
            <a:chExt cx="2875680" cy="115274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D201203-071A-C2E3-5D3A-0A6CF5D36CF3}"/>
                </a:ext>
              </a:extLst>
            </p:cNvPr>
            <p:cNvGrpSpPr/>
            <p:nvPr/>
          </p:nvGrpSpPr>
          <p:grpSpPr>
            <a:xfrm>
              <a:off x="8825518" y="5542858"/>
              <a:ext cx="2875680" cy="1152743"/>
              <a:chOff x="8825518" y="5542858"/>
              <a:chExt cx="2875680" cy="1152743"/>
            </a:xfrm>
          </p:grpSpPr>
          <p:pic>
            <p:nvPicPr>
              <p:cNvPr id="10" name="Graphic 9" descr="Fir tree">
                <a:extLst>
                  <a:ext uri="{FF2B5EF4-FFF2-40B4-BE49-F238E27FC236}">
                    <a16:creationId xmlns:a16="http://schemas.microsoft.com/office/drawing/2014/main" id="{32BA7E07-3B75-13D4-921B-EB0C959B46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25" name="Graphic 24" descr="Fir tree">
                <a:extLst>
                  <a:ext uri="{FF2B5EF4-FFF2-40B4-BE49-F238E27FC236}">
                    <a16:creationId xmlns:a16="http://schemas.microsoft.com/office/drawing/2014/main" id="{BEA5B649-231C-975C-973F-2D558FDB9A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26" name="Graphic 25" descr="Fir tree">
                <a:extLst>
                  <a:ext uri="{FF2B5EF4-FFF2-40B4-BE49-F238E27FC236}">
                    <a16:creationId xmlns:a16="http://schemas.microsoft.com/office/drawing/2014/main" id="{E38727BE-E930-9D33-1A62-99C9B4274C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8955921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27" name="CuadroTexto 18">
                <a:extLst>
                  <a:ext uri="{FF2B5EF4-FFF2-40B4-BE49-F238E27FC236}">
                    <a16:creationId xmlns:a16="http://schemas.microsoft.com/office/drawing/2014/main" id="{9EBBD99B-82E8-0014-69DF-9CC5F097DA04}"/>
                  </a:ext>
                </a:extLst>
              </p:cNvPr>
              <p:cNvSpPr txBox="1"/>
              <p:nvPr/>
            </p:nvSpPr>
            <p:spPr>
              <a:xfrm>
                <a:off x="8825518" y="6357047"/>
                <a:ext cx="10080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2274A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Non-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28" name="CuadroTexto 18">
                <a:extLst>
                  <a:ext uri="{FF2B5EF4-FFF2-40B4-BE49-F238E27FC236}">
                    <a16:creationId xmlns:a16="http://schemas.microsoft.com/office/drawing/2014/main" id="{E8F3BEC9-AD73-7586-E030-1F7ECF043F35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31" name="CuadroTexto 18">
                <a:extLst>
                  <a:ext uri="{FF2B5EF4-FFF2-40B4-BE49-F238E27FC236}">
                    <a16:creationId xmlns:a16="http://schemas.microsoft.com/office/drawing/2014/main" id="{E68192D4-2BFF-1639-2C26-2DD453F1F17F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33" name="CuadroTexto 18">
              <a:extLst>
                <a:ext uri="{FF2B5EF4-FFF2-40B4-BE49-F238E27FC236}">
                  <a16:creationId xmlns:a16="http://schemas.microsoft.com/office/drawing/2014/main" id="{9E607D12-CE56-34FB-87B4-457A2A3A7DF4}"/>
                </a:ext>
              </a:extLst>
            </p:cNvPr>
            <p:cNvSpPr txBox="1"/>
            <p:nvPr/>
          </p:nvSpPr>
          <p:spPr>
            <a:xfrm>
              <a:off x="9402761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34" name="CuadroTexto 18">
              <a:extLst>
                <a:ext uri="{FF2B5EF4-FFF2-40B4-BE49-F238E27FC236}">
                  <a16:creationId xmlns:a16="http://schemas.microsoft.com/office/drawing/2014/main" id="{37FA4B31-69C9-5E34-5C84-ED7884A4B977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5231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5B835-B71E-2989-E7E7-A496A149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79B54AFA-0DF0-CB85-F678-98071C00F4C0}"/>
              </a:ext>
            </a:extLst>
          </p:cNvPr>
          <p:cNvSpPr txBox="1">
            <a:spLocks/>
          </p:cNvSpPr>
          <p:nvPr/>
        </p:nvSpPr>
        <p:spPr>
          <a:xfrm>
            <a:off x="883112" y="1248960"/>
            <a:ext cx="5303636" cy="38288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Morphological</a:t>
            </a:r>
            <a:endParaRPr lang="es-ES" sz="2400" b="1" dirty="0">
              <a:latin typeface="Helvetica"/>
              <a:ea typeface="Calibri" panose="020F0502020204030204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growth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solidFill>
                  <a:srgbClr val="FF0000"/>
                </a:solidFill>
                <a:latin typeface="Helvetica"/>
                <a:cs typeface="Helvetica"/>
                <a:sym typeface="Wingdings" panose="05000000000000000000" pitchFamily="2" charset="2"/>
              </a:rPr>
              <a:t>growth</a:t>
            </a:r>
            <a:endParaRPr lang="es-ES" sz="2000" dirty="0">
              <a:solidFill>
                <a:srgbClr val="FF0000"/>
              </a:solidFill>
              <a:latin typeface="Helvetica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traits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leaf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area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000" dirty="0" err="1">
                <a:solidFill>
                  <a:srgbClr val="FF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defoliation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nutrients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C &amp; N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endParaRPr lang="es-ES" sz="20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Physiological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Photosynthesis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spectrophotometry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relations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isotopes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isotopes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F6A97FF-FF6A-EEE9-1CC0-AB48DB192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2FF20BA-0C7E-1C22-7F45-4CE624AEDEB1}"/>
              </a:ext>
            </a:extLst>
          </p:cNvPr>
          <p:cNvSpPr txBox="1">
            <a:spLocks/>
          </p:cNvSpPr>
          <p:nvPr/>
        </p:nvSpPr>
        <p:spPr>
          <a:xfrm>
            <a:off x="6683951" y="2123594"/>
            <a:ext cx="2563083" cy="16945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785EF0"/>
                </a:solidFill>
                <a:latin typeface="Helvetica"/>
                <a:cs typeface="Helvetica"/>
              </a:rPr>
              <a:t>Abies</a:t>
            </a:r>
            <a:r>
              <a:rPr lang="es-ES" sz="2400" i="1" dirty="0">
                <a:solidFill>
                  <a:srgbClr val="785EF0"/>
                </a:solidFill>
                <a:latin typeface="Helvetica"/>
                <a:cs typeface="Helvetica"/>
              </a:rPr>
              <a:t> alba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FFB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400" i="1" dirty="0">
                <a:solidFill>
                  <a:srgbClr val="FFB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i="1" dirty="0" err="1">
                <a:solidFill>
                  <a:srgbClr val="FFB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endParaRPr lang="es-ES" sz="2400" i="1" dirty="0">
              <a:solidFill>
                <a:srgbClr val="FFB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DC267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400" i="1" dirty="0">
                <a:solidFill>
                  <a:srgbClr val="DC267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pinea </a:t>
            </a: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24AEED58-709F-898C-12A6-99AB65DAD3F8}"/>
              </a:ext>
            </a:extLst>
          </p:cNvPr>
          <p:cNvSpPr txBox="1">
            <a:spLocks/>
          </p:cNvSpPr>
          <p:nvPr/>
        </p:nvSpPr>
        <p:spPr>
          <a:xfrm>
            <a:off x="7965492" y="4578350"/>
            <a:ext cx="3672037" cy="19719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endParaRPr lang="es-ES" sz="2400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lvl="1" indent="0" algn="r">
              <a:buClr>
                <a:srgbClr val="218317"/>
              </a:buClr>
              <a:buNone/>
            </a:pPr>
            <a:r>
              <a:rPr lang="es-ES" b="1" u="sng" dirty="0">
                <a:latin typeface="Helvetica" panose="020B0604020202020204" pitchFamily="34" charset="0"/>
                <a:cs typeface="Helvetica" panose="020B0604020202020204" pitchFamily="34" charset="0"/>
              </a:rPr>
              <a:t>462 target </a:t>
            </a:r>
            <a:r>
              <a:rPr lang="es-ES" b="1" u="sng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endParaRPr lang="es-ES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r"/>
            <a:endParaRPr lang="es-ES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EC85E287-2566-DBE7-BD26-B22072E8579A}"/>
              </a:ext>
            </a:extLst>
          </p:cNvPr>
          <p:cNvSpPr txBox="1">
            <a:spLocks/>
          </p:cNvSpPr>
          <p:nvPr/>
        </p:nvSpPr>
        <p:spPr>
          <a:xfrm>
            <a:off x="7908218" y="2052059"/>
            <a:ext cx="3672037" cy="25262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785EF0"/>
                </a:solidFill>
                <a:latin typeface="Helvetica"/>
                <a:cs typeface="Helvetica"/>
              </a:rPr>
              <a:t>23 </a:t>
            </a:r>
            <a:r>
              <a:rPr lang="es-ES" sz="2400" dirty="0" err="1">
                <a:solidFill>
                  <a:srgbClr val="785EF0"/>
                </a:solidFill>
                <a:latin typeface="Helvetica"/>
                <a:cs typeface="Helvetica"/>
              </a:rPr>
              <a:t>plots</a:t>
            </a:r>
            <a:endParaRPr lang="es-ES" sz="2400" dirty="0">
              <a:solidFill>
                <a:srgbClr val="785EF0"/>
              </a:solidFill>
              <a:latin typeface="Helvetica"/>
              <a:cs typeface="Helvetica"/>
            </a:endParaRPr>
          </a:p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FFB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51 </a:t>
            </a:r>
            <a:r>
              <a:rPr lang="es-ES" sz="2400" dirty="0" err="1">
                <a:solidFill>
                  <a:srgbClr val="FFB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sz="2400" dirty="0">
              <a:solidFill>
                <a:srgbClr val="FFB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DC267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17 </a:t>
            </a:r>
            <a:r>
              <a:rPr lang="es-ES" sz="2400" dirty="0" err="1">
                <a:solidFill>
                  <a:srgbClr val="DC267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sz="2400" dirty="0">
              <a:solidFill>
                <a:srgbClr val="DC267F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r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lvl="1" indent="0" algn="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5 targets  x  91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D84DF4-2490-EB95-168F-DB742423D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0EED7EC-8E57-6D07-021B-D020ECFE0CE8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7370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6FAEA-39D9-CE78-4D46-CC5CAC7C7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7326C9ED-643F-A6B7-434D-002D898ED626}"/>
              </a:ext>
            </a:extLst>
          </p:cNvPr>
          <p:cNvSpPr txBox="1">
            <a:spLocks/>
          </p:cNvSpPr>
          <p:nvPr/>
        </p:nvSpPr>
        <p:spPr>
          <a:xfrm>
            <a:off x="792364" y="1836789"/>
            <a:ext cx="5303636" cy="38288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Morphological</a:t>
            </a:r>
            <a:endParaRPr lang="es-ES" sz="2400" b="1" dirty="0">
              <a:latin typeface="Helvetica"/>
              <a:ea typeface="Calibri" panose="020F0502020204030204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growth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dendro</a:t>
            </a:r>
            <a:endParaRPr lang="es-ES" sz="2000" dirty="0">
              <a:latin typeface="Helvetica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traits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leaf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area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defoliation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endParaRPr lang="es-ES" sz="20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Physiological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Photosynthesis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spectrophotometry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relations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nutrients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C &amp; N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isotopes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isotopes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BD6A544-5F40-3D5E-66D4-7B99D847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3E09C6-91E8-1DC0-89E8-E73082808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7649084-6CBA-7A2D-F875-444EAE79B411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1525B887-CEB0-B06C-898B-E1F894B39932}"/>
              </a:ext>
            </a:extLst>
          </p:cNvPr>
          <p:cNvSpPr txBox="1">
            <a:spLocks/>
          </p:cNvSpPr>
          <p:nvPr/>
        </p:nvSpPr>
        <p:spPr>
          <a:xfrm>
            <a:off x="6301273" y="1836789"/>
            <a:ext cx="5303636" cy="495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We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have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way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too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many</a:t>
            </a:r>
            <a:r>
              <a:rPr lang="es-ES" sz="2400" b="1" dirty="0">
                <a:latin typeface="Helvetica"/>
                <a:cs typeface="Helvetica"/>
              </a:rPr>
              <a:t> variables!</a:t>
            </a:r>
          </a:p>
          <a:p>
            <a:pPr marL="0" indent="0" algn="ctr">
              <a:buClr>
                <a:srgbClr val="218317"/>
              </a:buClr>
              <a:buNone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9979CE87-9231-3F4C-545A-EF4ADAAA0ACE}"/>
              </a:ext>
            </a:extLst>
          </p:cNvPr>
          <p:cNvSpPr txBox="1">
            <a:spLocks/>
          </p:cNvSpPr>
          <p:nvPr/>
        </p:nvSpPr>
        <p:spPr>
          <a:xfrm>
            <a:off x="6301273" y="2670689"/>
            <a:ext cx="5303636" cy="271004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Variable </a:t>
            </a:r>
            <a:r>
              <a:rPr lang="es-ES" sz="2400" b="1" dirty="0" err="1">
                <a:latin typeface="Helvetica"/>
                <a:cs typeface="Helvetica"/>
              </a:rPr>
              <a:t>selection</a:t>
            </a:r>
            <a:r>
              <a:rPr lang="es-ES" sz="2400" b="1" dirty="0">
                <a:latin typeface="Helvetica"/>
                <a:cs typeface="Helvetica"/>
              </a:rPr>
              <a:t>:</a:t>
            </a: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 err="1">
                <a:latin typeface="Helvetica"/>
                <a:cs typeface="Helvetica"/>
              </a:rPr>
              <a:t>Bibliographic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revision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differenciate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between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inciting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factors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and responses</a:t>
            </a: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Correlogram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see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what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variables are 	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redundant</a:t>
            </a: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marL="0" indent="0" algn="just">
              <a:buClr>
                <a:srgbClr val="218317"/>
              </a:buClr>
              <a:buNone/>
            </a:pP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      Wilcoxon test 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select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what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       	variables show a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significant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difference</a:t>
            </a: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sz="20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sz="2000" b="1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Cerrar llave 10">
            <a:extLst>
              <a:ext uri="{FF2B5EF4-FFF2-40B4-BE49-F238E27FC236}">
                <a16:creationId xmlns:a16="http://schemas.microsoft.com/office/drawing/2014/main" id="{5086CF27-36BF-EF34-D789-41942CCBB32D}"/>
              </a:ext>
            </a:extLst>
          </p:cNvPr>
          <p:cNvSpPr/>
          <p:nvPr/>
        </p:nvSpPr>
        <p:spPr>
          <a:xfrm>
            <a:off x="5927497" y="1836789"/>
            <a:ext cx="271140" cy="3369693"/>
          </a:xfrm>
          <a:prstGeom prst="rightBrace">
            <a:avLst/>
          </a:prstGeom>
          <a:noFill/>
          <a:ln w="38100">
            <a:solidFill>
              <a:srgbClr val="2183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33859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B7DEA-18C0-7E70-0100-6D2B240D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5E2DDB8-80B8-532F-A330-AC9EAE826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423080-27E9-47A0-7D69-91B382223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E93ADEC-2EAE-FCB5-FEDA-2BA7ADF57666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2.- </a:t>
            </a:r>
            <a:r>
              <a:rPr lang="es-ES" sz="3200" b="1" dirty="0" err="1">
                <a:latin typeface="Helvetica"/>
                <a:cs typeface="Helvetica"/>
              </a:rPr>
              <a:t>Correlogram</a:t>
            </a:r>
            <a:r>
              <a:rPr lang="es-ES" sz="3200" b="1" dirty="0">
                <a:latin typeface="Helvetica"/>
                <a:cs typeface="Helvetica"/>
              </a:rPr>
              <a:t> &amp; p-</a:t>
            </a:r>
            <a:r>
              <a:rPr lang="es-ES" sz="3200" b="1" dirty="0" err="1">
                <a:latin typeface="Helvetica"/>
                <a:cs typeface="Helvetica"/>
              </a:rPr>
              <a:t>values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6F64AE07-A1AB-4337-F25A-AB4433D8E2FB}"/>
              </a:ext>
            </a:extLst>
          </p:cNvPr>
          <p:cNvSpPr txBox="1"/>
          <p:nvPr/>
        </p:nvSpPr>
        <p:spPr>
          <a:xfrm>
            <a:off x="-445422" y="1843534"/>
            <a:ext cx="709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Redundant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variables: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5581CC34-16F7-0132-77D5-E94156FFF00D}"/>
              </a:ext>
            </a:extLst>
          </p:cNvPr>
          <p:cNvSpPr txBox="1"/>
          <p:nvPr/>
        </p:nvSpPr>
        <p:spPr>
          <a:xfrm>
            <a:off x="-360669" y="2273676"/>
            <a:ext cx="7098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variables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should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choose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50DE1E9-94B2-E153-B20D-F07D79F56AD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D7C29A-C044-3616-0CD5-A5F7D5CB9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962" y="804155"/>
            <a:ext cx="6053845" cy="6053845"/>
          </a:xfrm>
          <a:prstGeom prst="rect">
            <a:avLst/>
          </a:prstGeom>
        </p:spPr>
      </p:pic>
      <p:sp>
        <p:nvSpPr>
          <p:cNvPr id="16" name="TextBox 2">
            <a:extLst>
              <a:ext uri="{FF2B5EF4-FFF2-40B4-BE49-F238E27FC236}">
                <a16:creationId xmlns:a16="http://schemas.microsoft.com/office/drawing/2014/main" id="{92AE25DE-EAE8-7A6A-2CE2-D21990375D8F}"/>
              </a:ext>
            </a:extLst>
          </p:cNvPr>
          <p:cNvSpPr txBox="1"/>
          <p:nvPr/>
        </p:nvSpPr>
        <p:spPr>
          <a:xfrm>
            <a:off x="815995" y="4079171"/>
            <a:ext cx="4775944" cy="64633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discard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variables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no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significant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928A7EF-07C1-FF3A-1101-95AC839255D3}"/>
              </a:ext>
            </a:extLst>
          </p:cNvPr>
          <p:cNvGrpSpPr/>
          <p:nvPr/>
        </p:nvGrpSpPr>
        <p:grpSpPr>
          <a:xfrm>
            <a:off x="1805253" y="5243901"/>
            <a:ext cx="2875680" cy="1152743"/>
            <a:chOff x="8825518" y="5542858"/>
            <a:chExt cx="2875680" cy="115274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EA6EE09-E5FC-2CF0-2721-E9ABB3DEACCF}"/>
                </a:ext>
              </a:extLst>
            </p:cNvPr>
            <p:cNvGrpSpPr/>
            <p:nvPr/>
          </p:nvGrpSpPr>
          <p:grpSpPr>
            <a:xfrm>
              <a:off x="8825518" y="5542858"/>
              <a:ext cx="2875680" cy="1152743"/>
              <a:chOff x="8825518" y="5542858"/>
              <a:chExt cx="2875680" cy="1152743"/>
            </a:xfrm>
          </p:grpSpPr>
          <p:pic>
            <p:nvPicPr>
              <p:cNvPr id="17" name="Graphic 16" descr="Fir tree">
                <a:extLst>
                  <a:ext uri="{FF2B5EF4-FFF2-40B4-BE49-F238E27FC236}">
                    <a16:creationId xmlns:a16="http://schemas.microsoft.com/office/drawing/2014/main" id="{EDE66FB3-A3BD-4FA1-11C9-C74734272C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18" name="Graphic 17" descr="Fir tree">
                <a:extLst>
                  <a:ext uri="{FF2B5EF4-FFF2-40B4-BE49-F238E27FC236}">
                    <a16:creationId xmlns:a16="http://schemas.microsoft.com/office/drawing/2014/main" id="{FD7AA39B-E942-B950-7646-966C0B7925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19" name="Graphic 18" descr="Fir tree">
                <a:extLst>
                  <a:ext uri="{FF2B5EF4-FFF2-40B4-BE49-F238E27FC236}">
                    <a16:creationId xmlns:a16="http://schemas.microsoft.com/office/drawing/2014/main" id="{58E0A56E-2472-7628-BD9F-4AD290413F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955921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20" name="CuadroTexto 18">
                <a:extLst>
                  <a:ext uri="{FF2B5EF4-FFF2-40B4-BE49-F238E27FC236}">
                    <a16:creationId xmlns:a16="http://schemas.microsoft.com/office/drawing/2014/main" id="{6E50275D-6136-7BCD-1BF4-E1314D53041E}"/>
                  </a:ext>
                </a:extLst>
              </p:cNvPr>
              <p:cNvSpPr txBox="1"/>
              <p:nvPr/>
            </p:nvSpPr>
            <p:spPr>
              <a:xfrm>
                <a:off x="8825518" y="6357047"/>
                <a:ext cx="10080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2274A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Non-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21" name="CuadroTexto 18">
                <a:extLst>
                  <a:ext uri="{FF2B5EF4-FFF2-40B4-BE49-F238E27FC236}">
                    <a16:creationId xmlns:a16="http://schemas.microsoft.com/office/drawing/2014/main" id="{3C89036B-8E1F-DAA7-609B-6E49687DBB88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22" name="CuadroTexto 18">
                <a:extLst>
                  <a:ext uri="{FF2B5EF4-FFF2-40B4-BE49-F238E27FC236}">
                    <a16:creationId xmlns:a16="http://schemas.microsoft.com/office/drawing/2014/main" id="{700B6CBE-90D9-53AA-6303-07C225437993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12" name="CuadroTexto 18">
              <a:extLst>
                <a:ext uri="{FF2B5EF4-FFF2-40B4-BE49-F238E27FC236}">
                  <a16:creationId xmlns:a16="http://schemas.microsoft.com/office/drawing/2014/main" id="{FE026E5B-4879-7F71-AD99-5EDE4A2C9BCA}"/>
                </a:ext>
              </a:extLst>
            </p:cNvPr>
            <p:cNvSpPr txBox="1"/>
            <p:nvPr/>
          </p:nvSpPr>
          <p:spPr>
            <a:xfrm>
              <a:off x="9402761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15" name="CuadroTexto 18">
              <a:extLst>
                <a:ext uri="{FF2B5EF4-FFF2-40B4-BE49-F238E27FC236}">
                  <a16:creationId xmlns:a16="http://schemas.microsoft.com/office/drawing/2014/main" id="{CA179DC9-C322-A153-80F9-0D8EEEFF65C8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sp>
        <p:nvSpPr>
          <p:cNvPr id="23" name="TextBox 16">
            <a:extLst>
              <a:ext uri="{FF2B5EF4-FFF2-40B4-BE49-F238E27FC236}">
                <a16:creationId xmlns:a16="http://schemas.microsoft.com/office/drawing/2014/main" id="{173F882E-1D7E-81C8-1C5A-FBDF6EF8991A}"/>
              </a:ext>
            </a:extLst>
          </p:cNvPr>
          <p:cNvSpPr txBox="1"/>
          <p:nvPr/>
        </p:nvSpPr>
        <p:spPr>
          <a:xfrm>
            <a:off x="810639" y="2960980"/>
            <a:ext cx="485419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b="1" dirty="0">
                <a:latin typeface="Helvetica"/>
                <a:cs typeface="Helvetica"/>
              </a:rPr>
              <a:t>Wilcoxon test + Bonferroni </a:t>
            </a:r>
            <a:r>
              <a:rPr lang="es-ES" sz="2400" b="1" dirty="0" err="1">
                <a:latin typeface="Helvetica"/>
                <a:cs typeface="Helvetica"/>
              </a:rPr>
              <a:t>correction</a:t>
            </a:r>
            <a:endParaRPr lang="es-ES" sz="2400" b="1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574052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B420A-5EA1-4BD5-1E86-284E148BA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B71D2C2-329D-1614-D7BA-900CB0D85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3EDC3F-2319-25FF-729B-9ED79FDAA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FF426EE-A749-CB91-7BC2-38EE4D00690F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BA265A50-62AC-32C1-C12C-CB7944D9F047}"/>
              </a:ext>
            </a:extLst>
          </p:cNvPr>
          <p:cNvSpPr txBox="1"/>
          <p:nvPr/>
        </p:nvSpPr>
        <p:spPr>
          <a:xfrm>
            <a:off x="-404782" y="2123114"/>
            <a:ext cx="7098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Vulnerability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 =/= 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response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Picture 2" descr="Original “death spiral” from Manion (1991) describing biotic ...">
            <a:extLst>
              <a:ext uri="{FF2B5EF4-FFF2-40B4-BE49-F238E27FC236}">
                <a16:creationId xmlns:a16="http://schemas.microsoft.com/office/drawing/2014/main" id="{F741D58A-197D-F17A-55D4-C64F6C233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055" y="1226789"/>
            <a:ext cx="3643597" cy="443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2">
            <a:extLst>
              <a:ext uri="{FF2B5EF4-FFF2-40B4-BE49-F238E27FC236}">
                <a16:creationId xmlns:a16="http://schemas.microsoft.com/office/drawing/2014/main" id="{97ABAC82-24D6-096A-4E15-993542F33694}"/>
              </a:ext>
            </a:extLst>
          </p:cNvPr>
          <p:cNvSpPr txBox="1"/>
          <p:nvPr/>
        </p:nvSpPr>
        <p:spPr>
          <a:xfrm>
            <a:off x="418288" y="2980082"/>
            <a:ext cx="3063789" cy="2308324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dbh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Hegyi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index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1980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Lloret’s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(2012, 2017, 2022)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Lloret’s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Rs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(2012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2017)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44CC615B-6F40-C44F-FAC1-D72344E83D23}"/>
              </a:ext>
            </a:extLst>
          </p:cNvPr>
          <p:cNvSpPr txBox="1"/>
          <p:nvPr/>
        </p:nvSpPr>
        <p:spPr>
          <a:xfrm>
            <a:off x="4621358" y="2980082"/>
            <a:ext cx="2601245" cy="3416320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carotenoids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Nutrients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(C,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C:N)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LWC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b="1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="1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Wood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05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10, 15, 20)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17A9AA7D-C3B1-BF3A-5647-D5290B2CC2D7}"/>
              </a:ext>
            </a:extLst>
          </p:cNvPr>
          <p:cNvSpPr txBox="1"/>
          <p:nvPr/>
        </p:nvSpPr>
        <p:spPr>
          <a:xfrm>
            <a:off x="3022441" y="3443114"/>
            <a:ext cx="1823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Helvetica" panose="020B0604020202020204" pitchFamily="34" charset="0"/>
                <a:cs typeface="Helvetica" panose="020B0604020202020204" pitchFamily="34" charset="0"/>
              </a:rPr>
              <a:t>=/=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6EA42909-0B40-A6FC-2F5B-F40B645C10CD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2.- </a:t>
            </a:r>
            <a:r>
              <a:rPr lang="es-ES" sz="3200" b="1" dirty="0" err="1">
                <a:latin typeface="Helvetica"/>
                <a:cs typeface="Helvetica"/>
              </a:rPr>
              <a:t>Correlogram</a:t>
            </a:r>
            <a:r>
              <a:rPr lang="es-ES" sz="3200" b="1" dirty="0">
                <a:latin typeface="Helvetica"/>
                <a:cs typeface="Helvetica"/>
              </a:rPr>
              <a:t> &amp; p-</a:t>
            </a:r>
            <a:r>
              <a:rPr lang="es-ES" sz="3200" b="1" dirty="0" err="1">
                <a:latin typeface="Helvetica"/>
                <a:cs typeface="Helvetica"/>
              </a:rPr>
              <a:t>values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783792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D6748-91EB-32A9-FBE0-C64F0CDC5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B4B61F5-3330-A8AA-38A9-466ACE9CC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EFBFB1-99D0-C676-8018-46FF79B5D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14CDFF00-B5C4-99C7-75FA-DBDC703114CD}"/>
              </a:ext>
            </a:extLst>
          </p:cNvPr>
          <p:cNvSpPr txBox="1">
            <a:spLocks/>
          </p:cNvSpPr>
          <p:nvPr/>
        </p:nvSpPr>
        <p:spPr>
          <a:xfrm>
            <a:off x="7298621" y="6296934"/>
            <a:ext cx="88037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>
                <a:latin typeface="Helvetica"/>
                <a:cs typeface="Helvetica"/>
              </a:rPr>
              <a:t>Fig. 2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5F2D9288-CD85-756C-D464-FE6CF8F50116}"/>
              </a:ext>
            </a:extLst>
          </p:cNvPr>
          <p:cNvSpPr txBox="1">
            <a:spLocks/>
          </p:cNvSpPr>
          <p:nvPr/>
        </p:nvSpPr>
        <p:spPr>
          <a:xfrm>
            <a:off x="623546" y="972273"/>
            <a:ext cx="7396421" cy="15489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 panose="020B0604020202020204"/>
                <a:cs typeface="Helvetica"/>
              </a:rPr>
              <a:t>. 1.-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the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predisposing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factors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determining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drought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susceptibility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their</a:t>
            </a:r>
            <a:r>
              <a:rPr lang="es-ES" sz="2400" dirty="0">
                <a:latin typeface="Helvetica"/>
                <a:cs typeface="Helvetica"/>
              </a:rPr>
              <a:t> relative </a:t>
            </a:r>
            <a:r>
              <a:rPr lang="es-ES" sz="2400" dirty="0" err="1">
                <a:latin typeface="Helvetica"/>
                <a:cs typeface="Helvetica"/>
              </a:rPr>
              <a:t>importance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across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species</a:t>
            </a:r>
            <a:r>
              <a:rPr lang="es-ES" sz="2400" dirty="0">
                <a:latin typeface="Helvetica"/>
                <a:cs typeface="Helvetica"/>
              </a:rPr>
              <a:t>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93EE323-DA89-CD22-DD27-394A73B7E917}"/>
              </a:ext>
            </a:extLst>
          </p:cNvPr>
          <p:cNvSpPr txBox="1"/>
          <p:nvPr/>
        </p:nvSpPr>
        <p:spPr>
          <a:xfrm>
            <a:off x="47147" y="2521266"/>
            <a:ext cx="58067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was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 pinea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arid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environments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lvl="1" algn="just">
              <a:buClr>
                <a:srgbClr val="218317"/>
              </a:buClr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Older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are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more vulnerable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are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more vulnerable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was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tres in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B41C7F-BF93-5631-76C6-04E9C219B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93"/>
          <a:stretch>
            <a:fillRect/>
          </a:stretch>
        </p:blipFill>
        <p:spPr>
          <a:xfrm>
            <a:off x="8179000" y="917805"/>
            <a:ext cx="3904140" cy="570229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3C92ADE-0D6C-A3A5-3243-1F96DC3274ED}"/>
              </a:ext>
            </a:extLst>
          </p:cNvPr>
          <p:cNvGrpSpPr/>
          <p:nvPr/>
        </p:nvGrpSpPr>
        <p:grpSpPr>
          <a:xfrm>
            <a:off x="3261193" y="5614420"/>
            <a:ext cx="1879972" cy="646331"/>
            <a:chOff x="8825518" y="5542858"/>
            <a:chExt cx="2875680" cy="115274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79C8E4A-015C-1319-3D31-A8B4BF44754D}"/>
                </a:ext>
              </a:extLst>
            </p:cNvPr>
            <p:cNvGrpSpPr/>
            <p:nvPr/>
          </p:nvGrpSpPr>
          <p:grpSpPr>
            <a:xfrm>
              <a:off x="8825518" y="5542858"/>
              <a:ext cx="2875680" cy="1152743"/>
              <a:chOff x="8825518" y="5542858"/>
              <a:chExt cx="2875680" cy="1152743"/>
            </a:xfrm>
          </p:grpSpPr>
          <p:pic>
            <p:nvPicPr>
              <p:cNvPr id="15" name="Graphic 14" descr="Fir tree">
                <a:extLst>
                  <a:ext uri="{FF2B5EF4-FFF2-40B4-BE49-F238E27FC236}">
                    <a16:creationId xmlns:a16="http://schemas.microsoft.com/office/drawing/2014/main" id="{7F170226-7622-6606-0B49-B9784E9469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16" name="Graphic 15" descr="Fir tree">
                <a:extLst>
                  <a:ext uri="{FF2B5EF4-FFF2-40B4-BE49-F238E27FC236}">
                    <a16:creationId xmlns:a16="http://schemas.microsoft.com/office/drawing/2014/main" id="{EFB38895-7F62-6803-C201-54CBE7E438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17" name="Graphic 16" descr="Fir tree">
                <a:extLst>
                  <a:ext uri="{FF2B5EF4-FFF2-40B4-BE49-F238E27FC236}">
                    <a16:creationId xmlns:a16="http://schemas.microsoft.com/office/drawing/2014/main" id="{EE2055FF-95A0-26C3-BEFC-E22326EE67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8955921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18" name="CuadroTexto 18">
                <a:extLst>
                  <a:ext uri="{FF2B5EF4-FFF2-40B4-BE49-F238E27FC236}">
                    <a16:creationId xmlns:a16="http://schemas.microsoft.com/office/drawing/2014/main" id="{FDC83DD0-23A6-BB2B-54AD-CB9D5B4CCA38}"/>
                  </a:ext>
                </a:extLst>
              </p:cNvPr>
              <p:cNvSpPr txBox="1"/>
              <p:nvPr/>
            </p:nvSpPr>
            <p:spPr>
              <a:xfrm>
                <a:off x="8825518" y="6357047"/>
                <a:ext cx="10080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2274A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Non-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5C3358EE-B1F1-F7E5-9662-B11DF1015F87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20" name="CuadroTexto 18">
                <a:extLst>
                  <a:ext uri="{FF2B5EF4-FFF2-40B4-BE49-F238E27FC236}">
                    <a16:creationId xmlns:a16="http://schemas.microsoft.com/office/drawing/2014/main" id="{0623C5E0-32EE-C4EE-3F75-B187FF5991DA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13" name="CuadroTexto 18">
              <a:extLst>
                <a:ext uri="{FF2B5EF4-FFF2-40B4-BE49-F238E27FC236}">
                  <a16:creationId xmlns:a16="http://schemas.microsoft.com/office/drawing/2014/main" id="{FAF8009F-7693-5B53-BCC5-4915AF04F402}"/>
                </a:ext>
              </a:extLst>
            </p:cNvPr>
            <p:cNvSpPr txBox="1"/>
            <p:nvPr/>
          </p:nvSpPr>
          <p:spPr>
            <a:xfrm>
              <a:off x="9402761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14" name="CuadroTexto 18">
              <a:extLst>
                <a:ext uri="{FF2B5EF4-FFF2-40B4-BE49-F238E27FC236}">
                  <a16:creationId xmlns:a16="http://schemas.microsoft.com/office/drawing/2014/main" id="{E750AAD3-478F-238F-BD35-9C94E5358295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sp>
        <p:nvSpPr>
          <p:cNvPr id="21" name="Título 1">
            <a:extLst>
              <a:ext uri="{FF2B5EF4-FFF2-40B4-BE49-F238E27FC236}">
                <a16:creationId xmlns:a16="http://schemas.microsoft.com/office/drawing/2014/main" id="{8F99B2C5-233B-B812-0926-1B8A1EE6D507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866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5337C-EB23-4E63-8A57-61FF4C5F7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489F3BD1-3978-72DC-E1DE-76766E177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B03FEEF-3E4D-FB87-E418-D6FD60455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6E93B925-F259-897E-6F9F-FA4FF4A7CF97}"/>
              </a:ext>
            </a:extLst>
          </p:cNvPr>
          <p:cNvSpPr txBox="1">
            <a:spLocks/>
          </p:cNvSpPr>
          <p:nvPr/>
        </p:nvSpPr>
        <p:spPr>
          <a:xfrm>
            <a:off x="7440071" y="2226817"/>
            <a:ext cx="88037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>
                <a:latin typeface="Helvetica"/>
                <a:cs typeface="Helvetica"/>
              </a:rPr>
              <a:t>Fig. 4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476BCF4A-EEC6-C18C-2740-0BB44D07621F}"/>
              </a:ext>
            </a:extLst>
          </p:cNvPr>
          <p:cNvSpPr txBox="1">
            <a:spLocks/>
          </p:cNvSpPr>
          <p:nvPr/>
        </p:nvSpPr>
        <p:spPr>
          <a:xfrm>
            <a:off x="623546" y="972273"/>
            <a:ext cx="10465002" cy="15489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 panose="020B0604020202020204"/>
                <a:cs typeface="Helvetica"/>
              </a:rPr>
              <a:t>. 2.-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characterize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tree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morphological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physiological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whole-plant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>
                <a:latin typeface="Helvetica"/>
                <a:cs typeface="Helvetica"/>
              </a:rPr>
              <a:t>responses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drought</a:t>
            </a:r>
            <a:r>
              <a:rPr lang="es-ES" sz="2400" dirty="0">
                <a:latin typeface="Helvetica"/>
                <a:cs typeface="Helvetica"/>
              </a:rPr>
              <a:t> at regional </a:t>
            </a:r>
            <a:r>
              <a:rPr lang="es-ES" sz="2400" dirty="0" err="1">
                <a:latin typeface="Helvetica"/>
                <a:cs typeface="Helvetica"/>
              </a:rPr>
              <a:t>level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across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species</a:t>
            </a:r>
            <a:r>
              <a:rPr lang="es-ES" sz="2400" dirty="0">
                <a:latin typeface="Helvetica"/>
                <a:cs typeface="Helvetica"/>
              </a:rPr>
              <a:t>.</a:t>
            </a: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9D52C4DF-02CE-15FE-18D1-1DA52DCD3DFD}"/>
              </a:ext>
            </a:extLst>
          </p:cNvPr>
          <p:cNvSpPr txBox="1"/>
          <p:nvPr/>
        </p:nvSpPr>
        <p:spPr>
          <a:xfrm>
            <a:off x="499487" y="3194372"/>
            <a:ext cx="52512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SLA 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no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differences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N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Abies</a:t>
            </a:r>
            <a:r>
              <a:rPr lang="es-ES"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 alba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F5B59F4-2D62-C5B1-E292-D3B545F0D491}"/>
              </a:ext>
            </a:extLst>
          </p:cNvPr>
          <p:cNvGrpSpPr/>
          <p:nvPr/>
        </p:nvGrpSpPr>
        <p:grpSpPr>
          <a:xfrm>
            <a:off x="6441233" y="2796699"/>
            <a:ext cx="4899784" cy="3552039"/>
            <a:chOff x="7048415" y="1999675"/>
            <a:chExt cx="3608357" cy="254014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A6EB5F-FE10-1DB0-4440-E2F75BE96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2250"/>
            <a:stretch>
              <a:fillRect/>
            </a:stretch>
          </p:blipFill>
          <p:spPr>
            <a:xfrm>
              <a:off x="7048415" y="1999675"/>
              <a:ext cx="3608357" cy="233649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7AFDBDD-0FBB-1C7D-21DC-6CF36800D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03" t="97405"/>
            <a:stretch>
              <a:fillRect/>
            </a:stretch>
          </p:blipFill>
          <p:spPr>
            <a:xfrm>
              <a:off x="7654702" y="4321350"/>
              <a:ext cx="3002070" cy="218467"/>
            </a:xfrm>
            <a:prstGeom prst="rect">
              <a:avLst/>
            </a:prstGeom>
          </p:spPr>
        </p:pic>
      </p:grpSp>
      <p:sp>
        <p:nvSpPr>
          <p:cNvPr id="13" name="Título 1">
            <a:extLst>
              <a:ext uri="{FF2B5EF4-FFF2-40B4-BE49-F238E27FC236}">
                <a16:creationId xmlns:a16="http://schemas.microsoft.com/office/drawing/2014/main" id="{258706DE-2373-052C-5FA4-DD4DF7877C37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43D38E4-8B9B-79D1-7B86-CF19CE8C4161}"/>
              </a:ext>
            </a:extLst>
          </p:cNvPr>
          <p:cNvGrpSpPr/>
          <p:nvPr/>
        </p:nvGrpSpPr>
        <p:grpSpPr>
          <a:xfrm>
            <a:off x="8957530" y="1858286"/>
            <a:ext cx="1754153" cy="571654"/>
            <a:chOff x="8825518" y="5542858"/>
            <a:chExt cx="2875680" cy="115274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B7C2120-CEFC-6EC8-BA91-F460DA4F0402}"/>
                </a:ext>
              </a:extLst>
            </p:cNvPr>
            <p:cNvGrpSpPr/>
            <p:nvPr/>
          </p:nvGrpSpPr>
          <p:grpSpPr>
            <a:xfrm>
              <a:off x="8825518" y="5542858"/>
              <a:ext cx="2875680" cy="1152743"/>
              <a:chOff x="8825518" y="5542858"/>
              <a:chExt cx="2875680" cy="1152743"/>
            </a:xfrm>
          </p:grpSpPr>
          <p:pic>
            <p:nvPicPr>
              <p:cNvPr id="16" name="Graphic 15" descr="Fir tree">
                <a:extLst>
                  <a:ext uri="{FF2B5EF4-FFF2-40B4-BE49-F238E27FC236}">
                    <a16:creationId xmlns:a16="http://schemas.microsoft.com/office/drawing/2014/main" id="{846B6479-D38F-8E15-08EF-61B0254D2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17" name="Graphic 16" descr="Fir tree">
                <a:extLst>
                  <a:ext uri="{FF2B5EF4-FFF2-40B4-BE49-F238E27FC236}">
                    <a16:creationId xmlns:a16="http://schemas.microsoft.com/office/drawing/2014/main" id="{30C5B8B9-65F3-C8B9-652B-43AF40E426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18" name="Graphic 17" descr="Fir tree">
                <a:extLst>
                  <a:ext uri="{FF2B5EF4-FFF2-40B4-BE49-F238E27FC236}">
                    <a16:creationId xmlns:a16="http://schemas.microsoft.com/office/drawing/2014/main" id="{6998C495-5D3F-A571-1278-1BAEB3E2CC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8955921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DCF3CC07-8717-2F25-DDCE-BAD9C10A0347}"/>
                  </a:ext>
                </a:extLst>
              </p:cNvPr>
              <p:cNvSpPr txBox="1"/>
              <p:nvPr/>
            </p:nvSpPr>
            <p:spPr>
              <a:xfrm>
                <a:off x="8825518" y="6357047"/>
                <a:ext cx="10080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2274A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Non-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20" name="CuadroTexto 18">
                <a:extLst>
                  <a:ext uri="{FF2B5EF4-FFF2-40B4-BE49-F238E27FC236}">
                    <a16:creationId xmlns:a16="http://schemas.microsoft.com/office/drawing/2014/main" id="{CF10EAA1-700E-CF72-EBFC-78883B419D94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21" name="CuadroTexto 18">
                <a:extLst>
                  <a:ext uri="{FF2B5EF4-FFF2-40B4-BE49-F238E27FC236}">
                    <a16:creationId xmlns:a16="http://schemas.microsoft.com/office/drawing/2014/main" id="{8B64E098-3BBF-F806-1534-C4075501417C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14" name="CuadroTexto 18">
              <a:extLst>
                <a:ext uri="{FF2B5EF4-FFF2-40B4-BE49-F238E27FC236}">
                  <a16:creationId xmlns:a16="http://schemas.microsoft.com/office/drawing/2014/main" id="{F87B04D6-CAD3-774B-A697-6A8D19420F70}"/>
                </a:ext>
              </a:extLst>
            </p:cNvPr>
            <p:cNvSpPr txBox="1"/>
            <p:nvPr/>
          </p:nvSpPr>
          <p:spPr>
            <a:xfrm>
              <a:off x="9402761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15" name="CuadroTexto 18">
              <a:extLst>
                <a:ext uri="{FF2B5EF4-FFF2-40B4-BE49-F238E27FC236}">
                  <a16:creationId xmlns:a16="http://schemas.microsoft.com/office/drawing/2014/main" id="{E5861DEC-4EB1-52C6-52EE-D0B316EEBE78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9D93716E-B52C-9F66-5622-038275CC1866}"/>
              </a:ext>
            </a:extLst>
          </p:cNvPr>
          <p:cNvSpPr txBox="1">
            <a:spLocks/>
          </p:cNvSpPr>
          <p:nvPr/>
        </p:nvSpPr>
        <p:spPr>
          <a:xfrm>
            <a:off x="623546" y="2660584"/>
            <a:ext cx="2784814" cy="4990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Morphological</a:t>
            </a:r>
            <a:endParaRPr lang="es-ES" sz="24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0171034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15C4C-8045-EAFD-7FCE-DB316AD8F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A9BE87B-4D99-9662-E0C2-34098BF3E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8C1FA0C-41C0-DCBF-44AE-124112447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E5252AD0-8C74-D048-8916-DF905A562ECA}"/>
              </a:ext>
            </a:extLst>
          </p:cNvPr>
          <p:cNvSpPr txBox="1">
            <a:spLocks/>
          </p:cNvSpPr>
          <p:nvPr/>
        </p:nvSpPr>
        <p:spPr>
          <a:xfrm>
            <a:off x="6534218" y="5672841"/>
            <a:ext cx="88037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>
                <a:latin typeface="Helvetica"/>
                <a:cs typeface="Helvetica"/>
              </a:rPr>
              <a:t>Fig. 4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125F4B4E-CC6D-E330-93B6-9CD823970B92}"/>
              </a:ext>
            </a:extLst>
          </p:cNvPr>
          <p:cNvSpPr txBox="1">
            <a:spLocks/>
          </p:cNvSpPr>
          <p:nvPr/>
        </p:nvSpPr>
        <p:spPr>
          <a:xfrm>
            <a:off x="623546" y="972273"/>
            <a:ext cx="10465002" cy="15489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 panose="020B0604020202020204"/>
                <a:cs typeface="Helvetica"/>
              </a:rPr>
              <a:t>. 2.-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characterize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tree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morphological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physiological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whole-plant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>
                <a:latin typeface="Helvetica"/>
                <a:cs typeface="Helvetica"/>
              </a:rPr>
              <a:t>responses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drought</a:t>
            </a:r>
            <a:r>
              <a:rPr lang="es-ES" sz="2400" dirty="0">
                <a:latin typeface="Helvetica"/>
                <a:cs typeface="Helvetica"/>
              </a:rPr>
              <a:t> at regional </a:t>
            </a:r>
            <a:r>
              <a:rPr lang="es-ES" sz="2400" dirty="0" err="1">
                <a:latin typeface="Helvetica"/>
                <a:cs typeface="Helvetica"/>
              </a:rPr>
              <a:t>level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across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species</a:t>
            </a:r>
            <a:r>
              <a:rPr lang="es-ES" sz="2400" dirty="0">
                <a:latin typeface="Helvetica"/>
                <a:cs typeface="Helvetica"/>
              </a:rPr>
              <a:t>.</a:t>
            </a: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75DADB12-C7B0-4384-F726-422E66F5B81A}"/>
              </a:ext>
            </a:extLst>
          </p:cNvPr>
          <p:cNvSpPr txBox="1"/>
          <p:nvPr/>
        </p:nvSpPr>
        <p:spPr>
          <a:xfrm>
            <a:off x="499487" y="3194372"/>
            <a:ext cx="603473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LWC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in </a:t>
            </a:r>
            <a:r>
              <a:rPr lang="es-ES" sz="20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Abies</a:t>
            </a:r>
            <a:r>
              <a:rPr lang="es-ES"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 alba &amp; P. </a:t>
            </a:r>
            <a:r>
              <a:rPr lang="es-ES" sz="20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in </a:t>
            </a:r>
            <a:r>
              <a:rPr lang="es-ES" sz="20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 pinea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b="1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↑</a:t>
            </a:r>
            <a:r>
              <a:rPr lang="el-GR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="1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47F7C48-ADC7-2713-BFF8-9EB1E31BD5DF}"/>
              </a:ext>
            </a:extLst>
          </p:cNvPr>
          <p:cNvGrpSpPr/>
          <p:nvPr/>
        </p:nvGrpSpPr>
        <p:grpSpPr>
          <a:xfrm>
            <a:off x="7414597" y="1800427"/>
            <a:ext cx="4452282" cy="4458263"/>
            <a:chOff x="8834694" y="2213469"/>
            <a:chExt cx="3108515" cy="318820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7C70CF0-12DB-9232-9C5E-4EAF5E5A0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053" b="30463"/>
            <a:stretch>
              <a:fillRect/>
            </a:stretch>
          </p:blipFill>
          <p:spPr>
            <a:xfrm>
              <a:off x="8834694" y="2213469"/>
              <a:ext cx="3054895" cy="29571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1FB1DD9-0E59-1BD4-CEFB-65F787642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03" t="97405"/>
            <a:stretch>
              <a:fillRect/>
            </a:stretch>
          </p:blipFill>
          <p:spPr>
            <a:xfrm>
              <a:off x="9310750" y="5210101"/>
              <a:ext cx="2632459" cy="191570"/>
            </a:xfrm>
            <a:prstGeom prst="rect">
              <a:avLst/>
            </a:prstGeom>
          </p:spPr>
        </p:pic>
      </p:grpSp>
      <p:sp>
        <p:nvSpPr>
          <p:cNvPr id="13" name="Título 1">
            <a:extLst>
              <a:ext uri="{FF2B5EF4-FFF2-40B4-BE49-F238E27FC236}">
                <a16:creationId xmlns:a16="http://schemas.microsoft.com/office/drawing/2014/main" id="{86D286D6-F378-F891-7BF4-7E80CCAE186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241D6833-0D3D-129D-3BA4-31E67CC06C1A}"/>
              </a:ext>
            </a:extLst>
          </p:cNvPr>
          <p:cNvSpPr txBox="1">
            <a:spLocks/>
          </p:cNvSpPr>
          <p:nvPr/>
        </p:nvSpPr>
        <p:spPr>
          <a:xfrm>
            <a:off x="623546" y="2660584"/>
            <a:ext cx="2784814" cy="4990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Physiological</a:t>
            </a:r>
            <a:endParaRPr lang="es-ES" sz="24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6072137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1D705-2E82-A006-FDF1-607DDC76B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B4DF4755-636D-B22A-F4BC-6FA7A11EB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E64B9F-0B64-2BC1-7239-225E202CA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17F0CC3F-9883-E7BF-4D34-720E1BC265EC}"/>
              </a:ext>
            </a:extLst>
          </p:cNvPr>
          <p:cNvSpPr txBox="1">
            <a:spLocks/>
          </p:cNvSpPr>
          <p:nvPr/>
        </p:nvSpPr>
        <p:spPr>
          <a:xfrm>
            <a:off x="7440071" y="2226817"/>
            <a:ext cx="88037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>
                <a:latin typeface="Helvetica"/>
                <a:cs typeface="Helvetica"/>
              </a:rPr>
              <a:t>Fig. 4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967DEBC9-72AD-DC35-2CF6-6720DE7A9432}"/>
              </a:ext>
            </a:extLst>
          </p:cNvPr>
          <p:cNvSpPr txBox="1">
            <a:spLocks/>
          </p:cNvSpPr>
          <p:nvPr/>
        </p:nvSpPr>
        <p:spPr>
          <a:xfrm>
            <a:off x="623546" y="972273"/>
            <a:ext cx="10465002" cy="15489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 panose="020B0604020202020204"/>
                <a:cs typeface="Helvetica"/>
              </a:rPr>
              <a:t>. 2.-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characterize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tree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morphological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physiological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whole-plant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>
                <a:latin typeface="Helvetica"/>
                <a:cs typeface="Helvetica"/>
              </a:rPr>
              <a:t>responses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drought</a:t>
            </a:r>
            <a:r>
              <a:rPr lang="es-ES" sz="2400" dirty="0">
                <a:latin typeface="Helvetica"/>
                <a:cs typeface="Helvetica"/>
              </a:rPr>
              <a:t> at regional </a:t>
            </a:r>
            <a:r>
              <a:rPr lang="es-ES" sz="2400" dirty="0" err="1">
                <a:latin typeface="Helvetica"/>
                <a:cs typeface="Helvetica"/>
              </a:rPr>
              <a:t>level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across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species</a:t>
            </a:r>
            <a:r>
              <a:rPr lang="es-ES" sz="2400" dirty="0">
                <a:latin typeface="Helvetica"/>
                <a:cs typeface="Helvetica"/>
              </a:rPr>
              <a:t>.</a:t>
            </a: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0A91D23A-2A78-566E-F503-A6BC8F580878}"/>
              </a:ext>
            </a:extLst>
          </p:cNvPr>
          <p:cNvSpPr txBox="1"/>
          <p:nvPr/>
        </p:nvSpPr>
        <p:spPr>
          <a:xfrm>
            <a:off x="499487" y="3194372"/>
            <a:ext cx="52512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↓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Growth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Defoliation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88FEF8-4CC5-DD31-9952-9118A84C672E}"/>
              </a:ext>
            </a:extLst>
          </p:cNvPr>
          <p:cNvGrpSpPr/>
          <p:nvPr/>
        </p:nvGrpSpPr>
        <p:grpSpPr>
          <a:xfrm>
            <a:off x="6441233" y="2796699"/>
            <a:ext cx="4899784" cy="3552039"/>
            <a:chOff x="7048415" y="1999675"/>
            <a:chExt cx="3608357" cy="254014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740B28A-969B-0548-B569-4E5661A8C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0338" b="1912"/>
            <a:stretch>
              <a:fillRect/>
            </a:stretch>
          </p:blipFill>
          <p:spPr>
            <a:xfrm>
              <a:off x="7048415" y="1999675"/>
              <a:ext cx="3608357" cy="233649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4AACA2A-3C88-279D-222D-6B81D54D70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03" t="97405"/>
            <a:stretch>
              <a:fillRect/>
            </a:stretch>
          </p:blipFill>
          <p:spPr>
            <a:xfrm>
              <a:off x="7654702" y="4321350"/>
              <a:ext cx="3002070" cy="218467"/>
            </a:xfrm>
            <a:prstGeom prst="rect">
              <a:avLst/>
            </a:prstGeom>
          </p:spPr>
        </p:pic>
      </p:grpSp>
      <p:sp>
        <p:nvSpPr>
          <p:cNvPr id="13" name="Título 1">
            <a:extLst>
              <a:ext uri="{FF2B5EF4-FFF2-40B4-BE49-F238E27FC236}">
                <a16:creationId xmlns:a16="http://schemas.microsoft.com/office/drawing/2014/main" id="{3C9AE607-238C-D28F-B361-61D728E44FEC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B3448C7-71AE-3157-A6DE-EEC07B2B1946}"/>
              </a:ext>
            </a:extLst>
          </p:cNvPr>
          <p:cNvGrpSpPr/>
          <p:nvPr/>
        </p:nvGrpSpPr>
        <p:grpSpPr>
          <a:xfrm>
            <a:off x="8957530" y="1858286"/>
            <a:ext cx="1754153" cy="571654"/>
            <a:chOff x="8825518" y="5542858"/>
            <a:chExt cx="2875680" cy="115274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8770A39-8B51-207F-E4FF-670A4E76242B}"/>
                </a:ext>
              </a:extLst>
            </p:cNvPr>
            <p:cNvGrpSpPr/>
            <p:nvPr/>
          </p:nvGrpSpPr>
          <p:grpSpPr>
            <a:xfrm>
              <a:off x="8825518" y="5542858"/>
              <a:ext cx="2875680" cy="1152743"/>
              <a:chOff x="8825518" y="5542858"/>
              <a:chExt cx="2875680" cy="1152743"/>
            </a:xfrm>
          </p:grpSpPr>
          <p:pic>
            <p:nvPicPr>
              <p:cNvPr id="16" name="Graphic 15" descr="Fir tree">
                <a:extLst>
                  <a:ext uri="{FF2B5EF4-FFF2-40B4-BE49-F238E27FC236}">
                    <a16:creationId xmlns:a16="http://schemas.microsoft.com/office/drawing/2014/main" id="{E265A8DB-8F84-C216-C9A6-C85C6A2A96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17" name="Graphic 16" descr="Fir tree">
                <a:extLst>
                  <a:ext uri="{FF2B5EF4-FFF2-40B4-BE49-F238E27FC236}">
                    <a16:creationId xmlns:a16="http://schemas.microsoft.com/office/drawing/2014/main" id="{63B44B6E-72F0-F401-6974-BA2599EDA2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18" name="Graphic 17" descr="Fir tree">
                <a:extLst>
                  <a:ext uri="{FF2B5EF4-FFF2-40B4-BE49-F238E27FC236}">
                    <a16:creationId xmlns:a16="http://schemas.microsoft.com/office/drawing/2014/main" id="{0AC0186A-A622-A19E-DF26-F28D025CE8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8955921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0AF51AC3-A1D2-93E9-FB47-5D91D8BA0B33}"/>
                  </a:ext>
                </a:extLst>
              </p:cNvPr>
              <p:cNvSpPr txBox="1"/>
              <p:nvPr/>
            </p:nvSpPr>
            <p:spPr>
              <a:xfrm>
                <a:off x="8825518" y="6357047"/>
                <a:ext cx="10080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2274A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Non-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20" name="CuadroTexto 18">
                <a:extLst>
                  <a:ext uri="{FF2B5EF4-FFF2-40B4-BE49-F238E27FC236}">
                    <a16:creationId xmlns:a16="http://schemas.microsoft.com/office/drawing/2014/main" id="{43806F0A-1C67-A779-8266-CBFA69C3101D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21" name="CuadroTexto 18">
                <a:extLst>
                  <a:ext uri="{FF2B5EF4-FFF2-40B4-BE49-F238E27FC236}">
                    <a16:creationId xmlns:a16="http://schemas.microsoft.com/office/drawing/2014/main" id="{883DC69A-46A0-5E6D-24AD-6C4A8903F9A3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14" name="CuadroTexto 18">
              <a:extLst>
                <a:ext uri="{FF2B5EF4-FFF2-40B4-BE49-F238E27FC236}">
                  <a16:creationId xmlns:a16="http://schemas.microsoft.com/office/drawing/2014/main" id="{71618A57-9C66-4D5E-6CB4-8428BA8D6763}"/>
                </a:ext>
              </a:extLst>
            </p:cNvPr>
            <p:cNvSpPr txBox="1"/>
            <p:nvPr/>
          </p:nvSpPr>
          <p:spPr>
            <a:xfrm>
              <a:off x="9402761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15" name="CuadroTexto 18">
              <a:extLst>
                <a:ext uri="{FF2B5EF4-FFF2-40B4-BE49-F238E27FC236}">
                  <a16:creationId xmlns:a16="http://schemas.microsoft.com/office/drawing/2014/main" id="{4A8E6E25-C198-F71F-9E41-119FD06F61BF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99B4B2E4-3099-0CB9-1594-9DA1C60B9C51}"/>
              </a:ext>
            </a:extLst>
          </p:cNvPr>
          <p:cNvSpPr txBox="1">
            <a:spLocks/>
          </p:cNvSpPr>
          <p:nvPr/>
        </p:nvSpPr>
        <p:spPr>
          <a:xfrm>
            <a:off x="623546" y="2660584"/>
            <a:ext cx="2784814" cy="4990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Whole-plant</a:t>
            </a:r>
            <a:endParaRPr lang="es-ES" sz="24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4714026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09BC8-A803-6BAC-F668-5D94D6E82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77F85A7-1F17-3A54-BDA6-0E0C54985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53240D-5765-7DCE-9786-A5A246946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1F238245-1957-06C9-F589-5B66927EED71}"/>
              </a:ext>
            </a:extLst>
          </p:cNvPr>
          <p:cNvSpPr txBox="1">
            <a:spLocks/>
          </p:cNvSpPr>
          <p:nvPr/>
        </p:nvSpPr>
        <p:spPr>
          <a:xfrm>
            <a:off x="4126560" y="6211669"/>
            <a:ext cx="88037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>
                <a:latin typeface="Helvetica"/>
                <a:cs typeface="Helvetica"/>
              </a:rPr>
              <a:t>Fig. 5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F1FB67B6-FA0F-C59E-F249-3F674E59B610}"/>
              </a:ext>
            </a:extLst>
          </p:cNvPr>
          <p:cNvSpPr txBox="1">
            <a:spLocks/>
          </p:cNvSpPr>
          <p:nvPr/>
        </p:nvSpPr>
        <p:spPr>
          <a:xfrm>
            <a:off x="633459" y="1028714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2.-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characterize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tree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morphological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physiological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whole-plant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>
                <a:latin typeface="Helvetica"/>
                <a:cs typeface="Helvetica"/>
              </a:rPr>
              <a:t>responses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drought</a:t>
            </a:r>
            <a:r>
              <a:rPr lang="es-ES" sz="2400" dirty="0">
                <a:latin typeface="Helvetica"/>
                <a:cs typeface="Helvetica"/>
              </a:rPr>
              <a:t> at regional </a:t>
            </a:r>
            <a:r>
              <a:rPr lang="es-ES" sz="2400" dirty="0" err="1">
                <a:latin typeface="Helvetica"/>
                <a:cs typeface="Helvetica"/>
              </a:rPr>
              <a:t>level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across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species</a:t>
            </a:r>
            <a:r>
              <a:rPr lang="es-ES" sz="2400" dirty="0">
                <a:latin typeface="Helvetica"/>
                <a:cs typeface="Helvetica"/>
              </a:rPr>
              <a:t>.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DBF7742C-0035-3B84-E4A4-2F4E6B3F34B1}"/>
              </a:ext>
            </a:extLst>
          </p:cNvPr>
          <p:cNvSpPr txBox="1"/>
          <p:nvPr/>
        </p:nvSpPr>
        <p:spPr>
          <a:xfrm>
            <a:off x="6095997" y="2455095"/>
            <a:ext cx="485419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i="1" dirty="0" err="1">
                <a:latin typeface="Helvetica"/>
                <a:cs typeface="Helvetica"/>
              </a:rPr>
              <a:t>LogRR</a:t>
            </a:r>
            <a:r>
              <a:rPr lang="es-ES" sz="2400" i="1" dirty="0">
                <a:latin typeface="Helvetica"/>
                <a:cs typeface="Helvetica"/>
              </a:rPr>
              <a:t> = log(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damaged</a:t>
            </a:r>
            <a:r>
              <a:rPr lang="es-ES" sz="2400" i="1" dirty="0">
                <a:latin typeface="Helvetica"/>
                <a:cs typeface="Helvetica"/>
              </a:rPr>
              <a:t> / 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healthy</a:t>
            </a:r>
            <a:r>
              <a:rPr lang="es-ES" sz="2400" i="1" dirty="0">
                <a:latin typeface="Helvetica"/>
                <a:cs typeface="Helvetica"/>
              </a:rPr>
              <a:t>)</a:t>
            </a: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D4A4977B-A7DD-5A63-0387-0E7370868A5F}"/>
              </a:ext>
            </a:extLst>
          </p:cNvPr>
          <p:cNvSpPr txBox="1"/>
          <p:nvPr/>
        </p:nvSpPr>
        <p:spPr>
          <a:xfrm>
            <a:off x="4845451" y="3429000"/>
            <a:ext cx="67553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Short-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term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reduction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was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most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prominent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response in </a:t>
            </a:r>
            <a:r>
              <a:rPr lang="es-ES" sz="20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SLA, 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had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relatively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RR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RR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were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r>
              <a:rPr lang="es-ES"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Abies</a:t>
            </a:r>
            <a:r>
              <a:rPr lang="es-ES"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 alba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and </a:t>
            </a:r>
            <a:r>
              <a:rPr lang="es-ES" sz="20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 pinea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BE501E8-DE02-C117-CE26-9A3DD071C6F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15D1F6-41BB-6964-EC20-0B98803C79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48" y="1821448"/>
            <a:ext cx="3230685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714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467C7-471F-72AF-F868-00AD459E6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22BCE5F-76C5-86E6-2FCF-E5E21B43C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F7BA5C-8BFB-98C8-45C9-CC0BF132D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69EB39DA-EF98-0D79-3B4C-E32EE43717D9}"/>
              </a:ext>
            </a:extLst>
          </p:cNvPr>
          <p:cNvSpPr txBox="1">
            <a:spLocks/>
          </p:cNvSpPr>
          <p:nvPr/>
        </p:nvSpPr>
        <p:spPr>
          <a:xfrm>
            <a:off x="633459" y="1028714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3.-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the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convergence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of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traits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the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coordination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between</a:t>
            </a:r>
            <a:r>
              <a:rPr lang="es-ES" sz="2400" dirty="0">
                <a:latin typeface="Helvetica"/>
                <a:cs typeface="Helvetica"/>
              </a:rPr>
              <a:t> responses in </a:t>
            </a:r>
            <a:r>
              <a:rPr lang="es-ES" sz="2400" dirty="0" err="1">
                <a:latin typeface="Helvetica"/>
                <a:cs typeface="Helvetica"/>
              </a:rPr>
              <a:t>healthy</a:t>
            </a:r>
            <a:r>
              <a:rPr lang="es-ES" sz="2400" dirty="0">
                <a:latin typeface="Helvetica"/>
                <a:cs typeface="Helvetica"/>
              </a:rPr>
              <a:t> vs. </a:t>
            </a:r>
            <a:r>
              <a:rPr lang="es-ES" sz="2400" dirty="0" err="1">
                <a:latin typeface="Helvetica"/>
                <a:cs typeface="Helvetica"/>
              </a:rPr>
              <a:t>damaged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trees</a:t>
            </a:r>
            <a:r>
              <a:rPr lang="es-ES" sz="2400" dirty="0">
                <a:latin typeface="Helvetica"/>
                <a:cs typeface="Helvetica"/>
              </a:rPr>
              <a:t>.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21A14AF5-9E63-BC1F-24B7-818AB1D96E03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9B9D28-B407-B999-C10F-7EDF1FAFE7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59" y="1727718"/>
            <a:ext cx="5036976" cy="5036976"/>
          </a:xfrm>
          <a:prstGeom prst="rect">
            <a:avLst/>
          </a:prstGeom>
        </p:spPr>
      </p:pic>
      <p:sp>
        <p:nvSpPr>
          <p:cNvPr id="8" name="CuadroTexto 10">
            <a:extLst>
              <a:ext uri="{FF2B5EF4-FFF2-40B4-BE49-F238E27FC236}">
                <a16:creationId xmlns:a16="http://schemas.microsoft.com/office/drawing/2014/main" id="{01A67D78-F4DC-D873-71E2-69365C9AA66E}"/>
              </a:ext>
            </a:extLst>
          </p:cNvPr>
          <p:cNvSpPr txBox="1"/>
          <p:nvPr/>
        </p:nvSpPr>
        <p:spPr>
          <a:xfrm>
            <a:off x="6313205" y="2572141"/>
            <a:ext cx="67553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buClr>
                <a:srgbClr val="218317"/>
              </a:buClr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  <a:p>
            <a:pPr marL="800100" lvl="1" indent="-34290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↑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800100" lvl="1" indent="-34290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↓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growth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, Rs12, LWC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16705CD-5A33-B59D-F0AE-69FF6675A1F4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4450702" y="2892490"/>
            <a:ext cx="1862503" cy="187483"/>
          </a:xfrm>
          <a:prstGeom prst="straightConnector1">
            <a:avLst/>
          </a:prstGeom>
          <a:ln w="57150">
            <a:solidFill>
              <a:srgbClr val="6503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73434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19390-F806-3EC9-ADB9-C5412A738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2EECC24-4A42-C0D9-5C03-D96274024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D5CA8BC-AFEE-A19A-EF07-2B8AB4B4E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36F14583-88B1-3C4C-FE68-EA26C70E658C}"/>
              </a:ext>
            </a:extLst>
          </p:cNvPr>
          <p:cNvSpPr txBox="1">
            <a:spLocks/>
          </p:cNvSpPr>
          <p:nvPr/>
        </p:nvSpPr>
        <p:spPr>
          <a:xfrm>
            <a:off x="633459" y="1028714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3.-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the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convergence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of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traits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the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coordination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between</a:t>
            </a:r>
            <a:r>
              <a:rPr lang="es-ES" sz="2400" dirty="0">
                <a:latin typeface="Helvetica"/>
                <a:cs typeface="Helvetica"/>
              </a:rPr>
              <a:t> responses in </a:t>
            </a:r>
            <a:r>
              <a:rPr lang="es-ES" sz="2400" dirty="0" err="1">
                <a:latin typeface="Helvetica"/>
                <a:cs typeface="Helvetica"/>
              </a:rPr>
              <a:t>healthy</a:t>
            </a:r>
            <a:r>
              <a:rPr lang="es-ES" sz="2400" dirty="0">
                <a:latin typeface="Helvetica"/>
                <a:cs typeface="Helvetica"/>
              </a:rPr>
              <a:t> vs. </a:t>
            </a:r>
            <a:r>
              <a:rPr lang="es-ES" sz="2400" dirty="0" err="1">
                <a:latin typeface="Helvetica"/>
                <a:cs typeface="Helvetica"/>
              </a:rPr>
              <a:t>damaged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trees</a:t>
            </a:r>
            <a:r>
              <a:rPr lang="es-ES" sz="2400" dirty="0">
                <a:latin typeface="Helvetica"/>
                <a:cs typeface="Helvetica"/>
              </a:rPr>
              <a:t>.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3B316DB7-5AA7-98CF-D7FD-93E4E7576D97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9ACA59-AAE9-8045-3D78-7914D9A49F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58" y="1758439"/>
            <a:ext cx="5036977" cy="5036977"/>
          </a:xfrm>
          <a:prstGeom prst="rect">
            <a:avLst/>
          </a:prstGeom>
        </p:spPr>
      </p:pic>
      <p:sp>
        <p:nvSpPr>
          <p:cNvPr id="21" name="CuadroTexto 10">
            <a:extLst>
              <a:ext uri="{FF2B5EF4-FFF2-40B4-BE49-F238E27FC236}">
                <a16:creationId xmlns:a16="http://schemas.microsoft.com/office/drawing/2014/main" id="{263723C0-D07E-C6C2-7A12-CEE949A15A28}"/>
              </a:ext>
            </a:extLst>
          </p:cNvPr>
          <p:cNvSpPr txBox="1"/>
          <p:nvPr/>
        </p:nvSpPr>
        <p:spPr>
          <a:xfrm>
            <a:off x="5115703" y="2369991"/>
            <a:ext cx="67553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Abies</a:t>
            </a:r>
            <a:r>
              <a:rPr lang="es-ES" sz="20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 alba 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ES" sz="2000" b="1" i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↑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Chl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&amp; N, ↓</a:t>
            </a:r>
            <a:r>
              <a:rPr lang="el-GR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="1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more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acquisitive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strategy</a:t>
            </a:r>
            <a:endParaRPr lang="es-ES" sz="20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A31F4467-4DC7-E334-D6BA-AE82CF342841}"/>
              </a:ext>
            </a:extLst>
          </p:cNvPr>
          <p:cNvSpPr txBox="1"/>
          <p:nvPr/>
        </p:nvSpPr>
        <p:spPr>
          <a:xfrm>
            <a:off x="5115703" y="3475828"/>
            <a:ext cx="67553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0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r>
              <a:rPr lang="es-ES" sz="20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↑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C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Abies</a:t>
            </a:r>
            <a:r>
              <a:rPr lang="es-ES"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 alba, 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↓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  <a:endParaRPr lang="es-ES" sz="2000" b="1" i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CuadroTexto 10">
            <a:extLst>
              <a:ext uri="{FF2B5EF4-FFF2-40B4-BE49-F238E27FC236}">
                <a16:creationId xmlns:a16="http://schemas.microsoft.com/office/drawing/2014/main" id="{425732C5-566D-FE43-BB29-68A3D483DA7B}"/>
              </a:ext>
            </a:extLst>
          </p:cNvPr>
          <p:cNvSpPr txBox="1"/>
          <p:nvPr/>
        </p:nvSpPr>
        <p:spPr>
          <a:xfrm>
            <a:off x="5236789" y="4581665"/>
            <a:ext cx="67553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0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 pinea 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ES" sz="2000" b="1" i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↑ </a:t>
            </a:r>
            <a:r>
              <a:rPr lang="el-GR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="1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 &amp;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↓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. &amp; 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more conservative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strategy</a:t>
            </a:r>
            <a:endParaRPr lang="es-ES" sz="20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3356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98CAA-7B73-8A37-6716-C48ABCAA6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C7867981-5F76-23DC-E606-5CDED27EE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08ADC9-7EBB-50F1-1929-F5909017E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BA85501-43CA-EFCD-123C-307D807A6467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7F8412-D90C-5294-E6D4-AB5BBAEA6D55}"/>
              </a:ext>
            </a:extLst>
          </p:cNvPr>
          <p:cNvSpPr/>
          <p:nvPr/>
        </p:nvSpPr>
        <p:spPr>
          <a:xfrm>
            <a:off x="2823881" y="1947643"/>
            <a:ext cx="6106110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Helvetica" panose="020B0604020202020204"/>
                <a:cs typeface="Helvetica" panose="020B0604020202020204"/>
              </a:rPr>
              <a:t>SPEI, TEMP.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AF0A82-E298-C6BA-D660-6A75F845B2F1}"/>
              </a:ext>
            </a:extLst>
          </p:cNvPr>
          <p:cNvSpPr/>
          <p:nvPr/>
        </p:nvSpPr>
        <p:spPr>
          <a:xfrm>
            <a:off x="5411438" y="3316958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b="1" dirty="0">
                <a:latin typeface="Helvetica" panose="020B0604020202020204"/>
                <a:cs typeface="Helvetica" panose="020B0604020202020204"/>
              </a:rPr>
              <a:t>δ</a:t>
            </a:r>
            <a:r>
              <a:rPr lang="es-ES" b="1" baseline="30000" dirty="0">
                <a:latin typeface="Helvetica" panose="020B0604020202020204"/>
                <a:cs typeface="Helvetica" panose="020B0604020202020204"/>
              </a:rPr>
              <a:t>13</a:t>
            </a:r>
            <a:r>
              <a:rPr lang="es-ES" b="1" dirty="0">
                <a:latin typeface="Helvetica" panose="020B0604020202020204"/>
                <a:cs typeface="Helvetica" panose="020B0604020202020204"/>
              </a:rPr>
              <a:t>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641A9A-AB93-703A-3F2F-A00A04AF3607}"/>
              </a:ext>
            </a:extLst>
          </p:cNvPr>
          <p:cNvSpPr/>
          <p:nvPr/>
        </p:nvSpPr>
        <p:spPr>
          <a:xfrm>
            <a:off x="7998995" y="3288916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b="1" dirty="0">
                <a:latin typeface="Helvetica" panose="020B0604020202020204"/>
                <a:cs typeface="Helvetica" panose="020B0604020202020204"/>
              </a:rPr>
              <a:t>δ</a:t>
            </a:r>
            <a:r>
              <a:rPr lang="es-ES" b="1" baseline="30000" dirty="0">
                <a:latin typeface="Helvetica" panose="020B0604020202020204"/>
                <a:cs typeface="Helvetica" panose="020B0604020202020204"/>
              </a:rPr>
              <a:t>15</a:t>
            </a:r>
            <a:r>
              <a:rPr lang="es-ES" b="1" dirty="0">
                <a:latin typeface="Helvetica" panose="020B0604020202020204"/>
                <a:cs typeface="Helvetica" panose="020B0604020202020204"/>
              </a:rPr>
              <a:t>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B3C5FE-2D5F-A191-35C9-8E2EAD6CF2C5}"/>
              </a:ext>
            </a:extLst>
          </p:cNvPr>
          <p:cNvSpPr/>
          <p:nvPr/>
        </p:nvSpPr>
        <p:spPr>
          <a:xfrm>
            <a:off x="3072328" y="4403137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Helvetica" panose="020B0604020202020204"/>
                <a:cs typeface="Helvetica" panose="020B0604020202020204"/>
              </a:rPr>
              <a:t>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F5FF3E-8CAC-F9F0-55BB-9243931BF307}"/>
              </a:ext>
            </a:extLst>
          </p:cNvPr>
          <p:cNvSpPr/>
          <p:nvPr/>
        </p:nvSpPr>
        <p:spPr>
          <a:xfrm>
            <a:off x="1193492" y="4403137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latin typeface="Helvetica" panose="020B0604020202020204"/>
                <a:cs typeface="Helvetica" panose="020B0604020202020204"/>
              </a:rPr>
              <a:t>Height</a:t>
            </a:r>
            <a:endParaRPr lang="es-ES" b="1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364021-A0EA-94C1-F57E-91F3ADE25ADB}"/>
              </a:ext>
            </a:extLst>
          </p:cNvPr>
          <p:cNvSpPr/>
          <p:nvPr/>
        </p:nvSpPr>
        <p:spPr>
          <a:xfrm>
            <a:off x="2746915" y="3316958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Helvetica" panose="020B0604020202020204"/>
                <a:cs typeface="Helvetica" panose="020B0604020202020204"/>
              </a:rPr>
              <a:t>RWC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4D3892-4914-33F1-531A-B80FB9E49D5D}"/>
              </a:ext>
            </a:extLst>
          </p:cNvPr>
          <p:cNvSpPr/>
          <p:nvPr/>
        </p:nvSpPr>
        <p:spPr>
          <a:xfrm>
            <a:off x="5411438" y="4478685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latin typeface="Helvetica" panose="020B0604020202020204"/>
                <a:cs typeface="Helvetica" panose="020B0604020202020204"/>
              </a:rPr>
              <a:t>Chl</a:t>
            </a:r>
            <a:r>
              <a:rPr lang="es-ES" b="1" dirty="0">
                <a:latin typeface="Helvetica" panose="020B0604020202020204"/>
                <a:cs typeface="Helvetica" panose="020B0604020202020204"/>
              </a:rPr>
              <a:t>/</a:t>
            </a:r>
            <a:r>
              <a:rPr lang="es-ES" b="1" dirty="0" err="1">
                <a:latin typeface="Helvetica" panose="020B0604020202020204"/>
                <a:cs typeface="Helvetica" panose="020B0604020202020204"/>
              </a:rPr>
              <a:t>xc</a:t>
            </a:r>
            <a:endParaRPr lang="es-ES" b="1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FDA849-6A0B-E94C-9A97-047675BFA308}"/>
              </a:ext>
            </a:extLst>
          </p:cNvPr>
          <p:cNvSpPr/>
          <p:nvPr/>
        </p:nvSpPr>
        <p:spPr>
          <a:xfrm>
            <a:off x="3072328" y="5727402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Helvetica" panose="020B0604020202020204"/>
                <a:cs typeface="Helvetica" panose="020B0604020202020204"/>
              </a:rPr>
              <a:t>BAI80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75F59-5C32-265B-889E-520B7763DD6C}"/>
              </a:ext>
            </a:extLst>
          </p:cNvPr>
          <p:cNvSpPr/>
          <p:nvPr/>
        </p:nvSpPr>
        <p:spPr>
          <a:xfrm>
            <a:off x="7170714" y="5727402"/>
            <a:ext cx="1368358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latin typeface="Helvetica" panose="020B0604020202020204"/>
                <a:cs typeface="Helvetica" panose="020B0604020202020204"/>
              </a:rPr>
              <a:t>Defoliation</a:t>
            </a:r>
            <a:endParaRPr lang="es-ES" b="1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7AE41B-9024-37F4-8B61-4107D42EC552}"/>
              </a:ext>
            </a:extLst>
          </p:cNvPr>
          <p:cNvSpPr/>
          <p:nvPr/>
        </p:nvSpPr>
        <p:spPr>
          <a:xfrm>
            <a:off x="5411438" y="5727402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latin typeface="Helvetica" panose="020B0604020202020204"/>
                <a:cs typeface="Helvetica" panose="020B0604020202020204"/>
              </a:rPr>
              <a:t>Rt</a:t>
            </a:r>
            <a:r>
              <a:rPr lang="es-ES" b="1" dirty="0">
                <a:latin typeface="Helvetica" panose="020B0604020202020204"/>
                <a:cs typeface="Helvetica" panose="020B0604020202020204"/>
              </a:rPr>
              <a:t>, </a:t>
            </a:r>
            <a:r>
              <a:rPr lang="es-ES" b="1" dirty="0" err="1">
                <a:latin typeface="Helvetica" panose="020B0604020202020204"/>
                <a:cs typeface="Helvetica" panose="020B0604020202020204"/>
              </a:rPr>
              <a:t>Rs</a:t>
            </a:r>
            <a:endParaRPr lang="es-ES" b="1" dirty="0">
              <a:latin typeface="Helvetica" panose="020B0604020202020204"/>
              <a:cs typeface="Helvetica" panose="020B0604020202020204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2A19E89-F2F4-E939-609B-CF8711894A6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5876936" y="2423815"/>
            <a:ext cx="0" cy="89314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6D03CD97-2BC2-E7C3-88B3-18AF72A98795}"/>
              </a:ext>
            </a:extLst>
          </p:cNvPr>
          <p:cNvSpPr txBox="1">
            <a:spLocks/>
          </p:cNvSpPr>
          <p:nvPr/>
        </p:nvSpPr>
        <p:spPr>
          <a:xfrm>
            <a:off x="5876935" y="2633198"/>
            <a:ext cx="757328" cy="476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100" dirty="0" err="1">
                <a:latin typeface="Helvetica"/>
                <a:cs typeface="Helvetica"/>
              </a:rPr>
              <a:t>Stomatal</a:t>
            </a:r>
            <a:r>
              <a:rPr lang="es-ES" sz="1100" dirty="0">
                <a:latin typeface="Helvetica"/>
                <a:cs typeface="Helvetica"/>
              </a:rPr>
              <a:t> </a:t>
            </a:r>
            <a:r>
              <a:rPr lang="es-ES" sz="1100" dirty="0" err="1">
                <a:latin typeface="Helvetica"/>
                <a:cs typeface="Helvetica"/>
              </a:rPr>
              <a:t>closure</a:t>
            </a:r>
            <a:endParaRPr lang="es-ES" sz="1100" dirty="0">
              <a:latin typeface="Helvetica"/>
              <a:cs typeface="Helvetica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AE11DCB-1467-9A8C-B42F-C9A98BE38DA1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5876936" y="2423815"/>
            <a:ext cx="2587557" cy="865101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arcador de contenido 2">
            <a:extLst>
              <a:ext uri="{FF2B5EF4-FFF2-40B4-BE49-F238E27FC236}">
                <a16:creationId xmlns:a16="http://schemas.microsoft.com/office/drawing/2014/main" id="{9C59B448-4D5A-4D4E-EC63-F005EBCBE54E}"/>
              </a:ext>
            </a:extLst>
          </p:cNvPr>
          <p:cNvSpPr txBox="1">
            <a:spLocks/>
          </p:cNvSpPr>
          <p:nvPr/>
        </p:nvSpPr>
        <p:spPr>
          <a:xfrm>
            <a:off x="7834725" y="2522057"/>
            <a:ext cx="757328" cy="476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100" dirty="0" err="1">
                <a:latin typeface="Helvetica"/>
                <a:cs typeface="Helvetica"/>
              </a:rPr>
              <a:t>Limitted</a:t>
            </a:r>
            <a:r>
              <a:rPr lang="es-ES" sz="1100" dirty="0">
                <a:latin typeface="Helvetica"/>
                <a:cs typeface="Helvetica"/>
              </a:rPr>
              <a:t> </a:t>
            </a:r>
            <a:r>
              <a:rPr lang="es-ES" sz="1100" dirty="0" err="1">
                <a:latin typeface="Helvetica"/>
                <a:cs typeface="Helvetica"/>
              </a:rPr>
              <a:t>uptake</a:t>
            </a:r>
            <a:endParaRPr lang="es-ES" sz="1100" dirty="0">
              <a:latin typeface="Helvetica"/>
              <a:cs typeface="Helvetica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53948D9-032E-9D41-D6E7-F49890C9C9F4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flipH="1">
            <a:off x="3212413" y="2423815"/>
            <a:ext cx="2664523" cy="89314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Marcador de contenido 2">
            <a:extLst>
              <a:ext uri="{FF2B5EF4-FFF2-40B4-BE49-F238E27FC236}">
                <a16:creationId xmlns:a16="http://schemas.microsoft.com/office/drawing/2014/main" id="{7443CDB0-2D90-C022-A0FF-8A2BF129CEEF}"/>
              </a:ext>
            </a:extLst>
          </p:cNvPr>
          <p:cNvSpPr txBox="1">
            <a:spLocks/>
          </p:cNvSpPr>
          <p:nvPr/>
        </p:nvSpPr>
        <p:spPr>
          <a:xfrm>
            <a:off x="4047259" y="2522297"/>
            <a:ext cx="757328" cy="476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100" dirty="0" err="1">
                <a:latin typeface="Helvetica"/>
                <a:cs typeface="Helvetica"/>
              </a:rPr>
              <a:t>Turgor</a:t>
            </a:r>
            <a:r>
              <a:rPr lang="es-ES" sz="1100" dirty="0">
                <a:latin typeface="Helvetica"/>
                <a:cs typeface="Helvetica"/>
              </a:rPr>
              <a:t> </a:t>
            </a:r>
            <a:r>
              <a:rPr lang="es-ES" sz="1100" dirty="0" err="1">
                <a:latin typeface="Helvetica"/>
                <a:cs typeface="Helvetica"/>
              </a:rPr>
              <a:t>loss</a:t>
            </a:r>
            <a:endParaRPr lang="es-ES" sz="1100" dirty="0">
              <a:latin typeface="Helvetica"/>
              <a:cs typeface="Helvetica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AE48C19-1773-629D-8FBD-8FFC3B4FBFBE}"/>
              </a:ext>
            </a:extLst>
          </p:cNvPr>
          <p:cNvCxnSpPr>
            <a:cxnSpLocks/>
            <a:stCxn id="6" idx="1"/>
            <a:endCxn id="14" idx="3"/>
          </p:cNvCxnSpPr>
          <p:nvPr/>
        </p:nvCxnSpPr>
        <p:spPr>
          <a:xfrm flipH="1">
            <a:off x="3677911" y="3555044"/>
            <a:ext cx="1733527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arcador de contenido 2">
            <a:extLst>
              <a:ext uri="{FF2B5EF4-FFF2-40B4-BE49-F238E27FC236}">
                <a16:creationId xmlns:a16="http://schemas.microsoft.com/office/drawing/2014/main" id="{37BA9148-B754-E992-0BBB-096D6F435085}"/>
              </a:ext>
            </a:extLst>
          </p:cNvPr>
          <p:cNvSpPr txBox="1">
            <a:spLocks/>
          </p:cNvSpPr>
          <p:nvPr/>
        </p:nvSpPr>
        <p:spPr>
          <a:xfrm>
            <a:off x="4003324" y="3236555"/>
            <a:ext cx="1005735" cy="2661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100" dirty="0" err="1">
                <a:latin typeface="Helvetica"/>
                <a:cs typeface="Helvetica"/>
              </a:rPr>
              <a:t>Transpiration</a:t>
            </a:r>
            <a:endParaRPr lang="es-ES" sz="1100" dirty="0">
              <a:latin typeface="Helvetica"/>
              <a:cs typeface="Helvetica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FC4F89A-95EC-171B-B868-7D156E5A839A}"/>
              </a:ext>
            </a:extLst>
          </p:cNvPr>
          <p:cNvCxnSpPr>
            <a:cxnSpLocks/>
            <a:stCxn id="9" idx="2"/>
            <a:endCxn id="17" idx="0"/>
          </p:cNvCxnSpPr>
          <p:nvPr/>
        </p:nvCxnSpPr>
        <p:spPr>
          <a:xfrm flipH="1">
            <a:off x="7854893" y="3765088"/>
            <a:ext cx="609600" cy="1962314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arcador de contenido 2">
            <a:extLst>
              <a:ext uri="{FF2B5EF4-FFF2-40B4-BE49-F238E27FC236}">
                <a16:creationId xmlns:a16="http://schemas.microsoft.com/office/drawing/2014/main" id="{24C41916-A79D-12D1-1660-15536A4B33B0}"/>
              </a:ext>
            </a:extLst>
          </p:cNvPr>
          <p:cNvSpPr txBox="1">
            <a:spLocks/>
          </p:cNvSpPr>
          <p:nvPr/>
        </p:nvSpPr>
        <p:spPr>
          <a:xfrm>
            <a:off x="8195363" y="4496322"/>
            <a:ext cx="930996" cy="476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050" dirty="0" err="1">
                <a:latin typeface="Helvetica"/>
                <a:cs typeface="Helvetica"/>
              </a:rPr>
              <a:t>Leaf</a:t>
            </a:r>
            <a:r>
              <a:rPr lang="es-ES" sz="1050" dirty="0">
                <a:latin typeface="Helvetica"/>
                <a:cs typeface="Helvetica"/>
              </a:rPr>
              <a:t> </a:t>
            </a:r>
            <a:r>
              <a:rPr lang="es-ES" sz="1050" dirty="0" err="1">
                <a:latin typeface="Helvetica"/>
                <a:cs typeface="Helvetica"/>
              </a:rPr>
              <a:t>senescence</a:t>
            </a:r>
            <a:endParaRPr lang="es-ES" sz="1050" dirty="0">
              <a:latin typeface="Helvetica"/>
              <a:cs typeface="Helvetica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1161069-BC9D-857B-2AA5-67E47DAE7AA2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6342434" y="3527002"/>
            <a:ext cx="1656561" cy="28042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Marcador de contenido 2">
            <a:extLst>
              <a:ext uri="{FF2B5EF4-FFF2-40B4-BE49-F238E27FC236}">
                <a16:creationId xmlns:a16="http://schemas.microsoft.com/office/drawing/2014/main" id="{58B5D179-818E-1C65-AC85-3F0FBD5CF1C5}"/>
              </a:ext>
            </a:extLst>
          </p:cNvPr>
          <p:cNvSpPr txBox="1">
            <a:spLocks/>
          </p:cNvSpPr>
          <p:nvPr/>
        </p:nvSpPr>
        <p:spPr>
          <a:xfrm>
            <a:off x="6661280" y="3261736"/>
            <a:ext cx="1005735" cy="2661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100" dirty="0" err="1">
                <a:latin typeface="Helvetica"/>
                <a:cs typeface="Helvetica"/>
              </a:rPr>
              <a:t>Transpiration</a:t>
            </a:r>
            <a:endParaRPr lang="es-ES" sz="1100" dirty="0">
              <a:latin typeface="Helvetica"/>
              <a:cs typeface="Helvetica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661FD95-5CE8-BB71-220A-01A5B8AF8C57}"/>
              </a:ext>
            </a:extLst>
          </p:cNvPr>
          <p:cNvCxnSpPr>
            <a:cxnSpLocks/>
            <a:stCxn id="14" idx="2"/>
            <a:endCxn id="15" idx="1"/>
          </p:cNvCxnSpPr>
          <p:nvPr/>
        </p:nvCxnSpPr>
        <p:spPr>
          <a:xfrm>
            <a:off x="3212413" y="3793130"/>
            <a:ext cx="2199025" cy="923641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692EA1A-906F-5C77-80EA-DC372CE4D24D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>
            <a:off x="5876936" y="3793130"/>
            <a:ext cx="0" cy="685555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4251960-B8B5-2A7C-D593-EF450A942942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flipH="1">
            <a:off x="3537826" y="4954857"/>
            <a:ext cx="2339110" cy="772545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D7F616B-5FB8-2811-D2CB-451D9285BBFA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>
          <a:xfrm>
            <a:off x="4003324" y="5965488"/>
            <a:ext cx="1408114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CC416C5-3F03-83F6-4B72-F0FD5C7046CB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>
            <a:off x="5876936" y="4954857"/>
            <a:ext cx="1977957" cy="772545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71E384D-699E-0026-706C-F09418BE0962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>
            <a:off x="3537826" y="4879309"/>
            <a:ext cx="0" cy="84809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F31375A-0BCB-CE53-8077-4217AF30C23C}"/>
              </a:ext>
            </a:extLst>
          </p:cNvPr>
          <p:cNvCxnSpPr>
            <a:cxnSpLocks/>
            <a:stCxn id="10" idx="1"/>
            <a:endCxn id="12" idx="3"/>
          </p:cNvCxnSpPr>
          <p:nvPr/>
        </p:nvCxnSpPr>
        <p:spPr>
          <a:xfrm flipH="1">
            <a:off x="2124488" y="4641223"/>
            <a:ext cx="947840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DB0311E-95A2-730A-4E51-520DE649C299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>
            <a:off x="1658990" y="4879309"/>
            <a:ext cx="1878836" cy="84809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D686F3D-2E00-3945-11E1-6AD7DB5AAEDF}"/>
              </a:ext>
            </a:extLst>
          </p:cNvPr>
          <p:cNvCxnSpPr>
            <a:cxnSpLocks/>
            <a:stCxn id="12" idx="0"/>
            <a:endCxn id="6" idx="2"/>
          </p:cNvCxnSpPr>
          <p:nvPr/>
        </p:nvCxnSpPr>
        <p:spPr>
          <a:xfrm flipV="1">
            <a:off x="1658990" y="3793130"/>
            <a:ext cx="4217946" cy="610007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05EE4D6-48A7-291A-EDCC-E93F0D35FEC1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3677911" y="3793130"/>
            <a:ext cx="2199025" cy="585933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38BC9647-A478-0ED0-A895-993D28FF4014}"/>
              </a:ext>
            </a:extLst>
          </p:cNvPr>
          <p:cNvCxnSpPr>
            <a:cxnSpLocks/>
            <a:stCxn id="19" idx="3"/>
            <a:endCxn id="17" idx="1"/>
          </p:cNvCxnSpPr>
          <p:nvPr/>
        </p:nvCxnSpPr>
        <p:spPr>
          <a:xfrm>
            <a:off x="6342434" y="5965488"/>
            <a:ext cx="828280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F7D014D8-DAE2-1398-2170-67470F9642C5}"/>
              </a:ext>
            </a:extLst>
          </p:cNvPr>
          <p:cNvSpPr txBox="1">
            <a:spLocks/>
          </p:cNvSpPr>
          <p:nvPr/>
        </p:nvSpPr>
        <p:spPr>
          <a:xfrm>
            <a:off x="633459" y="1028714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3.-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the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convergence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of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traits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the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coordination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between</a:t>
            </a:r>
            <a:r>
              <a:rPr lang="es-ES" sz="2400" dirty="0">
                <a:latin typeface="Helvetica"/>
                <a:cs typeface="Helvetica"/>
              </a:rPr>
              <a:t> responses in </a:t>
            </a:r>
            <a:r>
              <a:rPr lang="es-ES" sz="2400" dirty="0" err="1">
                <a:latin typeface="Helvetica"/>
                <a:cs typeface="Helvetica"/>
              </a:rPr>
              <a:t>healthy</a:t>
            </a:r>
            <a:r>
              <a:rPr lang="es-ES" sz="2400" dirty="0">
                <a:latin typeface="Helvetica"/>
                <a:cs typeface="Helvetica"/>
              </a:rPr>
              <a:t> vs. </a:t>
            </a:r>
            <a:r>
              <a:rPr lang="es-ES" sz="2400" dirty="0" err="1">
                <a:latin typeface="Helvetica"/>
                <a:cs typeface="Helvetica"/>
              </a:rPr>
              <a:t>damaged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trees</a:t>
            </a:r>
            <a:r>
              <a:rPr lang="es-ES" sz="2400" dirty="0">
                <a:latin typeface="Helvetica"/>
                <a:cs typeface="Helvetica"/>
              </a:rPr>
              <a:t>.</a:t>
            </a:r>
            <a:endParaRPr lang="es-ES" sz="2400" b="1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6100449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51516-7ED0-EC94-B3C0-A09540F30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B635751-E3C7-5A73-1801-E6C3CFD22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87AF114A-2D0D-41CD-FDDF-C709E0A89E1A}"/>
              </a:ext>
            </a:extLst>
          </p:cNvPr>
          <p:cNvSpPr txBox="1"/>
          <p:nvPr/>
        </p:nvSpPr>
        <p:spPr>
          <a:xfrm>
            <a:off x="535019" y="1477261"/>
            <a:ext cx="108298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Predisposing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like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long-term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can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modulate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die-off responses at individual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level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Responses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include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decreased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short-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term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decreased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. And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Decaying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their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towards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more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resource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-conservative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4E2BB915-A871-8F7F-7271-6255E40C1B4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Conclussions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21EC72A2-99C6-2F09-0899-DEC1C69219A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82519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7D1276C-2F08-785C-87EC-6B990140D14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735636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99B278-9C5A-620C-C671-715C2AA7A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2404"/>
            <a:ext cx="9144000" cy="3188380"/>
          </a:xfrm>
        </p:spPr>
        <p:txBody>
          <a:bodyPr>
            <a:normAutofit/>
          </a:bodyPr>
          <a:lstStyle/>
          <a:p>
            <a:r>
              <a:rPr lang="es-ES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Supplementary</a:t>
            </a: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Material</a:t>
            </a:r>
            <a:b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- </a:t>
            </a:r>
            <a:b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1217E08-3399-DFA2-1E05-836FE1C2F420}"/>
              </a:ext>
            </a:extLst>
          </p:cNvPr>
          <p:cNvSpPr txBox="1">
            <a:spLocks/>
          </p:cNvSpPr>
          <p:nvPr/>
        </p:nvSpPr>
        <p:spPr>
          <a:xfrm>
            <a:off x="1" y="5735636"/>
            <a:ext cx="12192000" cy="1122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 err="1">
                <a:latin typeface="Helvetica"/>
                <a:cs typeface="Helvetica"/>
              </a:rPr>
              <a:t>Chapter</a:t>
            </a:r>
            <a:r>
              <a:rPr lang="es-ES" sz="3200" dirty="0">
                <a:latin typeface="Helvetica"/>
                <a:cs typeface="Helvetica"/>
              </a:rPr>
              <a:t> 2: </a:t>
            </a:r>
            <a:r>
              <a:rPr lang="es-ES" sz="3200" dirty="0" err="1">
                <a:latin typeface="Helvetica"/>
                <a:cs typeface="Helvetica"/>
              </a:rPr>
              <a:t>assessing</a:t>
            </a:r>
            <a:r>
              <a:rPr lang="es-ES" sz="3200" dirty="0">
                <a:latin typeface="Helvetica"/>
                <a:cs typeface="Helvetica"/>
              </a:rPr>
              <a:t> individual </a:t>
            </a:r>
            <a:r>
              <a:rPr lang="es-ES" sz="3200" dirty="0" err="1">
                <a:latin typeface="Helvetica"/>
                <a:cs typeface="Helvetica"/>
              </a:rPr>
              <a:t>factors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determining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drought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vulnerability</a:t>
            </a:r>
            <a:endParaRPr lang="es-ES" sz="32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60253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72B3E-E391-3855-6057-254C02E50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C1BEE753-EDA8-55C8-3FC9-CEA4A47C5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1B7DD8-542E-121E-D569-A3D69EC74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524D53AC-3A64-A8E8-83D9-DCA3815F4DE9}"/>
              </a:ext>
            </a:extLst>
          </p:cNvPr>
          <p:cNvSpPr txBox="1">
            <a:spLocks/>
          </p:cNvSpPr>
          <p:nvPr/>
        </p:nvSpPr>
        <p:spPr>
          <a:xfrm>
            <a:off x="4405261" y="6368128"/>
            <a:ext cx="88037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>
                <a:latin typeface="Helvetica"/>
                <a:cs typeface="Helvetica"/>
              </a:rPr>
              <a:t>Fig. 3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2816B903-2C67-CA1A-3C16-BB3A68E4FBDB}"/>
              </a:ext>
            </a:extLst>
          </p:cNvPr>
          <p:cNvSpPr txBox="1">
            <a:spLocks/>
          </p:cNvSpPr>
          <p:nvPr/>
        </p:nvSpPr>
        <p:spPr>
          <a:xfrm>
            <a:off x="623546" y="972273"/>
            <a:ext cx="10465002" cy="15489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 panose="020B0604020202020204"/>
                <a:cs typeface="Helvetica"/>
              </a:rPr>
              <a:t>. 1.-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the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predisposing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factors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determining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drought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susceptibility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their</a:t>
            </a:r>
            <a:r>
              <a:rPr lang="es-ES" sz="2400" dirty="0">
                <a:latin typeface="Helvetica"/>
                <a:cs typeface="Helvetica"/>
              </a:rPr>
              <a:t> relative </a:t>
            </a:r>
            <a:r>
              <a:rPr lang="es-ES" sz="2400" dirty="0" err="1">
                <a:latin typeface="Helvetica"/>
                <a:cs typeface="Helvetica"/>
              </a:rPr>
              <a:t>importance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across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species</a:t>
            </a:r>
            <a:endParaRPr lang="es-ES" sz="2400" dirty="0">
              <a:latin typeface="Helvetica"/>
              <a:cs typeface="Helvetica"/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6241A7BA-66B9-C20E-232A-CFFB248941B4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TextBox 16">
            <a:extLst>
              <a:ext uri="{FF2B5EF4-FFF2-40B4-BE49-F238E27FC236}">
                <a16:creationId xmlns:a16="http://schemas.microsoft.com/office/drawing/2014/main" id="{986360EC-361C-20DE-63B0-E36A43380D46}"/>
              </a:ext>
            </a:extLst>
          </p:cNvPr>
          <p:cNvSpPr txBox="1"/>
          <p:nvPr/>
        </p:nvSpPr>
        <p:spPr>
          <a:xfrm>
            <a:off x="6063607" y="2227718"/>
            <a:ext cx="485419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i="1" dirty="0" err="1">
                <a:latin typeface="Helvetica"/>
                <a:cs typeface="Helvetica"/>
              </a:rPr>
              <a:t>LogRR</a:t>
            </a:r>
            <a:r>
              <a:rPr lang="es-ES" sz="2400" i="1" dirty="0">
                <a:latin typeface="Helvetica"/>
                <a:cs typeface="Helvetica"/>
              </a:rPr>
              <a:t> = log(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damaged</a:t>
            </a:r>
            <a:r>
              <a:rPr lang="es-ES" sz="2400" i="1" dirty="0">
                <a:latin typeface="Helvetica"/>
                <a:cs typeface="Helvetica"/>
              </a:rPr>
              <a:t> / 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healthy</a:t>
            </a:r>
            <a:r>
              <a:rPr lang="es-ES" sz="2400" i="1" dirty="0">
                <a:latin typeface="Helvetica"/>
                <a:cs typeface="Helvetica"/>
              </a:rPr>
              <a:t>)</a:t>
            </a:r>
          </a:p>
        </p:txBody>
      </p:sp>
      <p:sp>
        <p:nvSpPr>
          <p:cNvPr id="8" name="CuadroTexto 10">
            <a:extLst>
              <a:ext uri="{FF2B5EF4-FFF2-40B4-BE49-F238E27FC236}">
                <a16:creationId xmlns:a16="http://schemas.microsoft.com/office/drawing/2014/main" id="{D20CF4A0-FB16-AB05-46A2-6BE6815C61ED}"/>
              </a:ext>
            </a:extLst>
          </p:cNvPr>
          <p:cNvSpPr txBox="1"/>
          <p:nvPr/>
        </p:nvSpPr>
        <p:spPr>
          <a:xfrm>
            <a:off x="4630181" y="3194372"/>
            <a:ext cx="675539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BAI,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were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most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determining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Abies</a:t>
            </a:r>
            <a:r>
              <a:rPr lang="es-ES"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 alba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BAI and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were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most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determining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and SLA are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significant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RR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 pinea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35AE189-12B0-2B0B-70BC-6989D52058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84" y="2014428"/>
            <a:ext cx="3096222" cy="464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0880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1CACC-ABF1-3226-C5CD-6B770D887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6267A42-8C94-C8E4-996B-C880DE09E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0CB14F-0DCE-41B3-E201-33100B71F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2088280-4F85-79DE-005A-EE612EF8334C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C023C8AB-95B2-8F85-52EB-609FDDC59B2C}"/>
              </a:ext>
            </a:extLst>
          </p:cNvPr>
          <p:cNvSpPr txBox="1"/>
          <p:nvPr/>
        </p:nvSpPr>
        <p:spPr>
          <a:xfrm>
            <a:off x="184392" y="815542"/>
            <a:ext cx="10498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vs.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any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C04168-7249-065C-7CE0-CDD31F103A9A}"/>
              </a:ext>
            </a:extLst>
          </p:cNvPr>
          <p:cNvGraphicFramePr>
            <a:graphicFrameLocks noGrp="1"/>
          </p:cNvGraphicFramePr>
          <p:nvPr/>
        </p:nvGraphicFramePr>
        <p:xfrm>
          <a:off x="627128" y="1552888"/>
          <a:ext cx="10774683" cy="30422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1706">
                  <a:extLst>
                    <a:ext uri="{9D8B030D-6E8A-4147-A177-3AD203B41FA5}">
                      <a16:colId xmlns:a16="http://schemas.microsoft.com/office/drawing/2014/main" val="3716285295"/>
                    </a:ext>
                  </a:extLst>
                </a:gridCol>
                <a:gridCol w="809366">
                  <a:extLst>
                    <a:ext uri="{9D8B030D-6E8A-4147-A177-3AD203B41FA5}">
                      <a16:colId xmlns:a16="http://schemas.microsoft.com/office/drawing/2014/main" val="1825695546"/>
                    </a:ext>
                  </a:extLst>
                </a:gridCol>
                <a:gridCol w="809366">
                  <a:extLst>
                    <a:ext uri="{9D8B030D-6E8A-4147-A177-3AD203B41FA5}">
                      <a16:colId xmlns:a16="http://schemas.microsoft.com/office/drawing/2014/main" val="1762739831"/>
                    </a:ext>
                  </a:extLst>
                </a:gridCol>
                <a:gridCol w="809366">
                  <a:extLst>
                    <a:ext uri="{9D8B030D-6E8A-4147-A177-3AD203B41FA5}">
                      <a16:colId xmlns:a16="http://schemas.microsoft.com/office/drawing/2014/main" val="1914230908"/>
                    </a:ext>
                  </a:extLst>
                </a:gridCol>
                <a:gridCol w="859951">
                  <a:extLst>
                    <a:ext uri="{9D8B030D-6E8A-4147-A177-3AD203B41FA5}">
                      <a16:colId xmlns:a16="http://schemas.microsoft.com/office/drawing/2014/main" val="2067398152"/>
                    </a:ext>
                  </a:extLst>
                </a:gridCol>
                <a:gridCol w="809366">
                  <a:extLst>
                    <a:ext uri="{9D8B030D-6E8A-4147-A177-3AD203B41FA5}">
                      <a16:colId xmlns:a16="http://schemas.microsoft.com/office/drawing/2014/main" val="284683708"/>
                    </a:ext>
                  </a:extLst>
                </a:gridCol>
                <a:gridCol w="809366">
                  <a:extLst>
                    <a:ext uri="{9D8B030D-6E8A-4147-A177-3AD203B41FA5}">
                      <a16:colId xmlns:a16="http://schemas.microsoft.com/office/drawing/2014/main" val="1783781769"/>
                    </a:ext>
                  </a:extLst>
                </a:gridCol>
                <a:gridCol w="809366">
                  <a:extLst>
                    <a:ext uri="{9D8B030D-6E8A-4147-A177-3AD203B41FA5}">
                      <a16:colId xmlns:a16="http://schemas.microsoft.com/office/drawing/2014/main" val="1034976442"/>
                    </a:ext>
                  </a:extLst>
                </a:gridCol>
                <a:gridCol w="809366">
                  <a:extLst>
                    <a:ext uri="{9D8B030D-6E8A-4147-A177-3AD203B41FA5}">
                      <a16:colId xmlns:a16="http://schemas.microsoft.com/office/drawing/2014/main" val="2502239271"/>
                    </a:ext>
                  </a:extLst>
                </a:gridCol>
                <a:gridCol w="809366">
                  <a:extLst>
                    <a:ext uri="{9D8B030D-6E8A-4147-A177-3AD203B41FA5}">
                      <a16:colId xmlns:a16="http://schemas.microsoft.com/office/drawing/2014/main" val="1440810492"/>
                    </a:ext>
                  </a:extLst>
                </a:gridCol>
                <a:gridCol w="809366">
                  <a:extLst>
                    <a:ext uri="{9D8B030D-6E8A-4147-A177-3AD203B41FA5}">
                      <a16:colId xmlns:a16="http://schemas.microsoft.com/office/drawing/2014/main" val="3019187137"/>
                    </a:ext>
                  </a:extLst>
                </a:gridCol>
                <a:gridCol w="809366">
                  <a:extLst>
                    <a:ext uri="{9D8B030D-6E8A-4147-A177-3AD203B41FA5}">
                      <a16:colId xmlns:a16="http://schemas.microsoft.com/office/drawing/2014/main" val="2072965551"/>
                    </a:ext>
                  </a:extLst>
                </a:gridCol>
                <a:gridCol w="809366">
                  <a:extLst>
                    <a:ext uri="{9D8B030D-6E8A-4147-A177-3AD203B41FA5}">
                      <a16:colId xmlns:a16="http://schemas.microsoft.com/office/drawing/2014/main" val="1175536349"/>
                    </a:ext>
                  </a:extLst>
                </a:gridCol>
              </a:tblGrid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 dirty="0" err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All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A. alba</a:t>
                      </a:r>
                      <a:endParaRPr lang="es-ES" sz="1000" b="1" i="1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rgbClr val="785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P. </a:t>
                      </a:r>
                      <a:r>
                        <a:rPr lang="es-ES" sz="1000" b="1" i="1" u="none" strike="noStrike" dirty="0" err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sylvestris</a:t>
                      </a:r>
                      <a:endParaRPr lang="es-ES" sz="1000" b="1" i="1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rgbClr val="FFB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P. pinea</a:t>
                      </a:r>
                      <a:endParaRPr lang="es-ES" sz="1000" b="1" i="1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rgbClr val="DC26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446600"/>
                  </a:ext>
                </a:extLst>
              </a:tr>
              <a:tr h="456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Variable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rgbClr val="AB9C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rgbClr val="AB9C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rgbClr val="AB9C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rgbClr val="FFD4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rgbClr val="FFD4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rgbClr val="FFD4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rgbClr val="EA7E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rgbClr val="EA7E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rgbClr val="EA7E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29744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s-ES" sz="1000" u="none" strike="noStrike" dirty="0" err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Height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005948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s-ES" sz="1000" u="none" strike="noStrike" dirty="0" err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d.b.h</a:t>
                      </a: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.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534274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Age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</a:t>
                      </a: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553306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s-ES" sz="1000" b="1" u="none" strike="noStrike" dirty="0" err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Hegyi</a:t>
                      </a: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s-ES" sz="1000" b="1" u="none" strike="noStrike" dirty="0" err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Index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0,0557</a:t>
                      </a: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261922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BAI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</a:t>
                      </a: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956966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BAI 1980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</a:t>
                      </a: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678346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Rt12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869517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Rt17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619482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Rt22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9100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Rs12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089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Rs17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09409"/>
                  </a:ext>
                </a:extLst>
              </a:tr>
            </a:tbl>
          </a:graphicData>
        </a:graphic>
      </p:graphicFrame>
      <p:pic>
        <p:nvPicPr>
          <p:cNvPr id="18" name="Graphic 17" descr="Fir tree">
            <a:extLst>
              <a:ext uri="{FF2B5EF4-FFF2-40B4-BE49-F238E27FC236}">
                <a16:creationId xmlns:a16="http://schemas.microsoft.com/office/drawing/2014/main" id="{7E2993A8-B5FF-C88F-E76B-B61409B617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49242" y="1856820"/>
            <a:ext cx="286324" cy="286324"/>
          </a:xfrm>
          <a:prstGeom prst="rect">
            <a:avLst/>
          </a:prstGeom>
        </p:spPr>
      </p:pic>
      <p:pic>
        <p:nvPicPr>
          <p:cNvPr id="19" name="Graphic 18" descr="Fir tree">
            <a:extLst>
              <a:ext uri="{FF2B5EF4-FFF2-40B4-BE49-F238E27FC236}">
                <a16:creationId xmlns:a16="http://schemas.microsoft.com/office/drawing/2014/main" id="{3AAC7C6F-C26A-52F6-854E-4029A6B984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35566" y="1856820"/>
            <a:ext cx="286324" cy="286324"/>
          </a:xfrm>
          <a:prstGeom prst="rect">
            <a:avLst/>
          </a:prstGeom>
        </p:spPr>
      </p:pic>
      <p:pic>
        <p:nvPicPr>
          <p:cNvPr id="20" name="Graphic 19" descr="Fir tree">
            <a:extLst>
              <a:ext uri="{FF2B5EF4-FFF2-40B4-BE49-F238E27FC236}">
                <a16:creationId xmlns:a16="http://schemas.microsoft.com/office/drawing/2014/main" id="{56BBE980-F113-3118-28D8-DA9A28E023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28536" y="1856820"/>
            <a:ext cx="286324" cy="286324"/>
          </a:xfrm>
          <a:prstGeom prst="rect">
            <a:avLst/>
          </a:prstGeom>
        </p:spPr>
      </p:pic>
      <p:pic>
        <p:nvPicPr>
          <p:cNvPr id="21" name="Graphic 20" descr="Fir tree">
            <a:extLst>
              <a:ext uri="{FF2B5EF4-FFF2-40B4-BE49-F238E27FC236}">
                <a16:creationId xmlns:a16="http://schemas.microsoft.com/office/drawing/2014/main" id="{C3940ED6-ABE8-2D0F-A120-E3C696582E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14860" y="1856820"/>
            <a:ext cx="286324" cy="286324"/>
          </a:xfrm>
          <a:prstGeom prst="rect">
            <a:avLst/>
          </a:prstGeom>
        </p:spPr>
      </p:pic>
      <p:pic>
        <p:nvPicPr>
          <p:cNvPr id="22" name="Graphic 21" descr="Fir tree">
            <a:extLst>
              <a:ext uri="{FF2B5EF4-FFF2-40B4-BE49-F238E27FC236}">
                <a16:creationId xmlns:a16="http://schemas.microsoft.com/office/drawing/2014/main" id="{C8E6E6AA-91BD-BF0D-C585-EF76091593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36617" y="1856820"/>
            <a:ext cx="286324" cy="286324"/>
          </a:xfrm>
          <a:prstGeom prst="rect">
            <a:avLst/>
          </a:prstGeom>
        </p:spPr>
      </p:pic>
      <p:pic>
        <p:nvPicPr>
          <p:cNvPr id="23" name="Graphic 22" descr="Fir tree">
            <a:extLst>
              <a:ext uri="{FF2B5EF4-FFF2-40B4-BE49-F238E27FC236}">
                <a16:creationId xmlns:a16="http://schemas.microsoft.com/office/drawing/2014/main" id="{0EE2BC71-211C-F4DC-2E36-56CC403ECF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22941" y="1856820"/>
            <a:ext cx="286324" cy="286324"/>
          </a:xfrm>
          <a:prstGeom prst="rect">
            <a:avLst/>
          </a:prstGeom>
        </p:spPr>
      </p:pic>
      <p:pic>
        <p:nvPicPr>
          <p:cNvPr id="24" name="Graphic 23" descr="Fir tree">
            <a:extLst>
              <a:ext uri="{FF2B5EF4-FFF2-40B4-BE49-F238E27FC236}">
                <a16:creationId xmlns:a16="http://schemas.microsoft.com/office/drawing/2014/main" id="{866D800F-A449-EBEC-B96C-72145078A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23297" y="1856820"/>
            <a:ext cx="286324" cy="286324"/>
          </a:xfrm>
          <a:prstGeom prst="rect">
            <a:avLst/>
          </a:prstGeom>
        </p:spPr>
      </p:pic>
      <p:pic>
        <p:nvPicPr>
          <p:cNvPr id="25" name="Graphic 24" descr="Fir tree">
            <a:extLst>
              <a:ext uri="{FF2B5EF4-FFF2-40B4-BE49-F238E27FC236}">
                <a16:creationId xmlns:a16="http://schemas.microsoft.com/office/drawing/2014/main" id="{AFD391DE-1C51-71BD-134A-AEEE08B2EA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9621" y="1856820"/>
            <a:ext cx="286324" cy="286324"/>
          </a:xfrm>
          <a:prstGeom prst="rect">
            <a:avLst/>
          </a:prstGeom>
        </p:spPr>
      </p:pic>
      <p:pic>
        <p:nvPicPr>
          <p:cNvPr id="26" name="Graphic 25" descr="Fir tree">
            <a:extLst>
              <a:ext uri="{FF2B5EF4-FFF2-40B4-BE49-F238E27FC236}">
                <a16:creationId xmlns:a16="http://schemas.microsoft.com/office/drawing/2014/main" id="{9F774BFE-A74B-6620-F040-9D6B1A9609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2591" y="1856820"/>
            <a:ext cx="286324" cy="286324"/>
          </a:xfrm>
          <a:prstGeom prst="rect">
            <a:avLst/>
          </a:prstGeom>
        </p:spPr>
      </p:pic>
      <p:pic>
        <p:nvPicPr>
          <p:cNvPr id="27" name="Graphic 26" descr="Fir tree">
            <a:extLst>
              <a:ext uri="{FF2B5EF4-FFF2-40B4-BE49-F238E27FC236}">
                <a16:creationId xmlns:a16="http://schemas.microsoft.com/office/drawing/2014/main" id="{DC9C9CA0-D56B-102D-1530-3898E37C54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88915" y="1856820"/>
            <a:ext cx="286324" cy="286324"/>
          </a:xfrm>
          <a:prstGeom prst="rect">
            <a:avLst/>
          </a:prstGeom>
        </p:spPr>
      </p:pic>
      <p:pic>
        <p:nvPicPr>
          <p:cNvPr id="28" name="Graphic 27" descr="Fir tree">
            <a:extLst>
              <a:ext uri="{FF2B5EF4-FFF2-40B4-BE49-F238E27FC236}">
                <a16:creationId xmlns:a16="http://schemas.microsoft.com/office/drawing/2014/main" id="{F1482DBC-B81B-70D2-484D-5ED42C6EB8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10672" y="1856820"/>
            <a:ext cx="286324" cy="286324"/>
          </a:xfrm>
          <a:prstGeom prst="rect">
            <a:avLst/>
          </a:prstGeom>
        </p:spPr>
      </p:pic>
      <p:pic>
        <p:nvPicPr>
          <p:cNvPr id="29" name="Graphic 28" descr="Fir tree">
            <a:extLst>
              <a:ext uri="{FF2B5EF4-FFF2-40B4-BE49-F238E27FC236}">
                <a16:creationId xmlns:a16="http://schemas.microsoft.com/office/drawing/2014/main" id="{1E977CB0-9AE3-3974-6884-3C66CC7DB5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996" y="1856820"/>
            <a:ext cx="286324" cy="286324"/>
          </a:xfrm>
          <a:prstGeom prst="rect">
            <a:avLst/>
          </a:prstGeom>
        </p:spPr>
      </p:pic>
      <p:pic>
        <p:nvPicPr>
          <p:cNvPr id="30" name="Graphic 29" descr="Fir tree">
            <a:extLst>
              <a:ext uri="{FF2B5EF4-FFF2-40B4-BE49-F238E27FC236}">
                <a16:creationId xmlns:a16="http://schemas.microsoft.com/office/drawing/2014/main" id="{6704A50D-96D4-CD60-F979-6D3E4CEFC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0831" y="1856820"/>
            <a:ext cx="286324" cy="286324"/>
          </a:xfrm>
          <a:prstGeom prst="rect">
            <a:avLst/>
          </a:prstGeom>
        </p:spPr>
      </p:pic>
      <p:pic>
        <p:nvPicPr>
          <p:cNvPr id="31" name="Graphic 30" descr="Fir tree">
            <a:extLst>
              <a:ext uri="{FF2B5EF4-FFF2-40B4-BE49-F238E27FC236}">
                <a16:creationId xmlns:a16="http://schemas.microsoft.com/office/drawing/2014/main" id="{109744A1-97F3-DE20-6762-536369A760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67155" y="1856820"/>
            <a:ext cx="286324" cy="286324"/>
          </a:xfrm>
          <a:prstGeom prst="rect">
            <a:avLst/>
          </a:prstGeom>
        </p:spPr>
      </p:pic>
      <p:pic>
        <p:nvPicPr>
          <p:cNvPr id="32" name="Graphic 31" descr="Fir tree">
            <a:extLst>
              <a:ext uri="{FF2B5EF4-FFF2-40B4-BE49-F238E27FC236}">
                <a16:creationId xmlns:a16="http://schemas.microsoft.com/office/drawing/2014/main" id="{EADC5C7F-B830-E721-CABE-1549BE75D0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0125" y="1856820"/>
            <a:ext cx="286324" cy="286324"/>
          </a:xfrm>
          <a:prstGeom prst="rect">
            <a:avLst/>
          </a:prstGeom>
        </p:spPr>
      </p:pic>
      <p:pic>
        <p:nvPicPr>
          <p:cNvPr id="33" name="Graphic 32" descr="Fir tree">
            <a:extLst>
              <a:ext uri="{FF2B5EF4-FFF2-40B4-BE49-F238E27FC236}">
                <a16:creationId xmlns:a16="http://schemas.microsoft.com/office/drawing/2014/main" id="{7405D05E-5B29-5EDD-1279-D1A0C1B890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6449" y="1856820"/>
            <a:ext cx="286324" cy="286324"/>
          </a:xfrm>
          <a:prstGeom prst="rect">
            <a:avLst/>
          </a:prstGeom>
        </p:spPr>
      </p:pic>
      <p:pic>
        <p:nvPicPr>
          <p:cNvPr id="34" name="Graphic 33" descr="Fir tree">
            <a:extLst>
              <a:ext uri="{FF2B5EF4-FFF2-40B4-BE49-F238E27FC236}">
                <a16:creationId xmlns:a16="http://schemas.microsoft.com/office/drawing/2014/main" id="{859201D7-5780-F463-D457-CECD1A9130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68206" y="1856820"/>
            <a:ext cx="286324" cy="286324"/>
          </a:xfrm>
          <a:prstGeom prst="rect">
            <a:avLst/>
          </a:prstGeom>
        </p:spPr>
      </p:pic>
      <p:pic>
        <p:nvPicPr>
          <p:cNvPr id="35" name="Graphic 34" descr="Fir tree">
            <a:extLst>
              <a:ext uri="{FF2B5EF4-FFF2-40B4-BE49-F238E27FC236}">
                <a16:creationId xmlns:a16="http://schemas.microsoft.com/office/drawing/2014/main" id="{720C9265-DEFD-2E2A-3CE6-C14E665108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54530" y="1856820"/>
            <a:ext cx="286324" cy="286324"/>
          </a:xfrm>
          <a:prstGeom prst="rect">
            <a:avLst/>
          </a:prstGeom>
        </p:spPr>
      </p:pic>
      <p:pic>
        <p:nvPicPr>
          <p:cNvPr id="36" name="Graphic 35" descr="Fir tree">
            <a:extLst>
              <a:ext uri="{FF2B5EF4-FFF2-40B4-BE49-F238E27FC236}">
                <a16:creationId xmlns:a16="http://schemas.microsoft.com/office/drawing/2014/main" id="{53B688DD-A7DD-B1CD-D7D0-589427EA8F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01193" y="1853033"/>
            <a:ext cx="286324" cy="286324"/>
          </a:xfrm>
          <a:prstGeom prst="rect">
            <a:avLst/>
          </a:prstGeom>
        </p:spPr>
      </p:pic>
      <p:pic>
        <p:nvPicPr>
          <p:cNvPr id="37" name="Graphic 36" descr="Fir tree">
            <a:extLst>
              <a:ext uri="{FF2B5EF4-FFF2-40B4-BE49-F238E27FC236}">
                <a16:creationId xmlns:a16="http://schemas.microsoft.com/office/drawing/2014/main" id="{52B6C59D-B2C4-592E-D5F4-D9F5198777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87517" y="1853033"/>
            <a:ext cx="286324" cy="286324"/>
          </a:xfrm>
          <a:prstGeom prst="rect">
            <a:avLst/>
          </a:prstGeom>
        </p:spPr>
      </p:pic>
      <p:pic>
        <p:nvPicPr>
          <p:cNvPr id="38" name="Graphic 37" descr="Fir tree">
            <a:extLst>
              <a:ext uri="{FF2B5EF4-FFF2-40B4-BE49-F238E27FC236}">
                <a16:creationId xmlns:a16="http://schemas.microsoft.com/office/drawing/2014/main" id="{8B7FDB6E-F5A0-B042-CDF2-4D760951E3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80487" y="1853033"/>
            <a:ext cx="286324" cy="286324"/>
          </a:xfrm>
          <a:prstGeom prst="rect">
            <a:avLst/>
          </a:prstGeom>
        </p:spPr>
      </p:pic>
      <p:pic>
        <p:nvPicPr>
          <p:cNvPr id="39" name="Graphic 38" descr="Fir tree">
            <a:extLst>
              <a:ext uri="{FF2B5EF4-FFF2-40B4-BE49-F238E27FC236}">
                <a16:creationId xmlns:a16="http://schemas.microsoft.com/office/drawing/2014/main" id="{6373E145-8B17-5F6E-18C6-D7B0BA8B8F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6811" y="1853033"/>
            <a:ext cx="286324" cy="286324"/>
          </a:xfrm>
          <a:prstGeom prst="rect">
            <a:avLst/>
          </a:prstGeom>
        </p:spPr>
      </p:pic>
      <p:pic>
        <p:nvPicPr>
          <p:cNvPr id="40" name="Graphic 39" descr="Fir tree">
            <a:extLst>
              <a:ext uri="{FF2B5EF4-FFF2-40B4-BE49-F238E27FC236}">
                <a16:creationId xmlns:a16="http://schemas.microsoft.com/office/drawing/2014/main" id="{FB1AAFA3-831E-CAAF-4B15-2B01D938C0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88568" y="1853033"/>
            <a:ext cx="286324" cy="286324"/>
          </a:xfrm>
          <a:prstGeom prst="rect">
            <a:avLst/>
          </a:prstGeom>
        </p:spPr>
      </p:pic>
      <p:pic>
        <p:nvPicPr>
          <p:cNvPr id="41" name="Graphic 40" descr="Fir tree">
            <a:extLst>
              <a:ext uri="{FF2B5EF4-FFF2-40B4-BE49-F238E27FC236}">
                <a16:creationId xmlns:a16="http://schemas.microsoft.com/office/drawing/2014/main" id="{81EE4F5A-6429-06B3-137A-FE4C8B4960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74892" y="1853033"/>
            <a:ext cx="286324" cy="28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947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3FCB8-5E28-589A-6B1C-C53B3E81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628D621-77E8-F229-B60D-48BF243E5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CF63AA-95FF-EF34-B313-4092CD241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096D3B30-9D0C-6CA5-B51B-2D829BFBFA57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A0BEBFB3-FEDB-FDED-17EA-8E4606D43AF2}"/>
              </a:ext>
            </a:extLst>
          </p:cNvPr>
          <p:cNvSpPr txBox="1"/>
          <p:nvPr/>
        </p:nvSpPr>
        <p:spPr>
          <a:xfrm>
            <a:off x="184392" y="815542"/>
            <a:ext cx="10498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vs.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any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C31ADB4-34E3-3E53-E481-E29F50F54C9F}"/>
              </a:ext>
            </a:extLst>
          </p:cNvPr>
          <p:cNvGraphicFramePr>
            <a:graphicFrameLocks noGrp="1"/>
          </p:cNvGraphicFramePr>
          <p:nvPr/>
        </p:nvGraphicFramePr>
        <p:xfrm>
          <a:off x="627128" y="1552888"/>
          <a:ext cx="10774683" cy="48707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1706">
                  <a:extLst>
                    <a:ext uri="{9D8B030D-6E8A-4147-A177-3AD203B41FA5}">
                      <a16:colId xmlns:a16="http://schemas.microsoft.com/office/drawing/2014/main" val="3716285295"/>
                    </a:ext>
                  </a:extLst>
                </a:gridCol>
                <a:gridCol w="809366">
                  <a:extLst>
                    <a:ext uri="{9D8B030D-6E8A-4147-A177-3AD203B41FA5}">
                      <a16:colId xmlns:a16="http://schemas.microsoft.com/office/drawing/2014/main" val="1825695546"/>
                    </a:ext>
                  </a:extLst>
                </a:gridCol>
                <a:gridCol w="809366">
                  <a:extLst>
                    <a:ext uri="{9D8B030D-6E8A-4147-A177-3AD203B41FA5}">
                      <a16:colId xmlns:a16="http://schemas.microsoft.com/office/drawing/2014/main" val="1762739831"/>
                    </a:ext>
                  </a:extLst>
                </a:gridCol>
                <a:gridCol w="809366">
                  <a:extLst>
                    <a:ext uri="{9D8B030D-6E8A-4147-A177-3AD203B41FA5}">
                      <a16:colId xmlns:a16="http://schemas.microsoft.com/office/drawing/2014/main" val="1914230908"/>
                    </a:ext>
                  </a:extLst>
                </a:gridCol>
                <a:gridCol w="859951">
                  <a:extLst>
                    <a:ext uri="{9D8B030D-6E8A-4147-A177-3AD203B41FA5}">
                      <a16:colId xmlns:a16="http://schemas.microsoft.com/office/drawing/2014/main" val="2067398152"/>
                    </a:ext>
                  </a:extLst>
                </a:gridCol>
                <a:gridCol w="809366">
                  <a:extLst>
                    <a:ext uri="{9D8B030D-6E8A-4147-A177-3AD203B41FA5}">
                      <a16:colId xmlns:a16="http://schemas.microsoft.com/office/drawing/2014/main" val="284683708"/>
                    </a:ext>
                  </a:extLst>
                </a:gridCol>
                <a:gridCol w="809366">
                  <a:extLst>
                    <a:ext uri="{9D8B030D-6E8A-4147-A177-3AD203B41FA5}">
                      <a16:colId xmlns:a16="http://schemas.microsoft.com/office/drawing/2014/main" val="1783781769"/>
                    </a:ext>
                  </a:extLst>
                </a:gridCol>
                <a:gridCol w="809366">
                  <a:extLst>
                    <a:ext uri="{9D8B030D-6E8A-4147-A177-3AD203B41FA5}">
                      <a16:colId xmlns:a16="http://schemas.microsoft.com/office/drawing/2014/main" val="1034976442"/>
                    </a:ext>
                  </a:extLst>
                </a:gridCol>
                <a:gridCol w="809366">
                  <a:extLst>
                    <a:ext uri="{9D8B030D-6E8A-4147-A177-3AD203B41FA5}">
                      <a16:colId xmlns:a16="http://schemas.microsoft.com/office/drawing/2014/main" val="2502239271"/>
                    </a:ext>
                  </a:extLst>
                </a:gridCol>
                <a:gridCol w="809366">
                  <a:extLst>
                    <a:ext uri="{9D8B030D-6E8A-4147-A177-3AD203B41FA5}">
                      <a16:colId xmlns:a16="http://schemas.microsoft.com/office/drawing/2014/main" val="1440810492"/>
                    </a:ext>
                  </a:extLst>
                </a:gridCol>
                <a:gridCol w="809366">
                  <a:extLst>
                    <a:ext uri="{9D8B030D-6E8A-4147-A177-3AD203B41FA5}">
                      <a16:colId xmlns:a16="http://schemas.microsoft.com/office/drawing/2014/main" val="3019187137"/>
                    </a:ext>
                  </a:extLst>
                </a:gridCol>
                <a:gridCol w="809366">
                  <a:extLst>
                    <a:ext uri="{9D8B030D-6E8A-4147-A177-3AD203B41FA5}">
                      <a16:colId xmlns:a16="http://schemas.microsoft.com/office/drawing/2014/main" val="2072965551"/>
                    </a:ext>
                  </a:extLst>
                </a:gridCol>
                <a:gridCol w="809366">
                  <a:extLst>
                    <a:ext uri="{9D8B030D-6E8A-4147-A177-3AD203B41FA5}">
                      <a16:colId xmlns:a16="http://schemas.microsoft.com/office/drawing/2014/main" val="1175536349"/>
                    </a:ext>
                  </a:extLst>
                </a:gridCol>
              </a:tblGrid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 dirty="0" err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All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A. alba</a:t>
                      </a:r>
                      <a:endParaRPr lang="es-ES" sz="1000" b="1" i="1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rgbClr val="785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P. </a:t>
                      </a:r>
                      <a:r>
                        <a:rPr lang="es-ES" sz="1000" b="1" i="1" u="none" strike="noStrike" dirty="0" err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sylvestris</a:t>
                      </a:r>
                      <a:endParaRPr lang="es-ES" sz="1000" b="1" i="1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rgbClr val="FFB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P. pinea</a:t>
                      </a:r>
                      <a:endParaRPr lang="es-ES" sz="1000" b="1" i="1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rgbClr val="DC26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446600"/>
                  </a:ext>
                </a:extLst>
              </a:tr>
              <a:tr h="456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Variable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rgbClr val="AB9C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rgbClr val="AB9C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rgbClr val="AB9C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rgbClr val="FFD4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rgbClr val="FFD4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rgbClr val="FFD4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rgbClr val="EA7E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rgbClr val="EA7E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rgbClr val="EA7E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29744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BAI 20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005948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BAI 15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534274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BAI 10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553306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BAI 05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261922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LWC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0,053</a:t>
                      </a: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956966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SLA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678346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 err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Chl</a:t>
                      </a: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.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574610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Chl a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937325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 err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Chl</a:t>
                      </a: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b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432831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Chl a/b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343825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Carotenoids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869517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Chl / carotenoids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619482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9100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089174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C:N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09409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D13c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656210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D15n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264023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d18o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926341"/>
                  </a:ext>
                </a:extLst>
              </a:tr>
              <a:tr h="22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 err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Defoliation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****</a:t>
                      </a:r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15" marR="5515" marT="5515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162212"/>
                  </a:ext>
                </a:extLst>
              </a:tr>
            </a:tbl>
          </a:graphicData>
        </a:graphic>
      </p:graphicFrame>
      <p:pic>
        <p:nvPicPr>
          <p:cNvPr id="18" name="Graphic 17" descr="Fir tree">
            <a:extLst>
              <a:ext uri="{FF2B5EF4-FFF2-40B4-BE49-F238E27FC236}">
                <a16:creationId xmlns:a16="http://schemas.microsoft.com/office/drawing/2014/main" id="{CB4313C2-41F6-34AB-8125-38FF123E8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49242" y="1856820"/>
            <a:ext cx="286324" cy="286324"/>
          </a:xfrm>
          <a:prstGeom prst="rect">
            <a:avLst/>
          </a:prstGeom>
        </p:spPr>
      </p:pic>
      <p:pic>
        <p:nvPicPr>
          <p:cNvPr id="19" name="Graphic 18" descr="Fir tree">
            <a:extLst>
              <a:ext uri="{FF2B5EF4-FFF2-40B4-BE49-F238E27FC236}">
                <a16:creationId xmlns:a16="http://schemas.microsoft.com/office/drawing/2014/main" id="{5008B96D-9011-A72D-9E6B-840095CD77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35566" y="1856820"/>
            <a:ext cx="286324" cy="286324"/>
          </a:xfrm>
          <a:prstGeom prst="rect">
            <a:avLst/>
          </a:prstGeom>
        </p:spPr>
      </p:pic>
      <p:pic>
        <p:nvPicPr>
          <p:cNvPr id="20" name="Graphic 19" descr="Fir tree">
            <a:extLst>
              <a:ext uri="{FF2B5EF4-FFF2-40B4-BE49-F238E27FC236}">
                <a16:creationId xmlns:a16="http://schemas.microsoft.com/office/drawing/2014/main" id="{1F8572BB-217F-8F64-2043-38C6B8D214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28536" y="1856820"/>
            <a:ext cx="286324" cy="286324"/>
          </a:xfrm>
          <a:prstGeom prst="rect">
            <a:avLst/>
          </a:prstGeom>
        </p:spPr>
      </p:pic>
      <p:pic>
        <p:nvPicPr>
          <p:cNvPr id="21" name="Graphic 20" descr="Fir tree">
            <a:extLst>
              <a:ext uri="{FF2B5EF4-FFF2-40B4-BE49-F238E27FC236}">
                <a16:creationId xmlns:a16="http://schemas.microsoft.com/office/drawing/2014/main" id="{81D68D13-EA31-8A53-1E34-E339EC4905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14860" y="1856820"/>
            <a:ext cx="286324" cy="286324"/>
          </a:xfrm>
          <a:prstGeom prst="rect">
            <a:avLst/>
          </a:prstGeom>
        </p:spPr>
      </p:pic>
      <p:pic>
        <p:nvPicPr>
          <p:cNvPr id="22" name="Graphic 21" descr="Fir tree">
            <a:extLst>
              <a:ext uri="{FF2B5EF4-FFF2-40B4-BE49-F238E27FC236}">
                <a16:creationId xmlns:a16="http://schemas.microsoft.com/office/drawing/2014/main" id="{9E1102E9-45CC-89D9-BB4F-D8D4A07065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36617" y="1856820"/>
            <a:ext cx="286324" cy="286324"/>
          </a:xfrm>
          <a:prstGeom prst="rect">
            <a:avLst/>
          </a:prstGeom>
        </p:spPr>
      </p:pic>
      <p:pic>
        <p:nvPicPr>
          <p:cNvPr id="23" name="Graphic 22" descr="Fir tree">
            <a:extLst>
              <a:ext uri="{FF2B5EF4-FFF2-40B4-BE49-F238E27FC236}">
                <a16:creationId xmlns:a16="http://schemas.microsoft.com/office/drawing/2014/main" id="{D2042F6D-9758-4BBA-39B6-284AFE5C33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22941" y="1856820"/>
            <a:ext cx="286324" cy="286324"/>
          </a:xfrm>
          <a:prstGeom prst="rect">
            <a:avLst/>
          </a:prstGeom>
        </p:spPr>
      </p:pic>
      <p:pic>
        <p:nvPicPr>
          <p:cNvPr id="24" name="Graphic 23" descr="Fir tree">
            <a:extLst>
              <a:ext uri="{FF2B5EF4-FFF2-40B4-BE49-F238E27FC236}">
                <a16:creationId xmlns:a16="http://schemas.microsoft.com/office/drawing/2014/main" id="{A713E124-3386-A385-C8D5-D2AC73A23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23297" y="1856820"/>
            <a:ext cx="286324" cy="286324"/>
          </a:xfrm>
          <a:prstGeom prst="rect">
            <a:avLst/>
          </a:prstGeom>
        </p:spPr>
      </p:pic>
      <p:pic>
        <p:nvPicPr>
          <p:cNvPr id="25" name="Graphic 24" descr="Fir tree">
            <a:extLst>
              <a:ext uri="{FF2B5EF4-FFF2-40B4-BE49-F238E27FC236}">
                <a16:creationId xmlns:a16="http://schemas.microsoft.com/office/drawing/2014/main" id="{967D3FF1-22FB-4CB9-2450-EF686CBF93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9621" y="1856820"/>
            <a:ext cx="286324" cy="286324"/>
          </a:xfrm>
          <a:prstGeom prst="rect">
            <a:avLst/>
          </a:prstGeom>
        </p:spPr>
      </p:pic>
      <p:pic>
        <p:nvPicPr>
          <p:cNvPr id="26" name="Graphic 25" descr="Fir tree">
            <a:extLst>
              <a:ext uri="{FF2B5EF4-FFF2-40B4-BE49-F238E27FC236}">
                <a16:creationId xmlns:a16="http://schemas.microsoft.com/office/drawing/2014/main" id="{35E0AC7E-5D62-0752-735C-A5001F37A1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2591" y="1856820"/>
            <a:ext cx="286324" cy="286324"/>
          </a:xfrm>
          <a:prstGeom prst="rect">
            <a:avLst/>
          </a:prstGeom>
        </p:spPr>
      </p:pic>
      <p:pic>
        <p:nvPicPr>
          <p:cNvPr id="27" name="Graphic 26" descr="Fir tree">
            <a:extLst>
              <a:ext uri="{FF2B5EF4-FFF2-40B4-BE49-F238E27FC236}">
                <a16:creationId xmlns:a16="http://schemas.microsoft.com/office/drawing/2014/main" id="{DA490955-1ED9-1CDB-9C9A-95536800C7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88915" y="1856820"/>
            <a:ext cx="286324" cy="286324"/>
          </a:xfrm>
          <a:prstGeom prst="rect">
            <a:avLst/>
          </a:prstGeom>
        </p:spPr>
      </p:pic>
      <p:pic>
        <p:nvPicPr>
          <p:cNvPr id="28" name="Graphic 27" descr="Fir tree">
            <a:extLst>
              <a:ext uri="{FF2B5EF4-FFF2-40B4-BE49-F238E27FC236}">
                <a16:creationId xmlns:a16="http://schemas.microsoft.com/office/drawing/2014/main" id="{03FD2FE8-7C1A-B35A-A4B1-B4EC362968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10672" y="1856820"/>
            <a:ext cx="286324" cy="286324"/>
          </a:xfrm>
          <a:prstGeom prst="rect">
            <a:avLst/>
          </a:prstGeom>
        </p:spPr>
      </p:pic>
      <p:pic>
        <p:nvPicPr>
          <p:cNvPr id="29" name="Graphic 28" descr="Fir tree">
            <a:extLst>
              <a:ext uri="{FF2B5EF4-FFF2-40B4-BE49-F238E27FC236}">
                <a16:creationId xmlns:a16="http://schemas.microsoft.com/office/drawing/2014/main" id="{552DF670-9050-5712-2A58-83C76088AC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996" y="1856820"/>
            <a:ext cx="286324" cy="286324"/>
          </a:xfrm>
          <a:prstGeom prst="rect">
            <a:avLst/>
          </a:prstGeom>
        </p:spPr>
      </p:pic>
      <p:pic>
        <p:nvPicPr>
          <p:cNvPr id="30" name="Graphic 29" descr="Fir tree">
            <a:extLst>
              <a:ext uri="{FF2B5EF4-FFF2-40B4-BE49-F238E27FC236}">
                <a16:creationId xmlns:a16="http://schemas.microsoft.com/office/drawing/2014/main" id="{1052D5AD-288D-4536-2BE8-0E2309741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0831" y="1856820"/>
            <a:ext cx="286324" cy="286324"/>
          </a:xfrm>
          <a:prstGeom prst="rect">
            <a:avLst/>
          </a:prstGeom>
        </p:spPr>
      </p:pic>
      <p:pic>
        <p:nvPicPr>
          <p:cNvPr id="31" name="Graphic 30" descr="Fir tree">
            <a:extLst>
              <a:ext uri="{FF2B5EF4-FFF2-40B4-BE49-F238E27FC236}">
                <a16:creationId xmlns:a16="http://schemas.microsoft.com/office/drawing/2014/main" id="{247DCB79-6820-C400-7F7F-924C470C56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67155" y="1856820"/>
            <a:ext cx="286324" cy="286324"/>
          </a:xfrm>
          <a:prstGeom prst="rect">
            <a:avLst/>
          </a:prstGeom>
        </p:spPr>
      </p:pic>
      <p:pic>
        <p:nvPicPr>
          <p:cNvPr id="32" name="Graphic 31" descr="Fir tree">
            <a:extLst>
              <a:ext uri="{FF2B5EF4-FFF2-40B4-BE49-F238E27FC236}">
                <a16:creationId xmlns:a16="http://schemas.microsoft.com/office/drawing/2014/main" id="{833F5F50-508C-299B-CAA4-E3F3E6E5E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0125" y="1856820"/>
            <a:ext cx="286324" cy="286324"/>
          </a:xfrm>
          <a:prstGeom prst="rect">
            <a:avLst/>
          </a:prstGeom>
        </p:spPr>
      </p:pic>
      <p:pic>
        <p:nvPicPr>
          <p:cNvPr id="33" name="Graphic 32" descr="Fir tree">
            <a:extLst>
              <a:ext uri="{FF2B5EF4-FFF2-40B4-BE49-F238E27FC236}">
                <a16:creationId xmlns:a16="http://schemas.microsoft.com/office/drawing/2014/main" id="{822964B5-DFAB-B5D2-E11E-E45A8999A3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6449" y="1856820"/>
            <a:ext cx="286324" cy="286324"/>
          </a:xfrm>
          <a:prstGeom prst="rect">
            <a:avLst/>
          </a:prstGeom>
        </p:spPr>
      </p:pic>
      <p:pic>
        <p:nvPicPr>
          <p:cNvPr id="34" name="Graphic 33" descr="Fir tree">
            <a:extLst>
              <a:ext uri="{FF2B5EF4-FFF2-40B4-BE49-F238E27FC236}">
                <a16:creationId xmlns:a16="http://schemas.microsoft.com/office/drawing/2014/main" id="{B2A8EC4E-38D7-6612-23D2-94998F2FA9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68206" y="1856820"/>
            <a:ext cx="286324" cy="286324"/>
          </a:xfrm>
          <a:prstGeom prst="rect">
            <a:avLst/>
          </a:prstGeom>
        </p:spPr>
      </p:pic>
      <p:pic>
        <p:nvPicPr>
          <p:cNvPr id="35" name="Graphic 34" descr="Fir tree">
            <a:extLst>
              <a:ext uri="{FF2B5EF4-FFF2-40B4-BE49-F238E27FC236}">
                <a16:creationId xmlns:a16="http://schemas.microsoft.com/office/drawing/2014/main" id="{7CE750A9-D0AD-5F94-5D1C-732D2D5CDD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54530" y="1856820"/>
            <a:ext cx="286324" cy="286324"/>
          </a:xfrm>
          <a:prstGeom prst="rect">
            <a:avLst/>
          </a:prstGeom>
        </p:spPr>
      </p:pic>
      <p:pic>
        <p:nvPicPr>
          <p:cNvPr id="36" name="Graphic 35" descr="Fir tree">
            <a:extLst>
              <a:ext uri="{FF2B5EF4-FFF2-40B4-BE49-F238E27FC236}">
                <a16:creationId xmlns:a16="http://schemas.microsoft.com/office/drawing/2014/main" id="{4C50046C-E7F7-5568-DAB3-551E12CD68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01193" y="1853033"/>
            <a:ext cx="286324" cy="286324"/>
          </a:xfrm>
          <a:prstGeom prst="rect">
            <a:avLst/>
          </a:prstGeom>
        </p:spPr>
      </p:pic>
      <p:pic>
        <p:nvPicPr>
          <p:cNvPr id="37" name="Graphic 36" descr="Fir tree">
            <a:extLst>
              <a:ext uri="{FF2B5EF4-FFF2-40B4-BE49-F238E27FC236}">
                <a16:creationId xmlns:a16="http://schemas.microsoft.com/office/drawing/2014/main" id="{6758F4AD-1AC3-2305-E9A9-1BCA266F78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87517" y="1853033"/>
            <a:ext cx="286324" cy="286324"/>
          </a:xfrm>
          <a:prstGeom prst="rect">
            <a:avLst/>
          </a:prstGeom>
        </p:spPr>
      </p:pic>
      <p:pic>
        <p:nvPicPr>
          <p:cNvPr id="38" name="Graphic 37" descr="Fir tree">
            <a:extLst>
              <a:ext uri="{FF2B5EF4-FFF2-40B4-BE49-F238E27FC236}">
                <a16:creationId xmlns:a16="http://schemas.microsoft.com/office/drawing/2014/main" id="{42907CCD-BFF0-96ED-F7F1-43DA8CB10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80487" y="1853033"/>
            <a:ext cx="286324" cy="286324"/>
          </a:xfrm>
          <a:prstGeom prst="rect">
            <a:avLst/>
          </a:prstGeom>
        </p:spPr>
      </p:pic>
      <p:pic>
        <p:nvPicPr>
          <p:cNvPr id="39" name="Graphic 38" descr="Fir tree">
            <a:extLst>
              <a:ext uri="{FF2B5EF4-FFF2-40B4-BE49-F238E27FC236}">
                <a16:creationId xmlns:a16="http://schemas.microsoft.com/office/drawing/2014/main" id="{3D2F7DC8-5374-8158-1CBB-7DFD72B0C0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6811" y="1853033"/>
            <a:ext cx="286324" cy="286324"/>
          </a:xfrm>
          <a:prstGeom prst="rect">
            <a:avLst/>
          </a:prstGeom>
        </p:spPr>
      </p:pic>
      <p:pic>
        <p:nvPicPr>
          <p:cNvPr id="40" name="Graphic 39" descr="Fir tree">
            <a:extLst>
              <a:ext uri="{FF2B5EF4-FFF2-40B4-BE49-F238E27FC236}">
                <a16:creationId xmlns:a16="http://schemas.microsoft.com/office/drawing/2014/main" id="{35B53630-2EC1-D8E4-43F2-B3481AEB38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88568" y="1853033"/>
            <a:ext cx="286324" cy="286324"/>
          </a:xfrm>
          <a:prstGeom prst="rect">
            <a:avLst/>
          </a:prstGeom>
        </p:spPr>
      </p:pic>
      <p:pic>
        <p:nvPicPr>
          <p:cNvPr id="41" name="Graphic 40" descr="Fir tree">
            <a:extLst>
              <a:ext uri="{FF2B5EF4-FFF2-40B4-BE49-F238E27FC236}">
                <a16:creationId xmlns:a16="http://schemas.microsoft.com/office/drawing/2014/main" id="{94E46941-8C86-EA14-184E-51B5D81869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74892" y="1853033"/>
            <a:ext cx="286324" cy="28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7458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6673</TotalTime>
  <Words>3035</Words>
  <Application>Microsoft Office PowerPoint</Application>
  <PresentationFormat>Widescreen</PresentationFormat>
  <Paragraphs>1006</Paragraphs>
  <Slides>38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Helvetica</vt:lpstr>
      <vt:lpstr>Times New Roman</vt:lpstr>
      <vt:lpstr>Tema de Office</vt:lpstr>
      <vt:lpstr>Chapter 2 – Assessing individual factors determining drought vulnerability</vt:lpstr>
      <vt:lpstr> Drought-induced tree mortality</vt:lpstr>
      <vt:lpstr>PowerPoint Presentation</vt:lpstr>
      <vt:lpstr> Complementary strategies to cope with drought</vt:lpstr>
      <vt:lpstr> Complementary strategies to cope with drought</vt:lpstr>
      <vt:lpstr> Complementary strategies to cope with drought</vt:lpstr>
      <vt:lpstr>PowerPoint Presentation</vt:lpstr>
      <vt:lpstr> Resource-use strategies</vt:lpstr>
      <vt:lpstr> Responses to drought</vt:lpstr>
      <vt:lpstr>PowerPoint Presentation</vt:lpstr>
      <vt:lpstr>PowerPoint Presentation</vt:lpstr>
      <vt:lpstr>PowerPoint Presentation</vt:lpstr>
      <vt:lpstr> Complementary strategies to cope with drought</vt:lpstr>
      <vt:lpstr> Complementary strategies to cope with drought</vt:lpstr>
      <vt:lpstr> Complementary strategies to cope with drought</vt:lpstr>
      <vt:lpstr>PowerPoint Presentation</vt:lpstr>
      <vt:lpstr>PowerPoint Presentation</vt:lpstr>
      <vt:lpstr>PowerPoint Presentation</vt:lpstr>
      <vt:lpstr>PowerPoint Presentation</vt:lpstr>
      <vt:lpstr> Study area</vt:lpstr>
      <vt:lpstr> Sampling design</vt:lpstr>
      <vt:lpstr> Sampling design</vt:lpstr>
      <vt:lpstr> Data analysis</vt:lpstr>
      <vt:lpstr> Data analysis</vt:lpstr>
      <vt:lpstr> Data analysis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PowerPoint Presentation</vt:lpstr>
      <vt:lpstr>Supplementary Material  -  Figures</vt:lpstr>
      <vt:lpstr> Preliminary results</vt:lpstr>
      <vt:lpstr> Preliminary results</vt:lpstr>
      <vt:lpstr> Preliminary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Cristopher Fernández de Blas</dc:creator>
  <cp:lastModifiedBy>Cristopher Fernández de Blas</cp:lastModifiedBy>
  <cp:revision>65</cp:revision>
  <dcterms:created xsi:type="dcterms:W3CDTF">2025-04-25T13:52:31Z</dcterms:created>
  <dcterms:modified xsi:type="dcterms:W3CDTF">2025-07-24T11:51:31Z</dcterms:modified>
</cp:coreProperties>
</file>