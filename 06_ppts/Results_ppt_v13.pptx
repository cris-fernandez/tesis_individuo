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500" r:id="rId5"/>
    <p:sldId id="341" r:id="rId6"/>
    <p:sldId id="468" r:id="rId7"/>
    <p:sldId id="515" r:id="rId8"/>
    <p:sldId id="485" r:id="rId9"/>
    <p:sldId id="487" r:id="rId10"/>
    <p:sldId id="516" r:id="rId11"/>
    <p:sldId id="517" r:id="rId12"/>
    <p:sldId id="488" r:id="rId13"/>
    <p:sldId id="518" r:id="rId14"/>
    <p:sldId id="282" r:id="rId15"/>
    <p:sldId id="520" r:id="rId16"/>
    <p:sldId id="519" r:id="rId17"/>
    <p:sldId id="335" r:id="rId18"/>
    <p:sldId id="342" r:id="rId19"/>
    <p:sldId id="539" r:id="rId20"/>
    <p:sldId id="337" r:id="rId21"/>
    <p:sldId id="534" r:id="rId22"/>
    <p:sldId id="522" r:id="rId23"/>
    <p:sldId id="535" r:id="rId24"/>
    <p:sldId id="536" r:id="rId25"/>
    <p:sldId id="537" r:id="rId26"/>
    <p:sldId id="538" r:id="rId27"/>
    <p:sldId id="526" r:id="rId28"/>
    <p:sldId id="463" r:id="rId29"/>
    <p:sldId id="479" r:id="rId30"/>
    <p:sldId id="527" r:id="rId31"/>
    <p:sldId id="528" r:id="rId32"/>
    <p:sldId id="529" r:id="rId33"/>
    <p:sldId id="530" r:id="rId34"/>
    <p:sldId id="540" r:id="rId35"/>
    <p:sldId id="532" r:id="rId36"/>
    <p:sldId id="533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opher Fernández de Blas" initials="CF" lastIdx="1" clrIdx="0">
    <p:extLst>
      <p:ext uri="{19B8F6BF-5375-455C-9EA6-DF929625EA0E}">
        <p15:presenceInfo xmlns:p15="http://schemas.microsoft.com/office/powerpoint/2012/main" userId="13a2925ceb8d1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A52"/>
    <a:srgbClr val="7B62F0"/>
    <a:srgbClr val="4188B1"/>
    <a:srgbClr val="DE0000"/>
    <a:srgbClr val="218317"/>
    <a:srgbClr val="8A0000"/>
    <a:srgbClr val="F7954B"/>
    <a:srgbClr val="ECC020"/>
    <a:srgbClr val="A5A212"/>
    <a:srgbClr val="768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94"/>
  </p:normalViewPr>
  <p:slideViewPr>
    <p:cSldViewPr snapToGrid="0">
      <p:cViewPr varScale="1">
        <p:scale>
          <a:sx n="82" d="100"/>
          <a:sy n="82" d="100"/>
        </p:scale>
        <p:origin x="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01T16:19:45.596" idx="1">
    <p:pos x="10" y="10"/>
    <p:text>Tengo apuntado que en principio (sugerencia de Gazol) solo hiciera los RR entre árboles dañados y sanos DEL HOTSPOT, pero incluyo ambos por si acaso... entiendo que uno de los dos luego irá al supporting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la idea sería resaltar que existen otros ejes de variabilidad de </a:t>
            </a:r>
            <a:r>
              <a:rPr lang="es-ES" dirty="0" err="1"/>
              <a:t>traits</a:t>
            </a:r>
            <a:r>
              <a:rPr lang="es-ES" dirty="0"/>
              <a:t> que no queda recogida por el </a:t>
            </a:r>
            <a:r>
              <a:rPr lang="es-ES" dirty="0" err="1"/>
              <a:t>Leaf</a:t>
            </a:r>
            <a:r>
              <a:rPr lang="es-ES" dirty="0"/>
              <a:t> </a:t>
            </a:r>
            <a:r>
              <a:rPr lang="es-ES" dirty="0" err="1"/>
              <a:t>Economics</a:t>
            </a:r>
            <a:r>
              <a:rPr lang="es-ES" dirty="0"/>
              <a:t> </a:t>
            </a:r>
            <a:r>
              <a:rPr lang="es-ES" dirty="0" err="1"/>
              <a:t>Spectrum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0418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502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D334-C971-CC55-A564-520AAC00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C4FC61-8213-4ECA-4896-671D184C8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792A04-3EC9-BABB-E8E4-75DE0030B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E8A845-610B-FAD5-0551-EE82206B9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6885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5320-EF6F-D7F4-2AF7-F3B888C2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86396F-A988-E639-4FFA-596595094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9645F0-E808-79F6-FB44-3A83C1BE5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E0DD0B-FAF0-A9E6-CE1A-4FAD6E27F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519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19E8-E469-AD0E-F1C3-5A7B7EE0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1B2265-AAF7-F107-8B20-4DDFA2E6E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231052-E463-F17C-F3D1-3757F7CB8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26CD51-8AB4-8B07-CF06-D3DBFD0D6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855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0D9B-32D5-08E1-67CC-11FBEC4D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DA441C-8EEB-565F-D092-FDD244198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2C3522-C0A2-8303-515B-412A75BD6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7901F7-A220-8F10-745D-AAA574B99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323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3F83-1D3B-F88A-CEAD-D9709F4A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60AEA3-8214-F965-FF93-5B95C9A53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29A0E5-6938-022E-DC2D-04B4A6B0E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E050AC-558B-EF6B-2934-AD1D71EA7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767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DE84-154B-B435-0107-EA051DBB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0E3C41-4DED-AF5B-F374-85BB8369E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A89FC9-0A40-A97F-370F-6ACE6A979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48A5F6-C367-154D-AEFA-D74FA29FB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832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60404-DF2F-441F-0FAB-53931CBE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B6BDF4-0F20-C2DF-0DA6-D55AB5BA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C36FC6-1E8E-F55D-FE8E-C15E7EB62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1C908F-A6E0-04DE-AC56-783A74B0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703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E1FAC-BB86-DCA1-9D17-75BE0D52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DBA997-5A9A-458B-E3C1-B212D2F78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BC0F3C-9739-AE3A-0447-8A8BA27ED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28E6BE-1714-274F-1CC4-C683B4F7D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91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9FB9-4200-807F-339E-5D641189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4C0785-2B1C-8C71-FEDE-2A8431143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8D6763-F416-5CCF-ACA4-7636BF535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5BE7A7-58D3-D3CF-5341-CEACDA4A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799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4531-77DD-B023-BD48-4240FE55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3CD9D1-576B-A5E3-105A-4D2272EC5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6A4DDA-5A36-8B92-5F44-42C442473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A6A9E5-8152-CF08-C9E3-53C8FCFBD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6354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62DA-C9B7-2B47-1AF6-82C22CF7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DEBD86-295C-809D-AEB6-60DE43F10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0623EB-2246-2965-951E-4730B8467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CD2E02-AEF6-7D55-2790-3CF1190AC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55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A92-E5F1-7B28-A1FE-6E082F26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70EBFC-9420-B213-DF08-5E6AA2AA2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19BFCD-9CEC-6767-3ADD-13F8F3A81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836990-1C8E-BEC7-7ADF-50922C7C9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3209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1BD9-B93A-50E8-761D-9A0B144A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9CC5579-4709-01C8-0342-DC35DA92A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88130C-82AA-95E8-0B34-9E6BA028B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F22DA7-A6C0-0022-7760-6C76342BF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4165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B621-D046-AA99-915C-7CDF3D2F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E98A0DD-B1F1-E9DD-66A5-263F9531F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2021EB-69DF-29C2-73EF-A21F05920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741DDF-CD76-6A5A-3594-4C00E95D3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2680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4EFC-01AF-CFF6-4A55-51CE405B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1C26B1-C80E-9818-2AFC-BCDFFB6F9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4C325D-DA6B-914A-B63F-7539094F0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884E28-4D7E-C994-ACD9-11F2CB31A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3747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6BE6-5ECB-312B-1029-03DCDDA5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968F6A-6490-01BE-DBEA-9E7837F81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27BD5F-602B-023E-90F9-5E57580A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497083-2253-7874-9ABF-BFE79617D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210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198D-7FD6-2E76-8C22-1A98352E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8EC3F4-A4AD-381B-3AFA-5872CCEC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1500C4-1FE4-8256-73A9-593DD8DFE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F166FA-23C1-3E23-541C-00F3F65E8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73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03/09/2025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30.png"/><Relationship Id="rId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image" Target="../media/image3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tiff"/><Relationship Id="rId3" Type="http://schemas.openxmlformats.org/officeDocument/2006/relationships/image" Target="../media/image19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tiff"/><Relationship Id="rId4" Type="http://schemas.openxmlformats.org/officeDocument/2006/relationships/image" Target="../media/image37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tiff"/><Relationship Id="rId4" Type="http://schemas.openxmlformats.org/officeDocument/2006/relationships/image" Target="../media/image39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tiff"/><Relationship Id="rId4" Type="http://schemas.openxmlformats.org/officeDocument/2006/relationships/image" Target="../media/image41.tif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tiff"/><Relationship Id="rId3" Type="http://schemas.openxmlformats.org/officeDocument/2006/relationships/image" Target="../media/image26.png"/><Relationship Id="rId7" Type="http://schemas.openxmlformats.org/officeDocument/2006/relationships/image" Target="../media/image4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tiff"/><Relationship Id="rId3" Type="http://schemas.openxmlformats.org/officeDocument/2006/relationships/image" Target="../media/image26.png"/><Relationship Id="rId7" Type="http://schemas.openxmlformats.org/officeDocument/2006/relationships/image" Target="../media/image45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tiff"/><Relationship Id="rId3" Type="http://schemas.openxmlformats.org/officeDocument/2006/relationships/image" Target="../media/image26.png"/><Relationship Id="rId7" Type="http://schemas.openxmlformats.org/officeDocument/2006/relationships/image" Target="../media/image4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50.tiff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E07E-D324-71E9-E008-BA7D56CD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47CB74-E264-BA69-2960-793B448D1D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E8B853-5D20-7343-5D11-5F73E9C32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 fontScale="90000"/>
          </a:bodyPr>
          <a:lstStyle/>
          <a:p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Chapter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2 –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Assessing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individual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determining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endParaRPr lang="es-ES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30D7EC-85BE-3D39-C65E-E6C882998F82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>
                <a:latin typeface="Helvetica"/>
                <a:cs typeface="Helvetica"/>
              </a:rPr>
              <a:t>Cristopher Fernández de Blas – 03/09/2025	IB-</a:t>
            </a:r>
            <a:r>
              <a:rPr lang="es-ES" sz="3200" dirty="0" err="1">
                <a:latin typeface="Helvetica"/>
                <a:cs typeface="Helvetica"/>
              </a:rPr>
              <a:t>ForRes</a:t>
            </a:r>
            <a:r>
              <a:rPr lang="es-ES" sz="3200" dirty="0">
                <a:latin typeface="Helvetica"/>
                <a:cs typeface="Helvetica"/>
              </a:rPr>
              <a:t> Project </a:t>
            </a:r>
          </a:p>
        </p:txBody>
      </p:sp>
    </p:spTree>
    <p:extLst>
      <p:ext uri="{BB962C8B-B14F-4D97-AF65-F5344CB8AC3E}">
        <p14:creationId xmlns:p14="http://schemas.microsoft.com/office/powerpoint/2010/main" val="177483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A987-8E48-280D-E7CC-510D650B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rees on the Edge: Understanding Douglas-fir Decline and Mortality in  Southwest Oregon | OSU Extension Service">
            <a:extLst>
              <a:ext uri="{FF2B5EF4-FFF2-40B4-BE49-F238E27FC236}">
                <a16:creationId xmlns:a16="http://schemas.microsoft.com/office/drawing/2014/main" id="{10367549-1026-C488-5876-09B6139F5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b="15946"/>
          <a:stretch/>
        </p:blipFill>
        <p:spPr bwMode="auto">
          <a:xfrm>
            <a:off x="3054763" y="1749582"/>
            <a:ext cx="6082473" cy="335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9781540-947F-806E-0694-E726A1E765ED}"/>
              </a:ext>
            </a:extLst>
          </p:cNvPr>
          <p:cNvSpPr txBox="1">
            <a:spLocks/>
          </p:cNvSpPr>
          <p:nvPr/>
        </p:nvSpPr>
        <p:spPr>
          <a:xfrm>
            <a:off x="153017" y="1019998"/>
            <a:ext cx="11709532" cy="133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3200" err="1">
                <a:latin typeface="Helvetica"/>
                <a:cs typeface="Helvetica"/>
              </a:rPr>
              <a:t>It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is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hard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to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forecast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drought-induced</a:t>
            </a:r>
            <a:r>
              <a:rPr lang="es-ES" sz="3200">
                <a:latin typeface="Helvetica"/>
                <a:cs typeface="Helvetica"/>
              </a:rPr>
              <a:t> die-back </a:t>
            </a:r>
            <a:r>
              <a:rPr lang="es-ES" sz="3200" err="1">
                <a:latin typeface="Helvetica"/>
                <a:cs typeface="Helvetica"/>
              </a:rPr>
              <a:t>events</a:t>
            </a:r>
            <a:endParaRPr lang="es-ES" sz="3200">
              <a:latin typeface="Helvetica"/>
              <a:cs typeface="Helvetica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F0C8A6-D36B-E2BB-A94E-FA900227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endParaRPr lang="es-ES" sz="29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 descr="Dead Pine Tree – Photos Public Domain">
            <a:extLst>
              <a:ext uri="{FF2B5EF4-FFF2-40B4-BE49-F238E27FC236}">
                <a16:creationId xmlns:a16="http://schemas.microsoft.com/office/drawing/2014/main" id="{541BA644-CF11-0384-ABC7-D2AD6FE4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0" y="3807466"/>
            <a:ext cx="1710612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36884B-99ED-D5AD-864C-98C470AA9185}"/>
              </a:ext>
            </a:extLst>
          </p:cNvPr>
          <p:cNvSpPr txBox="1">
            <a:spLocks/>
          </p:cNvSpPr>
          <p:nvPr/>
        </p:nvSpPr>
        <p:spPr>
          <a:xfrm>
            <a:off x="10121175" y="3807466"/>
            <a:ext cx="2459409" cy="105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Individual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12A7CE1-B498-71BA-ACAB-F8AB56577FAD}"/>
              </a:ext>
            </a:extLst>
          </p:cNvPr>
          <p:cNvGrpSpPr/>
          <p:nvPr/>
        </p:nvGrpSpPr>
        <p:grpSpPr>
          <a:xfrm>
            <a:off x="6848359" y="4089754"/>
            <a:ext cx="1156529" cy="1538950"/>
            <a:chOff x="6527591" y="4904433"/>
            <a:chExt cx="1156529" cy="1538950"/>
          </a:xfrm>
        </p:grpSpPr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B01FFFBC-D897-9971-1EDB-E838FBF81A2A}"/>
                </a:ext>
              </a:extLst>
            </p:cNvPr>
            <p:cNvSpPr/>
            <p:nvPr/>
          </p:nvSpPr>
          <p:spPr>
            <a:xfrm rot="8499904">
              <a:off x="7235961" y="4996921"/>
              <a:ext cx="448159" cy="1446462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C8B95656-D402-A8F4-31C2-DBEA3C25C88A}"/>
                </a:ext>
              </a:extLst>
            </p:cNvPr>
            <p:cNvSpPr/>
            <p:nvPr/>
          </p:nvSpPr>
          <p:spPr>
            <a:xfrm rot="19291684">
              <a:off x="6527591" y="4904433"/>
              <a:ext cx="878698" cy="371984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DD3D6A-02B8-AC23-3DE9-25BF6BF2B355}"/>
              </a:ext>
            </a:extLst>
          </p:cNvPr>
          <p:cNvSpPr txBox="1">
            <a:spLocks/>
          </p:cNvSpPr>
          <p:nvPr/>
        </p:nvSpPr>
        <p:spPr>
          <a:xfrm>
            <a:off x="3054763" y="5509923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Early-warning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62230E7-0412-0DD2-A63D-F97F4A5F360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7753-B5D5-14CF-DA45-21CD41F8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848C4-D70A-FBB9-B36D-CFC00C76963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Graphic 6" descr="Fir tree">
            <a:extLst>
              <a:ext uri="{FF2B5EF4-FFF2-40B4-BE49-F238E27FC236}">
                <a16:creationId xmlns:a16="http://schemas.microsoft.com/office/drawing/2014/main" id="{34426B8F-6F31-95E9-EEFA-9A0CE285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4857" y="3189514"/>
            <a:ext cx="914400" cy="914400"/>
          </a:xfrm>
          <a:prstGeom prst="rect">
            <a:avLst/>
          </a:prstGeom>
        </p:spPr>
      </p:pic>
      <p:pic>
        <p:nvPicPr>
          <p:cNvPr id="10" name="Graphic 9" descr="Fir tree">
            <a:extLst>
              <a:ext uri="{FF2B5EF4-FFF2-40B4-BE49-F238E27FC236}">
                <a16:creationId xmlns:a16="http://schemas.microsoft.com/office/drawing/2014/main" id="{E89889B3-AA8C-F20C-5860-D1778B2AA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8251" y="3189514"/>
            <a:ext cx="914400" cy="914400"/>
          </a:xfrm>
          <a:prstGeom prst="rect">
            <a:avLst/>
          </a:prstGeom>
        </p:spPr>
      </p:pic>
      <p:pic>
        <p:nvPicPr>
          <p:cNvPr id="14" name="Graphic 13" descr="Fir tree">
            <a:extLst>
              <a:ext uri="{FF2B5EF4-FFF2-40B4-BE49-F238E27FC236}">
                <a16:creationId xmlns:a16="http://schemas.microsoft.com/office/drawing/2014/main" id="{09E128C3-B0ED-A125-734E-4193A47FC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11645" y="3189514"/>
            <a:ext cx="914400" cy="914400"/>
          </a:xfrm>
          <a:prstGeom prst="rect">
            <a:avLst/>
          </a:prstGeom>
        </p:spPr>
      </p:pic>
      <p:pic>
        <p:nvPicPr>
          <p:cNvPr id="18" name="Graphic 17" descr="Fir tree">
            <a:extLst>
              <a:ext uri="{FF2B5EF4-FFF2-40B4-BE49-F238E27FC236}">
                <a16:creationId xmlns:a16="http://schemas.microsoft.com/office/drawing/2014/main" id="{89935C83-8BD5-64E5-27D1-A9F9D1F76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5039" y="3189514"/>
            <a:ext cx="914400" cy="914400"/>
          </a:xfrm>
          <a:prstGeom prst="rect">
            <a:avLst/>
          </a:prstGeom>
        </p:spPr>
      </p:pic>
      <p:pic>
        <p:nvPicPr>
          <p:cNvPr id="19" name="Graphic 18" descr="Fir tree">
            <a:extLst>
              <a:ext uri="{FF2B5EF4-FFF2-40B4-BE49-F238E27FC236}">
                <a16:creationId xmlns:a16="http://schemas.microsoft.com/office/drawing/2014/main" id="{C9295E06-B455-4A40-F409-1C47189E09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8433" y="3189514"/>
            <a:ext cx="914400" cy="914400"/>
          </a:xfrm>
          <a:prstGeom prst="rect">
            <a:avLst/>
          </a:prstGeom>
        </p:spPr>
      </p:pic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57ACB6E-4D7B-E23F-1D4F-977241D4DED9}"/>
              </a:ext>
            </a:extLst>
          </p:cNvPr>
          <p:cNvSpPr/>
          <p:nvPr/>
        </p:nvSpPr>
        <p:spPr>
          <a:xfrm flipH="1">
            <a:off x="3664857" y="3328696"/>
            <a:ext cx="4152123" cy="737118"/>
          </a:xfrm>
          <a:prstGeom prst="rtTriangle">
            <a:avLst/>
          </a:prstGeom>
          <a:gradFill flip="none" rotWithShape="1">
            <a:gsLst>
              <a:gs pos="0">
                <a:srgbClr val="218317">
                  <a:alpha val="7000"/>
                </a:srgbClr>
              </a:gs>
              <a:gs pos="100000">
                <a:srgbClr val="DE0000"/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Graphic 19" descr="Fir tree">
            <a:extLst>
              <a:ext uri="{FF2B5EF4-FFF2-40B4-BE49-F238E27FC236}">
                <a16:creationId xmlns:a16="http://schemas.microsoft.com/office/drawing/2014/main" id="{3796810F-D27F-7853-9E3B-BBDB4191ED6A}"/>
              </a:ext>
            </a:extLst>
          </p:cNvPr>
          <p:cNvSpPr/>
          <p:nvPr/>
        </p:nvSpPr>
        <p:spPr>
          <a:xfrm>
            <a:off x="7443752" y="3227614"/>
            <a:ext cx="590550" cy="838200"/>
          </a:xfrm>
          <a:custGeom>
            <a:avLst/>
            <a:gdLst>
              <a:gd name="connsiteX0" fmla="*/ 590550 w 590550"/>
              <a:gd name="connsiteY0" fmla="*/ 685800 h 838200"/>
              <a:gd name="connsiteX1" fmla="*/ 419100 w 590550"/>
              <a:gd name="connsiteY1" fmla="*/ 419100 h 838200"/>
              <a:gd name="connsiteX2" fmla="*/ 523875 w 590550"/>
              <a:gd name="connsiteY2" fmla="*/ 447675 h 838200"/>
              <a:gd name="connsiteX3" fmla="*/ 400050 w 590550"/>
              <a:gd name="connsiteY3" fmla="*/ 257175 h 838200"/>
              <a:gd name="connsiteX4" fmla="*/ 476250 w 590550"/>
              <a:gd name="connsiteY4" fmla="*/ 266700 h 838200"/>
              <a:gd name="connsiteX5" fmla="*/ 295275 w 590550"/>
              <a:gd name="connsiteY5" fmla="*/ 0 h 838200"/>
              <a:gd name="connsiteX6" fmla="*/ 114300 w 590550"/>
              <a:gd name="connsiteY6" fmla="*/ 266700 h 838200"/>
              <a:gd name="connsiteX7" fmla="*/ 190500 w 590550"/>
              <a:gd name="connsiteY7" fmla="*/ 257175 h 838200"/>
              <a:gd name="connsiteX8" fmla="*/ 66675 w 590550"/>
              <a:gd name="connsiteY8" fmla="*/ 447675 h 838200"/>
              <a:gd name="connsiteX9" fmla="*/ 171450 w 590550"/>
              <a:gd name="connsiteY9" fmla="*/ 419100 h 838200"/>
              <a:gd name="connsiteX10" fmla="*/ 0 w 590550"/>
              <a:gd name="connsiteY10" fmla="*/ 685800 h 838200"/>
              <a:gd name="connsiteX11" fmla="*/ 257175 w 590550"/>
              <a:gd name="connsiteY11" fmla="*/ 638175 h 838200"/>
              <a:gd name="connsiteX12" fmla="*/ 257175 w 590550"/>
              <a:gd name="connsiteY12" fmla="*/ 838200 h 838200"/>
              <a:gd name="connsiteX13" fmla="*/ 333375 w 590550"/>
              <a:gd name="connsiteY13" fmla="*/ 838200 h 838200"/>
              <a:gd name="connsiteX14" fmla="*/ 333375 w 590550"/>
              <a:gd name="connsiteY14" fmla="*/ 638175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90550" h="838200">
                <a:moveTo>
                  <a:pt x="590550" y="685800"/>
                </a:moveTo>
                <a:lnTo>
                  <a:pt x="419100" y="419100"/>
                </a:lnTo>
                <a:lnTo>
                  <a:pt x="523875" y="447675"/>
                </a:lnTo>
                <a:lnTo>
                  <a:pt x="400050" y="257175"/>
                </a:lnTo>
                <a:lnTo>
                  <a:pt x="476250" y="266700"/>
                </a:lnTo>
                <a:lnTo>
                  <a:pt x="295275" y="0"/>
                </a:lnTo>
                <a:lnTo>
                  <a:pt x="114300" y="266700"/>
                </a:lnTo>
                <a:lnTo>
                  <a:pt x="190500" y="257175"/>
                </a:lnTo>
                <a:lnTo>
                  <a:pt x="66675" y="447675"/>
                </a:lnTo>
                <a:lnTo>
                  <a:pt x="171450" y="419100"/>
                </a:lnTo>
                <a:lnTo>
                  <a:pt x="0" y="685800"/>
                </a:lnTo>
                <a:lnTo>
                  <a:pt x="257175" y="638175"/>
                </a:lnTo>
                <a:lnTo>
                  <a:pt x="257175" y="838200"/>
                </a:lnTo>
                <a:lnTo>
                  <a:pt x="333375" y="838200"/>
                </a:lnTo>
                <a:lnTo>
                  <a:pt x="333375" y="638175"/>
                </a:lnTo>
                <a:close/>
              </a:path>
            </a:pathLst>
          </a:custGeom>
          <a:solidFill>
            <a:srgbClr val="8A0000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410DCDC7-F6D0-390D-1A24-209B8223EB71}"/>
              </a:ext>
            </a:extLst>
          </p:cNvPr>
          <p:cNvSpPr txBox="1">
            <a:spLocks/>
          </p:cNvSpPr>
          <p:nvPr/>
        </p:nvSpPr>
        <p:spPr>
          <a:xfrm>
            <a:off x="3012257" y="2644387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decline</a:t>
            </a: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2C761323-DB60-51F1-F49B-D1653658C557}"/>
              </a:ext>
            </a:extLst>
          </p:cNvPr>
          <p:cNvSpPr txBox="1">
            <a:spLocks/>
          </p:cNvSpPr>
          <p:nvPr/>
        </p:nvSpPr>
        <p:spPr>
          <a:xfrm>
            <a:off x="304799" y="1153369"/>
            <a:ext cx="3976771" cy="19665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C, N, C:N</a:t>
            </a: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AF8A5979-E310-258B-5B4E-770989791A8F}"/>
              </a:ext>
            </a:extLst>
          </p:cNvPr>
          <p:cNvSpPr txBox="1">
            <a:spLocks/>
          </p:cNvSpPr>
          <p:nvPr/>
        </p:nvSpPr>
        <p:spPr>
          <a:xfrm>
            <a:off x="8397239" y="1153368"/>
            <a:ext cx="3976771" cy="2641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status (LWC)</a:t>
            </a: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Marcador de contenido 2">
            <a:extLst>
              <a:ext uri="{FF2B5EF4-FFF2-40B4-BE49-F238E27FC236}">
                <a16:creationId xmlns:a16="http://schemas.microsoft.com/office/drawing/2014/main" id="{327C8B4D-2375-D589-291D-81B957DAE8B9}"/>
              </a:ext>
            </a:extLst>
          </p:cNvPr>
          <p:cNvSpPr txBox="1">
            <a:spLocks/>
          </p:cNvSpPr>
          <p:nvPr/>
        </p:nvSpPr>
        <p:spPr>
          <a:xfrm>
            <a:off x="4071902" y="4819714"/>
            <a:ext cx="3976771" cy="2641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88A88B5F-7FDA-ACC6-7B10-7E7EA9D55F0D}"/>
              </a:ext>
            </a:extLst>
          </p:cNvPr>
          <p:cNvSpPr/>
          <p:nvPr/>
        </p:nvSpPr>
        <p:spPr>
          <a:xfrm>
            <a:off x="4579257" y="1615440"/>
            <a:ext cx="3071223" cy="441960"/>
          </a:xfrm>
          <a:prstGeom prst="right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9ECC946-D22F-8D80-B085-E17701E44A7E}"/>
              </a:ext>
            </a:extLst>
          </p:cNvPr>
          <p:cNvSpPr/>
          <p:nvPr/>
        </p:nvSpPr>
        <p:spPr>
          <a:xfrm rot="8387080">
            <a:off x="7192341" y="4734010"/>
            <a:ext cx="3071223" cy="441960"/>
          </a:xfrm>
          <a:prstGeom prst="right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3F480B61-9ACD-EA25-131B-2E7BFB4F8621}"/>
              </a:ext>
            </a:extLst>
          </p:cNvPr>
          <p:cNvSpPr/>
          <p:nvPr/>
        </p:nvSpPr>
        <p:spPr>
          <a:xfrm rot="2838668">
            <a:off x="1026439" y="4640856"/>
            <a:ext cx="3071223" cy="441960"/>
          </a:xfrm>
          <a:prstGeom prst="right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616158D-CFA4-5D71-492D-3C36535FE4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34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689D-3FEC-F4FD-B688-BBAEB198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9D6A-F600-ACB0-29B4-3BFCA03AA9F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6C144-EC9D-3BE9-4543-FA2628692C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05" t="27755" r="53164" b="25306"/>
          <a:stretch>
            <a:fillRect/>
          </a:stretch>
        </p:blipFill>
        <p:spPr>
          <a:xfrm>
            <a:off x="1250301" y="1446244"/>
            <a:ext cx="5617029" cy="4517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F7FC7B-AE01-43DD-1D36-FE0442749655}"/>
              </a:ext>
            </a:extLst>
          </p:cNvPr>
          <p:cNvSpPr txBox="1"/>
          <p:nvPr/>
        </p:nvSpPr>
        <p:spPr>
          <a:xfrm>
            <a:off x="2094675" y="5963436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Salazar-Tortosa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2018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00429146-C32D-2945-BB80-07D1FC9B76B0}"/>
              </a:ext>
            </a:extLst>
          </p:cNvPr>
          <p:cNvSpPr txBox="1">
            <a:spLocks/>
          </p:cNvSpPr>
          <p:nvPr/>
        </p:nvSpPr>
        <p:spPr>
          <a:xfrm>
            <a:off x="6433082" y="987870"/>
            <a:ext cx="3976771" cy="1851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Bigger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vulnerable</a:t>
            </a: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↓SLA</a:t>
            </a: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C, C:N</a:t>
            </a: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</a:t>
            </a: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8A4E464-2DB8-1739-D8A5-7C39559B3862}"/>
              </a:ext>
            </a:extLst>
          </p:cNvPr>
          <p:cNvSpPr txBox="1">
            <a:spLocks/>
          </p:cNvSpPr>
          <p:nvPr/>
        </p:nvSpPr>
        <p:spPr>
          <a:xfrm>
            <a:off x="6693159" y="2838958"/>
            <a:ext cx="3976771" cy="1851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↑ d13C, d18O</a:t>
            </a: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↓LWC</a:t>
            </a:r>
          </a:p>
          <a:p>
            <a:pPr>
              <a:buFontTx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FAF3701D-F49A-04FE-19FE-0421E050D895}"/>
              </a:ext>
            </a:extLst>
          </p:cNvPr>
          <p:cNvSpPr txBox="1">
            <a:spLocks/>
          </p:cNvSpPr>
          <p:nvPr/>
        </p:nvSpPr>
        <p:spPr>
          <a:xfrm>
            <a:off x="6693159" y="4579518"/>
            <a:ext cx="3976771" cy="1851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↓ BAI </a:t>
            </a:r>
          </a:p>
          <a:p>
            <a:pPr>
              <a:buFontTx/>
              <a:buChar char="-"/>
            </a:pP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dependent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D3DB13A-BA12-E2CD-9A2E-4D258E25D4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45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48B8-9818-814A-3E1D-B2F3C837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75D2F92-892D-1D28-BD54-70C45A179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E7C5AD4-3F03-38A1-B74B-824FC08281CD}"/>
              </a:ext>
            </a:extLst>
          </p:cNvPr>
          <p:cNvSpPr txBox="1"/>
          <p:nvPr/>
        </p:nvSpPr>
        <p:spPr>
          <a:xfrm>
            <a:off x="410227" y="1335512"/>
            <a:ext cx="4845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Single-response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approaches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CC56EE6-533A-201B-B9A8-86F4C48531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E34992C-D293-32CB-0984-2C1A75C313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CB5C74-7E33-DA56-DA5D-D7124DCB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0" t="25333" r="60000" b="33874"/>
          <a:stretch>
            <a:fillRect/>
          </a:stretch>
        </p:blipFill>
        <p:spPr>
          <a:xfrm>
            <a:off x="5560862" y="1191661"/>
            <a:ext cx="5380589" cy="5198481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2B6F93FB-E686-D761-437B-CE8627F46B53}"/>
              </a:ext>
            </a:extLst>
          </p:cNvPr>
          <p:cNvSpPr txBox="1"/>
          <p:nvPr/>
        </p:nvSpPr>
        <p:spPr>
          <a:xfrm>
            <a:off x="443464" y="2871881"/>
            <a:ext cx="484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9958B3-DE1F-4DE6-2D6E-9B7BA965C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25" t="38087" r="50000" b="28667"/>
          <a:stretch>
            <a:fillRect/>
          </a:stretch>
        </p:blipFill>
        <p:spPr>
          <a:xfrm>
            <a:off x="743517" y="3524455"/>
            <a:ext cx="3993853" cy="3128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7D3740-0921-5DFA-3D6A-580046A69827}"/>
              </a:ext>
            </a:extLst>
          </p:cNvPr>
          <p:cNvSpPr txBox="1"/>
          <p:nvPr/>
        </p:nvSpPr>
        <p:spPr>
          <a:xfrm>
            <a:off x="9046974" y="6472919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Camarero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2015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BC702F-9AE8-DE6D-E12F-A9DE04EC5363}"/>
              </a:ext>
            </a:extLst>
          </p:cNvPr>
          <p:cNvSpPr txBox="1"/>
          <p:nvPr/>
        </p:nvSpPr>
        <p:spPr>
          <a:xfrm>
            <a:off x="1358955" y="6483488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Choat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2012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54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C5F9-F7B5-CFB0-E272-77F39DB9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56940-3EF4-9175-F7A0-C89B996D495D}"/>
              </a:ext>
            </a:extLst>
          </p:cNvPr>
          <p:cNvSpPr txBox="1">
            <a:spLocks/>
          </p:cNvSpPr>
          <p:nvPr/>
        </p:nvSpPr>
        <p:spPr>
          <a:xfrm>
            <a:off x="2704263" y="2927694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Conservative</a:t>
            </a:r>
          </a:p>
          <a:p>
            <a:pPr algn="ctr"/>
            <a:endParaRPr lang="es-ES" sz="24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C512665-739E-3397-8CA4-F476CFA4CE16}"/>
              </a:ext>
            </a:extLst>
          </p:cNvPr>
          <p:cNvSpPr txBox="1">
            <a:spLocks/>
          </p:cNvSpPr>
          <p:nvPr/>
        </p:nvSpPr>
        <p:spPr>
          <a:xfrm>
            <a:off x="7146600" y="2927694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Acquisitive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771FB44-7DBF-7F6B-63BF-072784304A04}"/>
              </a:ext>
            </a:extLst>
          </p:cNvPr>
          <p:cNvCxnSpPr>
            <a:cxnSpLocks/>
          </p:cNvCxnSpPr>
          <p:nvPr/>
        </p:nvCxnSpPr>
        <p:spPr>
          <a:xfrm>
            <a:off x="5375753" y="3130448"/>
            <a:ext cx="1884784" cy="0"/>
          </a:xfrm>
          <a:prstGeom prst="straightConnector1">
            <a:avLst/>
          </a:prstGeom>
          <a:ln w="76200"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ACDC0856-4A59-D106-6449-6FBA2DD84B92}"/>
              </a:ext>
            </a:extLst>
          </p:cNvPr>
          <p:cNvSpPr txBox="1">
            <a:spLocks/>
          </p:cNvSpPr>
          <p:nvPr/>
        </p:nvSpPr>
        <p:spPr>
          <a:xfrm>
            <a:off x="2720158" y="3839312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↓ N </a:t>
            </a:r>
            <a:r>
              <a:rPr lang="es-ES" sz="2000" dirty="0" err="1">
                <a:latin typeface="Helvetica"/>
                <a:cs typeface="Helvetica"/>
              </a:rPr>
              <a:t>content</a:t>
            </a:r>
            <a:endParaRPr lang="es-ES" sz="20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↓ </a:t>
            </a:r>
            <a:r>
              <a:rPr lang="es-ES" sz="2000" dirty="0" err="1">
                <a:latin typeface="Helvetica"/>
                <a:cs typeface="Helvetica"/>
              </a:rPr>
              <a:t>Photosynthesis</a:t>
            </a:r>
            <a:endParaRPr lang="es-ES" sz="20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↓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rates</a:t>
            </a:r>
            <a:endParaRPr lang="es-ES" sz="20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↓ SLA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BA7BDDD-3B6A-2BC1-FB5D-79996F1E269C}"/>
              </a:ext>
            </a:extLst>
          </p:cNvPr>
          <p:cNvSpPr txBox="1">
            <a:spLocks/>
          </p:cNvSpPr>
          <p:nvPr/>
        </p:nvSpPr>
        <p:spPr>
          <a:xfrm>
            <a:off x="7138919" y="3839311"/>
            <a:ext cx="3880245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↑ N </a:t>
            </a:r>
            <a:r>
              <a:rPr lang="es-ES" sz="2000" dirty="0" err="1">
                <a:latin typeface="Helvetica"/>
                <a:cs typeface="Helvetica"/>
              </a:rPr>
              <a:t>content</a:t>
            </a:r>
            <a:endParaRPr lang="es-ES" sz="20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↑ </a:t>
            </a:r>
            <a:r>
              <a:rPr lang="es-ES" sz="2000" dirty="0" err="1">
                <a:latin typeface="Helvetica"/>
                <a:cs typeface="Helvetica"/>
              </a:rPr>
              <a:t>Photosynthesis</a:t>
            </a:r>
            <a:endParaRPr lang="es-ES" sz="20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↑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rates</a:t>
            </a:r>
            <a:endParaRPr lang="es-ES" sz="2000" dirty="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000" dirty="0">
                <a:latin typeface="Helvetica"/>
                <a:cs typeface="Helvetica"/>
              </a:rPr>
              <a:t>↑ </a:t>
            </a:r>
            <a:r>
              <a:rPr lang="es-ES" sz="2000" dirty="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687D609-D808-4552-9A94-7262784A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-use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10D024-0478-2C81-6C61-1FB726223AC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936D787-A691-D61C-99BE-5C5BAC9B2CA3}"/>
              </a:ext>
            </a:extLst>
          </p:cNvPr>
          <p:cNvSpPr txBox="1">
            <a:spLocks/>
          </p:cNvSpPr>
          <p:nvPr/>
        </p:nvSpPr>
        <p:spPr>
          <a:xfrm>
            <a:off x="2964272" y="2094612"/>
            <a:ext cx="6598736" cy="5240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i="1" dirty="0" err="1">
                <a:latin typeface="Helvetica"/>
                <a:cs typeface="Helvetica"/>
              </a:rPr>
              <a:t>Leaf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Economics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Spectrum</a:t>
            </a:r>
            <a:endParaRPr lang="es-ES" b="1" i="1" dirty="0">
              <a:latin typeface="Helvetica"/>
              <a:cs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659F-D059-62D2-A1E2-60F0FB2857FD}"/>
              </a:ext>
            </a:extLst>
          </p:cNvPr>
          <p:cNvSpPr txBox="1"/>
          <p:nvPr/>
        </p:nvSpPr>
        <p:spPr>
          <a:xfrm>
            <a:off x="9046974" y="6472919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Wright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2004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A0890338-4A99-59B7-C030-8DBDEC710FE0}"/>
              </a:ext>
            </a:extLst>
          </p:cNvPr>
          <p:cNvSpPr txBox="1"/>
          <p:nvPr/>
        </p:nvSpPr>
        <p:spPr>
          <a:xfrm>
            <a:off x="0" y="1014439"/>
            <a:ext cx="484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Multi-traits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approaches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4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3B7F-DF56-63C1-AE52-EFE27A61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B8B05DC-C8B4-1861-DBB4-0D96496F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-use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05F453-07CC-3F56-0E98-33BDCA4000D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11520-37F2-3AF7-EB35-2B215B670671}"/>
              </a:ext>
            </a:extLst>
          </p:cNvPr>
          <p:cNvSpPr txBox="1"/>
          <p:nvPr/>
        </p:nvSpPr>
        <p:spPr>
          <a:xfrm>
            <a:off x="1253871" y="6272397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Liu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2024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7A93A03-72F7-0140-C76B-933E4427E8BC}"/>
              </a:ext>
            </a:extLst>
          </p:cNvPr>
          <p:cNvSpPr txBox="1"/>
          <p:nvPr/>
        </p:nvSpPr>
        <p:spPr>
          <a:xfrm>
            <a:off x="0" y="1014439"/>
            <a:ext cx="484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Multi-traits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approaches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41C658-8A9A-B88B-AA54-DAB343BDE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00" t="36828" r="25125" b="25777"/>
          <a:stretch>
            <a:fillRect/>
          </a:stretch>
        </p:blipFill>
        <p:spPr>
          <a:xfrm>
            <a:off x="704558" y="1686388"/>
            <a:ext cx="4446562" cy="4375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7A0DDC-DBEB-65E2-F3C1-59524424CE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50" t="28889" r="51250" b="21111"/>
          <a:stretch>
            <a:fillRect/>
          </a:stretch>
        </p:blipFill>
        <p:spPr>
          <a:xfrm>
            <a:off x="5577431" y="899644"/>
            <a:ext cx="5025455" cy="56536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30F31C-1C21-A726-EC1F-29C90D3CD2F2}"/>
              </a:ext>
            </a:extLst>
          </p:cNvPr>
          <p:cNvSpPr txBox="1"/>
          <p:nvPr/>
        </p:nvSpPr>
        <p:spPr>
          <a:xfrm>
            <a:off x="10602886" y="5856899"/>
            <a:ext cx="14980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Díaz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2015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88E6-E8C5-08FA-42E9-E384038F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6E850-9215-6BCB-185A-C45530BEA63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3AA1BC2D-30DE-66EE-B27E-1FCF5A693A99}"/>
              </a:ext>
            </a:extLst>
          </p:cNvPr>
          <p:cNvSpPr txBox="1">
            <a:spLocks/>
          </p:cNvSpPr>
          <p:nvPr/>
        </p:nvSpPr>
        <p:spPr>
          <a:xfrm>
            <a:off x="0" y="1559672"/>
            <a:ext cx="3177766" cy="2125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Towards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 more conservative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51B3D7-635C-9E2F-CD56-8AB372F2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t="28658" r="45375" b="28657"/>
          <a:stretch>
            <a:fillRect/>
          </a:stretch>
        </p:blipFill>
        <p:spPr>
          <a:xfrm>
            <a:off x="3108034" y="959667"/>
            <a:ext cx="8226904" cy="57908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3742FF-7834-357D-4E7B-31E92E886DE9}"/>
              </a:ext>
            </a:extLst>
          </p:cNvPr>
          <p:cNvSpPr txBox="1"/>
          <p:nvPr/>
        </p:nvSpPr>
        <p:spPr>
          <a:xfrm>
            <a:off x="8700651" y="6567458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Rodríguez-Alarcón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2022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050BD2-B306-C829-281B-78BD1127FB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Resource-use strategies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60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D87DC-431B-85B9-AE5E-BF0EA43E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AC4B275-2947-8374-4C4F-424A1D4BA42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Gap in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knowledge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160BC8F-99FC-2D6D-D862-C4DD4505732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3279981-BAE3-2024-729C-704495A379AC}"/>
              </a:ext>
            </a:extLst>
          </p:cNvPr>
          <p:cNvSpPr txBox="1">
            <a:spLocks/>
          </p:cNvSpPr>
          <p:nvPr/>
        </p:nvSpPr>
        <p:spPr>
          <a:xfrm>
            <a:off x="322864" y="1279014"/>
            <a:ext cx="10711012" cy="48017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b="1" dirty="0">
                <a:latin typeface="Helvetica"/>
                <a:cs typeface="Helvetica"/>
              </a:rPr>
              <a:t>Single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r>
              <a:rPr lang="es-ES" b="1" dirty="0">
                <a:latin typeface="Helvetica"/>
                <a:cs typeface="Helvetica"/>
              </a:rPr>
              <a:t> are </a:t>
            </a:r>
            <a:r>
              <a:rPr lang="es-ES" b="1" dirty="0" err="1">
                <a:latin typeface="Helvetica"/>
                <a:cs typeface="Helvetica"/>
              </a:rPr>
              <a:t>unable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disentangle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plant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strategies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to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drought</a:t>
            </a: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Species-specific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forecast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multi-traits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studies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comparisons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vs. Non-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83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44C7-6B48-D994-CC85-C60216DD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1AF1BBF-2C00-511B-3211-9A5C0E26C1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1F2EC17-355F-EE86-7E66-049AE8489EA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A5E7A3-62D9-C35F-49B2-4588B61CBD4D}"/>
              </a:ext>
            </a:extLst>
          </p:cNvPr>
          <p:cNvSpPr txBox="1">
            <a:spLocks/>
          </p:cNvSpPr>
          <p:nvPr/>
        </p:nvSpPr>
        <p:spPr>
          <a:xfrm>
            <a:off x="1343214" y="1085255"/>
            <a:ext cx="9858186" cy="884903"/>
          </a:xfrm>
          <a:prstGeom prst="rect">
            <a:avLst/>
          </a:prstGeom>
          <a:ln w="38100">
            <a:solidFill>
              <a:srgbClr val="218317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Main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die-off.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74610B0-266B-2D0C-C786-80AF345A5AB9}"/>
              </a:ext>
            </a:extLst>
          </p:cNvPr>
          <p:cNvSpPr txBox="1">
            <a:spLocks/>
          </p:cNvSpPr>
          <p:nvPr/>
        </p:nvSpPr>
        <p:spPr>
          <a:xfrm>
            <a:off x="453607" y="2486970"/>
            <a:ext cx="10747793" cy="48017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are more sensitive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6761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54133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higher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height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values</a:t>
            </a:r>
            <a:r>
              <a:rPr lang="es-ES" sz="2400" i="1" dirty="0">
                <a:latin typeface="Helvetica"/>
                <a:cs typeface="Helvetica"/>
              </a:rPr>
              <a:t>, d13C, and </a:t>
            </a:r>
            <a:r>
              <a:rPr lang="es-ES" sz="2400" i="1" dirty="0" err="1">
                <a:latin typeface="Helvetica"/>
                <a:cs typeface="Helvetica"/>
              </a:rPr>
              <a:t>lower</a:t>
            </a:r>
            <a:r>
              <a:rPr lang="es-ES" sz="2400" i="1" dirty="0">
                <a:latin typeface="Helvetica"/>
                <a:cs typeface="Helvetica"/>
              </a:rPr>
              <a:t> SLA, N </a:t>
            </a:r>
            <a:r>
              <a:rPr lang="es-ES" sz="2400" i="1" dirty="0" err="1">
                <a:latin typeface="Helvetica"/>
                <a:cs typeface="Helvetica"/>
              </a:rPr>
              <a:t>content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rates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i="1" dirty="0" err="1">
                <a:latin typeface="Helvetica"/>
                <a:cs typeface="Helvetica"/>
              </a:rPr>
              <a:t>drought-affected</a:t>
            </a:r>
            <a:r>
              <a:rPr lang="es-ES" sz="2400" i="1" dirty="0">
                <a:latin typeface="Helvetica"/>
                <a:cs typeface="Helvetica"/>
              </a:rPr>
              <a:t> sites and </a:t>
            </a:r>
            <a:r>
              <a:rPr lang="es-ES" sz="2400" i="1" dirty="0" err="1">
                <a:latin typeface="Helvetica"/>
                <a:cs typeface="Helvetica"/>
              </a:rPr>
              <a:t>individuals</a:t>
            </a:r>
            <a:r>
              <a:rPr lang="es-ES" sz="2400" i="1" dirty="0">
                <a:latin typeface="Helvetica"/>
                <a:cs typeface="Helvetica"/>
              </a:rPr>
              <a:t> 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443946" y="4006693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F8E907-7A83-FE6B-9B43-609DC0943302}"/>
              </a:ext>
            </a:extLst>
          </p:cNvPr>
          <p:cNvGrpSpPr/>
          <p:nvPr/>
        </p:nvGrpSpPr>
        <p:grpSpPr>
          <a:xfrm>
            <a:off x="4286220" y="3985098"/>
            <a:ext cx="3619560" cy="1271459"/>
            <a:chOff x="3495617" y="5492674"/>
            <a:chExt cx="3619560" cy="1271459"/>
          </a:xfrm>
        </p:grpSpPr>
        <p:pic>
          <p:nvPicPr>
            <p:cNvPr id="33" name="Gráfico 12" descr="Abeto">
              <a:extLst>
                <a:ext uri="{FF2B5EF4-FFF2-40B4-BE49-F238E27FC236}">
                  <a16:creationId xmlns:a16="http://schemas.microsoft.com/office/drawing/2014/main" id="{3BC31B9D-171B-E347-CDD4-F3BD4A9D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4" name="Gráfico 13" descr="Abeto">
              <a:extLst>
                <a:ext uri="{FF2B5EF4-FFF2-40B4-BE49-F238E27FC236}">
                  <a16:creationId xmlns:a16="http://schemas.microsoft.com/office/drawing/2014/main" id="{5C9F6577-8734-19F6-6EFA-862CAA1C0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5" name="Gráfico 14" descr="Abeto">
              <a:extLst>
                <a:ext uri="{FF2B5EF4-FFF2-40B4-BE49-F238E27FC236}">
                  <a16:creationId xmlns:a16="http://schemas.microsoft.com/office/drawing/2014/main" id="{4CB8096A-9AC8-59C1-F082-4254863F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38120DF7-1494-7262-30A2-E86C28F458C9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7" name="Marcador de contenido 2">
              <a:extLst>
                <a:ext uri="{FF2B5EF4-FFF2-40B4-BE49-F238E27FC236}">
                  <a16:creationId xmlns:a16="http://schemas.microsoft.com/office/drawing/2014/main" id="{BAA3C433-81D8-7CA6-D0E1-B340ADD1D030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2B45DB06-7506-F58B-0040-D76EA09F2AC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9" name="CuadroTexto 18">
              <a:extLst>
                <a:ext uri="{FF2B5EF4-FFF2-40B4-BE49-F238E27FC236}">
                  <a16:creationId xmlns:a16="http://schemas.microsoft.com/office/drawing/2014/main" id="{22FB198E-053B-E705-AE4F-C2CB980F0A38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0" name="CuadroTexto 18">
              <a:extLst>
                <a:ext uri="{FF2B5EF4-FFF2-40B4-BE49-F238E27FC236}">
                  <a16:creationId xmlns:a16="http://schemas.microsoft.com/office/drawing/2014/main" id="{077E74DB-829B-E229-5FA7-B4EA4667CB1D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C1AF84-4368-DE3E-102D-5AB5D78F4C03}"/>
              </a:ext>
            </a:extLst>
          </p:cNvPr>
          <p:cNvGrpSpPr/>
          <p:nvPr/>
        </p:nvGrpSpPr>
        <p:grpSpPr>
          <a:xfrm>
            <a:off x="8672943" y="4006693"/>
            <a:ext cx="2875680" cy="1152743"/>
            <a:chOff x="8825518" y="5542858"/>
            <a:chExt cx="2875680" cy="11527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65DDBD0-0251-17C8-2D75-4DA0021A7B6E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43" name="Graphic 42" descr="Fir tree">
                <a:extLst>
                  <a:ext uri="{FF2B5EF4-FFF2-40B4-BE49-F238E27FC236}">
                    <a16:creationId xmlns:a16="http://schemas.microsoft.com/office/drawing/2014/main" id="{6BAC7D72-2382-CB17-9929-929DC4066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4" name="Graphic 43" descr="Fir tree">
                <a:extLst>
                  <a:ext uri="{FF2B5EF4-FFF2-40B4-BE49-F238E27FC236}">
                    <a16:creationId xmlns:a16="http://schemas.microsoft.com/office/drawing/2014/main" id="{6625DDC1-1775-3544-5C4B-9E3B994B1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5" name="Graphic 44" descr="Fir tree">
                <a:extLst>
                  <a:ext uri="{FF2B5EF4-FFF2-40B4-BE49-F238E27FC236}">
                    <a16:creationId xmlns:a16="http://schemas.microsoft.com/office/drawing/2014/main" id="{252C49D7-E408-227E-42CD-B4F09964C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46" name="CuadroTexto 18">
                <a:extLst>
                  <a:ext uri="{FF2B5EF4-FFF2-40B4-BE49-F238E27FC236}">
                    <a16:creationId xmlns:a16="http://schemas.microsoft.com/office/drawing/2014/main" id="{832B98B7-63F8-0FB6-29D9-BDEE302E7979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7" name="CuadroTexto 18">
                <a:extLst>
                  <a:ext uri="{FF2B5EF4-FFF2-40B4-BE49-F238E27FC236}">
                    <a16:creationId xmlns:a16="http://schemas.microsoft.com/office/drawing/2014/main" id="{DE7705C8-364C-D663-2169-3A2128787BB5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8" name="CuadroTexto 18">
                <a:extLst>
                  <a:ext uri="{FF2B5EF4-FFF2-40B4-BE49-F238E27FC236}">
                    <a16:creationId xmlns:a16="http://schemas.microsoft.com/office/drawing/2014/main" id="{2632BF63-2F56-7328-E0C9-26808AD80B35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1" name="CuadroTexto 18">
              <a:extLst>
                <a:ext uri="{FF2B5EF4-FFF2-40B4-BE49-F238E27FC236}">
                  <a16:creationId xmlns:a16="http://schemas.microsoft.com/office/drawing/2014/main" id="{ED2A3BE7-AB35-CCA7-D073-F29E31DCE829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2" name="CuadroTexto 18">
              <a:extLst>
                <a:ext uri="{FF2B5EF4-FFF2-40B4-BE49-F238E27FC236}">
                  <a16:creationId xmlns:a16="http://schemas.microsoft.com/office/drawing/2014/main" id="{390B8857-5922-C8A9-F4D1-FF80ACEDDDDB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7E914B3-A732-6D32-C695-C89162FED12F}"/>
              </a:ext>
            </a:extLst>
          </p:cNvPr>
          <p:cNvSpPr txBox="1">
            <a:spLocks/>
          </p:cNvSpPr>
          <p:nvPr/>
        </p:nvSpPr>
        <p:spPr>
          <a:xfrm>
            <a:off x="719450" y="6004321"/>
            <a:ext cx="1092507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Boxplots</a:t>
            </a:r>
            <a:r>
              <a:rPr lang="es-ES" sz="2400" b="1" dirty="0">
                <a:latin typeface="Helvetica"/>
                <a:cs typeface="Helvetica"/>
              </a:rPr>
              <a:t> + </a:t>
            </a:r>
            <a:r>
              <a:rPr lang="es-ES" sz="2400" b="1" dirty="0" err="1">
                <a:latin typeface="Helvetica"/>
                <a:cs typeface="Helvetica"/>
              </a:rPr>
              <a:t>significant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differences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FAC0-7BE8-AC4E-E7C9-1189BABB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D6CB7-C187-674C-E473-C57098D16E52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are more sensitive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238F493-3E97-CA1E-7144-0C1EA728AC02}"/>
              </a:ext>
            </a:extLst>
          </p:cNvPr>
          <p:cNvSpPr txBox="1">
            <a:spLocks/>
          </p:cNvSpPr>
          <p:nvPr/>
        </p:nvSpPr>
        <p:spPr>
          <a:xfrm>
            <a:off x="623546" y="254133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a </a:t>
            </a:r>
            <a:r>
              <a:rPr lang="es-ES" sz="2400" i="1" dirty="0" err="1">
                <a:latin typeface="Helvetica"/>
                <a:cs typeface="Helvetica"/>
              </a:rPr>
              <a:t>higher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change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i="1" dirty="0" err="1">
                <a:latin typeface="Helvetica"/>
                <a:cs typeface="Helvetica"/>
              </a:rPr>
              <a:t>physiological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whole-tree</a:t>
            </a:r>
            <a:r>
              <a:rPr lang="es-ES" sz="2400" i="1" dirty="0">
                <a:latin typeface="Helvetica"/>
                <a:cs typeface="Helvetica"/>
              </a:rPr>
              <a:t> response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morphological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C5E8C99-1835-2C5B-0C35-CA427D9C7E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34DA46E-0951-91B8-8DFC-2CDE656B7C5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8464E3B8-A21E-A454-A980-285CD2E6CDE3}"/>
              </a:ext>
            </a:extLst>
          </p:cNvPr>
          <p:cNvGrpSpPr/>
          <p:nvPr/>
        </p:nvGrpSpPr>
        <p:grpSpPr>
          <a:xfrm>
            <a:off x="443946" y="4006693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F053FE9E-3C9A-C931-9F4B-C8C213990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0DB3A6E2-81DA-D22F-6CCF-44274D63E43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68F8BB0-6F36-B86B-1C28-40684E14D6EB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6CDB3D-52ED-127A-9D84-7B164531AD4F}"/>
              </a:ext>
            </a:extLst>
          </p:cNvPr>
          <p:cNvGrpSpPr/>
          <p:nvPr/>
        </p:nvGrpSpPr>
        <p:grpSpPr>
          <a:xfrm>
            <a:off x="4286220" y="3985098"/>
            <a:ext cx="3619560" cy="1271459"/>
            <a:chOff x="3495617" y="5492674"/>
            <a:chExt cx="3619560" cy="1271459"/>
          </a:xfrm>
        </p:grpSpPr>
        <p:pic>
          <p:nvPicPr>
            <p:cNvPr id="33" name="Gráfico 12" descr="Abeto">
              <a:extLst>
                <a:ext uri="{FF2B5EF4-FFF2-40B4-BE49-F238E27FC236}">
                  <a16:creationId xmlns:a16="http://schemas.microsoft.com/office/drawing/2014/main" id="{A8FFB817-0BCF-9399-316D-A0AC00BBE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4" name="Gráfico 13" descr="Abeto">
              <a:extLst>
                <a:ext uri="{FF2B5EF4-FFF2-40B4-BE49-F238E27FC236}">
                  <a16:creationId xmlns:a16="http://schemas.microsoft.com/office/drawing/2014/main" id="{3952BDA7-0495-69A3-564C-AF16294BF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5" name="Gráfico 14" descr="Abeto">
              <a:extLst>
                <a:ext uri="{FF2B5EF4-FFF2-40B4-BE49-F238E27FC236}">
                  <a16:creationId xmlns:a16="http://schemas.microsoft.com/office/drawing/2014/main" id="{D1B2A4FC-3023-F783-1588-763E5153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3D9BE105-2ECF-672A-9719-E820C41D565F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7" name="Marcador de contenido 2">
              <a:extLst>
                <a:ext uri="{FF2B5EF4-FFF2-40B4-BE49-F238E27FC236}">
                  <a16:creationId xmlns:a16="http://schemas.microsoft.com/office/drawing/2014/main" id="{84F5E6A8-A9EA-D7AD-238E-2D458F6D0D77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07F04FC7-E4BF-5C61-7DC4-5E65D029E6DE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9" name="CuadroTexto 18">
              <a:extLst>
                <a:ext uri="{FF2B5EF4-FFF2-40B4-BE49-F238E27FC236}">
                  <a16:creationId xmlns:a16="http://schemas.microsoft.com/office/drawing/2014/main" id="{9FBD88A0-B255-D564-1ACF-A366BE3A4555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0" name="CuadroTexto 18">
              <a:extLst>
                <a:ext uri="{FF2B5EF4-FFF2-40B4-BE49-F238E27FC236}">
                  <a16:creationId xmlns:a16="http://schemas.microsoft.com/office/drawing/2014/main" id="{0D6A9A2F-A827-AD20-B1A5-CD59ED995470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0F4BBA-CC0B-610C-F9F8-DA30560AB677}"/>
              </a:ext>
            </a:extLst>
          </p:cNvPr>
          <p:cNvGrpSpPr/>
          <p:nvPr/>
        </p:nvGrpSpPr>
        <p:grpSpPr>
          <a:xfrm>
            <a:off x="8672943" y="4006693"/>
            <a:ext cx="2875680" cy="1152743"/>
            <a:chOff x="8825518" y="5542858"/>
            <a:chExt cx="2875680" cy="11527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14BA14-F3F0-FA63-0FD5-D9C4DE959AE9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43" name="Graphic 42" descr="Fir tree">
                <a:extLst>
                  <a:ext uri="{FF2B5EF4-FFF2-40B4-BE49-F238E27FC236}">
                    <a16:creationId xmlns:a16="http://schemas.microsoft.com/office/drawing/2014/main" id="{CBD05C43-2052-C2F6-13EE-0305C1D7B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4" name="Graphic 43" descr="Fir tree">
                <a:extLst>
                  <a:ext uri="{FF2B5EF4-FFF2-40B4-BE49-F238E27FC236}">
                    <a16:creationId xmlns:a16="http://schemas.microsoft.com/office/drawing/2014/main" id="{6EE13CAD-D421-3225-0D53-FA399E817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5" name="Graphic 44" descr="Fir tree">
                <a:extLst>
                  <a:ext uri="{FF2B5EF4-FFF2-40B4-BE49-F238E27FC236}">
                    <a16:creationId xmlns:a16="http://schemas.microsoft.com/office/drawing/2014/main" id="{0450603F-6F47-BD36-EAD8-03D86588D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46" name="CuadroTexto 18">
                <a:extLst>
                  <a:ext uri="{FF2B5EF4-FFF2-40B4-BE49-F238E27FC236}">
                    <a16:creationId xmlns:a16="http://schemas.microsoft.com/office/drawing/2014/main" id="{02DFFDD4-92CC-8013-AEB5-65AACFE4D3AB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7" name="CuadroTexto 18">
                <a:extLst>
                  <a:ext uri="{FF2B5EF4-FFF2-40B4-BE49-F238E27FC236}">
                    <a16:creationId xmlns:a16="http://schemas.microsoft.com/office/drawing/2014/main" id="{13D2F4AA-3AB4-EC45-6C69-69143E5E4F0F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8" name="CuadroTexto 18">
                <a:extLst>
                  <a:ext uri="{FF2B5EF4-FFF2-40B4-BE49-F238E27FC236}">
                    <a16:creationId xmlns:a16="http://schemas.microsoft.com/office/drawing/2014/main" id="{883F8F78-3C5D-E7D1-0EB6-F86C5ECDC786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1" name="CuadroTexto 18">
              <a:extLst>
                <a:ext uri="{FF2B5EF4-FFF2-40B4-BE49-F238E27FC236}">
                  <a16:creationId xmlns:a16="http://schemas.microsoft.com/office/drawing/2014/main" id="{62960CA1-813C-07FA-70A9-1272DF7BBB31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2" name="CuadroTexto 18">
              <a:extLst>
                <a:ext uri="{FF2B5EF4-FFF2-40B4-BE49-F238E27FC236}">
                  <a16:creationId xmlns:a16="http://schemas.microsoft.com/office/drawing/2014/main" id="{ACA2018F-1679-A874-0A09-8ECE162A7EC8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7DD9C00-EAB2-A29D-DBFD-3F1B32EAE953}"/>
              </a:ext>
            </a:extLst>
          </p:cNvPr>
          <p:cNvSpPr txBox="1">
            <a:spLocks/>
          </p:cNvSpPr>
          <p:nvPr/>
        </p:nvSpPr>
        <p:spPr>
          <a:xfrm>
            <a:off x="719450" y="6004321"/>
            <a:ext cx="1092507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Response Ratios</a:t>
            </a: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1723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819E-38D4-8660-C4E0-1A8B3845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35DCD-F990-C6C3-FAA2-46E6B1618D7E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  <a:p>
            <a:pPr marL="0" indent="0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460B8A9-CE20-BEC0-A7B6-1F0358852A01}"/>
              </a:ext>
            </a:extLst>
          </p:cNvPr>
          <p:cNvSpPr txBox="1">
            <a:spLocks/>
          </p:cNvSpPr>
          <p:nvPr/>
        </p:nvSpPr>
        <p:spPr>
          <a:xfrm>
            <a:off x="623546" y="254133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a shift </a:t>
            </a:r>
            <a:r>
              <a:rPr lang="es-ES" sz="2400" i="1" dirty="0" err="1">
                <a:latin typeface="Helvetica"/>
                <a:cs typeface="Helvetica"/>
              </a:rPr>
              <a:t>towards</a:t>
            </a:r>
            <a:r>
              <a:rPr lang="es-ES" sz="2400" i="1" dirty="0">
                <a:latin typeface="Helvetica"/>
                <a:cs typeface="Helvetica"/>
              </a:rPr>
              <a:t> more conservative </a:t>
            </a:r>
            <a:r>
              <a:rPr lang="es-ES" sz="2400" i="1" dirty="0" err="1">
                <a:latin typeface="Helvetica"/>
                <a:cs typeface="Helvetica"/>
              </a:rPr>
              <a:t>strategies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i="1" dirty="0" err="1">
                <a:latin typeface="Helvetica"/>
                <a:cs typeface="Helvetica"/>
              </a:rPr>
              <a:t>drought-affected</a:t>
            </a:r>
            <a:r>
              <a:rPr lang="es-ES" sz="2400" i="1" dirty="0">
                <a:latin typeface="Helvetica"/>
                <a:cs typeface="Helvetica"/>
              </a:rPr>
              <a:t> sites and </a:t>
            </a:r>
            <a:r>
              <a:rPr lang="es-ES" sz="2400" i="1" dirty="0" err="1">
                <a:latin typeface="Helvetica"/>
                <a:cs typeface="Helvetica"/>
              </a:rPr>
              <a:t>individuals</a:t>
            </a:r>
            <a:r>
              <a:rPr lang="es-ES" sz="2400" i="1" dirty="0">
                <a:latin typeface="Helvetica"/>
                <a:cs typeface="Helvetica"/>
              </a:rPr>
              <a:t>.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C14291A-2A2C-CFE9-A654-CC29933FDA0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3D5A536-7ACF-511D-49C9-D536CDBCAA5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A31FC8D-DDF3-2D82-40C0-14FFB25E0DDD}"/>
              </a:ext>
            </a:extLst>
          </p:cNvPr>
          <p:cNvGrpSpPr/>
          <p:nvPr/>
        </p:nvGrpSpPr>
        <p:grpSpPr>
          <a:xfrm>
            <a:off x="443946" y="4006693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D4A0850A-28CF-9897-01B4-B8D4444D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35A50683-8D59-A6BB-D534-4D4F34DBB138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934944A-7CE1-98A3-B6EF-77C074BD3309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098E5E-38FE-54BF-42FA-7AAB8AC051E5}"/>
              </a:ext>
            </a:extLst>
          </p:cNvPr>
          <p:cNvGrpSpPr/>
          <p:nvPr/>
        </p:nvGrpSpPr>
        <p:grpSpPr>
          <a:xfrm>
            <a:off x="4286220" y="3985098"/>
            <a:ext cx="3619560" cy="1271459"/>
            <a:chOff x="3495617" y="5492674"/>
            <a:chExt cx="3619560" cy="1271459"/>
          </a:xfrm>
        </p:grpSpPr>
        <p:pic>
          <p:nvPicPr>
            <p:cNvPr id="33" name="Gráfico 12" descr="Abeto">
              <a:extLst>
                <a:ext uri="{FF2B5EF4-FFF2-40B4-BE49-F238E27FC236}">
                  <a16:creationId xmlns:a16="http://schemas.microsoft.com/office/drawing/2014/main" id="{A45F5D92-7D2D-5186-330C-53807389B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4" name="Gráfico 13" descr="Abeto">
              <a:extLst>
                <a:ext uri="{FF2B5EF4-FFF2-40B4-BE49-F238E27FC236}">
                  <a16:creationId xmlns:a16="http://schemas.microsoft.com/office/drawing/2014/main" id="{44E5DF38-CF30-EF0B-1775-8696B8505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5" name="Gráfico 14" descr="Abeto">
              <a:extLst>
                <a:ext uri="{FF2B5EF4-FFF2-40B4-BE49-F238E27FC236}">
                  <a16:creationId xmlns:a16="http://schemas.microsoft.com/office/drawing/2014/main" id="{696A4316-7BEC-6449-244E-F62754E88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BC48FB37-8F94-C484-9888-561D05E4C5F0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7" name="Marcador de contenido 2">
              <a:extLst>
                <a:ext uri="{FF2B5EF4-FFF2-40B4-BE49-F238E27FC236}">
                  <a16:creationId xmlns:a16="http://schemas.microsoft.com/office/drawing/2014/main" id="{59721952-5DDD-0892-3675-36BA965FA2D0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94856C7C-0C95-8CA9-774F-7B0270FEA03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9" name="CuadroTexto 18">
              <a:extLst>
                <a:ext uri="{FF2B5EF4-FFF2-40B4-BE49-F238E27FC236}">
                  <a16:creationId xmlns:a16="http://schemas.microsoft.com/office/drawing/2014/main" id="{B90EE1BA-CA06-3D84-6F2B-5CD187C18A1F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0" name="CuadroTexto 18">
              <a:extLst>
                <a:ext uri="{FF2B5EF4-FFF2-40B4-BE49-F238E27FC236}">
                  <a16:creationId xmlns:a16="http://schemas.microsoft.com/office/drawing/2014/main" id="{FAC82450-3341-6438-E006-87B51C53973D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269414-DA63-22C7-B3A2-2D7E4CE2D2B0}"/>
              </a:ext>
            </a:extLst>
          </p:cNvPr>
          <p:cNvGrpSpPr/>
          <p:nvPr/>
        </p:nvGrpSpPr>
        <p:grpSpPr>
          <a:xfrm>
            <a:off x="8672943" y="4006693"/>
            <a:ext cx="2875680" cy="1152743"/>
            <a:chOff x="8825518" y="5542858"/>
            <a:chExt cx="2875680" cy="11527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CE3802-9F66-9B22-5ADD-615CE473BD1D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43" name="Graphic 42" descr="Fir tree">
                <a:extLst>
                  <a:ext uri="{FF2B5EF4-FFF2-40B4-BE49-F238E27FC236}">
                    <a16:creationId xmlns:a16="http://schemas.microsoft.com/office/drawing/2014/main" id="{42B5720A-621A-31C4-2895-4EE9613344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4" name="Graphic 43" descr="Fir tree">
                <a:extLst>
                  <a:ext uri="{FF2B5EF4-FFF2-40B4-BE49-F238E27FC236}">
                    <a16:creationId xmlns:a16="http://schemas.microsoft.com/office/drawing/2014/main" id="{8AFDB4A2-E442-F3A7-9CC2-32F8B9093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45" name="Graphic 44" descr="Fir tree">
                <a:extLst>
                  <a:ext uri="{FF2B5EF4-FFF2-40B4-BE49-F238E27FC236}">
                    <a16:creationId xmlns:a16="http://schemas.microsoft.com/office/drawing/2014/main" id="{39CA76C2-57DE-FBE4-4FAC-B0BC2504DE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46" name="CuadroTexto 18">
                <a:extLst>
                  <a:ext uri="{FF2B5EF4-FFF2-40B4-BE49-F238E27FC236}">
                    <a16:creationId xmlns:a16="http://schemas.microsoft.com/office/drawing/2014/main" id="{98D0F316-0790-0022-3B5E-ED2B5B15B4F7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7" name="CuadroTexto 18">
                <a:extLst>
                  <a:ext uri="{FF2B5EF4-FFF2-40B4-BE49-F238E27FC236}">
                    <a16:creationId xmlns:a16="http://schemas.microsoft.com/office/drawing/2014/main" id="{334C00D2-4A50-0926-A17E-CD658616BFCC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48" name="CuadroTexto 18">
                <a:extLst>
                  <a:ext uri="{FF2B5EF4-FFF2-40B4-BE49-F238E27FC236}">
                    <a16:creationId xmlns:a16="http://schemas.microsoft.com/office/drawing/2014/main" id="{5C867572-1A3D-C514-A50C-CAD40E5D62EE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1" name="CuadroTexto 18">
              <a:extLst>
                <a:ext uri="{FF2B5EF4-FFF2-40B4-BE49-F238E27FC236}">
                  <a16:creationId xmlns:a16="http://schemas.microsoft.com/office/drawing/2014/main" id="{9A77A720-26C7-D764-ACD4-613BA6C4F868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2" name="CuadroTexto 18">
              <a:extLst>
                <a:ext uri="{FF2B5EF4-FFF2-40B4-BE49-F238E27FC236}">
                  <a16:creationId xmlns:a16="http://schemas.microsoft.com/office/drawing/2014/main" id="{F6ADB6DE-1958-139F-8017-904A2466659C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9779DA0-0E2A-04A7-1494-1472961EE2AA}"/>
              </a:ext>
            </a:extLst>
          </p:cNvPr>
          <p:cNvSpPr txBox="1">
            <a:spLocks/>
          </p:cNvSpPr>
          <p:nvPr/>
        </p:nvSpPr>
        <p:spPr>
          <a:xfrm>
            <a:off x="719450" y="6004321"/>
            <a:ext cx="1092507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PCA</a:t>
            </a: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111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F1333E-2125-6A2D-2319-F40D20FEC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894" y="754558"/>
            <a:ext cx="3749456" cy="6053846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354388" y="2694491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354388" y="5382902"/>
            <a:ext cx="3927650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4976327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7961077" y="6346740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3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 dirty="0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22566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6D248D-9F25-84D8-B8A3-89EC232E95B6}"/>
              </a:ext>
            </a:extLst>
          </p:cNvPr>
          <p:cNvGrpSpPr/>
          <p:nvPr/>
        </p:nvGrpSpPr>
        <p:grpSpPr>
          <a:xfrm>
            <a:off x="8825518" y="5542858"/>
            <a:ext cx="2875680" cy="1152743"/>
            <a:chOff x="8825518" y="5542858"/>
            <a:chExt cx="2875680" cy="115274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201203-071A-C2E3-5D3A-0A6CF5D36CF3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0" name="Graphic 9" descr="Fir tree">
                <a:extLst>
                  <a:ext uri="{FF2B5EF4-FFF2-40B4-BE49-F238E27FC236}">
                    <a16:creationId xmlns:a16="http://schemas.microsoft.com/office/drawing/2014/main" id="{32BA7E07-3B75-13D4-921B-EB0C959B4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5" name="Graphic 24" descr="Fir tree">
                <a:extLst>
                  <a:ext uri="{FF2B5EF4-FFF2-40B4-BE49-F238E27FC236}">
                    <a16:creationId xmlns:a16="http://schemas.microsoft.com/office/drawing/2014/main" id="{BEA5B649-231C-975C-973F-2D558FDB9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6" name="Graphic 25" descr="Fir tree">
                <a:extLst>
                  <a:ext uri="{FF2B5EF4-FFF2-40B4-BE49-F238E27FC236}">
                    <a16:creationId xmlns:a16="http://schemas.microsoft.com/office/drawing/2014/main" id="{E38727BE-E930-9D33-1A62-99C9B4274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7" name="CuadroTexto 18">
                <a:extLst>
                  <a:ext uri="{FF2B5EF4-FFF2-40B4-BE49-F238E27FC236}">
                    <a16:creationId xmlns:a16="http://schemas.microsoft.com/office/drawing/2014/main" id="{9EBBD99B-82E8-0014-69DF-9CC5F097DA04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8" name="CuadroTexto 18">
                <a:extLst>
                  <a:ext uri="{FF2B5EF4-FFF2-40B4-BE49-F238E27FC236}">
                    <a16:creationId xmlns:a16="http://schemas.microsoft.com/office/drawing/2014/main" id="{E8F3BEC9-AD73-7586-E030-1F7ECF043F35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1" name="CuadroTexto 18">
                <a:extLst>
                  <a:ext uri="{FF2B5EF4-FFF2-40B4-BE49-F238E27FC236}">
                    <a16:creationId xmlns:a16="http://schemas.microsoft.com/office/drawing/2014/main" id="{E68192D4-2BFF-1639-2C26-2DD453F1F17F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33" name="CuadroTexto 18">
              <a:extLst>
                <a:ext uri="{FF2B5EF4-FFF2-40B4-BE49-F238E27FC236}">
                  <a16:creationId xmlns:a16="http://schemas.microsoft.com/office/drawing/2014/main" id="{9E607D12-CE56-34FB-87B4-457A2A3A7DF4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4" name="CuadroTexto 18">
              <a:extLst>
                <a:ext uri="{FF2B5EF4-FFF2-40B4-BE49-F238E27FC236}">
                  <a16:creationId xmlns:a16="http://schemas.microsoft.com/office/drawing/2014/main" id="{37FA4B31-69C9-5E34-5C84-ED7884A4B977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5231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6D13-839D-8D13-182E-F63FE3FB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964724-E20E-E5D9-9BA6-784D64C8ECC4}"/>
              </a:ext>
            </a:extLst>
          </p:cNvPr>
          <p:cNvGrpSpPr/>
          <p:nvPr/>
        </p:nvGrpSpPr>
        <p:grpSpPr>
          <a:xfrm>
            <a:off x="9818493" y="2727790"/>
            <a:ext cx="1132041" cy="1250117"/>
            <a:chOff x="10378084" y="3944761"/>
            <a:chExt cx="1132041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F28C7783-A448-B5FC-ADD9-AD30A646A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221" r="14228" b="57655"/>
            <a:stretch>
              <a:fillRect/>
            </a:stretch>
          </p:blipFill>
          <p:spPr>
            <a:xfrm>
              <a:off x="10378084" y="3944761"/>
              <a:ext cx="1132041" cy="125011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90CCFD4-CDF5-548E-236C-5A755425C05E}"/>
                </a:ext>
              </a:extLst>
            </p:cNvPr>
            <p:cNvSpPr txBox="1"/>
            <p:nvPr/>
          </p:nvSpPr>
          <p:spPr>
            <a:xfrm>
              <a:off x="10539374" y="469252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C5A25AA2-9E2B-D38D-ED3D-25E797D3AF99}"/>
              </a:ext>
            </a:extLst>
          </p:cNvPr>
          <p:cNvSpPr txBox="1"/>
          <p:nvPr/>
        </p:nvSpPr>
        <p:spPr>
          <a:xfrm>
            <a:off x="1084747" y="973422"/>
            <a:ext cx="52256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threshold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25%</a:t>
            </a:r>
          </a:p>
          <a:p>
            <a:pPr>
              <a:buClr>
                <a:srgbClr val="218317"/>
              </a:buClr>
            </a:pPr>
            <a:r>
              <a:rPr lang="es-ES" dirty="0" err="1"/>
              <a:t>Gottardini</a:t>
            </a:r>
            <a:r>
              <a:rPr lang="es-ES" dirty="0"/>
              <a:t> et al., 2020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8BB8355-C660-7391-9DD4-BF4791104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6662A31-C886-296F-BA5C-5A4A74F47BD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CD5B8F5-9424-99CA-497E-A65D184C155D}"/>
              </a:ext>
            </a:extLst>
          </p:cNvPr>
          <p:cNvGrpSpPr/>
          <p:nvPr/>
        </p:nvGrpSpPr>
        <p:grpSpPr>
          <a:xfrm>
            <a:off x="9399849" y="4153337"/>
            <a:ext cx="1969327" cy="1152743"/>
            <a:chOff x="9731871" y="5542858"/>
            <a:chExt cx="1969327" cy="115274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CF7C5D-2E63-D2F3-1712-338B737EE582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10" name="Graphic 9" descr="Fir tree">
                <a:extLst>
                  <a:ext uri="{FF2B5EF4-FFF2-40B4-BE49-F238E27FC236}">
                    <a16:creationId xmlns:a16="http://schemas.microsoft.com/office/drawing/2014/main" id="{D1EFE61A-B650-D6DC-43EB-EE520DE46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5" name="Graphic 24" descr="Fir tree">
                <a:extLst>
                  <a:ext uri="{FF2B5EF4-FFF2-40B4-BE49-F238E27FC236}">
                    <a16:creationId xmlns:a16="http://schemas.microsoft.com/office/drawing/2014/main" id="{F63AD5C7-45C8-1304-201E-10083C7AA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8" name="CuadroTexto 18">
                <a:extLst>
                  <a:ext uri="{FF2B5EF4-FFF2-40B4-BE49-F238E27FC236}">
                    <a16:creationId xmlns:a16="http://schemas.microsoft.com/office/drawing/2014/main" id="{DFD5D3AE-E3D1-F9EC-B685-23D2C348A027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1" name="CuadroTexto 18">
                <a:extLst>
                  <a:ext uri="{FF2B5EF4-FFF2-40B4-BE49-F238E27FC236}">
                    <a16:creationId xmlns:a16="http://schemas.microsoft.com/office/drawing/2014/main" id="{8AFF505A-1D65-DB02-72AB-302C5A2E94E1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34" name="CuadroTexto 18">
              <a:extLst>
                <a:ext uri="{FF2B5EF4-FFF2-40B4-BE49-F238E27FC236}">
                  <a16:creationId xmlns:a16="http://schemas.microsoft.com/office/drawing/2014/main" id="{F15A432B-29EC-4210-BB9D-8EE936842856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34E2B2D-D49C-1FB9-FD68-D36F1812A2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47" y="2075314"/>
            <a:ext cx="7739107" cy="464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53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454763" y="3542797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85EF0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85EF0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566509" y="5447657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679030" y="3471262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85EF0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85EF0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85EF0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C267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C2B903F3-9C1A-D788-B320-9EC393B13018}"/>
              </a:ext>
            </a:extLst>
          </p:cNvPr>
          <p:cNvSpPr txBox="1">
            <a:spLocks/>
          </p:cNvSpPr>
          <p:nvPr/>
        </p:nvSpPr>
        <p:spPr>
          <a:xfrm>
            <a:off x="433603" y="1121141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size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Chl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carotenoids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chl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a/b,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chl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/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xc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(C, O, N)</a:t>
            </a:r>
          </a:p>
          <a:p>
            <a:pPr marL="457200" lvl="1" indent="0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742C38C-8ED7-B287-DF01-175CAB64DB3D}"/>
              </a:ext>
            </a:extLst>
          </p:cNvPr>
          <p:cNvSpPr txBox="1">
            <a:spLocks/>
          </p:cNvSpPr>
          <p:nvPr/>
        </p:nvSpPr>
        <p:spPr>
          <a:xfrm>
            <a:off x="6159952" y="1121141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Whole-tree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BAI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since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1980 and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5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years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Resistance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2012, 2017, 2022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Resilience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2012, 2017</a:t>
            </a:r>
          </a:p>
          <a:p>
            <a:pPr marL="457200" lvl="1" indent="0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7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1DA4-3978-8A1E-543A-12E0A8C4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A134D23-B897-EFAC-5B3E-CCF83A8BD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F7B68C-B6B2-E738-B3F0-2FB500D4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0638CA-A060-B2DB-2BE4-1BA04C34CF34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65F27DA-6316-93D7-085B-0EB8AC2958C9}"/>
              </a:ext>
            </a:extLst>
          </p:cNvPr>
          <p:cNvSpPr txBox="1"/>
          <p:nvPr/>
        </p:nvSpPr>
        <p:spPr>
          <a:xfrm>
            <a:off x="8025593" y="2509956"/>
            <a:ext cx="38928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Tall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affected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sites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susceptible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612218B-C7DF-E5CE-EBAE-175B7BF2AB9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3" name="Grupo 10">
            <a:extLst>
              <a:ext uri="{FF2B5EF4-FFF2-40B4-BE49-F238E27FC236}">
                <a16:creationId xmlns:a16="http://schemas.microsoft.com/office/drawing/2014/main" id="{18CC4E00-07EB-8BA8-F173-1B6E17DCAF4E}"/>
              </a:ext>
            </a:extLst>
          </p:cNvPr>
          <p:cNvGrpSpPr/>
          <p:nvPr/>
        </p:nvGrpSpPr>
        <p:grpSpPr>
          <a:xfrm>
            <a:off x="9516739" y="930501"/>
            <a:ext cx="2849423" cy="1032694"/>
            <a:chOff x="1139560" y="5095351"/>
            <a:chExt cx="3477754" cy="1250117"/>
          </a:xfrm>
        </p:grpSpPr>
        <p:pic>
          <p:nvPicPr>
            <p:cNvPr id="24" name="Imagen 16">
              <a:extLst>
                <a:ext uri="{FF2B5EF4-FFF2-40B4-BE49-F238E27FC236}">
                  <a16:creationId xmlns:a16="http://schemas.microsoft.com/office/drawing/2014/main" id="{27C8EA7D-385F-3152-63B8-5E929393A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25" name="CuadroTexto 17">
              <a:extLst>
                <a:ext uri="{FF2B5EF4-FFF2-40B4-BE49-F238E27FC236}">
                  <a16:creationId xmlns:a16="http://schemas.microsoft.com/office/drawing/2014/main" id="{4FAFF144-ED99-D02C-DC7F-2B168B7EEFA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26" name="CuadroTexto 18">
              <a:extLst>
                <a:ext uri="{FF2B5EF4-FFF2-40B4-BE49-F238E27FC236}">
                  <a16:creationId xmlns:a16="http://schemas.microsoft.com/office/drawing/2014/main" id="{1EF518D3-CEDE-97E6-79B5-1DF13741138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226C65F-09C2-E947-7A0E-2A9873610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6746"/>
            <a:ext cx="4662438" cy="34966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B75BA1-6DCD-C611-A6F8-8911702654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38" y="2236746"/>
            <a:ext cx="3892887" cy="291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00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D780-4154-813D-1306-35A9A68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13780A3-7532-6A28-7571-C03A6A422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78D693-C2D0-491D-3815-78C0680A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B3D94D2-8DB5-7C46-0B4B-D40D30B586DE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5653D4-747B-4A53-F583-F0792FB8C624}"/>
              </a:ext>
            </a:extLst>
          </p:cNvPr>
          <p:cNvSpPr txBox="1"/>
          <p:nvPr/>
        </p:nvSpPr>
        <p:spPr>
          <a:xfrm>
            <a:off x="8025593" y="2509956"/>
            <a:ext cx="389288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LWC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buClr>
                <a:srgbClr val="218317"/>
              </a:buClr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d13C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intense responses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alba &gt;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pinea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5BADBED-B75A-32C6-8CDB-37FCF466846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3" name="Grupo 10">
            <a:extLst>
              <a:ext uri="{FF2B5EF4-FFF2-40B4-BE49-F238E27FC236}">
                <a16:creationId xmlns:a16="http://schemas.microsoft.com/office/drawing/2014/main" id="{8EBACB46-FBE7-B1EC-EBAB-1C23AA1D96F6}"/>
              </a:ext>
            </a:extLst>
          </p:cNvPr>
          <p:cNvGrpSpPr/>
          <p:nvPr/>
        </p:nvGrpSpPr>
        <p:grpSpPr>
          <a:xfrm>
            <a:off x="9516739" y="930501"/>
            <a:ext cx="2849423" cy="1032694"/>
            <a:chOff x="1139560" y="5095351"/>
            <a:chExt cx="3477754" cy="1250117"/>
          </a:xfrm>
        </p:grpSpPr>
        <p:pic>
          <p:nvPicPr>
            <p:cNvPr id="24" name="Imagen 16">
              <a:extLst>
                <a:ext uri="{FF2B5EF4-FFF2-40B4-BE49-F238E27FC236}">
                  <a16:creationId xmlns:a16="http://schemas.microsoft.com/office/drawing/2014/main" id="{091464BF-869D-1469-38F4-07560BF4D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25" name="CuadroTexto 17">
              <a:extLst>
                <a:ext uri="{FF2B5EF4-FFF2-40B4-BE49-F238E27FC236}">
                  <a16:creationId xmlns:a16="http://schemas.microsoft.com/office/drawing/2014/main" id="{287AEA69-13AA-F737-4E71-36B78DFD8FD8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26" name="CuadroTexto 18">
              <a:extLst>
                <a:ext uri="{FF2B5EF4-FFF2-40B4-BE49-F238E27FC236}">
                  <a16:creationId xmlns:a16="http://schemas.microsoft.com/office/drawing/2014/main" id="{07308255-1E18-A05F-883D-A8C00D33A4B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894C5B9-28E2-FD89-D5FF-D6AC329B9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5" y="1939868"/>
            <a:ext cx="4128843" cy="4128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DCBE75-9D8E-6420-0777-7341E03E7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08" y="1939867"/>
            <a:ext cx="4128843" cy="412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5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6336-AC5C-1B24-BD21-6A5587BB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79F872B-7E24-264B-68AD-0C82ED091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CDDD78-0F59-2B63-D0DA-95D67FD0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39C3A45-AEAE-F0F2-754D-A298A67FAA9D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9E8A8A-FA38-E092-39DB-C120C336891C}"/>
              </a:ext>
            </a:extLst>
          </p:cNvPr>
          <p:cNvSpPr txBox="1"/>
          <p:nvPr/>
        </p:nvSpPr>
        <p:spPr>
          <a:xfrm>
            <a:off x="8025593" y="2509956"/>
            <a:ext cx="38928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tan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2012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C9DCFC2-8B52-8FB0-84F9-36D1CCA533E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3" name="Grupo 10">
            <a:extLst>
              <a:ext uri="{FF2B5EF4-FFF2-40B4-BE49-F238E27FC236}">
                <a16:creationId xmlns:a16="http://schemas.microsoft.com/office/drawing/2014/main" id="{E2433FC3-BCAF-138D-003D-A8C01DB9126B}"/>
              </a:ext>
            </a:extLst>
          </p:cNvPr>
          <p:cNvGrpSpPr/>
          <p:nvPr/>
        </p:nvGrpSpPr>
        <p:grpSpPr>
          <a:xfrm>
            <a:off x="9516739" y="930501"/>
            <a:ext cx="2849423" cy="1032694"/>
            <a:chOff x="1139560" y="5095351"/>
            <a:chExt cx="3477754" cy="1250117"/>
          </a:xfrm>
        </p:grpSpPr>
        <p:pic>
          <p:nvPicPr>
            <p:cNvPr id="24" name="Imagen 16">
              <a:extLst>
                <a:ext uri="{FF2B5EF4-FFF2-40B4-BE49-F238E27FC236}">
                  <a16:creationId xmlns:a16="http://schemas.microsoft.com/office/drawing/2014/main" id="{7B3DD019-031C-91DB-C12A-E8A4C53CC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25" name="CuadroTexto 17">
              <a:extLst>
                <a:ext uri="{FF2B5EF4-FFF2-40B4-BE49-F238E27FC236}">
                  <a16:creationId xmlns:a16="http://schemas.microsoft.com/office/drawing/2014/main" id="{083EA7FF-D3E8-6DDA-5B37-1DF26201AF51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26" name="CuadroTexto 18">
              <a:extLst>
                <a:ext uri="{FF2B5EF4-FFF2-40B4-BE49-F238E27FC236}">
                  <a16:creationId xmlns:a16="http://schemas.microsoft.com/office/drawing/2014/main" id="{129C3377-1C9D-C73B-1CE5-9B5A2484B7C5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9798752-7895-B151-01FD-660975BFE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8" y="1939867"/>
            <a:ext cx="4128843" cy="4128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205BD3-A5AA-5167-3DAB-0C39EAEE0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741" y="1939867"/>
            <a:ext cx="4174478" cy="417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10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34A1-F128-CDA1-B946-BE0D3943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804ACF6-903A-1003-079E-9E70F55AD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67933B-FF61-2E15-887E-32A51B1E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2F94F91-136C-9945-28C5-398BE4881201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CC22A5-B9F3-B8DB-7EC6-1C7F6D2818BE}"/>
              </a:ext>
            </a:extLst>
          </p:cNvPr>
          <p:cNvSpPr txBox="1"/>
          <p:nvPr/>
        </p:nvSpPr>
        <p:spPr>
          <a:xfrm>
            <a:off x="8025593" y="2509956"/>
            <a:ext cx="38928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Tall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affected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susceptible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sites,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E0DD355-886A-4D9A-D2D8-204661385C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E261C6-A844-2896-5AF0-B719AD473181}"/>
              </a:ext>
            </a:extLst>
          </p:cNvPr>
          <p:cNvGrpSpPr/>
          <p:nvPr/>
        </p:nvGrpSpPr>
        <p:grpSpPr>
          <a:xfrm>
            <a:off x="10297728" y="949477"/>
            <a:ext cx="1287445" cy="646331"/>
            <a:chOff x="9731871" y="5542858"/>
            <a:chExt cx="1969327" cy="11527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3F96A8-E4F7-4606-8D34-623357A8731C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8" name="Graphic 7" descr="Fir tree">
                <a:extLst>
                  <a:ext uri="{FF2B5EF4-FFF2-40B4-BE49-F238E27FC236}">
                    <a16:creationId xmlns:a16="http://schemas.microsoft.com/office/drawing/2014/main" id="{E07BB85D-C7A3-A503-8D1A-780D47FCF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9" name="Graphic 8" descr="Fir tree">
                <a:extLst>
                  <a:ext uri="{FF2B5EF4-FFF2-40B4-BE49-F238E27FC236}">
                    <a16:creationId xmlns:a16="http://schemas.microsoft.com/office/drawing/2014/main" id="{DC3DC23F-6D0C-F6AA-5860-614A23685B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2" name="CuadroTexto 18">
                <a:extLst>
                  <a:ext uri="{FF2B5EF4-FFF2-40B4-BE49-F238E27FC236}">
                    <a16:creationId xmlns:a16="http://schemas.microsoft.com/office/drawing/2014/main" id="{E1D33B5D-2DDE-AA24-BAA0-1B7F900041A8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4" name="CuadroTexto 18">
                <a:extLst>
                  <a:ext uri="{FF2B5EF4-FFF2-40B4-BE49-F238E27FC236}">
                    <a16:creationId xmlns:a16="http://schemas.microsoft.com/office/drawing/2014/main" id="{FE6A7EAB-7240-73D0-766A-583B28792675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4B03E70B-A8CC-2721-C269-F22C45935C25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7AEFB8-C82C-69BF-DC4F-5BF4384F94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2236746"/>
            <a:ext cx="4391177" cy="32932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624D4E-FD22-9EB0-5491-587B592255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39" y="2363091"/>
            <a:ext cx="4152868" cy="31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50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6E3F-180D-63B8-07C2-B17B50B6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F3F2117-4BAC-DDAE-8FD4-FCC0AFB17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615D4B-3293-09AB-5376-07680427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C94BF85-EFE5-B393-00EF-0653F310E456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3B6B56-657D-C867-5E5F-22F6C2210310}"/>
              </a:ext>
            </a:extLst>
          </p:cNvPr>
          <p:cNvSpPr txBox="1"/>
          <p:nvPr/>
        </p:nvSpPr>
        <p:spPr>
          <a:xfrm>
            <a:off x="8025593" y="2509956"/>
            <a:ext cx="389288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LWC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buClr>
                <a:srgbClr val="218317"/>
              </a:buClr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d13C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intense responses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alba &gt;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pinea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810A252-2344-0AFE-511C-BFDFBD4D2C4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4D5B27-3234-18F0-7935-01B76C5E2982}"/>
              </a:ext>
            </a:extLst>
          </p:cNvPr>
          <p:cNvGrpSpPr/>
          <p:nvPr/>
        </p:nvGrpSpPr>
        <p:grpSpPr>
          <a:xfrm>
            <a:off x="10297728" y="949477"/>
            <a:ext cx="1287445" cy="646331"/>
            <a:chOff x="9731871" y="5542858"/>
            <a:chExt cx="1969327" cy="11527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CE77722-D40E-A174-0AA5-0A15E08C2950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10" name="Graphic 9" descr="Fir tree">
                <a:extLst>
                  <a:ext uri="{FF2B5EF4-FFF2-40B4-BE49-F238E27FC236}">
                    <a16:creationId xmlns:a16="http://schemas.microsoft.com/office/drawing/2014/main" id="{25F3E4AC-7730-ADAD-5694-229D6085A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2" name="Graphic 11" descr="Fir tree">
                <a:extLst>
                  <a:ext uri="{FF2B5EF4-FFF2-40B4-BE49-F238E27FC236}">
                    <a16:creationId xmlns:a16="http://schemas.microsoft.com/office/drawing/2014/main" id="{59D9CF04-55D3-FF27-2465-C59170613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3" name="CuadroTexto 18">
                <a:extLst>
                  <a:ext uri="{FF2B5EF4-FFF2-40B4-BE49-F238E27FC236}">
                    <a16:creationId xmlns:a16="http://schemas.microsoft.com/office/drawing/2014/main" id="{C482F92B-F632-08CB-2001-F674CF29C9F0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4" name="CuadroTexto 18">
                <a:extLst>
                  <a:ext uri="{FF2B5EF4-FFF2-40B4-BE49-F238E27FC236}">
                    <a16:creationId xmlns:a16="http://schemas.microsoft.com/office/drawing/2014/main" id="{1D2AE5B7-EE4D-F499-CC62-495F9873F632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9" name="CuadroTexto 18">
              <a:extLst>
                <a:ext uri="{FF2B5EF4-FFF2-40B4-BE49-F238E27FC236}">
                  <a16:creationId xmlns:a16="http://schemas.microsoft.com/office/drawing/2014/main" id="{A66FF5F6-3CB7-D47C-495E-584023D0CDA2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CE7D31B-5514-D124-9494-0A9D8F5749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9" y="1939866"/>
            <a:ext cx="4128843" cy="41288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53D4D2-B866-B448-D294-F081565580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08" y="1939866"/>
            <a:ext cx="4128843" cy="412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66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A59C-451E-3924-D626-80BB9762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12165FB-A2D1-B594-F215-386BE68D7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E733F3-C562-8D49-539E-7D73DD26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CD72D2D-EE46-D3EF-18C2-A078EA5C4089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9067355" cy="1222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dirty="0" err="1">
                <a:latin typeface="Helvetica"/>
                <a:cs typeface="Helvetica"/>
              </a:rPr>
              <a:t>Obj</a:t>
            </a:r>
            <a:r>
              <a:rPr lang="es-ES" sz="2400" dirty="0">
                <a:latin typeface="Helvetica" panose="020B0604020202020204"/>
                <a:cs typeface="Helvetica"/>
              </a:rPr>
              <a:t>. 1.-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whole-plant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individual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825561-CFE3-45FD-47CD-C2AF0D437C16}"/>
              </a:ext>
            </a:extLst>
          </p:cNvPr>
          <p:cNvSpPr txBox="1"/>
          <p:nvPr/>
        </p:nvSpPr>
        <p:spPr>
          <a:xfrm>
            <a:off x="8025593" y="2509956"/>
            <a:ext cx="3892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tan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Rs12</a:t>
            </a:r>
            <a:endParaRPr lang="es-ES" sz="16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CAAB424D-AB69-293C-5500-0A247C74F7F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8A9B81-888E-99D1-E13B-1B5DC29E55EA}"/>
              </a:ext>
            </a:extLst>
          </p:cNvPr>
          <p:cNvGrpSpPr/>
          <p:nvPr/>
        </p:nvGrpSpPr>
        <p:grpSpPr>
          <a:xfrm>
            <a:off x="10297728" y="949477"/>
            <a:ext cx="1287445" cy="646331"/>
            <a:chOff x="9731871" y="5542858"/>
            <a:chExt cx="1969327" cy="11527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906093A-E4ED-2D1B-9E7C-2D29F8CF5A43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8" name="Graphic 7" descr="Fir tree">
                <a:extLst>
                  <a:ext uri="{FF2B5EF4-FFF2-40B4-BE49-F238E27FC236}">
                    <a16:creationId xmlns:a16="http://schemas.microsoft.com/office/drawing/2014/main" id="{ACF36813-4265-9156-AF3A-48CC2C959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9" name="Graphic 8" descr="Fir tree">
                <a:extLst>
                  <a:ext uri="{FF2B5EF4-FFF2-40B4-BE49-F238E27FC236}">
                    <a16:creationId xmlns:a16="http://schemas.microsoft.com/office/drawing/2014/main" id="{E610ACC7-AF4C-2C71-8560-B2A63FF07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0" name="CuadroTexto 18">
                <a:extLst>
                  <a:ext uri="{FF2B5EF4-FFF2-40B4-BE49-F238E27FC236}">
                    <a16:creationId xmlns:a16="http://schemas.microsoft.com/office/drawing/2014/main" id="{F283A3E5-8886-C22F-DFAE-4317C631036E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2" name="CuadroTexto 18">
                <a:extLst>
                  <a:ext uri="{FF2B5EF4-FFF2-40B4-BE49-F238E27FC236}">
                    <a16:creationId xmlns:a16="http://schemas.microsoft.com/office/drawing/2014/main" id="{CAE0063B-8108-F46B-B7C1-3D39D3C47AC7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8C4BBF00-8C31-02A3-305C-74CF6292F0E7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38FB9193-3448-CE3A-7B4C-3177FB6E49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6" y="1939867"/>
            <a:ext cx="4165765" cy="41657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B26845-B210-5C68-D3FF-B434420FA0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741" y="1939867"/>
            <a:ext cx="4174478" cy="417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0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B5B42-8231-4003-3FB4-1DF5860D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919A59-A6A4-A551-F044-8B11F127B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9" y="1971354"/>
            <a:ext cx="4563480" cy="45634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DFAFA1C-54B1-15C2-7016-5C0B2209C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4AC338-518F-90CC-C2A2-E079A7CB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E37FA4A-76BB-66A6-3ECA-8FFD668EDAE9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are more sensitive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8EE785BD-AE2D-845A-DAEE-EB1150CE74EF}"/>
              </a:ext>
            </a:extLst>
          </p:cNvPr>
          <p:cNvSpPr txBox="1"/>
          <p:nvPr/>
        </p:nvSpPr>
        <p:spPr>
          <a:xfrm>
            <a:off x="6095997" y="290542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coldspot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hotspot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3E4CAF1-2C96-71D1-CBD7-804438CF5ECC}"/>
              </a:ext>
            </a:extLst>
          </p:cNvPr>
          <p:cNvSpPr txBox="1"/>
          <p:nvPr/>
        </p:nvSpPr>
        <p:spPr>
          <a:xfrm>
            <a:off x="5000041" y="3255232"/>
            <a:ext cx="67553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&gt;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inter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intraspecific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&gt;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prominent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RR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D2F23CC-FC25-9D0F-3E16-457190FA0BC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1" name="Grupo 10">
            <a:extLst>
              <a:ext uri="{FF2B5EF4-FFF2-40B4-BE49-F238E27FC236}">
                <a16:creationId xmlns:a16="http://schemas.microsoft.com/office/drawing/2014/main" id="{F4D96FF3-7C5B-5692-700C-F34A08B34A71}"/>
              </a:ext>
            </a:extLst>
          </p:cNvPr>
          <p:cNvGrpSpPr/>
          <p:nvPr/>
        </p:nvGrpSpPr>
        <p:grpSpPr>
          <a:xfrm>
            <a:off x="6953026" y="1750238"/>
            <a:ext cx="2849423" cy="1032694"/>
            <a:chOff x="1139560" y="5095351"/>
            <a:chExt cx="3477754" cy="1250117"/>
          </a:xfrm>
        </p:grpSpPr>
        <p:pic>
          <p:nvPicPr>
            <p:cNvPr id="22" name="Imagen 16">
              <a:extLst>
                <a:ext uri="{FF2B5EF4-FFF2-40B4-BE49-F238E27FC236}">
                  <a16:creationId xmlns:a16="http://schemas.microsoft.com/office/drawing/2014/main" id="{B58BEA52-9C6B-CE4A-03AF-15B587B8E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23" name="CuadroTexto 17">
              <a:extLst>
                <a:ext uri="{FF2B5EF4-FFF2-40B4-BE49-F238E27FC236}">
                  <a16:creationId xmlns:a16="http://schemas.microsoft.com/office/drawing/2014/main" id="{BBA82209-79BF-C0C3-8E96-039BC309994E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24" name="CuadroTexto 18">
              <a:extLst>
                <a:ext uri="{FF2B5EF4-FFF2-40B4-BE49-F238E27FC236}">
                  <a16:creationId xmlns:a16="http://schemas.microsoft.com/office/drawing/2014/main" id="{CC397254-2E98-3A76-859C-7BD833826F1E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688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9BC8-A803-6BAC-F668-5D94D6E8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5E38B4B-F34B-0F9C-5BA2-8347E99C0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6" y="1971354"/>
            <a:ext cx="4563480" cy="45634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77F85A7-1F17-3A54-BDA6-0E0C54985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3240D-5765-7DCE-9786-A5A2469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1FB67B6-FA0F-C59E-F249-3F674E59B61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are more sensitive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BE501E8-DE02-C117-CE26-9A3DD071C6F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6095997" y="2927533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C2B5D6-AECF-95DB-75FE-9A6F42AE6897}"/>
              </a:ext>
            </a:extLst>
          </p:cNvPr>
          <p:cNvGrpSpPr/>
          <p:nvPr/>
        </p:nvGrpSpPr>
        <p:grpSpPr>
          <a:xfrm>
            <a:off x="7579424" y="1734447"/>
            <a:ext cx="1287445" cy="646331"/>
            <a:chOff x="9731871" y="5542858"/>
            <a:chExt cx="1969327" cy="115274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89F99CE-7E73-61BD-42BE-114B89DF6133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152743"/>
              <a:chOff x="9731871" y="5542858"/>
              <a:chExt cx="1969327" cy="1152743"/>
            </a:xfrm>
          </p:grpSpPr>
          <p:pic>
            <p:nvPicPr>
              <p:cNvPr id="24" name="Graphic 23" descr="Fir tree">
                <a:extLst>
                  <a:ext uri="{FF2B5EF4-FFF2-40B4-BE49-F238E27FC236}">
                    <a16:creationId xmlns:a16="http://schemas.microsoft.com/office/drawing/2014/main" id="{A83F98BD-CD25-E4EF-820E-3AB5DAAC13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5" name="Graphic 24" descr="Fir tree">
                <a:extLst>
                  <a:ext uri="{FF2B5EF4-FFF2-40B4-BE49-F238E27FC236}">
                    <a16:creationId xmlns:a16="http://schemas.microsoft.com/office/drawing/2014/main" id="{9B15FDC7-E7A1-A601-8E0C-B2299799C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6" name="CuadroTexto 18">
                <a:extLst>
                  <a:ext uri="{FF2B5EF4-FFF2-40B4-BE49-F238E27FC236}">
                    <a16:creationId xmlns:a16="http://schemas.microsoft.com/office/drawing/2014/main" id="{31A21618-C23E-C1C9-D361-8865104263CA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7" name="CuadroTexto 18">
                <a:extLst>
                  <a:ext uri="{FF2B5EF4-FFF2-40B4-BE49-F238E27FC236}">
                    <a16:creationId xmlns:a16="http://schemas.microsoft.com/office/drawing/2014/main" id="{80FE8F56-61A6-7167-E8D8-6029CB03F1A9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23" name="CuadroTexto 18">
              <a:extLst>
                <a:ext uri="{FF2B5EF4-FFF2-40B4-BE49-F238E27FC236}">
                  <a16:creationId xmlns:a16="http://schemas.microsoft.com/office/drawing/2014/main" id="{DA6E6AA8-2B6B-D258-6CE0-9796EC5CFBD9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8" name="CuadroTexto 10">
            <a:extLst>
              <a:ext uri="{FF2B5EF4-FFF2-40B4-BE49-F238E27FC236}">
                <a16:creationId xmlns:a16="http://schemas.microsoft.com/office/drawing/2014/main" id="{F4FC997B-EFB0-DD8C-1C32-4DA92A821E18}"/>
              </a:ext>
            </a:extLst>
          </p:cNvPr>
          <p:cNvSpPr txBox="1"/>
          <p:nvPr/>
        </p:nvSpPr>
        <p:spPr>
          <a:xfrm>
            <a:off x="5000041" y="3255232"/>
            <a:ext cx="67553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&gt;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inter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intraspecific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&gt;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prominent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interspecific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71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67C7-471F-72AF-F868-00AD459E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22BCE5F-76C5-86E6-2FCF-E5E21B43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F7BA5C-8BFB-98C8-45C9-CC0BF132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9EB39DA-EF98-0D79-3B4C-E32EE43717D9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21A14AF5-9E63-BC1F-24B7-818AB1D96E0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00024-F855-C2E0-1FBA-3FBD77D5BC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09" y="1800427"/>
            <a:ext cx="9902575" cy="3300082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E6268E5C-F16D-C41D-39A0-06F0139D53BD}"/>
              </a:ext>
            </a:extLst>
          </p:cNvPr>
          <p:cNvSpPr txBox="1"/>
          <p:nvPr/>
        </p:nvSpPr>
        <p:spPr>
          <a:xfrm>
            <a:off x="4085641" y="5380738"/>
            <a:ext cx="675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343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0ED0-2A39-AFFC-F778-BC1ED8AD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BFA0DD-8A52-31F2-C813-DD9A6AEB9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C99F85-EEB7-1B84-1C63-C4F3B1DB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DA82F95-48D6-DFB7-B262-411EBF5F052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 err="1">
                <a:latin typeface="Helvetica"/>
                <a:cs typeface="Helvetica"/>
              </a:rPr>
              <a:t>Obj</a:t>
            </a:r>
            <a:r>
              <a:rPr lang="es-ES" sz="2000" b="1" dirty="0">
                <a:latin typeface="Helvetica"/>
                <a:cs typeface="Helvetica"/>
              </a:rPr>
              <a:t>. 3.-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endParaRPr lang="es-ES" sz="20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0175A3A4-56D2-BBF7-3EC8-2A4B37C0554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A84A501D-5075-6CD3-3E9C-DEF4DF0D2A9A}"/>
              </a:ext>
            </a:extLst>
          </p:cNvPr>
          <p:cNvSpPr txBox="1"/>
          <p:nvPr/>
        </p:nvSpPr>
        <p:spPr>
          <a:xfrm>
            <a:off x="8301537" y="981084"/>
            <a:ext cx="3738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based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bibliography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9CB278-4096-87D3-1D0A-CF88D87F8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92" y="1602128"/>
            <a:ext cx="10841034" cy="3613508"/>
          </a:xfrm>
          <a:prstGeom prst="rect">
            <a:avLst/>
          </a:prstGeom>
        </p:spPr>
      </p:pic>
      <p:sp>
        <p:nvSpPr>
          <p:cNvPr id="10" name="CuadroTexto 10">
            <a:extLst>
              <a:ext uri="{FF2B5EF4-FFF2-40B4-BE49-F238E27FC236}">
                <a16:creationId xmlns:a16="http://schemas.microsoft.com/office/drawing/2014/main" id="{2BDD9A98-B60C-9CA8-67A4-6C1A3C3683FF}"/>
              </a:ext>
            </a:extLst>
          </p:cNvPr>
          <p:cNvSpPr txBox="1"/>
          <p:nvPr/>
        </p:nvSpPr>
        <p:spPr>
          <a:xfrm>
            <a:off x="328219" y="5340502"/>
            <a:ext cx="9034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Axis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-off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– d13C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Stomatal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conductance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just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Axis 2: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conservative –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acquisitive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axis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6D87A28-16D7-89E1-0862-D60DFE7DD71C}"/>
              </a:ext>
            </a:extLst>
          </p:cNvPr>
          <p:cNvSpPr txBox="1"/>
          <p:nvPr/>
        </p:nvSpPr>
        <p:spPr>
          <a:xfrm>
            <a:off x="4290619" y="1847472"/>
            <a:ext cx="2262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1600" b="1" dirty="0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Conservative 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FB16BFFE-1277-7B01-1317-A950E9B288CA}"/>
              </a:ext>
            </a:extLst>
          </p:cNvPr>
          <p:cNvSpPr txBox="1"/>
          <p:nvPr/>
        </p:nvSpPr>
        <p:spPr>
          <a:xfrm>
            <a:off x="5973809" y="3090446"/>
            <a:ext cx="2262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1600" b="1" dirty="0" err="1">
                <a:solidFill>
                  <a:srgbClr val="4188B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Acquistive</a:t>
            </a:r>
            <a:r>
              <a:rPr lang="es-ES" sz="1600" b="1" dirty="0">
                <a:solidFill>
                  <a:srgbClr val="4188B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8F61BF6B-DAB1-C7B0-18C6-6D3A36FB004D}"/>
              </a:ext>
            </a:extLst>
          </p:cNvPr>
          <p:cNvSpPr txBox="1"/>
          <p:nvPr/>
        </p:nvSpPr>
        <p:spPr>
          <a:xfrm>
            <a:off x="-104172" y="2287498"/>
            <a:ext cx="2262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>
              <a:buClr>
                <a:srgbClr val="218317"/>
              </a:buClr>
            </a:pPr>
            <a:r>
              <a:rPr lang="es-ES" sz="1400" b="1" dirty="0" err="1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400" b="1" dirty="0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b="1" dirty="0" err="1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closure</a:t>
            </a:r>
            <a:r>
              <a:rPr lang="es-ES" sz="1400" b="1" dirty="0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400" b="1" dirty="0" err="1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low</a:t>
            </a:r>
            <a:r>
              <a:rPr lang="es-ES" sz="1400" b="1" dirty="0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b="1" dirty="0" err="1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400" b="1" dirty="0">
                <a:solidFill>
                  <a:srgbClr val="DE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3EA8CEA9-4B7F-B333-DB2E-5152A49BD9C4}"/>
              </a:ext>
            </a:extLst>
          </p:cNvPr>
          <p:cNvSpPr txBox="1"/>
          <p:nvPr/>
        </p:nvSpPr>
        <p:spPr>
          <a:xfrm>
            <a:off x="2444188" y="2236220"/>
            <a:ext cx="2262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>
              <a:buClr>
                <a:srgbClr val="218317"/>
              </a:buClr>
            </a:pPr>
            <a:r>
              <a:rPr lang="es-ES" sz="1400" b="1" dirty="0">
                <a:solidFill>
                  <a:srgbClr val="7B62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1400" b="1" dirty="0" err="1">
                <a:solidFill>
                  <a:srgbClr val="7B62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400" b="1" dirty="0">
                <a:solidFill>
                  <a:srgbClr val="7B62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1400" b="1" dirty="0" err="1">
                <a:solidFill>
                  <a:srgbClr val="7B62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sz="1400" b="1" dirty="0">
              <a:solidFill>
                <a:srgbClr val="7B62F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CuadroTexto 10">
            <a:extLst>
              <a:ext uri="{FF2B5EF4-FFF2-40B4-BE49-F238E27FC236}">
                <a16:creationId xmlns:a16="http://schemas.microsoft.com/office/drawing/2014/main" id="{33BCED0E-36A7-479A-8BF7-2A9E6BAB3439}"/>
              </a:ext>
            </a:extLst>
          </p:cNvPr>
          <p:cNvSpPr txBox="1"/>
          <p:nvPr/>
        </p:nvSpPr>
        <p:spPr>
          <a:xfrm>
            <a:off x="1880308" y="3836951"/>
            <a:ext cx="2262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>
              <a:buClr>
                <a:srgbClr val="218317"/>
              </a:buClr>
            </a:pPr>
            <a:r>
              <a:rPr lang="es-ES" sz="1400" b="1" dirty="0" err="1">
                <a:solidFill>
                  <a:srgbClr val="FFCA5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Acquistive</a:t>
            </a:r>
            <a:endParaRPr lang="es-ES" sz="1400" b="1" dirty="0">
              <a:solidFill>
                <a:srgbClr val="FFCA5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69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3F97-5EA6-4533-E9FF-DFF96ADF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FD35BDB-3A11-C9B2-608C-8C439E8DC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CA6126-2863-4D27-EA2D-C25582E62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DC2A385-F444-7722-EB9D-567415951723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 err="1">
                <a:latin typeface="Helvetica"/>
                <a:cs typeface="Helvetica"/>
              </a:rPr>
              <a:t>Obj</a:t>
            </a:r>
            <a:r>
              <a:rPr lang="es-ES" sz="2000" b="1" dirty="0">
                <a:latin typeface="Helvetica"/>
                <a:cs typeface="Helvetica"/>
              </a:rPr>
              <a:t>. 3.-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endParaRPr lang="es-ES" sz="20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C07C9CA8-2B05-5B24-A93E-3AAC53C7411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AF37E52C-0354-C2E3-87FF-93D8BCD7698C}"/>
              </a:ext>
            </a:extLst>
          </p:cNvPr>
          <p:cNvSpPr txBox="1"/>
          <p:nvPr/>
        </p:nvSpPr>
        <p:spPr>
          <a:xfrm>
            <a:off x="328219" y="5699900"/>
            <a:ext cx="903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Supplementary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A.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coldspots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B-C.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hotspots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29BB95-3FA2-B8AF-1472-E5F391223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95"/>
            <a:ext cx="12192000" cy="40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80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1784F-8A15-AFBF-6E73-453853D7E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E1320B4-6D73-E230-56A7-C12E1548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470A81-BEC6-DC71-1ABD-3FF63A99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10CFE4E-1A1F-1236-2932-35A41A1143E2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 err="1">
                <a:latin typeface="Helvetica"/>
                <a:cs typeface="Helvetica"/>
              </a:rPr>
              <a:t>Obj</a:t>
            </a:r>
            <a:r>
              <a:rPr lang="es-ES" sz="2000" b="1" dirty="0">
                <a:latin typeface="Helvetica"/>
                <a:cs typeface="Helvetica"/>
              </a:rPr>
              <a:t>. 3.-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endParaRPr lang="es-ES" sz="2000" b="1" dirty="0">
              <a:latin typeface="Helvetica"/>
              <a:cs typeface="Helvetica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B6585B63-642B-5506-82CE-0BC478E125A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0D814AD8-47AC-0EC7-97BC-35BF0EF52A7E}"/>
              </a:ext>
            </a:extLst>
          </p:cNvPr>
          <p:cNvSpPr txBox="1"/>
          <p:nvPr/>
        </p:nvSpPr>
        <p:spPr>
          <a:xfrm>
            <a:off x="328219" y="5699900"/>
            <a:ext cx="903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Supplementary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A.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coldspots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B-C.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hotspots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F5102-87E3-1DA8-4A8C-F4F3BD7B1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95"/>
            <a:ext cx="12192000" cy="40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60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2DB9-D383-23D4-586E-8748DE29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86EBB1-9134-1841-8561-766936BF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F0FB7B-1F3D-FB6B-2A82-79F23CA5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Conclussions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A33D48D5-EA89-4D2D-F8C6-4B932E3F6E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C5A2EB7-0B81-A9B7-AF85-562242028710}"/>
              </a:ext>
            </a:extLst>
          </p:cNvPr>
          <p:cNvSpPr txBox="1">
            <a:spLocks/>
          </p:cNvSpPr>
          <p:nvPr/>
        </p:nvSpPr>
        <p:spPr>
          <a:xfrm>
            <a:off x="322864" y="1279014"/>
            <a:ext cx="11191112" cy="48017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dirty="0" err="1">
                <a:latin typeface="Helvetica"/>
                <a:cs typeface="Helvetica"/>
              </a:rPr>
              <a:t>Declining</a:t>
            </a:r>
            <a:r>
              <a:rPr lang="es-ES" dirty="0">
                <a:latin typeface="Helvetica"/>
                <a:cs typeface="Helvetica"/>
              </a:rPr>
              <a:t> sites </a:t>
            </a:r>
            <a:r>
              <a:rPr lang="es-ES" dirty="0" err="1">
                <a:latin typeface="Helvetica"/>
                <a:cs typeface="Helvetica"/>
              </a:rPr>
              <a:t>had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higher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tree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size</a:t>
            </a:r>
            <a:r>
              <a:rPr lang="es-ES" dirty="0">
                <a:latin typeface="Helvetica"/>
                <a:cs typeface="Helvetica"/>
              </a:rPr>
              <a:t>, </a:t>
            </a:r>
            <a:r>
              <a:rPr lang="es-ES" dirty="0" err="1">
                <a:latin typeface="Helvetica"/>
                <a:cs typeface="Helvetica"/>
              </a:rPr>
              <a:t>competition</a:t>
            </a:r>
            <a:r>
              <a:rPr lang="es-ES" dirty="0">
                <a:latin typeface="Helvetica"/>
                <a:cs typeface="Helvetica"/>
              </a:rPr>
              <a:t>, d13C, and </a:t>
            </a:r>
            <a:r>
              <a:rPr lang="es-ES" dirty="0" err="1">
                <a:latin typeface="Helvetica"/>
                <a:cs typeface="Helvetica"/>
              </a:rPr>
              <a:t>lower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pigments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concentration</a:t>
            </a:r>
            <a:r>
              <a:rPr lang="es-ES" dirty="0">
                <a:latin typeface="Helvetica"/>
                <a:cs typeface="Helvetica"/>
              </a:rPr>
              <a:t>, </a:t>
            </a:r>
            <a:r>
              <a:rPr lang="es-ES" dirty="0" err="1">
                <a:latin typeface="Helvetica"/>
                <a:cs typeface="Helvetica"/>
              </a:rPr>
              <a:t>growth</a:t>
            </a:r>
            <a:r>
              <a:rPr lang="es-ES" dirty="0">
                <a:latin typeface="Helvetica"/>
                <a:cs typeface="Helvetica"/>
              </a:rPr>
              <a:t> </a:t>
            </a:r>
            <a:r>
              <a:rPr lang="es-ES" dirty="0" err="1">
                <a:latin typeface="Helvetica"/>
                <a:cs typeface="Helvetica"/>
              </a:rPr>
              <a:t>rates</a:t>
            </a:r>
            <a:r>
              <a:rPr lang="es-ES" dirty="0">
                <a:latin typeface="Helvetica"/>
                <a:cs typeface="Helvetica"/>
              </a:rPr>
              <a:t> and </a:t>
            </a:r>
            <a:r>
              <a:rPr lang="es-ES" dirty="0" err="1">
                <a:latin typeface="Helvetica"/>
                <a:cs typeface="Helvetica"/>
              </a:rPr>
              <a:t>resilience</a:t>
            </a:r>
            <a:r>
              <a:rPr lang="es-ES" dirty="0">
                <a:latin typeface="Helvetica"/>
                <a:cs typeface="Helvetica"/>
              </a:rPr>
              <a:t> </a:t>
            </a: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Species-specific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showed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FontTx/>
              <a:buChar char="-"/>
            </a:pPr>
            <a:endParaRPr lang="es-ES" b="1" dirty="0">
              <a:latin typeface="Helvetica"/>
              <a:cs typeface="Helvetica"/>
            </a:endParaRPr>
          </a:p>
          <a:p>
            <a:pPr>
              <a:buFontTx/>
              <a:buChar char="-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conservative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species-dependent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332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444E-6106-72BE-9EF3-E556CAC2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19F240D-8E53-E532-44A7-24D86D43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4FF1AB-AF00-319A-7604-AFBA88625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next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7719209-7349-1A8C-D8D6-03CDEC58E70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B3505371-57B3-E89D-E294-C22EB8C15BD4}"/>
              </a:ext>
            </a:extLst>
          </p:cNvPr>
          <p:cNvSpPr txBox="1"/>
          <p:nvPr/>
        </p:nvSpPr>
        <p:spPr>
          <a:xfrm>
            <a:off x="709128" y="903503"/>
            <a:ext cx="9469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January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– May 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data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analysis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Since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April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framework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Manuscript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mid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October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57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B5A9-4538-C06E-95CB-E24D387A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F61B8DA-9B3B-CEBF-D15A-6D73B96FB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0D8CF1-7B7C-2F7E-5951-A322D5DF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next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1780FF7-F4E3-59E2-3DD3-FDFBD66B18B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9FB75EA3-DBD7-56F9-E75D-095F50C6594F}"/>
              </a:ext>
            </a:extLst>
          </p:cNvPr>
          <p:cNvSpPr txBox="1"/>
          <p:nvPr/>
        </p:nvSpPr>
        <p:spPr>
          <a:xfrm>
            <a:off x="709128" y="2697352"/>
            <a:ext cx="94694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Finishing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current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framework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late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September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Finishing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correcting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our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analyses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early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October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Manuscript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mid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October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uadroTexto 10">
            <a:extLst>
              <a:ext uri="{FF2B5EF4-FFF2-40B4-BE49-F238E27FC236}">
                <a16:creationId xmlns:a16="http://schemas.microsoft.com/office/drawing/2014/main" id="{C5C81CA3-A3C3-9425-CDC2-2C4F570E01C8}"/>
              </a:ext>
            </a:extLst>
          </p:cNvPr>
          <p:cNvSpPr txBox="1"/>
          <p:nvPr/>
        </p:nvSpPr>
        <p:spPr>
          <a:xfrm>
            <a:off x="709128" y="5311299"/>
            <a:ext cx="946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show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our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October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1CEB77B6-E32C-63A6-DBE4-C869E893B205}"/>
              </a:ext>
            </a:extLst>
          </p:cNvPr>
          <p:cNvSpPr txBox="1"/>
          <p:nvPr/>
        </p:nvSpPr>
        <p:spPr>
          <a:xfrm>
            <a:off x="709128" y="5872312"/>
            <a:ext cx="946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please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feel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free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participate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anything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want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012CABA5-22BA-36B5-A1BC-274E6DE4BBED}"/>
              </a:ext>
            </a:extLst>
          </p:cNvPr>
          <p:cNvSpPr txBox="1"/>
          <p:nvPr/>
        </p:nvSpPr>
        <p:spPr>
          <a:xfrm>
            <a:off x="709128" y="903503"/>
            <a:ext cx="9469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January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– May 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data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analysis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Since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April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framework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Manuscript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mid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October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544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9EAD-0580-0A23-6986-5CE3A070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641EA5D-C6C1-5CEB-F4F2-E14F92706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AFCDF425-634F-E1AD-F1AF-3D4EE277051D}"/>
              </a:ext>
            </a:extLst>
          </p:cNvPr>
          <p:cNvSpPr txBox="1"/>
          <p:nvPr/>
        </p:nvSpPr>
        <p:spPr>
          <a:xfrm>
            <a:off x="1361283" y="2721114"/>
            <a:ext cx="9469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>
              <a:buClr>
                <a:srgbClr val="218317"/>
              </a:buClr>
            </a:pPr>
            <a:r>
              <a:rPr lang="es-ES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Thanks</a:t>
            </a:r>
            <a:r>
              <a:rPr lang="es-E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lang="es-E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attention</a:t>
            </a:r>
            <a:r>
              <a:rPr lang="es-E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4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</a:t>
            </a:r>
            <a:endParaRPr lang="es-ES" sz="4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2091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C538B2275519B4D999F18835E4ED748" ma:contentTypeVersion="3" ma:contentTypeDescription="Crear nuevo documento." ma:contentTypeScope="" ma:versionID="23ba790b03d6ad9a7461589f17ba4c47">
  <xsd:schema xmlns:xsd="http://www.w3.org/2001/XMLSchema" xmlns:xs="http://www.w3.org/2001/XMLSchema" xmlns:p="http://schemas.microsoft.com/office/2006/metadata/properties" xmlns:ns2="07e89329-b856-4e76-b6d9-cd0bbeeb2e84" targetNamespace="http://schemas.microsoft.com/office/2006/metadata/properties" ma:root="true" ma:fieldsID="d0e0c5621e325310093cd36ada5fa77c" ns2:_="">
    <xsd:import namespace="07e89329-b856-4e76-b6d9-cd0bbeeb2e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89329-b856-4e76-b6d9-cd0bbeeb2e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376AE7-DF75-46C7-B2CC-44E6897958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071072-946E-4995-95A5-8B80CD233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e89329-b856-4e76-b6d9-cd0bbeeb2e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CEAADC-F967-4AB0-B36C-38995190CDDB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07e89329-b856-4e76-b6d9-cd0bbeeb2e8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ed2c552-7d1f-4731-aa3a-2f0ec9629e26}" enabled="0" method="" siteId="{ced2c552-7d1f-4731-aa3a-2f0ec9629e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7342</TotalTime>
  <Words>1558</Words>
  <Application>Microsoft Office PowerPoint</Application>
  <PresentationFormat>Widescreen</PresentationFormat>
  <Paragraphs>402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Helvetica</vt:lpstr>
      <vt:lpstr>Times New Roman</vt:lpstr>
      <vt:lpstr>Tema de Office</vt:lpstr>
      <vt:lpstr>Chapter 2 – Assessing individual factors determining drought vulnerability</vt:lpstr>
      <vt:lpstr> Drought-induced tree mortality</vt:lpstr>
      <vt:lpstr>PowerPoint Presentation</vt:lpstr>
      <vt:lpstr>PowerPoint Presentation</vt:lpstr>
      <vt:lpstr>PowerPoint Presentation</vt:lpstr>
      <vt:lpstr> Resource-use strategies</vt:lpstr>
      <vt:lpstr> Resource-use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Study area</vt:lpstr>
      <vt:lpstr> Sampling design</vt:lpstr>
      <vt:lpstr> Sampling design</vt:lpstr>
      <vt:lpstr> Sampling design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Conclussions</vt:lpstr>
      <vt:lpstr> What is next…</vt:lpstr>
      <vt:lpstr> What is next…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83</cp:revision>
  <dcterms:created xsi:type="dcterms:W3CDTF">2025-04-25T13:52:31Z</dcterms:created>
  <dcterms:modified xsi:type="dcterms:W3CDTF">2025-09-03T09:07:36Z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0x0101005C538B2275519B4D999F18835E4ED748</vt:lpwstr>
  </property>
</Properties>
</file>