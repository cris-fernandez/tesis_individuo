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4F_36DED8AD.xml" ContentType="application/vnd.ms-powerpoint.comments+xml"/>
  <Override PartName="/ppt/comments/modernComment_195_4CD3AFA7.xml" ContentType="application/vnd.ms-powerpoint.comments+xml"/>
  <Override PartName="/ppt/notesSlides/notesSlide1.xml" ContentType="application/vnd.openxmlformats-officedocument.presentationml.notesSlide+xml"/>
  <Override PartName="/ppt/comments/modernComment_196_9A4652F4.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9D_E6C7FCE7.xml" ContentType="application/vnd.ms-powerpoint.comments+xml"/>
  <Override PartName="/ppt/comments/modernComment_19E_E57EE501.xml" ContentType="application/vnd.ms-powerpoint.comments+xml"/>
  <Override PartName="/ppt/comments/modernComment_19F_7A1565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306" r:id="rId3"/>
    <p:sldId id="379" r:id="rId4"/>
    <p:sldId id="335" r:id="rId5"/>
    <p:sldId id="282" r:id="rId6"/>
    <p:sldId id="404" r:id="rId7"/>
    <p:sldId id="405" r:id="rId8"/>
    <p:sldId id="406" r:id="rId9"/>
    <p:sldId id="342" r:id="rId10"/>
    <p:sldId id="337" r:id="rId11"/>
    <p:sldId id="407" r:id="rId12"/>
    <p:sldId id="408" r:id="rId13"/>
    <p:sldId id="409" r:id="rId14"/>
    <p:sldId id="410" r:id="rId15"/>
    <p:sldId id="411" r:id="rId16"/>
    <p:sldId id="412" r:id="rId17"/>
    <p:sldId id="413" r:id="rId18"/>
    <p:sldId id="414" r:id="rId19"/>
    <p:sldId id="415"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4BCF0B-13A8-F3D9-5213-32840108FAB3}" name="Cristopher Fernández de Blas" initials="CF" userId="13a2925ceb8d18c3" providerId="Windows Live"/>
  <p188:author id="{9B18557D-7187-C966-2E91-CE8B6CF86FC3}" name="Charlotte Grossiord" initials="" userId="S::charlotte.grossiord@wsl.ch::81d5e498-a7ae-4007-b872-c94d21631f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8317"/>
    <a:srgbClr val="7030A0"/>
    <a:srgbClr val="2F5597"/>
    <a:srgbClr val="7873B4"/>
    <a:srgbClr val="37AD88"/>
    <a:srgbClr val="DB5E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p:normalViewPr>
  <p:slideViewPr>
    <p:cSldViewPr snapToGrid="0">
      <p:cViewPr varScale="1">
        <p:scale>
          <a:sx n="77" d="100"/>
          <a:sy n="77" d="100"/>
        </p:scale>
        <p:origin x="43"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modernComment_14F_36DED8AD.xml><?xml version="1.0" encoding="utf-8"?>
<p188:cmLst xmlns:a="http://schemas.openxmlformats.org/drawingml/2006/main" xmlns:r="http://schemas.openxmlformats.org/officeDocument/2006/relationships" xmlns:p188="http://schemas.microsoft.com/office/powerpoint/2018/8/main">
  <p188:cm id="{E72AF825-BE95-3241-AEA5-C9EEB621F435}" authorId="{9B18557D-7187-C966-2E91-CE8B6CF86FC3}" created="2025-05-02T12:23:10.993">
    <pc:sldMkLst xmlns:pc="http://schemas.microsoft.com/office/powerpoint/2013/main/command">
      <pc:docMk/>
      <pc:sldMk cId="920574125" sldId="335"/>
    </pc:sldMkLst>
    <p188:replyLst>
      <p188:reply id="{E26608CF-4E9D-4396-9053-190CB4A16447}" authorId="{DB4BCF0B-13A8-F3D9-5213-32840108FAB3}" created="2025-05-27T13:51:56.997">
        <p188:txBody>
          <a:bodyPr/>
          <a:lstStyle/>
          <a:p>
            <a:r>
              <a:rPr lang="es-ES"/>
              <a:t>Paloma agrees! Maybe we could remove the sites list at the right, and include in a smaller map the distribution area of Pinus sylvestris, Pinus pinea and Abies alba?</a:t>
            </a:r>
          </a:p>
        </p188:txBody>
      </p188:reply>
      <p188:reply id="{B860C380-96D0-6C42-937C-9DC0777E96D0}" authorId="{9B18557D-7187-C966-2E91-CE8B6CF86FC3}" created="2025-05-29T06:02:12.303">
        <p188:txBody>
          <a:bodyPr/>
          <a:lstStyle/>
          <a:p>
            <a:r>
              <a:rPr lang="en-US"/>
              <a:t>I fully agree. Great idea with the distribution. Looking forward to the final figure. this will be beautiful</a:t>
            </a:r>
          </a:p>
        </p188:txBody>
      </p188:reply>
    </p188:replyLst>
    <p188:txBody>
      <a:bodyPr/>
      <a:lstStyle/>
      <a:p>
        <a:r>
          <a:rPr lang="en-US"/>
          <a:t>your first figure could be a map like this one I believe</a:t>
        </a:r>
      </a:p>
    </p188:txBody>
  </p188:cm>
</p188:cmLst>
</file>

<file path=ppt/comments/modernComment_19D_E6C7FCE7.xml><?xml version="1.0" encoding="utf-8"?>
<p188:cmLst xmlns:a="http://schemas.openxmlformats.org/drawingml/2006/main" xmlns:r="http://schemas.openxmlformats.org/officeDocument/2006/relationships" xmlns:p188="http://schemas.microsoft.com/office/powerpoint/2018/8/main">
  <p188:cm id="{5FE692DE-1540-1749-8480-24406C1CE541}" authorId="{9B18557D-7187-C966-2E91-CE8B6CF86FC3}" created="2025-05-29T06:16:45.284">
    <ac:deMkLst xmlns:ac="http://schemas.microsoft.com/office/drawing/2013/main/command">
      <pc:docMk xmlns:pc="http://schemas.microsoft.com/office/powerpoint/2013/main/command"/>
      <pc:sldMk xmlns:pc="http://schemas.microsoft.com/office/powerpoint/2013/main/command" cId="3871866087" sldId="413"/>
      <ac:picMk id="6" creationId="{4A839B70-2AA1-A2D9-351F-FDAB6E029D6B}"/>
    </ac:deMkLst>
    <p188:txBody>
      <a:bodyPr/>
      <a:lstStyle/>
      <a:p>
        <a:r>
          <a:rPr lang="en-US"/>
          <a:t>cool figures! To show the overall effect you could consider having an insert in each figure that shows the mean of all declining vs. healthy trees across all species</a:t>
        </a:r>
      </a:p>
    </p188:txBody>
  </p188:cm>
</p188:cmLst>
</file>

<file path=ppt/comments/modernComment_19E_E57EE501.xml><?xml version="1.0" encoding="utf-8"?>
<p188:cmLst xmlns:a="http://schemas.openxmlformats.org/drawingml/2006/main" xmlns:r="http://schemas.openxmlformats.org/officeDocument/2006/relationships" xmlns:p188="http://schemas.microsoft.com/office/powerpoint/2018/8/main">
  <p188:cm id="{B247A5EF-AB37-7F43-8EAF-889A767EE01B}" authorId="{9B18557D-7187-C966-2E91-CE8B6CF86FC3}" created="2025-05-29T06:19:32.086">
    <ac:deMkLst xmlns:ac="http://schemas.microsoft.com/office/drawing/2013/main/command">
      <pc:docMk xmlns:pc="http://schemas.microsoft.com/office/powerpoint/2013/main/command"/>
      <pc:sldMk xmlns:pc="http://schemas.microsoft.com/office/powerpoint/2013/main/command" cId="3850298625" sldId="414"/>
      <ac:picMk id="6" creationId="{A9F74993-0A4C-E813-363F-E0876843D936}"/>
    </ac:deMkLst>
    <p188:replyLst>
      <p188:reply id="{BE2095AE-1EFF-D04B-B0E1-F3A138E8E7A3}" authorId="{9B18557D-7187-C966-2E91-CE8B6CF86FC3}" created="2025-05-29T06:20:48.533">
        <p188:txBody>
          <a:bodyPr/>
          <a:lstStyle/>
          <a:p>
            <a:r>
              <a:rPr lang="en-US"/>
              <a:t>Also I would merge in 1 figure all the response vs. all the intrsinsik factors as you separated them in the objectives</a:t>
            </a:r>
          </a:p>
        </p188:txBody>
      </p188:reply>
    </p188:replyLst>
    <p188:txBody>
      <a:bodyPr/>
      <a:lstStyle/>
      <a:p>
        <a:r>
          <a:rPr lang="en-US"/>
          <a:t>here I would also suggest the same insert as before</a:t>
        </a:r>
      </a:p>
    </p188:txBody>
  </p188:cm>
</p188:cmLst>
</file>

<file path=ppt/comments/modernComment_19F_7A1565F.xml><?xml version="1.0" encoding="utf-8"?>
<p188:cmLst xmlns:a="http://schemas.openxmlformats.org/drawingml/2006/main" xmlns:r="http://schemas.openxmlformats.org/officeDocument/2006/relationships" xmlns:p188="http://schemas.microsoft.com/office/powerpoint/2018/8/main">
  <p188:cm id="{FB4D4660-1684-B947-A52A-CBB020A8ADC9}" authorId="{9B18557D-7187-C966-2E91-CE8B6CF86FC3}" created="2025-05-29T06:21:38.773">
    <pc:sldMkLst xmlns:pc="http://schemas.microsoft.com/office/powerpoint/2013/main/command">
      <pc:docMk/>
      <pc:sldMk cId="128013919" sldId="415"/>
    </pc:sldMkLst>
    <p188:txBody>
      <a:bodyPr/>
      <a:lstStyle/>
      <a:p>
        <a:r>
          <a:rPr lang="en-US"/>
          <a:t>I don't remember reading about resistance in the objectives and hypotheses. Make sure to add them as well</a:t>
        </a:r>
      </a:p>
    </p188:txBody>
  </p188:cm>
</p188:cmLst>
</file>

<file path=ppt/comments/modernComment_195_4CD3AFA7.xml><?xml version="1.0" encoding="utf-8"?>
<p188:cmLst xmlns:a="http://schemas.openxmlformats.org/drawingml/2006/main" xmlns:r="http://schemas.openxmlformats.org/officeDocument/2006/relationships" xmlns:p188="http://schemas.microsoft.com/office/powerpoint/2018/8/main">
  <p188:cm id="{A04E7475-72AC-EF41-8DCE-78170E424C1C}" authorId="{9B18557D-7187-C966-2E91-CE8B6CF86FC3}" status="resolved" created="2025-05-29T06:12:45.195" complete="100000">
    <ac:txMkLst xmlns:ac="http://schemas.microsoft.com/office/drawing/2013/main/command">
      <pc:docMk xmlns:pc="http://schemas.microsoft.com/office/powerpoint/2013/main/command"/>
      <pc:sldMk xmlns:pc="http://schemas.microsoft.com/office/powerpoint/2013/main/command" cId="1288941479" sldId="405"/>
      <ac:spMk id="2" creationId="{0EDCCFA2-7421-E9F8-432B-5107BCD8FD10}"/>
      <ac:txMk cp="51" len="20">
        <ac:context len="107" hash="2339119931"/>
      </ac:txMk>
    </ac:txMkLst>
    <p188:pos x="10253995" y="471991"/>
    <p188:replyLst>
      <p188:reply id="{2E4515F3-7C3C-49BD-BF5F-5F31525025FA}" authorId="{DB4BCF0B-13A8-F3D9-5213-32840108FAB3}" created="2025-06-02T13:15:51.918">
        <p188:txBody>
          <a:bodyPr/>
          <a:lstStyle/>
          <a:p>
            <a:r>
              <a:rPr lang="es-ES"/>
              <a:t>I think I’d rather keep them separate for now ☺️</a:t>
            </a:r>
          </a:p>
        </p188:txBody>
      </p188:reply>
    </p188:replyLst>
    <p188:txBody>
      <a:bodyPr/>
      <a:lstStyle/>
      <a:p>
        <a:r>
          <a:rPr lang="en-US"/>
          <a:t>why not merge Obj 1 and Obj2 by saying that you investigate the intrinsik risk factors (size, competition...) and the observable responses (mentionned here)?</a:t>
        </a:r>
      </a:p>
    </p188:txBody>
  </p188:cm>
  <p188:cm id="{9E6DA31E-3171-E849-9D13-216E00158302}" authorId="{9B18557D-7187-C966-2E91-CE8B6CF86FC3}" status="resolved" created="2025-05-29T06:14:26.530" complete="100000">
    <ac:txMkLst xmlns:ac="http://schemas.microsoft.com/office/drawing/2013/main/command">
      <pc:docMk xmlns:pc="http://schemas.microsoft.com/office/powerpoint/2013/main/command"/>
      <pc:sldMk xmlns:pc="http://schemas.microsoft.com/office/powerpoint/2013/main/command" cId="1288941479" sldId="405"/>
      <ac:spMk id="8" creationId="{5D2A598E-3271-64EB-5DA8-A70DDDCC8E1C}"/>
      <ac:txMk cp="0" len="10">
        <ac:context len="434" hash="1566757412"/>
      </ac:txMk>
    </ac:txMkLst>
    <p188:pos x="2182893" y="481381"/>
    <p188:txBody>
      <a:bodyPr/>
      <a:lstStyle/>
      <a:p>
        <a:r>
          <a:rPr lang="en-US"/>
          <a:t>but you dont measure senescence per se so you can't say that it is measured, same for transpiration. You need in the intro to say that these are indicators of transpiration and in the objectiive description you formulate it the otherway around : d13C (i.e., indicator of WUE)</a:t>
        </a:r>
      </a:p>
    </p188:txBody>
  </p188:cm>
  <p188:cm id="{955AC656-0168-DB42-B262-221F64286C42}" authorId="{9B18557D-7187-C966-2E91-CE8B6CF86FC3}" status="resolved" created="2025-05-29T06:15:10.224" complete="100000">
    <ac:txMkLst xmlns:ac="http://schemas.microsoft.com/office/drawing/2013/main/command">
      <pc:docMk xmlns:pc="http://schemas.microsoft.com/office/powerpoint/2013/main/command"/>
      <pc:sldMk xmlns:pc="http://schemas.microsoft.com/office/powerpoint/2013/main/command" cId="1288941479" sldId="405"/>
      <ac:spMk id="8" creationId="{5D2A598E-3271-64EB-5DA8-A70DDDCC8E1C}"/>
      <ac:txMk cp="244" len="7">
        <ac:context len="434" hash="1566757412"/>
      </ac:txMk>
    </ac:txMkLst>
    <p188:pos x="3731277" y="1822501"/>
    <p188:txBody>
      <a:bodyPr/>
      <a:lstStyle/>
      <a:p>
        <a:r>
          <a:rPr lang="en-US"/>
          <a:t>d13C is rather an indicator of WUE than transpiration</a:t>
        </a:r>
      </a:p>
    </p188:txBody>
  </p188:cm>
</p188:cmLst>
</file>

<file path=ppt/comments/modernComment_196_9A4652F4.xml><?xml version="1.0" encoding="utf-8"?>
<p188:cmLst xmlns:a="http://schemas.openxmlformats.org/drawingml/2006/main" xmlns:r="http://schemas.openxmlformats.org/officeDocument/2006/relationships" xmlns:p188="http://schemas.microsoft.com/office/powerpoint/2018/8/main">
  <p188:cm id="{18FC64F5-D2B2-46FE-9306-A6DE9DD7124B}" authorId="{DB4BCF0B-13A8-F3D9-5213-32840108FAB3}" status="resolved" created="2025-05-28T08:19:30.286" complete="100000">
    <ac:txMkLst xmlns:ac="http://schemas.microsoft.com/office/drawing/2013/main/command">
      <pc:docMk xmlns:pc="http://schemas.microsoft.com/office/powerpoint/2013/main/command"/>
      <pc:sldMk xmlns:pc="http://schemas.microsoft.com/office/powerpoint/2013/main/command" cId="2588300020" sldId="406"/>
      <ac:spMk id="5" creationId="{B4C51AA4-52F0-151B-7375-C783F89B7860}"/>
      <ac:txMk cp="9" len="65">
        <ac:context len="134" hash="2670110537"/>
      </ac:txMk>
    </ac:txMkLst>
    <p188:pos x="5210748" y="608441"/>
    <p188:txBody>
      <a:bodyPr/>
      <a:lstStyle/>
      <a:p>
        <a:r>
          <a:rPr lang="es-ES"/>
          <a:t>Only in Pinus sylvestris because it’s the only one for which we have enough variability of climatic conditions...</a:t>
        </a:r>
      </a:p>
    </p188:txBody>
  </p188:cm>
  <p188:cm id="{979B1C66-BD76-5E49-94EF-A5F4129955E8}" authorId="{9B18557D-7187-C966-2E91-CE8B6CF86FC3}" status="resolved" created="2025-05-29T06:04:44.200" complete="100000">
    <ac:deMkLst xmlns:ac="http://schemas.microsoft.com/office/drawing/2013/main/command">
      <pc:docMk xmlns:pc="http://schemas.microsoft.com/office/powerpoint/2013/main/command"/>
      <pc:sldMk xmlns:pc="http://schemas.microsoft.com/office/powerpoint/2013/main/command" cId="2588300020" sldId="406"/>
      <ac:spMk id="4" creationId="{C713888D-F036-1927-F7A3-7FD8FFA4D2BD}"/>
    </ac:deMkLst>
    <p188:replyLst>
      <p188:reply id="{66253953-0CD7-4F1A-90B7-DC168D679E88}" authorId="{DB4BCF0B-13A8-F3D9-5213-32840108FAB3}" created="2025-06-02T09:14:13.426">
        <p188:txBody>
          <a:bodyPr/>
          <a:lstStyle/>
          <a:p>
            <a:r>
              <a:rPr lang="es-ES"/>
              <a:t>True, no real time measurements, I was refering to d13C, so maybe it is better to talk about iWUE?</a:t>
            </a:r>
          </a:p>
        </p188:txBody>
      </p188:reply>
    </p188:replyLst>
    <p188:txBody>
      <a:bodyPr/>
      <a:lstStyle/>
      <a:p>
        <a:r>
          <a:rPr lang="en-US"/>
          <a:t>do you have transpiration data? It did not seem to be the case. Same for photosynthesis and senescence</a:t>
        </a:r>
      </a:p>
    </p188:txBody>
  </p188:cm>
  <p188:cm id="{171165BB-20F0-0949-8D10-18E5B72839ED}" authorId="{9B18557D-7187-C966-2E91-CE8B6CF86FC3}" status="resolved" created="2025-05-29T06:06:15.498" complete="100000">
    <ac:deMkLst xmlns:ac="http://schemas.microsoft.com/office/drawing/2013/main/command">
      <pc:docMk xmlns:pc="http://schemas.microsoft.com/office/powerpoint/2013/main/command"/>
      <pc:sldMk xmlns:pc="http://schemas.microsoft.com/office/powerpoint/2013/main/command" cId="2588300020" sldId="406"/>
      <ac:spMk id="5" creationId="{B4C51AA4-52F0-151B-7375-C783F89B7860}"/>
    </ac:deMkLst>
    <p188:replyLst>
      <p188:reply id="{995D1786-E8E9-4D82-BFDA-8A49B5B4D026}" authorId="{DB4BCF0B-13A8-F3D9-5213-32840108FAB3}" created="2025-06-02T09:12:26.623">
        <p188:txBody>
          <a:bodyPr/>
          <a:lstStyle/>
          <a:p>
            <a:r>
              <a:rPr lang="es-ES"/>
              <a:t>Great! I love it ☺️</a:t>
            </a:r>
          </a:p>
        </p188:txBody>
      </p188:reply>
    </p188:replyLst>
    <p188:txBody>
      <a:bodyPr/>
      <a:lstStyle/>
      <a:p>
        <a:r>
          <a:rPr lang="en-US"/>
          <a:t>here you could even say the same as O1: to look at how the mechanisms that affect drought vulnerability are mofidied by long-term adaptations to varying moisture</a:t>
        </a:r>
      </a:p>
    </p188:txBody>
  </p188:cm>
  <p188:cm id="{ECBB49CA-5B9C-4142-9EEF-BB6A61789287}" authorId="{9B18557D-7187-C966-2E91-CE8B6CF86FC3}" status="resolved" created="2025-05-29T06:07:08.431" complete="100000">
    <ac:txMkLst xmlns:ac="http://schemas.microsoft.com/office/drawing/2013/main/command">
      <pc:docMk xmlns:pc="http://schemas.microsoft.com/office/powerpoint/2013/main/command"/>
      <pc:sldMk xmlns:pc="http://schemas.microsoft.com/office/powerpoint/2013/main/command" cId="2588300020" sldId="406"/>
      <ac:spMk id="7" creationId="{7C371B6A-D08A-2959-5BDA-6D76133D6F74}"/>
      <ac:txMk cp="60" len="18">
        <ac:context len="105" hash="992420240"/>
      </ac:txMk>
    </ac:txMkLst>
    <p188:pos x="10948940" y="470172"/>
    <p188:replyLst>
      <p188:reply id="{71E06F36-1105-435C-AA22-95BDD759A145}" authorId="{DB4BCF0B-13A8-F3D9-5213-32840108FAB3}" created="2025-06-02T09:30:24.178">
        <p188:txBody>
          <a:bodyPr/>
          <a:lstStyle/>
          <a:p>
            <a:r>
              <a:rPr lang="es-ES"/>
              <a:t>We are considering modelling the niche of the species to calculate “how far from the optimal” the species are at a given place. That way, we wouldn’t really need the species identity...</a:t>
            </a:r>
          </a:p>
        </p188:txBody>
      </p188:reply>
    </p188:replyLst>
    <p188:txBody>
      <a:bodyPr/>
      <a:lstStyle/>
      <a:p>
        <a:r>
          <a:rPr lang="en-US"/>
          <a:t>I though you said you can only do this in Pinus synvesltris? Then this hypotheses should rather be formulated like H1</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983DD-E218-4F5B-97E6-73372FCDFB94}" type="datetimeFigureOut">
              <a:rPr lang="es-ES" smtClean="0"/>
              <a:t>02/06/2025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285FFF-AA8A-422F-901E-D94C39C8B224}" type="slidenum">
              <a:rPr lang="es-ES" smtClean="0"/>
              <a:t>‹Nº›</a:t>
            </a:fld>
            <a:endParaRPr lang="es-ES"/>
          </a:p>
        </p:txBody>
      </p:sp>
    </p:spTree>
    <p:extLst>
      <p:ext uri="{BB962C8B-B14F-4D97-AF65-F5344CB8AC3E}">
        <p14:creationId xmlns:p14="http://schemas.microsoft.com/office/powerpoint/2010/main" val="32800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5285FFF-AA8A-422F-901E-D94C39C8B224}" type="slidenum">
              <a:rPr lang="es-ES" smtClean="0"/>
              <a:t>8</a:t>
            </a:fld>
            <a:endParaRPr lang="es-ES"/>
          </a:p>
        </p:txBody>
      </p:sp>
    </p:spTree>
    <p:extLst>
      <p:ext uri="{BB962C8B-B14F-4D97-AF65-F5344CB8AC3E}">
        <p14:creationId xmlns:p14="http://schemas.microsoft.com/office/powerpoint/2010/main" val="2134738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5285FFF-AA8A-422F-901E-D94C39C8B224}" type="slidenum">
              <a:rPr lang="es-ES" smtClean="0"/>
              <a:t>9</a:t>
            </a:fld>
            <a:endParaRPr lang="es-ES"/>
          </a:p>
        </p:txBody>
      </p:sp>
    </p:spTree>
    <p:extLst>
      <p:ext uri="{BB962C8B-B14F-4D97-AF65-F5344CB8AC3E}">
        <p14:creationId xmlns:p14="http://schemas.microsoft.com/office/powerpoint/2010/main" val="1515661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5285FFF-AA8A-422F-901E-D94C39C8B224}" type="slidenum">
              <a:rPr lang="es-ES" smtClean="0"/>
              <a:t>17</a:t>
            </a:fld>
            <a:endParaRPr lang="es-ES"/>
          </a:p>
        </p:txBody>
      </p:sp>
    </p:spTree>
    <p:extLst>
      <p:ext uri="{BB962C8B-B14F-4D97-AF65-F5344CB8AC3E}">
        <p14:creationId xmlns:p14="http://schemas.microsoft.com/office/powerpoint/2010/main" val="857735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640DE-EF5A-BF63-2E51-3F00BBC828B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06BF010-56F3-6C41-3ED4-6C6CD7B867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7B884DF-EF45-3ED4-7FED-EDBF9117AAD8}"/>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0C4C811A-9D34-4AB3-450F-9DA4CF3A43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45F95F7-3C7B-946C-366A-49B0409368FD}"/>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359009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C9DE6E-BF0C-E652-3C51-49F5B25CC35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C9BD04C-625F-583F-FC5B-0B03DB01F3A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CEC05C8-58D0-6801-9E5F-F0B2E40CE1ED}"/>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D383DC1A-F7D9-17B6-DD6B-F8340D3E5CC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D60615A-9ABF-3407-3DD7-7F2A4626C64B}"/>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500492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CD798C-EF3C-75D7-DF34-7D4C4274B3E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B5D251F-D0F0-354A-F45F-27D2789AA6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ABC9AAB-A900-C82B-BE85-C8F402303E14}"/>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0DCAC175-7E84-92B8-4A79-9CBAFDBDAD8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C42F1AF-BA78-B1B5-EC60-FA0ADA4146A0}"/>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2876038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D3BAE-9F26-0518-54AF-3E926C2C255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88A59CD-AFDE-1619-A608-CDEC2CDC6B1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9CCD51C-A4E4-C6A4-BBD0-93E4CAEB7E8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FF563BB-C9D2-279E-8859-0E3182017FE1}"/>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6" name="Marcador de pie de página 5">
            <a:extLst>
              <a:ext uri="{FF2B5EF4-FFF2-40B4-BE49-F238E27FC236}">
                <a16:creationId xmlns:a16="http://schemas.microsoft.com/office/drawing/2014/main" id="{9014AD24-34FC-A14B-6E80-F6F63915C0A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AA1E899-44E6-3273-3EE1-32945AC39F51}"/>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27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DDA15D-25C4-382E-22A7-81D0B7919A9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58AE567-062B-49F4-8619-63F87A3975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6420789-F3FF-21AF-9D54-CD59B67513E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71177D8-E0EE-7BD1-068F-C81B122CD1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8A0FCD-E226-F963-4F76-8996CB9B829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06CDC16D-2FED-2D12-3D08-D6F077A70879}"/>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8" name="Marcador de pie de página 7">
            <a:extLst>
              <a:ext uri="{FF2B5EF4-FFF2-40B4-BE49-F238E27FC236}">
                <a16:creationId xmlns:a16="http://schemas.microsoft.com/office/drawing/2014/main" id="{EECFB62D-A51A-2454-4405-88CE76E5A35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D74924C-DB70-2D03-5E1D-0C3DDF4CCBD7}"/>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1874069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4F3FD-BF5F-164B-AAF7-98EC5A3E32D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937ECC9-AC2F-85D7-F049-98C88DF4AD6B}"/>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4" name="Marcador de pie de página 3">
            <a:extLst>
              <a:ext uri="{FF2B5EF4-FFF2-40B4-BE49-F238E27FC236}">
                <a16:creationId xmlns:a16="http://schemas.microsoft.com/office/drawing/2014/main" id="{9BC12025-51E5-6BB4-4D99-1EAD8C366DA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8C52ADA6-2C6B-24C3-2868-EF4353B0BF57}"/>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510041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36E515E-F511-61BB-3E91-09426519D11E}"/>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3" name="Marcador de pie de página 2">
            <a:extLst>
              <a:ext uri="{FF2B5EF4-FFF2-40B4-BE49-F238E27FC236}">
                <a16:creationId xmlns:a16="http://schemas.microsoft.com/office/drawing/2014/main" id="{7C4634D0-27C9-95EF-3E84-BE4C1A275CC3}"/>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14E3C35-4075-3D27-0B82-3A6CC319D2E1}"/>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1111944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10776-5E34-0607-D69E-3EF7EC6E4DA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1EEC768-6F4D-C19A-89E0-6A794544B8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435944C-60F6-AF2F-105B-501D425493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EF41D29-352F-5057-8D57-E152E682A6A5}"/>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6" name="Marcador de pie de página 5">
            <a:extLst>
              <a:ext uri="{FF2B5EF4-FFF2-40B4-BE49-F238E27FC236}">
                <a16:creationId xmlns:a16="http://schemas.microsoft.com/office/drawing/2014/main" id="{55E0DC31-00EB-A127-3B45-7199844797D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D5EF0AB-281F-DE3B-5B75-1EBA35933C07}"/>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935262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A6A52-845E-5021-3313-F13CB32E9BD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C993D278-CC78-61F0-4FC8-993DFC68C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383A53A-9C6B-26A9-6123-57B769CDC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F633E21-3097-61E0-8610-BEF2D3E5D612}"/>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6" name="Marcador de pie de página 5">
            <a:extLst>
              <a:ext uri="{FF2B5EF4-FFF2-40B4-BE49-F238E27FC236}">
                <a16:creationId xmlns:a16="http://schemas.microsoft.com/office/drawing/2014/main" id="{F70A8BFE-DEEE-886A-DD29-0927196B8E7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71C076B-F3BC-8A46-DF79-E64A30195EC0}"/>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8640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063C6-B53F-825E-64CB-3015916A2D0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2F3F1A8-F0E5-5999-2539-3162C3A5E28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E91299C-664F-B1DC-502B-AACAA5B12497}"/>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ADFE2D33-E41C-7A2D-954D-B7377B44C11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D44EEB-61E8-1F17-C276-395DCEB357B0}"/>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136782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9C72534-2A4D-909F-7175-F0B6627FC6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12AD40B-7F62-DB1B-BC75-257EF759F4F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293092A-D1B6-2D0C-7F7C-F9B47D515012}"/>
              </a:ext>
            </a:extLst>
          </p:cNvPr>
          <p:cNvSpPr>
            <a:spLocks noGrp="1"/>
          </p:cNvSpPr>
          <p:nvPr>
            <p:ph type="dt" sz="half" idx="10"/>
          </p:nvPr>
        </p:nvSpPr>
        <p:spPr/>
        <p:txBody>
          <a:body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9CF58730-2AEA-FFBD-4EB1-6446AC442A9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009B5FE-8900-CDE3-A45F-9CE5E24B3356}"/>
              </a:ext>
            </a:extLst>
          </p:cNvPr>
          <p:cNvSpPr>
            <a:spLocks noGrp="1"/>
          </p:cNvSpPr>
          <p:nvPr>
            <p:ph type="sldNum" sz="quarter" idx="12"/>
          </p:nvPr>
        </p:nvSpPr>
        <p:spPr/>
        <p:txBody>
          <a:bodyPr/>
          <a:lstStyle/>
          <a:p>
            <a:fld id="{03A0A005-AA7D-412A-A4BC-0E346569C849}" type="slidenum">
              <a:rPr lang="es-ES" smtClean="0"/>
              <a:t>‹Nº›</a:t>
            </a:fld>
            <a:endParaRPr lang="es-ES"/>
          </a:p>
        </p:txBody>
      </p:sp>
    </p:spTree>
    <p:extLst>
      <p:ext uri="{BB962C8B-B14F-4D97-AF65-F5344CB8AC3E}">
        <p14:creationId xmlns:p14="http://schemas.microsoft.com/office/powerpoint/2010/main" val="1545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114144-76B6-9D89-6BFE-9EA6B5100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6FF20E2-1DD1-B589-89E2-410C47E23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8F1B9EB-6037-B051-58F5-0FB73F7BA5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02A3C-7F5D-464A-B794-A5CF9734955A}" type="datetimeFigureOut">
              <a:rPr lang="es-ES" smtClean="0"/>
              <a:t>02/06/2025</a:t>
            </a:fld>
            <a:endParaRPr lang="es-ES"/>
          </a:p>
        </p:txBody>
      </p:sp>
      <p:sp>
        <p:nvSpPr>
          <p:cNvPr id="5" name="Marcador de pie de página 4">
            <a:extLst>
              <a:ext uri="{FF2B5EF4-FFF2-40B4-BE49-F238E27FC236}">
                <a16:creationId xmlns:a16="http://schemas.microsoft.com/office/drawing/2014/main" id="{AEC72BF2-7511-AB6D-DE0B-5A6923A828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CF6153C-F5E0-E3A2-16A0-F50E14478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A0A005-AA7D-412A-A4BC-0E346569C849}" type="slidenum">
              <a:rPr lang="es-ES" smtClean="0"/>
              <a:t>‹Nº›</a:t>
            </a:fld>
            <a:endParaRPr lang="es-ES"/>
          </a:p>
        </p:txBody>
      </p:sp>
    </p:spTree>
    <p:extLst>
      <p:ext uri="{BB962C8B-B14F-4D97-AF65-F5344CB8AC3E}">
        <p14:creationId xmlns:p14="http://schemas.microsoft.com/office/powerpoint/2010/main" val="2073685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4F_36DED8AD.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95_4CD3AFA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96_9A4652F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9D_E6C7FCE7.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tiff"/></Relationships>
</file>

<file path=ppt/slides/_rels/slide18.xml.rels><?xml version="1.0" encoding="UTF-8" standalone="yes"?>
<Relationships xmlns="http://schemas.openxmlformats.org/package/2006/relationships"><Relationship Id="rId3" Type="http://schemas.openxmlformats.org/officeDocument/2006/relationships/image" Target="../media/image13.tiff"/><Relationship Id="rId2" Type="http://schemas.microsoft.com/office/2018/10/relationships/comments" Target="../comments/modernComment_19E_E57EE50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tiff"/><Relationship Id="rId2" Type="http://schemas.microsoft.com/office/2018/10/relationships/comments" Target="../comments/modernComment_19F_7A1565F.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7D1276C-2F08-785C-87EC-6B990140D147}"/>
              </a:ext>
            </a:extLst>
          </p:cNvPr>
          <p:cNvSpPr txBox="1">
            <a:spLocks/>
          </p:cNvSpPr>
          <p:nvPr/>
        </p:nvSpPr>
        <p:spPr>
          <a:xfrm>
            <a:off x="0" y="1"/>
            <a:ext cx="12192000" cy="5735636"/>
          </a:xfrm>
          <a:prstGeom prst="rect">
            <a:avLst/>
          </a:prstGeom>
          <a:solidFill>
            <a:srgbClr val="218317"/>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b="1">
                <a:solidFill>
                  <a:schemeClr val="bg1"/>
                </a:solidFill>
                <a:latin typeface="Helvetica" panose="020B0604020202020204" pitchFamily="34" charset="0"/>
                <a:cs typeface="Helvetica" panose="020B0604020202020204" pitchFamily="34" charset="0"/>
              </a:rPr>
              <a:t>	</a:t>
            </a:r>
          </a:p>
        </p:txBody>
      </p:sp>
      <p:sp>
        <p:nvSpPr>
          <p:cNvPr id="2" name="Título 1">
            <a:extLst>
              <a:ext uri="{FF2B5EF4-FFF2-40B4-BE49-F238E27FC236}">
                <a16:creationId xmlns:a16="http://schemas.microsoft.com/office/drawing/2014/main" id="{6B99B278-9C5A-620C-C671-715C2AA7A6FE}"/>
              </a:ext>
            </a:extLst>
          </p:cNvPr>
          <p:cNvSpPr>
            <a:spLocks noGrp="1"/>
          </p:cNvSpPr>
          <p:nvPr>
            <p:ph type="ctrTitle"/>
          </p:nvPr>
        </p:nvSpPr>
        <p:spPr>
          <a:xfrm>
            <a:off x="1524000" y="982404"/>
            <a:ext cx="9144000" cy="3188380"/>
          </a:xfrm>
        </p:spPr>
        <p:txBody>
          <a:bodyPr>
            <a:normAutofit/>
          </a:bodyPr>
          <a:lstStyle/>
          <a:p>
            <a:r>
              <a:rPr lang="es-ES" b="1" dirty="0">
                <a:solidFill>
                  <a:schemeClr val="bg1"/>
                </a:solidFill>
                <a:latin typeface="Helvetica" panose="020B0604020202020204" pitchFamily="34" charset="0"/>
                <a:cs typeface="Helvetica" panose="020B0604020202020204" pitchFamily="34" charset="0"/>
              </a:rPr>
              <a:t>Preliminar </a:t>
            </a:r>
            <a:r>
              <a:rPr lang="es-ES" b="1" dirty="0" err="1">
                <a:solidFill>
                  <a:schemeClr val="bg1"/>
                </a:solidFill>
                <a:latin typeface="Helvetica" panose="020B0604020202020204" pitchFamily="34" charset="0"/>
                <a:cs typeface="Helvetica" panose="020B0604020202020204" pitchFamily="34" charset="0"/>
              </a:rPr>
              <a:t>analyses</a:t>
            </a:r>
            <a:br>
              <a:rPr lang="es-ES" b="1" dirty="0">
                <a:solidFill>
                  <a:schemeClr val="bg1"/>
                </a:solidFill>
                <a:latin typeface="Helvetica" panose="020B0604020202020204" pitchFamily="34" charset="0"/>
                <a:cs typeface="Helvetica" panose="020B0604020202020204" pitchFamily="34" charset="0"/>
              </a:rPr>
            </a:br>
            <a:r>
              <a:rPr lang="es-ES" b="1" dirty="0">
                <a:solidFill>
                  <a:schemeClr val="bg1"/>
                </a:solidFill>
                <a:latin typeface="Helvetica" panose="020B0604020202020204" pitchFamily="34" charset="0"/>
                <a:cs typeface="Helvetica" panose="020B0604020202020204" pitchFamily="34" charset="0"/>
              </a:rPr>
              <a:t> - </a:t>
            </a:r>
            <a:br>
              <a:rPr lang="es-ES" b="1" dirty="0">
                <a:solidFill>
                  <a:schemeClr val="bg1"/>
                </a:solidFill>
                <a:latin typeface="Helvetica" panose="020B0604020202020204" pitchFamily="34" charset="0"/>
                <a:cs typeface="Helvetica" panose="020B0604020202020204" pitchFamily="34" charset="0"/>
              </a:rPr>
            </a:br>
            <a:r>
              <a:rPr lang="es-ES" b="1" dirty="0">
                <a:solidFill>
                  <a:schemeClr val="bg1"/>
                </a:solidFill>
                <a:latin typeface="Helvetica" panose="020B0604020202020204" pitchFamily="34" charset="0"/>
                <a:cs typeface="Helvetica" panose="020B0604020202020204" pitchFamily="34" charset="0"/>
              </a:rPr>
              <a:t>Figures</a:t>
            </a:r>
          </a:p>
        </p:txBody>
      </p:sp>
      <p:sp>
        <p:nvSpPr>
          <p:cNvPr id="5" name="Título 1">
            <a:extLst>
              <a:ext uri="{FF2B5EF4-FFF2-40B4-BE49-F238E27FC236}">
                <a16:creationId xmlns:a16="http://schemas.microsoft.com/office/drawing/2014/main" id="{D1217E08-3399-DFA2-1E05-836FE1C2F420}"/>
              </a:ext>
            </a:extLst>
          </p:cNvPr>
          <p:cNvSpPr txBox="1">
            <a:spLocks/>
          </p:cNvSpPr>
          <p:nvPr/>
        </p:nvSpPr>
        <p:spPr>
          <a:xfrm>
            <a:off x="1" y="5735636"/>
            <a:ext cx="12192000" cy="1122363"/>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3200" dirty="0" err="1">
                <a:latin typeface="Helvetica"/>
                <a:cs typeface="Helvetica"/>
              </a:rPr>
              <a:t>Chapter</a:t>
            </a:r>
            <a:r>
              <a:rPr lang="es-ES" sz="3200" dirty="0">
                <a:latin typeface="Helvetica"/>
                <a:cs typeface="Helvetica"/>
              </a:rPr>
              <a:t> 2: </a:t>
            </a:r>
            <a:r>
              <a:rPr lang="es-ES" sz="3200" dirty="0" err="1">
                <a:latin typeface="Helvetica"/>
                <a:cs typeface="Helvetica"/>
              </a:rPr>
              <a:t>assessing</a:t>
            </a:r>
            <a:r>
              <a:rPr lang="es-ES" sz="3200" dirty="0">
                <a:latin typeface="Helvetica"/>
                <a:cs typeface="Helvetica"/>
              </a:rPr>
              <a:t> individual </a:t>
            </a:r>
            <a:r>
              <a:rPr lang="es-ES" sz="3200" dirty="0" err="1">
                <a:latin typeface="Helvetica"/>
                <a:cs typeface="Helvetica"/>
              </a:rPr>
              <a:t>factors</a:t>
            </a:r>
            <a:r>
              <a:rPr lang="es-ES" sz="3200" dirty="0">
                <a:latin typeface="Helvetica"/>
                <a:cs typeface="Helvetica"/>
              </a:rPr>
              <a:t> </a:t>
            </a:r>
            <a:r>
              <a:rPr lang="es-ES" sz="3200" dirty="0" err="1">
                <a:latin typeface="Helvetica"/>
                <a:cs typeface="Helvetica"/>
              </a:rPr>
              <a:t>determining</a:t>
            </a:r>
            <a:r>
              <a:rPr lang="es-ES" sz="3200" dirty="0">
                <a:latin typeface="Helvetica"/>
                <a:cs typeface="Helvetica"/>
              </a:rPr>
              <a:t> </a:t>
            </a:r>
            <a:r>
              <a:rPr lang="es-ES" sz="3200" dirty="0" err="1">
                <a:latin typeface="Helvetica"/>
                <a:cs typeface="Helvetica"/>
              </a:rPr>
              <a:t>drought</a:t>
            </a:r>
            <a:r>
              <a:rPr lang="es-ES" sz="3200" dirty="0">
                <a:latin typeface="Helvetica"/>
                <a:cs typeface="Helvetica"/>
              </a:rPr>
              <a:t> </a:t>
            </a:r>
            <a:r>
              <a:rPr lang="es-ES" sz="3200" dirty="0" err="1">
                <a:latin typeface="Helvetica"/>
                <a:cs typeface="Helvetica"/>
              </a:rPr>
              <a:t>vulnerability</a:t>
            </a:r>
            <a:endParaRPr lang="es-ES" sz="3200" dirty="0">
              <a:latin typeface="Helvetica"/>
              <a:cs typeface="Helvetica"/>
            </a:endParaRPr>
          </a:p>
        </p:txBody>
      </p:sp>
    </p:spTree>
    <p:extLst>
      <p:ext uri="{BB962C8B-B14F-4D97-AF65-F5344CB8AC3E}">
        <p14:creationId xmlns:p14="http://schemas.microsoft.com/office/powerpoint/2010/main" val="166421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E44D2-92AB-56BE-5401-B5857B4B3C1C}"/>
            </a:ext>
          </a:extLst>
        </p:cNvPr>
        <p:cNvGrpSpPr/>
        <p:nvPr/>
      </p:nvGrpSpPr>
      <p:grpSpPr>
        <a:xfrm>
          <a:off x="0" y="0"/>
          <a:ext cx="0" cy="0"/>
          <a:chOff x="0" y="0"/>
          <a:chExt cx="0" cy="0"/>
        </a:xfrm>
      </p:grpSpPr>
      <p:sp>
        <p:nvSpPr>
          <p:cNvPr id="47" name="Marcador de contenido 2">
            <a:extLst>
              <a:ext uri="{FF2B5EF4-FFF2-40B4-BE49-F238E27FC236}">
                <a16:creationId xmlns:a16="http://schemas.microsoft.com/office/drawing/2014/main" id="{F0E37F81-4996-ACF1-D504-516BF4508F0D}"/>
              </a:ext>
            </a:extLst>
          </p:cNvPr>
          <p:cNvSpPr txBox="1">
            <a:spLocks/>
          </p:cNvSpPr>
          <p:nvPr/>
        </p:nvSpPr>
        <p:spPr>
          <a:xfrm>
            <a:off x="873964" y="999063"/>
            <a:ext cx="10733318" cy="577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err="1">
                <a:latin typeface="Helvetica"/>
                <a:cs typeface="Helvetica"/>
              </a:rPr>
              <a:t>Morphological</a:t>
            </a:r>
            <a:r>
              <a:rPr lang="es-ES" b="1" dirty="0">
                <a:latin typeface="Helvetica"/>
                <a:cs typeface="Helvetica"/>
              </a:rPr>
              <a:t> </a:t>
            </a:r>
            <a:r>
              <a:rPr lang="es-ES" b="1" dirty="0" err="1">
                <a:latin typeface="Helvetica"/>
                <a:cs typeface="Helvetica"/>
              </a:rPr>
              <a:t>traits</a:t>
            </a:r>
            <a:endParaRPr lang="es-ES" dirty="0"/>
          </a:p>
          <a:p>
            <a:pPr marL="0" indent="0">
              <a:buClr>
                <a:srgbClr val="218317"/>
              </a:buClr>
              <a:buNone/>
            </a:pPr>
            <a:endParaRPr lang="es-ES" b="1" dirty="0">
              <a:latin typeface="Helvetica" panose="020B0604020202020204" pitchFamily="34" charset="0"/>
              <a:cs typeface="Helvetica" panose="020B0604020202020204" pitchFamily="34" charset="0"/>
            </a:endParaRPr>
          </a:p>
        </p:txBody>
      </p:sp>
      <p:sp>
        <p:nvSpPr>
          <p:cNvPr id="59" name="Marcador de contenido 2">
            <a:extLst>
              <a:ext uri="{FF2B5EF4-FFF2-40B4-BE49-F238E27FC236}">
                <a16:creationId xmlns:a16="http://schemas.microsoft.com/office/drawing/2014/main" id="{0317BCC4-3F71-57F6-B195-00F0C0F72EB3}"/>
              </a:ext>
            </a:extLst>
          </p:cNvPr>
          <p:cNvSpPr txBox="1">
            <a:spLocks/>
          </p:cNvSpPr>
          <p:nvPr/>
        </p:nvSpPr>
        <p:spPr>
          <a:xfrm>
            <a:off x="873964" y="1771781"/>
            <a:ext cx="940058" cy="2552400"/>
          </a:xfrm>
          <a:prstGeom prst="rect">
            <a:avLst/>
          </a:prstGeom>
          <a:solidFill>
            <a:srgbClr val="C00000"/>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a:solidFill>
                <a:schemeClr val="bg1"/>
              </a:solidFill>
            </a:endParaRPr>
          </a:p>
          <a:p>
            <a:pPr marL="0" indent="0" algn="ctr">
              <a:buNone/>
            </a:pPr>
            <a:endParaRPr lang="es-ES" sz="2000" b="1">
              <a:solidFill>
                <a:schemeClr val="bg1"/>
              </a:solidFill>
              <a:latin typeface="Helvetica"/>
              <a:cs typeface="Helvetica"/>
            </a:endParaRPr>
          </a:p>
        </p:txBody>
      </p:sp>
      <p:sp>
        <p:nvSpPr>
          <p:cNvPr id="3" name="Marcador de contenido 2">
            <a:extLst>
              <a:ext uri="{FF2B5EF4-FFF2-40B4-BE49-F238E27FC236}">
                <a16:creationId xmlns:a16="http://schemas.microsoft.com/office/drawing/2014/main" id="{FF244384-3004-6C6E-7451-A7238A5D0302}"/>
              </a:ext>
            </a:extLst>
          </p:cNvPr>
          <p:cNvSpPr txBox="1">
            <a:spLocks/>
          </p:cNvSpPr>
          <p:nvPr/>
        </p:nvSpPr>
        <p:spPr>
          <a:xfrm>
            <a:off x="4282027" y="1771781"/>
            <a:ext cx="940058" cy="2552401"/>
          </a:xfrm>
          <a:prstGeom prst="rect">
            <a:avLst/>
          </a:prstGeom>
          <a:solidFill>
            <a:srgbClr val="2F5597"/>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sz="20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000" b="1">
              <a:solidFill>
                <a:schemeClr val="bg1"/>
              </a:solidFill>
              <a:latin typeface="Helvetica" panose="020B0604020202020204" pitchFamily="34" charset="0"/>
              <a:cs typeface="Helvetica" panose="020B0604020202020204" pitchFamily="34" charset="0"/>
            </a:endParaRPr>
          </a:p>
        </p:txBody>
      </p:sp>
      <p:sp>
        <p:nvSpPr>
          <p:cNvPr id="8" name="Marcador de contenido 2">
            <a:extLst>
              <a:ext uri="{FF2B5EF4-FFF2-40B4-BE49-F238E27FC236}">
                <a16:creationId xmlns:a16="http://schemas.microsoft.com/office/drawing/2014/main" id="{BED42503-2FD0-622B-25DC-67609D2A8C2B}"/>
              </a:ext>
            </a:extLst>
          </p:cNvPr>
          <p:cNvSpPr txBox="1">
            <a:spLocks/>
          </p:cNvSpPr>
          <p:nvPr/>
        </p:nvSpPr>
        <p:spPr>
          <a:xfrm>
            <a:off x="2151683" y="1838732"/>
            <a:ext cx="1789618" cy="98742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Tree</a:t>
            </a:r>
            <a:r>
              <a:rPr lang="es-ES" sz="2400" b="1" dirty="0">
                <a:latin typeface="Helvetica"/>
                <a:cs typeface="Helvetica"/>
              </a:rPr>
              <a:t> </a:t>
            </a:r>
            <a:r>
              <a:rPr lang="es-ES" sz="2400" b="1" dirty="0" err="1">
                <a:latin typeface="Helvetica"/>
                <a:cs typeface="Helvetica"/>
              </a:rPr>
              <a:t>growth</a:t>
            </a:r>
            <a:endParaRPr lang="es-ES" sz="2400" b="1" dirty="0">
              <a:latin typeface="Helvetica"/>
              <a:cs typeface="Helvetica"/>
            </a:endParaRPr>
          </a:p>
          <a:p>
            <a:pPr marL="0" indent="0" algn="ctr">
              <a:buNone/>
            </a:pPr>
            <a:r>
              <a:rPr lang="es-ES" sz="2400" dirty="0">
                <a:latin typeface="Helvetica" panose="020B0604020202020204"/>
                <a:cs typeface="Helvetica" panose="020B0604020202020204"/>
              </a:rPr>
              <a:t>BAI, </a:t>
            </a:r>
            <a:r>
              <a:rPr lang="es-ES" sz="2400" dirty="0" err="1">
                <a:latin typeface="Helvetica" panose="020B0604020202020204"/>
                <a:cs typeface="Helvetica" panose="020B0604020202020204"/>
              </a:rPr>
              <a:t>height</a:t>
            </a:r>
            <a:r>
              <a:rPr lang="es-ES" sz="2400" dirty="0">
                <a:latin typeface="Helvetica" panose="020B0604020202020204"/>
                <a:cs typeface="Helvetica" panose="020B0604020202020204"/>
              </a:rPr>
              <a:t>, </a:t>
            </a:r>
            <a:r>
              <a:rPr lang="es-ES" sz="2400" dirty="0" err="1">
                <a:latin typeface="Helvetica" panose="020B0604020202020204"/>
                <a:cs typeface="Helvetica" panose="020B0604020202020204"/>
              </a:rPr>
              <a:t>dbh</a:t>
            </a:r>
            <a:endParaRPr lang="es-ES" sz="2400" b="1" dirty="0">
              <a:latin typeface="Helvetica" panose="020B0604020202020204"/>
              <a:cs typeface="Helvetica" panose="020B0604020202020204"/>
            </a:endParaRPr>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1" name="Marcador de contenido 2">
            <a:extLst>
              <a:ext uri="{FF2B5EF4-FFF2-40B4-BE49-F238E27FC236}">
                <a16:creationId xmlns:a16="http://schemas.microsoft.com/office/drawing/2014/main" id="{20DB9558-B2BF-6BD6-E1CC-3565899D0CB3}"/>
              </a:ext>
            </a:extLst>
          </p:cNvPr>
          <p:cNvSpPr txBox="1">
            <a:spLocks/>
          </p:cNvSpPr>
          <p:nvPr/>
        </p:nvSpPr>
        <p:spPr>
          <a:xfrm>
            <a:off x="2313887" y="2886569"/>
            <a:ext cx="1462158"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latin typeface="Helvetica"/>
                <a:cs typeface="Helvetica"/>
              </a:rPr>
              <a:t>SLA</a:t>
            </a:r>
            <a:endParaRPr lang="es-ES" sz="2400"/>
          </a:p>
          <a:p>
            <a:pPr marL="0" indent="0" algn="ctr">
              <a:buClr>
                <a:srgbClr val="218317"/>
              </a:buClr>
              <a:buNone/>
            </a:pPr>
            <a:endParaRPr lang="es-ES" sz="2400" b="1">
              <a:latin typeface="Helvetica" panose="020B0604020202020204" pitchFamily="34" charset="0"/>
              <a:cs typeface="Helvetica" panose="020B0604020202020204" pitchFamily="34" charset="0"/>
            </a:endParaRPr>
          </a:p>
        </p:txBody>
      </p:sp>
      <p:sp>
        <p:nvSpPr>
          <p:cNvPr id="12" name="Marcador de contenido 2">
            <a:extLst>
              <a:ext uri="{FF2B5EF4-FFF2-40B4-BE49-F238E27FC236}">
                <a16:creationId xmlns:a16="http://schemas.microsoft.com/office/drawing/2014/main" id="{EC12320A-0D50-B954-DBB2-1EB8131F8B5E}"/>
              </a:ext>
            </a:extLst>
          </p:cNvPr>
          <p:cNvSpPr txBox="1">
            <a:spLocks/>
          </p:cNvSpPr>
          <p:nvPr/>
        </p:nvSpPr>
        <p:spPr>
          <a:xfrm>
            <a:off x="2160035" y="3669011"/>
            <a:ext cx="176986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err="1">
                <a:latin typeface="Helvetica"/>
                <a:cs typeface="Helvetica"/>
              </a:rPr>
              <a:t>defoliation</a:t>
            </a:r>
            <a:endParaRPr lang="es-ES" sz="2400"/>
          </a:p>
          <a:p>
            <a:pPr marL="0" indent="0" algn="ctr">
              <a:buClr>
                <a:srgbClr val="218317"/>
              </a:buClr>
              <a:buNone/>
            </a:pPr>
            <a:endParaRPr lang="es-ES" sz="2400" b="1">
              <a:latin typeface="Helvetica" panose="020B0604020202020204" pitchFamily="34" charset="0"/>
              <a:cs typeface="Helvetica" panose="020B0604020202020204" pitchFamily="34" charset="0"/>
            </a:endParaRPr>
          </a:p>
        </p:txBody>
      </p:sp>
      <p:sp>
        <p:nvSpPr>
          <p:cNvPr id="13" name="Marcador de contenido 2">
            <a:extLst>
              <a:ext uri="{FF2B5EF4-FFF2-40B4-BE49-F238E27FC236}">
                <a16:creationId xmlns:a16="http://schemas.microsoft.com/office/drawing/2014/main" id="{BF010CEC-27C0-43E8-F13F-4CD98F2A970C}"/>
              </a:ext>
            </a:extLst>
          </p:cNvPr>
          <p:cNvSpPr txBox="1">
            <a:spLocks/>
          </p:cNvSpPr>
          <p:nvPr/>
        </p:nvSpPr>
        <p:spPr>
          <a:xfrm>
            <a:off x="873963" y="1977572"/>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4" name="Marcador de contenido 2">
            <a:extLst>
              <a:ext uri="{FF2B5EF4-FFF2-40B4-BE49-F238E27FC236}">
                <a16:creationId xmlns:a16="http://schemas.microsoft.com/office/drawing/2014/main" id="{69F6C2EF-A2B4-CADC-72E6-1ED344B9E1A7}"/>
              </a:ext>
            </a:extLst>
          </p:cNvPr>
          <p:cNvSpPr txBox="1">
            <a:spLocks/>
          </p:cNvSpPr>
          <p:nvPr/>
        </p:nvSpPr>
        <p:spPr>
          <a:xfrm>
            <a:off x="5986468" y="1933916"/>
            <a:ext cx="5331566" cy="398526"/>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Photosynthesis</a:t>
            </a:r>
            <a:r>
              <a:rPr lang="es-ES" sz="2400" dirty="0">
                <a:latin typeface="Helvetica"/>
                <a:cs typeface="Helvetica"/>
              </a:rPr>
              <a:t>, </a:t>
            </a:r>
            <a:r>
              <a:rPr lang="es-ES" sz="2400" dirty="0" err="1">
                <a:latin typeface="Helvetica"/>
                <a:cs typeface="Helvetica"/>
              </a:rPr>
              <a:t>root</a:t>
            </a:r>
            <a:r>
              <a:rPr lang="es-ES" sz="2400" dirty="0">
                <a:latin typeface="Helvetica"/>
                <a:cs typeface="Helvetica"/>
              </a:rPr>
              <a:t> </a:t>
            </a:r>
            <a:r>
              <a:rPr lang="es-ES" sz="2400" dirty="0" err="1">
                <a:latin typeface="Helvetica"/>
                <a:cs typeface="Helvetica"/>
              </a:rPr>
              <a:t>system</a:t>
            </a:r>
            <a:r>
              <a:rPr lang="es-ES" sz="2400" dirty="0">
                <a:latin typeface="Helvetica"/>
                <a:cs typeface="Helvetica"/>
              </a:rPr>
              <a:t>, reserves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16" name="Marcador de contenido 2">
            <a:extLst>
              <a:ext uri="{FF2B5EF4-FFF2-40B4-BE49-F238E27FC236}">
                <a16:creationId xmlns:a16="http://schemas.microsoft.com/office/drawing/2014/main" id="{785E35DF-EB1B-CC2D-77A0-8849F5A8E907}"/>
              </a:ext>
            </a:extLst>
          </p:cNvPr>
          <p:cNvSpPr txBox="1">
            <a:spLocks/>
          </p:cNvSpPr>
          <p:nvPr/>
        </p:nvSpPr>
        <p:spPr>
          <a:xfrm>
            <a:off x="4282028" y="1977572"/>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7" name="Marcador de contenido 2">
            <a:extLst>
              <a:ext uri="{FF2B5EF4-FFF2-40B4-BE49-F238E27FC236}">
                <a16:creationId xmlns:a16="http://schemas.microsoft.com/office/drawing/2014/main" id="{8BE86B80-B33B-526D-DC67-62819F92DADC}"/>
              </a:ext>
            </a:extLst>
          </p:cNvPr>
          <p:cNvSpPr txBox="1">
            <a:spLocks/>
          </p:cNvSpPr>
          <p:nvPr/>
        </p:nvSpPr>
        <p:spPr>
          <a:xfrm>
            <a:off x="873962" y="2809267"/>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8" name="Marcador de contenido 2">
            <a:extLst>
              <a:ext uri="{FF2B5EF4-FFF2-40B4-BE49-F238E27FC236}">
                <a16:creationId xmlns:a16="http://schemas.microsoft.com/office/drawing/2014/main" id="{C6519D60-4367-FE7F-E866-77BB4CC375F6}"/>
              </a:ext>
            </a:extLst>
          </p:cNvPr>
          <p:cNvSpPr txBox="1">
            <a:spLocks/>
          </p:cNvSpPr>
          <p:nvPr/>
        </p:nvSpPr>
        <p:spPr>
          <a:xfrm>
            <a:off x="873962" y="3672541"/>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9" name="Marcador de contenido 2">
            <a:extLst>
              <a:ext uri="{FF2B5EF4-FFF2-40B4-BE49-F238E27FC236}">
                <a16:creationId xmlns:a16="http://schemas.microsoft.com/office/drawing/2014/main" id="{8476C887-83B4-0CA1-ED02-27A7FBBFAC2A}"/>
              </a:ext>
            </a:extLst>
          </p:cNvPr>
          <p:cNvSpPr txBox="1">
            <a:spLocks/>
          </p:cNvSpPr>
          <p:nvPr/>
        </p:nvSpPr>
        <p:spPr>
          <a:xfrm>
            <a:off x="4278968" y="280995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20" name="Marcador de contenido 2">
            <a:extLst>
              <a:ext uri="{FF2B5EF4-FFF2-40B4-BE49-F238E27FC236}">
                <a16:creationId xmlns:a16="http://schemas.microsoft.com/office/drawing/2014/main" id="{0E22DB08-9A70-46F7-386A-B2D485C5FF5A}"/>
              </a:ext>
            </a:extLst>
          </p:cNvPr>
          <p:cNvSpPr txBox="1">
            <a:spLocks/>
          </p:cNvSpPr>
          <p:nvPr/>
        </p:nvSpPr>
        <p:spPr>
          <a:xfrm>
            <a:off x="4278967" y="3669011"/>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3" name="Marcador de contenido 2">
            <a:extLst>
              <a:ext uri="{FF2B5EF4-FFF2-40B4-BE49-F238E27FC236}">
                <a16:creationId xmlns:a16="http://schemas.microsoft.com/office/drawing/2014/main" id="{411AD154-DC3D-C24C-2F95-DD8D08C7B984}"/>
              </a:ext>
            </a:extLst>
          </p:cNvPr>
          <p:cNvSpPr txBox="1">
            <a:spLocks/>
          </p:cNvSpPr>
          <p:nvPr/>
        </p:nvSpPr>
        <p:spPr>
          <a:xfrm>
            <a:off x="870903" y="4533220"/>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5" name="Marcador de contenido 2">
            <a:extLst>
              <a:ext uri="{FF2B5EF4-FFF2-40B4-BE49-F238E27FC236}">
                <a16:creationId xmlns:a16="http://schemas.microsoft.com/office/drawing/2014/main" id="{0A7732EB-AC92-D301-1C71-C0F3EA3A8C5B}"/>
              </a:ext>
            </a:extLst>
          </p:cNvPr>
          <p:cNvSpPr txBox="1">
            <a:spLocks/>
          </p:cNvSpPr>
          <p:nvPr/>
        </p:nvSpPr>
        <p:spPr>
          <a:xfrm>
            <a:off x="5986468" y="2649744"/>
            <a:ext cx="4855701" cy="8721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Cell </a:t>
            </a:r>
            <a:r>
              <a:rPr lang="es-ES" sz="2400" dirty="0" err="1">
                <a:latin typeface="Helvetica"/>
                <a:cs typeface="Helvetica"/>
              </a:rPr>
              <a:t>turgor</a:t>
            </a:r>
            <a:r>
              <a:rPr lang="es-ES" sz="2400" dirty="0">
                <a:latin typeface="Helvetica"/>
                <a:cs typeface="Helvetica"/>
              </a:rPr>
              <a:t>, </a:t>
            </a:r>
            <a:r>
              <a:rPr lang="es-ES" sz="2400" dirty="0" err="1">
                <a:latin typeface="Helvetica"/>
                <a:cs typeface="Helvetica"/>
              </a:rPr>
              <a:t>photosynthesis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26" name="Marcador de contenido 2">
            <a:extLst>
              <a:ext uri="{FF2B5EF4-FFF2-40B4-BE49-F238E27FC236}">
                <a16:creationId xmlns:a16="http://schemas.microsoft.com/office/drawing/2014/main" id="{C3B40292-1AF1-2640-EC87-6CC71A2C465D}"/>
              </a:ext>
            </a:extLst>
          </p:cNvPr>
          <p:cNvSpPr txBox="1">
            <a:spLocks/>
          </p:cNvSpPr>
          <p:nvPr/>
        </p:nvSpPr>
        <p:spPr>
          <a:xfrm>
            <a:off x="5982999" y="3608276"/>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ABA, ROS</a:t>
            </a:r>
            <a:endParaRPr lang="es-ES" dirty="0"/>
          </a:p>
        </p:txBody>
      </p:sp>
      <p:sp>
        <p:nvSpPr>
          <p:cNvPr id="29" name="Marcador de contenido 2">
            <a:extLst>
              <a:ext uri="{FF2B5EF4-FFF2-40B4-BE49-F238E27FC236}">
                <a16:creationId xmlns:a16="http://schemas.microsoft.com/office/drawing/2014/main" id="{56DACEA6-21E5-9D40-24FB-EC379237380F}"/>
              </a:ext>
            </a:extLst>
          </p:cNvPr>
          <p:cNvSpPr txBox="1">
            <a:spLocks/>
          </p:cNvSpPr>
          <p:nvPr/>
        </p:nvSpPr>
        <p:spPr>
          <a:xfrm>
            <a:off x="708632" y="4598254"/>
            <a:ext cx="1264601" cy="8041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C00000"/>
                </a:solidFill>
                <a:latin typeface="Helvetica" panose="020B0604020202020204" pitchFamily="34" charset="0"/>
                <a:cs typeface="Helvetica" panose="020B0604020202020204" pitchFamily="34" charset="0"/>
              </a:rPr>
              <a:t>Declining</a:t>
            </a:r>
            <a:endParaRPr lang="es-ES" sz="1800" dirty="0">
              <a:solidFill>
                <a:srgbClr val="C00000"/>
              </a:solidFill>
              <a:latin typeface="Helvetica" panose="020B0604020202020204" pitchFamily="34" charset="0"/>
              <a:cs typeface="Helvetica" panose="020B0604020202020204" pitchFamily="34" charset="0"/>
            </a:endParaRPr>
          </a:p>
          <a:p>
            <a:pPr marL="0" indent="0" algn="ctr">
              <a:buNone/>
            </a:pPr>
            <a:r>
              <a:rPr lang="es-ES" sz="1800" dirty="0">
                <a:solidFill>
                  <a:srgbClr val="C00000"/>
                </a:solidFill>
                <a:latin typeface="Helvetica" panose="020B0604020202020204" pitchFamily="34" charset="0"/>
                <a:cs typeface="Helvetica" panose="020B0604020202020204" pitchFamily="34" charset="0"/>
              </a:rPr>
              <a:t>sites</a:t>
            </a:r>
          </a:p>
        </p:txBody>
      </p:sp>
      <p:sp>
        <p:nvSpPr>
          <p:cNvPr id="30" name="Marcador de contenido 2">
            <a:extLst>
              <a:ext uri="{FF2B5EF4-FFF2-40B4-BE49-F238E27FC236}">
                <a16:creationId xmlns:a16="http://schemas.microsoft.com/office/drawing/2014/main" id="{CDC21DF1-4AEF-AD13-6C74-3B4CEA35CAA6}"/>
              </a:ext>
            </a:extLst>
          </p:cNvPr>
          <p:cNvSpPr txBox="1">
            <a:spLocks/>
          </p:cNvSpPr>
          <p:nvPr/>
        </p:nvSpPr>
        <p:spPr>
          <a:xfrm>
            <a:off x="4213149" y="4598255"/>
            <a:ext cx="1264601" cy="80415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a:solidFill>
                  <a:srgbClr val="2F5597"/>
                </a:solidFill>
                <a:latin typeface="Helvetica"/>
                <a:cs typeface="Helvetica"/>
              </a:rPr>
              <a:t>Non-</a:t>
            </a:r>
            <a:r>
              <a:rPr lang="es-ES" sz="1800" dirty="0" err="1">
                <a:solidFill>
                  <a:srgbClr val="2F5597"/>
                </a:solidFill>
                <a:latin typeface="Helvetica"/>
                <a:cs typeface="Helvetica"/>
              </a:rPr>
              <a:t>declining</a:t>
            </a:r>
            <a:endParaRPr lang="es-ES" sz="1800" dirty="0">
              <a:solidFill>
                <a:srgbClr val="2F5597"/>
              </a:solidFill>
              <a:latin typeface="Helvetica"/>
              <a:cs typeface="Helvetica"/>
            </a:endParaRPr>
          </a:p>
          <a:p>
            <a:pPr marL="0" indent="0" algn="ctr">
              <a:buNone/>
            </a:pPr>
            <a:r>
              <a:rPr lang="es-ES" sz="1800" dirty="0">
                <a:solidFill>
                  <a:srgbClr val="2F5597"/>
                </a:solidFill>
                <a:latin typeface="Helvetica" panose="020B0604020202020204" pitchFamily="34" charset="0"/>
                <a:cs typeface="Helvetica" panose="020B0604020202020204" pitchFamily="34" charset="0"/>
              </a:rPr>
              <a:t>sites</a:t>
            </a:r>
          </a:p>
        </p:txBody>
      </p:sp>
      <p:sp>
        <p:nvSpPr>
          <p:cNvPr id="4" name="Título 1">
            <a:extLst>
              <a:ext uri="{FF2B5EF4-FFF2-40B4-BE49-F238E27FC236}">
                <a16:creationId xmlns:a16="http://schemas.microsoft.com/office/drawing/2014/main" id="{09EE9E40-6950-4753-742B-41B77D6E185B}"/>
              </a:ext>
            </a:extLst>
          </p:cNvPr>
          <p:cNvSpPr>
            <a:spLocks noGrp="1"/>
          </p:cNvSpPr>
          <p:nvPr>
            <p:ph type="title"/>
          </p:nvPr>
        </p:nvSpPr>
        <p:spPr>
          <a:xfrm>
            <a:off x="0" y="0"/>
            <a:ext cx="9690902" cy="804155"/>
          </a:xfrm>
          <a:solidFill>
            <a:srgbClr val="218317"/>
          </a:solidFill>
        </p:spPr>
        <p:txBody>
          <a:bodyPr>
            <a:normAutofit fontScale="90000"/>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Complementary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strategies</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to</a:t>
            </a:r>
            <a:r>
              <a:rPr lang="es-ES" sz="3200" b="1" dirty="0">
                <a:solidFill>
                  <a:schemeClr val="bg1"/>
                </a:solidFill>
                <a:latin typeface="Helvetica" panose="020B0604020202020204" pitchFamily="34" charset="0"/>
                <a:cs typeface="Helvetica" panose="020B0604020202020204" pitchFamily="34" charset="0"/>
              </a:rPr>
              <a:t> cope </a:t>
            </a:r>
            <a:r>
              <a:rPr lang="es-ES" sz="3200" b="1" dirty="0" err="1">
                <a:solidFill>
                  <a:schemeClr val="bg1"/>
                </a:solidFill>
                <a:latin typeface="Helvetica" panose="020B0604020202020204" pitchFamily="34" charset="0"/>
                <a:cs typeface="Helvetica" panose="020B0604020202020204" pitchFamily="34" charset="0"/>
              </a:rPr>
              <a:t>with</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drought</a:t>
            </a:r>
            <a:endParaRPr lang="es-ES" sz="3200" b="1" dirty="0">
              <a:solidFill>
                <a:schemeClr val="bg1"/>
              </a:solidFill>
              <a:latin typeface="Helvetica" panose="020B0604020202020204" pitchFamily="34" charset="0"/>
              <a:cs typeface="Helvetica" panose="020B0604020202020204" pitchFamily="34" charset="0"/>
            </a:endParaRPr>
          </a:p>
        </p:txBody>
      </p:sp>
      <p:sp>
        <p:nvSpPr>
          <p:cNvPr id="2" name="Título 1">
            <a:extLst>
              <a:ext uri="{FF2B5EF4-FFF2-40B4-BE49-F238E27FC236}">
                <a16:creationId xmlns:a16="http://schemas.microsoft.com/office/drawing/2014/main" id="{5FD6C056-DBDC-9051-F928-683EDD585946}"/>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86604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73EF-7B15-F991-0F51-AB7AB29CEC05}"/>
            </a:ext>
          </a:extLst>
        </p:cNvPr>
        <p:cNvGrpSpPr/>
        <p:nvPr/>
      </p:nvGrpSpPr>
      <p:grpSpPr>
        <a:xfrm>
          <a:off x="0" y="0"/>
          <a:ext cx="0" cy="0"/>
          <a:chOff x="0" y="0"/>
          <a:chExt cx="0" cy="0"/>
        </a:xfrm>
      </p:grpSpPr>
      <p:sp>
        <p:nvSpPr>
          <p:cNvPr id="47" name="Marcador de contenido 2">
            <a:extLst>
              <a:ext uri="{FF2B5EF4-FFF2-40B4-BE49-F238E27FC236}">
                <a16:creationId xmlns:a16="http://schemas.microsoft.com/office/drawing/2014/main" id="{69BF10B0-3121-99E5-815A-1C06E91AFCD7}"/>
              </a:ext>
            </a:extLst>
          </p:cNvPr>
          <p:cNvSpPr txBox="1">
            <a:spLocks/>
          </p:cNvSpPr>
          <p:nvPr/>
        </p:nvSpPr>
        <p:spPr>
          <a:xfrm>
            <a:off x="873964" y="999063"/>
            <a:ext cx="10733318" cy="577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err="1">
                <a:latin typeface="Helvetica"/>
                <a:cs typeface="Helvetica"/>
              </a:rPr>
              <a:t>Physiological</a:t>
            </a:r>
            <a:r>
              <a:rPr lang="es-ES" b="1" dirty="0">
                <a:latin typeface="Helvetica"/>
                <a:cs typeface="Helvetica"/>
              </a:rPr>
              <a:t> </a:t>
            </a:r>
            <a:r>
              <a:rPr lang="es-ES" b="1" dirty="0" err="1">
                <a:latin typeface="Helvetica"/>
                <a:cs typeface="Helvetica"/>
              </a:rPr>
              <a:t>traits</a:t>
            </a:r>
            <a:endParaRPr lang="es-ES" dirty="0"/>
          </a:p>
          <a:p>
            <a:pPr marL="0" indent="0">
              <a:buClr>
                <a:srgbClr val="218317"/>
              </a:buClr>
              <a:buNone/>
            </a:pPr>
            <a:endParaRPr lang="es-ES" b="1" dirty="0">
              <a:latin typeface="Helvetica" panose="020B0604020202020204" pitchFamily="34" charset="0"/>
              <a:cs typeface="Helvetica" panose="020B0604020202020204" pitchFamily="34" charset="0"/>
            </a:endParaRPr>
          </a:p>
        </p:txBody>
      </p:sp>
      <p:sp>
        <p:nvSpPr>
          <p:cNvPr id="59" name="Marcador de contenido 2">
            <a:extLst>
              <a:ext uri="{FF2B5EF4-FFF2-40B4-BE49-F238E27FC236}">
                <a16:creationId xmlns:a16="http://schemas.microsoft.com/office/drawing/2014/main" id="{A631800C-35AA-3E52-2E97-DBC89B49B27C}"/>
              </a:ext>
            </a:extLst>
          </p:cNvPr>
          <p:cNvSpPr txBox="1">
            <a:spLocks/>
          </p:cNvSpPr>
          <p:nvPr/>
        </p:nvSpPr>
        <p:spPr>
          <a:xfrm>
            <a:off x="873964" y="1766109"/>
            <a:ext cx="940058" cy="4092828"/>
          </a:xfrm>
          <a:prstGeom prst="rect">
            <a:avLst/>
          </a:prstGeom>
          <a:solidFill>
            <a:srgbClr val="C00000"/>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a:solidFill>
                <a:schemeClr val="bg1"/>
              </a:solidFill>
            </a:endParaRPr>
          </a:p>
          <a:p>
            <a:pPr marL="0" indent="0" algn="ctr">
              <a:buNone/>
            </a:pPr>
            <a:endParaRPr lang="es-ES" sz="2000" b="1">
              <a:solidFill>
                <a:schemeClr val="bg1"/>
              </a:solidFill>
              <a:latin typeface="Helvetica"/>
              <a:cs typeface="Helvetica"/>
            </a:endParaRPr>
          </a:p>
        </p:txBody>
      </p:sp>
      <p:sp>
        <p:nvSpPr>
          <p:cNvPr id="3" name="Marcador de contenido 2">
            <a:extLst>
              <a:ext uri="{FF2B5EF4-FFF2-40B4-BE49-F238E27FC236}">
                <a16:creationId xmlns:a16="http://schemas.microsoft.com/office/drawing/2014/main" id="{2DBEB9F0-FAF6-9C8D-E5AA-1B0C26144440}"/>
              </a:ext>
            </a:extLst>
          </p:cNvPr>
          <p:cNvSpPr txBox="1">
            <a:spLocks/>
          </p:cNvSpPr>
          <p:nvPr/>
        </p:nvSpPr>
        <p:spPr>
          <a:xfrm>
            <a:off x="4282027" y="1766109"/>
            <a:ext cx="940058" cy="4092828"/>
          </a:xfrm>
          <a:prstGeom prst="rect">
            <a:avLst/>
          </a:prstGeom>
          <a:solidFill>
            <a:srgbClr val="2F5597"/>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sz="20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000" b="1">
              <a:solidFill>
                <a:schemeClr val="bg1"/>
              </a:solidFill>
              <a:latin typeface="Helvetica" panose="020B0604020202020204" pitchFamily="34" charset="0"/>
              <a:cs typeface="Helvetica" panose="020B0604020202020204" pitchFamily="34" charset="0"/>
            </a:endParaRPr>
          </a:p>
        </p:txBody>
      </p:sp>
      <p:sp>
        <p:nvSpPr>
          <p:cNvPr id="8" name="Marcador de contenido 2">
            <a:extLst>
              <a:ext uri="{FF2B5EF4-FFF2-40B4-BE49-F238E27FC236}">
                <a16:creationId xmlns:a16="http://schemas.microsoft.com/office/drawing/2014/main" id="{4FB3DCF9-52CA-B7EF-7848-E7A37B38A908}"/>
              </a:ext>
            </a:extLst>
          </p:cNvPr>
          <p:cNvSpPr txBox="1">
            <a:spLocks/>
          </p:cNvSpPr>
          <p:nvPr/>
        </p:nvSpPr>
        <p:spPr>
          <a:xfrm>
            <a:off x="2041437" y="1928244"/>
            <a:ext cx="2061466" cy="9874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Chlorophylls</a:t>
            </a:r>
            <a:endParaRPr lang="es-ES" sz="2400" b="1" dirty="0">
              <a:latin typeface="Helvetica" panose="020B0604020202020204"/>
              <a:cs typeface="Helvetica" panose="020B0604020202020204"/>
            </a:endParaRPr>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1" name="Marcador de contenido 2">
            <a:extLst>
              <a:ext uri="{FF2B5EF4-FFF2-40B4-BE49-F238E27FC236}">
                <a16:creationId xmlns:a16="http://schemas.microsoft.com/office/drawing/2014/main" id="{395DAA7E-9761-75A8-6F4F-8AEBC6C097D3}"/>
              </a:ext>
            </a:extLst>
          </p:cNvPr>
          <p:cNvSpPr txBox="1">
            <a:spLocks/>
          </p:cNvSpPr>
          <p:nvPr/>
        </p:nvSpPr>
        <p:spPr>
          <a:xfrm>
            <a:off x="2122539" y="2785616"/>
            <a:ext cx="1899262" cy="398526"/>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Carotenoids</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2" name="Marcador de contenido 2">
            <a:extLst>
              <a:ext uri="{FF2B5EF4-FFF2-40B4-BE49-F238E27FC236}">
                <a16:creationId xmlns:a16="http://schemas.microsoft.com/office/drawing/2014/main" id="{840D9016-DF94-2920-15C7-B6DAF9346E8A}"/>
              </a:ext>
            </a:extLst>
          </p:cNvPr>
          <p:cNvSpPr txBox="1">
            <a:spLocks/>
          </p:cNvSpPr>
          <p:nvPr/>
        </p:nvSpPr>
        <p:spPr>
          <a:xfrm>
            <a:off x="2160035" y="3663339"/>
            <a:ext cx="176986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latin typeface="Helvetica"/>
                <a:cs typeface="Helvetica"/>
              </a:rPr>
              <a:t>LWC</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3" name="Marcador de contenido 2">
            <a:extLst>
              <a:ext uri="{FF2B5EF4-FFF2-40B4-BE49-F238E27FC236}">
                <a16:creationId xmlns:a16="http://schemas.microsoft.com/office/drawing/2014/main" id="{F597052C-6720-35C2-9334-749391532AC8}"/>
              </a:ext>
            </a:extLst>
          </p:cNvPr>
          <p:cNvSpPr txBox="1">
            <a:spLocks/>
          </p:cNvSpPr>
          <p:nvPr/>
        </p:nvSpPr>
        <p:spPr>
          <a:xfrm>
            <a:off x="873963" y="197190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4" name="Marcador de contenido 2">
            <a:extLst>
              <a:ext uri="{FF2B5EF4-FFF2-40B4-BE49-F238E27FC236}">
                <a16:creationId xmlns:a16="http://schemas.microsoft.com/office/drawing/2014/main" id="{C1B6F6CD-EEF8-AAB6-2FD3-B80317C88413}"/>
              </a:ext>
            </a:extLst>
          </p:cNvPr>
          <p:cNvSpPr txBox="1">
            <a:spLocks/>
          </p:cNvSpPr>
          <p:nvPr/>
        </p:nvSpPr>
        <p:spPr>
          <a:xfrm>
            <a:off x="5986468" y="1928244"/>
            <a:ext cx="5331566"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Synthesis</a:t>
            </a:r>
            <a:r>
              <a:rPr lang="es-ES" sz="2400" dirty="0">
                <a:latin typeface="Helvetica"/>
                <a:cs typeface="Helvetica"/>
              </a:rPr>
              <a:t> </a:t>
            </a:r>
            <a:r>
              <a:rPr lang="es-ES" sz="2400" dirty="0" err="1">
                <a:latin typeface="Helvetica"/>
                <a:cs typeface="Helvetica"/>
              </a:rPr>
              <a:t>downregulation</a:t>
            </a:r>
            <a:r>
              <a:rPr lang="es-ES" sz="2400" dirty="0">
                <a:latin typeface="Helvetica"/>
                <a:cs typeface="Helvetica"/>
              </a:rPr>
              <a:t>, ROS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16" name="Marcador de contenido 2">
            <a:extLst>
              <a:ext uri="{FF2B5EF4-FFF2-40B4-BE49-F238E27FC236}">
                <a16:creationId xmlns:a16="http://schemas.microsoft.com/office/drawing/2014/main" id="{9CAEA58C-9201-03E7-3446-13B1B0B0534A}"/>
              </a:ext>
            </a:extLst>
          </p:cNvPr>
          <p:cNvSpPr txBox="1">
            <a:spLocks/>
          </p:cNvSpPr>
          <p:nvPr/>
        </p:nvSpPr>
        <p:spPr>
          <a:xfrm>
            <a:off x="4282028" y="197190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7" name="Marcador de contenido 2">
            <a:extLst>
              <a:ext uri="{FF2B5EF4-FFF2-40B4-BE49-F238E27FC236}">
                <a16:creationId xmlns:a16="http://schemas.microsoft.com/office/drawing/2014/main" id="{D847C064-1863-310D-57E5-8740E8338115}"/>
              </a:ext>
            </a:extLst>
          </p:cNvPr>
          <p:cNvSpPr txBox="1">
            <a:spLocks/>
          </p:cNvSpPr>
          <p:nvPr/>
        </p:nvSpPr>
        <p:spPr>
          <a:xfrm>
            <a:off x="873962" y="2803595"/>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18" name="Marcador de contenido 2">
            <a:extLst>
              <a:ext uri="{FF2B5EF4-FFF2-40B4-BE49-F238E27FC236}">
                <a16:creationId xmlns:a16="http://schemas.microsoft.com/office/drawing/2014/main" id="{A054AE69-A430-DCA1-1271-E3C76BFAFFBE}"/>
              </a:ext>
            </a:extLst>
          </p:cNvPr>
          <p:cNvSpPr txBox="1">
            <a:spLocks/>
          </p:cNvSpPr>
          <p:nvPr/>
        </p:nvSpPr>
        <p:spPr>
          <a:xfrm>
            <a:off x="873962" y="36668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9" name="Marcador de contenido 2">
            <a:extLst>
              <a:ext uri="{FF2B5EF4-FFF2-40B4-BE49-F238E27FC236}">
                <a16:creationId xmlns:a16="http://schemas.microsoft.com/office/drawing/2014/main" id="{62DBD870-7D82-F95E-8E48-CF1B3A28BFAA}"/>
              </a:ext>
            </a:extLst>
          </p:cNvPr>
          <p:cNvSpPr txBox="1">
            <a:spLocks/>
          </p:cNvSpPr>
          <p:nvPr/>
        </p:nvSpPr>
        <p:spPr>
          <a:xfrm>
            <a:off x="4278968" y="2804278"/>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0" name="Marcador de contenido 2">
            <a:extLst>
              <a:ext uri="{FF2B5EF4-FFF2-40B4-BE49-F238E27FC236}">
                <a16:creationId xmlns:a16="http://schemas.microsoft.com/office/drawing/2014/main" id="{6B6AD282-56F2-C16E-8A86-31C17E962A34}"/>
              </a:ext>
            </a:extLst>
          </p:cNvPr>
          <p:cNvSpPr txBox="1">
            <a:spLocks/>
          </p:cNvSpPr>
          <p:nvPr/>
        </p:nvSpPr>
        <p:spPr>
          <a:xfrm>
            <a:off x="4278967" y="366333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3" name="Marcador de contenido 2">
            <a:extLst>
              <a:ext uri="{FF2B5EF4-FFF2-40B4-BE49-F238E27FC236}">
                <a16:creationId xmlns:a16="http://schemas.microsoft.com/office/drawing/2014/main" id="{B0896316-86B6-BC4A-4EAE-D653B4EC80FD}"/>
              </a:ext>
            </a:extLst>
          </p:cNvPr>
          <p:cNvSpPr txBox="1">
            <a:spLocks/>
          </p:cNvSpPr>
          <p:nvPr/>
        </p:nvSpPr>
        <p:spPr>
          <a:xfrm>
            <a:off x="870903" y="4527548"/>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5" name="Marcador de contenido 2">
            <a:extLst>
              <a:ext uri="{FF2B5EF4-FFF2-40B4-BE49-F238E27FC236}">
                <a16:creationId xmlns:a16="http://schemas.microsoft.com/office/drawing/2014/main" id="{77F0FC36-3F47-9F8B-A741-057F9E7F9F01}"/>
              </a:ext>
            </a:extLst>
          </p:cNvPr>
          <p:cNvSpPr txBox="1">
            <a:spLocks/>
          </p:cNvSpPr>
          <p:nvPr/>
        </p:nvSpPr>
        <p:spPr>
          <a:xfrm>
            <a:off x="5982998" y="2802389"/>
            <a:ext cx="4855701" cy="6113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Photoprotection</a:t>
            </a:r>
            <a:endParaRPr lang="es-ES" sz="2400" dirty="0"/>
          </a:p>
        </p:txBody>
      </p:sp>
      <p:sp>
        <p:nvSpPr>
          <p:cNvPr id="26" name="Marcador de contenido 2">
            <a:extLst>
              <a:ext uri="{FF2B5EF4-FFF2-40B4-BE49-F238E27FC236}">
                <a16:creationId xmlns:a16="http://schemas.microsoft.com/office/drawing/2014/main" id="{95DD16AE-215B-780B-3EC4-D73EB5EDBE76}"/>
              </a:ext>
            </a:extLst>
          </p:cNvPr>
          <p:cNvSpPr txBox="1">
            <a:spLocks/>
          </p:cNvSpPr>
          <p:nvPr/>
        </p:nvSpPr>
        <p:spPr>
          <a:xfrm>
            <a:off x="5982999" y="3602604"/>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Osmoregulation</a:t>
            </a:r>
            <a:r>
              <a:rPr lang="es-ES" sz="2400" dirty="0">
                <a:latin typeface="Helvetica"/>
                <a:cs typeface="Helvetica"/>
              </a:rPr>
              <a:t>, </a:t>
            </a:r>
            <a:r>
              <a:rPr lang="es-ES" sz="2400" dirty="0" err="1">
                <a:latin typeface="Helvetica"/>
                <a:cs typeface="Helvetica"/>
              </a:rPr>
              <a:t>permeability</a:t>
            </a:r>
            <a:endParaRPr lang="es-ES" dirty="0"/>
          </a:p>
        </p:txBody>
      </p:sp>
      <p:sp>
        <p:nvSpPr>
          <p:cNvPr id="29" name="Marcador de contenido 2">
            <a:extLst>
              <a:ext uri="{FF2B5EF4-FFF2-40B4-BE49-F238E27FC236}">
                <a16:creationId xmlns:a16="http://schemas.microsoft.com/office/drawing/2014/main" id="{49443649-11F5-2423-5F48-0E230F9D37B9}"/>
              </a:ext>
            </a:extLst>
          </p:cNvPr>
          <p:cNvSpPr txBox="1">
            <a:spLocks/>
          </p:cNvSpPr>
          <p:nvPr/>
        </p:nvSpPr>
        <p:spPr>
          <a:xfrm>
            <a:off x="708633" y="5888028"/>
            <a:ext cx="1264601" cy="8041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C00000"/>
                </a:solidFill>
                <a:latin typeface="Helvetica" panose="020B0604020202020204" pitchFamily="34" charset="0"/>
                <a:cs typeface="Helvetica" panose="020B0604020202020204" pitchFamily="34" charset="0"/>
              </a:rPr>
              <a:t>Declining</a:t>
            </a:r>
            <a:endParaRPr lang="es-ES" sz="1800" dirty="0">
              <a:solidFill>
                <a:srgbClr val="C00000"/>
              </a:solidFill>
              <a:latin typeface="Helvetica" panose="020B0604020202020204" pitchFamily="34" charset="0"/>
              <a:cs typeface="Helvetica" panose="020B0604020202020204" pitchFamily="34" charset="0"/>
            </a:endParaRPr>
          </a:p>
          <a:p>
            <a:pPr marL="0" indent="0" algn="ctr">
              <a:buNone/>
            </a:pPr>
            <a:r>
              <a:rPr lang="es-ES" sz="1800" dirty="0">
                <a:solidFill>
                  <a:srgbClr val="C00000"/>
                </a:solidFill>
                <a:latin typeface="Helvetica" panose="020B0604020202020204" pitchFamily="34" charset="0"/>
                <a:cs typeface="Helvetica" panose="020B0604020202020204" pitchFamily="34" charset="0"/>
              </a:rPr>
              <a:t>sites</a:t>
            </a:r>
          </a:p>
        </p:txBody>
      </p:sp>
      <p:sp>
        <p:nvSpPr>
          <p:cNvPr id="30" name="Marcador de contenido 2">
            <a:extLst>
              <a:ext uri="{FF2B5EF4-FFF2-40B4-BE49-F238E27FC236}">
                <a16:creationId xmlns:a16="http://schemas.microsoft.com/office/drawing/2014/main" id="{B2984DA5-EF84-5834-5BF9-C6E7D1B8DA01}"/>
              </a:ext>
            </a:extLst>
          </p:cNvPr>
          <p:cNvSpPr txBox="1">
            <a:spLocks/>
          </p:cNvSpPr>
          <p:nvPr/>
        </p:nvSpPr>
        <p:spPr>
          <a:xfrm>
            <a:off x="4213150" y="5888029"/>
            <a:ext cx="1264601" cy="804154"/>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a:solidFill>
                  <a:srgbClr val="2F5597"/>
                </a:solidFill>
                <a:latin typeface="Helvetica"/>
                <a:cs typeface="Helvetica"/>
              </a:rPr>
              <a:t>Non-</a:t>
            </a:r>
            <a:r>
              <a:rPr lang="es-ES" sz="1800" dirty="0" err="1">
                <a:solidFill>
                  <a:srgbClr val="2F5597"/>
                </a:solidFill>
                <a:latin typeface="Helvetica"/>
                <a:cs typeface="Helvetica"/>
              </a:rPr>
              <a:t>declining</a:t>
            </a:r>
            <a:endParaRPr lang="es-ES" sz="1800" dirty="0">
              <a:solidFill>
                <a:srgbClr val="2F5597"/>
              </a:solidFill>
              <a:latin typeface="Helvetica"/>
              <a:cs typeface="Helvetica"/>
            </a:endParaRPr>
          </a:p>
          <a:p>
            <a:pPr marL="0" indent="0" algn="ctr">
              <a:buNone/>
            </a:pPr>
            <a:r>
              <a:rPr lang="es-ES" sz="1800" dirty="0">
                <a:solidFill>
                  <a:srgbClr val="2F5597"/>
                </a:solidFill>
                <a:latin typeface="Helvetica" panose="020B0604020202020204" pitchFamily="34" charset="0"/>
                <a:cs typeface="Helvetica" panose="020B0604020202020204" pitchFamily="34" charset="0"/>
              </a:rPr>
              <a:t>sites</a:t>
            </a:r>
          </a:p>
        </p:txBody>
      </p:sp>
      <p:sp>
        <p:nvSpPr>
          <p:cNvPr id="4" name="Título 1">
            <a:extLst>
              <a:ext uri="{FF2B5EF4-FFF2-40B4-BE49-F238E27FC236}">
                <a16:creationId xmlns:a16="http://schemas.microsoft.com/office/drawing/2014/main" id="{80853AFE-AD18-4D26-B7CF-A3357A42EB2C}"/>
              </a:ext>
            </a:extLst>
          </p:cNvPr>
          <p:cNvSpPr>
            <a:spLocks noGrp="1"/>
          </p:cNvSpPr>
          <p:nvPr>
            <p:ph type="title"/>
          </p:nvPr>
        </p:nvSpPr>
        <p:spPr>
          <a:xfrm>
            <a:off x="0" y="0"/>
            <a:ext cx="9690902" cy="804155"/>
          </a:xfrm>
          <a:solidFill>
            <a:srgbClr val="218317"/>
          </a:solidFill>
        </p:spPr>
        <p:txBody>
          <a:bodyPr>
            <a:normAutofit fontScale="90000"/>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Complementary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strategies</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to</a:t>
            </a:r>
            <a:r>
              <a:rPr lang="es-ES" sz="3200" b="1" dirty="0">
                <a:solidFill>
                  <a:schemeClr val="bg1"/>
                </a:solidFill>
                <a:latin typeface="Helvetica" panose="020B0604020202020204" pitchFamily="34" charset="0"/>
                <a:cs typeface="Helvetica" panose="020B0604020202020204" pitchFamily="34" charset="0"/>
              </a:rPr>
              <a:t> cope </a:t>
            </a:r>
            <a:r>
              <a:rPr lang="es-ES" sz="3200" b="1" dirty="0" err="1">
                <a:solidFill>
                  <a:schemeClr val="bg1"/>
                </a:solidFill>
                <a:latin typeface="Helvetica" panose="020B0604020202020204" pitchFamily="34" charset="0"/>
                <a:cs typeface="Helvetica" panose="020B0604020202020204" pitchFamily="34" charset="0"/>
              </a:rPr>
              <a:t>with</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drought</a:t>
            </a:r>
            <a:endParaRPr lang="es-ES" sz="3200" b="1" dirty="0">
              <a:solidFill>
                <a:schemeClr val="bg1"/>
              </a:solidFill>
              <a:latin typeface="Helvetica" panose="020B0604020202020204" pitchFamily="34" charset="0"/>
              <a:cs typeface="Helvetica" panose="020B0604020202020204" pitchFamily="34" charset="0"/>
            </a:endParaRPr>
          </a:p>
        </p:txBody>
      </p:sp>
      <p:sp>
        <p:nvSpPr>
          <p:cNvPr id="2" name="Marcador de contenido 2">
            <a:extLst>
              <a:ext uri="{FF2B5EF4-FFF2-40B4-BE49-F238E27FC236}">
                <a16:creationId xmlns:a16="http://schemas.microsoft.com/office/drawing/2014/main" id="{ED99FAD5-D3A5-BA29-3ADA-AF5865541F99}"/>
              </a:ext>
            </a:extLst>
          </p:cNvPr>
          <p:cNvSpPr txBox="1">
            <a:spLocks/>
          </p:cNvSpPr>
          <p:nvPr/>
        </p:nvSpPr>
        <p:spPr>
          <a:xfrm>
            <a:off x="2041437" y="4541062"/>
            <a:ext cx="1958963"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l-GR" sz="2400" b="1" dirty="0">
                <a:latin typeface="Helvetica"/>
                <a:cs typeface="Helvetica"/>
              </a:rPr>
              <a:t>δ</a:t>
            </a:r>
            <a:r>
              <a:rPr lang="es-ES" sz="2400" b="1" baseline="30000" dirty="0">
                <a:latin typeface="Helvetica"/>
                <a:cs typeface="Helvetica"/>
              </a:rPr>
              <a:t>13</a:t>
            </a:r>
            <a:r>
              <a:rPr lang="es-ES" sz="2400" b="1" dirty="0">
                <a:latin typeface="Helvetica"/>
                <a:cs typeface="Helvetica"/>
              </a:rPr>
              <a:t>C, </a:t>
            </a:r>
            <a:r>
              <a:rPr lang="el-GR" sz="2400" b="1" dirty="0">
                <a:latin typeface="Helvetica"/>
                <a:cs typeface="Helvetica"/>
              </a:rPr>
              <a:t>δ</a:t>
            </a:r>
            <a:r>
              <a:rPr lang="es-ES" sz="2400" b="1" baseline="30000" dirty="0">
                <a:latin typeface="Helvetica"/>
                <a:cs typeface="Helvetica"/>
              </a:rPr>
              <a:t>18</a:t>
            </a:r>
            <a:r>
              <a:rPr lang="es-ES" sz="2400" b="1" dirty="0">
                <a:latin typeface="Helvetica"/>
                <a:cs typeface="Helvetica"/>
              </a:rPr>
              <a:t>O</a:t>
            </a:r>
            <a:endParaRPr lang="es-ES" sz="2400" dirty="0"/>
          </a:p>
          <a:p>
            <a:pPr marL="0" indent="0" algn="ctr">
              <a:buNone/>
            </a:pP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6" name="Marcador de contenido 2">
            <a:extLst>
              <a:ext uri="{FF2B5EF4-FFF2-40B4-BE49-F238E27FC236}">
                <a16:creationId xmlns:a16="http://schemas.microsoft.com/office/drawing/2014/main" id="{0E6848E7-A7B8-6FDA-CFD6-3CF339C5E9BC}"/>
              </a:ext>
            </a:extLst>
          </p:cNvPr>
          <p:cNvSpPr txBox="1">
            <a:spLocks/>
          </p:cNvSpPr>
          <p:nvPr/>
        </p:nvSpPr>
        <p:spPr>
          <a:xfrm>
            <a:off x="2196008" y="5331535"/>
            <a:ext cx="170097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latin typeface="Helvetica"/>
                <a:cs typeface="Helvetica"/>
              </a:rPr>
              <a:t>N </a:t>
            </a:r>
            <a:r>
              <a:rPr lang="es-ES" sz="2400" b="1" dirty="0" err="1">
                <a:latin typeface="Helvetica"/>
                <a:cs typeface="Helvetica"/>
              </a:rPr>
              <a:t>content</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7" name="Marcador de contenido 2">
            <a:extLst>
              <a:ext uri="{FF2B5EF4-FFF2-40B4-BE49-F238E27FC236}">
                <a16:creationId xmlns:a16="http://schemas.microsoft.com/office/drawing/2014/main" id="{21258C87-8ACE-9B49-5E5F-B13BD5234101}"/>
              </a:ext>
            </a:extLst>
          </p:cNvPr>
          <p:cNvSpPr txBox="1">
            <a:spLocks/>
          </p:cNvSpPr>
          <p:nvPr/>
        </p:nvSpPr>
        <p:spPr>
          <a:xfrm>
            <a:off x="5983000" y="4460053"/>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Photosynthesis</a:t>
            </a:r>
            <a:r>
              <a:rPr lang="es-ES" sz="2400" dirty="0">
                <a:latin typeface="Helvetica"/>
                <a:cs typeface="Helvetica"/>
              </a:rPr>
              <a:t>, </a:t>
            </a:r>
            <a:r>
              <a:rPr lang="es-ES" sz="2400" dirty="0" err="1">
                <a:latin typeface="Helvetica"/>
                <a:cs typeface="Helvetica"/>
              </a:rPr>
              <a:t>transpiration</a:t>
            </a:r>
            <a:endParaRPr lang="es-ES" sz="2400" dirty="0">
              <a:latin typeface="Helvetica" panose="020B0604020202020204" pitchFamily="34" charset="0"/>
              <a:cs typeface="Helvetica" panose="020B0604020202020204" pitchFamily="34" charset="0"/>
            </a:endParaRPr>
          </a:p>
        </p:txBody>
      </p:sp>
      <p:sp>
        <p:nvSpPr>
          <p:cNvPr id="9" name="Marcador de contenido 2">
            <a:extLst>
              <a:ext uri="{FF2B5EF4-FFF2-40B4-BE49-F238E27FC236}">
                <a16:creationId xmlns:a16="http://schemas.microsoft.com/office/drawing/2014/main" id="{5B89CA3D-8252-2207-EA83-52DC580746C9}"/>
              </a:ext>
            </a:extLst>
          </p:cNvPr>
          <p:cNvSpPr txBox="1">
            <a:spLocks/>
          </p:cNvSpPr>
          <p:nvPr/>
        </p:nvSpPr>
        <p:spPr>
          <a:xfrm>
            <a:off x="5982998" y="5343166"/>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N </a:t>
            </a:r>
            <a:r>
              <a:rPr lang="es-ES" sz="2400" dirty="0" err="1">
                <a:latin typeface="Helvetica"/>
                <a:cs typeface="Helvetica"/>
              </a:rPr>
              <a:t>uptake</a:t>
            </a:r>
            <a:endParaRPr lang="es-ES" sz="2400" dirty="0">
              <a:latin typeface="Helvetica" panose="020B0604020202020204" pitchFamily="34" charset="0"/>
              <a:cs typeface="Helvetica" panose="020B0604020202020204" pitchFamily="34" charset="0"/>
            </a:endParaRPr>
          </a:p>
        </p:txBody>
      </p:sp>
      <p:sp>
        <p:nvSpPr>
          <p:cNvPr id="10" name="Marcador de contenido 2">
            <a:extLst>
              <a:ext uri="{FF2B5EF4-FFF2-40B4-BE49-F238E27FC236}">
                <a16:creationId xmlns:a16="http://schemas.microsoft.com/office/drawing/2014/main" id="{DBB040C6-5CA6-1B1A-B9B4-CC8C03B8C199}"/>
              </a:ext>
            </a:extLst>
          </p:cNvPr>
          <p:cNvSpPr txBox="1">
            <a:spLocks/>
          </p:cNvSpPr>
          <p:nvPr/>
        </p:nvSpPr>
        <p:spPr>
          <a:xfrm>
            <a:off x="870906" y="4493208"/>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5" name="Marcador de contenido 2">
            <a:extLst>
              <a:ext uri="{FF2B5EF4-FFF2-40B4-BE49-F238E27FC236}">
                <a16:creationId xmlns:a16="http://schemas.microsoft.com/office/drawing/2014/main" id="{09A6B9B2-EA2C-0B8F-A2E5-93E240421E47}"/>
              </a:ext>
            </a:extLst>
          </p:cNvPr>
          <p:cNvSpPr txBox="1">
            <a:spLocks/>
          </p:cNvSpPr>
          <p:nvPr/>
        </p:nvSpPr>
        <p:spPr>
          <a:xfrm>
            <a:off x="861609" y="52892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1" name="Marcador de contenido 2">
            <a:extLst>
              <a:ext uri="{FF2B5EF4-FFF2-40B4-BE49-F238E27FC236}">
                <a16:creationId xmlns:a16="http://schemas.microsoft.com/office/drawing/2014/main" id="{374E0B43-8556-07F1-7A2F-C057939BEDC8}"/>
              </a:ext>
            </a:extLst>
          </p:cNvPr>
          <p:cNvSpPr txBox="1">
            <a:spLocks/>
          </p:cNvSpPr>
          <p:nvPr/>
        </p:nvSpPr>
        <p:spPr>
          <a:xfrm>
            <a:off x="4282026" y="52892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2" name="Marcador de contenido 2">
            <a:extLst>
              <a:ext uri="{FF2B5EF4-FFF2-40B4-BE49-F238E27FC236}">
                <a16:creationId xmlns:a16="http://schemas.microsoft.com/office/drawing/2014/main" id="{0CA874FA-BF2B-5E28-2378-32BB72FBE513}"/>
              </a:ext>
            </a:extLst>
          </p:cNvPr>
          <p:cNvSpPr txBox="1">
            <a:spLocks/>
          </p:cNvSpPr>
          <p:nvPr/>
        </p:nvSpPr>
        <p:spPr>
          <a:xfrm>
            <a:off x="4278966" y="4496456"/>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4" name="Título 1">
            <a:extLst>
              <a:ext uri="{FF2B5EF4-FFF2-40B4-BE49-F238E27FC236}">
                <a16:creationId xmlns:a16="http://schemas.microsoft.com/office/drawing/2014/main" id="{4918E1D1-7CF5-51A0-A794-9DB5E785F529}"/>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371139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E7F21-1BC3-58B7-C745-2A6CDB76710B}"/>
            </a:ext>
          </a:extLst>
        </p:cNvPr>
        <p:cNvGrpSpPr/>
        <p:nvPr/>
      </p:nvGrpSpPr>
      <p:grpSpPr>
        <a:xfrm>
          <a:off x="0" y="0"/>
          <a:ext cx="0" cy="0"/>
          <a:chOff x="0" y="0"/>
          <a:chExt cx="0" cy="0"/>
        </a:xfrm>
      </p:grpSpPr>
      <p:sp>
        <p:nvSpPr>
          <p:cNvPr id="2" name="Marcador de contenido 2">
            <a:extLst>
              <a:ext uri="{FF2B5EF4-FFF2-40B4-BE49-F238E27FC236}">
                <a16:creationId xmlns:a16="http://schemas.microsoft.com/office/drawing/2014/main" id="{0D2A7F3A-5D92-B637-7E53-8726C79BA350}"/>
              </a:ext>
            </a:extLst>
          </p:cNvPr>
          <p:cNvSpPr txBox="1">
            <a:spLocks/>
          </p:cNvSpPr>
          <p:nvPr/>
        </p:nvSpPr>
        <p:spPr>
          <a:xfrm>
            <a:off x="127519" y="3400507"/>
            <a:ext cx="3242000" cy="22235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Clr>
                <a:srgbClr val="218317"/>
              </a:buClr>
              <a:buNone/>
            </a:pPr>
            <a:r>
              <a:rPr lang="es-ES" dirty="0">
                <a:latin typeface="Helvetica" panose="020B0604020202020204" pitchFamily="34" charset="0"/>
                <a:cs typeface="Helvetica" panose="020B0604020202020204" pitchFamily="34" charset="0"/>
              </a:rPr>
              <a:t>Field data </a:t>
            </a:r>
            <a:r>
              <a:rPr lang="es-ES" dirty="0" err="1">
                <a:latin typeface="Helvetica" panose="020B0604020202020204" pitchFamily="34" charset="0"/>
                <a:cs typeface="Helvetica" panose="020B0604020202020204" pitchFamily="34" charset="0"/>
              </a:rPr>
              <a:t>sampling</a:t>
            </a:r>
            <a:r>
              <a:rPr lang="es-ES" dirty="0">
                <a:latin typeface="Helvetica" panose="020B0604020202020204" pitchFamily="34" charset="0"/>
                <a:cs typeface="Helvetica" panose="020B0604020202020204" pitchFamily="34" charset="0"/>
              </a:rPr>
              <a:t>:</a:t>
            </a:r>
          </a:p>
          <a:p>
            <a:pPr marL="457200" lvl="1" indent="0" algn="ctr">
              <a:buClr>
                <a:srgbClr val="218317"/>
              </a:buClr>
              <a:buNone/>
            </a:pPr>
            <a:r>
              <a:rPr lang="es-ES" dirty="0">
                <a:latin typeface="Helvetica" panose="020B0604020202020204" pitchFamily="34" charset="0"/>
                <a:cs typeface="Helvetica" panose="020B0604020202020204" pitchFamily="34" charset="0"/>
              </a:rPr>
              <a:t>02/2023 – 09/2023</a:t>
            </a:r>
          </a:p>
          <a:p>
            <a:pPr algn="ctr"/>
            <a:endParaRPr lang="es-ES" dirty="0">
              <a:latin typeface="Helvetica" panose="020B0604020202020204" pitchFamily="34" charset="0"/>
              <a:cs typeface="Helvetica" panose="020B0604020202020204" pitchFamily="34" charset="0"/>
            </a:endParaRPr>
          </a:p>
        </p:txBody>
      </p:sp>
      <p:sp>
        <p:nvSpPr>
          <p:cNvPr id="3" name="Título 1">
            <a:extLst>
              <a:ext uri="{FF2B5EF4-FFF2-40B4-BE49-F238E27FC236}">
                <a16:creationId xmlns:a16="http://schemas.microsoft.com/office/drawing/2014/main" id="{A999C6EA-7AE8-D840-9E31-A752303DFD21}"/>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Study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area</a:t>
            </a:r>
            <a:endParaRPr lang="es-ES" sz="3200" b="1" dirty="0">
              <a:solidFill>
                <a:schemeClr val="bg1"/>
              </a:solidFill>
              <a:latin typeface="Helvetica" panose="020B0604020202020204" pitchFamily="34" charset="0"/>
              <a:cs typeface="Helvetica" panose="020B0604020202020204" pitchFamily="34" charset="0"/>
            </a:endParaRPr>
          </a:p>
        </p:txBody>
      </p:sp>
      <p:sp>
        <p:nvSpPr>
          <p:cNvPr id="4" name="Título 1">
            <a:extLst>
              <a:ext uri="{FF2B5EF4-FFF2-40B4-BE49-F238E27FC236}">
                <a16:creationId xmlns:a16="http://schemas.microsoft.com/office/drawing/2014/main" id="{7AAA2A6D-DB68-AD63-0A06-EA976E24DC00}"/>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5" name="Marcador de contenido 2">
            <a:extLst>
              <a:ext uri="{FF2B5EF4-FFF2-40B4-BE49-F238E27FC236}">
                <a16:creationId xmlns:a16="http://schemas.microsoft.com/office/drawing/2014/main" id="{A8D7DC10-0A24-5913-467C-1DEA0F80E6D2}"/>
              </a:ext>
            </a:extLst>
          </p:cNvPr>
          <p:cNvSpPr txBox="1">
            <a:spLocks/>
          </p:cNvSpPr>
          <p:nvPr/>
        </p:nvSpPr>
        <p:spPr>
          <a:xfrm>
            <a:off x="127519" y="5550853"/>
            <a:ext cx="10925077" cy="804155"/>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b="1" dirty="0">
                <a:latin typeface="Helvetica"/>
                <a:cs typeface="Helvetica"/>
              </a:rPr>
              <a:t>14 sites, 91 </a:t>
            </a:r>
            <a:r>
              <a:rPr lang="es-ES" b="1" dirty="0" err="1">
                <a:latin typeface="Helvetica"/>
                <a:cs typeface="Helvetica"/>
              </a:rPr>
              <a:t>plots</a:t>
            </a:r>
            <a:r>
              <a:rPr lang="es-ES" b="1" dirty="0">
                <a:latin typeface="Helvetica"/>
                <a:cs typeface="Helvetica"/>
              </a:rPr>
              <a:t> </a:t>
            </a:r>
          </a:p>
          <a:p>
            <a:pPr marL="0" indent="0">
              <a:buClr>
                <a:srgbClr val="218317"/>
              </a:buClr>
              <a:buNone/>
            </a:pPr>
            <a:r>
              <a:rPr lang="es-ES" b="1" dirty="0">
                <a:solidFill>
                  <a:srgbClr val="FF0000"/>
                </a:solidFill>
                <a:latin typeface="Helvetica"/>
                <a:cs typeface="Helvetica"/>
              </a:rPr>
              <a:t>462 target </a:t>
            </a:r>
            <a:r>
              <a:rPr lang="es-ES" b="1" dirty="0" err="1">
                <a:solidFill>
                  <a:srgbClr val="FF0000"/>
                </a:solidFill>
                <a:latin typeface="Helvetica"/>
                <a:cs typeface="Helvetica"/>
              </a:rPr>
              <a:t>trees</a:t>
            </a:r>
            <a:endParaRPr lang="es-ES" b="1" dirty="0">
              <a:solidFill>
                <a:srgbClr val="FF0000"/>
              </a:solidFill>
              <a:latin typeface="Helvetica" panose="020B0604020202020204" pitchFamily="34" charset="0"/>
              <a:cs typeface="Helvetica" panose="020B0604020202020204" pitchFamily="34" charset="0"/>
            </a:endParaRPr>
          </a:p>
        </p:txBody>
      </p:sp>
      <p:pic>
        <p:nvPicPr>
          <p:cNvPr id="7" name="Imagen 6">
            <a:extLst>
              <a:ext uri="{FF2B5EF4-FFF2-40B4-BE49-F238E27FC236}">
                <a16:creationId xmlns:a16="http://schemas.microsoft.com/office/drawing/2014/main" id="{3DCD98AE-E281-28B7-DDC6-9F8E6C5095C9}"/>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3615224" y="920186"/>
            <a:ext cx="8573689" cy="5846706"/>
          </a:xfrm>
          <a:prstGeom prst="rect">
            <a:avLst/>
          </a:prstGeom>
        </p:spPr>
      </p:pic>
      <p:pic>
        <p:nvPicPr>
          <p:cNvPr id="8" name="Imagen 7">
            <a:extLst>
              <a:ext uri="{FF2B5EF4-FFF2-40B4-BE49-F238E27FC236}">
                <a16:creationId xmlns:a16="http://schemas.microsoft.com/office/drawing/2014/main" id="{3E22E17E-5337-C684-089F-3EFE5D99CF6B}"/>
              </a:ext>
            </a:extLst>
          </p:cNvPr>
          <p:cNvPicPr>
            <a:picLocks noChangeAspect="1"/>
          </p:cNvPicPr>
          <p:nvPr/>
        </p:nvPicPr>
        <p:blipFill>
          <a:blip r:embed="rId4">
            <a:extLst>
              <a:ext uri="{28A0092B-C50C-407E-A947-70E740481C1C}">
                <a14:useLocalDpi xmlns:a14="http://schemas.microsoft.com/office/drawing/2010/main" val="0"/>
              </a:ext>
            </a:extLst>
          </a:blip>
          <a:srcRect t="9545" b="7334"/>
          <a:stretch/>
        </p:blipFill>
        <p:spPr>
          <a:xfrm>
            <a:off x="658548" y="1045028"/>
            <a:ext cx="2833823" cy="2355479"/>
          </a:xfrm>
          <a:prstGeom prst="rect">
            <a:avLst/>
          </a:prstGeom>
        </p:spPr>
      </p:pic>
    </p:spTree>
    <p:extLst>
      <p:ext uri="{BB962C8B-B14F-4D97-AF65-F5344CB8AC3E}">
        <p14:creationId xmlns:p14="http://schemas.microsoft.com/office/powerpoint/2010/main" val="920574125"/>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0204C-F11E-9B27-13A1-D01D21F6E915}"/>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C34324-CEFD-1EFD-2467-7B61612321A3}"/>
              </a:ext>
            </a:extLst>
          </p:cNvPr>
          <p:cNvSpPr txBox="1">
            <a:spLocks/>
          </p:cNvSpPr>
          <p:nvPr/>
        </p:nvSpPr>
        <p:spPr>
          <a:xfrm>
            <a:off x="623546" y="1374438"/>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2400" b="1" dirty="0" err="1">
                <a:latin typeface="Helvetica"/>
                <a:cs typeface="Helvetica"/>
              </a:rPr>
              <a:t>Obj</a:t>
            </a:r>
            <a:r>
              <a:rPr lang="es-ES" sz="2400" b="1" dirty="0">
                <a:latin typeface="Helvetica"/>
                <a:cs typeface="Helvetica"/>
              </a:rPr>
              <a:t>. 1.-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characterise</a:t>
            </a:r>
            <a:r>
              <a:rPr lang="es-ES" sz="2400" dirty="0">
                <a:latin typeface="Helvetica"/>
                <a:cs typeface="Helvetica"/>
              </a:rPr>
              <a:t> </a:t>
            </a:r>
            <a:r>
              <a:rPr lang="es-ES" sz="2400" dirty="0" err="1">
                <a:latin typeface="Helvetica"/>
                <a:cs typeface="Helvetica"/>
              </a:rPr>
              <a:t>underlying</a:t>
            </a:r>
            <a:r>
              <a:rPr lang="es-ES" sz="2400" dirty="0">
                <a:latin typeface="Helvetica"/>
                <a:cs typeface="Helvetica"/>
              </a:rPr>
              <a:t> </a:t>
            </a:r>
            <a:r>
              <a:rPr lang="es-ES" sz="2400" dirty="0" err="1">
                <a:latin typeface="Helvetica"/>
                <a:cs typeface="Helvetica"/>
              </a:rPr>
              <a:t>mechanisms</a:t>
            </a:r>
            <a:r>
              <a:rPr lang="es-ES" sz="2400" dirty="0">
                <a:latin typeface="Helvetica"/>
                <a:cs typeface="Helvetica"/>
              </a:rPr>
              <a:t> </a:t>
            </a:r>
            <a:r>
              <a:rPr lang="es-ES" sz="2400" dirty="0" err="1">
                <a:latin typeface="Helvetica"/>
                <a:cs typeface="Helvetica"/>
              </a:rPr>
              <a:t>behind</a:t>
            </a:r>
            <a:r>
              <a:rPr lang="es-ES" sz="2400" dirty="0">
                <a:latin typeface="Helvetica"/>
                <a:cs typeface="Helvetica"/>
              </a:rPr>
              <a:t> </a:t>
            </a:r>
            <a:r>
              <a:rPr lang="es-ES" sz="2400" dirty="0" err="1">
                <a:solidFill>
                  <a:srgbClr val="FF0000"/>
                </a:solidFill>
                <a:latin typeface="Helvetica"/>
                <a:cs typeface="Helvetica"/>
              </a:rPr>
              <a:t>drought</a:t>
            </a:r>
            <a:r>
              <a:rPr lang="es-ES" sz="2400" dirty="0">
                <a:solidFill>
                  <a:srgbClr val="FF0000"/>
                </a:solidFill>
                <a:latin typeface="Helvetica"/>
                <a:cs typeface="Helvetica"/>
              </a:rPr>
              <a:t> </a:t>
            </a:r>
            <a:r>
              <a:rPr lang="es-ES" sz="2400" dirty="0" err="1">
                <a:solidFill>
                  <a:srgbClr val="FF0000"/>
                </a:solidFill>
                <a:latin typeface="Helvetica"/>
                <a:cs typeface="Helvetica"/>
              </a:rPr>
              <a:t>vulnerability</a:t>
            </a:r>
            <a:r>
              <a:rPr lang="es-ES" sz="2400" dirty="0">
                <a:solidFill>
                  <a:srgbClr val="FF0000"/>
                </a:solidFill>
                <a:latin typeface="Helvetica"/>
                <a:cs typeface="Helvetica"/>
              </a:rPr>
              <a:t> </a:t>
            </a:r>
            <a:r>
              <a:rPr lang="es-ES" sz="2400" dirty="0" err="1">
                <a:latin typeface="Helvetica"/>
                <a:cs typeface="Helvetica"/>
              </a:rPr>
              <a:t>through</a:t>
            </a:r>
            <a:r>
              <a:rPr lang="es-ES" sz="2400" dirty="0">
                <a:latin typeface="Helvetica"/>
                <a:cs typeface="Helvetica"/>
              </a:rPr>
              <a:t> </a:t>
            </a:r>
            <a:r>
              <a:rPr lang="es-ES" sz="2400" dirty="0" err="1">
                <a:latin typeface="Helvetica"/>
                <a:cs typeface="Helvetica"/>
              </a:rPr>
              <a:t>assessment</a:t>
            </a:r>
            <a:r>
              <a:rPr lang="es-ES" sz="2400" dirty="0">
                <a:latin typeface="Helvetica"/>
                <a:cs typeface="Helvetica"/>
              </a:rPr>
              <a:t> </a:t>
            </a:r>
            <a:r>
              <a:rPr lang="es-ES" sz="2400" dirty="0" err="1">
                <a:latin typeface="Helvetica"/>
                <a:cs typeface="Helvetica"/>
              </a:rPr>
              <a:t>of</a:t>
            </a:r>
            <a:r>
              <a:rPr lang="es-ES" sz="2400" dirty="0">
                <a:latin typeface="Helvetica"/>
                <a:cs typeface="Helvetica"/>
              </a:rPr>
              <a:t> </a:t>
            </a:r>
            <a:r>
              <a:rPr lang="es-ES" sz="2400" b="1" dirty="0" err="1">
                <a:latin typeface="Helvetica"/>
                <a:cs typeface="Helvetica"/>
              </a:rPr>
              <a:t>morphological</a:t>
            </a:r>
            <a:r>
              <a:rPr lang="es-ES" sz="2400" b="1" dirty="0">
                <a:latin typeface="Helvetica"/>
                <a:cs typeface="Helvetica"/>
              </a:rPr>
              <a:t> </a:t>
            </a:r>
            <a:r>
              <a:rPr lang="es-ES" sz="2400" dirty="0">
                <a:latin typeface="Helvetica"/>
                <a:cs typeface="Helvetica"/>
              </a:rPr>
              <a:t>and</a:t>
            </a:r>
            <a:r>
              <a:rPr lang="es-ES" sz="2400" b="1" dirty="0">
                <a:latin typeface="Helvetica"/>
                <a:cs typeface="Helvetica"/>
              </a:rPr>
              <a:t> </a:t>
            </a:r>
            <a:r>
              <a:rPr lang="es-ES" sz="2400" b="1" dirty="0" err="1">
                <a:latin typeface="Helvetica"/>
                <a:cs typeface="Helvetica"/>
              </a:rPr>
              <a:t>physiological</a:t>
            </a:r>
            <a:r>
              <a:rPr lang="es-ES" sz="2400" b="1" dirty="0">
                <a:latin typeface="Helvetica"/>
                <a:cs typeface="Helvetica"/>
              </a:rPr>
              <a:t> </a:t>
            </a:r>
            <a:r>
              <a:rPr lang="es-ES" sz="2400" b="1" dirty="0" err="1">
                <a:latin typeface="Helvetica"/>
                <a:cs typeface="Helvetica"/>
              </a:rPr>
              <a:t>traits</a:t>
            </a:r>
            <a:r>
              <a:rPr lang="es-ES" sz="2400" b="1" dirty="0">
                <a:latin typeface="Helvetica"/>
                <a:cs typeface="Helvetica"/>
              </a:rPr>
              <a:t> responses</a:t>
            </a:r>
            <a:r>
              <a:rPr lang="es-ES" sz="2400" dirty="0">
                <a:latin typeface="Helvetica"/>
                <a:cs typeface="Helvetica"/>
              </a:rPr>
              <a:t> in </a:t>
            </a:r>
            <a:r>
              <a:rPr lang="es-ES" sz="2400" dirty="0" err="1">
                <a:latin typeface="Helvetica"/>
                <a:cs typeface="Helvetica"/>
              </a:rPr>
              <a:t>drought-induced</a:t>
            </a:r>
            <a:r>
              <a:rPr lang="es-ES" sz="2400" dirty="0">
                <a:latin typeface="Helvetica"/>
                <a:cs typeface="Helvetica"/>
              </a:rPr>
              <a:t> </a:t>
            </a:r>
            <a:r>
              <a:rPr lang="es-ES" sz="2400" dirty="0" err="1">
                <a:latin typeface="Helvetica"/>
                <a:cs typeface="Helvetica"/>
              </a:rPr>
              <a:t>damaged</a:t>
            </a:r>
            <a:r>
              <a:rPr lang="es-ES" sz="2400" dirty="0">
                <a:latin typeface="Helvetica"/>
                <a:cs typeface="Helvetica"/>
              </a:rPr>
              <a:t> vs. </a:t>
            </a:r>
            <a:r>
              <a:rPr lang="es-ES" sz="2400" dirty="0" err="1">
                <a:latin typeface="Helvetica"/>
                <a:cs typeface="Helvetica"/>
              </a:rPr>
              <a:t>healthy</a:t>
            </a:r>
            <a:r>
              <a:rPr lang="es-ES" sz="2400" dirty="0">
                <a:latin typeface="Helvetica"/>
                <a:cs typeface="Helvetica"/>
              </a:rPr>
              <a:t> </a:t>
            </a:r>
            <a:r>
              <a:rPr lang="es-ES" sz="2400" dirty="0" err="1">
                <a:latin typeface="Helvetica"/>
                <a:cs typeface="Helvetica"/>
              </a:rPr>
              <a:t>areas</a:t>
            </a:r>
            <a:endParaRPr lang="es-ES" sz="2400" dirty="0">
              <a:latin typeface="Helvetica" panose="020B0604020202020204" pitchFamily="34" charset="0"/>
              <a:cs typeface="Helvetica" panose="020B0604020202020204" pitchFamily="34" charset="0"/>
            </a:endParaRPr>
          </a:p>
        </p:txBody>
      </p:sp>
      <p:sp>
        <p:nvSpPr>
          <p:cNvPr id="2" name="Marcador de contenido 2">
            <a:extLst>
              <a:ext uri="{FF2B5EF4-FFF2-40B4-BE49-F238E27FC236}">
                <a16:creationId xmlns:a16="http://schemas.microsoft.com/office/drawing/2014/main" id="{4C414708-B8E9-19C2-E949-7CED186D0D11}"/>
              </a:ext>
            </a:extLst>
          </p:cNvPr>
          <p:cNvSpPr txBox="1">
            <a:spLocks/>
          </p:cNvSpPr>
          <p:nvPr/>
        </p:nvSpPr>
        <p:spPr>
          <a:xfrm>
            <a:off x="623546" y="2776552"/>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i="1" dirty="0">
                <a:latin typeface="Helvetica"/>
                <a:cs typeface="Helvetica"/>
              </a:rPr>
              <a:t>H1.-</a:t>
            </a:r>
            <a:r>
              <a:rPr lang="es-ES" sz="2400" i="1" dirty="0">
                <a:latin typeface="Helvetica"/>
                <a:cs typeface="Helvetica"/>
              </a:rPr>
              <a:t> </a:t>
            </a:r>
            <a:r>
              <a:rPr lang="es-ES" sz="2400" i="1" dirty="0" err="1">
                <a:latin typeface="Helvetica"/>
                <a:cs typeface="Helvetica"/>
              </a:rPr>
              <a:t>We</a:t>
            </a:r>
            <a:r>
              <a:rPr lang="es-ES" sz="2400" i="1" dirty="0">
                <a:latin typeface="Helvetica"/>
                <a:cs typeface="Helvetica"/>
              </a:rPr>
              <a:t> </a:t>
            </a:r>
            <a:r>
              <a:rPr lang="es-ES" sz="2400" i="1" dirty="0" err="1">
                <a:latin typeface="Helvetica"/>
                <a:cs typeface="Helvetica"/>
              </a:rPr>
              <a:t>expect</a:t>
            </a:r>
            <a:r>
              <a:rPr lang="es-ES" sz="2400" i="1" dirty="0">
                <a:latin typeface="Helvetica"/>
                <a:cs typeface="Helvetica"/>
              </a:rPr>
              <a:t>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size</a:t>
            </a:r>
            <a:r>
              <a:rPr lang="es-ES" sz="2400" i="1" dirty="0">
                <a:latin typeface="Helvetica"/>
                <a:cs typeface="Helvetica"/>
              </a:rPr>
              <a:t>, </a:t>
            </a:r>
            <a:r>
              <a:rPr lang="es-ES" sz="2400" i="1" dirty="0" err="1">
                <a:latin typeface="Helvetica"/>
                <a:cs typeface="Helvetica"/>
              </a:rPr>
              <a:t>past</a:t>
            </a:r>
            <a:r>
              <a:rPr lang="es-ES" sz="2400" i="1" dirty="0">
                <a:latin typeface="Helvetica"/>
                <a:cs typeface="Helvetica"/>
              </a:rPr>
              <a:t>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growth</a:t>
            </a:r>
            <a:r>
              <a:rPr lang="es-ES" sz="2400" i="1" dirty="0">
                <a:latin typeface="Helvetica"/>
                <a:cs typeface="Helvetica"/>
              </a:rPr>
              <a:t>, </a:t>
            </a:r>
            <a:r>
              <a:rPr lang="es-ES" sz="2400" i="1" dirty="0" err="1">
                <a:latin typeface="Helvetica"/>
                <a:cs typeface="Helvetica"/>
              </a:rPr>
              <a:t>competition</a:t>
            </a:r>
            <a:r>
              <a:rPr lang="es-ES" sz="2400" i="1" dirty="0">
                <a:latin typeface="Helvetica"/>
                <a:cs typeface="Helvetica"/>
              </a:rPr>
              <a:t> and </a:t>
            </a:r>
            <a:r>
              <a:rPr lang="es-ES" sz="2400" i="1" dirty="0" err="1">
                <a:latin typeface="Helvetica"/>
                <a:cs typeface="Helvetica"/>
              </a:rPr>
              <a:t>leaves</a:t>
            </a:r>
            <a:r>
              <a:rPr lang="es-ES" sz="2400" i="1" dirty="0">
                <a:latin typeface="Helvetica"/>
                <a:cs typeface="Helvetica"/>
              </a:rPr>
              <a:t> </a:t>
            </a:r>
            <a:r>
              <a:rPr lang="es-ES" sz="2400" i="1" dirty="0" err="1">
                <a:latin typeface="Helvetica"/>
                <a:cs typeface="Helvetica"/>
              </a:rPr>
              <a:t>traits</a:t>
            </a:r>
            <a:r>
              <a:rPr lang="es-ES" sz="2400" i="1" dirty="0">
                <a:latin typeface="Helvetica"/>
                <a:cs typeface="Helvetica"/>
              </a:rPr>
              <a:t> </a:t>
            </a:r>
            <a:r>
              <a:rPr lang="es-ES" sz="2400" i="1" dirty="0" err="1">
                <a:latin typeface="Helvetica"/>
                <a:cs typeface="Helvetica"/>
              </a:rPr>
              <a:t>to</a:t>
            </a:r>
            <a:r>
              <a:rPr lang="es-ES" sz="2400" i="1" dirty="0">
                <a:latin typeface="Helvetica"/>
                <a:cs typeface="Helvetica"/>
              </a:rPr>
              <a:t> determine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vulnerability</a:t>
            </a:r>
            <a:r>
              <a:rPr lang="es-ES" sz="2400" i="1" dirty="0">
                <a:latin typeface="Helvetica"/>
                <a:cs typeface="Helvetica"/>
              </a:rPr>
              <a:t> </a:t>
            </a:r>
            <a:r>
              <a:rPr lang="es-ES" sz="2400" i="1" dirty="0" err="1">
                <a:latin typeface="Helvetica"/>
                <a:cs typeface="Helvetica"/>
              </a:rPr>
              <a:t>to</a:t>
            </a:r>
            <a:r>
              <a:rPr lang="es-ES" sz="2400" i="1" dirty="0">
                <a:latin typeface="Helvetica"/>
                <a:cs typeface="Helvetica"/>
              </a:rPr>
              <a:t> </a:t>
            </a:r>
            <a:r>
              <a:rPr lang="es-ES" sz="2400" i="1" dirty="0" err="1">
                <a:latin typeface="Helvetica"/>
                <a:cs typeface="Helvetica"/>
              </a:rPr>
              <a:t>drought</a:t>
            </a:r>
            <a:r>
              <a:rPr lang="es-ES" sz="2400" i="1" dirty="0">
                <a:latin typeface="Helvetica"/>
                <a:cs typeface="Helvetica"/>
              </a:rPr>
              <a:t>:</a:t>
            </a:r>
          </a:p>
        </p:txBody>
      </p:sp>
      <p:sp>
        <p:nvSpPr>
          <p:cNvPr id="9" name="Título 1">
            <a:extLst>
              <a:ext uri="{FF2B5EF4-FFF2-40B4-BE49-F238E27FC236}">
                <a16:creationId xmlns:a16="http://schemas.microsoft.com/office/drawing/2014/main" id="{A5A9F656-B91B-8B88-37C0-78549A7B1835}"/>
              </a:ext>
            </a:extLst>
          </p:cNvPr>
          <p:cNvSpPr txBox="1">
            <a:spLocks/>
          </p:cNvSpPr>
          <p:nvPr/>
        </p:nvSpPr>
        <p:spPr>
          <a:xfrm>
            <a:off x="0" y="0"/>
            <a:ext cx="9690902" cy="804155"/>
          </a:xfrm>
          <a:prstGeom prst="rect">
            <a:avLst/>
          </a:prstGeom>
          <a:solidFill>
            <a:srgbClr val="218317"/>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Objectives</a:t>
            </a:r>
            <a:r>
              <a:rPr lang="es-ES" sz="3200" b="1" dirty="0">
                <a:solidFill>
                  <a:schemeClr val="bg1"/>
                </a:solidFill>
                <a:latin typeface="Helvetica" panose="020B0604020202020204" pitchFamily="34" charset="0"/>
                <a:cs typeface="Helvetica" panose="020B0604020202020204" pitchFamily="34" charset="0"/>
              </a:rPr>
              <a:t> &amp; </a:t>
            </a:r>
            <a:r>
              <a:rPr lang="es-ES" sz="3200" b="1" dirty="0" err="1">
                <a:solidFill>
                  <a:schemeClr val="bg1"/>
                </a:solidFill>
                <a:latin typeface="Helvetica" panose="020B0604020202020204" pitchFamily="34" charset="0"/>
                <a:cs typeface="Helvetica" panose="020B0604020202020204" pitchFamily="34" charset="0"/>
              </a:rPr>
              <a:t>Hypotheses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10" name="Título 1">
            <a:extLst>
              <a:ext uri="{FF2B5EF4-FFF2-40B4-BE49-F238E27FC236}">
                <a16:creationId xmlns:a16="http://schemas.microsoft.com/office/drawing/2014/main" id="{08EBD559-FF21-01E8-287A-D770A4F85C25}"/>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grpSp>
        <p:nvGrpSpPr>
          <p:cNvPr id="21" name="Grupo 20">
            <a:extLst>
              <a:ext uri="{FF2B5EF4-FFF2-40B4-BE49-F238E27FC236}">
                <a16:creationId xmlns:a16="http://schemas.microsoft.com/office/drawing/2014/main" id="{EED41255-ED85-C941-16C7-80273695DD5E}"/>
              </a:ext>
            </a:extLst>
          </p:cNvPr>
          <p:cNvGrpSpPr/>
          <p:nvPr/>
        </p:nvGrpSpPr>
        <p:grpSpPr>
          <a:xfrm>
            <a:off x="1246240" y="4487957"/>
            <a:ext cx="3477754" cy="1250117"/>
            <a:chOff x="1139560" y="5095351"/>
            <a:chExt cx="3477754" cy="1250117"/>
          </a:xfrm>
        </p:grpSpPr>
        <p:pic>
          <p:nvPicPr>
            <p:cNvPr id="4" name="Imagen 3">
              <a:extLst>
                <a:ext uri="{FF2B5EF4-FFF2-40B4-BE49-F238E27FC236}">
                  <a16:creationId xmlns:a16="http://schemas.microsoft.com/office/drawing/2014/main" id="{55D17402-96E9-A56B-30C4-8061982E6582}"/>
                </a:ext>
              </a:extLst>
            </p:cNvPr>
            <p:cNvPicPr>
              <a:picLocks noChangeAspect="1"/>
            </p:cNvPicPr>
            <p:nvPr/>
          </p:nvPicPr>
          <p:blipFill>
            <a:blip r:embed="rId2"/>
            <a:srcRect b="57655"/>
            <a:stretch/>
          </p:blipFill>
          <p:spPr>
            <a:xfrm>
              <a:off x="1139560" y="5095351"/>
              <a:ext cx="3477754" cy="1250117"/>
            </a:xfrm>
            <a:prstGeom prst="rect">
              <a:avLst/>
            </a:prstGeom>
          </p:spPr>
        </p:pic>
        <p:sp>
          <p:nvSpPr>
            <p:cNvPr id="5" name="CuadroTexto 4">
              <a:extLst>
                <a:ext uri="{FF2B5EF4-FFF2-40B4-BE49-F238E27FC236}">
                  <a16:creationId xmlns:a16="http://schemas.microsoft.com/office/drawing/2014/main" id="{17FF3BC9-79A4-4A97-EB19-18CB43D3097D}"/>
                </a:ext>
              </a:extLst>
            </p:cNvPr>
            <p:cNvSpPr txBox="1"/>
            <p:nvPr/>
          </p:nvSpPr>
          <p:spPr>
            <a:xfrm>
              <a:off x="1609302" y="5843116"/>
              <a:ext cx="1132041" cy="292388"/>
            </a:xfrm>
            <a:prstGeom prst="rect">
              <a:avLst/>
            </a:prstGeom>
            <a:solidFill>
              <a:schemeClr val="bg1"/>
            </a:solidFill>
          </p:spPr>
          <p:txBody>
            <a:bodyPr wrap="none" rtlCol="0">
              <a:spAutoFit/>
            </a:bodyPr>
            <a:lstStyle/>
            <a:p>
              <a:r>
                <a:rPr lang="es-ES" sz="1300" dirty="0">
                  <a:solidFill>
                    <a:srgbClr val="2F5597"/>
                  </a:solidFill>
                </a:rPr>
                <a:t>Non-</a:t>
              </a:r>
              <a:r>
                <a:rPr lang="es-ES" sz="1300" dirty="0" err="1">
                  <a:solidFill>
                    <a:srgbClr val="2F5597"/>
                  </a:solidFill>
                </a:rPr>
                <a:t>declining</a:t>
              </a:r>
              <a:endParaRPr lang="es-ES" sz="1300" dirty="0">
                <a:solidFill>
                  <a:srgbClr val="2F5597"/>
                </a:solidFill>
              </a:endParaRPr>
            </a:p>
          </p:txBody>
        </p:sp>
        <p:sp>
          <p:nvSpPr>
            <p:cNvPr id="18" name="CuadroTexto 17">
              <a:extLst>
                <a:ext uri="{FF2B5EF4-FFF2-40B4-BE49-F238E27FC236}">
                  <a16:creationId xmlns:a16="http://schemas.microsoft.com/office/drawing/2014/main" id="{FAD85D67-8A8A-77BB-35F9-E448677F08EF}"/>
                </a:ext>
              </a:extLst>
            </p:cNvPr>
            <p:cNvSpPr txBox="1"/>
            <p:nvPr/>
          </p:nvSpPr>
          <p:spPr>
            <a:xfrm>
              <a:off x="3151746" y="5843116"/>
              <a:ext cx="811441" cy="292388"/>
            </a:xfrm>
            <a:prstGeom prst="rect">
              <a:avLst/>
            </a:prstGeom>
            <a:solidFill>
              <a:schemeClr val="bg1"/>
            </a:solidFill>
          </p:spPr>
          <p:txBody>
            <a:bodyPr wrap="none" rtlCol="0">
              <a:spAutoFit/>
            </a:bodyPr>
            <a:lstStyle/>
            <a:p>
              <a:r>
                <a:rPr lang="es-ES" sz="1300" dirty="0" err="1">
                  <a:solidFill>
                    <a:srgbClr val="C00000"/>
                  </a:solidFill>
                </a:rPr>
                <a:t>Declining</a:t>
              </a:r>
              <a:endParaRPr lang="es-ES" sz="1300" dirty="0">
                <a:solidFill>
                  <a:srgbClr val="C00000"/>
                </a:solidFill>
              </a:endParaRPr>
            </a:p>
          </p:txBody>
        </p:sp>
      </p:grpSp>
      <p:grpSp>
        <p:nvGrpSpPr>
          <p:cNvPr id="20" name="Grupo 19">
            <a:extLst>
              <a:ext uri="{FF2B5EF4-FFF2-40B4-BE49-F238E27FC236}">
                <a16:creationId xmlns:a16="http://schemas.microsoft.com/office/drawing/2014/main" id="{BB5518D9-AD43-C2DD-9D23-79EF776CC173}"/>
              </a:ext>
            </a:extLst>
          </p:cNvPr>
          <p:cNvGrpSpPr/>
          <p:nvPr/>
        </p:nvGrpSpPr>
        <p:grpSpPr>
          <a:xfrm>
            <a:off x="6389013" y="4487957"/>
            <a:ext cx="3301889" cy="1220763"/>
            <a:chOff x="6178013" y="5057218"/>
            <a:chExt cx="3301889" cy="1220763"/>
          </a:xfrm>
        </p:grpSpPr>
        <p:pic>
          <p:nvPicPr>
            <p:cNvPr id="8" name="Imagen 7">
              <a:extLst>
                <a:ext uri="{FF2B5EF4-FFF2-40B4-BE49-F238E27FC236}">
                  <a16:creationId xmlns:a16="http://schemas.microsoft.com/office/drawing/2014/main" id="{B87B21BD-A6B5-1787-C2FE-38F3E226D731}"/>
                </a:ext>
              </a:extLst>
            </p:cNvPr>
            <p:cNvPicPr>
              <a:picLocks noChangeAspect="1"/>
            </p:cNvPicPr>
            <p:nvPr/>
          </p:nvPicPr>
          <p:blipFill>
            <a:blip r:embed="rId2"/>
            <a:srcRect t="53835"/>
            <a:stretch/>
          </p:blipFill>
          <p:spPr>
            <a:xfrm>
              <a:off x="6364847" y="5057218"/>
              <a:ext cx="3115055" cy="1220763"/>
            </a:xfrm>
            <a:prstGeom prst="rect">
              <a:avLst/>
            </a:prstGeom>
          </p:spPr>
        </p:pic>
        <p:sp>
          <p:nvSpPr>
            <p:cNvPr id="7" name="CuadroTexto 6">
              <a:extLst>
                <a:ext uri="{FF2B5EF4-FFF2-40B4-BE49-F238E27FC236}">
                  <a16:creationId xmlns:a16="http://schemas.microsoft.com/office/drawing/2014/main" id="{50AAB96E-6C5C-AA9D-9E37-537A9CDC0700}"/>
                </a:ext>
              </a:extLst>
            </p:cNvPr>
            <p:cNvSpPr txBox="1"/>
            <p:nvPr/>
          </p:nvSpPr>
          <p:spPr>
            <a:xfrm>
              <a:off x="6178013" y="5989310"/>
              <a:ext cx="1217297" cy="261610"/>
            </a:xfrm>
            <a:prstGeom prst="rect">
              <a:avLst/>
            </a:prstGeom>
            <a:solidFill>
              <a:schemeClr val="bg1"/>
            </a:solidFill>
          </p:spPr>
          <p:txBody>
            <a:bodyPr wrap="square" rtlCol="0">
              <a:spAutoFit/>
            </a:bodyPr>
            <a:lstStyle/>
            <a:p>
              <a:pPr algn="ctr"/>
              <a:r>
                <a:rPr lang="es-ES" sz="1100" dirty="0">
                  <a:solidFill>
                    <a:srgbClr val="2F5597"/>
                  </a:solidFill>
                </a:rPr>
                <a:t>Non-</a:t>
              </a:r>
              <a:r>
                <a:rPr lang="es-ES" sz="1100" dirty="0" err="1">
                  <a:solidFill>
                    <a:srgbClr val="2F5597"/>
                  </a:solidFill>
                </a:rPr>
                <a:t>declining</a:t>
              </a:r>
              <a:r>
                <a:rPr lang="es-ES" sz="1100" dirty="0">
                  <a:solidFill>
                    <a:srgbClr val="2F5597"/>
                  </a:solidFill>
                </a:rPr>
                <a:t> site</a:t>
              </a:r>
            </a:p>
          </p:txBody>
        </p:sp>
        <p:sp>
          <p:nvSpPr>
            <p:cNvPr id="17" name="CuadroTexto 16">
              <a:extLst>
                <a:ext uri="{FF2B5EF4-FFF2-40B4-BE49-F238E27FC236}">
                  <a16:creationId xmlns:a16="http://schemas.microsoft.com/office/drawing/2014/main" id="{E41E0CA6-A5D7-F12C-31D8-D135866D6D26}"/>
                </a:ext>
              </a:extLst>
            </p:cNvPr>
            <p:cNvSpPr txBox="1"/>
            <p:nvPr/>
          </p:nvSpPr>
          <p:spPr>
            <a:xfrm>
              <a:off x="7313725" y="5989310"/>
              <a:ext cx="1217297" cy="261610"/>
            </a:xfrm>
            <a:prstGeom prst="rect">
              <a:avLst/>
            </a:prstGeom>
            <a:solidFill>
              <a:schemeClr val="bg1"/>
            </a:solidFill>
          </p:spPr>
          <p:txBody>
            <a:bodyPr wrap="square" rtlCol="0">
              <a:spAutoFit/>
            </a:bodyPr>
            <a:lstStyle/>
            <a:p>
              <a:pPr algn="ctr"/>
              <a:r>
                <a:rPr lang="es-ES" sz="1100" dirty="0">
                  <a:solidFill>
                    <a:srgbClr val="7030A0"/>
                  </a:solidFill>
                  <a:cs typeface="Helvetica" panose="020B0604020202020204"/>
                </a:rPr>
                <a:t>Non-</a:t>
              </a:r>
              <a:r>
                <a:rPr lang="es-ES" sz="1100" dirty="0" err="1">
                  <a:solidFill>
                    <a:srgbClr val="7030A0"/>
                  </a:solidFill>
                  <a:cs typeface="Helvetica" panose="020B0604020202020204"/>
                </a:rPr>
                <a:t>declining</a:t>
              </a:r>
              <a:r>
                <a:rPr lang="es-ES" sz="1100" dirty="0">
                  <a:solidFill>
                    <a:srgbClr val="7030A0"/>
                  </a:solidFill>
                  <a:cs typeface="Helvetica" panose="020B0604020202020204"/>
                </a:rPr>
                <a:t> site</a:t>
              </a:r>
            </a:p>
          </p:txBody>
        </p:sp>
        <p:sp>
          <p:nvSpPr>
            <p:cNvPr id="19" name="CuadroTexto 18">
              <a:extLst>
                <a:ext uri="{FF2B5EF4-FFF2-40B4-BE49-F238E27FC236}">
                  <a16:creationId xmlns:a16="http://schemas.microsoft.com/office/drawing/2014/main" id="{EC3C26AC-8D50-CAE9-0DD5-970E82CAF65D}"/>
                </a:ext>
              </a:extLst>
            </p:cNvPr>
            <p:cNvSpPr txBox="1"/>
            <p:nvPr/>
          </p:nvSpPr>
          <p:spPr>
            <a:xfrm>
              <a:off x="8482962" y="6002841"/>
              <a:ext cx="946093" cy="261610"/>
            </a:xfrm>
            <a:prstGeom prst="rect">
              <a:avLst/>
            </a:prstGeom>
            <a:solidFill>
              <a:schemeClr val="bg1"/>
            </a:solidFill>
          </p:spPr>
          <p:txBody>
            <a:bodyPr wrap="none" rtlCol="0">
              <a:spAutoFit/>
            </a:bodyPr>
            <a:lstStyle/>
            <a:p>
              <a:r>
                <a:rPr lang="es-ES" sz="1100" dirty="0" err="1">
                  <a:solidFill>
                    <a:srgbClr val="C00000"/>
                  </a:solidFill>
                </a:rPr>
                <a:t>Declining</a:t>
              </a:r>
              <a:r>
                <a:rPr lang="es-ES" sz="1100" dirty="0">
                  <a:solidFill>
                    <a:srgbClr val="C00000"/>
                  </a:solidFill>
                </a:rPr>
                <a:t> site</a:t>
              </a:r>
            </a:p>
          </p:txBody>
        </p:sp>
      </p:grpSp>
    </p:spTree>
    <p:extLst>
      <p:ext uri="{BB962C8B-B14F-4D97-AF65-F5344CB8AC3E}">
        <p14:creationId xmlns:p14="http://schemas.microsoft.com/office/powerpoint/2010/main" val="904222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4D7E4-D331-675E-633E-A5F0F37A5CD3}"/>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27AC64E-6013-908B-301B-6ABF5F510488}"/>
              </a:ext>
            </a:extLst>
          </p:cNvPr>
          <p:cNvSpPr txBox="1">
            <a:spLocks/>
          </p:cNvSpPr>
          <p:nvPr/>
        </p:nvSpPr>
        <p:spPr>
          <a:xfrm>
            <a:off x="623546" y="1374438"/>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2400" b="1" dirty="0" err="1">
                <a:latin typeface="Helvetica"/>
                <a:cs typeface="Helvetica"/>
              </a:rPr>
              <a:t>Obj</a:t>
            </a:r>
            <a:r>
              <a:rPr lang="es-ES" sz="2400" b="1" dirty="0">
                <a:latin typeface="Helvetica"/>
                <a:cs typeface="Helvetica"/>
              </a:rPr>
              <a:t>. 1.-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characterise</a:t>
            </a:r>
            <a:r>
              <a:rPr lang="es-ES" sz="2400" dirty="0">
                <a:latin typeface="Helvetica"/>
                <a:cs typeface="Helvetica"/>
              </a:rPr>
              <a:t> </a:t>
            </a:r>
            <a:r>
              <a:rPr lang="es-ES" sz="2400" dirty="0" err="1">
                <a:latin typeface="Helvetica"/>
                <a:cs typeface="Helvetica"/>
              </a:rPr>
              <a:t>underlying</a:t>
            </a:r>
            <a:r>
              <a:rPr lang="es-ES" sz="2400" dirty="0">
                <a:latin typeface="Helvetica"/>
                <a:cs typeface="Helvetica"/>
              </a:rPr>
              <a:t> </a:t>
            </a:r>
            <a:r>
              <a:rPr lang="es-ES" sz="2400" dirty="0" err="1">
                <a:latin typeface="Helvetica"/>
                <a:cs typeface="Helvetica"/>
              </a:rPr>
              <a:t>mechanisms</a:t>
            </a:r>
            <a:r>
              <a:rPr lang="es-ES" sz="2400" dirty="0">
                <a:latin typeface="Helvetica"/>
                <a:cs typeface="Helvetica"/>
              </a:rPr>
              <a:t> </a:t>
            </a:r>
            <a:r>
              <a:rPr lang="es-ES" sz="2400" dirty="0" err="1">
                <a:latin typeface="Helvetica"/>
                <a:cs typeface="Helvetica"/>
              </a:rPr>
              <a:t>behind</a:t>
            </a:r>
            <a:r>
              <a:rPr lang="es-ES" sz="2400" dirty="0">
                <a:latin typeface="Helvetica"/>
                <a:cs typeface="Helvetica"/>
              </a:rPr>
              <a:t> </a:t>
            </a:r>
            <a:r>
              <a:rPr lang="es-ES" sz="2400" dirty="0" err="1">
                <a:solidFill>
                  <a:srgbClr val="FF0000"/>
                </a:solidFill>
                <a:latin typeface="Helvetica"/>
                <a:cs typeface="Helvetica"/>
              </a:rPr>
              <a:t>drought</a:t>
            </a:r>
            <a:r>
              <a:rPr lang="es-ES" sz="2400" dirty="0">
                <a:solidFill>
                  <a:srgbClr val="FF0000"/>
                </a:solidFill>
                <a:latin typeface="Helvetica"/>
                <a:cs typeface="Helvetica"/>
              </a:rPr>
              <a:t> </a:t>
            </a:r>
            <a:r>
              <a:rPr lang="es-ES" sz="2400" dirty="0" err="1">
                <a:solidFill>
                  <a:srgbClr val="FF0000"/>
                </a:solidFill>
                <a:latin typeface="Helvetica"/>
                <a:cs typeface="Helvetica"/>
              </a:rPr>
              <a:t>vulnerability</a:t>
            </a:r>
            <a:r>
              <a:rPr lang="es-ES" sz="2400" dirty="0">
                <a:solidFill>
                  <a:srgbClr val="FF0000"/>
                </a:solidFill>
                <a:latin typeface="Helvetica"/>
                <a:cs typeface="Helvetica"/>
              </a:rPr>
              <a:t> </a:t>
            </a:r>
            <a:r>
              <a:rPr lang="es-ES" sz="2400" dirty="0" err="1">
                <a:latin typeface="Helvetica"/>
                <a:cs typeface="Helvetica"/>
              </a:rPr>
              <a:t>through</a:t>
            </a:r>
            <a:r>
              <a:rPr lang="es-ES" sz="2400" dirty="0">
                <a:latin typeface="Helvetica"/>
                <a:cs typeface="Helvetica"/>
              </a:rPr>
              <a:t> </a:t>
            </a:r>
            <a:r>
              <a:rPr lang="es-ES" sz="2400" dirty="0" err="1">
                <a:latin typeface="Helvetica"/>
                <a:cs typeface="Helvetica"/>
              </a:rPr>
              <a:t>assessment</a:t>
            </a:r>
            <a:r>
              <a:rPr lang="es-ES" sz="2400" dirty="0">
                <a:latin typeface="Helvetica"/>
                <a:cs typeface="Helvetica"/>
              </a:rPr>
              <a:t> </a:t>
            </a:r>
            <a:r>
              <a:rPr lang="es-ES" sz="2400" dirty="0" err="1">
                <a:latin typeface="Helvetica"/>
                <a:cs typeface="Helvetica"/>
              </a:rPr>
              <a:t>of</a:t>
            </a:r>
            <a:r>
              <a:rPr lang="es-ES" sz="2400" dirty="0">
                <a:latin typeface="Helvetica"/>
                <a:cs typeface="Helvetica"/>
              </a:rPr>
              <a:t> </a:t>
            </a:r>
            <a:r>
              <a:rPr lang="es-ES" sz="2400" b="1" dirty="0" err="1">
                <a:latin typeface="Helvetica"/>
                <a:cs typeface="Helvetica"/>
              </a:rPr>
              <a:t>morphological</a:t>
            </a:r>
            <a:r>
              <a:rPr lang="es-ES" sz="2400" b="1" dirty="0">
                <a:latin typeface="Helvetica"/>
                <a:cs typeface="Helvetica"/>
              </a:rPr>
              <a:t> </a:t>
            </a:r>
            <a:r>
              <a:rPr lang="es-ES" sz="2400" dirty="0">
                <a:latin typeface="Helvetica"/>
                <a:cs typeface="Helvetica"/>
              </a:rPr>
              <a:t>and</a:t>
            </a:r>
            <a:r>
              <a:rPr lang="es-ES" sz="2400" b="1" dirty="0">
                <a:latin typeface="Helvetica"/>
                <a:cs typeface="Helvetica"/>
              </a:rPr>
              <a:t> </a:t>
            </a:r>
            <a:r>
              <a:rPr lang="es-ES" sz="2400" b="1" dirty="0" err="1">
                <a:latin typeface="Helvetica"/>
                <a:cs typeface="Helvetica"/>
              </a:rPr>
              <a:t>physiological</a:t>
            </a:r>
            <a:r>
              <a:rPr lang="es-ES" sz="2400" b="1" dirty="0">
                <a:latin typeface="Helvetica"/>
                <a:cs typeface="Helvetica"/>
              </a:rPr>
              <a:t> </a:t>
            </a:r>
            <a:r>
              <a:rPr lang="es-ES" sz="2400" b="1" dirty="0" err="1">
                <a:latin typeface="Helvetica"/>
                <a:cs typeface="Helvetica"/>
              </a:rPr>
              <a:t>traits</a:t>
            </a:r>
            <a:r>
              <a:rPr lang="es-ES" sz="2400" b="1" dirty="0">
                <a:latin typeface="Helvetica"/>
                <a:cs typeface="Helvetica"/>
              </a:rPr>
              <a:t> responses</a:t>
            </a:r>
            <a:r>
              <a:rPr lang="es-ES" sz="2400" dirty="0">
                <a:latin typeface="Helvetica"/>
                <a:cs typeface="Helvetica"/>
              </a:rPr>
              <a:t> in </a:t>
            </a:r>
            <a:r>
              <a:rPr lang="es-ES" sz="2400" dirty="0" err="1">
                <a:latin typeface="Helvetica"/>
                <a:cs typeface="Helvetica"/>
              </a:rPr>
              <a:t>drought-induced</a:t>
            </a:r>
            <a:r>
              <a:rPr lang="es-ES" sz="2400" dirty="0">
                <a:latin typeface="Helvetica"/>
                <a:cs typeface="Helvetica"/>
              </a:rPr>
              <a:t> </a:t>
            </a:r>
            <a:r>
              <a:rPr lang="es-ES" sz="2400" dirty="0" err="1">
                <a:latin typeface="Helvetica"/>
                <a:cs typeface="Helvetica"/>
              </a:rPr>
              <a:t>damaged</a:t>
            </a:r>
            <a:r>
              <a:rPr lang="es-ES" sz="2400" dirty="0">
                <a:latin typeface="Helvetica"/>
                <a:cs typeface="Helvetica"/>
              </a:rPr>
              <a:t> vs. </a:t>
            </a:r>
            <a:r>
              <a:rPr lang="es-ES" sz="2400" dirty="0" err="1">
                <a:latin typeface="Helvetica"/>
                <a:cs typeface="Helvetica"/>
              </a:rPr>
              <a:t>healthy</a:t>
            </a:r>
            <a:r>
              <a:rPr lang="es-ES" sz="2400" dirty="0">
                <a:latin typeface="Helvetica"/>
                <a:cs typeface="Helvetica"/>
              </a:rPr>
              <a:t> </a:t>
            </a:r>
            <a:r>
              <a:rPr lang="es-ES" sz="2400" dirty="0" err="1">
                <a:latin typeface="Helvetica"/>
                <a:cs typeface="Helvetica"/>
              </a:rPr>
              <a:t>areas</a:t>
            </a:r>
            <a:endParaRPr lang="es-ES" sz="2400" dirty="0">
              <a:latin typeface="Helvetica" panose="020B0604020202020204" pitchFamily="34" charset="0"/>
              <a:cs typeface="Helvetica" panose="020B0604020202020204" pitchFamily="34" charset="0"/>
            </a:endParaRPr>
          </a:p>
        </p:txBody>
      </p:sp>
      <p:sp>
        <p:nvSpPr>
          <p:cNvPr id="2" name="Marcador de contenido 2">
            <a:extLst>
              <a:ext uri="{FF2B5EF4-FFF2-40B4-BE49-F238E27FC236}">
                <a16:creationId xmlns:a16="http://schemas.microsoft.com/office/drawing/2014/main" id="{DB95DEED-31A7-D314-C668-90CD69061438}"/>
              </a:ext>
            </a:extLst>
          </p:cNvPr>
          <p:cNvSpPr txBox="1">
            <a:spLocks/>
          </p:cNvSpPr>
          <p:nvPr/>
        </p:nvSpPr>
        <p:spPr>
          <a:xfrm>
            <a:off x="623545" y="2760950"/>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i="1" dirty="0">
                <a:latin typeface="Helvetica"/>
                <a:cs typeface="Helvetica"/>
              </a:rPr>
              <a:t>H1.-</a:t>
            </a:r>
            <a:r>
              <a:rPr lang="es-ES" sz="2400" i="1" dirty="0">
                <a:latin typeface="Helvetica"/>
                <a:cs typeface="Helvetica"/>
              </a:rPr>
              <a:t> </a:t>
            </a:r>
            <a:r>
              <a:rPr lang="es-ES" sz="2400" i="1" dirty="0" err="1">
                <a:latin typeface="Helvetica"/>
                <a:cs typeface="Helvetica"/>
              </a:rPr>
              <a:t>We</a:t>
            </a:r>
            <a:r>
              <a:rPr lang="es-ES" sz="2400" i="1" dirty="0">
                <a:latin typeface="Helvetica"/>
                <a:cs typeface="Helvetica"/>
              </a:rPr>
              <a:t> </a:t>
            </a:r>
            <a:r>
              <a:rPr lang="es-ES" sz="2400" i="1" dirty="0" err="1">
                <a:latin typeface="Helvetica"/>
                <a:cs typeface="Helvetica"/>
              </a:rPr>
              <a:t>expect</a:t>
            </a:r>
            <a:r>
              <a:rPr lang="es-ES" sz="2400" i="1" dirty="0">
                <a:latin typeface="Helvetica"/>
                <a:cs typeface="Helvetica"/>
              </a:rPr>
              <a:t>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size</a:t>
            </a:r>
            <a:r>
              <a:rPr lang="es-ES" sz="2400" i="1" dirty="0">
                <a:latin typeface="Helvetica"/>
                <a:cs typeface="Helvetica"/>
              </a:rPr>
              <a:t>, </a:t>
            </a:r>
            <a:r>
              <a:rPr lang="es-ES" sz="2400" i="1" dirty="0" err="1">
                <a:latin typeface="Helvetica"/>
                <a:cs typeface="Helvetica"/>
              </a:rPr>
              <a:t>past</a:t>
            </a:r>
            <a:r>
              <a:rPr lang="es-ES" sz="2400" i="1" dirty="0">
                <a:latin typeface="Helvetica"/>
                <a:cs typeface="Helvetica"/>
              </a:rPr>
              <a:t>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growth</a:t>
            </a:r>
            <a:r>
              <a:rPr lang="es-ES" sz="2400" i="1" dirty="0">
                <a:latin typeface="Helvetica"/>
                <a:cs typeface="Helvetica"/>
              </a:rPr>
              <a:t>, </a:t>
            </a:r>
            <a:r>
              <a:rPr lang="es-ES" sz="2400" i="1" dirty="0" err="1">
                <a:latin typeface="Helvetica"/>
                <a:cs typeface="Helvetica"/>
              </a:rPr>
              <a:t>competition</a:t>
            </a:r>
            <a:r>
              <a:rPr lang="es-ES" sz="2400" i="1" dirty="0">
                <a:latin typeface="Helvetica"/>
                <a:cs typeface="Helvetica"/>
              </a:rPr>
              <a:t> and </a:t>
            </a:r>
            <a:r>
              <a:rPr lang="es-ES" sz="2400" i="1" dirty="0" err="1">
                <a:latin typeface="Helvetica"/>
                <a:cs typeface="Helvetica"/>
              </a:rPr>
              <a:t>leaves</a:t>
            </a:r>
            <a:r>
              <a:rPr lang="es-ES" sz="2400" i="1" dirty="0">
                <a:latin typeface="Helvetica"/>
                <a:cs typeface="Helvetica"/>
              </a:rPr>
              <a:t> </a:t>
            </a:r>
            <a:r>
              <a:rPr lang="es-ES" sz="2400" i="1" dirty="0" err="1">
                <a:latin typeface="Helvetica"/>
                <a:cs typeface="Helvetica"/>
              </a:rPr>
              <a:t>traits</a:t>
            </a:r>
            <a:r>
              <a:rPr lang="es-ES" sz="2400" i="1" dirty="0">
                <a:latin typeface="Helvetica"/>
                <a:cs typeface="Helvetica"/>
              </a:rPr>
              <a:t> </a:t>
            </a:r>
            <a:r>
              <a:rPr lang="es-ES" sz="2400" i="1" dirty="0" err="1">
                <a:latin typeface="Helvetica"/>
                <a:cs typeface="Helvetica"/>
              </a:rPr>
              <a:t>to</a:t>
            </a:r>
            <a:r>
              <a:rPr lang="es-ES" sz="2400" i="1" dirty="0">
                <a:latin typeface="Helvetica"/>
                <a:cs typeface="Helvetica"/>
              </a:rPr>
              <a:t> determine </a:t>
            </a:r>
            <a:r>
              <a:rPr lang="es-ES" sz="2400" i="1" dirty="0" err="1">
                <a:latin typeface="Helvetica"/>
                <a:cs typeface="Helvetica"/>
              </a:rPr>
              <a:t>tree</a:t>
            </a:r>
            <a:r>
              <a:rPr lang="es-ES" sz="2400" i="1" dirty="0">
                <a:latin typeface="Helvetica"/>
                <a:cs typeface="Helvetica"/>
              </a:rPr>
              <a:t> </a:t>
            </a:r>
            <a:r>
              <a:rPr lang="es-ES" sz="2400" i="1" dirty="0" err="1">
                <a:latin typeface="Helvetica"/>
                <a:cs typeface="Helvetica"/>
              </a:rPr>
              <a:t>vulnerability</a:t>
            </a:r>
            <a:r>
              <a:rPr lang="es-ES" sz="2400" i="1" dirty="0">
                <a:latin typeface="Helvetica"/>
                <a:cs typeface="Helvetica"/>
              </a:rPr>
              <a:t> </a:t>
            </a:r>
            <a:r>
              <a:rPr lang="es-ES" sz="2400" i="1" dirty="0" err="1">
                <a:latin typeface="Helvetica"/>
                <a:cs typeface="Helvetica"/>
              </a:rPr>
              <a:t>to</a:t>
            </a:r>
            <a:r>
              <a:rPr lang="es-ES" sz="2400" i="1" dirty="0">
                <a:latin typeface="Helvetica"/>
                <a:cs typeface="Helvetica"/>
              </a:rPr>
              <a:t> </a:t>
            </a:r>
            <a:r>
              <a:rPr lang="es-ES" sz="2400" i="1" dirty="0" err="1">
                <a:latin typeface="Helvetica"/>
                <a:cs typeface="Helvetica"/>
              </a:rPr>
              <a:t>drought</a:t>
            </a:r>
            <a:r>
              <a:rPr lang="es-ES" sz="2400" i="1" dirty="0">
                <a:latin typeface="Helvetica"/>
                <a:cs typeface="Helvetica"/>
              </a:rPr>
              <a:t>:</a:t>
            </a:r>
          </a:p>
        </p:txBody>
      </p:sp>
      <p:sp>
        <p:nvSpPr>
          <p:cNvPr id="9" name="Título 1">
            <a:extLst>
              <a:ext uri="{FF2B5EF4-FFF2-40B4-BE49-F238E27FC236}">
                <a16:creationId xmlns:a16="http://schemas.microsoft.com/office/drawing/2014/main" id="{F991C1F3-927E-0A5B-823D-083C69038146}"/>
              </a:ext>
            </a:extLst>
          </p:cNvPr>
          <p:cNvSpPr txBox="1">
            <a:spLocks/>
          </p:cNvSpPr>
          <p:nvPr/>
        </p:nvSpPr>
        <p:spPr>
          <a:xfrm>
            <a:off x="0" y="0"/>
            <a:ext cx="9690902" cy="804155"/>
          </a:xfrm>
          <a:prstGeom prst="rect">
            <a:avLst/>
          </a:prstGeom>
          <a:solidFill>
            <a:srgbClr val="218317"/>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Objectives</a:t>
            </a:r>
            <a:r>
              <a:rPr lang="es-ES" sz="3200" b="1" dirty="0">
                <a:solidFill>
                  <a:schemeClr val="bg1"/>
                </a:solidFill>
                <a:latin typeface="Helvetica" panose="020B0604020202020204" pitchFamily="34" charset="0"/>
                <a:cs typeface="Helvetica" panose="020B0604020202020204" pitchFamily="34" charset="0"/>
              </a:rPr>
              <a:t> &amp; </a:t>
            </a:r>
            <a:r>
              <a:rPr lang="es-ES" sz="3200" b="1" dirty="0" err="1">
                <a:solidFill>
                  <a:schemeClr val="bg1"/>
                </a:solidFill>
                <a:latin typeface="Helvetica" panose="020B0604020202020204" pitchFamily="34" charset="0"/>
                <a:cs typeface="Helvetica" panose="020B0604020202020204" pitchFamily="34" charset="0"/>
              </a:rPr>
              <a:t>Hypotheses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10" name="Título 1">
            <a:extLst>
              <a:ext uri="{FF2B5EF4-FFF2-40B4-BE49-F238E27FC236}">
                <a16:creationId xmlns:a16="http://schemas.microsoft.com/office/drawing/2014/main" id="{92B30C19-F59E-C526-9CA2-5F4EEDCFA1C8}"/>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
        <p:nvSpPr>
          <p:cNvPr id="29" name="Marcador de contenido 2">
            <a:extLst>
              <a:ext uri="{FF2B5EF4-FFF2-40B4-BE49-F238E27FC236}">
                <a16:creationId xmlns:a16="http://schemas.microsoft.com/office/drawing/2014/main" id="{EC3B70F2-E30A-36DE-F606-69C112A48A9A}"/>
              </a:ext>
            </a:extLst>
          </p:cNvPr>
          <p:cNvSpPr txBox="1">
            <a:spLocks/>
          </p:cNvSpPr>
          <p:nvPr/>
        </p:nvSpPr>
        <p:spPr>
          <a:xfrm>
            <a:off x="643378" y="3907778"/>
            <a:ext cx="10925077" cy="2561279"/>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18317"/>
              </a:buClr>
            </a:pPr>
            <a:r>
              <a:rPr lang="es-ES" sz="2400" b="1" dirty="0" err="1">
                <a:latin typeface="Helvetica"/>
                <a:cs typeface="Helvetica"/>
              </a:rPr>
              <a:t>Size</a:t>
            </a:r>
            <a:r>
              <a:rPr lang="es-ES" sz="2400" b="1" dirty="0">
                <a:latin typeface="Helvetica"/>
                <a:cs typeface="Helvetica"/>
              </a:rPr>
              <a:t>: </a:t>
            </a:r>
            <a:r>
              <a:rPr lang="es-ES" sz="2400" b="1" dirty="0" err="1">
                <a:latin typeface="Helvetica"/>
                <a:cs typeface="Helvetica"/>
              </a:rPr>
              <a:t>bigger</a:t>
            </a:r>
            <a:r>
              <a:rPr lang="es-ES" sz="2400" b="1" dirty="0">
                <a:latin typeface="Helvetica"/>
                <a:cs typeface="Helvetica"/>
              </a:rPr>
              <a:t> </a:t>
            </a:r>
            <a:r>
              <a:rPr lang="es-ES" sz="2400" b="1" dirty="0" err="1">
                <a:latin typeface="Helvetica"/>
                <a:cs typeface="Helvetica"/>
              </a:rPr>
              <a:t>trees</a:t>
            </a:r>
            <a:r>
              <a:rPr lang="es-ES" sz="2400" b="1" dirty="0">
                <a:latin typeface="Helvetica"/>
                <a:cs typeface="Helvetica"/>
              </a:rPr>
              <a:t> </a:t>
            </a:r>
            <a:r>
              <a:rPr lang="es-ES" sz="2400" dirty="0" err="1">
                <a:latin typeface="Helvetica"/>
                <a:cs typeface="Helvetica"/>
              </a:rPr>
              <a:t>will</a:t>
            </a:r>
            <a:r>
              <a:rPr lang="es-ES" sz="2400" dirty="0">
                <a:latin typeface="Helvetica"/>
                <a:cs typeface="Helvetica"/>
              </a:rPr>
              <a:t> be more vulnerable </a:t>
            </a:r>
            <a:r>
              <a:rPr lang="es-ES" sz="2400" dirty="0" err="1">
                <a:latin typeface="Helvetica"/>
                <a:cs typeface="Helvetica"/>
              </a:rPr>
              <a:t>due</a:t>
            </a:r>
            <a:r>
              <a:rPr lang="es-ES" sz="2400" dirty="0">
                <a:latin typeface="Helvetica"/>
                <a:cs typeface="Helvetica"/>
              </a:rPr>
              <a:t>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hydraulic</a:t>
            </a:r>
            <a:r>
              <a:rPr lang="es-ES" sz="2400" dirty="0">
                <a:latin typeface="Helvetica"/>
                <a:cs typeface="Helvetica"/>
              </a:rPr>
              <a:t> </a:t>
            </a:r>
            <a:r>
              <a:rPr lang="es-ES" sz="2400" dirty="0" err="1">
                <a:latin typeface="Helvetica"/>
                <a:cs typeface="Helvetica"/>
              </a:rPr>
              <a:t>limitations</a:t>
            </a:r>
            <a:r>
              <a:rPr lang="es-ES" sz="2400" dirty="0">
                <a:latin typeface="Helvetica"/>
                <a:cs typeface="Helvetica"/>
              </a:rPr>
              <a:t> (</a:t>
            </a:r>
            <a:r>
              <a:rPr lang="es-ES" sz="2400" dirty="0" err="1">
                <a:latin typeface="Helvetica"/>
                <a:cs typeface="Helvetica"/>
              </a:rPr>
              <a:t>increased</a:t>
            </a:r>
            <a:r>
              <a:rPr lang="es-ES" sz="2400" dirty="0">
                <a:latin typeface="Helvetica"/>
                <a:cs typeface="Helvetica"/>
              </a:rPr>
              <a:t> </a:t>
            </a:r>
            <a:r>
              <a:rPr lang="es-ES" sz="2400" dirty="0" err="1">
                <a:latin typeface="Helvetica"/>
                <a:cs typeface="Helvetica"/>
              </a:rPr>
              <a:t>hydraulic</a:t>
            </a:r>
            <a:r>
              <a:rPr lang="es-ES" sz="2400" dirty="0">
                <a:latin typeface="Helvetica"/>
                <a:cs typeface="Helvetica"/>
              </a:rPr>
              <a:t> </a:t>
            </a:r>
            <a:r>
              <a:rPr lang="es-ES" sz="2400" dirty="0" err="1">
                <a:latin typeface="Helvetica"/>
                <a:cs typeface="Helvetica"/>
              </a:rPr>
              <a:t>resistance</a:t>
            </a:r>
            <a:r>
              <a:rPr lang="es-ES" sz="2400" dirty="0">
                <a:latin typeface="Helvetica"/>
                <a:cs typeface="Helvetica"/>
              </a:rPr>
              <a:t>) </a:t>
            </a:r>
            <a:r>
              <a:rPr lang="es-ES" sz="2400" dirty="0">
                <a:latin typeface="Helvetica"/>
                <a:cs typeface="Helvetica"/>
                <a:sym typeface="Wingdings" panose="05000000000000000000" pitchFamily="2" charset="2"/>
              </a:rPr>
              <a:t> </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height</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age</a:t>
            </a:r>
            <a:r>
              <a:rPr lang="es-ES" sz="2400" b="1" dirty="0">
                <a:latin typeface="Helvetica"/>
                <a:cs typeface="Helvetica"/>
                <a:sym typeface="Wingdings" panose="05000000000000000000" pitchFamily="2" charset="2"/>
              </a:rPr>
              <a:t> &amp; </a:t>
            </a:r>
            <a:r>
              <a:rPr lang="es-ES" sz="2400" b="1" dirty="0" err="1">
                <a:latin typeface="Helvetica"/>
                <a:cs typeface="Helvetica"/>
                <a:sym typeface="Wingdings" panose="05000000000000000000" pitchFamily="2" charset="2"/>
              </a:rPr>
              <a:t>dbh</a:t>
            </a:r>
            <a:r>
              <a:rPr lang="es-ES" sz="2400" b="1" dirty="0">
                <a:latin typeface="Helvetica"/>
                <a:cs typeface="Helvetica"/>
                <a:sym typeface="Wingdings" panose="05000000000000000000" pitchFamily="2" charset="2"/>
              </a:rPr>
              <a:t> in </a:t>
            </a:r>
            <a:r>
              <a:rPr lang="es-ES" sz="2400" b="1" dirty="0" err="1">
                <a:solidFill>
                  <a:srgbClr val="C00000"/>
                </a:solidFill>
                <a:latin typeface="Helvetica"/>
                <a:cs typeface="Helvetica"/>
                <a:sym typeface="Wingdings" panose="05000000000000000000" pitchFamily="2" charset="2"/>
              </a:rPr>
              <a:t>declining</a:t>
            </a:r>
            <a:r>
              <a:rPr lang="es-ES" sz="2400" b="1" dirty="0">
                <a:solidFill>
                  <a:srgbClr val="C00000"/>
                </a:solidFill>
                <a:latin typeface="Helvetica"/>
                <a:cs typeface="Helvetica"/>
                <a:sym typeface="Wingdings" panose="05000000000000000000" pitchFamily="2" charset="2"/>
              </a:rPr>
              <a:t> sites</a:t>
            </a:r>
            <a:r>
              <a:rPr lang="es-ES" sz="2400" b="1" dirty="0">
                <a:solidFill>
                  <a:srgbClr val="C00000"/>
                </a:solidFill>
                <a:latin typeface="Helvetica"/>
                <a:cs typeface="Helvetica"/>
              </a:rPr>
              <a:t> </a:t>
            </a:r>
          </a:p>
          <a:p>
            <a:pPr>
              <a:buClr>
                <a:srgbClr val="218317"/>
              </a:buClr>
            </a:pPr>
            <a:r>
              <a:rPr lang="es-ES" sz="2400" b="1" dirty="0" err="1">
                <a:latin typeface="Helvetica"/>
                <a:cs typeface="Helvetica"/>
              </a:rPr>
              <a:t>Growth</a:t>
            </a:r>
            <a:r>
              <a:rPr lang="es-ES" sz="2400" b="1" dirty="0">
                <a:latin typeface="Helvetica"/>
                <a:cs typeface="Helvetica"/>
              </a:rPr>
              <a:t>: </a:t>
            </a:r>
            <a:r>
              <a:rPr lang="es-ES" sz="2400" dirty="0" err="1">
                <a:latin typeface="Helvetica"/>
                <a:cs typeface="Helvetica"/>
              </a:rPr>
              <a:t>we</a:t>
            </a:r>
            <a:r>
              <a:rPr lang="es-ES" sz="2400" dirty="0">
                <a:latin typeface="Helvetica"/>
                <a:cs typeface="Helvetica"/>
              </a:rPr>
              <a:t> </a:t>
            </a:r>
            <a:r>
              <a:rPr lang="es-ES" sz="2400" dirty="0" err="1">
                <a:latin typeface="Helvetica"/>
                <a:cs typeface="Helvetica"/>
              </a:rPr>
              <a:t>expect</a:t>
            </a:r>
            <a:r>
              <a:rPr lang="es-ES" sz="2400" dirty="0">
                <a:latin typeface="Helvetica"/>
                <a:cs typeface="Helvetica"/>
              </a:rPr>
              <a:t> </a:t>
            </a:r>
            <a:r>
              <a:rPr lang="es-ES" sz="2400" b="1" dirty="0">
                <a:latin typeface="Helvetica"/>
                <a:cs typeface="Helvetica"/>
              </a:rPr>
              <a:t>a </a:t>
            </a:r>
            <a:r>
              <a:rPr lang="es-ES" sz="2400" b="1" dirty="0" err="1">
                <a:latin typeface="Helvetica"/>
                <a:cs typeface="Helvetica"/>
              </a:rPr>
              <a:t>reduced</a:t>
            </a:r>
            <a:r>
              <a:rPr lang="es-ES" sz="2400" b="1" dirty="0">
                <a:latin typeface="Helvetica"/>
                <a:cs typeface="Helvetica"/>
              </a:rPr>
              <a:t> </a:t>
            </a:r>
            <a:r>
              <a:rPr lang="es-ES" sz="2400" b="1" dirty="0" err="1">
                <a:latin typeface="Helvetica"/>
                <a:cs typeface="Helvetica"/>
              </a:rPr>
              <a:t>growth</a:t>
            </a:r>
            <a:r>
              <a:rPr lang="es-ES" sz="2400" b="1" dirty="0">
                <a:latin typeface="Helvetica"/>
                <a:cs typeface="Helvetica"/>
              </a:rPr>
              <a:t> </a:t>
            </a:r>
            <a:r>
              <a:rPr lang="es-ES" sz="2400" b="1" dirty="0" err="1">
                <a:latin typeface="Helvetica"/>
                <a:cs typeface="Helvetica"/>
              </a:rPr>
              <a:t>trend</a:t>
            </a:r>
            <a:r>
              <a:rPr lang="es-ES" sz="2400" b="1" dirty="0">
                <a:latin typeface="Helvetica"/>
                <a:cs typeface="Helvetica"/>
              </a:rPr>
              <a:t> in </a:t>
            </a:r>
            <a:r>
              <a:rPr lang="es-ES" sz="2400" dirty="0">
                <a:latin typeface="Helvetica"/>
                <a:cs typeface="Helvetica"/>
              </a:rPr>
              <a:t> </a:t>
            </a:r>
            <a:r>
              <a:rPr lang="es-ES" sz="2400" dirty="0">
                <a:latin typeface="Helvetica"/>
                <a:cs typeface="Helvetica"/>
                <a:sym typeface="Wingdings" panose="05000000000000000000" pitchFamily="2" charset="2"/>
              </a:rPr>
              <a:t> </a:t>
            </a:r>
            <a:r>
              <a:rPr lang="es-ES" sz="2400" b="1" dirty="0">
                <a:latin typeface="Helvetica"/>
                <a:cs typeface="Helvetica"/>
                <a:sym typeface="Wingdings" panose="05000000000000000000" pitchFamily="2" charset="2"/>
              </a:rPr>
              <a:t>↓ BAI in </a:t>
            </a:r>
            <a:r>
              <a:rPr lang="es-ES" sz="2400" b="1" dirty="0" err="1">
                <a:solidFill>
                  <a:srgbClr val="C00000"/>
                </a:solidFill>
                <a:latin typeface="Helvetica"/>
                <a:cs typeface="Helvetica"/>
                <a:sym typeface="Wingdings" panose="05000000000000000000" pitchFamily="2" charset="2"/>
              </a:rPr>
              <a:t>declining</a:t>
            </a:r>
            <a:r>
              <a:rPr lang="es-ES" sz="2400" b="1" dirty="0">
                <a:solidFill>
                  <a:srgbClr val="C00000"/>
                </a:solidFill>
                <a:latin typeface="Helvetica"/>
                <a:cs typeface="Helvetica"/>
                <a:sym typeface="Wingdings" panose="05000000000000000000" pitchFamily="2" charset="2"/>
              </a:rPr>
              <a:t> sites</a:t>
            </a:r>
          </a:p>
          <a:p>
            <a:pPr>
              <a:buClr>
                <a:srgbClr val="218317"/>
              </a:buClr>
            </a:pPr>
            <a:r>
              <a:rPr lang="es-ES" sz="2400" b="1" dirty="0" err="1">
                <a:latin typeface="Helvetica"/>
                <a:cs typeface="Helvetica"/>
                <a:sym typeface="Wingdings" panose="05000000000000000000" pitchFamily="2" charset="2"/>
              </a:rPr>
              <a:t>Leaves</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traits</a:t>
            </a:r>
            <a:r>
              <a:rPr lang="es-ES" sz="2400" b="1" dirty="0">
                <a:latin typeface="Helvetica"/>
                <a:cs typeface="Helvetica"/>
                <a:sym typeface="Wingdings" panose="05000000000000000000" pitchFamily="2" charset="2"/>
              </a:rPr>
              <a:t>: </a:t>
            </a:r>
            <a:r>
              <a:rPr lang="es-ES" sz="2400" dirty="0">
                <a:latin typeface="Helvetica"/>
                <a:cs typeface="Helvetica"/>
                <a:sym typeface="Wingdings" panose="05000000000000000000" pitchFamily="2" charset="2"/>
              </a:rPr>
              <a:t>a </a:t>
            </a:r>
            <a:r>
              <a:rPr lang="es-ES" sz="2400" dirty="0" err="1">
                <a:latin typeface="Helvetica"/>
                <a:cs typeface="Helvetica"/>
                <a:sym typeface="Wingdings" panose="05000000000000000000" pitchFamily="2" charset="2"/>
              </a:rPr>
              <a:t>higher</a:t>
            </a:r>
            <a:r>
              <a:rPr lang="es-ES" sz="2400" dirty="0">
                <a:latin typeface="Helvetica"/>
                <a:cs typeface="Helvetica"/>
                <a:sym typeface="Wingdings" panose="05000000000000000000" pitchFamily="2" charset="2"/>
              </a:rPr>
              <a:t> SLA leads </a:t>
            </a:r>
            <a:r>
              <a:rPr lang="es-ES" sz="2400" dirty="0" err="1">
                <a:latin typeface="Helvetica"/>
                <a:cs typeface="Helvetica"/>
                <a:sym typeface="Wingdings" panose="05000000000000000000" pitchFamily="2" charset="2"/>
              </a:rPr>
              <a:t>to</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faster</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water</a:t>
            </a:r>
            <a:r>
              <a:rPr lang="es-ES" sz="2400" dirty="0">
                <a:latin typeface="Helvetica"/>
                <a:cs typeface="Helvetica"/>
                <a:sym typeface="Wingdings" panose="05000000000000000000" pitchFamily="2" charset="2"/>
              </a:rPr>
              <a:t> los  </a:t>
            </a:r>
            <a:r>
              <a:rPr lang="es-ES" sz="2400" b="1" dirty="0">
                <a:latin typeface="Helvetica"/>
                <a:cs typeface="Helvetica"/>
                <a:sym typeface="Wingdings" panose="05000000000000000000" pitchFamily="2" charset="2"/>
              </a:rPr>
              <a:t>↑ SLA in </a:t>
            </a:r>
            <a:r>
              <a:rPr lang="es-ES" sz="2400" b="1" dirty="0" err="1">
                <a:solidFill>
                  <a:srgbClr val="C00000"/>
                </a:solidFill>
                <a:latin typeface="Helvetica"/>
                <a:cs typeface="Helvetica"/>
                <a:sym typeface="Wingdings" panose="05000000000000000000" pitchFamily="2" charset="2"/>
              </a:rPr>
              <a:t>declining</a:t>
            </a:r>
            <a:r>
              <a:rPr lang="es-ES" sz="2400" b="1" dirty="0">
                <a:solidFill>
                  <a:srgbClr val="C00000"/>
                </a:solidFill>
                <a:latin typeface="Helvetica"/>
                <a:cs typeface="Helvetica"/>
                <a:sym typeface="Wingdings" panose="05000000000000000000" pitchFamily="2" charset="2"/>
              </a:rPr>
              <a:t> sites</a:t>
            </a:r>
            <a:r>
              <a:rPr lang="es-ES" sz="2400" b="1" dirty="0">
                <a:solidFill>
                  <a:srgbClr val="C00000"/>
                </a:solidFill>
                <a:latin typeface="Helvetica"/>
                <a:cs typeface="Helvetica"/>
              </a:rPr>
              <a:t> </a:t>
            </a:r>
          </a:p>
          <a:p>
            <a:pPr>
              <a:buClr>
                <a:srgbClr val="218317"/>
              </a:buClr>
            </a:pPr>
            <a:r>
              <a:rPr lang="es-ES" sz="2400" b="1" dirty="0" err="1">
                <a:latin typeface="Helvetica"/>
                <a:cs typeface="Helvetica"/>
              </a:rPr>
              <a:t>Competition</a:t>
            </a:r>
            <a:r>
              <a:rPr lang="es-ES" sz="2400" b="1" dirty="0">
                <a:latin typeface="Helvetica"/>
                <a:cs typeface="Helvetica"/>
              </a:rPr>
              <a:t>: </a:t>
            </a:r>
            <a:r>
              <a:rPr lang="es-ES" sz="2400" dirty="0" err="1">
                <a:latin typeface="Helvetica"/>
                <a:cs typeface="Helvetica"/>
              </a:rPr>
              <a:t>competition</a:t>
            </a:r>
            <a:r>
              <a:rPr lang="es-ES" sz="2400" dirty="0">
                <a:latin typeface="Helvetica"/>
                <a:cs typeface="Helvetica"/>
              </a:rPr>
              <a:t> reduces </a:t>
            </a:r>
            <a:r>
              <a:rPr lang="es-ES" sz="2400" dirty="0" err="1">
                <a:latin typeface="Helvetica"/>
                <a:cs typeface="Helvetica"/>
              </a:rPr>
              <a:t>water</a:t>
            </a:r>
            <a:r>
              <a:rPr lang="es-ES" sz="2400" dirty="0">
                <a:latin typeface="Helvetica"/>
                <a:cs typeface="Helvetica"/>
              </a:rPr>
              <a:t> </a:t>
            </a:r>
            <a:r>
              <a:rPr lang="es-ES" sz="2400" dirty="0" err="1">
                <a:latin typeface="Helvetica"/>
                <a:cs typeface="Helvetica"/>
              </a:rPr>
              <a:t>availability</a:t>
            </a:r>
            <a:r>
              <a:rPr lang="es-ES" sz="2400" dirty="0">
                <a:latin typeface="Helvetica"/>
                <a:cs typeface="Helvetica"/>
              </a:rPr>
              <a:t> per </a:t>
            </a:r>
            <a:r>
              <a:rPr lang="es-ES" sz="2400" dirty="0" err="1">
                <a:latin typeface="Helvetica"/>
                <a:cs typeface="Helvetica"/>
              </a:rPr>
              <a:t>tree</a:t>
            </a:r>
            <a:r>
              <a:rPr lang="es-ES" sz="2400" dirty="0">
                <a:latin typeface="Helvetica"/>
                <a:cs typeface="Helvetica"/>
              </a:rPr>
              <a:t> and </a:t>
            </a:r>
            <a:r>
              <a:rPr lang="es-ES" sz="2400" dirty="0" err="1">
                <a:latin typeface="Helvetica"/>
                <a:cs typeface="Helvetica"/>
              </a:rPr>
              <a:t>increases</a:t>
            </a:r>
            <a:r>
              <a:rPr lang="es-ES" sz="2400" dirty="0">
                <a:latin typeface="Helvetica"/>
                <a:cs typeface="Helvetica"/>
              </a:rPr>
              <a:t> </a:t>
            </a:r>
            <a:r>
              <a:rPr lang="es-ES" sz="2400" dirty="0" err="1">
                <a:latin typeface="Helvetica"/>
                <a:cs typeface="Helvetica"/>
              </a:rPr>
              <a:t>water</a:t>
            </a:r>
            <a:r>
              <a:rPr lang="es-ES" sz="2400" dirty="0">
                <a:latin typeface="Helvetica"/>
                <a:cs typeface="Helvetica"/>
              </a:rPr>
              <a:t> </a:t>
            </a:r>
            <a:r>
              <a:rPr lang="es-ES" sz="2400" dirty="0" err="1">
                <a:latin typeface="Helvetica"/>
                <a:cs typeface="Helvetica"/>
              </a:rPr>
              <a:t>interception</a:t>
            </a:r>
            <a:r>
              <a:rPr lang="es-ES" sz="2400" dirty="0">
                <a:latin typeface="Helvetica"/>
                <a:cs typeface="Helvetica"/>
              </a:rPr>
              <a:t> </a:t>
            </a:r>
            <a:r>
              <a:rPr lang="es-ES" sz="2400" dirty="0">
                <a:latin typeface="Helvetica"/>
                <a:cs typeface="Helvetica"/>
                <a:sym typeface="Wingdings" panose="05000000000000000000" pitchFamily="2" charset="2"/>
              </a:rPr>
              <a:t> </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Hegyi</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index</a:t>
            </a:r>
            <a:r>
              <a:rPr lang="es-ES" sz="2400" b="1" dirty="0">
                <a:latin typeface="Helvetica"/>
                <a:cs typeface="Helvetica"/>
                <a:sym typeface="Wingdings" panose="05000000000000000000" pitchFamily="2" charset="2"/>
              </a:rPr>
              <a:t> in </a:t>
            </a:r>
            <a:r>
              <a:rPr lang="es-ES" sz="2400" b="1" dirty="0" err="1">
                <a:solidFill>
                  <a:srgbClr val="C00000"/>
                </a:solidFill>
                <a:latin typeface="Helvetica"/>
                <a:cs typeface="Helvetica"/>
                <a:sym typeface="Wingdings" panose="05000000000000000000" pitchFamily="2" charset="2"/>
              </a:rPr>
              <a:t>declining</a:t>
            </a:r>
            <a:r>
              <a:rPr lang="es-ES" sz="2400" b="1" dirty="0">
                <a:solidFill>
                  <a:srgbClr val="C00000"/>
                </a:solidFill>
                <a:latin typeface="Helvetica"/>
                <a:cs typeface="Helvetica"/>
                <a:sym typeface="Wingdings" panose="05000000000000000000" pitchFamily="2" charset="2"/>
              </a:rPr>
              <a:t> sites</a:t>
            </a:r>
            <a:r>
              <a:rPr lang="es-ES" sz="2400" b="1" dirty="0">
                <a:solidFill>
                  <a:srgbClr val="C00000"/>
                </a:solidFill>
                <a:latin typeface="Helvetica"/>
                <a:cs typeface="Helvetica"/>
              </a:rPr>
              <a:t> </a:t>
            </a:r>
            <a:endParaRPr lang="es-ES" sz="2400" b="1" dirty="0">
              <a:latin typeface="Helvetica"/>
              <a:cs typeface="Helvetica"/>
            </a:endParaRPr>
          </a:p>
          <a:p>
            <a:pPr>
              <a:buClr>
                <a:srgbClr val="218317"/>
              </a:buClr>
            </a:pPr>
            <a:endParaRPr lang="es-ES" sz="2400" b="1" dirty="0">
              <a:solidFill>
                <a:srgbClr val="C00000"/>
              </a:solidFill>
              <a:latin typeface="Helvetica"/>
              <a:cs typeface="Helvetica"/>
            </a:endParaRPr>
          </a:p>
        </p:txBody>
      </p:sp>
    </p:spTree>
    <p:extLst>
      <p:ext uri="{BB962C8B-B14F-4D97-AF65-F5344CB8AC3E}">
        <p14:creationId xmlns:p14="http://schemas.microsoft.com/office/powerpoint/2010/main" val="2896339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55942-0646-1F75-3FD6-FB877A4F628D}"/>
            </a:ext>
          </a:extLst>
        </p:cNvPr>
        <p:cNvGrpSpPr/>
        <p:nvPr/>
      </p:nvGrpSpPr>
      <p:grpSpPr>
        <a:xfrm>
          <a:off x="0" y="0"/>
          <a:ext cx="0" cy="0"/>
          <a:chOff x="0" y="0"/>
          <a:chExt cx="0" cy="0"/>
        </a:xfrm>
      </p:grpSpPr>
      <p:sp>
        <p:nvSpPr>
          <p:cNvPr id="2" name="Marcador de contenido 2">
            <a:extLst>
              <a:ext uri="{FF2B5EF4-FFF2-40B4-BE49-F238E27FC236}">
                <a16:creationId xmlns:a16="http://schemas.microsoft.com/office/drawing/2014/main" id="{0EDCCFA2-7421-E9F8-432B-5107BCD8FD10}"/>
              </a:ext>
            </a:extLst>
          </p:cNvPr>
          <p:cNvSpPr txBox="1">
            <a:spLocks/>
          </p:cNvSpPr>
          <p:nvPr/>
        </p:nvSpPr>
        <p:spPr>
          <a:xfrm>
            <a:off x="633461" y="1198313"/>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dirty="0" err="1">
                <a:latin typeface="Helvetica"/>
                <a:cs typeface="Helvetica"/>
              </a:rPr>
              <a:t>Obj</a:t>
            </a:r>
            <a:r>
              <a:rPr lang="es-ES" sz="2400" b="1" dirty="0">
                <a:latin typeface="Helvetica"/>
                <a:cs typeface="Helvetica"/>
              </a:rPr>
              <a:t>. 2.-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assess</a:t>
            </a:r>
            <a:r>
              <a:rPr lang="es-ES" sz="2400" dirty="0">
                <a:latin typeface="Helvetica"/>
                <a:cs typeface="Helvetica"/>
              </a:rPr>
              <a:t> </a:t>
            </a:r>
            <a:r>
              <a:rPr lang="es-ES" sz="2400" dirty="0" err="1">
                <a:latin typeface="Helvetica"/>
                <a:cs typeface="Helvetica"/>
              </a:rPr>
              <a:t>morphological</a:t>
            </a:r>
            <a:r>
              <a:rPr lang="es-ES" sz="2400" dirty="0">
                <a:latin typeface="Helvetica"/>
                <a:cs typeface="Helvetica"/>
              </a:rPr>
              <a:t> and </a:t>
            </a:r>
            <a:r>
              <a:rPr lang="es-ES" sz="2400" dirty="0" err="1">
                <a:latin typeface="Helvetica"/>
                <a:cs typeface="Helvetica"/>
              </a:rPr>
              <a:t>physiological</a:t>
            </a:r>
            <a:r>
              <a:rPr lang="es-ES" sz="2400" b="1" dirty="0">
                <a:latin typeface="Helvetica"/>
                <a:cs typeface="Helvetica"/>
              </a:rPr>
              <a:t> responses </a:t>
            </a:r>
            <a:r>
              <a:rPr lang="es-ES" sz="2400" b="1" dirty="0" err="1">
                <a:latin typeface="Helvetica"/>
                <a:cs typeface="Helvetica"/>
              </a:rPr>
              <a:t>to</a:t>
            </a:r>
            <a:r>
              <a:rPr lang="es-ES" sz="2400" b="1" dirty="0">
                <a:latin typeface="Helvetica"/>
                <a:cs typeface="Helvetica"/>
              </a:rPr>
              <a:t> </a:t>
            </a:r>
            <a:r>
              <a:rPr lang="es-ES" sz="2400" b="1" dirty="0" err="1">
                <a:latin typeface="Helvetica"/>
                <a:cs typeface="Helvetica"/>
              </a:rPr>
              <a:t>drought</a:t>
            </a:r>
            <a:r>
              <a:rPr lang="es-ES" sz="2400" b="1" dirty="0">
                <a:latin typeface="Helvetica"/>
                <a:cs typeface="Helvetica"/>
              </a:rPr>
              <a:t>, </a:t>
            </a:r>
            <a:r>
              <a:rPr lang="es-ES" sz="2400" dirty="0">
                <a:latin typeface="Helvetica"/>
                <a:cs typeface="Helvetica"/>
              </a:rPr>
              <a:t>and </a:t>
            </a:r>
            <a:r>
              <a:rPr lang="es-ES" sz="2400" b="1" dirty="0" err="1">
                <a:latin typeface="Helvetica"/>
                <a:cs typeface="Helvetica"/>
              </a:rPr>
              <a:t>what</a:t>
            </a:r>
            <a:r>
              <a:rPr lang="es-ES" sz="2400" b="1" dirty="0">
                <a:latin typeface="Helvetica"/>
                <a:cs typeface="Helvetica"/>
              </a:rPr>
              <a:t> </a:t>
            </a:r>
            <a:r>
              <a:rPr lang="es-ES" sz="2400" b="1" dirty="0" err="1">
                <a:latin typeface="Helvetica"/>
                <a:cs typeface="Helvetica"/>
              </a:rPr>
              <a:t>traits</a:t>
            </a:r>
            <a:r>
              <a:rPr lang="es-ES" sz="2400" b="1" dirty="0">
                <a:latin typeface="Helvetica"/>
                <a:cs typeface="Helvetica"/>
              </a:rPr>
              <a:t> are more </a:t>
            </a:r>
            <a:r>
              <a:rPr lang="es-ES" sz="2400" b="1" dirty="0" err="1">
                <a:latin typeface="Helvetica"/>
                <a:cs typeface="Helvetica"/>
              </a:rPr>
              <a:t>affected</a:t>
            </a:r>
            <a:endParaRPr lang="es-ES" sz="2400" b="1" dirty="0">
              <a:latin typeface="Helvetica"/>
              <a:cs typeface="Helvetica"/>
            </a:endParaRPr>
          </a:p>
        </p:txBody>
      </p:sp>
      <p:sp>
        <p:nvSpPr>
          <p:cNvPr id="9" name="Título 1">
            <a:extLst>
              <a:ext uri="{FF2B5EF4-FFF2-40B4-BE49-F238E27FC236}">
                <a16:creationId xmlns:a16="http://schemas.microsoft.com/office/drawing/2014/main" id="{5CD6406B-5875-AE5D-371F-5AE2CA33EA36}"/>
              </a:ext>
            </a:extLst>
          </p:cNvPr>
          <p:cNvSpPr txBox="1">
            <a:spLocks/>
          </p:cNvSpPr>
          <p:nvPr/>
        </p:nvSpPr>
        <p:spPr>
          <a:xfrm>
            <a:off x="0" y="0"/>
            <a:ext cx="9690902" cy="804155"/>
          </a:xfrm>
          <a:prstGeom prst="rect">
            <a:avLst/>
          </a:prstGeom>
          <a:solidFill>
            <a:srgbClr val="218317"/>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Objectives</a:t>
            </a:r>
            <a:r>
              <a:rPr lang="es-ES" sz="3200" b="1" dirty="0">
                <a:solidFill>
                  <a:schemeClr val="bg1"/>
                </a:solidFill>
                <a:latin typeface="Helvetica" panose="020B0604020202020204" pitchFamily="34" charset="0"/>
                <a:cs typeface="Helvetica" panose="020B0604020202020204" pitchFamily="34" charset="0"/>
              </a:rPr>
              <a:t> &amp; </a:t>
            </a:r>
            <a:r>
              <a:rPr lang="es-ES" sz="3200" b="1" dirty="0" err="1">
                <a:solidFill>
                  <a:schemeClr val="bg1"/>
                </a:solidFill>
                <a:latin typeface="Helvetica" panose="020B0604020202020204" pitchFamily="34" charset="0"/>
                <a:cs typeface="Helvetica" panose="020B0604020202020204" pitchFamily="34" charset="0"/>
              </a:rPr>
              <a:t>Hypotheses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10" name="Título 1">
            <a:extLst>
              <a:ext uri="{FF2B5EF4-FFF2-40B4-BE49-F238E27FC236}">
                <a16:creationId xmlns:a16="http://schemas.microsoft.com/office/drawing/2014/main" id="{9D0E8E0D-4EC8-AF06-2C84-F69377E87B0A}"/>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17176B63-C01E-6AD5-661C-4C9D8D28D38C}"/>
              </a:ext>
            </a:extLst>
          </p:cNvPr>
          <p:cNvSpPr txBox="1">
            <a:spLocks/>
          </p:cNvSpPr>
          <p:nvPr/>
        </p:nvSpPr>
        <p:spPr>
          <a:xfrm>
            <a:off x="633459" y="2041583"/>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i="1" dirty="0">
                <a:latin typeface="Helvetica"/>
                <a:cs typeface="Helvetica"/>
              </a:rPr>
              <a:t>H2.-</a:t>
            </a:r>
            <a:r>
              <a:rPr lang="es-ES" sz="2400" i="1" dirty="0">
                <a:latin typeface="Helvetica"/>
                <a:cs typeface="Helvetica"/>
              </a:rPr>
              <a:t> </a:t>
            </a:r>
            <a:r>
              <a:rPr lang="es-ES" sz="2400" i="1" dirty="0" err="1">
                <a:latin typeface="Helvetica"/>
                <a:cs typeface="Helvetica"/>
              </a:rPr>
              <a:t>We</a:t>
            </a:r>
            <a:r>
              <a:rPr lang="es-ES" sz="2400" i="1" dirty="0">
                <a:latin typeface="Helvetica"/>
                <a:cs typeface="Helvetica"/>
              </a:rPr>
              <a:t> </a:t>
            </a:r>
            <a:r>
              <a:rPr lang="es-ES" sz="2400" i="1" dirty="0" err="1">
                <a:latin typeface="Helvetica"/>
                <a:cs typeface="Helvetica"/>
              </a:rPr>
              <a:t>expect</a:t>
            </a:r>
            <a:r>
              <a:rPr lang="es-ES" sz="2400" i="1" dirty="0">
                <a:latin typeface="Helvetica"/>
                <a:cs typeface="Helvetica"/>
              </a:rPr>
              <a:t> </a:t>
            </a:r>
            <a:r>
              <a:rPr lang="es-ES" sz="2400" i="1" dirty="0" err="1">
                <a:latin typeface="Helvetica"/>
                <a:cs typeface="Helvetica"/>
              </a:rPr>
              <a:t>drought-induced</a:t>
            </a:r>
            <a:r>
              <a:rPr lang="es-ES" sz="2400" i="1" dirty="0">
                <a:latin typeface="Helvetica"/>
                <a:cs typeface="Helvetica"/>
              </a:rPr>
              <a:t> </a:t>
            </a:r>
            <a:r>
              <a:rPr lang="es-ES" sz="2400" i="1" dirty="0" err="1">
                <a:latin typeface="Helvetica"/>
                <a:cs typeface="Helvetica"/>
              </a:rPr>
              <a:t>reduced</a:t>
            </a:r>
            <a:r>
              <a:rPr lang="es-ES" sz="2400" i="1" dirty="0">
                <a:latin typeface="Helvetica"/>
                <a:cs typeface="Helvetica"/>
              </a:rPr>
              <a:t> </a:t>
            </a:r>
            <a:r>
              <a:rPr lang="es-ES" sz="2400" i="1" dirty="0" err="1">
                <a:latin typeface="Helvetica"/>
                <a:cs typeface="Helvetica"/>
              </a:rPr>
              <a:t>photosynthetic</a:t>
            </a:r>
            <a:r>
              <a:rPr lang="es-ES" sz="2400" i="1" dirty="0">
                <a:latin typeface="Helvetica"/>
                <a:cs typeface="Helvetica"/>
              </a:rPr>
              <a:t> </a:t>
            </a:r>
            <a:r>
              <a:rPr lang="es-ES" sz="2400" i="1" dirty="0" err="1">
                <a:latin typeface="Helvetica"/>
                <a:cs typeface="Helvetica"/>
              </a:rPr>
              <a:t>pigments</a:t>
            </a:r>
            <a:r>
              <a:rPr lang="es-ES" sz="2400" i="1" dirty="0">
                <a:latin typeface="Helvetica"/>
                <a:cs typeface="Helvetica"/>
              </a:rPr>
              <a:t> </a:t>
            </a:r>
            <a:r>
              <a:rPr lang="es-ES" sz="2400" i="1" dirty="0" err="1">
                <a:latin typeface="Helvetica"/>
                <a:cs typeface="Helvetica"/>
              </a:rPr>
              <a:t>concentrations</a:t>
            </a:r>
            <a:r>
              <a:rPr lang="es-ES" sz="2400" i="1" dirty="0">
                <a:latin typeface="Helvetica"/>
                <a:cs typeface="Helvetica"/>
              </a:rPr>
              <a:t>, </a:t>
            </a:r>
            <a:r>
              <a:rPr lang="es-ES" sz="2400" i="1" dirty="0" err="1">
                <a:latin typeface="Helvetica"/>
                <a:cs typeface="Helvetica"/>
              </a:rPr>
              <a:t>increased</a:t>
            </a:r>
            <a:r>
              <a:rPr lang="es-ES" sz="2400" i="1" dirty="0">
                <a:latin typeface="Helvetica"/>
                <a:cs typeface="Helvetica"/>
              </a:rPr>
              <a:t> </a:t>
            </a:r>
            <a:r>
              <a:rPr lang="es-ES" sz="2400" i="1" dirty="0" err="1">
                <a:latin typeface="Helvetica"/>
                <a:cs typeface="Helvetica"/>
              </a:rPr>
              <a:t>iWUE</a:t>
            </a:r>
            <a:r>
              <a:rPr lang="es-ES" sz="2400" i="1" dirty="0">
                <a:latin typeface="Helvetica"/>
                <a:cs typeface="Helvetica"/>
              </a:rPr>
              <a:t> and </a:t>
            </a:r>
            <a:r>
              <a:rPr lang="es-ES" sz="2400" i="1" dirty="0" err="1">
                <a:latin typeface="Helvetica"/>
                <a:cs typeface="Helvetica"/>
              </a:rPr>
              <a:t>leaves</a:t>
            </a:r>
            <a:r>
              <a:rPr lang="es-ES" sz="2400" i="1" dirty="0">
                <a:latin typeface="Helvetica"/>
                <a:cs typeface="Helvetica"/>
              </a:rPr>
              <a:t> </a:t>
            </a:r>
            <a:r>
              <a:rPr lang="es-ES" sz="2400" i="1" dirty="0" err="1">
                <a:latin typeface="Helvetica"/>
                <a:cs typeface="Helvetica"/>
              </a:rPr>
              <a:t>nutrients</a:t>
            </a:r>
            <a:r>
              <a:rPr lang="es-ES" sz="2400" i="1" dirty="0">
                <a:latin typeface="Helvetica"/>
                <a:cs typeface="Helvetica"/>
              </a:rPr>
              <a:t> </a:t>
            </a:r>
            <a:r>
              <a:rPr lang="es-ES" sz="2400" i="1" dirty="0" err="1">
                <a:latin typeface="Helvetica"/>
                <a:cs typeface="Helvetica"/>
              </a:rPr>
              <a:t>allocation</a:t>
            </a:r>
            <a:endParaRPr lang="es-ES" sz="2400" i="1" dirty="0">
              <a:latin typeface="Helvetica"/>
              <a:cs typeface="Helvetica"/>
            </a:endParaRPr>
          </a:p>
        </p:txBody>
      </p:sp>
      <p:sp>
        <p:nvSpPr>
          <p:cNvPr id="8" name="Marcador de contenido 2">
            <a:extLst>
              <a:ext uri="{FF2B5EF4-FFF2-40B4-BE49-F238E27FC236}">
                <a16:creationId xmlns:a16="http://schemas.microsoft.com/office/drawing/2014/main" id="{5D2A598E-3271-64EB-5DA8-A70DDDCC8E1C}"/>
              </a:ext>
            </a:extLst>
          </p:cNvPr>
          <p:cNvSpPr txBox="1">
            <a:spLocks/>
          </p:cNvSpPr>
          <p:nvPr/>
        </p:nvSpPr>
        <p:spPr>
          <a:xfrm>
            <a:off x="633459" y="2951923"/>
            <a:ext cx="8172611" cy="339918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18317"/>
              </a:buClr>
            </a:pPr>
            <a:r>
              <a:rPr lang="es-ES" sz="2400" b="1" dirty="0" err="1">
                <a:latin typeface="Helvetica"/>
                <a:cs typeface="Helvetica"/>
              </a:rPr>
              <a:t>Pigments</a:t>
            </a:r>
            <a:r>
              <a:rPr lang="es-ES" sz="2400" b="1" dirty="0">
                <a:latin typeface="Helvetica"/>
                <a:cs typeface="Helvetica"/>
              </a:rPr>
              <a:t>: </a:t>
            </a:r>
            <a:r>
              <a:rPr lang="en-US" sz="2400" dirty="0">
                <a:latin typeface="Helvetica"/>
                <a:cs typeface="Helvetica"/>
              </a:rPr>
              <a:t>water stress-induced increased ABA and ROS trigger upregulation of senescence-associated genes (SAG), and to damages to photosynthetic apparatus </a:t>
            </a:r>
            <a:r>
              <a:rPr lang="en-US" sz="2400" dirty="0">
                <a:latin typeface="Helvetica"/>
                <a:cs typeface="Helvetica"/>
                <a:sym typeface="Wingdings" panose="05000000000000000000" pitchFamily="2" charset="2"/>
              </a:rPr>
              <a:t> </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Pigments</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concentration</a:t>
            </a:r>
            <a:endParaRPr lang="es-ES" sz="2400" b="1" dirty="0">
              <a:solidFill>
                <a:srgbClr val="C00000"/>
              </a:solidFill>
              <a:latin typeface="Helvetica"/>
              <a:cs typeface="Helvetica"/>
              <a:sym typeface="Wingdings" panose="05000000000000000000" pitchFamily="2" charset="2"/>
            </a:endParaRPr>
          </a:p>
          <a:p>
            <a:pPr>
              <a:buClr>
                <a:srgbClr val="218317"/>
              </a:buClr>
            </a:pPr>
            <a:r>
              <a:rPr lang="es-ES" sz="2400" b="1" dirty="0" err="1">
                <a:latin typeface="Helvetica"/>
                <a:cs typeface="Helvetica"/>
              </a:rPr>
              <a:t>iWUE</a:t>
            </a:r>
            <a:r>
              <a:rPr lang="es-ES" sz="2400" b="1" dirty="0">
                <a:latin typeface="Helvetica"/>
                <a:cs typeface="Helvetica"/>
              </a:rPr>
              <a:t>: </a:t>
            </a:r>
            <a:r>
              <a:rPr lang="es-ES" sz="2400" dirty="0" err="1">
                <a:latin typeface="Helvetica"/>
                <a:cs typeface="Helvetica"/>
              </a:rPr>
              <a:t>we</a:t>
            </a:r>
            <a:r>
              <a:rPr lang="es-ES" sz="2400" dirty="0">
                <a:latin typeface="Helvetica"/>
                <a:cs typeface="Helvetica"/>
              </a:rPr>
              <a:t> </a:t>
            </a:r>
            <a:r>
              <a:rPr lang="es-ES" sz="2400" dirty="0" err="1">
                <a:latin typeface="Helvetica"/>
                <a:cs typeface="Helvetica"/>
              </a:rPr>
              <a:t>an</a:t>
            </a:r>
            <a:r>
              <a:rPr lang="es-ES" sz="2400" dirty="0">
                <a:latin typeface="Helvetica"/>
                <a:cs typeface="Helvetica"/>
              </a:rPr>
              <a:t> </a:t>
            </a:r>
            <a:r>
              <a:rPr lang="es-ES" sz="2400" dirty="0" err="1">
                <a:latin typeface="Helvetica"/>
                <a:cs typeface="Helvetica"/>
              </a:rPr>
              <a:t>isohydric</a:t>
            </a:r>
            <a:r>
              <a:rPr lang="es-ES" sz="2400" dirty="0">
                <a:latin typeface="Helvetica"/>
                <a:cs typeface="Helvetica"/>
              </a:rPr>
              <a:t> </a:t>
            </a:r>
            <a:r>
              <a:rPr lang="es-ES" sz="2400" dirty="0" err="1">
                <a:latin typeface="Helvetica"/>
                <a:cs typeface="Helvetica"/>
              </a:rPr>
              <a:t>behaviour</a:t>
            </a:r>
            <a:r>
              <a:rPr lang="es-ES" sz="2400" dirty="0">
                <a:latin typeface="Helvetica"/>
                <a:cs typeface="Helvetica"/>
              </a:rPr>
              <a:t> </a:t>
            </a:r>
            <a:r>
              <a:rPr lang="es-ES" sz="2400" dirty="0" err="1">
                <a:latin typeface="Helvetica"/>
                <a:cs typeface="Helvetica"/>
              </a:rPr>
              <a:t>leading</a:t>
            </a:r>
            <a:r>
              <a:rPr lang="es-ES" sz="2400" dirty="0">
                <a:latin typeface="Helvetica"/>
                <a:cs typeface="Helvetica"/>
              </a:rPr>
              <a:t>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stomatal</a:t>
            </a:r>
            <a:r>
              <a:rPr lang="es-ES" sz="2400" dirty="0">
                <a:latin typeface="Helvetica"/>
                <a:cs typeface="Helvetica"/>
              </a:rPr>
              <a:t> </a:t>
            </a:r>
            <a:r>
              <a:rPr lang="es-ES" sz="2400" dirty="0" err="1">
                <a:latin typeface="Helvetica"/>
                <a:cs typeface="Helvetica"/>
              </a:rPr>
              <a:t>closure</a:t>
            </a:r>
            <a:r>
              <a:rPr lang="es-ES" sz="2400" dirty="0">
                <a:latin typeface="Helvetica"/>
                <a:cs typeface="Helvetica"/>
              </a:rPr>
              <a:t> </a:t>
            </a:r>
            <a:r>
              <a:rPr lang="es-ES" sz="2400" dirty="0">
                <a:latin typeface="Helvetica"/>
                <a:cs typeface="Helvetica"/>
                <a:sym typeface="Wingdings" panose="05000000000000000000" pitchFamily="2" charset="2"/>
              </a:rPr>
              <a:t> </a:t>
            </a:r>
            <a:r>
              <a:rPr lang="es-ES" sz="2400" b="1" dirty="0">
                <a:latin typeface="Helvetica"/>
                <a:cs typeface="Helvetica"/>
                <a:sym typeface="Wingdings" panose="05000000000000000000" pitchFamily="2" charset="2"/>
              </a:rPr>
              <a:t>↑ </a:t>
            </a:r>
            <a:r>
              <a:rPr lang="el-GR" sz="2400" b="1" dirty="0">
                <a:latin typeface="Helvetica"/>
                <a:cs typeface="Helvetica"/>
                <a:sym typeface="Wingdings" panose="05000000000000000000" pitchFamily="2" charset="2"/>
              </a:rPr>
              <a:t>δ</a:t>
            </a:r>
            <a:r>
              <a:rPr lang="es-ES" sz="2400" b="1" baseline="30000" dirty="0">
                <a:latin typeface="Helvetica"/>
                <a:cs typeface="Helvetica"/>
                <a:sym typeface="Wingdings" panose="05000000000000000000" pitchFamily="2" charset="2"/>
              </a:rPr>
              <a:t>13</a:t>
            </a:r>
            <a:r>
              <a:rPr lang="es-ES" sz="2400" b="1" dirty="0">
                <a:latin typeface="Helvetica"/>
                <a:cs typeface="Helvetica"/>
                <a:sym typeface="Wingdings" panose="05000000000000000000" pitchFamily="2" charset="2"/>
              </a:rPr>
              <a:t>C and </a:t>
            </a:r>
            <a:r>
              <a:rPr lang="el-GR" sz="2400" b="1" dirty="0">
                <a:latin typeface="Helvetica"/>
                <a:cs typeface="Helvetica"/>
                <a:sym typeface="Wingdings" panose="05000000000000000000" pitchFamily="2" charset="2"/>
              </a:rPr>
              <a:t>δ</a:t>
            </a:r>
            <a:r>
              <a:rPr lang="es-ES" sz="2400" b="1" baseline="30000" dirty="0">
                <a:latin typeface="Helvetica"/>
                <a:cs typeface="Helvetica"/>
                <a:sym typeface="Wingdings" panose="05000000000000000000" pitchFamily="2" charset="2"/>
              </a:rPr>
              <a:t>18</a:t>
            </a:r>
            <a:r>
              <a:rPr lang="es-ES" sz="2400" b="1" dirty="0">
                <a:latin typeface="Helvetica"/>
                <a:cs typeface="Helvetica"/>
                <a:sym typeface="Wingdings" panose="05000000000000000000" pitchFamily="2" charset="2"/>
              </a:rPr>
              <a:t>O in </a:t>
            </a:r>
            <a:r>
              <a:rPr lang="es-ES" sz="2400" b="1" dirty="0" err="1">
                <a:latin typeface="Helvetica"/>
                <a:cs typeface="Helvetica"/>
                <a:sym typeface="Wingdings" panose="05000000000000000000" pitchFamily="2" charset="2"/>
              </a:rPr>
              <a:t>leaves</a:t>
            </a:r>
            <a:r>
              <a:rPr lang="es-ES" sz="2400" b="1" dirty="0">
                <a:latin typeface="Helvetica"/>
                <a:cs typeface="Helvetica"/>
                <a:sym typeface="Wingdings" panose="05000000000000000000" pitchFamily="2" charset="2"/>
              </a:rPr>
              <a:t> and </a:t>
            </a:r>
            <a:r>
              <a:rPr lang="es-ES" sz="2400" b="1" dirty="0" err="1">
                <a:latin typeface="Helvetica"/>
                <a:cs typeface="Helvetica"/>
                <a:sym typeface="Wingdings" panose="05000000000000000000" pitchFamily="2" charset="2"/>
              </a:rPr>
              <a:t>wood</a:t>
            </a:r>
            <a:r>
              <a:rPr lang="es-ES" sz="2400" b="1" dirty="0">
                <a:latin typeface="Helvetica"/>
                <a:cs typeface="Helvetica"/>
                <a:sym typeface="Wingdings" panose="05000000000000000000" pitchFamily="2" charset="2"/>
              </a:rPr>
              <a:t> </a:t>
            </a:r>
            <a:r>
              <a:rPr lang="es-ES" sz="2400" b="1" dirty="0" err="1">
                <a:latin typeface="Helvetica"/>
                <a:cs typeface="Helvetica"/>
                <a:sym typeface="Wingdings" panose="05000000000000000000" pitchFamily="2" charset="2"/>
              </a:rPr>
              <a:t>tissue</a:t>
            </a:r>
            <a:endParaRPr lang="es-ES" sz="2400" b="1" dirty="0">
              <a:latin typeface="Helvetica"/>
              <a:cs typeface="Helvetica"/>
              <a:sym typeface="Wingdings" panose="05000000000000000000" pitchFamily="2" charset="2"/>
            </a:endParaRPr>
          </a:p>
          <a:p>
            <a:pPr>
              <a:buClr>
                <a:srgbClr val="218317"/>
              </a:buClr>
            </a:pPr>
            <a:r>
              <a:rPr lang="es-ES" sz="2400" b="1" dirty="0" err="1">
                <a:latin typeface="Helvetica"/>
                <a:cs typeface="Helvetica"/>
                <a:sym typeface="Wingdings" panose="05000000000000000000" pitchFamily="2" charset="2"/>
              </a:rPr>
              <a:t>Nutrients</a:t>
            </a:r>
            <a:r>
              <a:rPr lang="es-ES" sz="2400" b="1"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we</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nutrient</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allocation</a:t>
            </a:r>
            <a:r>
              <a:rPr lang="es-ES" sz="2400" dirty="0">
                <a:latin typeface="Helvetica"/>
                <a:cs typeface="Helvetica"/>
                <a:sym typeface="Wingdings" panose="05000000000000000000" pitchFamily="2" charset="2"/>
              </a:rPr>
              <a:t> in </a:t>
            </a:r>
            <a:r>
              <a:rPr lang="es-ES" sz="2400" dirty="0" err="1">
                <a:latin typeface="Helvetica"/>
                <a:cs typeface="Helvetica"/>
                <a:sym typeface="Wingdings" panose="05000000000000000000" pitchFamily="2" charset="2"/>
              </a:rPr>
              <a:t>leaves</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due</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to</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drought-induced</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reduced</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nutrients</a:t>
            </a:r>
            <a:r>
              <a:rPr lang="es-ES" sz="2400" dirty="0">
                <a:latin typeface="Helvetica"/>
                <a:cs typeface="Helvetica"/>
                <a:sym typeface="Wingdings" panose="05000000000000000000" pitchFamily="2" charset="2"/>
              </a:rPr>
              <a:t> </a:t>
            </a:r>
            <a:r>
              <a:rPr lang="es-ES" sz="2400" dirty="0" err="1">
                <a:latin typeface="Helvetica"/>
                <a:cs typeface="Helvetica"/>
                <a:sym typeface="Wingdings" panose="05000000000000000000" pitchFamily="2" charset="2"/>
              </a:rPr>
              <a:t>uptake</a:t>
            </a:r>
            <a:r>
              <a:rPr lang="es-ES" sz="2400" dirty="0">
                <a:latin typeface="Helvetica"/>
                <a:cs typeface="Helvetica"/>
                <a:sym typeface="Wingdings" panose="05000000000000000000" pitchFamily="2" charset="2"/>
              </a:rPr>
              <a:t>   </a:t>
            </a:r>
            <a:r>
              <a:rPr lang="es-ES" sz="2400" b="1" dirty="0">
                <a:latin typeface="Helvetica"/>
                <a:cs typeface="Helvetica"/>
                <a:sym typeface="Wingdings" panose="05000000000000000000" pitchFamily="2" charset="2"/>
              </a:rPr>
              <a:t>↓N </a:t>
            </a:r>
            <a:r>
              <a:rPr lang="es-ES" sz="2400" b="1" dirty="0" err="1">
                <a:latin typeface="Helvetica"/>
                <a:cs typeface="Helvetica"/>
                <a:sym typeface="Wingdings" panose="05000000000000000000" pitchFamily="2" charset="2"/>
              </a:rPr>
              <a:t>concentration</a:t>
            </a:r>
            <a:r>
              <a:rPr lang="es-ES" sz="2400" b="1" dirty="0">
                <a:latin typeface="Helvetica"/>
                <a:cs typeface="Helvetica"/>
                <a:sym typeface="Wingdings" panose="05000000000000000000" pitchFamily="2" charset="2"/>
              </a:rPr>
              <a:t> and ↑ C:N ratio in </a:t>
            </a:r>
            <a:r>
              <a:rPr lang="es-ES" sz="2400" b="1" dirty="0" err="1">
                <a:solidFill>
                  <a:srgbClr val="C00000"/>
                </a:solidFill>
                <a:latin typeface="Helvetica"/>
                <a:cs typeface="Helvetica"/>
                <a:sym typeface="Wingdings" panose="05000000000000000000" pitchFamily="2" charset="2"/>
              </a:rPr>
              <a:t>declining</a:t>
            </a:r>
            <a:r>
              <a:rPr lang="es-ES" sz="2400" b="1" dirty="0">
                <a:solidFill>
                  <a:srgbClr val="C00000"/>
                </a:solidFill>
                <a:latin typeface="Helvetica"/>
                <a:cs typeface="Helvetica"/>
                <a:sym typeface="Wingdings" panose="05000000000000000000" pitchFamily="2" charset="2"/>
              </a:rPr>
              <a:t> sites</a:t>
            </a:r>
            <a:endParaRPr lang="es-ES" sz="2400" b="1" dirty="0">
              <a:latin typeface="Helvetica"/>
              <a:cs typeface="Helvetica"/>
            </a:endParaRPr>
          </a:p>
          <a:p>
            <a:pPr>
              <a:buClr>
                <a:srgbClr val="218317"/>
              </a:buClr>
            </a:pPr>
            <a:endParaRPr lang="es-ES" sz="2400" b="1" dirty="0">
              <a:solidFill>
                <a:srgbClr val="C00000"/>
              </a:solidFill>
              <a:latin typeface="Helvetica"/>
              <a:cs typeface="Helvetica"/>
            </a:endParaRPr>
          </a:p>
        </p:txBody>
      </p:sp>
      <p:grpSp>
        <p:nvGrpSpPr>
          <p:cNvPr id="3" name="Grupo 2">
            <a:extLst>
              <a:ext uri="{FF2B5EF4-FFF2-40B4-BE49-F238E27FC236}">
                <a16:creationId xmlns:a16="http://schemas.microsoft.com/office/drawing/2014/main" id="{CD59DB51-5D88-D4EB-E8F6-3F6BAA5E1023}"/>
              </a:ext>
            </a:extLst>
          </p:cNvPr>
          <p:cNvGrpSpPr/>
          <p:nvPr/>
        </p:nvGrpSpPr>
        <p:grpSpPr>
          <a:xfrm>
            <a:off x="8752732" y="3174880"/>
            <a:ext cx="3477754" cy="1250117"/>
            <a:chOff x="1139560" y="5095351"/>
            <a:chExt cx="3477754" cy="1250117"/>
          </a:xfrm>
        </p:grpSpPr>
        <p:pic>
          <p:nvPicPr>
            <p:cNvPr id="5" name="Imagen 4">
              <a:extLst>
                <a:ext uri="{FF2B5EF4-FFF2-40B4-BE49-F238E27FC236}">
                  <a16:creationId xmlns:a16="http://schemas.microsoft.com/office/drawing/2014/main" id="{9E1E93E6-363C-013D-E9E5-1C142428746D}"/>
                </a:ext>
              </a:extLst>
            </p:cNvPr>
            <p:cNvPicPr>
              <a:picLocks noChangeAspect="1"/>
            </p:cNvPicPr>
            <p:nvPr/>
          </p:nvPicPr>
          <p:blipFill>
            <a:blip r:embed="rId3"/>
            <a:srcRect b="57655"/>
            <a:stretch/>
          </p:blipFill>
          <p:spPr>
            <a:xfrm>
              <a:off x="1139560" y="5095351"/>
              <a:ext cx="3477754" cy="1250117"/>
            </a:xfrm>
            <a:prstGeom prst="rect">
              <a:avLst/>
            </a:prstGeom>
          </p:spPr>
        </p:pic>
        <p:sp>
          <p:nvSpPr>
            <p:cNvPr id="6" name="CuadroTexto 5">
              <a:extLst>
                <a:ext uri="{FF2B5EF4-FFF2-40B4-BE49-F238E27FC236}">
                  <a16:creationId xmlns:a16="http://schemas.microsoft.com/office/drawing/2014/main" id="{2FEF6D0F-A69C-A522-AA0F-98D0F4174B64}"/>
                </a:ext>
              </a:extLst>
            </p:cNvPr>
            <p:cNvSpPr txBox="1"/>
            <p:nvPr/>
          </p:nvSpPr>
          <p:spPr>
            <a:xfrm>
              <a:off x="1609302" y="5843116"/>
              <a:ext cx="1132041" cy="292388"/>
            </a:xfrm>
            <a:prstGeom prst="rect">
              <a:avLst/>
            </a:prstGeom>
            <a:solidFill>
              <a:schemeClr val="bg1"/>
            </a:solidFill>
          </p:spPr>
          <p:txBody>
            <a:bodyPr wrap="none" rtlCol="0">
              <a:spAutoFit/>
            </a:bodyPr>
            <a:lstStyle/>
            <a:p>
              <a:r>
                <a:rPr lang="es-ES" sz="1300" dirty="0">
                  <a:solidFill>
                    <a:srgbClr val="2F5597"/>
                  </a:solidFill>
                </a:rPr>
                <a:t>Non-</a:t>
              </a:r>
              <a:r>
                <a:rPr lang="es-ES" sz="1300" dirty="0" err="1">
                  <a:solidFill>
                    <a:srgbClr val="2F5597"/>
                  </a:solidFill>
                </a:rPr>
                <a:t>declining</a:t>
              </a:r>
              <a:endParaRPr lang="es-ES" sz="1300" dirty="0">
                <a:solidFill>
                  <a:srgbClr val="2F5597"/>
                </a:solidFill>
              </a:endParaRPr>
            </a:p>
          </p:txBody>
        </p:sp>
        <p:sp>
          <p:nvSpPr>
            <p:cNvPr id="7" name="CuadroTexto 6">
              <a:extLst>
                <a:ext uri="{FF2B5EF4-FFF2-40B4-BE49-F238E27FC236}">
                  <a16:creationId xmlns:a16="http://schemas.microsoft.com/office/drawing/2014/main" id="{0A30C1B7-6EB8-97DA-72BA-71484368860C}"/>
                </a:ext>
              </a:extLst>
            </p:cNvPr>
            <p:cNvSpPr txBox="1"/>
            <p:nvPr/>
          </p:nvSpPr>
          <p:spPr>
            <a:xfrm>
              <a:off x="3151746" y="5843116"/>
              <a:ext cx="811441" cy="292388"/>
            </a:xfrm>
            <a:prstGeom prst="rect">
              <a:avLst/>
            </a:prstGeom>
            <a:solidFill>
              <a:schemeClr val="bg1"/>
            </a:solidFill>
          </p:spPr>
          <p:txBody>
            <a:bodyPr wrap="none" rtlCol="0">
              <a:spAutoFit/>
            </a:bodyPr>
            <a:lstStyle/>
            <a:p>
              <a:r>
                <a:rPr lang="es-ES" sz="1300" dirty="0" err="1">
                  <a:solidFill>
                    <a:srgbClr val="C00000"/>
                  </a:solidFill>
                </a:rPr>
                <a:t>Declining</a:t>
              </a:r>
              <a:endParaRPr lang="es-ES" sz="1300" dirty="0">
                <a:solidFill>
                  <a:srgbClr val="C00000"/>
                </a:solidFill>
              </a:endParaRPr>
            </a:p>
          </p:txBody>
        </p:sp>
      </p:grpSp>
      <p:grpSp>
        <p:nvGrpSpPr>
          <p:cNvPr id="11" name="Grupo 10">
            <a:extLst>
              <a:ext uri="{FF2B5EF4-FFF2-40B4-BE49-F238E27FC236}">
                <a16:creationId xmlns:a16="http://schemas.microsoft.com/office/drawing/2014/main" id="{B082686E-8BB0-F750-B3B1-7FCB2D135B37}"/>
              </a:ext>
            </a:extLst>
          </p:cNvPr>
          <p:cNvGrpSpPr/>
          <p:nvPr/>
        </p:nvGrpSpPr>
        <p:grpSpPr>
          <a:xfrm>
            <a:off x="8752732" y="4438528"/>
            <a:ext cx="3301889" cy="1220763"/>
            <a:chOff x="6178013" y="5057218"/>
            <a:chExt cx="3301889" cy="1220763"/>
          </a:xfrm>
        </p:grpSpPr>
        <p:pic>
          <p:nvPicPr>
            <p:cNvPr id="12" name="Imagen 11">
              <a:extLst>
                <a:ext uri="{FF2B5EF4-FFF2-40B4-BE49-F238E27FC236}">
                  <a16:creationId xmlns:a16="http://schemas.microsoft.com/office/drawing/2014/main" id="{AAFF188B-F49B-5A75-5066-5D26817E26A0}"/>
                </a:ext>
              </a:extLst>
            </p:cNvPr>
            <p:cNvPicPr>
              <a:picLocks noChangeAspect="1"/>
            </p:cNvPicPr>
            <p:nvPr/>
          </p:nvPicPr>
          <p:blipFill>
            <a:blip r:embed="rId3"/>
            <a:srcRect t="53835"/>
            <a:stretch/>
          </p:blipFill>
          <p:spPr>
            <a:xfrm>
              <a:off x="6364847" y="5057218"/>
              <a:ext cx="3115055" cy="1220763"/>
            </a:xfrm>
            <a:prstGeom prst="rect">
              <a:avLst/>
            </a:prstGeom>
          </p:spPr>
        </p:pic>
        <p:sp>
          <p:nvSpPr>
            <p:cNvPr id="13" name="CuadroTexto 12">
              <a:extLst>
                <a:ext uri="{FF2B5EF4-FFF2-40B4-BE49-F238E27FC236}">
                  <a16:creationId xmlns:a16="http://schemas.microsoft.com/office/drawing/2014/main" id="{C166D1FD-614B-8988-6A96-F2B8CE294316}"/>
                </a:ext>
              </a:extLst>
            </p:cNvPr>
            <p:cNvSpPr txBox="1"/>
            <p:nvPr/>
          </p:nvSpPr>
          <p:spPr>
            <a:xfrm>
              <a:off x="6178013" y="5989310"/>
              <a:ext cx="1217297" cy="261610"/>
            </a:xfrm>
            <a:prstGeom prst="rect">
              <a:avLst/>
            </a:prstGeom>
            <a:solidFill>
              <a:schemeClr val="bg1"/>
            </a:solidFill>
          </p:spPr>
          <p:txBody>
            <a:bodyPr wrap="square" rtlCol="0">
              <a:spAutoFit/>
            </a:bodyPr>
            <a:lstStyle/>
            <a:p>
              <a:pPr algn="ctr"/>
              <a:r>
                <a:rPr lang="es-ES" sz="1100" dirty="0">
                  <a:solidFill>
                    <a:srgbClr val="2F5597"/>
                  </a:solidFill>
                </a:rPr>
                <a:t>Non-</a:t>
              </a:r>
              <a:r>
                <a:rPr lang="es-ES" sz="1100" dirty="0" err="1">
                  <a:solidFill>
                    <a:srgbClr val="2F5597"/>
                  </a:solidFill>
                </a:rPr>
                <a:t>declining</a:t>
              </a:r>
              <a:r>
                <a:rPr lang="es-ES" sz="1100" dirty="0">
                  <a:solidFill>
                    <a:srgbClr val="2F5597"/>
                  </a:solidFill>
                </a:rPr>
                <a:t> site</a:t>
              </a:r>
            </a:p>
          </p:txBody>
        </p:sp>
        <p:sp>
          <p:nvSpPr>
            <p:cNvPr id="14" name="CuadroTexto 13">
              <a:extLst>
                <a:ext uri="{FF2B5EF4-FFF2-40B4-BE49-F238E27FC236}">
                  <a16:creationId xmlns:a16="http://schemas.microsoft.com/office/drawing/2014/main" id="{18957225-F35F-94AB-9237-9E5686244606}"/>
                </a:ext>
              </a:extLst>
            </p:cNvPr>
            <p:cNvSpPr txBox="1"/>
            <p:nvPr/>
          </p:nvSpPr>
          <p:spPr>
            <a:xfrm>
              <a:off x="7313725" y="5989310"/>
              <a:ext cx="1217297" cy="261610"/>
            </a:xfrm>
            <a:prstGeom prst="rect">
              <a:avLst/>
            </a:prstGeom>
            <a:solidFill>
              <a:schemeClr val="bg1"/>
            </a:solidFill>
          </p:spPr>
          <p:txBody>
            <a:bodyPr wrap="square" rtlCol="0">
              <a:spAutoFit/>
            </a:bodyPr>
            <a:lstStyle/>
            <a:p>
              <a:pPr algn="ctr"/>
              <a:r>
                <a:rPr lang="es-ES" sz="1100" dirty="0">
                  <a:solidFill>
                    <a:srgbClr val="7030A0"/>
                  </a:solidFill>
                  <a:cs typeface="Helvetica" panose="020B0604020202020204"/>
                </a:rPr>
                <a:t>Non-</a:t>
              </a:r>
              <a:r>
                <a:rPr lang="es-ES" sz="1100" dirty="0" err="1">
                  <a:solidFill>
                    <a:srgbClr val="7030A0"/>
                  </a:solidFill>
                  <a:cs typeface="Helvetica" panose="020B0604020202020204"/>
                </a:rPr>
                <a:t>declining</a:t>
              </a:r>
              <a:r>
                <a:rPr lang="es-ES" sz="1100" dirty="0">
                  <a:solidFill>
                    <a:srgbClr val="7030A0"/>
                  </a:solidFill>
                  <a:cs typeface="Helvetica" panose="020B0604020202020204"/>
                </a:rPr>
                <a:t> site</a:t>
              </a:r>
            </a:p>
          </p:txBody>
        </p:sp>
        <p:sp>
          <p:nvSpPr>
            <p:cNvPr id="15" name="CuadroTexto 14">
              <a:extLst>
                <a:ext uri="{FF2B5EF4-FFF2-40B4-BE49-F238E27FC236}">
                  <a16:creationId xmlns:a16="http://schemas.microsoft.com/office/drawing/2014/main" id="{09A0E59A-4CBE-0538-942B-88DBCFAD2FB7}"/>
                </a:ext>
              </a:extLst>
            </p:cNvPr>
            <p:cNvSpPr txBox="1"/>
            <p:nvPr/>
          </p:nvSpPr>
          <p:spPr>
            <a:xfrm>
              <a:off x="8482962" y="6002841"/>
              <a:ext cx="946093" cy="261610"/>
            </a:xfrm>
            <a:prstGeom prst="rect">
              <a:avLst/>
            </a:prstGeom>
            <a:solidFill>
              <a:schemeClr val="bg1"/>
            </a:solidFill>
          </p:spPr>
          <p:txBody>
            <a:bodyPr wrap="none" rtlCol="0">
              <a:spAutoFit/>
            </a:bodyPr>
            <a:lstStyle/>
            <a:p>
              <a:r>
                <a:rPr lang="es-ES" sz="1100" dirty="0" err="1">
                  <a:solidFill>
                    <a:srgbClr val="C00000"/>
                  </a:solidFill>
                </a:rPr>
                <a:t>Declining</a:t>
              </a:r>
              <a:r>
                <a:rPr lang="es-ES" sz="1100" dirty="0">
                  <a:solidFill>
                    <a:srgbClr val="C00000"/>
                  </a:solidFill>
                </a:rPr>
                <a:t> site</a:t>
              </a:r>
            </a:p>
          </p:txBody>
        </p:sp>
      </p:grpSp>
    </p:spTree>
    <p:extLst>
      <p:ext uri="{BB962C8B-B14F-4D97-AF65-F5344CB8AC3E}">
        <p14:creationId xmlns:p14="http://schemas.microsoft.com/office/powerpoint/2010/main" val="128894147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D948-86BD-7218-880B-80096F80DD1E}"/>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5ABC543-C68D-55DD-197B-359CA9BABF5F}"/>
              </a:ext>
            </a:extLst>
          </p:cNvPr>
          <p:cNvSpPr txBox="1">
            <a:spLocks/>
          </p:cNvSpPr>
          <p:nvPr/>
        </p:nvSpPr>
        <p:spPr>
          <a:xfrm>
            <a:off x="0" y="0"/>
            <a:ext cx="9690902" cy="804155"/>
          </a:xfrm>
          <a:prstGeom prst="rect">
            <a:avLst/>
          </a:prstGeom>
          <a:solidFill>
            <a:srgbClr val="218317"/>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Objectives</a:t>
            </a:r>
            <a:r>
              <a:rPr lang="es-ES" sz="3200" b="1" dirty="0">
                <a:solidFill>
                  <a:schemeClr val="bg1"/>
                </a:solidFill>
                <a:latin typeface="Helvetica" panose="020B0604020202020204" pitchFamily="34" charset="0"/>
                <a:cs typeface="Helvetica" panose="020B0604020202020204" pitchFamily="34" charset="0"/>
              </a:rPr>
              <a:t> &amp; </a:t>
            </a:r>
            <a:r>
              <a:rPr lang="es-ES" sz="3200" b="1" dirty="0" err="1">
                <a:solidFill>
                  <a:schemeClr val="bg1"/>
                </a:solidFill>
                <a:latin typeface="Helvetica" panose="020B0604020202020204" pitchFamily="34" charset="0"/>
                <a:cs typeface="Helvetica" panose="020B0604020202020204" pitchFamily="34" charset="0"/>
              </a:rPr>
              <a:t>Hypotheses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10" name="Título 1">
            <a:extLst>
              <a:ext uri="{FF2B5EF4-FFF2-40B4-BE49-F238E27FC236}">
                <a16:creationId xmlns:a16="http://schemas.microsoft.com/office/drawing/2014/main" id="{E61FBC3C-017C-E532-87EF-270CA7195D0F}"/>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
        <p:nvSpPr>
          <p:cNvPr id="5" name="Marcador de contenido 2">
            <a:extLst>
              <a:ext uri="{FF2B5EF4-FFF2-40B4-BE49-F238E27FC236}">
                <a16:creationId xmlns:a16="http://schemas.microsoft.com/office/drawing/2014/main" id="{B4C51AA4-52F0-151B-7375-C783F89B7860}"/>
              </a:ext>
            </a:extLst>
          </p:cNvPr>
          <p:cNvSpPr txBox="1">
            <a:spLocks/>
          </p:cNvSpPr>
          <p:nvPr/>
        </p:nvSpPr>
        <p:spPr>
          <a:xfrm>
            <a:off x="633461" y="1419141"/>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dirty="0" err="1">
                <a:latin typeface="Helvetica"/>
                <a:cs typeface="Helvetica"/>
              </a:rPr>
              <a:t>Obj</a:t>
            </a:r>
            <a:r>
              <a:rPr lang="es-ES" sz="2400" b="1" dirty="0">
                <a:latin typeface="Helvetica"/>
                <a:cs typeface="Helvetica"/>
              </a:rPr>
              <a:t>. 3.-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assess</a:t>
            </a:r>
            <a:r>
              <a:rPr lang="es-ES" sz="2400" dirty="0">
                <a:latin typeface="Helvetica"/>
                <a:cs typeface="Helvetica"/>
              </a:rPr>
              <a:t> </a:t>
            </a:r>
            <a:r>
              <a:rPr lang="es-ES" sz="2400" dirty="0" err="1">
                <a:latin typeface="Helvetica"/>
                <a:cs typeface="Helvetica"/>
              </a:rPr>
              <a:t>how</a:t>
            </a:r>
            <a:r>
              <a:rPr lang="es-ES" sz="2400" dirty="0">
                <a:latin typeface="Helvetica"/>
                <a:cs typeface="Helvetica"/>
              </a:rPr>
              <a:t> </a:t>
            </a:r>
            <a:r>
              <a:rPr lang="es-ES" sz="2400" dirty="0" err="1">
                <a:latin typeface="Helvetica"/>
                <a:cs typeface="Helvetica"/>
              </a:rPr>
              <a:t>underlying</a:t>
            </a:r>
            <a:r>
              <a:rPr lang="es-ES" sz="2400" dirty="0">
                <a:latin typeface="Helvetica"/>
                <a:cs typeface="Helvetica"/>
              </a:rPr>
              <a:t> </a:t>
            </a:r>
            <a:r>
              <a:rPr lang="es-ES" sz="2400" dirty="0" err="1">
                <a:latin typeface="Helvetica"/>
                <a:cs typeface="Helvetica"/>
              </a:rPr>
              <a:t>mechanisms</a:t>
            </a:r>
            <a:r>
              <a:rPr lang="es-ES" sz="2400" dirty="0">
                <a:latin typeface="Helvetica"/>
                <a:cs typeface="Helvetica"/>
              </a:rPr>
              <a:t> </a:t>
            </a:r>
            <a:r>
              <a:rPr lang="es-ES" sz="2400" dirty="0" err="1">
                <a:latin typeface="Helvetica"/>
                <a:cs typeface="Helvetica"/>
              </a:rPr>
              <a:t>behind</a:t>
            </a:r>
            <a:r>
              <a:rPr lang="es-ES" sz="2400" dirty="0">
                <a:latin typeface="Helvetica"/>
                <a:cs typeface="Helvetica"/>
              </a:rPr>
              <a:t> </a:t>
            </a:r>
            <a:r>
              <a:rPr lang="es-ES" sz="2400" dirty="0" err="1">
                <a:solidFill>
                  <a:srgbClr val="FF0000"/>
                </a:solidFill>
                <a:latin typeface="Helvetica"/>
                <a:cs typeface="Helvetica"/>
              </a:rPr>
              <a:t>drought</a:t>
            </a:r>
            <a:r>
              <a:rPr lang="es-ES" sz="2400" dirty="0">
                <a:solidFill>
                  <a:srgbClr val="FF0000"/>
                </a:solidFill>
                <a:latin typeface="Helvetica"/>
                <a:cs typeface="Helvetica"/>
              </a:rPr>
              <a:t> </a:t>
            </a:r>
            <a:r>
              <a:rPr lang="es-ES" sz="2400" dirty="0" err="1">
                <a:solidFill>
                  <a:srgbClr val="FF0000"/>
                </a:solidFill>
                <a:latin typeface="Helvetica"/>
                <a:cs typeface="Helvetica"/>
              </a:rPr>
              <a:t>vulnerability</a:t>
            </a:r>
            <a:r>
              <a:rPr lang="es-ES" sz="2400" dirty="0">
                <a:solidFill>
                  <a:srgbClr val="FF0000"/>
                </a:solidFill>
                <a:latin typeface="Helvetica"/>
                <a:cs typeface="Helvetica"/>
              </a:rPr>
              <a:t> </a:t>
            </a:r>
            <a:r>
              <a:rPr lang="es-ES" sz="2400" dirty="0" err="1">
                <a:latin typeface="Helvetica"/>
                <a:cs typeface="Helvetica"/>
              </a:rPr>
              <a:t>vary</a:t>
            </a:r>
            <a:r>
              <a:rPr lang="es-ES" sz="2400" dirty="0">
                <a:latin typeface="Helvetica"/>
                <a:cs typeface="Helvetica"/>
              </a:rPr>
              <a:t> </a:t>
            </a:r>
            <a:r>
              <a:rPr lang="es-ES" sz="2400" dirty="0" err="1">
                <a:latin typeface="Helvetica"/>
                <a:cs typeface="Helvetica"/>
              </a:rPr>
              <a:t>due</a:t>
            </a:r>
            <a:r>
              <a:rPr lang="es-ES" sz="2400" dirty="0">
                <a:latin typeface="Helvetica"/>
                <a:cs typeface="Helvetica"/>
              </a:rPr>
              <a:t>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long-term</a:t>
            </a:r>
            <a:r>
              <a:rPr lang="es-ES" sz="2400" dirty="0">
                <a:latin typeface="Helvetica"/>
                <a:cs typeface="Helvetica"/>
              </a:rPr>
              <a:t> </a:t>
            </a:r>
            <a:r>
              <a:rPr lang="es-ES" sz="2400" dirty="0" err="1">
                <a:latin typeface="Helvetica"/>
                <a:cs typeface="Helvetica"/>
              </a:rPr>
              <a:t>adaptations</a:t>
            </a:r>
            <a:r>
              <a:rPr lang="es-ES" sz="2400" dirty="0">
                <a:latin typeface="Helvetica"/>
                <a:cs typeface="Helvetica"/>
              </a:rPr>
              <a:t> </a:t>
            </a:r>
            <a:r>
              <a:rPr lang="es-ES" sz="2400" dirty="0" err="1">
                <a:latin typeface="Helvetica"/>
                <a:cs typeface="Helvetica"/>
              </a:rPr>
              <a:t>along</a:t>
            </a:r>
            <a:r>
              <a:rPr lang="es-ES" sz="2400" dirty="0">
                <a:latin typeface="Helvetica"/>
                <a:cs typeface="Helvetica"/>
              </a:rPr>
              <a:t> a </a:t>
            </a:r>
            <a:r>
              <a:rPr lang="es-ES" sz="2400" dirty="0" err="1">
                <a:latin typeface="Helvetica"/>
                <a:cs typeface="Helvetica"/>
              </a:rPr>
              <a:t>moisture</a:t>
            </a:r>
            <a:r>
              <a:rPr lang="es-ES" sz="2400" dirty="0">
                <a:latin typeface="Helvetica"/>
                <a:cs typeface="Helvetica"/>
              </a:rPr>
              <a:t> </a:t>
            </a:r>
            <a:r>
              <a:rPr lang="es-ES" sz="2400" dirty="0" err="1">
                <a:latin typeface="Helvetica"/>
                <a:cs typeface="Helvetica"/>
              </a:rPr>
              <a:t>gradient</a:t>
            </a:r>
            <a:endParaRPr lang="es-ES" sz="2400" b="1" dirty="0">
              <a:latin typeface="Helvetica"/>
              <a:cs typeface="Helvetica"/>
            </a:endParaRPr>
          </a:p>
        </p:txBody>
      </p:sp>
      <p:sp>
        <p:nvSpPr>
          <p:cNvPr id="7" name="Marcador de contenido 2">
            <a:extLst>
              <a:ext uri="{FF2B5EF4-FFF2-40B4-BE49-F238E27FC236}">
                <a16:creationId xmlns:a16="http://schemas.microsoft.com/office/drawing/2014/main" id="{7C371B6A-D08A-2959-5BDA-6D76133D6F74}"/>
              </a:ext>
            </a:extLst>
          </p:cNvPr>
          <p:cNvSpPr txBox="1">
            <a:spLocks/>
          </p:cNvSpPr>
          <p:nvPr/>
        </p:nvSpPr>
        <p:spPr>
          <a:xfrm>
            <a:off x="633460" y="2381563"/>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i="1" dirty="0">
                <a:latin typeface="Helvetica"/>
                <a:cs typeface="Helvetica"/>
              </a:rPr>
              <a:t>H3</a:t>
            </a:r>
            <a:r>
              <a:rPr lang="es-ES" sz="2400" i="1" dirty="0">
                <a:latin typeface="Helvetica"/>
                <a:cs typeface="Helvetica"/>
              </a:rPr>
              <a:t>.- </a:t>
            </a:r>
            <a:r>
              <a:rPr lang="es-ES" sz="2400" i="1" dirty="0" err="1">
                <a:latin typeface="Helvetica"/>
                <a:cs typeface="Helvetica"/>
              </a:rPr>
              <a:t>We</a:t>
            </a:r>
            <a:r>
              <a:rPr lang="es-ES" sz="2400" i="1" dirty="0">
                <a:latin typeface="Helvetica"/>
                <a:cs typeface="Helvetica"/>
              </a:rPr>
              <a:t> </a:t>
            </a:r>
            <a:r>
              <a:rPr lang="es-ES" sz="2400" i="1" dirty="0" err="1">
                <a:latin typeface="Helvetica"/>
                <a:cs typeface="Helvetica"/>
              </a:rPr>
              <a:t>expect</a:t>
            </a:r>
            <a:r>
              <a:rPr lang="es-ES" sz="2400" i="1" dirty="0">
                <a:latin typeface="Helvetica"/>
                <a:cs typeface="Helvetica"/>
              </a:rPr>
              <a:t> </a:t>
            </a:r>
            <a:r>
              <a:rPr lang="es-ES" sz="2400" b="1" i="1" dirty="0" err="1">
                <a:latin typeface="Helvetica"/>
                <a:cs typeface="Helvetica"/>
              </a:rPr>
              <a:t>higher</a:t>
            </a:r>
            <a:r>
              <a:rPr lang="es-ES" sz="2400" b="1" i="1" dirty="0">
                <a:latin typeface="Helvetica"/>
                <a:cs typeface="Helvetica"/>
              </a:rPr>
              <a:t> </a:t>
            </a:r>
            <a:r>
              <a:rPr lang="es-ES" sz="2400" b="1" i="1" dirty="0" err="1">
                <a:latin typeface="Helvetica"/>
                <a:cs typeface="Helvetica"/>
              </a:rPr>
              <a:t>vulnerability</a:t>
            </a:r>
            <a:r>
              <a:rPr lang="es-ES" sz="2400" i="1" dirty="0">
                <a:latin typeface="Helvetica"/>
                <a:cs typeface="Helvetica"/>
              </a:rPr>
              <a:t> </a:t>
            </a:r>
            <a:r>
              <a:rPr lang="es-ES" sz="2400" i="1" dirty="0" err="1">
                <a:latin typeface="Helvetica"/>
                <a:cs typeface="Helvetica"/>
              </a:rPr>
              <a:t>to</a:t>
            </a:r>
            <a:r>
              <a:rPr lang="es-ES" sz="2400" i="1" dirty="0">
                <a:latin typeface="Helvetica"/>
                <a:cs typeface="Helvetica"/>
              </a:rPr>
              <a:t> </a:t>
            </a:r>
            <a:r>
              <a:rPr lang="es-ES" sz="2400" i="1" dirty="0" err="1">
                <a:latin typeface="Helvetica"/>
                <a:cs typeface="Helvetica"/>
              </a:rPr>
              <a:t>increased</a:t>
            </a:r>
            <a:r>
              <a:rPr lang="es-ES" sz="2400" i="1" dirty="0">
                <a:latin typeface="Helvetica"/>
                <a:cs typeface="Helvetica"/>
              </a:rPr>
              <a:t> </a:t>
            </a:r>
            <a:r>
              <a:rPr lang="es-ES" sz="2400" i="1" dirty="0" err="1">
                <a:latin typeface="Helvetica"/>
                <a:cs typeface="Helvetica"/>
              </a:rPr>
              <a:t>aridity</a:t>
            </a:r>
            <a:r>
              <a:rPr lang="es-ES" sz="2400" i="1" dirty="0">
                <a:latin typeface="Helvetica"/>
                <a:cs typeface="Helvetica"/>
              </a:rPr>
              <a:t> in </a:t>
            </a:r>
            <a:r>
              <a:rPr lang="es-ES" sz="2400" b="1" i="1" dirty="0" err="1">
                <a:latin typeface="Helvetica"/>
                <a:cs typeface="Helvetica"/>
              </a:rPr>
              <a:t>temperate</a:t>
            </a:r>
            <a:r>
              <a:rPr lang="es-ES" sz="2400" b="1" i="1" dirty="0">
                <a:latin typeface="Helvetica"/>
                <a:cs typeface="Helvetica"/>
              </a:rPr>
              <a:t> </a:t>
            </a:r>
            <a:r>
              <a:rPr lang="es-ES" sz="2400" b="1" i="1" dirty="0" err="1">
                <a:latin typeface="Helvetica"/>
                <a:cs typeface="Helvetica"/>
              </a:rPr>
              <a:t>species</a:t>
            </a:r>
            <a:r>
              <a:rPr lang="es-ES" sz="2400" b="1" i="1" dirty="0">
                <a:latin typeface="Helvetica"/>
                <a:cs typeface="Helvetica"/>
              </a:rPr>
              <a:t> </a:t>
            </a:r>
            <a:r>
              <a:rPr lang="es-ES" sz="2400" i="1" dirty="0" err="1">
                <a:latin typeface="Helvetica"/>
                <a:cs typeface="Helvetica"/>
              </a:rPr>
              <a:t>than</a:t>
            </a:r>
            <a:r>
              <a:rPr lang="es-ES" sz="2400" i="1" dirty="0">
                <a:latin typeface="Helvetica"/>
                <a:cs typeface="Helvetica"/>
              </a:rPr>
              <a:t> </a:t>
            </a:r>
            <a:r>
              <a:rPr lang="es-ES" sz="2400" i="1" dirty="0" err="1">
                <a:latin typeface="Helvetica"/>
                <a:cs typeface="Helvetica"/>
              </a:rPr>
              <a:t>Mediterranean</a:t>
            </a:r>
            <a:r>
              <a:rPr lang="es-ES" sz="2400" i="1" dirty="0">
                <a:latin typeface="Helvetica"/>
                <a:cs typeface="Helvetica"/>
              </a:rPr>
              <a:t> </a:t>
            </a:r>
            <a:r>
              <a:rPr lang="es-ES" sz="2400" i="1" dirty="0" err="1">
                <a:latin typeface="Helvetica"/>
                <a:cs typeface="Helvetica"/>
              </a:rPr>
              <a:t>species</a:t>
            </a:r>
            <a:endParaRPr lang="es-ES" sz="2400" i="1" dirty="0">
              <a:latin typeface="Helvetica"/>
              <a:cs typeface="Helvetica"/>
            </a:endParaRPr>
          </a:p>
        </p:txBody>
      </p:sp>
    </p:spTree>
    <p:extLst>
      <p:ext uri="{BB962C8B-B14F-4D97-AF65-F5344CB8AC3E}">
        <p14:creationId xmlns:p14="http://schemas.microsoft.com/office/powerpoint/2010/main" val="258830002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3B4EC-E283-5677-91B8-01AB140D136A}"/>
            </a:ext>
          </a:extLst>
        </p:cNvPr>
        <p:cNvGrpSpPr/>
        <p:nvPr/>
      </p:nvGrpSpPr>
      <p:grpSpPr>
        <a:xfrm>
          <a:off x="0" y="0"/>
          <a:ext cx="0" cy="0"/>
          <a:chOff x="0" y="0"/>
          <a:chExt cx="0" cy="0"/>
        </a:xfrm>
      </p:grpSpPr>
      <p:grpSp>
        <p:nvGrpSpPr>
          <p:cNvPr id="20" name="Grupo 19">
            <a:extLst>
              <a:ext uri="{FF2B5EF4-FFF2-40B4-BE49-F238E27FC236}">
                <a16:creationId xmlns:a16="http://schemas.microsoft.com/office/drawing/2014/main" id="{7D8E0453-8B4A-B20C-AB68-7B3F1859961B}"/>
              </a:ext>
            </a:extLst>
          </p:cNvPr>
          <p:cNvGrpSpPr/>
          <p:nvPr/>
        </p:nvGrpSpPr>
        <p:grpSpPr>
          <a:xfrm>
            <a:off x="8527188" y="5371533"/>
            <a:ext cx="3301889" cy="1220763"/>
            <a:chOff x="6178013" y="5057218"/>
            <a:chExt cx="3301889" cy="1220763"/>
          </a:xfrm>
        </p:grpSpPr>
        <p:pic>
          <p:nvPicPr>
            <p:cNvPr id="21" name="Imagen 20">
              <a:extLst>
                <a:ext uri="{FF2B5EF4-FFF2-40B4-BE49-F238E27FC236}">
                  <a16:creationId xmlns:a16="http://schemas.microsoft.com/office/drawing/2014/main" id="{20EF1E68-78BF-4F46-EC92-7C9B7DC71140}"/>
                </a:ext>
              </a:extLst>
            </p:cNvPr>
            <p:cNvPicPr>
              <a:picLocks noChangeAspect="1"/>
            </p:cNvPicPr>
            <p:nvPr/>
          </p:nvPicPr>
          <p:blipFill>
            <a:blip r:embed="rId3"/>
            <a:srcRect t="53835"/>
            <a:stretch/>
          </p:blipFill>
          <p:spPr>
            <a:xfrm>
              <a:off x="6364847" y="5057218"/>
              <a:ext cx="3115055" cy="1220763"/>
            </a:xfrm>
            <a:prstGeom prst="rect">
              <a:avLst/>
            </a:prstGeom>
          </p:spPr>
        </p:pic>
        <p:sp>
          <p:nvSpPr>
            <p:cNvPr id="22" name="CuadroTexto 21">
              <a:extLst>
                <a:ext uri="{FF2B5EF4-FFF2-40B4-BE49-F238E27FC236}">
                  <a16:creationId xmlns:a16="http://schemas.microsoft.com/office/drawing/2014/main" id="{E7EE9C73-8D0E-B84F-FBE1-CB7E50FBFF03}"/>
                </a:ext>
              </a:extLst>
            </p:cNvPr>
            <p:cNvSpPr txBox="1"/>
            <p:nvPr/>
          </p:nvSpPr>
          <p:spPr>
            <a:xfrm>
              <a:off x="6178013" y="5989310"/>
              <a:ext cx="1217297" cy="261610"/>
            </a:xfrm>
            <a:prstGeom prst="rect">
              <a:avLst/>
            </a:prstGeom>
            <a:solidFill>
              <a:schemeClr val="bg1"/>
            </a:solidFill>
          </p:spPr>
          <p:txBody>
            <a:bodyPr wrap="square" rtlCol="0">
              <a:spAutoFit/>
            </a:bodyPr>
            <a:lstStyle/>
            <a:p>
              <a:pPr algn="ctr"/>
              <a:r>
                <a:rPr lang="es-ES" sz="1100" dirty="0">
                  <a:solidFill>
                    <a:srgbClr val="2F5597"/>
                  </a:solidFill>
                </a:rPr>
                <a:t>Non-</a:t>
              </a:r>
              <a:r>
                <a:rPr lang="es-ES" sz="1100" dirty="0" err="1">
                  <a:solidFill>
                    <a:srgbClr val="2F5597"/>
                  </a:solidFill>
                </a:rPr>
                <a:t>declining</a:t>
              </a:r>
              <a:r>
                <a:rPr lang="es-ES" sz="1100" dirty="0">
                  <a:solidFill>
                    <a:srgbClr val="2F5597"/>
                  </a:solidFill>
                </a:rPr>
                <a:t> site</a:t>
              </a:r>
            </a:p>
          </p:txBody>
        </p:sp>
        <p:sp>
          <p:nvSpPr>
            <p:cNvPr id="23" name="CuadroTexto 22">
              <a:extLst>
                <a:ext uri="{FF2B5EF4-FFF2-40B4-BE49-F238E27FC236}">
                  <a16:creationId xmlns:a16="http://schemas.microsoft.com/office/drawing/2014/main" id="{6E1F4340-629D-1579-80CB-121769E85279}"/>
                </a:ext>
              </a:extLst>
            </p:cNvPr>
            <p:cNvSpPr txBox="1"/>
            <p:nvPr/>
          </p:nvSpPr>
          <p:spPr>
            <a:xfrm>
              <a:off x="7313725" y="5989310"/>
              <a:ext cx="1217297" cy="261610"/>
            </a:xfrm>
            <a:prstGeom prst="rect">
              <a:avLst/>
            </a:prstGeom>
            <a:solidFill>
              <a:schemeClr val="bg1"/>
            </a:solidFill>
          </p:spPr>
          <p:txBody>
            <a:bodyPr wrap="square" rtlCol="0">
              <a:spAutoFit/>
            </a:bodyPr>
            <a:lstStyle/>
            <a:p>
              <a:pPr algn="ctr"/>
              <a:r>
                <a:rPr lang="es-ES" sz="1100" dirty="0">
                  <a:solidFill>
                    <a:srgbClr val="7030A0"/>
                  </a:solidFill>
                  <a:cs typeface="Helvetica" panose="020B0604020202020204"/>
                </a:rPr>
                <a:t>Non-</a:t>
              </a:r>
              <a:r>
                <a:rPr lang="es-ES" sz="1100" dirty="0" err="1">
                  <a:solidFill>
                    <a:srgbClr val="7030A0"/>
                  </a:solidFill>
                  <a:cs typeface="Helvetica" panose="020B0604020202020204"/>
                </a:rPr>
                <a:t>declining</a:t>
              </a:r>
              <a:r>
                <a:rPr lang="es-ES" sz="1100" dirty="0">
                  <a:solidFill>
                    <a:srgbClr val="7030A0"/>
                  </a:solidFill>
                  <a:cs typeface="Helvetica" panose="020B0604020202020204"/>
                </a:rPr>
                <a:t> site</a:t>
              </a:r>
            </a:p>
          </p:txBody>
        </p:sp>
        <p:sp>
          <p:nvSpPr>
            <p:cNvPr id="24" name="CuadroTexto 23">
              <a:extLst>
                <a:ext uri="{FF2B5EF4-FFF2-40B4-BE49-F238E27FC236}">
                  <a16:creationId xmlns:a16="http://schemas.microsoft.com/office/drawing/2014/main" id="{AD6DA4FE-3CC6-6D36-6ECB-E616FD3C3825}"/>
                </a:ext>
              </a:extLst>
            </p:cNvPr>
            <p:cNvSpPr txBox="1"/>
            <p:nvPr/>
          </p:nvSpPr>
          <p:spPr>
            <a:xfrm>
              <a:off x="8482962" y="6002841"/>
              <a:ext cx="946093" cy="261610"/>
            </a:xfrm>
            <a:prstGeom prst="rect">
              <a:avLst/>
            </a:prstGeom>
            <a:solidFill>
              <a:schemeClr val="bg1"/>
            </a:solidFill>
          </p:spPr>
          <p:txBody>
            <a:bodyPr wrap="none" rtlCol="0">
              <a:spAutoFit/>
            </a:bodyPr>
            <a:lstStyle/>
            <a:p>
              <a:r>
                <a:rPr lang="es-ES" sz="1100" dirty="0" err="1">
                  <a:solidFill>
                    <a:srgbClr val="C00000"/>
                  </a:solidFill>
                </a:rPr>
                <a:t>Declining</a:t>
              </a:r>
              <a:r>
                <a:rPr lang="es-ES" sz="1100" dirty="0">
                  <a:solidFill>
                    <a:srgbClr val="C00000"/>
                  </a:solidFill>
                </a:rPr>
                <a:t> site</a:t>
              </a:r>
            </a:p>
          </p:txBody>
        </p:sp>
      </p:grpSp>
      <p:grpSp>
        <p:nvGrpSpPr>
          <p:cNvPr id="11" name="Grupo 10">
            <a:extLst>
              <a:ext uri="{FF2B5EF4-FFF2-40B4-BE49-F238E27FC236}">
                <a16:creationId xmlns:a16="http://schemas.microsoft.com/office/drawing/2014/main" id="{0557B1E9-74A8-C0C5-AD5B-AA26E6A91D29}"/>
              </a:ext>
            </a:extLst>
          </p:cNvPr>
          <p:cNvGrpSpPr/>
          <p:nvPr/>
        </p:nvGrpSpPr>
        <p:grpSpPr>
          <a:xfrm>
            <a:off x="8527188" y="3944761"/>
            <a:ext cx="3477754" cy="1250117"/>
            <a:chOff x="1139560" y="5095351"/>
            <a:chExt cx="3477754" cy="1250117"/>
          </a:xfrm>
        </p:grpSpPr>
        <p:pic>
          <p:nvPicPr>
            <p:cNvPr id="17" name="Imagen 16">
              <a:extLst>
                <a:ext uri="{FF2B5EF4-FFF2-40B4-BE49-F238E27FC236}">
                  <a16:creationId xmlns:a16="http://schemas.microsoft.com/office/drawing/2014/main" id="{95D803EB-ABFC-2B48-4BBB-B4D3D82F3307}"/>
                </a:ext>
              </a:extLst>
            </p:cNvPr>
            <p:cNvPicPr>
              <a:picLocks noChangeAspect="1"/>
            </p:cNvPicPr>
            <p:nvPr/>
          </p:nvPicPr>
          <p:blipFill>
            <a:blip r:embed="rId3"/>
            <a:srcRect b="57655"/>
            <a:stretch/>
          </p:blipFill>
          <p:spPr>
            <a:xfrm>
              <a:off x="1139560" y="5095351"/>
              <a:ext cx="3477754" cy="1250117"/>
            </a:xfrm>
            <a:prstGeom prst="rect">
              <a:avLst/>
            </a:prstGeom>
          </p:spPr>
        </p:pic>
        <p:sp>
          <p:nvSpPr>
            <p:cNvPr id="18" name="CuadroTexto 17">
              <a:extLst>
                <a:ext uri="{FF2B5EF4-FFF2-40B4-BE49-F238E27FC236}">
                  <a16:creationId xmlns:a16="http://schemas.microsoft.com/office/drawing/2014/main" id="{62EDC70A-6C9F-A939-3CEC-DA2DEB707299}"/>
                </a:ext>
              </a:extLst>
            </p:cNvPr>
            <p:cNvSpPr txBox="1"/>
            <p:nvPr/>
          </p:nvSpPr>
          <p:spPr>
            <a:xfrm>
              <a:off x="1609302" y="5843116"/>
              <a:ext cx="1132041" cy="292388"/>
            </a:xfrm>
            <a:prstGeom prst="rect">
              <a:avLst/>
            </a:prstGeom>
            <a:solidFill>
              <a:schemeClr val="bg1"/>
            </a:solidFill>
          </p:spPr>
          <p:txBody>
            <a:bodyPr wrap="none" rtlCol="0">
              <a:spAutoFit/>
            </a:bodyPr>
            <a:lstStyle/>
            <a:p>
              <a:r>
                <a:rPr lang="es-ES" sz="1300" dirty="0">
                  <a:solidFill>
                    <a:srgbClr val="2F5597"/>
                  </a:solidFill>
                </a:rPr>
                <a:t>Non-</a:t>
              </a:r>
              <a:r>
                <a:rPr lang="es-ES" sz="1300" dirty="0" err="1">
                  <a:solidFill>
                    <a:srgbClr val="2F5597"/>
                  </a:solidFill>
                </a:rPr>
                <a:t>declining</a:t>
              </a:r>
              <a:endParaRPr lang="es-ES" sz="1300" dirty="0">
                <a:solidFill>
                  <a:srgbClr val="2F5597"/>
                </a:solidFill>
              </a:endParaRPr>
            </a:p>
          </p:txBody>
        </p:sp>
        <p:sp>
          <p:nvSpPr>
            <p:cNvPr id="19" name="CuadroTexto 18">
              <a:extLst>
                <a:ext uri="{FF2B5EF4-FFF2-40B4-BE49-F238E27FC236}">
                  <a16:creationId xmlns:a16="http://schemas.microsoft.com/office/drawing/2014/main" id="{9C373739-D140-0D69-94A9-07D1DDD39ACD}"/>
                </a:ext>
              </a:extLst>
            </p:cNvPr>
            <p:cNvSpPr txBox="1"/>
            <p:nvPr/>
          </p:nvSpPr>
          <p:spPr>
            <a:xfrm>
              <a:off x="3151746" y="5843116"/>
              <a:ext cx="811441" cy="292388"/>
            </a:xfrm>
            <a:prstGeom prst="rect">
              <a:avLst/>
            </a:prstGeom>
            <a:solidFill>
              <a:schemeClr val="bg1"/>
            </a:solidFill>
          </p:spPr>
          <p:txBody>
            <a:bodyPr wrap="none" rtlCol="0">
              <a:spAutoFit/>
            </a:bodyPr>
            <a:lstStyle/>
            <a:p>
              <a:r>
                <a:rPr lang="es-ES" sz="1300" dirty="0" err="1">
                  <a:solidFill>
                    <a:srgbClr val="C00000"/>
                  </a:solidFill>
                </a:rPr>
                <a:t>Declining</a:t>
              </a:r>
              <a:endParaRPr lang="es-ES" sz="1300" dirty="0">
                <a:solidFill>
                  <a:srgbClr val="C00000"/>
                </a:solidFill>
              </a:endParaRPr>
            </a:p>
          </p:txBody>
        </p:sp>
      </p:grpSp>
      <p:grpSp>
        <p:nvGrpSpPr>
          <p:cNvPr id="2" name="Grupo 1">
            <a:extLst>
              <a:ext uri="{FF2B5EF4-FFF2-40B4-BE49-F238E27FC236}">
                <a16:creationId xmlns:a16="http://schemas.microsoft.com/office/drawing/2014/main" id="{D4A7DB54-4178-5298-6B51-7E7A57B25860}"/>
              </a:ext>
            </a:extLst>
          </p:cNvPr>
          <p:cNvGrpSpPr/>
          <p:nvPr/>
        </p:nvGrpSpPr>
        <p:grpSpPr>
          <a:xfrm>
            <a:off x="635710" y="1091933"/>
            <a:ext cx="3761427" cy="5167267"/>
            <a:chOff x="6872115" y="927995"/>
            <a:chExt cx="4007741" cy="5167267"/>
          </a:xfrm>
        </p:grpSpPr>
        <p:cxnSp>
          <p:nvCxnSpPr>
            <p:cNvPr id="6" name="Conector recto de flecha 5">
              <a:extLst>
                <a:ext uri="{FF2B5EF4-FFF2-40B4-BE49-F238E27FC236}">
                  <a16:creationId xmlns:a16="http://schemas.microsoft.com/office/drawing/2014/main" id="{1786FCCD-55EC-DFC5-277E-AF1DDBF94257}"/>
                </a:ext>
              </a:extLst>
            </p:cNvPr>
            <p:cNvCxnSpPr>
              <a:cxnSpLocks/>
            </p:cNvCxnSpPr>
            <p:nvPr/>
          </p:nvCxnSpPr>
          <p:spPr>
            <a:xfrm>
              <a:off x="7208697" y="1279802"/>
              <a:ext cx="3292630" cy="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E88B7465-25BC-FAB4-8CFF-2E7A84028AB2}"/>
                </a:ext>
              </a:extLst>
            </p:cNvPr>
            <p:cNvSpPr txBox="1"/>
            <p:nvPr/>
          </p:nvSpPr>
          <p:spPr>
            <a:xfrm>
              <a:off x="8456917" y="927995"/>
              <a:ext cx="911247" cy="37382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829">
                  <a:latin typeface="Arial" panose="020B0604020202020204" pitchFamily="34" charset="0"/>
                  <a:cs typeface="Arial" panose="020B0604020202020204" pitchFamily="34" charset="0"/>
                </a:rPr>
                <a:t>34 m</a:t>
              </a:r>
            </a:p>
          </p:txBody>
        </p:sp>
        <p:pic>
          <p:nvPicPr>
            <p:cNvPr id="8" name="Imagen 7">
              <a:extLst>
                <a:ext uri="{FF2B5EF4-FFF2-40B4-BE49-F238E27FC236}">
                  <a16:creationId xmlns:a16="http://schemas.microsoft.com/office/drawing/2014/main" id="{30E7678A-7A50-7275-0F35-F468D9323FA1}"/>
                </a:ext>
              </a:extLst>
            </p:cNvPr>
            <p:cNvPicPr>
              <a:picLocks noChangeAspect="1"/>
            </p:cNvPicPr>
            <p:nvPr/>
          </p:nvPicPr>
          <p:blipFill>
            <a:blip r:embed="rId4"/>
            <a:stretch>
              <a:fillRect/>
            </a:stretch>
          </p:blipFill>
          <p:spPr>
            <a:xfrm>
              <a:off x="6872115" y="1563478"/>
              <a:ext cx="4007741" cy="4531784"/>
            </a:xfrm>
            <a:prstGeom prst="rect">
              <a:avLst/>
            </a:prstGeom>
          </p:spPr>
        </p:pic>
      </p:grpSp>
      <p:sp>
        <p:nvSpPr>
          <p:cNvPr id="9" name="CuadroTexto 10">
            <a:extLst>
              <a:ext uri="{FF2B5EF4-FFF2-40B4-BE49-F238E27FC236}">
                <a16:creationId xmlns:a16="http://schemas.microsoft.com/office/drawing/2014/main" id="{BFC4E210-0B8F-7818-4DEA-F8337C5EB8D4}"/>
              </a:ext>
            </a:extLst>
          </p:cNvPr>
          <p:cNvSpPr txBox="1"/>
          <p:nvPr/>
        </p:nvSpPr>
        <p:spPr>
          <a:xfrm>
            <a:off x="4843220" y="1091933"/>
            <a:ext cx="5809299" cy="649408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1.- </a:t>
            </a:r>
            <a:r>
              <a:rPr lang="es-ES" sz="2000" b="1" dirty="0" err="1">
                <a:solidFill>
                  <a:schemeClr val="accent6">
                    <a:lumMod val="75000"/>
                  </a:schemeClr>
                </a:solidFill>
                <a:latin typeface="Helvetica" panose="020B0604020202020204" pitchFamily="34" charset="0"/>
                <a:cs typeface="Helvetica" panose="020B0604020202020204" pitchFamily="34" charset="0"/>
              </a:rPr>
              <a:t>Mature</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trees</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d.b.h</a:t>
            </a:r>
            <a:r>
              <a:rPr lang="es-ES" sz="2000" dirty="0">
                <a:latin typeface="Helvetica" panose="020B0604020202020204" pitchFamily="34" charset="0"/>
                <a:cs typeface="Helvetica" panose="020B0604020202020204" pitchFamily="34" charset="0"/>
              </a:rPr>
              <a:t>.</a:t>
            </a: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2.- </a:t>
            </a:r>
            <a:r>
              <a:rPr lang="es-ES" sz="2000" b="1" dirty="0" err="1">
                <a:solidFill>
                  <a:schemeClr val="accent6">
                    <a:lumMod val="75000"/>
                  </a:schemeClr>
                </a:solidFill>
                <a:latin typeface="Helvetica" panose="020B0604020202020204" pitchFamily="34" charset="0"/>
                <a:cs typeface="Helvetica" panose="020B0604020202020204" pitchFamily="34" charset="0"/>
              </a:rPr>
              <a:t>Regeneration</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height</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3.- </a:t>
            </a:r>
            <a:r>
              <a:rPr lang="es-ES" sz="2000" b="1" dirty="0" err="1">
                <a:solidFill>
                  <a:schemeClr val="accent6">
                    <a:lumMod val="75000"/>
                  </a:schemeClr>
                </a:solidFill>
                <a:latin typeface="Helvetica" panose="020B0604020202020204" pitchFamily="34" charset="0"/>
                <a:cs typeface="Helvetica" panose="020B0604020202020204" pitchFamily="34" charset="0"/>
              </a:rPr>
              <a:t>Shrub</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height</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cover</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4.- Target </a:t>
            </a:r>
            <a:r>
              <a:rPr lang="es-ES" sz="2000" b="1" dirty="0" err="1">
                <a:solidFill>
                  <a:schemeClr val="accent6">
                    <a:lumMod val="75000"/>
                  </a:schemeClr>
                </a:solidFill>
                <a:latin typeface="Helvetica" panose="020B0604020202020204" pitchFamily="34" charset="0"/>
                <a:cs typeface="Helvetica" panose="020B0604020202020204" pitchFamily="34" charset="0"/>
              </a:rPr>
              <a:t>trees</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Height</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a:latin typeface="Helvetica" panose="020B0604020202020204" pitchFamily="34" charset="0"/>
                <a:cs typeface="Helvetica" panose="020B0604020202020204" pitchFamily="34" charset="0"/>
              </a:rPr>
              <a:t>LWC </a:t>
            </a:r>
          </a:p>
          <a:p>
            <a:pPr marL="800100" lvl="1" indent="-342900">
              <a:buClr>
                <a:srgbClr val="218317"/>
              </a:buClr>
              <a:buFont typeface="Arial" panose="020B0604020202020204" pitchFamily="34" charset="0"/>
              <a:buChar char="•"/>
            </a:pPr>
            <a:r>
              <a:rPr lang="es-ES" sz="2000" dirty="0">
                <a:latin typeface="Helvetica" panose="020B0604020202020204" pitchFamily="34" charset="0"/>
                <a:cs typeface="Helvetica" panose="020B0604020202020204" pitchFamily="34" charset="0"/>
              </a:rPr>
              <a:t>SLA</a:t>
            </a: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Photosynthetic</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pigments</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Isotopes</a:t>
            </a:r>
            <a:r>
              <a:rPr lang="es-ES" sz="2000" dirty="0">
                <a:latin typeface="Helvetica" panose="020B0604020202020204" pitchFamily="34" charset="0"/>
                <a:cs typeface="Helvetica" panose="020B0604020202020204" pitchFamily="34" charset="0"/>
              </a:rPr>
              <a:t> (C, N, O)</a:t>
            </a: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5.- </a:t>
            </a:r>
            <a:r>
              <a:rPr lang="es-ES" sz="2000" b="1" dirty="0" err="1">
                <a:solidFill>
                  <a:schemeClr val="accent6">
                    <a:lumMod val="75000"/>
                  </a:schemeClr>
                </a:solidFill>
                <a:latin typeface="Helvetica" panose="020B0604020202020204" pitchFamily="34" charset="0"/>
                <a:cs typeface="Helvetica" panose="020B0604020202020204" pitchFamily="34" charset="0"/>
              </a:rPr>
              <a:t>Soil</a:t>
            </a:r>
            <a:r>
              <a:rPr lang="es-ES" sz="2000" b="1" dirty="0">
                <a:solidFill>
                  <a:schemeClr val="accent6">
                    <a:lumMod val="75000"/>
                  </a:schemeClr>
                </a:solidFill>
                <a:latin typeface="Helvetica" panose="020B0604020202020204" pitchFamily="34" charset="0"/>
                <a:cs typeface="Helvetica" panose="020B0604020202020204" pitchFamily="34" charset="0"/>
              </a:rPr>
              <a:t> data</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p:txBody>
      </p:sp>
      <p:pic>
        <p:nvPicPr>
          <p:cNvPr id="12" name="Gráfico 11" descr="Abeto">
            <a:extLst>
              <a:ext uri="{FF2B5EF4-FFF2-40B4-BE49-F238E27FC236}">
                <a16:creationId xmlns:a16="http://schemas.microsoft.com/office/drawing/2014/main" id="{545A1811-C8ED-7AF6-9FB7-C0AAABC35AF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26902" y="2389013"/>
            <a:ext cx="914400" cy="914400"/>
          </a:xfrm>
          <a:prstGeom prst="rect">
            <a:avLst/>
          </a:prstGeom>
        </p:spPr>
      </p:pic>
      <p:pic>
        <p:nvPicPr>
          <p:cNvPr id="13" name="Gráfico 12" descr="Abeto">
            <a:extLst>
              <a:ext uri="{FF2B5EF4-FFF2-40B4-BE49-F238E27FC236}">
                <a16:creationId xmlns:a16="http://schemas.microsoft.com/office/drawing/2014/main" id="{89ECA156-2E40-F0AE-D17C-B2DCEA8419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183" y="2746686"/>
            <a:ext cx="914400" cy="914400"/>
          </a:xfrm>
          <a:prstGeom prst="rect">
            <a:avLst/>
          </a:prstGeom>
        </p:spPr>
      </p:pic>
      <p:pic>
        <p:nvPicPr>
          <p:cNvPr id="14" name="Gráfico 13" descr="Abeto">
            <a:extLst>
              <a:ext uri="{FF2B5EF4-FFF2-40B4-BE49-F238E27FC236}">
                <a16:creationId xmlns:a16="http://schemas.microsoft.com/office/drawing/2014/main" id="{3B199FEF-6E3B-64F7-ABE6-499676A584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13867" y="3030361"/>
            <a:ext cx="914400" cy="914400"/>
          </a:xfrm>
          <a:prstGeom prst="rect">
            <a:avLst/>
          </a:prstGeom>
        </p:spPr>
      </p:pic>
      <p:pic>
        <p:nvPicPr>
          <p:cNvPr id="15" name="Gráfico 14" descr="Abeto">
            <a:extLst>
              <a:ext uri="{FF2B5EF4-FFF2-40B4-BE49-F238E27FC236}">
                <a16:creationId xmlns:a16="http://schemas.microsoft.com/office/drawing/2014/main" id="{F1C2D211-15A5-69E5-AA50-E3C085ECC35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37058" y="4127146"/>
            <a:ext cx="914400" cy="914400"/>
          </a:xfrm>
          <a:prstGeom prst="rect">
            <a:avLst/>
          </a:prstGeom>
        </p:spPr>
      </p:pic>
      <p:pic>
        <p:nvPicPr>
          <p:cNvPr id="16" name="Gráfico 15" descr="Abeto">
            <a:extLst>
              <a:ext uri="{FF2B5EF4-FFF2-40B4-BE49-F238E27FC236}">
                <a16:creationId xmlns:a16="http://schemas.microsoft.com/office/drawing/2014/main" id="{7A90B577-9218-845B-73D1-20C0BB8C1C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78353" y="4224808"/>
            <a:ext cx="914400" cy="914400"/>
          </a:xfrm>
          <a:prstGeom prst="rect">
            <a:avLst/>
          </a:prstGeom>
        </p:spPr>
      </p:pic>
      <p:sp>
        <p:nvSpPr>
          <p:cNvPr id="3" name="Título 1">
            <a:extLst>
              <a:ext uri="{FF2B5EF4-FFF2-40B4-BE49-F238E27FC236}">
                <a16:creationId xmlns:a16="http://schemas.microsoft.com/office/drawing/2014/main" id="{BDB7A46D-91B8-F459-9835-65013F61A8DB}"/>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Sampling</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design</a:t>
            </a:r>
            <a:endParaRPr lang="es-ES" sz="3200" b="1" dirty="0">
              <a:solidFill>
                <a:schemeClr val="bg1"/>
              </a:solidFill>
              <a:latin typeface="Helvetica" panose="020B0604020202020204" pitchFamily="34" charset="0"/>
              <a:cs typeface="Helvetica" panose="020B0604020202020204" pitchFamily="34" charset="0"/>
            </a:endParaRPr>
          </a:p>
        </p:txBody>
      </p:sp>
      <p:sp>
        <p:nvSpPr>
          <p:cNvPr id="4" name="Título 1">
            <a:extLst>
              <a:ext uri="{FF2B5EF4-FFF2-40B4-BE49-F238E27FC236}">
                <a16:creationId xmlns:a16="http://schemas.microsoft.com/office/drawing/2014/main" id="{05782E1E-BC36-63F5-4AA7-2039232E13EA}"/>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575871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5B835-B71E-2989-E7E7-A496A14916C2}"/>
            </a:ext>
          </a:extLst>
        </p:cNvPr>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79B54AFA-0DF0-CB85-F678-98071C00F4C0}"/>
              </a:ext>
            </a:extLst>
          </p:cNvPr>
          <p:cNvSpPr txBox="1">
            <a:spLocks/>
          </p:cNvSpPr>
          <p:nvPr/>
        </p:nvSpPr>
        <p:spPr>
          <a:xfrm>
            <a:off x="883112" y="1248960"/>
            <a:ext cx="5303636" cy="38288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18317"/>
              </a:buClr>
            </a:pPr>
            <a:r>
              <a:rPr lang="es-ES" sz="2400" b="1" dirty="0" err="1">
                <a:latin typeface="Helvetica"/>
                <a:cs typeface="Helvetica"/>
              </a:rPr>
              <a:t>Morphological</a:t>
            </a:r>
            <a:endParaRPr lang="es-ES" sz="2400" b="1" dirty="0">
              <a:latin typeface="Helvetica"/>
              <a:ea typeface="Calibri" panose="020F0502020204030204"/>
              <a:cs typeface="Helvetica"/>
            </a:endParaRPr>
          </a:p>
          <a:p>
            <a:pPr lvl="1">
              <a:buClr>
                <a:srgbClr val="218317"/>
              </a:buClr>
              <a:buFont typeface="Calibri" panose="020B0604020202020204" pitchFamily="34" charset="0"/>
              <a:buChar char="-"/>
            </a:pPr>
            <a:r>
              <a:rPr lang="es-ES" sz="2000" dirty="0" err="1">
                <a:latin typeface="Helvetica"/>
                <a:cs typeface="Helvetica"/>
              </a:rPr>
              <a:t>Tree</a:t>
            </a:r>
            <a:r>
              <a:rPr lang="es-ES" sz="2000" dirty="0">
                <a:latin typeface="Helvetica"/>
                <a:cs typeface="Helvetica"/>
              </a:rPr>
              <a:t> </a:t>
            </a:r>
            <a:r>
              <a:rPr lang="es-ES" sz="2000" dirty="0" err="1">
                <a:latin typeface="Helvetica"/>
                <a:cs typeface="Helvetica"/>
              </a:rPr>
              <a:t>growth</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dendro</a:t>
            </a:r>
            <a:endParaRPr lang="es-ES" sz="2000" dirty="0">
              <a:latin typeface="Helvetica"/>
              <a:cs typeface="Helvetica"/>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traits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leaf</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area</a:t>
            </a:r>
            <a:r>
              <a:rPr lang="es-ES" sz="2000" dirty="0">
                <a:latin typeface="Helvetica"/>
                <a:cs typeface="Helvetica"/>
                <a:sym typeface="Wingdings" panose="05000000000000000000" pitchFamily="2" charset="2"/>
              </a:rPr>
              <a:t> &amp; </a:t>
            </a:r>
            <a:r>
              <a:rPr lang="es-ES" sz="2000" dirty="0" err="1">
                <a:latin typeface="Helvetica"/>
                <a:cs typeface="Helvetica"/>
                <a:sym typeface="Wingdings" panose="05000000000000000000" pitchFamily="2" charset="2"/>
              </a:rPr>
              <a:t>defoliation</a:t>
            </a:r>
            <a:r>
              <a:rPr lang="es-ES" sz="2000" dirty="0">
                <a:latin typeface="Helvetica"/>
                <a:cs typeface="Helvetica"/>
                <a:sym typeface="Wingdings" panose="05000000000000000000" pitchFamily="2" charset="2"/>
              </a:rPr>
              <a:t> </a:t>
            </a:r>
          </a:p>
          <a:p>
            <a:pPr lvl="1">
              <a:buClr>
                <a:srgbClr val="218317"/>
              </a:buClr>
              <a:buFont typeface="Calibri" panose="020B0604020202020204" pitchFamily="34" charset="0"/>
              <a:buChar char="-"/>
            </a:pPr>
            <a:endParaRPr lang="es-ES" sz="2000" dirty="0">
              <a:latin typeface="Helvetica"/>
              <a:cs typeface="Helvetica"/>
            </a:endParaRPr>
          </a:p>
          <a:p>
            <a:pPr>
              <a:buClr>
                <a:srgbClr val="218317"/>
              </a:buClr>
            </a:pPr>
            <a:r>
              <a:rPr lang="es-ES" sz="2400" b="1" dirty="0" err="1">
                <a:latin typeface="Helvetica"/>
                <a:cs typeface="Helvetica"/>
              </a:rPr>
              <a:t>Physiological</a:t>
            </a:r>
            <a:endParaRPr lang="es-ES" sz="2400" b="1"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Photosynthesis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spectrophotometry</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Water</a:t>
            </a:r>
            <a:r>
              <a:rPr lang="es-ES" sz="2000" dirty="0">
                <a:latin typeface="Helvetica"/>
                <a:cs typeface="Helvetica"/>
              </a:rPr>
              <a:t> </a:t>
            </a:r>
            <a:r>
              <a:rPr lang="es-ES" sz="2000" dirty="0" err="1">
                <a:latin typeface="Helvetica"/>
                <a:cs typeface="Helvetica"/>
              </a:rPr>
              <a:t>relations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water</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nutrients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C &amp; N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isotopes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isotopes</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000" dirty="0">
              <a:latin typeface="Helvetica" panose="020B0604020202020204" pitchFamily="34" charset="0"/>
              <a:cs typeface="Helvetica" panose="020B0604020202020204" pitchFamily="34" charset="0"/>
            </a:endParaRPr>
          </a:p>
          <a:p>
            <a:endParaRPr lang="es-ES" sz="2400" dirty="0">
              <a:latin typeface="Helvetica" panose="020B0604020202020204" pitchFamily="34" charset="0"/>
              <a:cs typeface="Helvetica" panose="020B0604020202020204" pitchFamily="34" charset="0"/>
            </a:endParaRPr>
          </a:p>
        </p:txBody>
      </p:sp>
      <p:sp>
        <p:nvSpPr>
          <p:cNvPr id="3" name="Rectangle 1">
            <a:extLst>
              <a:ext uri="{FF2B5EF4-FFF2-40B4-BE49-F238E27FC236}">
                <a16:creationId xmlns:a16="http://schemas.microsoft.com/office/drawing/2014/main" id="{6F6A97FF-FF6A-EEE9-1CC0-AB48DB192F39}"/>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4" name="Marcador de contenido 2">
            <a:extLst>
              <a:ext uri="{FF2B5EF4-FFF2-40B4-BE49-F238E27FC236}">
                <a16:creationId xmlns:a16="http://schemas.microsoft.com/office/drawing/2014/main" id="{72FF20BA-0C7E-1C22-7F45-4CE624AEDEB1}"/>
              </a:ext>
            </a:extLst>
          </p:cNvPr>
          <p:cNvSpPr txBox="1">
            <a:spLocks/>
          </p:cNvSpPr>
          <p:nvPr/>
        </p:nvSpPr>
        <p:spPr>
          <a:xfrm>
            <a:off x="6683951" y="2123594"/>
            <a:ext cx="2563083" cy="16945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2400" i="1" dirty="0" err="1">
                <a:solidFill>
                  <a:srgbClr val="746FB2"/>
                </a:solidFill>
                <a:latin typeface="Helvetica"/>
                <a:cs typeface="Helvetica"/>
              </a:rPr>
              <a:t>Abies</a:t>
            </a:r>
            <a:r>
              <a:rPr lang="es-ES" sz="2400" i="1" dirty="0">
                <a:solidFill>
                  <a:srgbClr val="746FB2"/>
                </a:solidFill>
                <a:latin typeface="Helvetica"/>
                <a:cs typeface="Helvetica"/>
              </a:rPr>
              <a:t> alba</a:t>
            </a:r>
          </a:p>
          <a:p>
            <a:pPr marL="0" indent="0">
              <a:buClr>
                <a:srgbClr val="218317"/>
              </a:buClr>
              <a:buNone/>
            </a:pPr>
            <a:r>
              <a:rPr lang="es-ES" sz="2400" i="1" dirty="0" err="1">
                <a:solidFill>
                  <a:srgbClr val="1B9E77"/>
                </a:solidFill>
                <a:latin typeface="Helvetica" panose="020B0604020202020204" pitchFamily="34" charset="0"/>
                <a:cs typeface="Helvetica" panose="020B0604020202020204" pitchFamily="34" charset="0"/>
              </a:rPr>
              <a:t>Pinus</a:t>
            </a:r>
            <a:r>
              <a:rPr lang="es-ES" sz="2400" i="1" dirty="0">
                <a:solidFill>
                  <a:srgbClr val="1B9E77"/>
                </a:solidFill>
                <a:latin typeface="Helvetica" panose="020B0604020202020204" pitchFamily="34" charset="0"/>
                <a:cs typeface="Helvetica" panose="020B0604020202020204" pitchFamily="34" charset="0"/>
              </a:rPr>
              <a:t> </a:t>
            </a:r>
            <a:r>
              <a:rPr lang="es-ES" sz="2400" i="1" dirty="0" err="1">
                <a:solidFill>
                  <a:srgbClr val="1B9E77"/>
                </a:solidFill>
                <a:latin typeface="Helvetica" panose="020B0604020202020204" pitchFamily="34" charset="0"/>
                <a:cs typeface="Helvetica" panose="020B0604020202020204" pitchFamily="34" charset="0"/>
              </a:rPr>
              <a:t>sylvestris</a:t>
            </a:r>
            <a:endParaRPr lang="es-ES" sz="2400" i="1" dirty="0">
              <a:solidFill>
                <a:srgbClr val="1B9E77"/>
              </a:solidFill>
              <a:latin typeface="Helvetica" panose="020B0604020202020204" pitchFamily="34" charset="0"/>
              <a:cs typeface="Helvetica" panose="020B0604020202020204" pitchFamily="34" charset="0"/>
            </a:endParaRPr>
          </a:p>
          <a:p>
            <a:pPr marL="0" indent="0">
              <a:buClr>
                <a:srgbClr val="218317"/>
              </a:buClr>
              <a:buNone/>
            </a:pPr>
            <a:r>
              <a:rPr lang="es-ES" sz="2400" i="1" dirty="0" err="1">
                <a:solidFill>
                  <a:srgbClr val="DB5F02"/>
                </a:solidFill>
                <a:latin typeface="Helvetica" panose="020B0604020202020204" pitchFamily="34" charset="0"/>
                <a:cs typeface="Helvetica" panose="020B0604020202020204" pitchFamily="34" charset="0"/>
              </a:rPr>
              <a:t>Pinus</a:t>
            </a:r>
            <a:r>
              <a:rPr lang="es-ES" sz="2400" i="1" dirty="0">
                <a:solidFill>
                  <a:srgbClr val="DB5F02"/>
                </a:solidFill>
                <a:latin typeface="Helvetica" panose="020B0604020202020204" pitchFamily="34" charset="0"/>
                <a:cs typeface="Helvetica" panose="020B0604020202020204" pitchFamily="34" charset="0"/>
              </a:rPr>
              <a:t> pinea </a:t>
            </a:r>
          </a:p>
          <a:p>
            <a:pPr lvl="1">
              <a:buClr>
                <a:srgbClr val="218317"/>
              </a:buClr>
              <a:buFont typeface="Calibri" panose="02070309020205020404" pitchFamily="49" charset="0"/>
              <a:buChar char="-"/>
            </a:pPr>
            <a:endParaRPr lang="es-ES" dirty="0">
              <a:latin typeface="Helvetica" panose="020B0604020202020204" pitchFamily="34" charset="0"/>
              <a:cs typeface="Helvetica" panose="020B0604020202020204" pitchFamily="34" charset="0"/>
            </a:endParaRPr>
          </a:p>
          <a:p>
            <a:endParaRPr lang="es-ES" dirty="0">
              <a:latin typeface="Helvetica" panose="020B0604020202020204" pitchFamily="34" charset="0"/>
              <a:cs typeface="Helvetica" panose="020B0604020202020204" pitchFamily="34" charset="0"/>
            </a:endParaRPr>
          </a:p>
        </p:txBody>
      </p:sp>
      <p:sp>
        <p:nvSpPr>
          <p:cNvPr id="6" name="Marcador de contenido 2">
            <a:extLst>
              <a:ext uri="{FF2B5EF4-FFF2-40B4-BE49-F238E27FC236}">
                <a16:creationId xmlns:a16="http://schemas.microsoft.com/office/drawing/2014/main" id="{24AEED58-709F-898C-12A6-99AB65DAD3F8}"/>
              </a:ext>
            </a:extLst>
          </p:cNvPr>
          <p:cNvSpPr txBox="1">
            <a:spLocks/>
          </p:cNvSpPr>
          <p:nvPr/>
        </p:nvSpPr>
        <p:spPr>
          <a:xfrm>
            <a:off x="7965492" y="4578350"/>
            <a:ext cx="3672037" cy="19719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Clr>
                <a:srgbClr val="218317"/>
              </a:buClr>
              <a:buNone/>
            </a:pPr>
            <a:endParaRPr lang="es-ES" sz="2400" b="1" u="sng" dirty="0">
              <a:latin typeface="Helvetica" panose="020B0604020202020204" pitchFamily="34" charset="0"/>
              <a:cs typeface="Helvetica" panose="020B0604020202020204" pitchFamily="34" charset="0"/>
            </a:endParaRPr>
          </a:p>
          <a:p>
            <a:pPr marL="457200" lvl="1" indent="0" algn="r">
              <a:buClr>
                <a:srgbClr val="218317"/>
              </a:buClr>
              <a:buNone/>
            </a:pPr>
            <a:r>
              <a:rPr lang="es-ES" b="1" u="sng" dirty="0">
                <a:latin typeface="Helvetica" panose="020B0604020202020204" pitchFamily="34" charset="0"/>
                <a:cs typeface="Helvetica" panose="020B0604020202020204" pitchFamily="34" charset="0"/>
              </a:rPr>
              <a:t>462 target </a:t>
            </a:r>
            <a:r>
              <a:rPr lang="es-ES" b="1" u="sng" dirty="0" err="1">
                <a:latin typeface="Helvetica" panose="020B0604020202020204" pitchFamily="34" charset="0"/>
                <a:cs typeface="Helvetica" panose="020B0604020202020204" pitchFamily="34" charset="0"/>
              </a:rPr>
              <a:t>trees</a:t>
            </a:r>
            <a:endParaRPr lang="es-ES" b="1" u="sng" dirty="0">
              <a:latin typeface="Helvetica" panose="020B0604020202020204" pitchFamily="34" charset="0"/>
              <a:cs typeface="Helvetica" panose="020B0604020202020204" pitchFamily="34" charset="0"/>
            </a:endParaRPr>
          </a:p>
          <a:p>
            <a:pPr algn="r"/>
            <a:endParaRPr lang="es-ES" b="1" u="sng" dirty="0">
              <a:latin typeface="Helvetica" panose="020B0604020202020204" pitchFamily="34" charset="0"/>
              <a:cs typeface="Helvetica" panose="020B0604020202020204" pitchFamily="34" charset="0"/>
            </a:endParaRPr>
          </a:p>
        </p:txBody>
      </p:sp>
      <p:sp>
        <p:nvSpPr>
          <p:cNvPr id="7" name="Marcador de contenido 2">
            <a:extLst>
              <a:ext uri="{FF2B5EF4-FFF2-40B4-BE49-F238E27FC236}">
                <a16:creationId xmlns:a16="http://schemas.microsoft.com/office/drawing/2014/main" id="{EC85E287-2566-DBE7-BD26-B22072E8579A}"/>
              </a:ext>
            </a:extLst>
          </p:cNvPr>
          <p:cNvSpPr txBox="1">
            <a:spLocks/>
          </p:cNvSpPr>
          <p:nvPr/>
        </p:nvSpPr>
        <p:spPr>
          <a:xfrm>
            <a:off x="7908218" y="2052059"/>
            <a:ext cx="3672037" cy="25262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Clr>
                <a:srgbClr val="218317"/>
              </a:buClr>
              <a:buNone/>
            </a:pPr>
            <a:r>
              <a:rPr lang="es-ES" sz="2400" dirty="0">
                <a:solidFill>
                  <a:srgbClr val="746FB2"/>
                </a:solidFill>
                <a:latin typeface="Helvetica"/>
                <a:cs typeface="Helvetica"/>
              </a:rPr>
              <a:t>23 </a:t>
            </a:r>
            <a:r>
              <a:rPr lang="es-ES" sz="2400" dirty="0" err="1">
                <a:solidFill>
                  <a:srgbClr val="746FB2"/>
                </a:solidFill>
                <a:latin typeface="Helvetica"/>
                <a:cs typeface="Helvetica"/>
              </a:rPr>
              <a:t>plots</a:t>
            </a:r>
            <a:endParaRPr lang="es-ES" sz="2400" dirty="0">
              <a:solidFill>
                <a:srgbClr val="746FB2"/>
              </a:solidFill>
              <a:latin typeface="Helvetica"/>
              <a:cs typeface="Helvetica"/>
            </a:endParaRPr>
          </a:p>
          <a:p>
            <a:pPr marL="0" indent="0" algn="r">
              <a:buClr>
                <a:srgbClr val="218317"/>
              </a:buClr>
              <a:buNone/>
            </a:pPr>
            <a:r>
              <a:rPr lang="es-ES" sz="2400" dirty="0">
                <a:solidFill>
                  <a:srgbClr val="1B9E77"/>
                </a:solidFill>
                <a:latin typeface="Helvetica" panose="020B0604020202020204" pitchFamily="34" charset="0"/>
                <a:cs typeface="Helvetica" panose="020B0604020202020204" pitchFamily="34" charset="0"/>
              </a:rPr>
              <a:t>51 </a:t>
            </a:r>
            <a:r>
              <a:rPr lang="es-ES" sz="2400" dirty="0" err="1">
                <a:solidFill>
                  <a:srgbClr val="1B9E77"/>
                </a:solidFill>
                <a:latin typeface="Helvetica" panose="020B0604020202020204" pitchFamily="34" charset="0"/>
                <a:cs typeface="Helvetica" panose="020B0604020202020204" pitchFamily="34" charset="0"/>
              </a:rPr>
              <a:t>plots</a:t>
            </a:r>
            <a:endParaRPr lang="es-ES" sz="2400" dirty="0">
              <a:solidFill>
                <a:srgbClr val="1B9E77"/>
              </a:solidFill>
              <a:latin typeface="Helvetica" panose="020B0604020202020204" pitchFamily="34" charset="0"/>
              <a:cs typeface="Helvetica" panose="020B0604020202020204" pitchFamily="34" charset="0"/>
            </a:endParaRPr>
          </a:p>
          <a:p>
            <a:pPr marL="0" indent="0" algn="r">
              <a:buClr>
                <a:srgbClr val="218317"/>
              </a:buClr>
              <a:buNone/>
            </a:pPr>
            <a:r>
              <a:rPr lang="es-ES" sz="2400" dirty="0">
                <a:solidFill>
                  <a:srgbClr val="DB5F02"/>
                </a:solidFill>
                <a:latin typeface="Helvetica" panose="020B0604020202020204" pitchFamily="34" charset="0"/>
                <a:cs typeface="Helvetica" panose="020B0604020202020204" pitchFamily="34" charset="0"/>
              </a:rPr>
              <a:t>17 </a:t>
            </a:r>
            <a:r>
              <a:rPr lang="es-ES" sz="2400" dirty="0" err="1">
                <a:solidFill>
                  <a:srgbClr val="DB5F02"/>
                </a:solidFill>
                <a:latin typeface="Helvetica" panose="020B0604020202020204" pitchFamily="34" charset="0"/>
                <a:cs typeface="Helvetica" panose="020B0604020202020204" pitchFamily="34" charset="0"/>
              </a:rPr>
              <a:t>plots</a:t>
            </a:r>
            <a:endParaRPr lang="es-ES" sz="2400" dirty="0">
              <a:solidFill>
                <a:srgbClr val="DB5F02"/>
              </a:solidFill>
              <a:latin typeface="Helvetica" panose="020B0604020202020204" pitchFamily="34" charset="0"/>
              <a:cs typeface="Helvetica" panose="020B0604020202020204" pitchFamily="34" charset="0"/>
            </a:endParaRPr>
          </a:p>
          <a:p>
            <a:pPr marL="0" indent="0" algn="r">
              <a:buClr>
                <a:srgbClr val="218317"/>
              </a:buClr>
              <a:buNone/>
            </a:pPr>
            <a:endParaRPr lang="es-ES" sz="2400" dirty="0">
              <a:latin typeface="Helvetica" panose="020B0604020202020204" pitchFamily="34" charset="0"/>
              <a:cs typeface="Helvetica" panose="020B0604020202020204" pitchFamily="34" charset="0"/>
            </a:endParaRPr>
          </a:p>
          <a:p>
            <a:pPr marL="457200" lvl="1" indent="0" algn="r">
              <a:buClr>
                <a:srgbClr val="218317"/>
              </a:buClr>
              <a:buNone/>
            </a:pPr>
            <a:r>
              <a:rPr lang="es-ES" dirty="0">
                <a:latin typeface="Helvetica" panose="020B0604020202020204" pitchFamily="34" charset="0"/>
                <a:cs typeface="Helvetica" panose="020B0604020202020204" pitchFamily="34" charset="0"/>
              </a:rPr>
              <a:t>5 targets  x  91 </a:t>
            </a:r>
            <a:r>
              <a:rPr lang="es-ES" dirty="0" err="1">
                <a:latin typeface="Helvetica" panose="020B0604020202020204" pitchFamily="34" charset="0"/>
                <a:cs typeface="Helvetica" panose="020B0604020202020204" pitchFamily="34" charset="0"/>
              </a:rPr>
              <a:t>plots</a:t>
            </a:r>
            <a:endParaRPr lang="es-ES" dirty="0">
              <a:latin typeface="Helvetica" panose="020B0604020202020204" pitchFamily="34" charset="0"/>
              <a:cs typeface="Helvetica" panose="020B0604020202020204" pitchFamily="34" charset="0"/>
            </a:endParaRPr>
          </a:p>
          <a:p>
            <a:pPr algn="r"/>
            <a:endParaRPr lang="es-ES" dirty="0">
              <a:latin typeface="Helvetica" panose="020B0604020202020204" pitchFamily="34" charset="0"/>
              <a:cs typeface="Helvetica" panose="020B0604020202020204" pitchFamily="34" charset="0"/>
            </a:endParaRPr>
          </a:p>
        </p:txBody>
      </p:sp>
      <p:sp>
        <p:nvSpPr>
          <p:cNvPr id="2" name="Título 1">
            <a:extLst>
              <a:ext uri="{FF2B5EF4-FFF2-40B4-BE49-F238E27FC236}">
                <a16:creationId xmlns:a16="http://schemas.microsoft.com/office/drawing/2014/main" id="{C0D84DF4-2490-EB95-168F-DB742423D548}"/>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Sampling</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design</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C0EED7EC-8E57-6D07-021B-D020ECFE0CE8}"/>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645363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6FAEA-39D9-CE78-4D46-CC5CAC7C705D}"/>
            </a:ext>
          </a:extLst>
        </p:cNvPr>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7326C9ED-643F-A6B7-434D-002D898ED626}"/>
              </a:ext>
            </a:extLst>
          </p:cNvPr>
          <p:cNvSpPr txBox="1">
            <a:spLocks/>
          </p:cNvSpPr>
          <p:nvPr/>
        </p:nvSpPr>
        <p:spPr>
          <a:xfrm>
            <a:off x="792364" y="1836789"/>
            <a:ext cx="5303636" cy="38288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18317"/>
              </a:buClr>
            </a:pPr>
            <a:r>
              <a:rPr lang="es-ES" sz="2400" b="1" dirty="0" err="1">
                <a:latin typeface="Helvetica"/>
                <a:cs typeface="Helvetica"/>
              </a:rPr>
              <a:t>Morphological</a:t>
            </a:r>
            <a:endParaRPr lang="es-ES" sz="2400" b="1" dirty="0">
              <a:latin typeface="Helvetica"/>
              <a:ea typeface="Calibri" panose="020F0502020204030204"/>
              <a:cs typeface="Helvetica"/>
            </a:endParaRPr>
          </a:p>
          <a:p>
            <a:pPr lvl="1">
              <a:buClr>
                <a:srgbClr val="218317"/>
              </a:buClr>
              <a:buFont typeface="Calibri" panose="020B0604020202020204" pitchFamily="34" charset="0"/>
              <a:buChar char="-"/>
            </a:pPr>
            <a:r>
              <a:rPr lang="es-ES" sz="2000" dirty="0" err="1">
                <a:latin typeface="Helvetica"/>
                <a:cs typeface="Helvetica"/>
              </a:rPr>
              <a:t>Tree</a:t>
            </a:r>
            <a:r>
              <a:rPr lang="es-ES" sz="2000" dirty="0">
                <a:latin typeface="Helvetica"/>
                <a:cs typeface="Helvetica"/>
              </a:rPr>
              <a:t> </a:t>
            </a:r>
            <a:r>
              <a:rPr lang="es-ES" sz="2000" dirty="0" err="1">
                <a:latin typeface="Helvetica"/>
                <a:cs typeface="Helvetica"/>
              </a:rPr>
              <a:t>growth</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dendro</a:t>
            </a:r>
            <a:endParaRPr lang="es-ES" sz="2000" dirty="0">
              <a:latin typeface="Helvetica"/>
              <a:cs typeface="Helvetica"/>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traits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leaf</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area</a:t>
            </a:r>
            <a:r>
              <a:rPr lang="es-ES" sz="2000" dirty="0">
                <a:latin typeface="Helvetica"/>
                <a:cs typeface="Helvetica"/>
                <a:sym typeface="Wingdings" panose="05000000000000000000" pitchFamily="2" charset="2"/>
              </a:rPr>
              <a:t> &amp; </a:t>
            </a:r>
            <a:r>
              <a:rPr lang="es-ES" sz="2000" dirty="0" err="1">
                <a:latin typeface="Helvetica"/>
                <a:cs typeface="Helvetica"/>
                <a:sym typeface="Wingdings" panose="05000000000000000000" pitchFamily="2" charset="2"/>
              </a:rPr>
              <a:t>defoliation</a:t>
            </a:r>
            <a:r>
              <a:rPr lang="es-ES" sz="2000" dirty="0">
                <a:latin typeface="Helvetica"/>
                <a:cs typeface="Helvetica"/>
                <a:sym typeface="Wingdings" panose="05000000000000000000" pitchFamily="2" charset="2"/>
              </a:rPr>
              <a:t> </a:t>
            </a:r>
          </a:p>
          <a:p>
            <a:pPr lvl="1">
              <a:buClr>
                <a:srgbClr val="218317"/>
              </a:buClr>
              <a:buFont typeface="Calibri" panose="020B0604020202020204" pitchFamily="34" charset="0"/>
              <a:buChar char="-"/>
            </a:pPr>
            <a:endParaRPr lang="es-ES" sz="2000" dirty="0">
              <a:latin typeface="Helvetica"/>
              <a:cs typeface="Helvetica"/>
            </a:endParaRPr>
          </a:p>
          <a:p>
            <a:pPr>
              <a:buClr>
                <a:srgbClr val="218317"/>
              </a:buClr>
            </a:pPr>
            <a:r>
              <a:rPr lang="es-ES" sz="2400" b="1" dirty="0" err="1">
                <a:latin typeface="Helvetica"/>
                <a:cs typeface="Helvetica"/>
              </a:rPr>
              <a:t>Physiological</a:t>
            </a:r>
            <a:endParaRPr lang="es-ES" sz="2400" b="1"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Photosynthesis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spectrophotometry</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Water</a:t>
            </a:r>
            <a:r>
              <a:rPr lang="es-ES" sz="2000" dirty="0">
                <a:latin typeface="Helvetica"/>
                <a:cs typeface="Helvetica"/>
              </a:rPr>
              <a:t> </a:t>
            </a:r>
            <a:r>
              <a:rPr lang="es-ES" sz="2000" dirty="0" err="1">
                <a:latin typeface="Helvetica"/>
                <a:cs typeface="Helvetica"/>
              </a:rPr>
              <a:t>relations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water</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nutrients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C &amp; N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isotopes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isotopes</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000" dirty="0">
              <a:latin typeface="Helvetica" panose="020B0604020202020204" pitchFamily="34" charset="0"/>
              <a:cs typeface="Helvetica" panose="020B0604020202020204" pitchFamily="34" charset="0"/>
            </a:endParaRPr>
          </a:p>
          <a:p>
            <a:endParaRPr lang="es-ES" sz="2400" dirty="0">
              <a:latin typeface="Helvetica" panose="020B0604020202020204" pitchFamily="34" charset="0"/>
              <a:cs typeface="Helvetica" panose="020B0604020202020204" pitchFamily="34" charset="0"/>
            </a:endParaRPr>
          </a:p>
        </p:txBody>
      </p:sp>
      <p:sp>
        <p:nvSpPr>
          <p:cNvPr id="3" name="Rectangle 1">
            <a:extLst>
              <a:ext uri="{FF2B5EF4-FFF2-40B4-BE49-F238E27FC236}">
                <a16:creationId xmlns:a16="http://schemas.microsoft.com/office/drawing/2014/main" id="{DBD6A544-5F40-3D5E-66D4-7B99D847ACE6}"/>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353E09C6-91E8-1DC0-89E8-E73082808EC7}"/>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37649084-6CBA-7A2D-F875-444EAE79B411}"/>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9" name="Marcador de contenido 2">
            <a:extLst>
              <a:ext uri="{FF2B5EF4-FFF2-40B4-BE49-F238E27FC236}">
                <a16:creationId xmlns:a16="http://schemas.microsoft.com/office/drawing/2014/main" id="{1525B887-CEB0-B06C-898B-E1F894B39932}"/>
              </a:ext>
            </a:extLst>
          </p:cNvPr>
          <p:cNvSpPr txBox="1">
            <a:spLocks/>
          </p:cNvSpPr>
          <p:nvPr/>
        </p:nvSpPr>
        <p:spPr>
          <a:xfrm>
            <a:off x="6301273" y="1836789"/>
            <a:ext cx="5303636" cy="49586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err="1">
                <a:latin typeface="Helvetica"/>
                <a:cs typeface="Helvetica"/>
              </a:rPr>
              <a:t>We</a:t>
            </a:r>
            <a:r>
              <a:rPr lang="es-ES" sz="2400" b="1" dirty="0">
                <a:latin typeface="Helvetica"/>
                <a:cs typeface="Helvetica"/>
              </a:rPr>
              <a:t> </a:t>
            </a:r>
            <a:r>
              <a:rPr lang="es-ES" sz="2400" b="1" dirty="0" err="1">
                <a:latin typeface="Helvetica"/>
                <a:cs typeface="Helvetica"/>
              </a:rPr>
              <a:t>have</a:t>
            </a:r>
            <a:r>
              <a:rPr lang="es-ES" sz="2400" b="1" dirty="0">
                <a:latin typeface="Helvetica"/>
                <a:cs typeface="Helvetica"/>
              </a:rPr>
              <a:t> </a:t>
            </a:r>
            <a:r>
              <a:rPr lang="es-ES" sz="2400" b="1" dirty="0" err="1">
                <a:latin typeface="Helvetica"/>
                <a:cs typeface="Helvetica"/>
              </a:rPr>
              <a:t>way</a:t>
            </a:r>
            <a:r>
              <a:rPr lang="es-ES" sz="2400" b="1" dirty="0">
                <a:latin typeface="Helvetica"/>
                <a:cs typeface="Helvetica"/>
              </a:rPr>
              <a:t> </a:t>
            </a:r>
            <a:r>
              <a:rPr lang="es-ES" sz="2400" b="1" dirty="0" err="1">
                <a:latin typeface="Helvetica"/>
                <a:cs typeface="Helvetica"/>
              </a:rPr>
              <a:t>too</a:t>
            </a:r>
            <a:r>
              <a:rPr lang="es-ES" sz="2400" b="1" dirty="0">
                <a:latin typeface="Helvetica"/>
                <a:cs typeface="Helvetica"/>
              </a:rPr>
              <a:t> </a:t>
            </a:r>
            <a:r>
              <a:rPr lang="es-ES" sz="2400" b="1" dirty="0" err="1">
                <a:latin typeface="Helvetica"/>
                <a:cs typeface="Helvetica"/>
              </a:rPr>
              <a:t>many</a:t>
            </a:r>
            <a:r>
              <a:rPr lang="es-ES" sz="2400" b="1" dirty="0">
                <a:latin typeface="Helvetica"/>
                <a:cs typeface="Helvetica"/>
              </a:rPr>
              <a:t> variables!</a:t>
            </a:r>
          </a:p>
          <a:p>
            <a:pPr marL="0" indent="0" algn="ctr">
              <a:buClr>
                <a:srgbClr val="218317"/>
              </a:buClr>
              <a:buNone/>
            </a:pPr>
            <a:endParaRPr lang="es-ES" sz="2000" dirty="0">
              <a:latin typeface="Helvetica" panose="020B0604020202020204" pitchFamily="34" charset="0"/>
              <a:cs typeface="Helvetica" panose="020B0604020202020204" pitchFamily="34" charset="0"/>
            </a:endParaRPr>
          </a:p>
          <a:p>
            <a:pPr lvl="1" algn="ctr">
              <a:buClr>
                <a:srgbClr val="218317"/>
              </a:buClr>
              <a:buFont typeface="Calibri" panose="02070309020205020404" pitchFamily="49" charset="0"/>
              <a:buChar char="-"/>
            </a:pPr>
            <a:endParaRPr lang="es-ES" sz="2000" dirty="0">
              <a:latin typeface="Helvetica" panose="020B0604020202020204" pitchFamily="34" charset="0"/>
              <a:cs typeface="Helvetica" panose="020B0604020202020204" pitchFamily="34" charset="0"/>
            </a:endParaRPr>
          </a:p>
          <a:p>
            <a:pPr algn="ctr"/>
            <a:endParaRPr lang="es-ES" sz="2400" dirty="0">
              <a:latin typeface="Helvetica" panose="020B0604020202020204" pitchFamily="34" charset="0"/>
              <a:cs typeface="Helvetica" panose="020B0604020202020204" pitchFamily="34" charset="0"/>
            </a:endParaRPr>
          </a:p>
        </p:txBody>
      </p:sp>
      <p:sp>
        <p:nvSpPr>
          <p:cNvPr id="10" name="Marcador de contenido 2">
            <a:extLst>
              <a:ext uri="{FF2B5EF4-FFF2-40B4-BE49-F238E27FC236}">
                <a16:creationId xmlns:a16="http://schemas.microsoft.com/office/drawing/2014/main" id="{9979CE87-9231-3F4C-545A-EF4ADAAA0ACE}"/>
              </a:ext>
            </a:extLst>
          </p:cNvPr>
          <p:cNvSpPr txBox="1">
            <a:spLocks/>
          </p:cNvSpPr>
          <p:nvPr/>
        </p:nvSpPr>
        <p:spPr>
          <a:xfrm>
            <a:off x="6301273" y="2670689"/>
            <a:ext cx="5303636" cy="38288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latin typeface="Helvetica"/>
                <a:cs typeface="Helvetica"/>
              </a:rPr>
              <a:t>Variable </a:t>
            </a:r>
            <a:r>
              <a:rPr lang="es-ES" sz="2400" b="1" dirty="0" err="1">
                <a:latin typeface="Helvetica"/>
                <a:cs typeface="Helvetica"/>
              </a:rPr>
              <a:t>selection</a:t>
            </a:r>
            <a:r>
              <a:rPr lang="es-ES" sz="2400" b="1" dirty="0">
                <a:latin typeface="Helvetica"/>
                <a:cs typeface="Helvetica"/>
              </a:rPr>
              <a:t>:</a:t>
            </a:r>
          </a:p>
          <a:p>
            <a:pPr marL="457200" indent="-457200" algn="just">
              <a:buClr>
                <a:srgbClr val="218317"/>
              </a:buClr>
              <a:buAutoNum type="arabicPeriod"/>
            </a:pPr>
            <a:r>
              <a:rPr lang="es-ES" sz="2000" b="1" dirty="0" err="1">
                <a:latin typeface="Helvetica"/>
                <a:cs typeface="Helvetica"/>
              </a:rPr>
              <a:t>Bibliographic</a:t>
            </a:r>
            <a:r>
              <a:rPr lang="es-ES" sz="2000" b="1" dirty="0">
                <a:latin typeface="Helvetica"/>
                <a:cs typeface="Helvetica"/>
              </a:rPr>
              <a:t> </a:t>
            </a:r>
            <a:r>
              <a:rPr lang="es-ES" sz="2000" b="1" dirty="0" err="1">
                <a:latin typeface="Helvetica"/>
                <a:cs typeface="Helvetica"/>
              </a:rPr>
              <a:t>revision</a:t>
            </a:r>
            <a:r>
              <a:rPr lang="es-ES" sz="2000" b="1" dirty="0">
                <a:latin typeface="Helvetica"/>
                <a:cs typeface="Helvetica"/>
              </a:rPr>
              <a:t> </a:t>
            </a:r>
            <a:r>
              <a:rPr lang="es-ES" sz="2000" b="1"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to</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only</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keep</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traits</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that</a:t>
            </a:r>
            <a:r>
              <a:rPr lang="es-ES" sz="2000" dirty="0">
                <a:latin typeface="Helvetica"/>
                <a:cs typeface="Helvetica"/>
                <a:sym typeface="Wingdings" panose="05000000000000000000" pitchFamily="2" charset="2"/>
              </a:rPr>
              <a:t> determine </a:t>
            </a:r>
            <a:r>
              <a:rPr lang="es-ES" sz="2000" dirty="0" err="1">
                <a:latin typeface="Helvetica"/>
                <a:cs typeface="Helvetica"/>
                <a:sym typeface="Wingdings" panose="05000000000000000000" pitchFamily="2" charset="2"/>
              </a:rPr>
              <a:t>vulnerability</a:t>
            </a:r>
            <a:endParaRPr lang="es-ES" sz="2000" dirty="0">
              <a:latin typeface="Helvetica"/>
              <a:cs typeface="Helvetica"/>
              <a:sym typeface="Wingdings" panose="05000000000000000000" pitchFamily="2" charset="2"/>
            </a:endParaRPr>
          </a:p>
          <a:p>
            <a:pPr marL="457200" indent="-457200" algn="just">
              <a:buClr>
                <a:srgbClr val="218317"/>
              </a:buClr>
              <a:buAutoNum type="arabicPeriod"/>
            </a:pPr>
            <a:r>
              <a:rPr lang="es-ES" sz="2000" b="1" dirty="0" err="1">
                <a:latin typeface="Helvetica"/>
                <a:cs typeface="Helvetica"/>
                <a:sym typeface="Wingdings" panose="05000000000000000000" pitchFamily="2" charset="2"/>
              </a:rPr>
              <a:t>Correlogram</a:t>
            </a:r>
            <a:r>
              <a:rPr lang="es-ES" sz="2000" b="1" dirty="0">
                <a:latin typeface="Helvetica"/>
                <a:cs typeface="Helvetica"/>
                <a:sym typeface="Wingdings" panose="05000000000000000000" pitchFamily="2" charset="2"/>
              </a:rPr>
              <a:t>  </a:t>
            </a:r>
            <a:r>
              <a:rPr lang="es-ES" sz="2000" dirty="0" err="1">
                <a:latin typeface="Helvetica"/>
                <a:cs typeface="Helvetica"/>
                <a:sym typeface="Wingdings" panose="05000000000000000000" pitchFamily="2" charset="2"/>
              </a:rPr>
              <a:t>to</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see</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what</a:t>
            </a:r>
            <a:r>
              <a:rPr lang="es-ES" sz="2000" dirty="0">
                <a:latin typeface="Helvetica"/>
                <a:cs typeface="Helvetica"/>
                <a:sym typeface="Wingdings" panose="05000000000000000000" pitchFamily="2" charset="2"/>
              </a:rPr>
              <a:t> variables are </a:t>
            </a:r>
            <a:r>
              <a:rPr lang="es-ES" sz="2000" dirty="0" err="1">
                <a:latin typeface="Helvetica"/>
                <a:cs typeface="Helvetica"/>
                <a:sym typeface="Wingdings" panose="05000000000000000000" pitchFamily="2" charset="2"/>
              </a:rPr>
              <a:t>redundant</a:t>
            </a:r>
            <a:endParaRPr lang="es-ES" sz="2000" dirty="0">
              <a:latin typeface="Helvetica"/>
              <a:cs typeface="Helvetica"/>
              <a:sym typeface="Wingdings" panose="05000000000000000000" pitchFamily="2" charset="2"/>
            </a:endParaRPr>
          </a:p>
          <a:p>
            <a:pPr marL="457200" indent="-457200" algn="just">
              <a:buClr>
                <a:srgbClr val="218317"/>
              </a:buClr>
              <a:buAutoNum type="arabicPeriod"/>
            </a:pPr>
            <a:r>
              <a:rPr lang="es-ES" sz="2000" b="1" dirty="0">
                <a:latin typeface="Helvetica"/>
                <a:cs typeface="Helvetica"/>
                <a:sym typeface="Wingdings" panose="05000000000000000000" pitchFamily="2" charset="2"/>
              </a:rPr>
              <a:t>Response Ratio  </a:t>
            </a:r>
            <a:r>
              <a:rPr lang="es-ES" sz="2000" dirty="0" err="1">
                <a:latin typeface="Helvetica"/>
                <a:cs typeface="Helvetica"/>
                <a:sym typeface="Wingdings" panose="05000000000000000000" pitchFamily="2" charset="2"/>
              </a:rPr>
              <a:t>to</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select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the</a:t>
            </a:r>
            <a:r>
              <a:rPr lang="es-ES" sz="2000" dirty="0">
                <a:latin typeface="Helvetica"/>
                <a:cs typeface="Helvetica"/>
                <a:sym typeface="Wingdings" panose="05000000000000000000" pitchFamily="2" charset="2"/>
              </a:rPr>
              <a:t> variables </a:t>
            </a:r>
            <a:r>
              <a:rPr lang="es-ES" sz="2000" dirty="0" err="1">
                <a:latin typeface="Helvetica"/>
                <a:cs typeface="Helvetica"/>
                <a:sym typeface="Wingdings" panose="05000000000000000000" pitchFamily="2" charset="2"/>
              </a:rPr>
              <a:t>that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might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best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forecast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vulnerability</a:t>
            </a:r>
            <a:endParaRPr lang="es-ES" sz="2000" dirty="0">
              <a:latin typeface="Helvetica"/>
              <a:cs typeface="Helvetica"/>
              <a:sym typeface="Wingdings" panose="05000000000000000000" pitchFamily="2" charset="2"/>
            </a:endParaRPr>
          </a:p>
          <a:p>
            <a:pPr marL="457200" indent="-457200" algn="just">
              <a:buClr>
                <a:srgbClr val="218317"/>
              </a:buClr>
              <a:buAutoNum type="arabicPeriod"/>
            </a:pPr>
            <a:r>
              <a:rPr lang="es-ES" sz="2000" b="1" dirty="0">
                <a:latin typeface="Helvetica"/>
                <a:cs typeface="Helvetica"/>
                <a:sym typeface="Wingdings" panose="05000000000000000000" pitchFamily="2" charset="2"/>
              </a:rPr>
              <a:t>PCA</a:t>
            </a:r>
            <a:r>
              <a:rPr lang="es-ES" sz="2000" dirty="0">
                <a:latin typeface="Helvetica"/>
                <a:cs typeface="Helvetica"/>
                <a:sym typeface="Wingdings" panose="05000000000000000000" pitchFamily="2" charset="2"/>
              </a:rPr>
              <a:t>  </a:t>
            </a:r>
            <a:r>
              <a:rPr lang="es-ES" sz="2000" dirty="0" err="1">
                <a:latin typeface="Helvetica"/>
                <a:cs typeface="Helvetica"/>
                <a:sym typeface="Wingdings" panose="05000000000000000000" pitchFamily="2" charset="2"/>
              </a:rPr>
              <a:t>to</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group</a:t>
            </a:r>
            <a:r>
              <a:rPr lang="es-ES" sz="2000" dirty="0">
                <a:latin typeface="Helvetica"/>
                <a:cs typeface="Helvetica"/>
                <a:sym typeface="Wingdings" panose="05000000000000000000" pitchFamily="2" charset="2"/>
              </a:rPr>
              <a:t> variables </a:t>
            </a:r>
            <a:r>
              <a:rPr lang="es-ES" sz="2000" dirty="0" err="1">
                <a:latin typeface="Helvetica"/>
                <a:cs typeface="Helvetica"/>
                <a:sym typeface="Wingdings" panose="05000000000000000000" pitchFamily="2" charset="2"/>
              </a:rPr>
              <a:t>that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behave</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similarly</a:t>
            </a:r>
            <a:endParaRPr lang="es-ES" sz="2000" dirty="0">
              <a:latin typeface="Helvetica"/>
              <a:cs typeface="Helvetica"/>
              <a:sym typeface="Wingdings" panose="05000000000000000000" pitchFamily="2" charset="2"/>
            </a:endParaRPr>
          </a:p>
          <a:p>
            <a:pPr marL="457200" indent="-457200" algn="just">
              <a:buClr>
                <a:srgbClr val="218317"/>
              </a:buClr>
              <a:buAutoNum type="arabicPeriod"/>
            </a:pPr>
            <a:endParaRPr lang="es-ES" sz="2000" dirty="0">
              <a:latin typeface="Helvetica"/>
              <a:cs typeface="Helvetica"/>
              <a:sym typeface="Wingdings" panose="05000000000000000000" pitchFamily="2" charset="2"/>
            </a:endParaRPr>
          </a:p>
          <a:p>
            <a:pPr algn="just">
              <a:buClr>
                <a:srgbClr val="218317"/>
              </a:buClr>
            </a:pPr>
            <a:endParaRPr lang="es-ES" sz="2000" b="1" dirty="0">
              <a:latin typeface="Helvetica"/>
              <a:cs typeface="Helvetica"/>
              <a:sym typeface="Wingdings" panose="05000000000000000000" pitchFamily="2" charset="2"/>
            </a:endParaRPr>
          </a:p>
          <a:p>
            <a:pPr algn="just">
              <a:buClr>
                <a:srgbClr val="218317"/>
              </a:buClr>
            </a:pPr>
            <a:endParaRPr lang="es-ES" sz="2000" b="1" dirty="0">
              <a:latin typeface="Helvetica"/>
              <a:cs typeface="Helvetica"/>
            </a:endParaRPr>
          </a:p>
          <a:p>
            <a:pPr marL="0" indent="0" algn="ctr">
              <a:buClr>
                <a:srgbClr val="218317"/>
              </a:buClr>
              <a:buNone/>
            </a:pPr>
            <a:endParaRPr lang="es-ES" sz="2000" b="1" dirty="0">
              <a:latin typeface="Helvetica" panose="020B0604020202020204" pitchFamily="34" charset="0"/>
              <a:cs typeface="Helvetica" panose="020B0604020202020204" pitchFamily="34" charset="0"/>
            </a:endParaRPr>
          </a:p>
          <a:p>
            <a:pPr lvl="1" algn="ctr">
              <a:buClr>
                <a:srgbClr val="218317"/>
              </a:buClr>
              <a:buFont typeface="Calibri" panose="02070309020205020404" pitchFamily="49" charset="0"/>
              <a:buChar char="-"/>
            </a:pPr>
            <a:endParaRPr lang="es-ES" sz="2000" b="1" dirty="0">
              <a:latin typeface="Helvetica" panose="020B0604020202020204" pitchFamily="34" charset="0"/>
              <a:cs typeface="Helvetica" panose="020B0604020202020204" pitchFamily="34" charset="0"/>
            </a:endParaRPr>
          </a:p>
          <a:p>
            <a:pPr algn="ctr"/>
            <a:endParaRPr lang="es-ES" sz="2400" b="1" dirty="0">
              <a:latin typeface="Helvetica" panose="020B0604020202020204" pitchFamily="34" charset="0"/>
              <a:cs typeface="Helvetica" panose="020B0604020202020204" pitchFamily="34" charset="0"/>
            </a:endParaRPr>
          </a:p>
        </p:txBody>
      </p:sp>
      <p:sp>
        <p:nvSpPr>
          <p:cNvPr id="11" name="Cerrar llave 10">
            <a:extLst>
              <a:ext uri="{FF2B5EF4-FFF2-40B4-BE49-F238E27FC236}">
                <a16:creationId xmlns:a16="http://schemas.microsoft.com/office/drawing/2014/main" id="{5086CF27-36BF-EF34-D789-41942CCBB32D}"/>
              </a:ext>
            </a:extLst>
          </p:cNvPr>
          <p:cNvSpPr/>
          <p:nvPr/>
        </p:nvSpPr>
        <p:spPr>
          <a:xfrm>
            <a:off x="5927497" y="1836789"/>
            <a:ext cx="271140" cy="3369693"/>
          </a:xfrm>
          <a:prstGeom prst="rightBrace">
            <a:avLst/>
          </a:prstGeom>
          <a:noFill/>
          <a:ln w="38100">
            <a:solidFill>
              <a:srgbClr val="21831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2113385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014FA-3D28-8403-81B6-B4480777195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85FE511-F26E-1A66-6941-39A9082AE351}"/>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2E7AE742-6EA7-F8B5-3595-9F111578AD41}"/>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9132A3D2-0918-C180-A3AF-66B4E681884D}"/>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7D0A892C-550D-6C20-3244-E4006C28BAC1}"/>
              </a:ext>
            </a:extLst>
          </p:cNvPr>
          <p:cNvSpPr txBox="1">
            <a:spLocks/>
          </p:cNvSpPr>
          <p:nvPr/>
        </p:nvSpPr>
        <p:spPr>
          <a:xfrm>
            <a:off x="418288" y="1140469"/>
            <a:ext cx="5136205" cy="6463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3200" b="1" dirty="0">
                <a:solidFill>
                  <a:srgbClr val="218317"/>
                </a:solidFill>
                <a:latin typeface="Helvetica"/>
                <a:cs typeface="Helvetica"/>
              </a:rPr>
              <a:t>1.- </a:t>
            </a:r>
            <a:r>
              <a:rPr lang="es-ES" sz="3200" b="1" dirty="0" err="1">
                <a:latin typeface="Helvetica"/>
                <a:cs typeface="Helvetica"/>
              </a:rPr>
              <a:t>Bibliographic</a:t>
            </a:r>
            <a:r>
              <a:rPr lang="es-ES" sz="3200" b="1" dirty="0">
                <a:latin typeface="Helvetica"/>
                <a:cs typeface="Helvetica"/>
              </a:rPr>
              <a:t> </a:t>
            </a:r>
            <a:r>
              <a:rPr lang="es-ES" sz="3200" b="1" dirty="0" err="1">
                <a:latin typeface="Helvetica"/>
                <a:cs typeface="Helvetica"/>
              </a:rPr>
              <a:t>revision</a:t>
            </a:r>
            <a:endParaRPr lang="es-ES" dirty="0">
              <a:latin typeface="Helvetica"/>
              <a:cs typeface="Helvetica"/>
              <a:sym typeface="Wingdings" panose="05000000000000000000" pitchFamily="2" charset="2"/>
            </a:endParaRPr>
          </a:p>
          <a:p>
            <a:pPr algn="just">
              <a:buClr>
                <a:srgbClr val="218317"/>
              </a:buClr>
            </a:pPr>
            <a:endParaRPr lang="es-ES" b="1" dirty="0">
              <a:latin typeface="Helvetica"/>
              <a:cs typeface="Helvetica"/>
              <a:sym typeface="Wingdings" panose="05000000000000000000" pitchFamily="2" charset="2"/>
            </a:endParaRPr>
          </a:p>
          <a:p>
            <a:pPr algn="just">
              <a:buClr>
                <a:srgbClr val="218317"/>
              </a:buClr>
            </a:pPr>
            <a:endParaRPr lang="es-ES" b="1" dirty="0">
              <a:latin typeface="Helvetica"/>
              <a:cs typeface="Helvetica"/>
            </a:endParaRPr>
          </a:p>
          <a:p>
            <a:pPr marL="0" indent="0" algn="ctr">
              <a:buClr>
                <a:srgbClr val="218317"/>
              </a:buClr>
              <a:buNone/>
            </a:pPr>
            <a:endParaRPr lang="es-ES" b="1" dirty="0">
              <a:latin typeface="Helvetica" panose="020B0604020202020204" pitchFamily="34" charset="0"/>
              <a:cs typeface="Helvetica" panose="020B0604020202020204" pitchFamily="34" charset="0"/>
            </a:endParaRPr>
          </a:p>
          <a:p>
            <a:pPr lvl="1" algn="ctr">
              <a:buClr>
                <a:srgbClr val="218317"/>
              </a:buClr>
              <a:buFont typeface="Calibri" panose="02070309020205020404" pitchFamily="49" charset="0"/>
              <a:buChar char="-"/>
            </a:pPr>
            <a:endParaRPr lang="es-ES" sz="2800" b="1" dirty="0">
              <a:latin typeface="Helvetica" panose="020B0604020202020204" pitchFamily="34" charset="0"/>
              <a:cs typeface="Helvetica" panose="020B0604020202020204" pitchFamily="34" charset="0"/>
            </a:endParaRPr>
          </a:p>
          <a:p>
            <a:pPr algn="ctr"/>
            <a:endParaRPr lang="es-ES" sz="3200" b="1" dirty="0">
              <a:latin typeface="Helvetica" panose="020B0604020202020204" pitchFamily="34" charset="0"/>
              <a:cs typeface="Helvetica" panose="020B0604020202020204" pitchFamily="34" charset="0"/>
            </a:endParaRPr>
          </a:p>
        </p:txBody>
      </p:sp>
      <p:sp>
        <p:nvSpPr>
          <p:cNvPr id="7" name="TextBox 16">
            <a:extLst>
              <a:ext uri="{FF2B5EF4-FFF2-40B4-BE49-F238E27FC236}">
                <a16:creationId xmlns:a16="http://schemas.microsoft.com/office/drawing/2014/main" id="{D8CA4C81-E87C-509B-D127-B005EEC6CA49}"/>
              </a:ext>
            </a:extLst>
          </p:cNvPr>
          <p:cNvSpPr txBox="1"/>
          <p:nvPr/>
        </p:nvSpPr>
        <p:spPr>
          <a:xfrm>
            <a:off x="-404782" y="2123114"/>
            <a:ext cx="7098556" cy="523220"/>
          </a:xfrm>
          <a:prstGeom prst="rect">
            <a:avLst/>
          </a:prstGeom>
          <a:noFill/>
        </p:spPr>
        <p:txBody>
          <a:bodyPr wrap="square" rtlCol="0">
            <a:spAutoFit/>
          </a:bodyPr>
          <a:lstStyle/>
          <a:p>
            <a:pPr algn="ctr"/>
            <a:r>
              <a:rPr lang="es-ES" sz="2400" b="1" dirty="0" err="1">
                <a:latin typeface="Helvetica" panose="020B0604020202020204" pitchFamily="34" charset="0"/>
                <a:cs typeface="Helvetica" panose="020B0604020202020204" pitchFamily="34" charset="0"/>
              </a:rPr>
              <a:t>Vulnerability</a:t>
            </a:r>
            <a:r>
              <a:rPr lang="es-ES" sz="2800" b="1" dirty="0">
                <a:latin typeface="Helvetica" panose="020B0604020202020204" pitchFamily="34" charset="0"/>
                <a:cs typeface="Helvetica" panose="020B0604020202020204" pitchFamily="34" charset="0"/>
              </a:rPr>
              <a:t> =/= </a:t>
            </a:r>
            <a:r>
              <a:rPr lang="es-ES" sz="2400" b="1" dirty="0">
                <a:latin typeface="Helvetica" panose="020B0604020202020204" pitchFamily="34" charset="0"/>
                <a:cs typeface="Helvetica" panose="020B0604020202020204" pitchFamily="34" charset="0"/>
              </a:rPr>
              <a:t>response</a:t>
            </a:r>
            <a:endParaRPr lang="es-ES" sz="2800" b="1" dirty="0">
              <a:latin typeface="Helvetica" panose="020B0604020202020204" pitchFamily="34" charset="0"/>
              <a:cs typeface="Helvetica" panose="020B0604020202020204" pitchFamily="34" charset="0"/>
            </a:endParaRPr>
          </a:p>
        </p:txBody>
      </p:sp>
      <p:pic>
        <p:nvPicPr>
          <p:cNvPr id="12" name="Picture 2" descr="Original “death spiral” from Manion (1991) describing biotic ...">
            <a:extLst>
              <a:ext uri="{FF2B5EF4-FFF2-40B4-BE49-F238E27FC236}">
                <a16:creationId xmlns:a16="http://schemas.microsoft.com/office/drawing/2014/main" id="{E645AC0B-7EB5-ED28-D344-04A8A75BE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3055" y="1226789"/>
            <a:ext cx="3643597" cy="44326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2">
            <a:extLst>
              <a:ext uri="{FF2B5EF4-FFF2-40B4-BE49-F238E27FC236}">
                <a16:creationId xmlns:a16="http://schemas.microsoft.com/office/drawing/2014/main" id="{17C19A51-F188-59BA-4108-637918195FE2}"/>
              </a:ext>
            </a:extLst>
          </p:cNvPr>
          <p:cNvSpPr txBox="1"/>
          <p:nvPr/>
        </p:nvSpPr>
        <p:spPr>
          <a:xfrm>
            <a:off x="418288" y="2980082"/>
            <a:ext cx="3063789" cy="2031325"/>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Tree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size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dbh</a:t>
            </a:r>
            <a:r>
              <a:rPr lang="es-ES" dirty="0">
                <a:latin typeface="Helvetica" panose="020B0604020202020204" pitchFamily="34" charset="0"/>
                <a:cs typeface="Helvetica" panose="020B0604020202020204" pitchFamily="34" charset="0"/>
              </a:rPr>
              <a:t>, altura)</a:t>
            </a: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Competition</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Hegyi</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index</a:t>
            </a:r>
            <a:r>
              <a:rPr lang="es-ES" dirty="0">
                <a:latin typeface="Helvetica" panose="020B0604020202020204" pitchFamily="34" charset="0"/>
                <a:cs typeface="Helvetica" panose="020B0604020202020204" pitchFamily="34" charset="0"/>
              </a:rPr>
              <a:t>)</a:t>
            </a: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iWUE</a:t>
            </a:r>
            <a:r>
              <a:rPr lang="es-ES" dirty="0">
                <a:latin typeface="Helvetica" panose="020B0604020202020204" pitchFamily="34" charset="0"/>
                <a:cs typeface="Helvetica" panose="020B0604020202020204" pitchFamily="34" charset="0"/>
              </a:rPr>
              <a:t> (SLA, EWT)</a:t>
            </a: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Growth</a:t>
            </a:r>
            <a:endParaRPr lang="es-ES" dirty="0">
              <a:latin typeface="Helvetica" panose="020B0604020202020204" pitchFamily="34" charset="0"/>
              <a:cs typeface="Helvetica" panose="020B0604020202020204" pitchFamily="34" charset="0"/>
            </a:endParaRP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Resistance</a:t>
            </a:r>
            <a:r>
              <a:rPr lang="es-ES" dirty="0">
                <a:latin typeface="Helvetica" panose="020B0604020202020204" pitchFamily="34" charset="0"/>
                <a:cs typeface="Helvetica" panose="020B0604020202020204" pitchFamily="34" charset="0"/>
              </a:rPr>
              <a:t> &amp; </a:t>
            </a:r>
            <a:r>
              <a:rPr lang="es-ES" dirty="0" err="1">
                <a:latin typeface="Helvetica" panose="020B0604020202020204" pitchFamily="34" charset="0"/>
                <a:cs typeface="Helvetica" panose="020B0604020202020204" pitchFamily="34" charset="0"/>
              </a:rPr>
              <a:t>Resilience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Lloret’s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indices</a:t>
            </a:r>
            <a:r>
              <a:rPr lang="es-ES" dirty="0">
                <a:latin typeface="Helvetica" panose="020B0604020202020204" pitchFamily="34" charset="0"/>
                <a:cs typeface="Helvetica" panose="020B0604020202020204" pitchFamily="34" charset="0"/>
              </a:rPr>
              <a:t>)</a:t>
            </a:r>
          </a:p>
        </p:txBody>
      </p:sp>
      <p:sp>
        <p:nvSpPr>
          <p:cNvPr id="14" name="TextBox 2">
            <a:extLst>
              <a:ext uri="{FF2B5EF4-FFF2-40B4-BE49-F238E27FC236}">
                <a16:creationId xmlns:a16="http://schemas.microsoft.com/office/drawing/2014/main" id="{0E0D77AC-F967-D971-1006-80B714535C88}"/>
              </a:ext>
            </a:extLst>
          </p:cNvPr>
          <p:cNvSpPr txBox="1"/>
          <p:nvPr/>
        </p:nvSpPr>
        <p:spPr>
          <a:xfrm>
            <a:off x="4621358" y="2980082"/>
            <a:ext cx="2502655" cy="2031325"/>
          </a:xfrm>
          <a:prstGeom prst="rect">
            <a:avLst/>
          </a:prstGeom>
          <a:noFill/>
          <a:ln w="57150">
            <a:noFill/>
          </a:ln>
        </p:spPr>
        <p:txBody>
          <a:bodyPr wrap="square" rtlCol="0">
            <a:spAutoFit/>
          </a:bodyPr>
          <a:lstStyle/>
          <a:p>
            <a:pPr marL="285750" indent="-28575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Defoliation</a:t>
            </a:r>
            <a:endParaRPr lang="es-ES" dirty="0">
              <a:latin typeface="Helvetica" panose="020B0604020202020204" pitchFamily="34" charset="0"/>
              <a:cs typeface="Helvetica" panose="020B0604020202020204" pitchFamily="34" charset="0"/>
            </a:endParaRPr>
          </a:p>
          <a:p>
            <a:pPr marL="285750" indent="-28575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Pigments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Chl</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carotenoids</a:t>
            </a:r>
            <a:r>
              <a:rPr lang="es-ES" dirty="0">
                <a:latin typeface="Helvetica" panose="020B0604020202020204" pitchFamily="34" charset="0"/>
                <a:cs typeface="Helvetica" panose="020B0604020202020204" pitchFamily="34" charset="0"/>
              </a:rPr>
              <a:t>)</a:t>
            </a:r>
          </a:p>
          <a:p>
            <a:pPr marL="285750" indent="-28575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Leaf</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isotopes</a:t>
            </a:r>
            <a:r>
              <a:rPr lang="es-ES" dirty="0">
                <a:latin typeface="Helvetica" panose="020B0604020202020204" pitchFamily="34" charset="0"/>
                <a:cs typeface="Helvetica" panose="020B0604020202020204" pitchFamily="34" charset="0"/>
              </a:rPr>
              <a:t>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13</a:t>
            </a:r>
            <a:r>
              <a:rPr lang="es-ES" dirty="0">
                <a:latin typeface="Helvetica" panose="020B0604020202020204" pitchFamily="34" charset="0"/>
                <a:cs typeface="Helvetica" panose="020B0604020202020204" pitchFamily="34" charset="0"/>
              </a:rPr>
              <a:t>C,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15</a:t>
            </a:r>
            <a:r>
              <a:rPr lang="es-ES" dirty="0">
                <a:latin typeface="Helvetica" panose="020B0604020202020204" pitchFamily="34" charset="0"/>
                <a:cs typeface="Helvetica" panose="020B0604020202020204" pitchFamily="34" charset="0"/>
              </a:rPr>
              <a:t>n,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18</a:t>
            </a:r>
            <a:r>
              <a:rPr lang="es-ES" dirty="0">
                <a:latin typeface="Helvetica" panose="020B0604020202020204" pitchFamily="34" charset="0"/>
                <a:cs typeface="Helvetica" panose="020B0604020202020204" pitchFamily="34" charset="0"/>
              </a:rPr>
              <a:t>O)</a:t>
            </a:r>
          </a:p>
          <a:p>
            <a:pPr marL="285750" indent="-285750">
              <a:buClr>
                <a:srgbClr val="218317"/>
              </a:buClr>
              <a:buFont typeface="Arial" panose="020B0604020202020204" pitchFamily="34" charset="0"/>
              <a:buChar char="•"/>
            </a:pPr>
            <a:r>
              <a:rPr lang="es-ES" dirty="0">
                <a:latin typeface="Helvetica" panose="020B0604020202020204" pitchFamily="34" charset="0"/>
                <a:cs typeface="Helvetica" panose="020B0604020202020204" pitchFamily="34" charset="0"/>
              </a:rPr>
              <a:t>Wood </a:t>
            </a:r>
            <a:r>
              <a:rPr lang="es-ES" dirty="0" err="1">
                <a:latin typeface="Helvetica" panose="020B0604020202020204" pitchFamily="34" charset="0"/>
                <a:cs typeface="Helvetica" panose="020B0604020202020204" pitchFamily="34" charset="0"/>
              </a:rPr>
              <a:t>isotopes</a:t>
            </a:r>
            <a:r>
              <a:rPr lang="es-ES" dirty="0">
                <a:latin typeface="Helvetica" panose="020B0604020202020204" pitchFamily="34" charset="0"/>
                <a:cs typeface="Helvetica" panose="020B0604020202020204" pitchFamily="34" charset="0"/>
              </a:rPr>
              <a:t>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13</a:t>
            </a:r>
            <a:r>
              <a:rPr lang="es-ES" dirty="0">
                <a:latin typeface="Helvetica" panose="020B0604020202020204" pitchFamily="34" charset="0"/>
                <a:cs typeface="Helvetica" panose="020B0604020202020204" pitchFamily="34" charset="0"/>
              </a:rPr>
              <a:t>C,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15</a:t>
            </a:r>
            <a:r>
              <a:rPr lang="es-ES" dirty="0">
                <a:latin typeface="Helvetica" panose="020B0604020202020204" pitchFamily="34" charset="0"/>
                <a:cs typeface="Helvetica" panose="020B0604020202020204" pitchFamily="34" charset="0"/>
              </a:rPr>
              <a:t>n, </a:t>
            </a:r>
            <a:r>
              <a:rPr lang="el-GR" dirty="0">
                <a:latin typeface="Helvetica" panose="020B0604020202020204" pitchFamily="34" charset="0"/>
                <a:cs typeface="Helvetica" panose="020B0604020202020204" pitchFamily="34" charset="0"/>
              </a:rPr>
              <a:t>δ</a:t>
            </a:r>
            <a:r>
              <a:rPr lang="es-ES" baseline="30000" dirty="0">
                <a:latin typeface="Helvetica" panose="020B0604020202020204" pitchFamily="34" charset="0"/>
                <a:cs typeface="Helvetica" panose="020B0604020202020204" pitchFamily="34" charset="0"/>
              </a:rPr>
              <a:t>18</a:t>
            </a:r>
            <a:r>
              <a:rPr lang="es-ES" dirty="0">
                <a:latin typeface="Helvetica" panose="020B0604020202020204" pitchFamily="34" charset="0"/>
                <a:cs typeface="Helvetica" panose="020B0604020202020204" pitchFamily="34" charset="0"/>
              </a:rPr>
              <a:t>O)</a:t>
            </a:r>
          </a:p>
        </p:txBody>
      </p:sp>
      <p:sp>
        <p:nvSpPr>
          <p:cNvPr id="15" name="TextBox 16">
            <a:extLst>
              <a:ext uri="{FF2B5EF4-FFF2-40B4-BE49-F238E27FC236}">
                <a16:creationId xmlns:a16="http://schemas.microsoft.com/office/drawing/2014/main" id="{E8CB5A7B-EC11-2D94-75D6-F6A191475E37}"/>
              </a:ext>
            </a:extLst>
          </p:cNvPr>
          <p:cNvSpPr txBox="1"/>
          <p:nvPr/>
        </p:nvSpPr>
        <p:spPr>
          <a:xfrm>
            <a:off x="3022441" y="3443114"/>
            <a:ext cx="1823010" cy="584775"/>
          </a:xfrm>
          <a:prstGeom prst="rect">
            <a:avLst/>
          </a:prstGeom>
          <a:noFill/>
        </p:spPr>
        <p:txBody>
          <a:bodyPr wrap="square" rtlCol="0">
            <a:spAutoFit/>
          </a:bodyPr>
          <a:lstStyle/>
          <a:p>
            <a:pPr algn="ctr"/>
            <a:r>
              <a:rPr lang="es-ES" sz="3200" b="1"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373627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B7DEA-18C0-7E70-0100-6D2B240DEC31}"/>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5E2DDB8-80B8-532F-A330-AC9EAE8265F2}"/>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9E423080-27E9-47A0-7D69-91B3822238DC}"/>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F8927C99-CCCB-5273-FA53-EC80D137CAA9}"/>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9E93ADEC-2EAE-FCB5-FEDA-2BA7ADF57666}"/>
              </a:ext>
            </a:extLst>
          </p:cNvPr>
          <p:cNvSpPr txBox="1">
            <a:spLocks/>
          </p:cNvSpPr>
          <p:nvPr/>
        </p:nvSpPr>
        <p:spPr>
          <a:xfrm>
            <a:off x="418288" y="1140469"/>
            <a:ext cx="5136205" cy="6463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3200" b="1" dirty="0">
                <a:solidFill>
                  <a:srgbClr val="218317"/>
                </a:solidFill>
                <a:latin typeface="Helvetica"/>
                <a:cs typeface="Helvetica"/>
              </a:rPr>
              <a:t>2.- </a:t>
            </a:r>
            <a:r>
              <a:rPr lang="es-ES" sz="3200" b="1" dirty="0" err="1">
                <a:latin typeface="Helvetica"/>
                <a:cs typeface="Helvetica"/>
              </a:rPr>
              <a:t>Correlogram</a:t>
            </a:r>
            <a:endParaRPr lang="es-ES" dirty="0">
              <a:latin typeface="Helvetica"/>
              <a:cs typeface="Helvetica"/>
              <a:sym typeface="Wingdings" panose="05000000000000000000" pitchFamily="2" charset="2"/>
            </a:endParaRPr>
          </a:p>
          <a:p>
            <a:pPr>
              <a:buClr>
                <a:srgbClr val="218317"/>
              </a:buClr>
            </a:pPr>
            <a:endParaRPr lang="es-ES" b="1" dirty="0">
              <a:latin typeface="Helvetica"/>
              <a:cs typeface="Helvetica"/>
              <a:sym typeface="Wingdings" panose="05000000000000000000" pitchFamily="2" charset="2"/>
            </a:endParaRPr>
          </a:p>
          <a:p>
            <a:pPr>
              <a:buClr>
                <a:srgbClr val="218317"/>
              </a:buClr>
            </a:pPr>
            <a:endParaRPr lang="es-ES" b="1" dirty="0">
              <a:latin typeface="Helvetica"/>
              <a:cs typeface="Helvetica"/>
            </a:endParaRPr>
          </a:p>
          <a:p>
            <a:pPr marL="0" indent="0">
              <a:buClr>
                <a:srgbClr val="218317"/>
              </a:buClr>
              <a:buNone/>
            </a:pPr>
            <a:endParaRPr lang="es-ES" b="1"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800" b="1" dirty="0">
              <a:latin typeface="Helvetica" panose="020B0604020202020204" pitchFamily="34" charset="0"/>
              <a:cs typeface="Helvetica" panose="020B0604020202020204" pitchFamily="34" charset="0"/>
            </a:endParaRPr>
          </a:p>
          <a:p>
            <a:endParaRPr lang="es-ES" sz="3200" b="1" dirty="0">
              <a:latin typeface="Helvetica" panose="020B0604020202020204" pitchFamily="34" charset="0"/>
              <a:cs typeface="Helvetica" panose="020B0604020202020204" pitchFamily="34" charset="0"/>
            </a:endParaRPr>
          </a:p>
        </p:txBody>
      </p:sp>
      <p:sp>
        <p:nvSpPr>
          <p:cNvPr id="7" name="TextBox 16">
            <a:extLst>
              <a:ext uri="{FF2B5EF4-FFF2-40B4-BE49-F238E27FC236}">
                <a16:creationId xmlns:a16="http://schemas.microsoft.com/office/drawing/2014/main" id="{6F64AE07-A1AB-4337-F25A-AB4433D8E2FB}"/>
              </a:ext>
            </a:extLst>
          </p:cNvPr>
          <p:cNvSpPr txBox="1"/>
          <p:nvPr/>
        </p:nvSpPr>
        <p:spPr>
          <a:xfrm>
            <a:off x="-404782" y="2123114"/>
            <a:ext cx="7098556" cy="461665"/>
          </a:xfrm>
          <a:prstGeom prst="rect">
            <a:avLst/>
          </a:prstGeom>
          <a:noFill/>
        </p:spPr>
        <p:txBody>
          <a:bodyPr wrap="square" rtlCol="0">
            <a:spAutoFit/>
          </a:bodyPr>
          <a:lstStyle/>
          <a:p>
            <a:pPr algn="ctr"/>
            <a:r>
              <a:rPr lang="es-ES" sz="2400" b="1" dirty="0" err="1">
                <a:latin typeface="Helvetica" panose="020B0604020202020204" pitchFamily="34" charset="0"/>
                <a:cs typeface="Helvetica" panose="020B0604020202020204" pitchFamily="34" charset="0"/>
              </a:rPr>
              <a:t>Redundant</a:t>
            </a:r>
            <a:r>
              <a:rPr lang="es-ES" sz="2400" b="1" dirty="0">
                <a:latin typeface="Helvetica" panose="020B0604020202020204" pitchFamily="34" charset="0"/>
                <a:cs typeface="Helvetica" panose="020B0604020202020204" pitchFamily="34" charset="0"/>
              </a:rPr>
              <a:t> variables:</a:t>
            </a:r>
            <a:endParaRPr lang="es-ES" sz="2800" b="1" dirty="0">
              <a:latin typeface="Helvetica" panose="020B0604020202020204" pitchFamily="34" charset="0"/>
              <a:cs typeface="Helvetica" panose="020B0604020202020204" pitchFamily="34" charset="0"/>
            </a:endParaRPr>
          </a:p>
        </p:txBody>
      </p:sp>
      <p:sp>
        <p:nvSpPr>
          <p:cNvPr id="13" name="TextBox 2">
            <a:extLst>
              <a:ext uri="{FF2B5EF4-FFF2-40B4-BE49-F238E27FC236}">
                <a16:creationId xmlns:a16="http://schemas.microsoft.com/office/drawing/2014/main" id="{6D925E0D-4A9B-5CFB-3FBF-EDE3D40F1472}"/>
              </a:ext>
            </a:extLst>
          </p:cNvPr>
          <p:cNvSpPr txBox="1"/>
          <p:nvPr/>
        </p:nvSpPr>
        <p:spPr>
          <a:xfrm>
            <a:off x="418288" y="2980082"/>
            <a:ext cx="5476674" cy="1477328"/>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All</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average</a:t>
            </a:r>
            <a:r>
              <a:rPr lang="es-ES" dirty="0">
                <a:latin typeface="Helvetica" panose="020B0604020202020204" pitchFamily="34" charset="0"/>
                <a:cs typeface="Helvetica" panose="020B0604020202020204" pitchFamily="34" charset="0"/>
              </a:rPr>
              <a:t> </a:t>
            </a:r>
            <a:r>
              <a:rPr lang="es-ES" b="1" dirty="0">
                <a:latin typeface="Helvetica" panose="020B0604020202020204" pitchFamily="34" charset="0"/>
                <a:cs typeface="Helvetica" panose="020B0604020202020204" pitchFamily="34" charset="0"/>
              </a:rPr>
              <a:t>BAI</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values</a:t>
            </a:r>
            <a:r>
              <a:rPr lang="es-ES" dirty="0">
                <a:latin typeface="Helvetica" panose="020B0604020202020204" pitchFamily="34" charset="0"/>
                <a:cs typeface="Helvetica" panose="020B0604020202020204" pitchFamily="34" charset="0"/>
              </a:rPr>
              <a:t> at </a:t>
            </a:r>
            <a:r>
              <a:rPr lang="es-ES" dirty="0" err="1">
                <a:latin typeface="Helvetica" panose="020B0604020202020204" pitchFamily="34" charset="0"/>
                <a:cs typeface="Helvetica" panose="020B0604020202020204" pitchFamily="34" charset="0"/>
              </a:rPr>
              <a:t>different</a:t>
            </a:r>
            <a:r>
              <a:rPr lang="es-ES" dirty="0">
                <a:latin typeface="Helvetica" panose="020B0604020202020204" pitchFamily="34" charset="0"/>
                <a:cs typeface="Helvetica" panose="020B0604020202020204" pitchFamily="34" charset="0"/>
              </a:rPr>
              <a:t> time </a:t>
            </a:r>
            <a:r>
              <a:rPr lang="es-ES" dirty="0" err="1">
                <a:latin typeface="Helvetica" panose="020B0604020202020204" pitchFamily="34" charset="0"/>
                <a:cs typeface="Helvetica" panose="020B0604020202020204" pitchFamily="34" charset="0"/>
              </a:rPr>
              <a:t>scales</a:t>
            </a:r>
            <a:r>
              <a:rPr lang="es-ES" dirty="0">
                <a:latin typeface="Helvetica" panose="020B0604020202020204" pitchFamily="34" charset="0"/>
                <a:cs typeface="Helvetica" panose="020B0604020202020204" pitchFamily="34" charset="0"/>
              </a:rPr>
              <a:t> are </a:t>
            </a:r>
            <a:r>
              <a:rPr lang="es-ES" dirty="0" err="1">
                <a:latin typeface="Helvetica" panose="020B0604020202020204" pitchFamily="34" charset="0"/>
                <a:cs typeface="Helvetica" panose="020B0604020202020204" pitchFamily="34" charset="0"/>
              </a:rPr>
              <a:t>highly</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correlated</a:t>
            </a:r>
            <a:r>
              <a:rPr lang="es-ES" dirty="0">
                <a:latin typeface="Helvetica" panose="020B0604020202020204" pitchFamily="34" charset="0"/>
                <a:cs typeface="Helvetica" panose="020B0604020202020204" pitchFamily="34" charset="0"/>
              </a:rPr>
              <a:t>  </a:t>
            </a:r>
            <a:r>
              <a:rPr lang="es-ES" dirty="0">
                <a:latin typeface="Helvetica" panose="020B0604020202020204" pitchFamily="34" charset="0"/>
                <a:cs typeface="Helvetica" panose="020B0604020202020204" pitchFamily="34" charset="0"/>
                <a:sym typeface="Wingdings" panose="05000000000000000000" pitchFamily="2" charset="2"/>
              </a:rPr>
              <a:t> </a:t>
            </a:r>
            <a:r>
              <a:rPr lang="es-ES" dirty="0" err="1">
                <a:latin typeface="Helvetica" panose="020B0604020202020204" pitchFamily="34" charset="0"/>
                <a:cs typeface="Helvetica" panose="020B0604020202020204" pitchFamily="34" charset="0"/>
                <a:sym typeface="Wingdings" panose="05000000000000000000" pitchFamily="2" charset="2"/>
              </a:rPr>
              <a:t>we</a:t>
            </a:r>
            <a:r>
              <a:rPr lang="es-ES" dirty="0">
                <a:latin typeface="Helvetica" panose="020B0604020202020204" pitchFamily="34" charset="0"/>
                <a:cs typeface="Helvetica" panose="020B0604020202020204" pitchFamily="34" charset="0"/>
                <a:sym typeface="Wingdings" panose="05000000000000000000" pitchFamily="2" charset="2"/>
              </a:rPr>
              <a:t> </a:t>
            </a:r>
            <a:r>
              <a:rPr lang="es-ES" dirty="0" err="1">
                <a:latin typeface="Helvetica" panose="020B0604020202020204" pitchFamily="34" charset="0"/>
                <a:cs typeface="Helvetica" panose="020B0604020202020204" pitchFamily="34" charset="0"/>
                <a:sym typeface="Wingdings" panose="05000000000000000000" pitchFamily="2" charset="2"/>
              </a:rPr>
              <a:t>should</a:t>
            </a:r>
            <a:r>
              <a:rPr lang="es-ES" dirty="0">
                <a:latin typeface="Helvetica" panose="020B0604020202020204" pitchFamily="34" charset="0"/>
                <a:cs typeface="Helvetica" panose="020B0604020202020204" pitchFamily="34" charset="0"/>
                <a:sym typeface="Wingdings" panose="05000000000000000000" pitchFamily="2" charset="2"/>
              </a:rPr>
              <a:t> </a:t>
            </a:r>
            <a:r>
              <a:rPr lang="es-ES" dirty="0" err="1">
                <a:latin typeface="Helvetica" panose="020B0604020202020204" pitchFamily="34" charset="0"/>
                <a:cs typeface="Helvetica" panose="020B0604020202020204" pitchFamily="34" charset="0"/>
                <a:sym typeface="Wingdings" panose="05000000000000000000" pitchFamily="2" charset="2"/>
              </a:rPr>
              <a:t>just</a:t>
            </a:r>
            <a:r>
              <a:rPr lang="es-ES" dirty="0">
                <a:latin typeface="Helvetica" panose="020B0604020202020204" pitchFamily="34" charset="0"/>
                <a:cs typeface="Helvetica" panose="020B0604020202020204" pitchFamily="34" charset="0"/>
                <a:sym typeface="Wingdings" panose="05000000000000000000" pitchFamily="2" charset="2"/>
              </a:rPr>
              <a:t> </a:t>
            </a:r>
            <a:r>
              <a:rPr lang="es-ES" b="1" dirty="0">
                <a:latin typeface="Helvetica" panose="020B0604020202020204" pitchFamily="34" charset="0"/>
                <a:cs typeface="Helvetica" panose="020B0604020202020204" pitchFamily="34" charset="0"/>
                <a:sym typeface="Wingdings" panose="05000000000000000000" pitchFamily="2" charset="2"/>
              </a:rPr>
              <a:t>pick </a:t>
            </a:r>
            <a:r>
              <a:rPr lang="es-ES" b="1" dirty="0" err="1">
                <a:latin typeface="Helvetica" panose="020B0604020202020204" pitchFamily="34" charset="0"/>
                <a:cs typeface="Helvetica" panose="020B0604020202020204" pitchFamily="34" charset="0"/>
                <a:sym typeface="Wingdings" panose="05000000000000000000" pitchFamily="2" charset="2"/>
              </a:rPr>
              <a:t>one</a:t>
            </a:r>
            <a:endParaRPr lang="es-ES" b="1" dirty="0">
              <a:latin typeface="Helvetica" panose="020B0604020202020204" pitchFamily="34" charset="0"/>
              <a:cs typeface="Helvetica" panose="020B0604020202020204" pitchFamily="34" charset="0"/>
            </a:endParaRP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Height</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d.b.h</a:t>
            </a:r>
            <a:r>
              <a:rPr lang="es-ES" dirty="0">
                <a:latin typeface="Helvetica" panose="020B0604020202020204" pitchFamily="34" charset="0"/>
                <a:cs typeface="Helvetica" panose="020B0604020202020204" pitchFamily="34" charset="0"/>
              </a:rPr>
              <a:t>. are </a:t>
            </a:r>
            <a:r>
              <a:rPr lang="es-ES" dirty="0" err="1">
                <a:latin typeface="Helvetica" panose="020B0604020202020204" pitchFamily="34" charset="0"/>
                <a:cs typeface="Helvetica" panose="020B0604020202020204" pitchFamily="34" charset="0"/>
              </a:rPr>
              <a:t>highly</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correlated</a:t>
            </a:r>
            <a:endParaRPr lang="es-ES" dirty="0">
              <a:latin typeface="Helvetica" panose="020B0604020202020204" pitchFamily="34" charset="0"/>
              <a:cs typeface="Helvetica" panose="020B0604020202020204" pitchFamily="34" charset="0"/>
            </a:endParaRPr>
          </a:p>
          <a:p>
            <a:pPr marL="342900" indent="-342900">
              <a:buClr>
                <a:srgbClr val="218317"/>
              </a:buClr>
              <a:buFont typeface="Arial" panose="020B0604020202020204" pitchFamily="34" charset="0"/>
              <a:buChar char="•"/>
            </a:pPr>
            <a:r>
              <a:rPr lang="es-ES" dirty="0">
                <a:latin typeface="Helvetica" panose="020B0604020202020204" pitchFamily="34" charset="0"/>
                <a:cs typeface="Helvetica" panose="020B0604020202020204" pitchFamily="34" charset="0"/>
              </a:rPr>
              <a:t>Age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not</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that</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correlated</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tree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size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surprisingly</a:t>
            </a:r>
            <a:r>
              <a:rPr lang="es-ES" dirty="0">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117D1132-083A-CC1A-CC74-66C003384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0580" y="1091353"/>
            <a:ext cx="5603132" cy="5603132"/>
          </a:xfrm>
          <a:prstGeom prst="rect">
            <a:avLst/>
          </a:prstGeom>
        </p:spPr>
      </p:pic>
      <p:sp>
        <p:nvSpPr>
          <p:cNvPr id="9" name="TextBox 16">
            <a:extLst>
              <a:ext uri="{FF2B5EF4-FFF2-40B4-BE49-F238E27FC236}">
                <a16:creationId xmlns:a16="http://schemas.microsoft.com/office/drawing/2014/main" id="{5581CC34-16F7-0132-77D5-E94156FFF00D}"/>
              </a:ext>
            </a:extLst>
          </p:cNvPr>
          <p:cNvSpPr txBox="1"/>
          <p:nvPr/>
        </p:nvSpPr>
        <p:spPr>
          <a:xfrm>
            <a:off x="-392653" y="5108364"/>
            <a:ext cx="7098556" cy="400110"/>
          </a:xfrm>
          <a:prstGeom prst="rect">
            <a:avLst/>
          </a:prstGeom>
          <a:noFill/>
        </p:spPr>
        <p:txBody>
          <a:bodyPr wrap="square" rtlCol="0">
            <a:spAutoFit/>
          </a:bodyPr>
          <a:lstStyle/>
          <a:p>
            <a:pPr algn="ctr"/>
            <a:r>
              <a:rPr lang="es-ES" sz="2000" b="1" dirty="0" err="1">
                <a:latin typeface="Helvetica" panose="020B0604020202020204" pitchFamily="34" charset="0"/>
                <a:cs typeface="Helvetica" panose="020B0604020202020204" pitchFamily="34" charset="0"/>
              </a:rPr>
              <a:t>What</a:t>
            </a:r>
            <a:r>
              <a:rPr lang="es-ES" sz="2000" b="1" dirty="0">
                <a:latin typeface="Helvetica" panose="020B0604020202020204" pitchFamily="34" charset="0"/>
                <a:cs typeface="Helvetica" panose="020B0604020202020204" pitchFamily="34" charset="0"/>
              </a:rPr>
              <a:t> variables </a:t>
            </a:r>
            <a:r>
              <a:rPr lang="es-ES" sz="2000" b="1" dirty="0" err="1">
                <a:latin typeface="Helvetica" panose="020B0604020202020204" pitchFamily="34" charset="0"/>
                <a:cs typeface="Helvetica" panose="020B0604020202020204" pitchFamily="34" charset="0"/>
              </a:rPr>
              <a:t>should</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we</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choose</a:t>
            </a:r>
            <a:r>
              <a:rPr lang="es-ES" sz="2000" b="1" dirty="0">
                <a:latin typeface="Helvetica" panose="020B0604020202020204" pitchFamily="34" charset="0"/>
                <a:cs typeface="Helvetica" panose="020B0604020202020204" pitchFamily="34" charset="0"/>
              </a:rPr>
              <a:t>?</a:t>
            </a:r>
            <a:endParaRPr lang="es-ES" sz="2400" b="1" dirty="0">
              <a:latin typeface="Helvetica" panose="020B0604020202020204" pitchFamily="34" charset="0"/>
              <a:cs typeface="Helvetica" panose="020B0604020202020204" pitchFamily="34" charset="0"/>
            </a:endParaRPr>
          </a:p>
        </p:txBody>
      </p:sp>
      <p:sp>
        <p:nvSpPr>
          <p:cNvPr id="10" name="TextBox 16">
            <a:extLst>
              <a:ext uri="{FF2B5EF4-FFF2-40B4-BE49-F238E27FC236}">
                <a16:creationId xmlns:a16="http://schemas.microsoft.com/office/drawing/2014/main" id="{7FD12479-C05F-D19B-52C4-D10AA8CF02D5}"/>
              </a:ext>
            </a:extLst>
          </p:cNvPr>
          <p:cNvSpPr txBox="1"/>
          <p:nvPr/>
        </p:nvSpPr>
        <p:spPr>
          <a:xfrm>
            <a:off x="-404782" y="5901424"/>
            <a:ext cx="7098556" cy="400110"/>
          </a:xfrm>
          <a:prstGeom prst="rect">
            <a:avLst/>
          </a:prstGeom>
          <a:noFill/>
        </p:spPr>
        <p:txBody>
          <a:bodyPr wrap="square" rtlCol="0">
            <a:spAutoFit/>
          </a:bodyPr>
          <a:lstStyle/>
          <a:p>
            <a:pPr algn="ctr"/>
            <a:r>
              <a:rPr lang="es-ES" sz="2000" b="1" dirty="0">
                <a:latin typeface="Helvetica" panose="020B0604020202020204" pitchFamily="34" charset="0"/>
                <a:cs typeface="Helvetica" panose="020B0604020202020204" pitchFamily="34" charset="0"/>
              </a:rPr>
              <a:t>Response ratios</a:t>
            </a:r>
            <a:endParaRPr lang="es-ES" sz="2400" b="1" dirty="0">
              <a:latin typeface="Helvetica" panose="020B0604020202020204" pitchFamily="34" charset="0"/>
              <a:cs typeface="Helvetica" panose="020B0604020202020204" pitchFamily="34" charset="0"/>
            </a:endParaRPr>
          </a:p>
        </p:txBody>
      </p:sp>
      <p:sp>
        <p:nvSpPr>
          <p:cNvPr id="11" name="Flecha: hacia abajo 10">
            <a:extLst>
              <a:ext uri="{FF2B5EF4-FFF2-40B4-BE49-F238E27FC236}">
                <a16:creationId xmlns:a16="http://schemas.microsoft.com/office/drawing/2014/main" id="{1C01611E-7E3A-BF07-144B-AE74BD9B30CC}"/>
              </a:ext>
            </a:extLst>
          </p:cNvPr>
          <p:cNvSpPr/>
          <p:nvPr/>
        </p:nvSpPr>
        <p:spPr>
          <a:xfrm>
            <a:off x="3064213" y="5518922"/>
            <a:ext cx="107004" cy="400110"/>
          </a:xfrm>
          <a:prstGeom prst="downArrow">
            <a:avLst/>
          </a:prstGeom>
          <a:solidFill>
            <a:srgbClr val="218317"/>
          </a:solidFill>
          <a:ln>
            <a:solidFill>
              <a:srgbClr val="2183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574052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A643-BE6C-0338-E77E-BAA9113B14C2}"/>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BA30266-9485-1E3E-BBC8-436246AD8291}"/>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AFAF84D2-7FE0-072E-6CC0-EE338120E32A}"/>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0F8CAB59-0867-9E54-DC47-D2389843A710}"/>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259A3EBF-97E0-3CC4-7682-AAC6864AE01F}"/>
              </a:ext>
            </a:extLst>
          </p:cNvPr>
          <p:cNvSpPr txBox="1">
            <a:spLocks/>
          </p:cNvSpPr>
          <p:nvPr/>
        </p:nvSpPr>
        <p:spPr>
          <a:xfrm>
            <a:off x="418288" y="1140469"/>
            <a:ext cx="5136205" cy="6463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3200" b="1" dirty="0">
                <a:solidFill>
                  <a:srgbClr val="218317"/>
                </a:solidFill>
                <a:latin typeface="Helvetica"/>
                <a:cs typeface="Helvetica"/>
              </a:rPr>
              <a:t>3.- </a:t>
            </a:r>
            <a:r>
              <a:rPr lang="es-ES" sz="3200" b="1" dirty="0">
                <a:latin typeface="Helvetica"/>
                <a:cs typeface="Helvetica"/>
              </a:rPr>
              <a:t>Response ratios</a:t>
            </a:r>
            <a:endParaRPr lang="es-ES" dirty="0">
              <a:latin typeface="Helvetica"/>
              <a:cs typeface="Helvetica"/>
              <a:sym typeface="Wingdings" panose="05000000000000000000" pitchFamily="2" charset="2"/>
            </a:endParaRPr>
          </a:p>
          <a:p>
            <a:pPr>
              <a:buClr>
                <a:srgbClr val="218317"/>
              </a:buClr>
            </a:pPr>
            <a:endParaRPr lang="es-ES" b="1" dirty="0">
              <a:latin typeface="Helvetica"/>
              <a:cs typeface="Helvetica"/>
              <a:sym typeface="Wingdings" panose="05000000000000000000" pitchFamily="2" charset="2"/>
            </a:endParaRPr>
          </a:p>
          <a:p>
            <a:pPr>
              <a:buClr>
                <a:srgbClr val="218317"/>
              </a:buClr>
            </a:pPr>
            <a:endParaRPr lang="es-ES" b="1" dirty="0">
              <a:latin typeface="Helvetica"/>
              <a:cs typeface="Helvetica"/>
            </a:endParaRPr>
          </a:p>
          <a:p>
            <a:pPr marL="0" indent="0">
              <a:buClr>
                <a:srgbClr val="218317"/>
              </a:buClr>
              <a:buNone/>
            </a:pPr>
            <a:endParaRPr lang="es-ES" b="1"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800" b="1" dirty="0">
              <a:latin typeface="Helvetica" panose="020B0604020202020204" pitchFamily="34" charset="0"/>
              <a:cs typeface="Helvetica" panose="020B0604020202020204" pitchFamily="34" charset="0"/>
            </a:endParaRPr>
          </a:p>
          <a:p>
            <a:endParaRPr lang="es-ES" sz="3200" b="1" dirty="0">
              <a:latin typeface="Helvetica" panose="020B0604020202020204" pitchFamily="34" charset="0"/>
              <a:cs typeface="Helvetica" panose="020B0604020202020204" pitchFamily="34" charset="0"/>
            </a:endParaRPr>
          </a:p>
        </p:txBody>
      </p:sp>
      <p:pic>
        <p:nvPicPr>
          <p:cNvPr id="12" name="Imagen 11">
            <a:extLst>
              <a:ext uri="{FF2B5EF4-FFF2-40B4-BE49-F238E27FC236}">
                <a16:creationId xmlns:a16="http://schemas.microsoft.com/office/drawing/2014/main" id="{25871265-7BAD-1ABF-CE2C-2CC4BE1C7A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577" y="1140469"/>
            <a:ext cx="5476674" cy="5476674"/>
          </a:xfrm>
          <a:prstGeom prst="rect">
            <a:avLst/>
          </a:prstGeom>
        </p:spPr>
      </p:pic>
      <p:sp>
        <p:nvSpPr>
          <p:cNvPr id="15" name="TextBox 16">
            <a:extLst>
              <a:ext uri="{FF2B5EF4-FFF2-40B4-BE49-F238E27FC236}">
                <a16:creationId xmlns:a16="http://schemas.microsoft.com/office/drawing/2014/main" id="{BDBF880D-B5B9-3D71-6DE0-BE7283F24D84}"/>
              </a:ext>
            </a:extLst>
          </p:cNvPr>
          <p:cNvSpPr txBox="1"/>
          <p:nvPr/>
        </p:nvSpPr>
        <p:spPr>
          <a:xfrm>
            <a:off x="700296" y="1786800"/>
            <a:ext cx="4854197" cy="461665"/>
          </a:xfrm>
          <a:prstGeom prst="rect">
            <a:avLst/>
          </a:prstGeom>
          <a:noFill/>
        </p:spPr>
        <p:txBody>
          <a:bodyPr wrap="square" lIns="91440" tIns="45720" rIns="91440" bIns="45720" rtlCol="0" anchor="t">
            <a:spAutoFit/>
          </a:bodyPr>
          <a:lstStyle/>
          <a:p>
            <a:pPr algn="ctr"/>
            <a:r>
              <a:rPr lang="es-ES" sz="2400" i="1" dirty="0" err="1">
                <a:latin typeface="Helvetica"/>
                <a:cs typeface="Helvetica"/>
              </a:rPr>
              <a:t>LogRR</a:t>
            </a:r>
            <a:r>
              <a:rPr lang="es-ES" sz="2400" i="1" dirty="0">
                <a:latin typeface="Helvetica"/>
                <a:cs typeface="Helvetica"/>
              </a:rPr>
              <a:t> = log(</a:t>
            </a:r>
            <a:r>
              <a:rPr lang="es-ES" sz="2400" i="1" dirty="0" err="1">
                <a:latin typeface="Helvetica"/>
                <a:cs typeface="Helvetica"/>
              </a:rPr>
              <a:t>X</a:t>
            </a:r>
            <a:r>
              <a:rPr lang="es-ES" sz="2400" i="1" baseline="-25000" dirty="0" err="1">
                <a:latin typeface="Helvetica"/>
                <a:cs typeface="Helvetica"/>
              </a:rPr>
              <a:t>declining</a:t>
            </a:r>
            <a:r>
              <a:rPr lang="es-ES" sz="2400" i="1" dirty="0">
                <a:latin typeface="Helvetica"/>
                <a:cs typeface="Helvetica"/>
              </a:rPr>
              <a:t> / </a:t>
            </a:r>
            <a:r>
              <a:rPr lang="es-ES" sz="2400" i="1" dirty="0" err="1">
                <a:latin typeface="Helvetica"/>
                <a:cs typeface="Helvetica"/>
              </a:rPr>
              <a:t>X</a:t>
            </a:r>
            <a:r>
              <a:rPr lang="es-ES" sz="2400" i="1" baseline="-25000" dirty="0" err="1">
                <a:latin typeface="Helvetica"/>
                <a:cs typeface="Helvetica"/>
              </a:rPr>
              <a:t>non-declining</a:t>
            </a:r>
            <a:r>
              <a:rPr lang="es-ES" sz="2400" i="1" dirty="0">
                <a:latin typeface="Helvetica"/>
                <a:cs typeface="Helvetica"/>
              </a:rPr>
              <a:t>)</a:t>
            </a:r>
          </a:p>
        </p:txBody>
      </p:sp>
      <p:sp>
        <p:nvSpPr>
          <p:cNvPr id="16" name="TextBox 2">
            <a:extLst>
              <a:ext uri="{FF2B5EF4-FFF2-40B4-BE49-F238E27FC236}">
                <a16:creationId xmlns:a16="http://schemas.microsoft.com/office/drawing/2014/main" id="{6FB4355E-240E-0B20-D240-4E812CE669C3}"/>
              </a:ext>
            </a:extLst>
          </p:cNvPr>
          <p:cNvSpPr txBox="1"/>
          <p:nvPr/>
        </p:nvSpPr>
        <p:spPr>
          <a:xfrm>
            <a:off x="700296" y="2556247"/>
            <a:ext cx="5476674" cy="646331"/>
          </a:xfrm>
          <a:prstGeom prst="rect">
            <a:avLst/>
          </a:prstGeom>
          <a:noFill/>
          <a:ln w="57150">
            <a:noFill/>
          </a:ln>
        </p:spPr>
        <p:txBody>
          <a:bodyPr wrap="square" rtlCol="0">
            <a:spAutoFit/>
          </a:bodyPr>
          <a:lstStyle/>
          <a:p>
            <a:pPr>
              <a:buClr>
                <a:srgbClr val="218317"/>
              </a:buClr>
            </a:pP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see</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how</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much</a:t>
            </a:r>
            <a:r>
              <a:rPr lang="es-ES" b="1" dirty="0">
                <a:latin typeface="Helvetica" panose="020B0604020202020204" pitchFamily="34" charset="0"/>
                <a:cs typeface="Helvetica" panose="020B0604020202020204" pitchFamily="34" charset="0"/>
              </a:rPr>
              <a:t> </a:t>
            </a:r>
            <a:r>
              <a:rPr lang="es-ES" dirty="0">
                <a:latin typeface="Helvetica" panose="020B0604020202020204" pitchFamily="34" charset="0"/>
                <a:cs typeface="Helvetica" panose="020B0604020202020204" pitchFamily="34" charset="0"/>
              </a:rPr>
              <a:t>do variables </a:t>
            </a:r>
            <a:r>
              <a:rPr lang="es-ES" dirty="0" err="1">
                <a:latin typeface="Helvetica" panose="020B0604020202020204" pitchFamily="34" charset="0"/>
                <a:cs typeface="Helvetica" panose="020B0604020202020204" pitchFamily="34" charset="0"/>
              </a:rPr>
              <a:t>change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between</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and non-</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a:t>
            </a:r>
          </a:p>
        </p:txBody>
      </p:sp>
      <p:sp>
        <p:nvSpPr>
          <p:cNvPr id="17" name="TextBox 2">
            <a:extLst>
              <a:ext uri="{FF2B5EF4-FFF2-40B4-BE49-F238E27FC236}">
                <a16:creationId xmlns:a16="http://schemas.microsoft.com/office/drawing/2014/main" id="{79910108-9A0A-3042-1387-F40F22476110}"/>
              </a:ext>
            </a:extLst>
          </p:cNvPr>
          <p:cNvSpPr txBox="1"/>
          <p:nvPr/>
        </p:nvSpPr>
        <p:spPr>
          <a:xfrm>
            <a:off x="700296" y="3748881"/>
            <a:ext cx="5476674" cy="646331"/>
          </a:xfrm>
          <a:prstGeom prst="rect">
            <a:avLst/>
          </a:prstGeom>
          <a:noFill/>
          <a:ln w="57150">
            <a:noFill/>
          </a:ln>
        </p:spPr>
        <p:txBody>
          <a:bodyPr wrap="square" rtlCol="0">
            <a:spAutoFit/>
          </a:bodyPr>
          <a:lstStyle/>
          <a:p>
            <a:pPr>
              <a:buClr>
                <a:srgbClr val="218317"/>
              </a:buClr>
            </a:pPr>
            <a:r>
              <a:rPr lang="es-ES" dirty="0">
                <a:latin typeface="Helvetica" panose="020B0604020202020204" pitchFamily="34" charset="0"/>
                <a:cs typeface="Helvetica" panose="020B0604020202020204" pitchFamily="34" charset="0"/>
              </a:rPr>
              <a:t>Variables </a:t>
            </a:r>
            <a:r>
              <a:rPr lang="es-ES" dirty="0" err="1">
                <a:latin typeface="Helvetica" panose="020B0604020202020204" pitchFamily="34" charset="0"/>
                <a:cs typeface="Helvetica" panose="020B0604020202020204" pitchFamily="34" charset="0"/>
              </a:rPr>
              <a:t>with</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higher</a:t>
            </a:r>
            <a:r>
              <a:rPr lang="es-ES" b="1" dirty="0">
                <a:latin typeface="Helvetica" panose="020B0604020202020204" pitchFamily="34" charset="0"/>
                <a:cs typeface="Helvetica" panose="020B0604020202020204" pitchFamily="34" charset="0"/>
              </a:rPr>
              <a:t> response </a:t>
            </a:r>
            <a:r>
              <a:rPr lang="es-ES" dirty="0">
                <a:latin typeface="Helvetica" panose="020B0604020202020204" pitchFamily="34" charset="0"/>
                <a:cs typeface="Helvetica" panose="020B0604020202020204" pitchFamily="34" charset="0"/>
              </a:rPr>
              <a:t>ratios </a:t>
            </a:r>
            <a:r>
              <a:rPr lang="es-ES" dirty="0" err="1">
                <a:latin typeface="Helvetica" panose="020B0604020202020204" pitchFamily="34" charset="0"/>
                <a:cs typeface="Helvetica" panose="020B0604020202020204" pitchFamily="34" charset="0"/>
              </a:rPr>
              <a:t>will</a:t>
            </a:r>
            <a:r>
              <a:rPr lang="es-ES" dirty="0">
                <a:latin typeface="Helvetica" panose="020B0604020202020204" pitchFamily="34" charset="0"/>
                <a:cs typeface="Helvetica" panose="020B0604020202020204" pitchFamily="34" charset="0"/>
              </a:rPr>
              <a:t> be more </a:t>
            </a:r>
            <a:r>
              <a:rPr lang="es-ES" dirty="0" err="1">
                <a:latin typeface="Helvetica" panose="020B0604020202020204" pitchFamily="34" charset="0"/>
                <a:cs typeface="Helvetica" panose="020B0604020202020204" pitchFamily="34" charset="0"/>
              </a:rPr>
              <a:t>useful</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to</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forecast</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vulnerability</a:t>
            </a:r>
            <a:r>
              <a:rPr lang="es-ES" b="1"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drought</a:t>
            </a:r>
            <a:endParaRPr lang="es-ES" dirty="0">
              <a:latin typeface="Helvetica" panose="020B0604020202020204" pitchFamily="34" charset="0"/>
              <a:cs typeface="Helvetica" panose="020B0604020202020204" pitchFamily="34" charset="0"/>
            </a:endParaRPr>
          </a:p>
        </p:txBody>
      </p:sp>
      <p:sp>
        <p:nvSpPr>
          <p:cNvPr id="18" name="TextBox 2">
            <a:extLst>
              <a:ext uri="{FF2B5EF4-FFF2-40B4-BE49-F238E27FC236}">
                <a16:creationId xmlns:a16="http://schemas.microsoft.com/office/drawing/2014/main" id="{88AD00D1-63A5-13A0-8E80-972D8563CEFE}"/>
              </a:ext>
            </a:extLst>
          </p:cNvPr>
          <p:cNvSpPr txBox="1"/>
          <p:nvPr/>
        </p:nvSpPr>
        <p:spPr>
          <a:xfrm>
            <a:off x="588749" y="4767513"/>
            <a:ext cx="5476674" cy="1200329"/>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dirty="0">
                <a:latin typeface="Helvetica" panose="020B0604020202020204" pitchFamily="34" charset="0"/>
                <a:cs typeface="Helvetica" panose="020B0604020202020204" pitchFamily="34" charset="0"/>
              </a:rPr>
              <a:t>BAI </a:t>
            </a:r>
            <a:r>
              <a:rPr lang="es-ES" dirty="0" err="1">
                <a:latin typeface="Helvetica" panose="020B0604020202020204" pitchFamily="34" charset="0"/>
                <a:cs typeface="Helvetica" panose="020B0604020202020204" pitchFamily="34" charset="0"/>
              </a:rPr>
              <a:t>since</a:t>
            </a:r>
            <a:r>
              <a:rPr lang="es-ES" dirty="0">
                <a:latin typeface="Helvetica" panose="020B0604020202020204" pitchFamily="34" charset="0"/>
                <a:cs typeface="Helvetica" panose="020B0604020202020204" pitchFamily="34" charset="0"/>
              </a:rPr>
              <a:t> 1980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the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better</a:t>
            </a:r>
            <a:r>
              <a:rPr lang="es-ES" dirty="0">
                <a:latin typeface="Helvetica" panose="020B0604020202020204" pitchFamily="34" charset="0"/>
                <a:cs typeface="Helvetica" panose="020B0604020202020204" pitchFamily="34" charset="0"/>
              </a:rPr>
              <a:t> predictor in general and </a:t>
            </a:r>
            <a:r>
              <a:rPr lang="es-ES" dirty="0" err="1">
                <a:latin typeface="Helvetica" panose="020B0604020202020204" pitchFamily="34" charset="0"/>
                <a:cs typeface="Helvetica" panose="020B0604020202020204" pitchFamily="34" charset="0"/>
              </a:rPr>
              <a:t>among</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all</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the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growth</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average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values</a:t>
            </a:r>
            <a:endParaRPr lang="es-ES" dirty="0">
              <a:latin typeface="Helvetica" panose="020B0604020202020204" pitchFamily="34" charset="0"/>
              <a:cs typeface="Helvetica" panose="020B0604020202020204" pitchFamily="34" charset="0"/>
            </a:endParaRP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Competition</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age</a:t>
            </a:r>
            <a:r>
              <a:rPr lang="es-ES" dirty="0">
                <a:latin typeface="Helvetica" panose="020B0604020202020204" pitchFamily="34" charset="0"/>
                <a:cs typeface="Helvetica" panose="020B0604020202020204" pitchFamily="34" charset="0"/>
              </a:rPr>
              <a:t> are </a:t>
            </a:r>
            <a:r>
              <a:rPr lang="es-ES" dirty="0" err="1">
                <a:latin typeface="Helvetica" panose="020B0604020202020204" pitchFamily="34" charset="0"/>
                <a:cs typeface="Helvetica" panose="020B0604020202020204" pitchFamily="34" charset="0"/>
              </a:rPr>
              <a:t>great</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too</a:t>
            </a:r>
            <a:endParaRPr lang="es-ES" dirty="0">
              <a:latin typeface="Helvetica" panose="020B0604020202020204" pitchFamily="34" charset="0"/>
              <a:cs typeface="Helvetica" panose="020B0604020202020204" pitchFamily="34" charset="0"/>
            </a:endParaRPr>
          </a:p>
          <a:p>
            <a:pPr marL="342900" indent="-342900">
              <a:buClr>
                <a:srgbClr val="218317"/>
              </a:buClr>
              <a:buFont typeface="Arial" panose="020B0604020202020204" pitchFamily="34" charset="0"/>
              <a:buChar char="•"/>
            </a:pPr>
            <a:r>
              <a:rPr lang="es-ES" dirty="0" err="1">
                <a:latin typeface="Helvetica" panose="020B0604020202020204" pitchFamily="34" charset="0"/>
                <a:cs typeface="Helvetica" panose="020B0604020202020204" pitchFamily="34" charset="0"/>
              </a:rPr>
              <a:t>D.b.h</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worse</a:t>
            </a:r>
            <a:r>
              <a:rPr lang="es-ES" dirty="0">
                <a:latin typeface="Helvetica" panose="020B0604020202020204" pitchFamily="34" charset="0"/>
                <a:cs typeface="Helvetica" panose="020B0604020202020204" pitchFamily="34" charset="0"/>
              </a:rPr>
              <a:t> predictor </a:t>
            </a:r>
            <a:r>
              <a:rPr lang="es-ES" dirty="0" err="1">
                <a:latin typeface="Helvetica" panose="020B0604020202020204" pitchFamily="34" charset="0"/>
                <a:cs typeface="Helvetica" panose="020B0604020202020204" pitchFamily="34" charset="0"/>
              </a:rPr>
              <a:t>than</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height</a:t>
            </a:r>
            <a:endParaRPr lang="es-ES" dirty="0">
              <a:latin typeface="Helvetica" panose="020B0604020202020204" pitchFamily="34" charset="0"/>
              <a:cs typeface="Helvetica" panose="020B0604020202020204" pitchFamily="34" charset="0"/>
            </a:endParaRPr>
          </a:p>
        </p:txBody>
      </p:sp>
      <p:sp>
        <p:nvSpPr>
          <p:cNvPr id="19" name="Signo de multiplicación 18">
            <a:extLst>
              <a:ext uri="{FF2B5EF4-FFF2-40B4-BE49-F238E27FC236}">
                <a16:creationId xmlns:a16="http://schemas.microsoft.com/office/drawing/2014/main" id="{7C92E061-E857-ECBB-F7FF-4F6CC76A6E11}"/>
              </a:ext>
            </a:extLst>
          </p:cNvPr>
          <p:cNvSpPr/>
          <p:nvPr/>
        </p:nvSpPr>
        <p:spPr>
          <a:xfrm>
            <a:off x="6363536" y="992089"/>
            <a:ext cx="1157468" cy="2639751"/>
          </a:xfrm>
          <a:prstGeom prst="mathMultiply">
            <a:avLst>
              <a:gd name="adj1" fmla="val 9390"/>
            </a:avLst>
          </a:prstGeom>
          <a:solidFill>
            <a:srgbClr val="218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Signo de multiplicación 19">
            <a:extLst>
              <a:ext uri="{FF2B5EF4-FFF2-40B4-BE49-F238E27FC236}">
                <a16:creationId xmlns:a16="http://schemas.microsoft.com/office/drawing/2014/main" id="{045E807F-60D8-E14D-D2E3-132D29C663B2}"/>
              </a:ext>
            </a:extLst>
          </p:cNvPr>
          <p:cNvSpPr/>
          <p:nvPr/>
        </p:nvSpPr>
        <p:spPr>
          <a:xfrm>
            <a:off x="6637507" y="4886449"/>
            <a:ext cx="1074544" cy="476084"/>
          </a:xfrm>
          <a:prstGeom prst="mathMultiply">
            <a:avLst>
              <a:gd name="adj1" fmla="val 9390"/>
            </a:avLst>
          </a:prstGeom>
          <a:solidFill>
            <a:srgbClr val="2183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58810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03B6-A4BF-DADE-1A72-7B36ED80D30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2512801-7A7B-CA2D-AC0B-35EF8CC3F2C2}"/>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E1B49E79-E5A9-8191-4465-1A98A526BF9C}"/>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4B44A59B-3927-6BB8-9C72-AA37379346FB}"/>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78C9DE0E-B19A-C40A-4DC3-571AD3B8C541}"/>
              </a:ext>
            </a:extLst>
          </p:cNvPr>
          <p:cNvSpPr txBox="1">
            <a:spLocks/>
          </p:cNvSpPr>
          <p:nvPr/>
        </p:nvSpPr>
        <p:spPr>
          <a:xfrm>
            <a:off x="418288" y="1140469"/>
            <a:ext cx="5136205" cy="6463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3200" b="1" dirty="0">
                <a:solidFill>
                  <a:srgbClr val="218317"/>
                </a:solidFill>
                <a:latin typeface="Helvetica"/>
                <a:cs typeface="Helvetica"/>
              </a:rPr>
              <a:t>3.- </a:t>
            </a:r>
            <a:r>
              <a:rPr lang="es-ES" sz="3200" b="1" dirty="0">
                <a:latin typeface="Helvetica"/>
                <a:cs typeface="Helvetica"/>
              </a:rPr>
              <a:t>Response ratios</a:t>
            </a:r>
            <a:endParaRPr lang="es-ES" dirty="0">
              <a:latin typeface="Helvetica"/>
              <a:cs typeface="Helvetica"/>
              <a:sym typeface="Wingdings" panose="05000000000000000000" pitchFamily="2" charset="2"/>
            </a:endParaRPr>
          </a:p>
          <a:p>
            <a:pPr>
              <a:buClr>
                <a:srgbClr val="218317"/>
              </a:buClr>
            </a:pPr>
            <a:endParaRPr lang="es-ES" b="1" dirty="0">
              <a:latin typeface="Helvetica"/>
              <a:cs typeface="Helvetica"/>
              <a:sym typeface="Wingdings" panose="05000000000000000000" pitchFamily="2" charset="2"/>
            </a:endParaRPr>
          </a:p>
          <a:p>
            <a:pPr>
              <a:buClr>
                <a:srgbClr val="218317"/>
              </a:buClr>
            </a:pPr>
            <a:endParaRPr lang="es-ES" b="1" dirty="0">
              <a:latin typeface="Helvetica"/>
              <a:cs typeface="Helvetica"/>
            </a:endParaRPr>
          </a:p>
          <a:p>
            <a:pPr marL="0" indent="0">
              <a:buClr>
                <a:srgbClr val="218317"/>
              </a:buClr>
              <a:buNone/>
            </a:pPr>
            <a:endParaRPr lang="es-ES" b="1"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800" b="1" dirty="0">
              <a:latin typeface="Helvetica" panose="020B0604020202020204" pitchFamily="34" charset="0"/>
              <a:cs typeface="Helvetica" panose="020B0604020202020204" pitchFamily="34" charset="0"/>
            </a:endParaRPr>
          </a:p>
          <a:p>
            <a:endParaRPr lang="es-ES" sz="3200" b="1" dirty="0">
              <a:latin typeface="Helvetica" panose="020B0604020202020204" pitchFamily="34" charset="0"/>
              <a:cs typeface="Helvetica" panose="020B0604020202020204" pitchFamily="34" charset="0"/>
            </a:endParaRPr>
          </a:p>
        </p:txBody>
      </p:sp>
      <p:sp>
        <p:nvSpPr>
          <p:cNvPr id="15" name="TextBox 16">
            <a:extLst>
              <a:ext uri="{FF2B5EF4-FFF2-40B4-BE49-F238E27FC236}">
                <a16:creationId xmlns:a16="http://schemas.microsoft.com/office/drawing/2014/main" id="{173F882E-1D7E-81C8-1C5A-FBDF6EF8991A}"/>
              </a:ext>
            </a:extLst>
          </p:cNvPr>
          <p:cNvSpPr txBox="1"/>
          <p:nvPr/>
        </p:nvSpPr>
        <p:spPr>
          <a:xfrm>
            <a:off x="700296" y="1786800"/>
            <a:ext cx="4854197" cy="461665"/>
          </a:xfrm>
          <a:prstGeom prst="rect">
            <a:avLst/>
          </a:prstGeom>
          <a:noFill/>
        </p:spPr>
        <p:txBody>
          <a:bodyPr wrap="square" lIns="91440" tIns="45720" rIns="91440" bIns="45720" rtlCol="0" anchor="t">
            <a:spAutoFit/>
          </a:bodyPr>
          <a:lstStyle/>
          <a:p>
            <a:pPr algn="ctr"/>
            <a:r>
              <a:rPr lang="es-ES" sz="2400" i="1" dirty="0" err="1">
                <a:latin typeface="Helvetica"/>
                <a:cs typeface="Helvetica"/>
              </a:rPr>
              <a:t>LogRR</a:t>
            </a:r>
            <a:r>
              <a:rPr lang="es-ES" sz="2400" i="1" dirty="0">
                <a:latin typeface="Helvetica"/>
                <a:cs typeface="Helvetica"/>
              </a:rPr>
              <a:t> = log(</a:t>
            </a:r>
            <a:r>
              <a:rPr lang="es-ES" sz="2400" i="1" dirty="0" err="1">
                <a:latin typeface="Helvetica"/>
                <a:cs typeface="Helvetica"/>
              </a:rPr>
              <a:t>X</a:t>
            </a:r>
            <a:r>
              <a:rPr lang="es-ES" sz="2400" i="1" baseline="-25000" dirty="0" err="1">
                <a:latin typeface="Helvetica"/>
                <a:cs typeface="Helvetica"/>
              </a:rPr>
              <a:t>declining</a:t>
            </a:r>
            <a:r>
              <a:rPr lang="es-ES" sz="2400" i="1" dirty="0">
                <a:latin typeface="Helvetica"/>
                <a:cs typeface="Helvetica"/>
              </a:rPr>
              <a:t> / </a:t>
            </a:r>
            <a:r>
              <a:rPr lang="es-ES" sz="2400" i="1" dirty="0" err="1">
                <a:latin typeface="Helvetica"/>
                <a:cs typeface="Helvetica"/>
              </a:rPr>
              <a:t>X</a:t>
            </a:r>
            <a:r>
              <a:rPr lang="es-ES" sz="2400" i="1" baseline="-25000" dirty="0" err="1">
                <a:latin typeface="Helvetica"/>
                <a:cs typeface="Helvetica"/>
              </a:rPr>
              <a:t>non-declining</a:t>
            </a:r>
            <a:r>
              <a:rPr lang="es-ES" sz="2400" i="1" dirty="0">
                <a:latin typeface="Helvetica"/>
                <a:cs typeface="Helvetica"/>
              </a:rPr>
              <a:t>)</a:t>
            </a:r>
          </a:p>
        </p:txBody>
      </p:sp>
      <p:sp>
        <p:nvSpPr>
          <p:cNvPr id="16" name="TextBox 2">
            <a:extLst>
              <a:ext uri="{FF2B5EF4-FFF2-40B4-BE49-F238E27FC236}">
                <a16:creationId xmlns:a16="http://schemas.microsoft.com/office/drawing/2014/main" id="{92AE25DE-EAE8-7A6A-2CE2-D21990375D8F}"/>
              </a:ext>
            </a:extLst>
          </p:cNvPr>
          <p:cNvSpPr txBox="1"/>
          <p:nvPr/>
        </p:nvSpPr>
        <p:spPr>
          <a:xfrm>
            <a:off x="700296" y="2556247"/>
            <a:ext cx="5476674" cy="646331"/>
          </a:xfrm>
          <a:prstGeom prst="rect">
            <a:avLst/>
          </a:prstGeom>
          <a:noFill/>
          <a:ln w="57150">
            <a:noFill/>
          </a:ln>
        </p:spPr>
        <p:txBody>
          <a:bodyPr wrap="square" rtlCol="0">
            <a:spAutoFit/>
          </a:bodyPr>
          <a:lstStyle/>
          <a:p>
            <a:pPr>
              <a:buClr>
                <a:srgbClr val="218317"/>
              </a:buClr>
            </a:pP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see</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how</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much</a:t>
            </a:r>
            <a:r>
              <a:rPr lang="es-ES" b="1" dirty="0">
                <a:latin typeface="Helvetica" panose="020B0604020202020204" pitchFamily="34" charset="0"/>
                <a:cs typeface="Helvetica" panose="020B0604020202020204" pitchFamily="34" charset="0"/>
              </a:rPr>
              <a:t> </a:t>
            </a:r>
            <a:r>
              <a:rPr lang="es-ES" dirty="0">
                <a:latin typeface="Helvetica" panose="020B0604020202020204" pitchFamily="34" charset="0"/>
                <a:cs typeface="Helvetica" panose="020B0604020202020204" pitchFamily="34" charset="0"/>
              </a:rPr>
              <a:t>do variables </a:t>
            </a:r>
            <a:r>
              <a:rPr lang="es-ES" dirty="0" err="1">
                <a:latin typeface="Helvetica" panose="020B0604020202020204" pitchFamily="34" charset="0"/>
                <a:cs typeface="Helvetica" panose="020B0604020202020204" pitchFamily="34" charset="0"/>
              </a:rPr>
              <a:t>change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between</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and non-</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a:t>
            </a:r>
          </a:p>
        </p:txBody>
      </p:sp>
      <p:sp>
        <p:nvSpPr>
          <p:cNvPr id="17" name="TextBox 2">
            <a:extLst>
              <a:ext uri="{FF2B5EF4-FFF2-40B4-BE49-F238E27FC236}">
                <a16:creationId xmlns:a16="http://schemas.microsoft.com/office/drawing/2014/main" id="{AEE7E184-71CA-424C-9FA0-349E5B5C77F7}"/>
              </a:ext>
            </a:extLst>
          </p:cNvPr>
          <p:cNvSpPr txBox="1"/>
          <p:nvPr/>
        </p:nvSpPr>
        <p:spPr>
          <a:xfrm>
            <a:off x="700296" y="4350764"/>
            <a:ext cx="4253669" cy="461665"/>
          </a:xfrm>
          <a:prstGeom prst="rect">
            <a:avLst/>
          </a:prstGeom>
          <a:noFill/>
          <a:ln w="57150">
            <a:noFill/>
          </a:ln>
        </p:spPr>
        <p:txBody>
          <a:bodyPr wrap="square" rtlCol="0">
            <a:spAutoFit/>
          </a:bodyPr>
          <a:lstStyle/>
          <a:p>
            <a:pPr>
              <a:buClr>
                <a:srgbClr val="218317"/>
              </a:buClr>
            </a:pPr>
            <a:r>
              <a:rPr lang="es-ES" sz="2400" b="1" dirty="0" err="1">
                <a:latin typeface="Helvetica" panose="020B0604020202020204" pitchFamily="34" charset="0"/>
                <a:cs typeface="Helvetica" panose="020B0604020202020204" pitchFamily="34" charset="0"/>
              </a:rPr>
              <a:t>This</a:t>
            </a:r>
            <a:r>
              <a:rPr lang="es-ES" sz="2400" b="1"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is</a:t>
            </a:r>
            <a:r>
              <a:rPr lang="es-ES" sz="2400" b="1"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the</a:t>
            </a:r>
            <a:r>
              <a:rPr lang="es-ES" sz="2400" b="1" dirty="0">
                <a:latin typeface="Helvetica" panose="020B0604020202020204" pitchFamily="34" charset="0"/>
                <a:cs typeface="Helvetica" panose="020B0604020202020204" pitchFamily="34" charset="0"/>
              </a:rPr>
              <a:t> final </a:t>
            </a:r>
            <a:r>
              <a:rPr lang="es-ES" sz="2400" b="1" dirty="0" err="1">
                <a:latin typeface="Helvetica" panose="020B0604020202020204" pitchFamily="34" charset="0"/>
                <a:cs typeface="Helvetica" panose="020B0604020202020204" pitchFamily="34" charset="0"/>
              </a:rPr>
              <a:t>selection</a:t>
            </a:r>
            <a:r>
              <a:rPr lang="es-ES" sz="2400" b="1" dirty="0">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16F1BE57-11EB-8EB7-6CA5-6499AED53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433" y="1128894"/>
            <a:ext cx="5476675" cy="5476674"/>
          </a:xfrm>
          <a:prstGeom prst="rect">
            <a:avLst/>
          </a:prstGeom>
        </p:spPr>
      </p:pic>
    </p:spTree>
    <p:extLst>
      <p:ext uri="{BB962C8B-B14F-4D97-AF65-F5344CB8AC3E}">
        <p14:creationId xmlns:p14="http://schemas.microsoft.com/office/powerpoint/2010/main" val="1891967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C0FC2-1CD4-4FFD-8920-878816F1095E}"/>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C47ACDC-4679-69D1-EB3E-AE7561B9F689}"/>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A807ECDD-DCD4-7855-71F8-4C7AA388EE15}"/>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Data </a:t>
            </a:r>
            <a:r>
              <a:rPr lang="es-ES" sz="3200" b="1" dirty="0" err="1">
                <a:solidFill>
                  <a:schemeClr val="bg1"/>
                </a:solidFill>
                <a:latin typeface="Helvetica" panose="020B0604020202020204" pitchFamily="34" charset="0"/>
                <a:cs typeface="Helvetica" panose="020B0604020202020204" pitchFamily="34" charset="0"/>
              </a:rPr>
              <a:t>analysis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878D5E62-E2E2-E9F4-8A17-7D19CC9954C5}"/>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4" name="Marcador de contenido 2">
            <a:extLst>
              <a:ext uri="{FF2B5EF4-FFF2-40B4-BE49-F238E27FC236}">
                <a16:creationId xmlns:a16="http://schemas.microsoft.com/office/drawing/2014/main" id="{7E93997D-8BA6-1904-C03E-555B80ACD296}"/>
              </a:ext>
            </a:extLst>
          </p:cNvPr>
          <p:cNvSpPr txBox="1">
            <a:spLocks/>
          </p:cNvSpPr>
          <p:nvPr/>
        </p:nvSpPr>
        <p:spPr>
          <a:xfrm>
            <a:off x="418288" y="1140469"/>
            <a:ext cx="5136205" cy="64633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3200" b="1" dirty="0">
                <a:solidFill>
                  <a:srgbClr val="218317"/>
                </a:solidFill>
                <a:latin typeface="Helvetica"/>
                <a:cs typeface="Helvetica"/>
              </a:rPr>
              <a:t>4.- </a:t>
            </a:r>
            <a:r>
              <a:rPr lang="es-ES" sz="3200" b="1" dirty="0">
                <a:latin typeface="Helvetica"/>
                <a:cs typeface="Helvetica"/>
              </a:rPr>
              <a:t>PCA</a:t>
            </a:r>
            <a:endParaRPr lang="es-ES" dirty="0">
              <a:latin typeface="Helvetica"/>
              <a:cs typeface="Helvetica"/>
              <a:sym typeface="Wingdings" panose="05000000000000000000" pitchFamily="2" charset="2"/>
            </a:endParaRPr>
          </a:p>
          <a:p>
            <a:pPr>
              <a:buClr>
                <a:srgbClr val="218317"/>
              </a:buClr>
            </a:pPr>
            <a:endParaRPr lang="es-ES" b="1" dirty="0">
              <a:latin typeface="Helvetica"/>
              <a:cs typeface="Helvetica"/>
              <a:sym typeface="Wingdings" panose="05000000000000000000" pitchFamily="2" charset="2"/>
            </a:endParaRPr>
          </a:p>
          <a:p>
            <a:pPr>
              <a:buClr>
                <a:srgbClr val="218317"/>
              </a:buClr>
            </a:pPr>
            <a:endParaRPr lang="es-ES" b="1" dirty="0">
              <a:latin typeface="Helvetica"/>
              <a:cs typeface="Helvetica"/>
            </a:endParaRPr>
          </a:p>
          <a:p>
            <a:pPr marL="0" indent="0">
              <a:buClr>
                <a:srgbClr val="218317"/>
              </a:buClr>
              <a:buNone/>
            </a:pPr>
            <a:endParaRPr lang="es-ES" b="1"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800" b="1" dirty="0">
              <a:latin typeface="Helvetica" panose="020B0604020202020204" pitchFamily="34" charset="0"/>
              <a:cs typeface="Helvetica" panose="020B0604020202020204" pitchFamily="34" charset="0"/>
            </a:endParaRPr>
          </a:p>
          <a:p>
            <a:endParaRPr lang="es-ES" sz="3200" b="1" dirty="0">
              <a:latin typeface="Helvetica" panose="020B0604020202020204" pitchFamily="34" charset="0"/>
              <a:cs typeface="Helvetica" panose="020B0604020202020204" pitchFamily="34" charset="0"/>
            </a:endParaRPr>
          </a:p>
        </p:txBody>
      </p:sp>
      <p:sp>
        <p:nvSpPr>
          <p:cNvPr id="16" name="TextBox 2">
            <a:extLst>
              <a:ext uri="{FF2B5EF4-FFF2-40B4-BE49-F238E27FC236}">
                <a16:creationId xmlns:a16="http://schemas.microsoft.com/office/drawing/2014/main" id="{FCD2D5C5-7F5E-981A-632B-BB3CD5089C2D}"/>
              </a:ext>
            </a:extLst>
          </p:cNvPr>
          <p:cNvSpPr txBox="1"/>
          <p:nvPr/>
        </p:nvSpPr>
        <p:spPr>
          <a:xfrm>
            <a:off x="700296" y="2137904"/>
            <a:ext cx="5476674" cy="707886"/>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The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first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two</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axes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explain</a:t>
            </a:r>
            <a:r>
              <a:rPr lang="es-ES" sz="2000" dirty="0">
                <a:latin typeface="Helvetica" panose="020B0604020202020204" pitchFamily="34" charset="0"/>
                <a:cs typeface="Helvetica" panose="020B0604020202020204" pitchFamily="34" charset="0"/>
              </a:rPr>
              <a:t> a 67.07% </a:t>
            </a:r>
            <a:r>
              <a:rPr lang="es-ES" sz="2000" dirty="0" err="1">
                <a:latin typeface="Helvetica" panose="020B0604020202020204" pitchFamily="34" charset="0"/>
                <a:cs typeface="Helvetica" panose="020B0604020202020204" pitchFamily="34" charset="0"/>
              </a:rPr>
              <a:t>of</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the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variance</a:t>
            </a:r>
            <a:r>
              <a:rPr lang="es-ES" sz="2000" dirty="0">
                <a:latin typeface="Helvetica" panose="020B0604020202020204" pitchFamily="34" charset="0"/>
                <a:cs typeface="Helvetica" panose="020B0604020202020204" pitchFamily="34" charset="0"/>
              </a:rPr>
              <a:t> </a:t>
            </a:r>
          </a:p>
        </p:txBody>
      </p:sp>
      <p:sp>
        <p:nvSpPr>
          <p:cNvPr id="10" name="TextBox 2">
            <a:extLst>
              <a:ext uri="{FF2B5EF4-FFF2-40B4-BE49-F238E27FC236}">
                <a16:creationId xmlns:a16="http://schemas.microsoft.com/office/drawing/2014/main" id="{35AB7045-AFEB-5F08-5D02-B82619128AA9}"/>
              </a:ext>
            </a:extLst>
          </p:cNvPr>
          <p:cNvSpPr txBox="1"/>
          <p:nvPr/>
        </p:nvSpPr>
        <p:spPr>
          <a:xfrm>
            <a:off x="700296" y="2796784"/>
            <a:ext cx="5476674" cy="400110"/>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sz="2000" dirty="0">
                <a:latin typeface="Helvetica" panose="020B0604020202020204" pitchFamily="34" charset="0"/>
                <a:cs typeface="Helvetica" panose="020B0604020202020204" pitchFamily="34" charset="0"/>
              </a:rPr>
              <a:t>High </a:t>
            </a:r>
            <a:r>
              <a:rPr lang="es-ES" sz="2000" dirty="0" err="1">
                <a:latin typeface="Helvetica" panose="020B0604020202020204" pitchFamily="34" charset="0"/>
                <a:cs typeface="Helvetica" panose="020B0604020202020204" pitchFamily="34" charset="0"/>
              </a:rPr>
              <a:t>orthogonality</a:t>
            </a:r>
            <a:endParaRPr lang="es-ES" sz="2000" dirty="0">
              <a:latin typeface="Helvetica" panose="020B0604020202020204" pitchFamily="34" charset="0"/>
              <a:cs typeface="Helvetica" panose="020B0604020202020204" pitchFamily="34" charset="0"/>
            </a:endParaRPr>
          </a:p>
        </p:txBody>
      </p:sp>
      <p:sp>
        <p:nvSpPr>
          <p:cNvPr id="11" name="TextBox 2">
            <a:extLst>
              <a:ext uri="{FF2B5EF4-FFF2-40B4-BE49-F238E27FC236}">
                <a16:creationId xmlns:a16="http://schemas.microsoft.com/office/drawing/2014/main" id="{10F77E45-E13A-2102-5988-800EBB9689F5}"/>
              </a:ext>
            </a:extLst>
          </p:cNvPr>
          <p:cNvSpPr txBox="1"/>
          <p:nvPr/>
        </p:nvSpPr>
        <p:spPr>
          <a:xfrm>
            <a:off x="700295" y="3845833"/>
            <a:ext cx="3022619" cy="1938992"/>
          </a:xfrm>
          <a:prstGeom prst="rect">
            <a:avLst/>
          </a:prstGeom>
          <a:noFill/>
          <a:ln w="57150">
            <a:noFill/>
          </a:ln>
        </p:spPr>
        <p:txBody>
          <a:bodyPr wrap="square" rtlCol="0">
            <a:spAutoFit/>
          </a:bodyPr>
          <a:lstStyle/>
          <a:p>
            <a:pPr marL="342900" indent="-342900">
              <a:buClr>
                <a:srgbClr val="218317"/>
              </a:buClr>
              <a:buFont typeface="Arial" panose="020B0604020202020204" pitchFamily="34" charset="0"/>
              <a:buChar char="•"/>
            </a:pPr>
            <a:r>
              <a:rPr lang="es-ES" sz="2000" b="1" dirty="0">
                <a:latin typeface="Helvetica" panose="020B0604020202020204" pitchFamily="34" charset="0"/>
                <a:cs typeface="Helvetica" panose="020B0604020202020204" pitchFamily="34" charset="0"/>
              </a:rPr>
              <a:t>Comp. 1: </a:t>
            </a:r>
            <a:r>
              <a:rPr lang="es-ES" sz="2000" dirty="0" err="1">
                <a:latin typeface="Helvetica" panose="020B0604020202020204" pitchFamily="34" charset="0"/>
                <a:cs typeface="Helvetica" panose="020B0604020202020204" pitchFamily="34" charset="0"/>
              </a:rPr>
              <a:t>height</a:t>
            </a:r>
            <a:r>
              <a:rPr lang="es-ES" sz="2000" dirty="0">
                <a:latin typeface="Helvetica" panose="020B0604020202020204" pitchFamily="34" charset="0"/>
                <a:cs typeface="Helvetica" panose="020B0604020202020204" pitchFamily="34" charset="0"/>
              </a:rPr>
              <a:t>, BAI, </a:t>
            </a:r>
            <a:r>
              <a:rPr lang="es-ES" sz="2000" dirty="0" err="1">
                <a:latin typeface="Helvetica" panose="020B0604020202020204" pitchFamily="34" charset="0"/>
                <a:cs typeface="Helvetica" panose="020B0604020202020204" pitchFamily="34" charset="0"/>
              </a:rPr>
              <a:t>age</a:t>
            </a:r>
            <a:r>
              <a:rPr lang="es-ES" sz="2000" dirty="0">
                <a:latin typeface="Helvetica" panose="020B0604020202020204" pitchFamily="34" charset="0"/>
                <a:cs typeface="Helvetica" panose="020B0604020202020204" pitchFamily="34" charset="0"/>
              </a:rPr>
              <a:t>, 2012 </a:t>
            </a:r>
            <a:r>
              <a:rPr lang="es-ES" sz="2000" dirty="0" err="1">
                <a:latin typeface="Helvetica" panose="020B0604020202020204" pitchFamily="34" charset="0"/>
                <a:cs typeface="Helvetica" panose="020B0604020202020204" pitchFamily="34" charset="0"/>
              </a:rPr>
              <a:t>resistance</a:t>
            </a:r>
            <a:r>
              <a:rPr lang="es-ES" sz="2000" dirty="0">
                <a:latin typeface="Helvetica" panose="020B0604020202020204" pitchFamily="34" charset="0"/>
                <a:cs typeface="Helvetica" panose="020B0604020202020204" pitchFamily="34" charset="0"/>
              </a:rPr>
              <a:t>,  </a:t>
            </a:r>
          </a:p>
          <a:p>
            <a:pPr marL="342900" indent="-342900">
              <a:buClr>
                <a:srgbClr val="218317"/>
              </a:buClr>
              <a:buFont typeface="Arial" panose="020B0604020202020204" pitchFamily="34" charset="0"/>
              <a:buChar char="•"/>
            </a:pPr>
            <a:r>
              <a:rPr lang="es-ES" sz="2000" b="1" dirty="0">
                <a:latin typeface="Helvetica" panose="020B0604020202020204" pitchFamily="34" charset="0"/>
                <a:cs typeface="Helvetica" panose="020B0604020202020204" pitchFamily="34" charset="0"/>
              </a:rPr>
              <a:t>Comp. 2: </a:t>
            </a:r>
            <a:r>
              <a:rPr lang="es-ES" sz="2000" dirty="0">
                <a:latin typeface="Helvetica" panose="020B0604020202020204" pitchFamily="34" charset="0"/>
                <a:cs typeface="Helvetica" panose="020B0604020202020204" pitchFamily="34" charset="0"/>
              </a:rPr>
              <a:t>SLA, </a:t>
            </a:r>
            <a:r>
              <a:rPr lang="es-ES" sz="2000" dirty="0" err="1">
                <a:latin typeface="Helvetica" panose="020B0604020202020204" pitchFamily="34" charset="0"/>
                <a:cs typeface="Helvetica" panose="020B0604020202020204" pitchFamily="34" charset="0"/>
              </a:rPr>
              <a:t>competition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resilience</a:t>
            </a:r>
            <a:r>
              <a:rPr lang="es-ES" sz="2000" dirty="0">
                <a:latin typeface="Helvetica" panose="020B0604020202020204" pitchFamily="34" charset="0"/>
                <a:cs typeface="Helvetica" panose="020B0604020202020204" pitchFamily="34" charset="0"/>
              </a:rPr>
              <a:t>, 2017 &amp; 2022 </a:t>
            </a:r>
            <a:r>
              <a:rPr lang="es-ES" sz="2000" dirty="0" err="1">
                <a:latin typeface="Helvetica" panose="020B0604020202020204" pitchFamily="34" charset="0"/>
                <a:cs typeface="Helvetica" panose="020B0604020202020204" pitchFamily="34" charset="0"/>
              </a:rPr>
              <a:t>resistance</a:t>
            </a:r>
            <a:endParaRPr lang="es-ES" sz="2000" b="1" dirty="0">
              <a:latin typeface="Helvetica" panose="020B0604020202020204" pitchFamily="34" charset="0"/>
              <a:cs typeface="Helvetica" panose="020B0604020202020204" pitchFamily="34" charset="0"/>
            </a:endParaRPr>
          </a:p>
        </p:txBody>
      </p:sp>
      <p:pic>
        <p:nvPicPr>
          <p:cNvPr id="13" name="Imagen 12">
            <a:extLst>
              <a:ext uri="{FF2B5EF4-FFF2-40B4-BE49-F238E27FC236}">
                <a16:creationId xmlns:a16="http://schemas.microsoft.com/office/drawing/2014/main" id="{2AAEAA24-4F2C-C78F-20B7-8579C0456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974" y="877315"/>
            <a:ext cx="5380738" cy="5380738"/>
          </a:xfrm>
          <a:prstGeom prst="rect">
            <a:avLst/>
          </a:prstGeom>
        </p:spPr>
      </p:pic>
      <p:pic>
        <p:nvPicPr>
          <p:cNvPr id="19" name="Imagen 18">
            <a:extLst>
              <a:ext uri="{FF2B5EF4-FFF2-40B4-BE49-F238E27FC236}">
                <a16:creationId xmlns:a16="http://schemas.microsoft.com/office/drawing/2014/main" id="{13537FC6-20CA-A299-AC9A-9C5F0153FA79}"/>
              </a:ext>
            </a:extLst>
          </p:cNvPr>
          <p:cNvPicPr>
            <a:picLocks noChangeAspect="1"/>
          </p:cNvPicPr>
          <p:nvPr/>
        </p:nvPicPr>
        <p:blipFill>
          <a:blip r:embed="rId3"/>
          <a:srcRect l="765" t="67483" r="78571" b="5850"/>
          <a:stretch/>
        </p:blipFill>
        <p:spPr>
          <a:xfrm>
            <a:off x="4412360" y="3855774"/>
            <a:ext cx="2773333" cy="2013235"/>
          </a:xfrm>
          <a:prstGeom prst="rect">
            <a:avLst/>
          </a:prstGeom>
        </p:spPr>
      </p:pic>
    </p:spTree>
    <p:extLst>
      <p:ext uri="{BB962C8B-B14F-4D97-AF65-F5344CB8AC3E}">
        <p14:creationId xmlns:p14="http://schemas.microsoft.com/office/powerpoint/2010/main" val="3114808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6748-91EB-32A9-FBE0-C64F0CDC542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B4B61F5-3330-A8AA-38A9-466ACE9CC3F0}"/>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7BEFBFB1-99D0-C676-8018-46FF79B5D31F}"/>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FA2939B2-F3C8-A31A-E8B5-13ACDE0857AD}"/>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4A839B70-2AA1-A2D9-351F-FDAB6E029D6B}"/>
              </a:ext>
            </a:extLst>
          </p:cNvPr>
          <p:cNvPicPr>
            <a:picLocks noChangeAspect="1"/>
          </p:cNvPicPr>
          <p:nvPr/>
        </p:nvPicPr>
        <p:blipFill>
          <a:blip r:embed="rId4">
            <a:extLst>
              <a:ext uri="{28A0092B-C50C-407E-A947-70E740481C1C}">
                <a14:useLocalDpi xmlns:a14="http://schemas.microsoft.com/office/drawing/2010/main" val="0"/>
              </a:ext>
            </a:extLst>
          </a:blip>
          <a:srcRect b="75615"/>
          <a:stretch/>
        </p:blipFill>
        <p:spPr>
          <a:xfrm>
            <a:off x="1285054" y="1070861"/>
            <a:ext cx="9621891" cy="2607059"/>
          </a:xfrm>
          <a:prstGeom prst="rect">
            <a:avLst/>
          </a:prstGeom>
        </p:spPr>
      </p:pic>
      <p:sp>
        <p:nvSpPr>
          <p:cNvPr id="7" name="CuadroTexto 10">
            <a:extLst>
              <a:ext uri="{FF2B5EF4-FFF2-40B4-BE49-F238E27FC236}">
                <a16:creationId xmlns:a16="http://schemas.microsoft.com/office/drawing/2014/main" id="{8C75D9D6-068E-5AB5-7D40-E18D97D39A9C}"/>
              </a:ext>
            </a:extLst>
          </p:cNvPr>
          <p:cNvSpPr txBox="1"/>
          <p:nvPr/>
        </p:nvSpPr>
        <p:spPr>
          <a:xfrm>
            <a:off x="1483360" y="3677920"/>
            <a:ext cx="2956560" cy="230832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dirty="0" err="1">
                <a:latin typeface="Helvetica" panose="020B0604020202020204" pitchFamily="34" charset="0"/>
                <a:cs typeface="Helvetica" panose="020B0604020202020204" pitchFamily="34" charset="0"/>
              </a:rPr>
              <a:t>Tree</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height</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higher</a:t>
            </a:r>
            <a:r>
              <a:rPr lang="es-ES" dirty="0">
                <a:latin typeface="Helvetica" panose="020B0604020202020204" pitchFamily="34" charset="0"/>
                <a:cs typeface="Helvetica" panose="020B0604020202020204" pitchFamily="34" charset="0"/>
              </a:rPr>
              <a:t> in non-</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 in </a:t>
            </a:r>
            <a:r>
              <a:rPr lang="es-ES" dirty="0" err="1">
                <a:latin typeface="Helvetica" panose="020B0604020202020204" pitchFamily="34" charset="0"/>
                <a:cs typeface="Helvetica" panose="020B0604020202020204" pitchFamily="34" charset="0"/>
              </a:rPr>
              <a:t>all</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species</a:t>
            </a:r>
            <a:r>
              <a:rPr lang="es-ES" dirty="0">
                <a:latin typeface="Helvetica" panose="020B0604020202020204" pitchFamily="34" charset="0"/>
                <a:cs typeface="Helvetica" panose="020B0604020202020204" pitchFamily="34" charset="0"/>
              </a:rPr>
              <a:t>.</a:t>
            </a:r>
          </a:p>
          <a:p>
            <a:pPr lvl="1" algn="ctr"/>
            <a:r>
              <a:rPr lang="es-ES" b="1" dirty="0">
                <a:solidFill>
                  <a:srgbClr val="FF0000"/>
                </a:solidFill>
                <a:latin typeface="Helvetica" panose="020B0604020202020204" pitchFamily="34" charset="0"/>
                <a:cs typeface="Helvetica" panose="020B0604020202020204" pitchFamily="34" charset="0"/>
              </a:rPr>
              <a:t>Taller </a:t>
            </a:r>
            <a:r>
              <a:rPr lang="es-ES" b="1" dirty="0" err="1">
                <a:solidFill>
                  <a:srgbClr val="FF0000"/>
                </a:solidFill>
                <a:latin typeface="Helvetica" panose="020B0604020202020204" pitchFamily="34" charset="0"/>
                <a:cs typeface="Helvetica" panose="020B0604020202020204" pitchFamily="34" charset="0"/>
              </a:rPr>
              <a:t>trees</a:t>
            </a:r>
            <a:r>
              <a:rPr lang="es-ES" b="1"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might</a:t>
            </a:r>
            <a:r>
              <a:rPr lang="es-ES" dirty="0">
                <a:solidFill>
                  <a:srgbClr val="FF0000"/>
                </a:solidFill>
                <a:latin typeface="Helvetica" panose="020B0604020202020204" pitchFamily="34" charset="0"/>
                <a:cs typeface="Helvetica" panose="020B0604020202020204" pitchFamily="34" charset="0"/>
              </a:rPr>
              <a:t> be </a:t>
            </a:r>
            <a:r>
              <a:rPr lang="es-ES" b="1" dirty="0" err="1">
                <a:solidFill>
                  <a:srgbClr val="FF0000"/>
                </a:solidFill>
                <a:latin typeface="Helvetica" panose="020B0604020202020204" pitchFamily="34" charset="0"/>
                <a:cs typeface="Helvetica" panose="020B0604020202020204" pitchFamily="34" charset="0"/>
              </a:rPr>
              <a:t>less</a:t>
            </a:r>
            <a:r>
              <a:rPr lang="es-ES" b="1" dirty="0">
                <a:solidFill>
                  <a:srgbClr val="FF0000"/>
                </a:solidFill>
                <a:latin typeface="Helvetica" panose="020B0604020202020204" pitchFamily="34" charset="0"/>
                <a:cs typeface="Helvetica" panose="020B0604020202020204" pitchFamily="34" charset="0"/>
              </a:rPr>
              <a:t> vulnerable </a:t>
            </a:r>
            <a:r>
              <a:rPr lang="es-ES" dirty="0" err="1">
                <a:latin typeface="Helvetica" panose="020B0604020202020204" pitchFamily="34" charset="0"/>
                <a:cs typeface="Helvetica" panose="020B0604020202020204" pitchFamily="34" charset="0"/>
              </a:rPr>
              <a:t>due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them</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having</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access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deeper</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water</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sources</a:t>
            </a:r>
            <a:endParaRPr lang="es-ES" dirty="0">
              <a:latin typeface="Helvetica" panose="020B0604020202020204" pitchFamily="34" charset="0"/>
              <a:cs typeface="Helvetica" panose="020B0604020202020204" pitchFamily="34" charset="0"/>
            </a:endParaRPr>
          </a:p>
        </p:txBody>
      </p:sp>
      <p:sp>
        <p:nvSpPr>
          <p:cNvPr id="9" name="CuadroTexto 10">
            <a:extLst>
              <a:ext uri="{FF2B5EF4-FFF2-40B4-BE49-F238E27FC236}">
                <a16:creationId xmlns:a16="http://schemas.microsoft.com/office/drawing/2014/main" id="{68926A5D-6BF7-B942-F35A-54A3F22D891B}"/>
              </a:ext>
            </a:extLst>
          </p:cNvPr>
          <p:cNvSpPr txBox="1"/>
          <p:nvPr/>
        </p:nvSpPr>
        <p:spPr>
          <a:xfrm>
            <a:off x="4795522" y="3677920"/>
            <a:ext cx="2956560" cy="203132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err="1">
                <a:latin typeface="Helvetica" panose="020B0604020202020204" pitchFamily="34" charset="0"/>
                <a:cs typeface="Helvetica" panose="020B0604020202020204" pitchFamily="34" charset="0"/>
              </a:rPr>
              <a:t>Competition</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more intense in </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 </a:t>
            </a:r>
            <a:r>
              <a:rPr lang="es-ES" b="1" dirty="0" err="1">
                <a:latin typeface="Helvetica" panose="020B0604020202020204" pitchFamily="34" charset="0"/>
                <a:cs typeface="Helvetica" panose="020B0604020202020204" pitchFamily="34" charset="0"/>
              </a:rPr>
              <a:t>Denser</a:t>
            </a:r>
            <a:r>
              <a:rPr lang="es-ES" b="1" dirty="0">
                <a:latin typeface="Helvetica" panose="020B0604020202020204" pitchFamily="34" charset="0"/>
                <a:cs typeface="Helvetica" panose="020B0604020202020204" pitchFamily="34" charset="0"/>
              </a:rPr>
              <a:t> stands </a:t>
            </a:r>
            <a:r>
              <a:rPr lang="es-ES" dirty="0">
                <a:latin typeface="Helvetica" panose="020B0604020202020204" pitchFamily="34" charset="0"/>
                <a:cs typeface="Helvetica" panose="020B0604020202020204" pitchFamily="34" charset="0"/>
              </a:rPr>
              <a:t>are </a:t>
            </a:r>
            <a:r>
              <a:rPr lang="es-ES" b="1" dirty="0">
                <a:latin typeface="Helvetica" panose="020B0604020202020204" pitchFamily="34" charset="0"/>
                <a:cs typeface="Helvetica" panose="020B0604020202020204" pitchFamily="34" charset="0"/>
              </a:rPr>
              <a:t>more vulnerable </a:t>
            </a:r>
            <a:r>
              <a:rPr lang="es-ES" dirty="0" err="1">
                <a:latin typeface="Helvetica" panose="020B0604020202020204" pitchFamily="34" charset="0"/>
                <a:cs typeface="Helvetica" panose="020B0604020202020204" pitchFamily="34" charset="0"/>
              </a:rPr>
              <a:t>due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limitting</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water</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nutrients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availability</a:t>
            </a:r>
            <a:r>
              <a:rPr lang="es-ES" dirty="0">
                <a:latin typeface="Helvetica" panose="020B0604020202020204" pitchFamily="34" charset="0"/>
                <a:cs typeface="Helvetica" panose="020B0604020202020204" pitchFamily="34" charset="0"/>
              </a:rPr>
              <a:t> per individual</a:t>
            </a:r>
          </a:p>
        </p:txBody>
      </p:sp>
      <p:sp>
        <p:nvSpPr>
          <p:cNvPr id="12" name="CuadroTexto 10">
            <a:extLst>
              <a:ext uri="{FF2B5EF4-FFF2-40B4-BE49-F238E27FC236}">
                <a16:creationId xmlns:a16="http://schemas.microsoft.com/office/drawing/2014/main" id="{3F4AE059-A7ED-D75B-E429-A7620F5D87A3}"/>
              </a:ext>
            </a:extLst>
          </p:cNvPr>
          <p:cNvSpPr txBox="1"/>
          <p:nvPr/>
        </p:nvSpPr>
        <p:spPr>
          <a:xfrm>
            <a:off x="7851232" y="3677920"/>
            <a:ext cx="3131727" cy="230832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a:latin typeface="Helvetica" panose="020B0604020202020204" pitchFamily="34" charset="0"/>
                <a:cs typeface="Helvetica" panose="020B0604020202020204" pitchFamily="34" charset="0"/>
              </a:rPr>
              <a:t>Age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higher</a:t>
            </a:r>
            <a:r>
              <a:rPr lang="es-ES" dirty="0">
                <a:latin typeface="Helvetica" panose="020B0604020202020204" pitchFamily="34" charset="0"/>
                <a:cs typeface="Helvetica" panose="020B0604020202020204" pitchFamily="34" charset="0"/>
              </a:rPr>
              <a:t> in </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 (</a:t>
            </a:r>
            <a:r>
              <a:rPr lang="es-ES" dirty="0" err="1">
                <a:latin typeface="Helvetica" panose="020B0604020202020204" pitchFamily="34" charset="0"/>
                <a:cs typeface="Helvetica" panose="020B0604020202020204" pitchFamily="34" charset="0"/>
              </a:rPr>
              <a:t>for</a:t>
            </a:r>
            <a:r>
              <a:rPr lang="es-ES" dirty="0">
                <a:latin typeface="Helvetica" panose="020B0604020202020204" pitchFamily="34" charset="0"/>
                <a:cs typeface="Helvetica" panose="020B0604020202020204" pitchFamily="34" charset="0"/>
              </a:rPr>
              <a:t> </a:t>
            </a:r>
            <a:r>
              <a:rPr lang="es-ES" i="1" dirty="0">
                <a:latin typeface="Helvetica" panose="020B0604020202020204" pitchFamily="34" charset="0"/>
                <a:cs typeface="Helvetica" panose="020B0604020202020204" pitchFamily="34" charset="0"/>
              </a:rPr>
              <a:t>P. </a:t>
            </a:r>
            <a:r>
              <a:rPr lang="es-ES" i="1" dirty="0" err="1">
                <a:latin typeface="Helvetica" panose="020B0604020202020204" pitchFamily="34" charset="0"/>
                <a:cs typeface="Helvetica" panose="020B0604020202020204" pitchFamily="34" charset="0"/>
              </a:rPr>
              <a:t>sylvestris</a:t>
            </a:r>
            <a:r>
              <a:rPr lang="es-ES" dirty="0">
                <a:latin typeface="Helvetica" panose="020B0604020202020204" pitchFamily="34" charset="0"/>
                <a:cs typeface="Helvetica" panose="020B0604020202020204" pitchFamily="34" charset="0"/>
              </a:rPr>
              <a:t>). </a:t>
            </a:r>
          </a:p>
          <a:p>
            <a:pPr lvl="1" algn="ctr"/>
            <a:r>
              <a:rPr lang="es-ES" b="1" dirty="0" err="1">
                <a:latin typeface="Helvetica" panose="020B0604020202020204" pitchFamily="34" charset="0"/>
                <a:cs typeface="Helvetica" panose="020B0604020202020204" pitchFamily="34" charset="0"/>
              </a:rPr>
              <a:t>Older</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trees</a:t>
            </a:r>
            <a:r>
              <a:rPr lang="es-ES" b="1" dirty="0">
                <a:latin typeface="Helvetica" panose="020B0604020202020204" pitchFamily="34" charset="0"/>
                <a:cs typeface="Helvetica" panose="020B0604020202020204" pitchFamily="34" charset="0"/>
              </a:rPr>
              <a:t> </a:t>
            </a:r>
            <a:r>
              <a:rPr lang="es-ES" dirty="0">
                <a:latin typeface="Helvetica" panose="020B0604020202020204" pitchFamily="34" charset="0"/>
                <a:cs typeface="Helvetica" panose="020B0604020202020204" pitchFamily="34" charset="0"/>
              </a:rPr>
              <a:t>are </a:t>
            </a:r>
            <a:r>
              <a:rPr lang="es-ES" b="1" dirty="0">
                <a:latin typeface="Helvetica" panose="020B0604020202020204" pitchFamily="34" charset="0"/>
                <a:cs typeface="Helvetica" panose="020B0604020202020204" pitchFamily="34" charset="0"/>
              </a:rPr>
              <a:t>more vulnerable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due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higher</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hydraulic</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limitations</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reduced</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photosynthetic</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efficiency</a:t>
            </a:r>
            <a:endParaRPr lang="es-ES" dirty="0">
              <a:latin typeface="Helvetica" panose="020B0604020202020204" pitchFamily="34" charset="0"/>
              <a:cs typeface="Helvetica" panose="020B0604020202020204" pitchFamily="34" charset="0"/>
            </a:endParaRPr>
          </a:p>
        </p:txBody>
      </p:sp>
      <p:sp>
        <p:nvSpPr>
          <p:cNvPr id="14" name="CuadroTexto 10">
            <a:extLst>
              <a:ext uri="{FF2B5EF4-FFF2-40B4-BE49-F238E27FC236}">
                <a16:creationId xmlns:a16="http://schemas.microsoft.com/office/drawing/2014/main" id="{2E633A39-40F1-30D6-3237-581F377DAAB8}"/>
              </a:ext>
            </a:extLst>
          </p:cNvPr>
          <p:cNvSpPr txBox="1"/>
          <p:nvPr/>
        </p:nvSpPr>
        <p:spPr>
          <a:xfrm>
            <a:off x="129540" y="6100313"/>
            <a:ext cx="5664199" cy="36933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err="1">
                <a:solidFill>
                  <a:srgbClr val="FF0000"/>
                </a:solidFill>
                <a:latin typeface="Helvetica" panose="020B0604020202020204" pitchFamily="34" charset="0"/>
                <a:cs typeface="Helvetica" panose="020B0604020202020204" pitchFamily="34" charset="0"/>
              </a:rPr>
              <a:t>Contrary</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to</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what</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we</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expected</a:t>
            </a:r>
            <a:r>
              <a:rPr lang="es-ES" b="1" dirty="0">
                <a:solidFill>
                  <a:srgbClr val="FF0000"/>
                </a:solidFill>
                <a:latin typeface="Helvetica" panose="020B0604020202020204" pitchFamily="34" charset="0"/>
                <a:cs typeface="Helvetica" panose="020B0604020202020204" pitchFamily="34" charset="0"/>
              </a:rPr>
              <a:t>!</a:t>
            </a:r>
            <a:endParaRPr lang="es-E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71866087"/>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D8D41-657E-4FC9-863A-C46F9A7BA03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706FCF1C-553F-1FAF-CC23-00699FA08473}"/>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CE9D40A1-2403-322F-D2A4-4B2657D8B9E6}"/>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D7B4279A-D5B6-73C3-7955-EFED977C3629}"/>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A9F74993-0A4C-E813-363F-E0876843D936}"/>
              </a:ext>
            </a:extLst>
          </p:cNvPr>
          <p:cNvPicPr>
            <a:picLocks noChangeAspect="1"/>
          </p:cNvPicPr>
          <p:nvPr/>
        </p:nvPicPr>
        <p:blipFill>
          <a:blip r:embed="rId3">
            <a:extLst>
              <a:ext uri="{28A0092B-C50C-407E-A947-70E740481C1C}">
                <a14:useLocalDpi xmlns:a14="http://schemas.microsoft.com/office/drawing/2010/main" val="0"/>
              </a:ext>
            </a:extLst>
          </a:blip>
          <a:srcRect t="24665" r="32788" b="50950"/>
          <a:stretch/>
        </p:blipFill>
        <p:spPr>
          <a:xfrm>
            <a:off x="1285055" y="1070861"/>
            <a:ext cx="6467028" cy="2607059"/>
          </a:xfrm>
          <a:prstGeom prst="rect">
            <a:avLst/>
          </a:prstGeom>
        </p:spPr>
      </p:pic>
      <p:sp>
        <p:nvSpPr>
          <p:cNvPr id="7" name="CuadroTexto 10">
            <a:extLst>
              <a:ext uri="{FF2B5EF4-FFF2-40B4-BE49-F238E27FC236}">
                <a16:creationId xmlns:a16="http://schemas.microsoft.com/office/drawing/2014/main" id="{EB3398C9-D8A7-FCC2-EBA7-93E4556645A1}"/>
              </a:ext>
            </a:extLst>
          </p:cNvPr>
          <p:cNvSpPr txBox="1"/>
          <p:nvPr/>
        </p:nvSpPr>
        <p:spPr>
          <a:xfrm>
            <a:off x="1483360" y="3677920"/>
            <a:ext cx="2956560" cy="1754326"/>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a:latin typeface="Helvetica" panose="020B0604020202020204" pitchFamily="34" charset="0"/>
                <a:cs typeface="Helvetica" panose="020B0604020202020204" pitchFamily="34" charset="0"/>
              </a:rPr>
              <a:t>SLA</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is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higher</a:t>
            </a:r>
            <a:r>
              <a:rPr lang="es-ES" dirty="0">
                <a:latin typeface="Helvetica" panose="020B0604020202020204" pitchFamily="34" charset="0"/>
                <a:cs typeface="Helvetica" panose="020B0604020202020204" pitchFamily="34" charset="0"/>
              </a:rPr>
              <a:t> in non-</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a:t>
            </a:r>
          </a:p>
          <a:p>
            <a:pPr lvl="1" algn="ctr"/>
            <a:r>
              <a:rPr lang="es-ES" dirty="0" err="1">
                <a:solidFill>
                  <a:srgbClr val="FF0000"/>
                </a:solidFill>
                <a:latin typeface="Helvetica" panose="020B0604020202020204" pitchFamily="34" charset="0"/>
                <a:cs typeface="Helvetica" panose="020B0604020202020204" pitchFamily="34" charset="0"/>
              </a:rPr>
              <a:t>With</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decreased</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water</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availability</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trees</a:t>
            </a:r>
            <a:r>
              <a:rPr lang="es-ES" dirty="0">
                <a:solidFill>
                  <a:srgbClr val="FF0000"/>
                </a:solidFill>
                <a:latin typeface="Helvetica" panose="020B0604020202020204" pitchFamily="34" charset="0"/>
                <a:cs typeface="Helvetica" panose="020B0604020202020204" pitchFamily="34" charset="0"/>
              </a:rPr>
              <a:t> can reduce SLA </a:t>
            </a:r>
            <a:r>
              <a:rPr lang="es-ES" dirty="0" err="1">
                <a:solidFill>
                  <a:srgbClr val="FF0000"/>
                </a:solidFill>
                <a:latin typeface="Helvetica" panose="020B0604020202020204" pitchFamily="34" charset="0"/>
                <a:cs typeface="Helvetica" panose="020B0604020202020204" pitchFamily="34" charset="0"/>
              </a:rPr>
              <a:t>to</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prevent</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further</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water</a:t>
            </a:r>
            <a:r>
              <a:rPr lang="es-ES" dirty="0">
                <a:solidFill>
                  <a:srgbClr val="FF0000"/>
                </a:solidFill>
                <a:latin typeface="Helvetica" panose="020B0604020202020204" pitchFamily="34" charset="0"/>
                <a:cs typeface="Helvetica" panose="020B0604020202020204" pitchFamily="34" charset="0"/>
              </a:rPr>
              <a:t> </a:t>
            </a:r>
            <a:r>
              <a:rPr lang="es-ES" dirty="0" err="1">
                <a:solidFill>
                  <a:srgbClr val="FF0000"/>
                </a:solidFill>
                <a:latin typeface="Helvetica" panose="020B0604020202020204" pitchFamily="34" charset="0"/>
                <a:cs typeface="Helvetica" panose="020B0604020202020204" pitchFamily="34" charset="0"/>
              </a:rPr>
              <a:t>losses</a:t>
            </a:r>
            <a:endParaRPr lang="es-ES" dirty="0">
              <a:latin typeface="Helvetica" panose="020B0604020202020204" pitchFamily="34" charset="0"/>
              <a:cs typeface="Helvetica" panose="020B0604020202020204" pitchFamily="34" charset="0"/>
            </a:endParaRPr>
          </a:p>
        </p:txBody>
      </p:sp>
      <p:sp>
        <p:nvSpPr>
          <p:cNvPr id="9" name="CuadroTexto 10">
            <a:extLst>
              <a:ext uri="{FF2B5EF4-FFF2-40B4-BE49-F238E27FC236}">
                <a16:creationId xmlns:a16="http://schemas.microsoft.com/office/drawing/2014/main" id="{99523C24-29E5-5604-C068-291A939F8009}"/>
              </a:ext>
            </a:extLst>
          </p:cNvPr>
          <p:cNvSpPr txBox="1"/>
          <p:nvPr/>
        </p:nvSpPr>
        <p:spPr>
          <a:xfrm>
            <a:off x="4795522" y="3677920"/>
            <a:ext cx="2956560" cy="203132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err="1">
                <a:latin typeface="Helvetica" panose="020B0604020202020204" pitchFamily="34" charset="0"/>
                <a:cs typeface="Helvetica" panose="020B0604020202020204" pitchFamily="34" charset="0"/>
              </a:rPr>
              <a:t>Growth</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rates</a:t>
            </a:r>
            <a:r>
              <a:rPr lang="es-ES" dirty="0">
                <a:latin typeface="Helvetica" panose="020B0604020202020204" pitchFamily="34" charset="0"/>
                <a:cs typeface="Helvetica" panose="020B0604020202020204" pitchFamily="34" charset="0"/>
              </a:rPr>
              <a:t> are more intense in </a:t>
            </a:r>
            <a:r>
              <a:rPr lang="es-ES" dirty="0" err="1">
                <a:latin typeface="Helvetica" panose="020B0604020202020204" pitchFamily="34" charset="0"/>
                <a:cs typeface="Helvetica" panose="020B0604020202020204" pitchFamily="34" charset="0"/>
              </a:rPr>
              <a:t>higher</a:t>
            </a:r>
            <a:r>
              <a:rPr lang="es-ES" dirty="0">
                <a:latin typeface="Helvetica" panose="020B0604020202020204" pitchFamily="34" charset="0"/>
                <a:cs typeface="Helvetica" panose="020B0604020202020204" pitchFamily="34" charset="0"/>
              </a:rPr>
              <a:t> in </a:t>
            </a:r>
            <a:r>
              <a:rPr lang="es-ES" dirty="0" err="1">
                <a:latin typeface="Helvetica" panose="020B0604020202020204" pitchFamily="34" charset="0"/>
                <a:cs typeface="Helvetica" panose="020B0604020202020204" pitchFamily="34" charset="0"/>
              </a:rPr>
              <a:t>declining</a:t>
            </a:r>
            <a:r>
              <a:rPr lang="es-ES" dirty="0">
                <a:latin typeface="Helvetica" panose="020B0604020202020204" pitchFamily="34" charset="0"/>
                <a:cs typeface="Helvetica" panose="020B0604020202020204" pitchFamily="34" charset="0"/>
              </a:rPr>
              <a:t> sites. </a:t>
            </a:r>
            <a:r>
              <a:rPr lang="es-ES" dirty="0" err="1">
                <a:latin typeface="Helvetica" panose="020B0604020202020204" pitchFamily="34" charset="0"/>
                <a:cs typeface="Helvetica" panose="020B0604020202020204" pitchFamily="34" charset="0"/>
              </a:rPr>
              <a:t>Trees</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with</a:t>
            </a:r>
            <a:r>
              <a:rPr lang="es-ES"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declining</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growth</a:t>
            </a:r>
            <a:r>
              <a:rPr lang="es-ES" b="1" dirty="0">
                <a:latin typeface="Helvetica" panose="020B0604020202020204" pitchFamily="34" charset="0"/>
                <a:cs typeface="Helvetica" panose="020B0604020202020204" pitchFamily="34" charset="0"/>
              </a:rPr>
              <a:t> </a:t>
            </a:r>
            <a:r>
              <a:rPr lang="es-ES" b="1" dirty="0" err="1">
                <a:latin typeface="Helvetica" panose="020B0604020202020204" pitchFamily="34" charset="0"/>
                <a:cs typeface="Helvetica" panose="020B0604020202020204" pitchFamily="34" charset="0"/>
              </a:rPr>
              <a:t>rates</a:t>
            </a:r>
            <a:r>
              <a:rPr lang="es-ES" b="1" dirty="0">
                <a:latin typeface="Helvetica" panose="020B0604020202020204" pitchFamily="34" charset="0"/>
                <a:cs typeface="Helvetica" panose="020B0604020202020204" pitchFamily="34" charset="0"/>
              </a:rPr>
              <a:t> </a:t>
            </a:r>
            <a:r>
              <a:rPr lang="es-ES" dirty="0">
                <a:latin typeface="Helvetica" panose="020B0604020202020204" pitchFamily="34" charset="0"/>
                <a:cs typeface="Helvetica" panose="020B0604020202020204" pitchFamily="34" charset="0"/>
              </a:rPr>
              <a:t>are more vulnerable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drought</a:t>
            </a:r>
            <a:endParaRPr lang="es-ES" dirty="0">
              <a:latin typeface="Helvetica" panose="020B0604020202020204" pitchFamily="34" charset="0"/>
              <a:cs typeface="Helvetica" panose="020B0604020202020204" pitchFamily="34" charset="0"/>
            </a:endParaRPr>
          </a:p>
        </p:txBody>
      </p:sp>
      <p:sp>
        <p:nvSpPr>
          <p:cNvPr id="14" name="CuadroTexto 10">
            <a:extLst>
              <a:ext uri="{FF2B5EF4-FFF2-40B4-BE49-F238E27FC236}">
                <a16:creationId xmlns:a16="http://schemas.microsoft.com/office/drawing/2014/main" id="{984E2E61-6987-446E-0F1F-3DDE3400E43F}"/>
              </a:ext>
            </a:extLst>
          </p:cNvPr>
          <p:cNvSpPr txBox="1"/>
          <p:nvPr/>
        </p:nvSpPr>
        <p:spPr>
          <a:xfrm>
            <a:off x="129540" y="6100313"/>
            <a:ext cx="5664199" cy="36933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b="1" dirty="0" err="1">
                <a:solidFill>
                  <a:srgbClr val="FF0000"/>
                </a:solidFill>
                <a:latin typeface="Helvetica" panose="020B0604020202020204" pitchFamily="34" charset="0"/>
                <a:cs typeface="Helvetica" panose="020B0604020202020204" pitchFamily="34" charset="0"/>
              </a:rPr>
              <a:t>Contrary</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to</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what</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we</a:t>
            </a:r>
            <a:r>
              <a:rPr lang="es-ES" b="1" dirty="0">
                <a:solidFill>
                  <a:srgbClr val="FF0000"/>
                </a:solidFill>
                <a:latin typeface="Helvetica" panose="020B0604020202020204" pitchFamily="34" charset="0"/>
                <a:cs typeface="Helvetica" panose="020B0604020202020204" pitchFamily="34" charset="0"/>
              </a:rPr>
              <a:t> </a:t>
            </a:r>
            <a:r>
              <a:rPr lang="es-ES" b="1" dirty="0" err="1">
                <a:solidFill>
                  <a:srgbClr val="FF0000"/>
                </a:solidFill>
                <a:latin typeface="Helvetica" panose="020B0604020202020204" pitchFamily="34" charset="0"/>
                <a:cs typeface="Helvetica" panose="020B0604020202020204" pitchFamily="34" charset="0"/>
              </a:rPr>
              <a:t>expected</a:t>
            </a:r>
            <a:r>
              <a:rPr lang="es-ES" b="1" dirty="0">
                <a:solidFill>
                  <a:srgbClr val="FF0000"/>
                </a:solidFill>
                <a:latin typeface="Helvetica" panose="020B0604020202020204" pitchFamily="34" charset="0"/>
                <a:cs typeface="Helvetica" panose="020B0604020202020204" pitchFamily="34" charset="0"/>
              </a:rPr>
              <a:t>!</a:t>
            </a:r>
            <a:endParaRPr lang="es-E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50298625"/>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EB6C-5237-FAD5-FD30-22E62AF9C5E6}"/>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02E8109-2D9D-23DE-1AD2-033BA9B2E70F}"/>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CED90A4F-2E06-ED1D-D1D4-D61669DFD101}"/>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E4569738-113F-F874-2875-405C8052CA6E}"/>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F438458D-07A2-6454-15EC-DFD810CC89C2}"/>
              </a:ext>
            </a:extLst>
          </p:cNvPr>
          <p:cNvPicPr>
            <a:picLocks noChangeAspect="1"/>
          </p:cNvPicPr>
          <p:nvPr/>
        </p:nvPicPr>
        <p:blipFill>
          <a:blip r:embed="rId3">
            <a:extLst>
              <a:ext uri="{28A0092B-C50C-407E-A947-70E740481C1C}">
                <a14:useLocalDpi xmlns:a14="http://schemas.microsoft.com/office/drawing/2010/main" val="0"/>
              </a:ext>
            </a:extLst>
          </a:blip>
          <a:srcRect l="67044" t="24665" r="-359" b="50950"/>
          <a:stretch/>
        </p:blipFill>
        <p:spPr>
          <a:xfrm>
            <a:off x="1234440" y="937508"/>
            <a:ext cx="3205480" cy="2607059"/>
          </a:xfrm>
          <a:prstGeom prst="rect">
            <a:avLst/>
          </a:prstGeom>
        </p:spPr>
      </p:pic>
      <p:sp>
        <p:nvSpPr>
          <p:cNvPr id="9" name="CuadroTexto 10">
            <a:extLst>
              <a:ext uri="{FF2B5EF4-FFF2-40B4-BE49-F238E27FC236}">
                <a16:creationId xmlns:a16="http://schemas.microsoft.com/office/drawing/2014/main" id="{1963F3A8-DB68-F37C-F7AD-65BDFDB074FB}"/>
              </a:ext>
            </a:extLst>
          </p:cNvPr>
          <p:cNvSpPr txBox="1"/>
          <p:nvPr/>
        </p:nvSpPr>
        <p:spPr>
          <a:xfrm>
            <a:off x="7595119" y="4457406"/>
            <a:ext cx="3872204" cy="92333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dirty="0" err="1">
                <a:latin typeface="Helvetica" panose="020B0604020202020204" pitchFamily="34" charset="0"/>
                <a:cs typeface="Helvetica" panose="020B0604020202020204" pitchFamily="34" charset="0"/>
              </a:rPr>
              <a:t>Resistance</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Resilience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values</a:t>
            </a:r>
            <a:r>
              <a:rPr lang="es-ES" dirty="0">
                <a:latin typeface="Helvetica" panose="020B0604020202020204" pitchFamily="34" charset="0"/>
                <a:cs typeface="Helvetica" panose="020B0604020202020204" pitchFamily="34" charset="0"/>
              </a:rPr>
              <a:t> are </a:t>
            </a:r>
            <a:r>
              <a:rPr lang="es-ES" dirty="0" err="1">
                <a:latin typeface="Helvetica" panose="020B0604020202020204" pitchFamily="34" charset="0"/>
                <a:cs typeface="Helvetica" panose="020B0604020202020204" pitchFamily="34" charset="0"/>
              </a:rPr>
              <a:t>different</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according</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to</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the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year</a:t>
            </a:r>
            <a:r>
              <a:rPr lang="es-ES" dirty="0">
                <a:latin typeface="Helvetica" panose="020B0604020202020204" pitchFamily="34" charset="0"/>
                <a:cs typeface="Helvetica" panose="020B0604020202020204" pitchFamily="34" charset="0"/>
              </a:rPr>
              <a:t> and </a:t>
            </a:r>
            <a:r>
              <a:rPr lang="es-ES" dirty="0" err="1">
                <a:latin typeface="Helvetica" panose="020B0604020202020204" pitchFamily="34" charset="0"/>
                <a:cs typeface="Helvetica" panose="020B0604020202020204" pitchFamily="34" charset="0"/>
              </a:rPr>
              <a:t>the</a:t>
            </a:r>
            <a:r>
              <a:rPr lang="es-ES" dirty="0">
                <a:latin typeface="Helvetica" panose="020B0604020202020204" pitchFamily="34" charset="0"/>
                <a:cs typeface="Helvetica" panose="020B0604020202020204" pitchFamily="34" charset="0"/>
              </a:rPr>
              <a:t> </a:t>
            </a:r>
            <a:r>
              <a:rPr lang="es-ES" dirty="0" err="1">
                <a:latin typeface="Helvetica" panose="020B0604020202020204" pitchFamily="34" charset="0"/>
                <a:cs typeface="Helvetica" panose="020B0604020202020204" pitchFamily="34" charset="0"/>
              </a:rPr>
              <a:t>species</a:t>
            </a:r>
            <a:endParaRPr lang="es-ES" dirty="0">
              <a:latin typeface="Helvetica" panose="020B0604020202020204" pitchFamily="34" charset="0"/>
              <a:cs typeface="Helvetica" panose="020B0604020202020204" pitchFamily="34" charset="0"/>
            </a:endParaRPr>
          </a:p>
        </p:txBody>
      </p:sp>
      <p:pic>
        <p:nvPicPr>
          <p:cNvPr id="4" name="Imagen 3">
            <a:extLst>
              <a:ext uri="{FF2B5EF4-FFF2-40B4-BE49-F238E27FC236}">
                <a16:creationId xmlns:a16="http://schemas.microsoft.com/office/drawing/2014/main" id="{9F708861-E722-E6AA-1AE5-7444F048B7AA}"/>
              </a:ext>
            </a:extLst>
          </p:cNvPr>
          <p:cNvPicPr>
            <a:picLocks noChangeAspect="1"/>
          </p:cNvPicPr>
          <p:nvPr/>
        </p:nvPicPr>
        <p:blipFill>
          <a:blip r:embed="rId3">
            <a:extLst>
              <a:ext uri="{28A0092B-C50C-407E-A947-70E740481C1C}">
                <a14:useLocalDpi xmlns:a14="http://schemas.microsoft.com/office/drawing/2010/main" val="0"/>
              </a:ext>
            </a:extLst>
          </a:blip>
          <a:srcRect l="-475" t="49349" r="33263" b="26266"/>
          <a:stretch/>
        </p:blipFill>
        <p:spPr>
          <a:xfrm>
            <a:off x="4518568" y="937508"/>
            <a:ext cx="6467028" cy="2607059"/>
          </a:xfrm>
          <a:prstGeom prst="rect">
            <a:avLst/>
          </a:prstGeom>
        </p:spPr>
      </p:pic>
      <p:pic>
        <p:nvPicPr>
          <p:cNvPr id="10" name="Imagen 9">
            <a:extLst>
              <a:ext uri="{FF2B5EF4-FFF2-40B4-BE49-F238E27FC236}">
                <a16:creationId xmlns:a16="http://schemas.microsoft.com/office/drawing/2014/main" id="{F6DA646B-2886-69BD-73C1-A198418D1044}"/>
              </a:ext>
            </a:extLst>
          </p:cNvPr>
          <p:cNvPicPr>
            <a:picLocks noChangeAspect="1"/>
          </p:cNvPicPr>
          <p:nvPr/>
        </p:nvPicPr>
        <p:blipFill>
          <a:blip r:embed="rId3">
            <a:extLst>
              <a:ext uri="{28A0092B-C50C-407E-A947-70E740481C1C}">
                <a14:useLocalDpi xmlns:a14="http://schemas.microsoft.com/office/drawing/2010/main" val="0"/>
              </a:ext>
            </a:extLst>
          </a:blip>
          <a:srcRect l="66685" t="49652" b="25963"/>
          <a:stretch/>
        </p:blipFill>
        <p:spPr>
          <a:xfrm>
            <a:off x="1234440" y="3615543"/>
            <a:ext cx="3205480" cy="2607059"/>
          </a:xfrm>
          <a:prstGeom prst="rect">
            <a:avLst/>
          </a:prstGeom>
        </p:spPr>
      </p:pic>
      <p:pic>
        <p:nvPicPr>
          <p:cNvPr id="11" name="Imagen 10">
            <a:extLst>
              <a:ext uri="{FF2B5EF4-FFF2-40B4-BE49-F238E27FC236}">
                <a16:creationId xmlns:a16="http://schemas.microsoft.com/office/drawing/2014/main" id="{7EAF3FCA-BFB1-EEE7-4D5A-B7ADA2930AC4}"/>
              </a:ext>
            </a:extLst>
          </p:cNvPr>
          <p:cNvPicPr>
            <a:picLocks noChangeAspect="1"/>
          </p:cNvPicPr>
          <p:nvPr/>
        </p:nvPicPr>
        <p:blipFill>
          <a:blip r:embed="rId3">
            <a:extLst>
              <a:ext uri="{28A0092B-C50C-407E-A947-70E740481C1C}">
                <a14:useLocalDpi xmlns:a14="http://schemas.microsoft.com/office/drawing/2010/main" val="0"/>
              </a:ext>
            </a:extLst>
          </a:blip>
          <a:srcRect l="291" t="74318" r="66394" b="1297"/>
          <a:stretch/>
        </p:blipFill>
        <p:spPr>
          <a:xfrm>
            <a:off x="4546602" y="3615542"/>
            <a:ext cx="3205480" cy="2607059"/>
          </a:xfrm>
          <a:prstGeom prst="rect">
            <a:avLst/>
          </a:prstGeom>
        </p:spPr>
      </p:pic>
    </p:spTree>
    <p:extLst>
      <p:ext uri="{BB962C8B-B14F-4D97-AF65-F5344CB8AC3E}">
        <p14:creationId xmlns:p14="http://schemas.microsoft.com/office/powerpoint/2010/main" val="12801391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2110</TotalTime>
  <Words>1178</Words>
  <Application>Microsoft Office PowerPoint</Application>
  <PresentationFormat>Panorámica</PresentationFormat>
  <Paragraphs>254</Paragraphs>
  <Slides>19</Slides>
  <Notes>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Arial</vt:lpstr>
      <vt:lpstr>Calibri</vt:lpstr>
      <vt:lpstr>Calibri Light</vt:lpstr>
      <vt:lpstr>Helvetica</vt:lpstr>
      <vt:lpstr>Times New Roman</vt:lpstr>
      <vt:lpstr>Tema de Office</vt:lpstr>
      <vt:lpstr>Preliminar analyses  -  Figures</vt:lpstr>
      <vt:lpstr> Complementary strategies to cope with drought</vt:lpstr>
      <vt:lpstr> Complementary strategies to cope with drought</vt:lpstr>
      <vt:lpstr> Study area</vt:lpstr>
      <vt:lpstr>Presentación de PowerPoint</vt:lpstr>
      <vt:lpstr>Presentación de PowerPoint</vt:lpstr>
      <vt:lpstr>Presentación de PowerPoint</vt:lpstr>
      <vt:lpstr>Presentación de PowerPoint</vt:lpstr>
      <vt:lpstr> Sampling design</vt:lpstr>
      <vt:lpstr> Sampling design</vt:lpstr>
      <vt:lpstr> Data analysis</vt:lpstr>
      <vt:lpstr> Data analysis</vt:lpstr>
      <vt:lpstr> Data analysis</vt:lpstr>
      <vt:lpstr> Data analysis</vt:lpstr>
      <vt:lpstr> Data analysis</vt:lpstr>
      <vt:lpstr> Data analysis</vt:lpstr>
      <vt:lpstr> Preliminary results</vt:lpstr>
      <vt:lpstr> Preliminary results</vt:lpstr>
      <vt:lpstr> Preliminary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Cristopher Fernández de Blas</dc:creator>
  <cp:lastModifiedBy>Cristopher Fernández de Blas</cp:lastModifiedBy>
  <cp:revision>15</cp:revision>
  <dcterms:created xsi:type="dcterms:W3CDTF">2025-04-25T13:52:31Z</dcterms:created>
  <dcterms:modified xsi:type="dcterms:W3CDTF">2025-06-02T15:59:23Z</dcterms:modified>
</cp:coreProperties>
</file>