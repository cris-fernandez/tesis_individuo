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7" r:id="rId2"/>
    <p:sldId id="341" r:id="rId3"/>
    <p:sldId id="454" r:id="rId4"/>
    <p:sldId id="455" r:id="rId5"/>
    <p:sldId id="304" r:id="rId6"/>
    <p:sldId id="457" r:id="rId7"/>
    <p:sldId id="456" r:id="rId8"/>
    <p:sldId id="302" r:id="rId9"/>
    <p:sldId id="447" r:id="rId10"/>
    <p:sldId id="449" r:id="rId11"/>
    <p:sldId id="451" r:id="rId12"/>
    <p:sldId id="335" r:id="rId13"/>
    <p:sldId id="342" r:id="rId14"/>
    <p:sldId id="337" r:id="rId15"/>
    <p:sldId id="282" r:id="rId16"/>
    <p:sldId id="404" r:id="rId17"/>
    <p:sldId id="459" r:id="rId18"/>
    <p:sldId id="460" r:id="rId19"/>
    <p:sldId id="406" r:id="rId20"/>
    <p:sldId id="407" r:id="rId21"/>
    <p:sldId id="408" r:id="rId22"/>
    <p:sldId id="409" r:id="rId23"/>
    <p:sldId id="411" r:id="rId24"/>
    <p:sldId id="433" r:id="rId25"/>
    <p:sldId id="435" r:id="rId26"/>
    <p:sldId id="458" r:id="rId27"/>
    <p:sldId id="413" r:id="rId28"/>
    <p:sldId id="461" r:id="rId29"/>
    <p:sldId id="464" r:id="rId30"/>
    <p:sldId id="462" r:id="rId31"/>
    <p:sldId id="441" r:id="rId32"/>
    <p:sldId id="463" r:id="rId33"/>
    <p:sldId id="465" r:id="rId34"/>
    <p:sldId id="442" r:id="rId35"/>
    <p:sldId id="443" r:id="rId36"/>
    <p:sldId id="445" r:id="rId37"/>
    <p:sldId id="444" r:id="rId38"/>
    <p:sldId id="446" r:id="rId39"/>
    <p:sldId id="452" r:id="rId40"/>
    <p:sldId id="453" r:id="rId41"/>
    <p:sldId id="424" r:id="rId4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267F"/>
    <a:srgbClr val="FFB000"/>
    <a:srgbClr val="785EF0"/>
    <a:srgbClr val="218317"/>
    <a:srgbClr val="2F5597"/>
    <a:srgbClr val="DB5E01"/>
    <a:srgbClr val="37AD88"/>
    <a:srgbClr val="716CB1"/>
    <a:srgbClr val="7030A0"/>
    <a:srgbClr val="7873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4"/>
  </p:normalViewPr>
  <p:slideViewPr>
    <p:cSldViewPr snapToGrid="0">
      <p:cViewPr>
        <p:scale>
          <a:sx n="66" d="100"/>
          <a:sy n="66" d="100"/>
        </p:scale>
        <p:origin x="1330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6244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0863-D448-E9C8-3713-0B5CFCB6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7FB442-828C-AE76-F148-980D2AEE6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4AE7446-4695-93DD-A912-31F01CD7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914FCB-90AD-2E02-7705-F40B6080B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90147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DAD94-0158-8CAB-91D9-52BDAFE7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E8ECE-EA24-3954-FB25-C21295961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503F959-63CD-34AE-1B2E-0A7FCA605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8D4EB-2427-3376-5589-AB4DE910C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9382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D8B23-A54B-9135-E980-999D7BAE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033E05-D6E9-BF95-E726-E64CBFAA45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086062-BC85-60E3-0AE8-CD9B07313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B9E413E-0514-DE85-CDCB-934854438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2862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6042-EE08-341E-8F3C-8423A9AE1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4CE9DD-C62B-34A9-8332-4D25265DE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AA4BEC5-40BD-4508-E6C0-866154BEF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54C658F-B04D-B882-7DE6-DAA0F449C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0978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DFE64-8AE2-3B87-7546-152F3541D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CC6695C-A171-FD10-306F-D62444C37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CBF29B5-31C5-DB27-6B02-05365060D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1C9848E-7D36-7513-5EAC-5B4F41A23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01424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EF00-6B82-8F5A-C945-A09E5C5F9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3148436-55A8-DDB5-3509-2F79579B6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9A29234-E70F-FE86-0886-BCD5229F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54EF42A-E447-B9D4-722A-F0E5E2C7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24878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89FB9-4200-807F-339E-5D641189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4C0785-2B1C-8C71-FEDE-2A8431143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18D6763-F416-5CCF-ACA4-7636BF535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B5BE7A7-58D3-D3CF-5341-CEACDA4A04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17994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956D4-9570-0DAD-1187-A2E072C2B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5DA9BA2-7363-D687-7216-A2344181F4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4016FC8-BA46-C3FA-D495-7F0C4E5BF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9AE3E7D-73EF-E53C-5FD1-660AF787A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6036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1E000-4D3E-497D-4267-2AA8B787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03AFD5-61ED-2CE6-EBA8-C92EAE66E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925A137-A7AC-ED90-C8ED-20285F256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25625B-E6B7-9436-31E8-56E08BAB1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03591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D959-9B52-85EE-548F-E5967552E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3B80D5-C571-8F99-AB8F-57B1511FC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5868661-B462-C3EB-2D5F-38B427513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A6F0060-1A90-EF5A-5E66-F14377B744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4293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DACC0-3F97-3DF7-79A8-B0FBC69A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9138D8-384E-68C7-2A8B-A2B7A4588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4EADFE-4B01-CF78-86CA-DBBB7F5A2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DABD3C-6AF3-F8A0-8439-86B407146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0781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4670D-B66E-CD2D-C675-B1E66445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FA68332-AF43-E0CE-3526-7DF316543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2EB7C56-4434-69BF-326D-C968D4968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3B4D3AD-25AE-76B9-DDE2-C61E216D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05316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D6093-4778-8DEE-52A3-DDEF1E054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6276539-5D5C-C6C6-2238-D3A7DE827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C5D938-0591-BA05-7040-78AB12A3B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BDC18B9-5FE2-50C5-5B65-D0946DC7C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71543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AEE78-A7C1-8933-E9C6-EEED3517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D78DE3-ED76-79B3-EDCF-307E7E983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B13050C-4B5C-8980-E28D-F1AAFB0ED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FBEB3B-AC04-F0E0-A86E-A74F32C21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403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0405-03BC-BA28-9A0D-24AA5947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21C0C6-807E-938D-9905-0C1D7A0C8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777784F-F6F9-4AC8-D9DC-7076A2EEF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81741B-F274-FAAC-53C1-3EDF5CC22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558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16/07/2025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0.pn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tiff"/><Relationship Id="rId7" Type="http://schemas.openxmlformats.org/officeDocument/2006/relationships/image" Target="../media/image2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tif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tiff"/><Relationship Id="rId4" Type="http://schemas.openxmlformats.org/officeDocument/2006/relationships/image" Target="../media/image32.tif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tiff"/><Relationship Id="rId4" Type="http://schemas.openxmlformats.org/officeDocument/2006/relationships/image" Target="../media/image32.tif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tiff"/><Relationship Id="rId4" Type="http://schemas.openxmlformats.org/officeDocument/2006/relationships/image" Target="../media/image36.tif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tif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tif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tif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tif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tiff"/><Relationship Id="rId4" Type="http://schemas.openxmlformats.org/officeDocument/2006/relationships/image" Target="../media/image46.tif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tiff"/><Relationship Id="rId2" Type="http://schemas.openxmlformats.org/officeDocument/2006/relationships/image" Target="../media/image48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4A987-8E48-280D-E7CC-510D650B5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Trees on the Edge: Understanding Douglas-fir Decline and Mortality in  Southwest Oregon | OSU Extension Service">
            <a:extLst>
              <a:ext uri="{FF2B5EF4-FFF2-40B4-BE49-F238E27FC236}">
                <a16:creationId xmlns:a16="http://schemas.microsoft.com/office/drawing/2014/main" id="{10367549-1026-C488-5876-09B6139F50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51" b="15946"/>
          <a:stretch/>
        </p:blipFill>
        <p:spPr bwMode="auto">
          <a:xfrm>
            <a:off x="3054763" y="1749582"/>
            <a:ext cx="6082473" cy="335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9781540-947F-806E-0694-E726A1E765ED}"/>
              </a:ext>
            </a:extLst>
          </p:cNvPr>
          <p:cNvSpPr txBox="1">
            <a:spLocks/>
          </p:cNvSpPr>
          <p:nvPr/>
        </p:nvSpPr>
        <p:spPr>
          <a:xfrm>
            <a:off x="153017" y="1019998"/>
            <a:ext cx="11709532" cy="13372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3200" err="1">
                <a:latin typeface="Helvetica"/>
                <a:cs typeface="Helvetica"/>
              </a:rPr>
              <a:t>It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is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hard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to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forecast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drought-induced</a:t>
            </a:r>
            <a:r>
              <a:rPr lang="es-ES" sz="3200">
                <a:latin typeface="Helvetica"/>
                <a:cs typeface="Helvetica"/>
              </a:rPr>
              <a:t> die-back </a:t>
            </a:r>
            <a:r>
              <a:rPr lang="es-ES" sz="3200" err="1">
                <a:latin typeface="Helvetica"/>
                <a:cs typeface="Helvetica"/>
              </a:rPr>
              <a:t>events</a:t>
            </a:r>
            <a:endParaRPr lang="es-ES" sz="3200">
              <a:latin typeface="Helvetica"/>
              <a:cs typeface="Helvetica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B7F0C8A6-D36B-E2BB-A94E-FA9002271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endParaRPr lang="es-ES" sz="29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2" descr="Original “death spiral” from Manion (1991) describing biotic and... |  Download Scientific Diagram">
            <a:extLst>
              <a:ext uri="{FF2B5EF4-FFF2-40B4-BE49-F238E27FC236}">
                <a16:creationId xmlns:a16="http://schemas.microsoft.com/office/drawing/2014/main" id="{ADD07D04-7217-3275-1F63-0E6BE590A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520" y="1858090"/>
            <a:ext cx="2672740" cy="3250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Dead Pine Tree – Photos Public Domain">
            <a:extLst>
              <a:ext uri="{FF2B5EF4-FFF2-40B4-BE49-F238E27FC236}">
                <a16:creationId xmlns:a16="http://schemas.microsoft.com/office/drawing/2014/main" id="{541BA644-CF11-0384-ABC7-D2AD6FE4C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1930" y="3807466"/>
            <a:ext cx="1710612" cy="2565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36884B-99ED-D5AD-864C-98C470AA9185}"/>
              </a:ext>
            </a:extLst>
          </p:cNvPr>
          <p:cNvSpPr txBox="1">
            <a:spLocks/>
          </p:cNvSpPr>
          <p:nvPr/>
        </p:nvSpPr>
        <p:spPr>
          <a:xfrm>
            <a:off x="10121175" y="3807466"/>
            <a:ext cx="2459409" cy="1051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Individual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level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812A7CE1-B498-71BA-ACAB-F8AB56577FAD}"/>
              </a:ext>
            </a:extLst>
          </p:cNvPr>
          <p:cNvGrpSpPr/>
          <p:nvPr/>
        </p:nvGrpSpPr>
        <p:grpSpPr>
          <a:xfrm>
            <a:off x="6848359" y="4089754"/>
            <a:ext cx="1156529" cy="1538950"/>
            <a:chOff x="6527591" y="4904433"/>
            <a:chExt cx="1156529" cy="1538950"/>
          </a:xfrm>
        </p:grpSpPr>
        <p:sp>
          <p:nvSpPr>
            <p:cNvPr id="6" name="Triángulo isósceles 5">
              <a:extLst>
                <a:ext uri="{FF2B5EF4-FFF2-40B4-BE49-F238E27FC236}">
                  <a16:creationId xmlns:a16="http://schemas.microsoft.com/office/drawing/2014/main" id="{B01FFFBC-D897-9971-1EDB-E838FBF81A2A}"/>
                </a:ext>
              </a:extLst>
            </p:cNvPr>
            <p:cNvSpPr/>
            <p:nvPr/>
          </p:nvSpPr>
          <p:spPr>
            <a:xfrm rot="8499904">
              <a:off x="7235961" y="4996921"/>
              <a:ext cx="448159" cy="1446462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8" name="Triángulo isósceles 7">
              <a:extLst>
                <a:ext uri="{FF2B5EF4-FFF2-40B4-BE49-F238E27FC236}">
                  <a16:creationId xmlns:a16="http://schemas.microsoft.com/office/drawing/2014/main" id="{C8B95656-D402-A8F4-31C2-DBEA3C25C88A}"/>
                </a:ext>
              </a:extLst>
            </p:cNvPr>
            <p:cNvSpPr/>
            <p:nvPr/>
          </p:nvSpPr>
          <p:spPr>
            <a:xfrm rot="19291684">
              <a:off x="6527591" y="4904433"/>
              <a:ext cx="878698" cy="371984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6DDD3D6A-02B8-AC23-3DE9-25BF6BF2B355}"/>
              </a:ext>
            </a:extLst>
          </p:cNvPr>
          <p:cNvSpPr txBox="1">
            <a:spLocks/>
          </p:cNvSpPr>
          <p:nvPr/>
        </p:nvSpPr>
        <p:spPr>
          <a:xfrm>
            <a:off x="3054763" y="5509923"/>
            <a:ext cx="6027576" cy="68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Early-warning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signals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62230E7-0412-0DD2-A63D-F97F4A5F360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101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4A0-35BD-216E-20B8-00F98CCD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DE75C5-D846-9CB9-4570-565DEB5FD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068E0E6-B03E-37E1-938B-1E01F441BEC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is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E7F35B5-4E0E-15FE-694B-D1B8681A02A3}"/>
              </a:ext>
            </a:extLst>
          </p:cNvPr>
          <p:cNvSpPr txBox="1"/>
          <p:nvPr/>
        </p:nvSpPr>
        <p:spPr>
          <a:xfrm>
            <a:off x="418288" y="2691679"/>
            <a:ext cx="70985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explicarlos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Contributing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CA1CA5A4-9864-80A9-A20B-0A47A8F76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8A74FF43-BF03-F0CD-F5D9-41F5B265DAA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3F98B51-8B48-9C7B-21F1-01DBA31BDCE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7623F2-A5CB-27A8-DF3B-CA8CB960913E}"/>
              </a:ext>
            </a:extLst>
          </p:cNvPr>
          <p:cNvSpPr txBox="1"/>
          <p:nvPr/>
        </p:nvSpPr>
        <p:spPr>
          <a:xfrm>
            <a:off x="-1068420" y="1951687"/>
            <a:ext cx="73297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076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9274-CBE0-DECC-FA46-30DB84BB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C644016-CEE2-DABD-FC24-EA11B980B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1AF615-C739-F6DE-958A-120B7EB7C4D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4614286-7057-553A-2372-1BD6E528162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026" name="Picture 2" descr="Pinus palustris">
            <a:extLst>
              <a:ext uri="{FF2B5EF4-FFF2-40B4-BE49-F238E27FC236}">
                <a16:creationId xmlns:a16="http://schemas.microsoft.com/office/drawing/2014/main" id="{9B907A0D-4EE3-08F6-CE61-94DABF900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73" y="982244"/>
            <a:ext cx="868869" cy="2184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Pinus palustris">
            <a:extLst>
              <a:ext uri="{FF2B5EF4-FFF2-40B4-BE49-F238E27FC236}">
                <a16:creationId xmlns:a16="http://schemas.microsoft.com/office/drawing/2014/main" id="{3847E82B-50DE-48FB-7E87-E95A8BC8A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0043" y="1922596"/>
            <a:ext cx="489343" cy="123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DDA02E65-002C-7D7C-E12B-4EB3107CC111}"/>
              </a:ext>
            </a:extLst>
          </p:cNvPr>
          <p:cNvSpPr txBox="1"/>
          <p:nvPr/>
        </p:nvSpPr>
        <p:spPr>
          <a:xfrm>
            <a:off x="1942647" y="1129004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CB7B09-9454-F6E7-308E-40514B993F0F}"/>
              </a:ext>
            </a:extLst>
          </p:cNvPr>
          <p:cNvSpPr txBox="1"/>
          <p:nvPr/>
        </p:nvSpPr>
        <p:spPr>
          <a:xfrm>
            <a:off x="1942646" y="1762906"/>
            <a:ext cx="21916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28" name="Picture 4" descr="Pinus sylvestris">
            <a:extLst>
              <a:ext uri="{FF2B5EF4-FFF2-40B4-BE49-F238E27FC236}">
                <a16:creationId xmlns:a16="http://schemas.microsoft.com/office/drawing/2014/main" id="{C418E34D-5DE8-56D5-5624-201429A4B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73" y="4251734"/>
            <a:ext cx="506218" cy="1251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4" descr="Pinus sylvestris">
            <a:extLst>
              <a:ext uri="{FF2B5EF4-FFF2-40B4-BE49-F238E27FC236}">
                <a16:creationId xmlns:a16="http://schemas.microsoft.com/office/drawing/2014/main" id="{6E381409-F3C2-BCFE-4086-0B9F92C76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24044" y="3982012"/>
            <a:ext cx="655330" cy="162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Pinus sylvestris">
            <a:extLst>
              <a:ext uri="{FF2B5EF4-FFF2-40B4-BE49-F238E27FC236}">
                <a16:creationId xmlns:a16="http://schemas.microsoft.com/office/drawing/2014/main" id="{09EA2DA3-2B61-1F95-09F8-F511E1755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03452" y="4276876"/>
            <a:ext cx="497603" cy="123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030EE4D-C8FC-F0F5-5E85-5FF5020AE7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294" y="1367905"/>
            <a:ext cx="1525894" cy="1525894"/>
          </a:xfrm>
          <a:prstGeom prst="rect">
            <a:avLst/>
          </a:prstGeom>
        </p:spPr>
      </p:pic>
      <p:sp>
        <p:nvSpPr>
          <p:cNvPr id="29" name="TextBox 16">
            <a:extLst>
              <a:ext uri="{FF2B5EF4-FFF2-40B4-BE49-F238E27FC236}">
                <a16:creationId xmlns:a16="http://schemas.microsoft.com/office/drawing/2014/main" id="{A99635C0-D633-5B2F-EFFA-68B4DBBCD319}"/>
              </a:ext>
            </a:extLst>
          </p:cNvPr>
          <p:cNvSpPr txBox="1"/>
          <p:nvPr/>
        </p:nvSpPr>
        <p:spPr>
          <a:xfrm>
            <a:off x="1942647" y="3982012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4AB7A-BE96-47AE-F5A1-D571840CC777}"/>
              </a:ext>
            </a:extLst>
          </p:cNvPr>
          <p:cNvSpPr txBox="1"/>
          <p:nvPr/>
        </p:nvSpPr>
        <p:spPr>
          <a:xfrm>
            <a:off x="1942646" y="4615914"/>
            <a:ext cx="226943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reduces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resource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per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32" name="Picture 8" descr="Pinus pinaster">
            <a:extLst>
              <a:ext uri="{FF2B5EF4-FFF2-40B4-BE49-F238E27FC236}">
                <a16:creationId xmlns:a16="http://schemas.microsoft.com/office/drawing/2014/main" id="{3A580FF9-B536-C693-5120-925331402C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238"/>
          <a:stretch>
            <a:fillRect/>
          </a:stretch>
        </p:blipFill>
        <p:spPr bwMode="auto">
          <a:xfrm>
            <a:off x="4675349" y="4056075"/>
            <a:ext cx="756536" cy="1365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edrus libani">
            <a:extLst>
              <a:ext uri="{FF2B5EF4-FFF2-40B4-BE49-F238E27FC236}">
                <a16:creationId xmlns:a16="http://schemas.microsoft.com/office/drawing/2014/main" id="{4309878E-FD69-8EF8-E051-1556F6ACE5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2"/>
          <a:stretch>
            <a:fillRect/>
          </a:stretch>
        </p:blipFill>
        <p:spPr bwMode="auto">
          <a:xfrm>
            <a:off x="5263911" y="4005556"/>
            <a:ext cx="1914514" cy="1350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16">
            <a:extLst>
              <a:ext uri="{FF2B5EF4-FFF2-40B4-BE49-F238E27FC236}">
                <a16:creationId xmlns:a16="http://schemas.microsoft.com/office/drawing/2014/main" id="{0AF93F60-1725-78BB-D8A1-252EA8AE192B}"/>
              </a:ext>
            </a:extLst>
          </p:cNvPr>
          <p:cNvSpPr txBox="1"/>
          <p:nvPr/>
        </p:nvSpPr>
        <p:spPr>
          <a:xfrm>
            <a:off x="7294904" y="3928553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4A932C-7F7F-1DDB-41B5-1B8493A8F80D}"/>
              </a:ext>
            </a:extLst>
          </p:cNvPr>
          <p:cNvSpPr txBox="1"/>
          <p:nvPr/>
        </p:nvSpPr>
        <p:spPr>
          <a:xfrm>
            <a:off x="7294903" y="4562455"/>
            <a:ext cx="226943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decreases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4" name="TextBox 16">
            <a:extLst>
              <a:ext uri="{FF2B5EF4-FFF2-40B4-BE49-F238E27FC236}">
                <a16:creationId xmlns:a16="http://schemas.microsoft.com/office/drawing/2014/main" id="{9A9FD9C5-3D34-48D0-E1EA-D2BDF89220C6}"/>
              </a:ext>
            </a:extLst>
          </p:cNvPr>
          <p:cNvSpPr txBox="1"/>
          <p:nvPr/>
        </p:nvSpPr>
        <p:spPr>
          <a:xfrm>
            <a:off x="8054619" y="1128182"/>
            <a:ext cx="25115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6E12E-E1E3-59D7-9203-B64E6C49D2C5}"/>
              </a:ext>
            </a:extLst>
          </p:cNvPr>
          <p:cNvSpPr txBox="1"/>
          <p:nvPr/>
        </p:nvSpPr>
        <p:spPr>
          <a:xfrm>
            <a:off x="8054618" y="1762084"/>
            <a:ext cx="21916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AWADWA ADFEWF IJDC WEOF JWEF IOJC  EDWE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450D5F18-EAA7-4EBD-B059-0EB79B3C6FFA}"/>
              </a:ext>
            </a:extLst>
          </p:cNvPr>
          <p:cNvSpPr txBox="1"/>
          <p:nvPr/>
        </p:nvSpPr>
        <p:spPr>
          <a:xfrm>
            <a:off x="4134255" y="1142623"/>
            <a:ext cx="2191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Former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161D4E-5245-A6EC-1EF7-7FEBAEF83F5D}"/>
              </a:ext>
            </a:extLst>
          </p:cNvPr>
          <p:cNvSpPr txBox="1"/>
          <p:nvPr/>
        </p:nvSpPr>
        <p:spPr>
          <a:xfrm>
            <a:off x="4134254" y="1776525"/>
            <a:ext cx="21916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allow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build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large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C reserves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140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1E34-A69D-DADA-E287-034C7886D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654471-27AA-762D-935F-08C20B449A45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dirty="0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7776ACF-C2D5-1F5A-B3CB-7C6DEC9834AB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E7DC63F-7F98-F3D6-5905-8CA4CA583E04}"/>
              </a:ext>
            </a:extLst>
          </p:cNvPr>
          <p:cNvCxnSpPr>
            <a:cxnSpLocks/>
          </p:cNvCxnSpPr>
          <p:nvPr/>
        </p:nvCxnSpPr>
        <p:spPr>
          <a:xfrm>
            <a:off x="5021865" y="2245870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678D6811-F8C9-009C-246A-8A7EC64FCF0A}"/>
              </a:ext>
            </a:extLst>
          </p:cNvPr>
          <p:cNvSpPr txBox="1">
            <a:spLocks/>
          </p:cNvSpPr>
          <p:nvPr/>
        </p:nvSpPr>
        <p:spPr>
          <a:xfrm>
            <a:off x="4579617" y="13646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Economics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Spectrum</a:t>
            </a:r>
            <a:endParaRPr lang="es-ES" sz="2400">
              <a:ea typeface="Calibri"/>
              <a:cs typeface="Calibri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F105CAE0-BBA3-51E4-1609-E516C7404CE6}"/>
              </a:ext>
            </a:extLst>
          </p:cNvPr>
          <p:cNvSpPr txBox="1">
            <a:spLocks/>
          </p:cNvSpPr>
          <p:nvPr/>
        </p:nvSpPr>
        <p:spPr>
          <a:xfrm>
            <a:off x="1526346" y="3295417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↑</a:t>
            </a:r>
            <a:r>
              <a:rPr lang="es-ES" sz="2400" dirty="0" err="1">
                <a:latin typeface="Helvetica"/>
                <a:cs typeface="Helvetica"/>
              </a:rPr>
              <a:t>iWUE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Growth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Photosynthetic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rates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SLA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Font typeface="Calibri" panose="020B0604020202020204" pitchFamily="34" charset="0"/>
              <a:buChar char="-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1660BAB1-4C20-961E-81F7-512FFC819A56}"/>
              </a:ext>
            </a:extLst>
          </p:cNvPr>
          <p:cNvSpPr txBox="1">
            <a:spLocks/>
          </p:cNvSpPr>
          <p:nvPr/>
        </p:nvSpPr>
        <p:spPr>
          <a:xfrm>
            <a:off x="7517838" y="3290539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s-ES" sz="2400">
                <a:latin typeface="Helvetica"/>
                <a:cs typeface="Helvetica"/>
              </a:rPr>
              <a:t>↓ </a:t>
            </a:r>
            <a:r>
              <a:rPr lang="es-ES" sz="2400" err="1">
                <a:latin typeface="Helvetica"/>
                <a:cs typeface="Helvetica"/>
              </a:rPr>
              <a:t>iWUE</a:t>
            </a:r>
            <a:endParaRPr lang="es-ES" sz="2400">
              <a:ea typeface="Calibri" panose="020F0502020204030204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↓Ψ</a:t>
            </a:r>
            <a:endParaRPr lang="es-ES" sz="2400"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Growth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Photosynthetic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rates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SLA</a:t>
            </a:r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9E3FEF1-F294-3810-DDC5-43B7C278F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F73834-FE5A-03E2-F5BC-C18E44196CD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5878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1E6B-54C0-D0A4-BB44-5F6FDCE67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19C8DA7-E3A5-977A-0D1A-BE8222F4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Responses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A74F66-6E00-84D8-CEFF-9E73E9771BF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644D4A72-FE68-F579-B2F2-6429050ECB92}"/>
              </a:ext>
            </a:extLst>
          </p:cNvPr>
          <p:cNvSpPr txBox="1">
            <a:spLocks/>
          </p:cNvSpPr>
          <p:nvPr/>
        </p:nvSpPr>
        <p:spPr>
          <a:xfrm>
            <a:off x="1369072" y="1034615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3EB374C8-56A1-E742-F145-AD3B820A1EB1}"/>
              </a:ext>
            </a:extLst>
          </p:cNvPr>
          <p:cNvSpPr txBox="1">
            <a:spLocks/>
          </p:cNvSpPr>
          <p:nvPr/>
        </p:nvSpPr>
        <p:spPr>
          <a:xfrm>
            <a:off x="7329914" y="1034615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" name="Conector recto de flecha 7">
            <a:extLst>
              <a:ext uri="{FF2B5EF4-FFF2-40B4-BE49-F238E27FC236}">
                <a16:creationId xmlns:a16="http://schemas.microsoft.com/office/drawing/2014/main" id="{62730E94-4350-174B-2B32-A64A9B885A84}"/>
              </a:ext>
            </a:extLst>
          </p:cNvPr>
          <p:cNvCxnSpPr>
            <a:cxnSpLocks/>
          </p:cNvCxnSpPr>
          <p:nvPr/>
        </p:nvCxnSpPr>
        <p:spPr>
          <a:xfrm>
            <a:off x="4982954" y="1312014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562AD7E5-0D9F-137B-9F5D-1D93DC5B3AF6}"/>
              </a:ext>
            </a:extLst>
          </p:cNvPr>
          <p:cNvSpPr txBox="1">
            <a:spLocks/>
          </p:cNvSpPr>
          <p:nvPr/>
        </p:nvSpPr>
        <p:spPr>
          <a:xfrm>
            <a:off x="4533887" y="22584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cs typeface="Helvetica"/>
              </a:rPr>
              <a:t>Reduced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D9AE80E7-C8A6-26DE-A916-FA67AE3B5270}"/>
              </a:ext>
            </a:extLst>
          </p:cNvPr>
          <p:cNvSpPr txBox="1">
            <a:spLocks/>
          </p:cNvSpPr>
          <p:nvPr/>
        </p:nvSpPr>
        <p:spPr>
          <a:xfrm>
            <a:off x="1542082" y="2672405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Reduced</a:t>
            </a:r>
            <a:r>
              <a:rPr lang="es-ES" sz="2400" dirty="0">
                <a:latin typeface="Helvetica"/>
                <a:ea typeface="Calibri"/>
                <a:cs typeface="Helvetica"/>
              </a:rPr>
              <a:t>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photosynthesis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8930BB8C-DF26-3C55-5D1D-7015719258F6}"/>
              </a:ext>
            </a:extLst>
          </p:cNvPr>
          <p:cNvSpPr txBox="1">
            <a:spLocks/>
          </p:cNvSpPr>
          <p:nvPr/>
        </p:nvSpPr>
        <p:spPr>
          <a:xfrm>
            <a:off x="3148567" y="3953213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latin typeface="Helvetica"/>
                <a:ea typeface="Calibri"/>
                <a:cs typeface="Helvetica"/>
              </a:rPr>
              <a:t>C:N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changes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2306961C-763E-CB63-2FCF-D4ABA3B8D1F4}"/>
              </a:ext>
            </a:extLst>
          </p:cNvPr>
          <p:cNvSpPr txBox="1">
            <a:spLocks/>
          </p:cNvSpPr>
          <p:nvPr/>
        </p:nvSpPr>
        <p:spPr>
          <a:xfrm>
            <a:off x="7329914" y="3125246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Leaf</a:t>
            </a:r>
            <a:r>
              <a:rPr lang="es-ES" sz="2400" dirty="0">
                <a:latin typeface="Helvetica"/>
                <a:ea typeface="Calibri"/>
                <a:cs typeface="Helvetica"/>
              </a:rPr>
              <a:t>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dehydration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6D6D57E2-808D-130B-B9FD-198E27DF9DD1}"/>
              </a:ext>
            </a:extLst>
          </p:cNvPr>
          <p:cNvSpPr txBox="1">
            <a:spLocks/>
          </p:cNvSpPr>
          <p:nvPr/>
        </p:nvSpPr>
        <p:spPr>
          <a:xfrm>
            <a:off x="7329914" y="4781180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Defoliation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9CE51FE2-2363-EB53-1FA7-527461E1EF13}"/>
              </a:ext>
            </a:extLst>
          </p:cNvPr>
          <p:cNvSpPr txBox="1">
            <a:spLocks/>
          </p:cNvSpPr>
          <p:nvPr/>
        </p:nvSpPr>
        <p:spPr>
          <a:xfrm>
            <a:off x="377927" y="4954638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latin typeface="Helvetica"/>
                <a:ea typeface="Calibri"/>
                <a:cs typeface="Helvetica"/>
              </a:rPr>
              <a:t>SLA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E9C82405-2C77-E7C3-C52E-C27446345EF3}"/>
              </a:ext>
            </a:extLst>
          </p:cNvPr>
          <p:cNvSpPr txBox="1">
            <a:spLocks/>
          </p:cNvSpPr>
          <p:nvPr/>
        </p:nvSpPr>
        <p:spPr>
          <a:xfrm>
            <a:off x="3853921" y="4995418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Growth</a:t>
            </a:r>
            <a:endParaRPr lang="es-ES" sz="2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2767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CE067-61C9-BECA-174F-73EDF5AD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AA79378-1D21-8DD6-E347-4CA11BB06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AA1F4F3-C189-F447-F1A0-C1A463700C6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is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2C4DB050-BF9F-8D7C-7B9A-F4BFAFCDCEA1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A329C9DD-39A8-2780-92CC-F20F2D307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C4296D98-52D8-4F0E-57DE-1B35FF21AD25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59EEBEAA-39B3-2FC9-08C6-A9F1868495FC}"/>
              </a:ext>
            </a:extLst>
          </p:cNvPr>
          <p:cNvSpPr txBox="1"/>
          <p:nvPr/>
        </p:nvSpPr>
        <p:spPr>
          <a:xfrm>
            <a:off x="4621358" y="2980082"/>
            <a:ext cx="2314463" cy="286232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2012-2017,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2017-2022)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8A238F18-8604-62D5-10C6-A34053331094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8272FBD-5FB8-8D01-73D5-F83A4E4C8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74E3658E-0D43-A41C-F23B-1C210F54DC9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0872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F081-A088-30DB-3883-FCDEC464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D60CFF-15AC-6167-1BFE-B868A03B0D66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C301A0A8-C680-A0B9-0230-69336DE66F5C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7A09E0D-8002-1C48-7BE0-E5328339783A}"/>
              </a:ext>
            </a:extLst>
          </p:cNvPr>
          <p:cNvCxnSpPr>
            <a:cxnSpLocks/>
          </p:cNvCxnSpPr>
          <p:nvPr/>
        </p:nvCxnSpPr>
        <p:spPr>
          <a:xfrm flipH="1">
            <a:off x="2708814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DD6EBB49-2FF0-EA11-DD35-E79B74B70DD8}"/>
              </a:ext>
            </a:extLst>
          </p:cNvPr>
          <p:cNvSpPr txBox="1">
            <a:spLocks/>
          </p:cNvSpPr>
          <p:nvPr/>
        </p:nvSpPr>
        <p:spPr>
          <a:xfrm>
            <a:off x="961054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starvation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35F29CB-D416-8088-46C1-61AD3E5F34DD}"/>
              </a:ext>
            </a:extLst>
          </p:cNvPr>
          <p:cNvSpPr txBox="1">
            <a:spLocks/>
          </p:cNvSpPr>
          <p:nvPr/>
        </p:nvSpPr>
        <p:spPr>
          <a:xfrm>
            <a:off x="6955713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failure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5B42447E-4AD3-B544-F694-EDB332DCE9EC}"/>
              </a:ext>
            </a:extLst>
          </p:cNvPr>
          <p:cNvCxnSpPr/>
          <p:nvPr/>
        </p:nvCxnSpPr>
        <p:spPr>
          <a:xfrm flipH="1">
            <a:off x="8696110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F79CFE7-C6B7-7114-7FED-F6435CFE4821}"/>
              </a:ext>
            </a:extLst>
          </p:cNvPr>
          <p:cNvSpPr/>
          <p:nvPr/>
        </p:nvSpPr>
        <p:spPr>
          <a:xfrm>
            <a:off x="1407983" y="1834769"/>
            <a:ext cx="2722484" cy="248634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C2D66EB-D7D7-8063-DB8C-354C0B383754}"/>
              </a:ext>
            </a:extLst>
          </p:cNvPr>
          <p:cNvSpPr/>
          <p:nvPr/>
        </p:nvSpPr>
        <p:spPr>
          <a:xfrm>
            <a:off x="7342230" y="1834769"/>
            <a:ext cx="2722484" cy="2486340"/>
          </a:xfrm>
          <a:prstGeom prst="rect">
            <a:avLst/>
          </a:prstGeom>
          <a:noFill/>
          <a:ln w="57150">
            <a:solidFill>
              <a:srgbClr val="2F55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7677E2A1-6A78-23DF-4BBB-9381DCF75D4B}"/>
              </a:ext>
            </a:extLst>
          </p:cNvPr>
          <p:cNvSpPr txBox="1">
            <a:spLocks/>
          </p:cNvSpPr>
          <p:nvPr/>
        </p:nvSpPr>
        <p:spPr>
          <a:xfrm>
            <a:off x="1351252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solidFill>
                  <a:srgbClr val="C00000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C00000"/>
                </a:solidFill>
                <a:latin typeface="Helvetica"/>
                <a:cs typeface="Helvetica"/>
              </a:rPr>
              <a:t> sites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E01C7BDA-85BD-6E82-C818-62BC02AB56AE}"/>
              </a:ext>
            </a:extLst>
          </p:cNvPr>
          <p:cNvSpPr txBox="1">
            <a:spLocks/>
          </p:cNvSpPr>
          <p:nvPr/>
        </p:nvSpPr>
        <p:spPr>
          <a:xfrm>
            <a:off x="7368824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24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 sites</a:t>
            </a:r>
            <a:endParaRPr lang="es-ES" sz="24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42A54D1-2ECF-7C61-83B9-4AD86563F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42B1F0-F3D3-57E6-4914-BA213DCF864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4237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2E30-AD87-86BE-4697-EDAD0385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17D39A2-FAE0-31EB-CFF5-788F2DC84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782DD7-1C64-8620-07CF-0495CE0C473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B79C39D0-3013-0B8C-D452-0FAF13469743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67384A7C-B566-4B0E-8694-CA63628DC54C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C2886C7B-FC26-0518-EFEB-6CF99FF7E650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5DAEE9-0E8E-D2A7-0827-068E0C0820F8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343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10321-10CC-3755-288D-DB11919B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4375324-CAE8-7C5C-1191-4D00AF769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577DDF-6E5B-743A-993E-A0B4E33601F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6B8D2E9-3CB3-7E27-96D8-15723DF05B8B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CE03EEE0-A244-B2B4-36B1-6C27FF8A835D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178B487-DF4D-2625-EBC7-8F7EAFFA1862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determine </a:t>
            </a:r>
            <a:r>
              <a:rPr lang="es-ES" sz="1800" dirty="0" err="1">
                <a:latin typeface="Helvetica"/>
                <a:cs typeface="Helvetica"/>
              </a:rPr>
              <a:t>what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have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greater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, and </a:t>
            </a:r>
            <a:r>
              <a:rPr lang="es-ES" sz="1800" dirty="0" err="1">
                <a:latin typeface="Helvetica"/>
                <a:cs typeface="Helvetica"/>
              </a:rPr>
              <a:t>whether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change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species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39" name="Marcador de contenido 2">
            <a:extLst>
              <a:ext uri="{FF2B5EF4-FFF2-40B4-BE49-F238E27FC236}">
                <a16:creationId xmlns:a16="http://schemas.microsoft.com/office/drawing/2014/main" id="{69C73F29-16B2-F5FB-45B7-526BF92C49ED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6EA7AB93-34B9-651E-EA12-4B8DCA9E2329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DA2083-C79E-0F73-F069-CF2DD442ECC3}"/>
              </a:ext>
            </a:extLst>
          </p:cNvPr>
          <p:cNvSpPr txBox="1">
            <a:spLocks/>
          </p:cNvSpPr>
          <p:nvPr/>
        </p:nvSpPr>
        <p:spPr>
          <a:xfrm>
            <a:off x="8374268" y="1819225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(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+ responses)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tree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dieback</a:t>
            </a:r>
            <a:r>
              <a:rPr lang="es-ES" sz="1800" dirty="0">
                <a:latin typeface="Helvetica"/>
                <a:cs typeface="Helvetica"/>
              </a:rPr>
              <a:t>. 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19F4BDC3-A339-B5B9-B591-9C94CFAA95A5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06531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10316-C03C-4510-74C3-02AEE8C31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5D1A503-27DE-1148-8248-4A3D0B195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E0D2CE-3578-6585-19D0-6457C0E7FDA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91F7324-8C1F-E194-44E1-E84BC0386F74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2B005ED0-C625-3C42-CECE-7C91C0882B61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D7500AF7-FBA3-3FC5-E9B9-776DD3A3110E}"/>
              </a:ext>
            </a:extLst>
          </p:cNvPr>
          <p:cNvSpPr txBox="1">
            <a:spLocks/>
          </p:cNvSpPr>
          <p:nvPr/>
        </p:nvSpPr>
        <p:spPr>
          <a:xfrm>
            <a:off x="8338458" y="4222068"/>
            <a:ext cx="3750906" cy="15224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tree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mortality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species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B3ADCE23-DD4D-5D66-E2A4-4B45EC94B998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D1F2BDD0-CDF4-C8DF-F680-5EFBD7753768}"/>
              </a:ext>
            </a:extLst>
          </p:cNvPr>
          <p:cNvSpPr/>
          <p:nvPr/>
        </p:nvSpPr>
        <p:spPr>
          <a:xfrm>
            <a:off x="3680928" y="4267887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2A754A23-960C-9D67-3655-4E656C477597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1E201F6-5D01-72E5-9A35-976226FBAFE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53543" y="4983270"/>
            <a:ext cx="448491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839FDBC-7672-3E86-9907-DBDC81C6F908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C21FEA-B11F-A9E4-BA23-1CE44B25729B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determine </a:t>
            </a:r>
            <a:r>
              <a:rPr lang="es-ES" sz="1800" dirty="0" err="1">
                <a:latin typeface="Helvetica"/>
                <a:cs typeface="Helvetica"/>
              </a:rPr>
              <a:t>what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have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greater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, and </a:t>
            </a:r>
            <a:r>
              <a:rPr lang="es-ES" sz="1800" dirty="0" err="1">
                <a:latin typeface="Helvetica"/>
                <a:cs typeface="Helvetica"/>
              </a:rPr>
              <a:t>whether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change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species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8779BF5F-93E6-147B-D844-C0410A462990}"/>
              </a:ext>
            </a:extLst>
          </p:cNvPr>
          <p:cNvSpPr txBox="1">
            <a:spLocks/>
          </p:cNvSpPr>
          <p:nvPr/>
        </p:nvSpPr>
        <p:spPr>
          <a:xfrm>
            <a:off x="8374268" y="1819225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(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+ responses)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tree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dieback</a:t>
            </a:r>
            <a:r>
              <a:rPr lang="es-ES" sz="1800" dirty="0">
                <a:latin typeface="Helvetica"/>
                <a:cs typeface="Helvetica"/>
              </a:rPr>
              <a:t>. 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45220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354388" y="2694491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354388" y="5382902"/>
            <a:ext cx="3927650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4976327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F2859508-218F-C191-3C74-ABD62487DB27}"/>
              </a:ext>
            </a:extLst>
          </p:cNvPr>
          <p:cNvSpPr txBox="1"/>
          <p:nvPr/>
        </p:nvSpPr>
        <p:spPr>
          <a:xfrm>
            <a:off x="7961077" y="6346740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1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53CA13-1B33-9875-B0D0-8E108C0BCF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3"/>
          <a:stretch>
            <a:fillRect/>
          </a:stretch>
        </p:blipFill>
        <p:spPr>
          <a:xfrm>
            <a:off x="6298701" y="804155"/>
            <a:ext cx="3927649" cy="6004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567476"/>
            <a:ext cx="3296404" cy="1220763"/>
            <a:chOff x="6178013" y="5253161"/>
            <a:chExt cx="3296404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59362" y="5253161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1561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495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05014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be </a:t>
            </a:r>
            <a:r>
              <a:rPr lang="es-ES" sz="2400" i="1" dirty="0" err="1">
                <a:latin typeface="Helvetica"/>
                <a:cs typeface="Helvetica"/>
              </a:rPr>
              <a:t>main</a:t>
            </a:r>
            <a:r>
              <a:rPr lang="es-ES" sz="2400" i="1" dirty="0">
                <a:latin typeface="Helvetica"/>
                <a:cs typeface="Helvetica"/>
              </a:rPr>
              <a:t> drivers </a:t>
            </a:r>
            <a:r>
              <a:rPr lang="es-ES" sz="2400" i="1" dirty="0" err="1">
                <a:latin typeface="Helvetica"/>
                <a:cs typeface="Helvetica"/>
              </a:rPr>
              <a:t>for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mortality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2969723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Size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b="1" dirty="0" err="1">
                <a:latin typeface="Helvetica"/>
                <a:cs typeface="Helvetica"/>
              </a:rPr>
              <a:t>bigger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trees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will</a:t>
            </a:r>
            <a:r>
              <a:rPr lang="es-ES" sz="2000" dirty="0">
                <a:latin typeface="Helvetica"/>
                <a:cs typeface="Helvetica"/>
              </a:rPr>
              <a:t> be more vulnerable </a:t>
            </a:r>
            <a:r>
              <a:rPr lang="es-ES" sz="2000" dirty="0" err="1">
                <a:latin typeface="Helvetica"/>
                <a:cs typeface="Helvetica"/>
              </a:rPr>
              <a:t>due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to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hydraulic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limitations</a:t>
            </a:r>
            <a:r>
              <a:rPr lang="es-ES" sz="2000" dirty="0">
                <a:latin typeface="Helvetica"/>
                <a:cs typeface="Helvetica"/>
              </a:rPr>
              <a:t> (</a:t>
            </a:r>
            <a:r>
              <a:rPr lang="es-ES" sz="2000" dirty="0" err="1">
                <a:latin typeface="Helvetica"/>
                <a:cs typeface="Helvetica"/>
              </a:rPr>
              <a:t>increased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hydraulic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resistance</a:t>
            </a:r>
            <a:r>
              <a:rPr lang="es-ES" sz="2000" dirty="0">
                <a:latin typeface="Helvetica"/>
                <a:cs typeface="Helvetica"/>
              </a:rPr>
              <a:t>)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Growth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we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expect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</a:rPr>
              <a:t>a </a:t>
            </a:r>
            <a:r>
              <a:rPr lang="es-ES" sz="2000" b="1" dirty="0" err="1">
                <a:latin typeface="Helvetica"/>
                <a:cs typeface="Helvetica"/>
              </a:rPr>
              <a:t>reduced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growth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trend</a:t>
            </a:r>
            <a:r>
              <a:rPr lang="es-ES" sz="2000" b="1" dirty="0">
                <a:latin typeface="Helvetica"/>
                <a:cs typeface="Helvetica"/>
              </a:rPr>
              <a:t>, and </a:t>
            </a:r>
            <a:r>
              <a:rPr lang="es-ES" sz="2000" b="1" dirty="0" err="1">
                <a:latin typeface="Helvetica"/>
                <a:cs typeface="Helvetica"/>
              </a:rPr>
              <a:t>resilience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Competition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competition</a:t>
            </a:r>
            <a:r>
              <a:rPr lang="es-ES" sz="2000" dirty="0">
                <a:latin typeface="Helvetica"/>
                <a:cs typeface="Helvetica"/>
              </a:rPr>
              <a:t> reduces </a:t>
            </a: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availability</a:t>
            </a:r>
            <a:r>
              <a:rPr lang="es-ES" sz="2000" dirty="0">
                <a:latin typeface="Helvetica"/>
                <a:cs typeface="Helvetica"/>
              </a:rPr>
              <a:t> per </a:t>
            </a: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and </a:t>
            </a:r>
            <a:r>
              <a:rPr lang="es-ES" sz="2000" dirty="0" err="1">
                <a:latin typeface="Helvetica"/>
                <a:cs typeface="Helvetica"/>
              </a:rPr>
              <a:t>increases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interception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0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0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17" name="Grupo 10">
            <a:extLst>
              <a:ext uri="{FF2B5EF4-FFF2-40B4-BE49-F238E27FC236}">
                <a16:creationId xmlns:a16="http://schemas.microsoft.com/office/drawing/2014/main" id="{AE7A70BA-E169-F143-E499-51CFF2CB82BC}"/>
              </a:ext>
            </a:extLst>
          </p:cNvPr>
          <p:cNvGrpSpPr/>
          <p:nvPr/>
        </p:nvGrpSpPr>
        <p:grpSpPr>
          <a:xfrm>
            <a:off x="8119357" y="5497846"/>
            <a:ext cx="3301889" cy="1220763"/>
            <a:chOff x="6178013" y="5057218"/>
            <a:chExt cx="3301889" cy="1220763"/>
          </a:xfrm>
        </p:grpSpPr>
        <p:pic>
          <p:nvPicPr>
            <p:cNvPr id="18" name="Imagen 11">
              <a:extLst>
                <a:ext uri="{FF2B5EF4-FFF2-40B4-BE49-F238E27FC236}">
                  <a16:creationId xmlns:a16="http://schemas.microsoft.com/office/drawing/2014/main" id="{A5772DCB-5C97-E308-A95F-C3DB29AC0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9" name="CuadroTexto 12">
              <a:extLst>
                <a:ext uri="{FF2B5EF4-FFF2-40B4-BE49-F238E27FC236}">
                  <a16:creationId xmlns:a16="http://schemas.microsoft.com/office/drawing/2014/main" id="{74CBF22B-872E-9AA3-00AA-9A07C9F72F71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0" name="CuadroTexto 13">
              <a:extLst>
                <a:ext uri="{FF2B5EF4-FFF2-40B4-BE49-F238E27FC236}">
                  <a16:creationId xmlns:a16="http://schemas.microsoft.com/office/drawing/2014/main" id="{28CFE2FE-E220-C703-D5C3-40A11B18C0BE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1" name="CuadroTexto 14">
              <a:extLst>
                <a:ext uri="{FF2B5EF4-FFF2-40B4-BE49-F238E27FC236}">
                  <a16:creationId xmlns:a16="http://schemas.microsoft.com/office/drawing/2014/main" id="{8DB1AC4C-4375-0CAF-1E82-D27DE73C0CAB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22" name="Gráfico 12" descr="Abeto">
            <a:extLst>
              <a:ext uri="{FF2B5EF4-FFF2-40B4-BE49-F238E27FC236}">
                <a16:creationId xmlns:a16="http://schemas.microsoft.com/office/drawing/2014/main" id="{AC02F84F-0C3B-51BE-4EC6-5C74C6637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5199" y="5497846"/>
            <a:ext cx="618077" cy="618077"/>
          </a:xfrm>
          <a:prstGeom prst="rect">
            <a:avLst/>
          </a:prstGeom>
        </p:spPr>
      </p:pic>
      <p:pic>
        <p:nvPicPr>
          <p:cNvPr id="23" name="Gráfico 13" descr="Abeto">
            <a:extLst>
              <a:ext uri="{FF2B5EF4-FFF2-40B4-BE49-F238E27FC236}">
                <a16:creationId xmlns:a16="http://schemas.microsoft.com/office/drawing/2014/main" id="{2CED8C8A-412E-A858-C64A-AA4C828FCC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4479" y="5497846"/>
            <a:ext cx="618077" cy="618077"/>
          </a:xfrm>
          <a:prstGeom prst="rect">
            <a:avLst/>
          </a:prstGeom>
        </p:spPr>
      </p:pic>
      <p:pic>
        <p:nvPicPr>
          <p:cNvPr id="24" name="Gráfico 14" descr="Abeto">
            <a:extLst>
              <a:ext uri="{FF2B5EF4-FFF2-40B4-BE49-F238E27FC236}">
                <a16:creationId xmlns:a16="http://schemas.microsoft.com/office/drawing/2014/main" id="{D0E371E1-FF0C-2897-27EC-DAAE068B65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8066" y="5497846"/>
            <a:ext cx="618077" cy="618077"/>
          </a:xfrm>
          <a:prstGeom prst="rect">
            <a:avLst/>
          </a:prstGeom>
        </p:spPr>
      </p:pic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E97A57E8-CFBD-F5AE-FC1A-518E6F114990}"/>
              </a:ext>
            </a:extLst>
          </p:cNvPr>
          <p:cNvSpPr txBox="1">
            <a:spLocks/>
          </p:cNvSpPr>
          <p:nvPr/>
        </p:nvSpPr>
        <p:spPr>
          <a:xfrm>
            <a:off x="3221386" y="6211458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4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 algn="ctr">
              <a:buNone/>
            </a:pPr>
            <a:r>
              <a:rPr lang="es-ES" sz="14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4610296F-889E-2FEA-7AFA-095562B99E94}"/>
              </a:ext>
            </a:extLst>
          </p:cNvPr>
          <p:cNvSpPr txBox="1">
            <a:spLocks/>
          </p:cNvSpPr>
          <p:nvPr/>
        </p:nvSpPr>
        <p:spPr>
          <a:xfrm>
            <a:off x="4485667" y="6189688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 algn="ctr">
              <a:buNone/>
            </a:pPr>
            <a:r>
              <a:rPr lang="es-ES" sz="14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E5D78DD7-DADA-BF19-EF42-3C987C584762}"/>
              </a:ext>
            </a:extLst>
          </p:cNvPr>
          <p:cNvSpPr txBox="1">
            <a:spLocks/>
          </p:cNvSpPr>
          <p:nvPr/>
        </p:nvSpPr>
        <p:spPr>
          <a:xfrm>
            <a:off x="5820360" y="6176289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14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4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56084E07-2C04-CD6D-31F4-50F1D21AE7B1}"/>
              </a:ext>
            </a:extLst>
          </p:cNvPr>
          <p:cNvSpPr txBox="1">
            <a:spLocks/>
          </p:cNvSpPr>
          <p:nvPr/>
        </p:nvSpPr>
        <p:spPr>
          <a:xfrm>
            <a:off x="694186" y="5806884"/>
            <a:ext cx="2198835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Figs. 2 &amp; 3.: </a:t>
            </a:r>
            <a:r>
              <a:rPr lang="es-ES" sz="2400" b="1" dirty="0" err="1">
                <a:latin typeface="Helvetica"/>
                <a:cs typeface="Helvetica"/>
              </a:rPr>
              <a:t>boxplots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73334-2C83-86EA-F971-0B9265642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1531D4ED-68A9-CECB-ED15-4387DD59AD3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D1A1BFE-DC92-E0F0-8D46-80BECDF3116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3CA477B-6568-71AB-FBD0-613CC0134996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8C25AC63-98C6-64BF-F6DD-B75119648688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10925077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Pigments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n-US" sz="20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0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iWUE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we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an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isohydric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behaviour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leading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to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stomatal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closure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0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0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0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0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0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0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7E0554-C1E2-14A8-189C-36E143C46AFE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grpSp>
        <p:nvGrpSpPr>
          <p:cNvPr id="5" name="Grupo 10">
            <a:extLst>
              <a:ext uri="{FF2B5EF4-FFF2-40B4-BE49-F238E27FC236}">
                <a16:creationId xmlns:a16="http://schemas.microsoft.com/office/drawing/2014/main" id="{203E5D08-514D-B4C0-BB55-67D677B827AB}"/>
              </a:ext>
            </a:extLst>
          </p:cNvPr>
          <p:cNvGrpSpPr/>
          <p:nvPr/>
        </p:nvGrpSpPr>
        <p:grpSpPr>
          <a:xfrm>
            <a:off x="8119357" y="5497846"/>
            <a:ext cx="3301889" cy="1220763"/>
            <a:chOff x="6178013" y="5057218"/>
            <a:chExt cx="3301889" cy="1220763"/>
          </a:xfrm>
        </p:grpSpPr>
        <p:pic>
          <p:nvPicPr>
            <p:cNvPr id="6" name="Imagen 11">
              <a:extLst>
                <a:ext uri="{FF2B5EF4-FFF2-40B4-BE49-F238E27FC236}">
                  <a16:creationId xmlns:a16="http://schemas.microsoft.com/office/drawing/2014/main" id="{15743DB9-D966-31B0-3697-39EF2DE02E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12">
              <a:extLst>
                <a:ext uri="{FF2B5EF4-FFF2-40B4-BE49-F238E27FC236}">
                  <a16:creationId xmlns:a16="http://schemas.microsoft.com/office/drawing/2014/main" id="{96170DCF-EBAA-2DE3-5423-8CF28E560A15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2" name="CuadroTexto 13">
              <a:extLst>
                <a:ext uri="{FF2B5EF4-FFF2-40B4-BE49-F238E27FC236}">
                  <a16:creationId xmlns:a16="http://schemas.microsoft.com/office/drawing/2014/main" id="{1EFBCC74-43D6-DEB0-2A8D-6209F2F0149A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3" name="CuadroTexto 14">
              <a:extLst>
                <a:ext uri="{FF2B5EF4-FFF2-40B4-BE49-F238E27FC236}">
                  <a16:creationId xmlns:a16="http://schemas.microsoft.com/office/drawing/2014/main" id="{2FDCDDE0-3CE5-EF26-1368-600014523DB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24" name="Gráfico 12" descr="Abeto">
            <a:extLst>
              <a:ext uri="{FF2B5EF4-FFF2-40B4-BE49-F238E27FC236}">
                <a16:creationId xmlns:a16="http://schemas.microsoft.com/office/drawing/2014/main" id="{4D43DE4E-C69B-69CE-44C5-8D982D53D2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5199" y="5497846"/>
            <a:ext cx="618077" cy="618077"/>
          </a:xfrm>
          <a:prstGeom prst="rect">
            <a:avLst/>
          </a:prstGeom>
        </p:spPr>
      </p:pic>
      <p:pic>
        <p:nvPicPr>
          <p:cNvPr id="25" name="Gráfico 13" descr="Abeto">
            <a:extLst>
              <a:ext uri="{FF2B5EF4-FFF2-40B4-BE49-F238E27FC236}">
                <a16:creationId xmlns:a16="http://schemas.microsoft.com/office/drawing/2014/main" id="{90DC389B-61EE-715B-88BF-307098D5EB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4479" y="5497846"/>
            <a:ext cx="618077" cy="618077"/>
          </a:xfrm>
          <a:prstGeom prst="rect">
            <a:avLst/>
          </a:prstGeom>
        </p:spPr>
      </p:pic>
      <p:pic>
        <p:nvPicPr>
          <p:cNvPr id="26" name="Gráfico 14" descr="Abeto">
            <a:extLst>
              <a:ext uri="{FF2B5EF4-FFF2-40B4-BE49-F238E27FC236}">
                <a16:creationId xmlns:a16="http://schemas.microsoft.com/office/drawing/2014/main" id="{39DAA87B-66D0-EF6D-89D4-499A0BDB8A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8066" y="5497846"/>
            <a:ext cx="618077" cy="618077"/>
          </a:xfrm>
          <a:prstGeom prst="rect">
            <a:avLst/>
          </a:prstGeom>
        </p:spPr>
      </p:pic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5EE2A37B-6F3B-529A-00B8-1D7E573CB588}"/>
              </a:ext>
            </a:extLst>
          </p:cNvPr>
          <p:cNvSpPr txBox="1">
            <a:spLocks/>
          </p:cNvSpPr>
          <p:nvPr/>
        </p:nvSpPr>
        <p:spPr>
          <a:xfrm>
            <a:off x="3221386" y="6211458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4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 algn="ctr">
              <a:buNone/>
            </a:pPr>
            <a:r>
              <a:rPr lang="es-ES" sz="14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C86891F8-49FE-7479-B385-0EE780B686C9}"/>
              </a:ext>
            </a:extLst>
          </p:cNvPr>
          <p:cNvSpPr txBox="1">
            <a:spLocks/>
          </p:cNvSpPr>
          <p:nvPr/>
        </p:nvSpPr>
        <p:spPr>
          <a:xfrm>
            <a:off x="4485667" y="6189688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 algn="ctr">
              <a:buNone/>
            </a:pPr>
            <a:r>
              <a:rPr lang="es-ES" sz="14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7079A055-B82E-0A8E-86DA-33FB320EE7E4}"/>
              </a:ext>
            </a:extLst>
          </p:cNvPr>
          <p:cNvSpPr txBox="1">
            <a:spLocks/>
          </p:cNvSpPr>
          <p:nvPr/>
        </p:nvSpPr>
        <p:spPr>
          <a:xfrm>
            <a:off x="5820360" y="6176289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14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4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571A3638-3094-E842-1213-49608A81FC26}"/>
              </a:ext>
            </a:extLst>
          </p:cNvPr>
          <p:cNvSpPr txBox="1">
            <a:spLocks/>
          </p:cNvSpPr>
          <p:nvPr/>
        </p:nvSpPr>
        <p:spPr>
          <a:xfrm>
            <a:off x="694186" y="5806884"/>
            <a:ext cx="2198835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Figs. 2 &amp; 3.: </a:t>
            </a:r>
            <a:r>
              <a:rPr lang="es-ES" sz="2400" b="1" dirty="0" err="1">
                <a:latin typeface="Helvetica"/>
                <a:cs typeface="Helvetica"/>
              </a:rPr>
              <a:t>boxplots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8864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41F2B-2CE6-3B6E-5A7A-0F513B4E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88811F14-2E6D-453F-4848-4BDD5429DE7D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predisposing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8FA807DE-486F-E2FD-C605-76D98365CA6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527D2CA0-A97D-4306-2E61-01913089995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9F643657-7975-B3E2-E900-193C3AF9E79E}"/>
              </a:ext>
            </a:extLst>
          </p:cNvPr>
          <p:cNvGrpSpPr/>
          <p:nvPr/>
        </p:nvGrpSpPr>
        <p:grpSpPr>
          <a:xfrm>
            <a:off x="4163853" y="357253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40ECA43A-734B-975E-EE1B-96A44D2C6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517D0BB6-AEF1-6E96-5083-B3F19A7F349E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5E2C8D7F-B8A3-9694-BC48-6961661D06D4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B308FC39-0632-B511-FA0A-6C29BD9848B0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16" name="Gráfico 12" descr="Abeto">
            <a:extLst>
              <a:ext uri="{FF2B5EF4-FFF2-40B4-BE49-F238E27FC236}">
                <a16:creationId xmlns:a16="http://schemas.microsoft.com/office/drawing/2014/main" id="{2FFDE6F1-63F2-83C6-1761-161DBB27A1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62214" y="2336610"/>
            <a:ext cx="709463" cy="709463"/>
          </a:xfrm>
          <a:prstGeom prst="rect">
            <a:avLst/>
          </a:prstGeom>
        </p:spPr>
      </p:pic>
      <p:pic>
        <p:nvPicPr>
          <p:cNvPr id="17" name="Gráfico 13" descr="Abeto">
            <a:extLst>
              <a:ext uri="{FF2B5EF4-FFF2-40B4-BE49-F238E27FC236}">
                <a16:creationId xmlns:a16="http://schemas.microsoft.com/office/drawing/2014/main" id="{BA8A0383-5AB2-D2C7-B020-906BFD8D02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33353" y="2336609"/>
            <a:ext cx="709463" cy="709463"/>
          </a:xfrm>
          <a:prstGeom prst="rect">
            <a:avLst/>
          </a:prstGeom>
        </p:spPr>
      </p:pic>
      <p:pic>
        <p:nvPicPr>
          <p:cNvPr id="18" name="Gráfico 14" descr="Abeto">
            <a:extLst>
              <a:ext uri="{FF2B5EF4-FFF2-40B4-BE49-F238E27FC236}">
                <a16:creationId xmlns:a16="http://schemas.microsoft.com/office/drawing/2014/main" id="{81F6BC4D-7506-0AF1-E3D3-F0B2B2D2E8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92719" y="2388759"/>
            <a:ext cx="709463" cy="709463"/>
          </a:xfrm>
          <a:prstGeom prst="rect">
            <a:avLst/>
          </a:prstGeom>
        </p:spPr>
      </p:pic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C63DCA25-FA30-7F19-D46E-B1F4C0C4494D}"/>
              </a:ext>
            </a:extLst>
          </p:cNvPr>
          <p:cNvSpPr txBox="1">
            <a:spLocks/>
          </p:cNvSpPr>
          <p:nvPr/>
        </p:nvSpPr>
        <p:spPr>
          <a:xfrm>
            <a:off x="3511002" y="2557344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A3DB37F8-842F-E63F-3EBF-61F708D7D9EE}"/>
              </a:ext>
            </a:extLst>
          </p:cNvPr>
          <p:cNvSpPr txBox="1">
            <a:spLocks/>
          </p:cNvSpPr>
          <p:nvPr/>
        </p:nvSpPr>
        <p:spPr>
          <a:xfrm>
            <a:off x="5342816" y="2557344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1FA797B7-5E21-1723-D637-B62FFCC0ACC0}"/>
              </a:ext>
            </a:extLst>
          </p:cNvPr>
          <p:cNvSpPr txBox="1">
            <a:spLocks/>
          </p:cNvSpPr>
          <p:nvPr/>
        </p:nvSpPr>
        <p:spPr>
          <a:xfrm>
            <a:off x="7602182" y="2552680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2A8C6D-6E1F-17F8-99F0-2176763D971C}"/>
              </a:ext>
            </a:extLst>
          </p:cNvPr>
          <p:cNvSpPr txBox="1">
            <a:spLocks/>
          </p:cNvSpPr>
          <p:nvPr/>
        </p:nvSpPr>
        <p:spPr>
          <a:xfrm>
            <a:off x="3488956" y="5413345"/>
            <a:ext cx="4838513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Fig. 4.: Response Ratios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4075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02559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tree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mortality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between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species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198801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variations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>
                <a:latin typeface="Helvetica"/>
                <a:cs typeface="Helvetica"/>
              </a:rPr>
              <a:t>in </a:t>
            </a:r>
            <a:r>
              <a:rPr lang="es-ES" sz="2400" i="1" dirty="0" err="1">
                <a:latin typeface="Helvetica"/>
                <a:cs typeface="Helvetica"/>
              </a:rPr>
              <a:t>each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path</a:t>
            </a:r>
            <a:endParaRPr lang="es-ES" sz="2400" i="1" dirty="0">
              <a:latin typeface="Helvetica"/>
              <a:cs typeface="Helvetica"/>
            </a:endParaRPr>
          </a:p>
        </p:txBody>
      </p:sp>
      <p:grpSp>
        <p:nvGrpSpPr>
          <p:cNvPr id="16" name="Grupo 10">
            <a:extLst>
              <a:ext uri="{FF2B5EF4-FFF2-40B4-BE49-F238E27FC236}">
                <a16:creationId xmlns:a16="http://schemas.microsoft.com/office/drawing/2014/main" id="{D3C51BF8-A12E-3EEC-2C9C-53525A3396BA}"/>
              </a:ext>
            </a:extLst>
          </p:cNvPr>
          <p:cNvGrpSpPr/>
          <p:nvPr/>
        </p:nvGrpSpPr>
        <p:grpSpPr>
          <a:xfrm>
            <a:off x="4163853" y="4081825"/>
            <a:ext cx="3301889" cy="1220763"/>
            <a:chOff x="6178013" y="5057218"/>
            <a:chExt cx="3301889" cy="1220763"/>
          </a:xfrm>
        </p:grpSpPr>
        <p:pic>
          <p:nvPicPr>
            <p:cNvPr id="17" name="Imagen 11">
              <a:extLst>
                <a:ext uri="{FF2B5EF4-FFF2-40B4-BE49-F238E27FC236}">
                  <a16:creationId xmlns:a16="http://schemas.microsoft.com/office/drawing/2014/main" id="{431B4C22-1225-65E5-66B5-87C9CC2924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8" name="CuadroTexto 12">
              <a:extLst>
                <a:ext uri="{FF2B5EF4-FFF2-40B4-BE49-F238E27FC236}">
                  <a16:creationId xmlns:a16="http://schemas.microsoft.com/office/drawing/2014/main" id="{E693AFC3-DA08-3DD1-50F6-6D4804D871E1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9" name="CuadroTexto 13">
              <a:extLst>
                <a:ext uri="{FF2B5EF4-FFF2-40B4-BE49-F238E27FC236}">
                  <a16:creationId xmlns:a16="http://schemas.microsoft.com/office/drawing/2014/main" id="{3326A594-41DA-4460-3F92-CC8B708DFA5A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0" name="CuadroTexto 14">
              <a:extLst>
                <a:ext uri="{FF2B5EF4-FFF2-40B4-BE49-F238E27FC236}">
                  <a16:creationId xmlns:a16="http://schemas.microsoft.com/office/drawing/2014/main" id="{70009FC4-C941-85EB-2B1D-BD36A934AE1C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21" name="Gráfico 12" descr="Abeto">
            <a:extLst>
              <a:ext uri="{FF2B5EF4-FFF2-40B4-BE49-F238E27FC236}">
                <a16:creationId xmlns:a16="http://schemas.microsoft.com/office/drawing/2014/main" id="{E34F903F-65E2-EAA2-2453-742FE218CE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2214" y="2845897"/>
            <a:ext cx="709463" cy="709463"/>
          </a:xfrm>
          <a:prstGeom prst="rect">
            <a:avLst/>
          </a:prstGeom>
        </p:spPr>
      </p:pic>
      <p:pic>
        <p:nvPicPr>
          <p:cNvPr id="22" name="Gráfico 13" descr="Abeto">
            <a:extLst>
              <a:ext uri="{FF2B5EF4-FFF2-40B4-BE49-F238E27FC236}">
                <a16:creationId xmlns:a16="http://schemas.microsoft.com/office/drawing/2014/main" id="{7954ACF9-EB30-5FA2-5D04-29E087E7A9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3353" y="2845896"/>
            <a:ext cx="709463" cy="709463"/>
          </a:xfrm>
          <a:prstGeom prst="rect">
            <a:avLst/>
          </a:prstGeom>
        </p:spPr>
      </p:pic>
      <p:pic>
        <p:nvPicPr>
          <p:cNvPr id="23" name="Gráfico 14" descr="Abeto">
            <a:extLst>
              <a:ext uri="{FF2B5EF4-FFF2-40B4-BE49-F238E27FC236}">
                <a16:creationId xmlns:a16="http://schemas.microsoft.com/office/drawing/2014/main" id="{AAD6ACC8-7E24-64AA-E8CF-F1F46BBD0D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92719" y="2898046"/>
            <a:ext cx="709463" cy="709463"/>
          </a:xfrm>
          <a:prstGeom prst="rect">
            <a:avLst/>
          </a:prstGeom>
        </p:spPr>
      </p:pic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1603EEB4-3B48-B092-D20A-77A7158A1E56}"/>
              </a:ext>
            </a:extLst>
          </p:cNvPr>
          <p:cNvSpPr txBox="1">
            <a:spLocks/>
          </p:cNvSpPr>
          <p:nvPr/>
        </p:nvSpPr>
        <p:spPr>
          <a:xfrm>
            <a:off x="3511002" y="3066631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6839350-3B71-6A7F-CDD0-3F80D442B6E2}"/>
              </a:ext>
            </a:extLst>
          </p:cNvPr>
          <p:cNvSpPr txBox="1">
            <a:spLocks/>
          </p:cNvSpPr>
          <p:nvPr/>
        </p:nvSpPr>
        <p:spPr>
          <a:xfrm>
            <a:off x="5342816" y="3066631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48CB1843-2F1A-1DA9-8591-69B235E61C2B}"/>
              </a:ext>
            </a:extLst>
          </p:cNvPr>
          <p:cNvSpPr txBox="1">
            <a:spLocks/>
          </p:cNvSpPr>
          <p:nvPr/>
        </p:nvSpPr>
        <p:spPr>
          <a:xfrm>
            <a:off x="7602182" y="3061967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388DFB22-E1DD-5B95-1421-CEA06847A806}"/>
              </a:ext>
            </a:extLst>
          </p:cNvPr>
          <p:cNvSpPr txBox="1">
            <a:spLocks/>
          </p:cNvSpPr>
          <p:nvPr/>
        </p:nvSpPr>
        <p:spPr>
          <a:xfrm>
            <a:off x="3488956" y="5666286"/>
            <a:ext cx="4838513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Fig. 5.: SEM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271004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differenciate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between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inciting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factors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and responses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Wilcoxon test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show a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significant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difference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17C19A51-F188-59BA-4108-637918195FE2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0E0D77AC-F967-D971-1006-80B714535C88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8CB5A7B-EC11-2D94-75D6-F6A191475E3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50DE1E9-94B2-E153-B20D-F07D79F56AD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D7C29A-C044-3616-0CD5-A5F7D5CB9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62" y="804155"/>
            <a:ext cx="6053845" cy="605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b="1" dirty="0">
                <a:latin typeface="Helvetica"/>
                <a:cs typeface="Helvetica"/>
              </a:rPr>
              <a:t>Wilcoxon test + Bonferroni </a:t>
            </a:r>
            <a:r>
              <a:rPr lang="es-ES" sz="2400" b="1" dirty="0" err="1">
                <a:latin typeface="Helvetica"/>
                <a:cs typeface="Helvetica"/>
              </a:rPr>
              <a:t>correction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782669"/>
            <a:ext cx="5476674" cy="36933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discard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C64B8D9-D540-D759-552C-98F1B876B91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6" name="Grupo 19">
            <a:extLst>
              <a:ext uri="{FF2B5EF4-FFF2-40B4-BE49-F238E27FC236}">
                <a16:creationId xmlns:a16="http://schemas.microsoft.com/office/drawing/2014/main" id="{344DF1B0-4F10-0DEB-8789-6177C21F1E09}"/>
              </a:ext>
            </a:extLst>
          </p:cNvPr>
          <p:cNvGrpSpPr/>
          <p:nvPr/>
        </p:nvGrpSpPr>
        <p:grpSpPr>
          <a:xfrm>
            <a:off x="1787688" y="4264437"/>
            <a:ext cx="3301889" cy="1220763"/>
            <a:chOff x="6178013" y="5057218"/>
            <a:chExt cx="3301889" cy="1220763"/>
          </a:xfrm>
        </p:grpSpPr>
        <p:pic>
          <p:nvPicPr>
            <p:cNvPr id="7" name="Imagen 7">
              <a:extLst>
                <a:ext uri="{FF2B5EF4-FFF2-40B4-BE49-F238E27FC236}">
                  <a16:creationId xmlns:a16="http://schemas.microsoft.com/office/drawing/2014/main" id="{9705D816-F3A7-AC4E-5833-5B5AF7AFEB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8" name="CuadroTexto 6">
              <a:extLst>
                <a:ext uri="{FF2B5EF4-FFF2-40B4-BE49-F238E27FC236}">
                  <a16:creationId xmlns:a16="http://schemas.microsoft.com/office/drawing/2014/main" id="{554D3088-B2F2-367A-8478-D6A93EB7613C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0" name="CuadroTexto 16">
              <a:extLst>
                <a:ext uri="{FF2B5EF4-FFF2-40B4-BE49-F238E27FC236}">
                  <a16:creationId xmlns:a16="http://schemas.microsoft.com/office/drawing/2014/main" id="{F314BCF7-B7FC-F964-FE18-2F918DC1B0EF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1" name="CuadroTexto 18">
              <a:extLst>
                <a:ext uri="{FF2B5EF4-FFF2-40B4-BE49-F238E27FC236}">
                  <a16:creationId xmlns:a16="http://schemas.microsoft.com/office/drawing/2014/main" id="{1225590A-BDE2-B3EB-49FF-556A91CA8FB0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3D3BE931-9173-1275-FF86-271ABF370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558" y="927108"/>
            <a:ext cx="5717531" cy="5717531"/>
          </a:xfrm>
          <a:prstGeom prst="rect">
            <a:avLst/>
          </a:prstGeom>
        </p:spPr>
      </p:pic>
      <p:pic>
        <p:nvPicPr>
          <p:cNvPr id="18" name="Graphic 17" descr="Fir tree">
            <a:extLst>
              <a:ext uri="{FF2B5EF4-FFF2-40B4-BE49-F238E27FC236}">
                <a16:creationId xmlns:a16="http://schemas.microsoft.com/office/drawing/2014/main" id="{3BD0AD8F-8A05-2AA9-AE90-DE9F981F69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35244" y="4287519"/>
            <a:ext cx="680674" cy="657591"/>
          </a:xfrm>
          <a:prstGeom prst="rect">
            <a:avLst/>
          </a:prstGeom>
        </p:spPr>
      </p:pic>
      <p:pic>
        <p:nvPicPr>
          <p:cNvPr id="19" name="Graphic 18" descr="Fir tree">
            <a:extLst>
              <a:ext uri="{FF2B5EF4-FFF2-40B4-BE49-F238E27FC236}">
                <a16:creationId xmlns:a16="http://schemas.microsoft.com/office/drawing/2014/main" id="{9A91B070-B98A-D005-9A5B-B67BAC539B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87442" y="4287518"/>
            <a:ext cx="680674" cy="657591"/>
          </a:xfrm>
          <a:prstGeom prst="rect">
            <a:avLst/>
          </a:prstGeom>
        </p:spPr>
      </p:pic>
      <p:pic>
        <p:nvPicPr>
          <p:cNvPr id="20" name="Graphic 19" descr="Fir tree">
            <a:extLst>
              <a:ext uri="{FF2B5EF4-FFF2-40B4-BE49-F238E27FC236}">
                <a16:creationId xmlns:a16="http://schemas.microsoft.com/office/drawing/2014/main" id="{25FA7C44-F6FF-0AA2-10CE-070AF635309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96771" y="4287517"/>
            <a:ext cx="680674" cy="65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340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5BF0-AAC4-BAA2-34F8-5223E67BD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6DA7092-659A-120E-A79A-AA805C216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22068D-7E9A-B7A0-29F3-F14C9478C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665D94-480D-B95C-5DB1-51C1ABA1A9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FB5F455F-6727-EF16-BF4B-9987EC3F3FDA}"/>
              </a:ext>
            </a:extLst>
          </p:cNvPr>
          <p:cNvSpPr txBox="1"/>
          <p:nvPr/>
        </p:nvSpPr>
        <p:spPr>
          <a:xfrm>
            <a:off x="184392" y="815542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C203356-F9EB-E64A-AB3E-A8D4EAB68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494280"/>
              </p:ext>
            </p:extLst>
          </p:nvPr>
        </p:nvGraphicFramePr>
        <p:xfrm>
          <a:off x="6088828" y="990600"/>
          <a:ext cx="559870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171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2891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530157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2891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</a:tblGrid>
              <a:tr h="301161">
                <a:tc>
                  <a:txBody>
                    <a:bodyPr/>
                    <a:lstStyle/>
                    <a:p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ND - DH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ND - DD</a:t>
                      </a: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DH – DD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Height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d.b.h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Age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Hegyi</a:t>
                      </a: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 </a:t>
                      </a:r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Index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61592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Defoliation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LWC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SLA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3755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Content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346731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a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025832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630534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Carotenoids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00106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a/b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/ </a:t>
                      </a:r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xc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C </a:t>
                      </a:r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717280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 </a:t>
                      </a:r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65023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C:N ratio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449132"/>
                  </a:ext>
                </a:extLst>
              </a:tr>
            </a:tbl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C6C47103-D1B5-B778-56BE-B3D62BF80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4760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46401-1343-6489-0678-8A8EB596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2025A94-12B9-7279-CA7F-2E32BF6ED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F07C43-FEEF-B6E3-98EA-238332281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39D1441-2331-8F6E-4111-D49EA7ED88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B17863B-BF42-93C7-AC73-602A87D42F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062341"/>
              </p:ext>
            </p:extLst>
          </p:nvPr>
        </p:nvGraphicFramePr>
        <p:xfrm>
          <a:off x="6177532" y="938298"/>
          <a:ext cx="5517171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8471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270413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507874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270413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</a:tblGrid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ND - DH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ND - DD</a:t>
                      </a: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DH – DD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1" i="0" baseline="30000" dirty="0">
                          <a:latin typeface="Helvetica" panose="020B0604020202020204"/>
                          <a:cs typeface="Helvetica" panose="020B0604020202020204"/>
                        </a:rPr>
                        <a:t>13</a:t>
                      </a: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061370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0" i="0" baseline="30000" dirty="0">
                          <a:latin typeface="Helvetica" panose="020B0604020202020204"/>
                          <a:cs typeface="Helvetica" panose="020B0604020202020204"/>
                        </a:rPr>
                        <a:t>18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O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136442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0" i="0" baseline="30000" dirty="0">
                          <a:latin typeface="Helvetica" panose="020B0604020202020204"/>
                          <a:cs typeface="Helvetica" panose="020B0604020202020204"/>
                        </a:rPr>
                        <a:t>15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92721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Wood 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7030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Wood 22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19198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BAI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BAI 1980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20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15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10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BAI 05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Rt22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Rs12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14777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Rs17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457642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864DF6F4-1E35-C967-44FD-4C1F329894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4920F44-C880-481B-A69F-A476CC4D5A15}"/>
              </a:ext>
            </a:extLst>
          </p:cNvPr>
          <p:cNvGrpSpPr/>
          <p:nvPr/>
        </p:nvGrpSpPr>
        <p:grpSpPr>
          <a:xfrm>
            <a:off x="1454638" y="2710759"/>
            <a:ext cx="3681971" cy="718241"/>
            <a:chOff x="666509" y="1077306"/>
            <a:chExt cx="4015081" cy="941289"/>
          </a:xfrm>
        </p:grpSpPr>
        <p:pic>
          <p:nvPicPr>
            <p:cNvPr id="23" name="Imagen 11">
              <a:extLst>
                <a:ext uri="{FF2B5EF4-FFF2-40B4-BE49-F238E27FC236}">
                  <a16:creationId xmlns:a16="http://schemas.microsoft.com/office/drawing/2014/main" id="{8DFE204E-393D-C973-17BB-441E1B97F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6597"/>
            <a:stretch>
              <a:fillRect/>
            </a:stretch>
          </p:blipFill>
          <p:spPr>
            <a:xfrm>
              <a:off x="666509" y="1077306"/>
              <a:ext cx="4015081" cy="538132"/>
            </a:xfrm>
            <a:prstGeom prst="rect">
              <a:avLst/>
            </a:prstGeom>
          </p:spPr>
        </p:pic>
        <p:pic>
          <p:nvPicPr>
            <p:cNvPr id="24" name="Imagen 11">
              <a:extLst>
                <a:ext uri="{FF2B5EF4-FFF2-40B4-BE49-F238E27FC236}">
                  <a16:creationId xmlns:a16="http://schemas.microsoft.com/office/drawing/2014/main" id="{FF2E1331-3C04-61F2-8A8A-B85B291C0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154" b="-196"/>
            <a:stretch>
              <a:fillRect/>
            </a:stretch>
          </p:blipFill>
          <p:spPr>
            <a:xfrm>
              <a:off x="666509" y="1615438"/>
              <a:ext cx="4015081" cy="403157"/>
            </a:xfrm>
            <a:prstGeom prst="rect">
              <a:avLst/>
            </a:prstGeom>
          </p:spPr>
        </p:pic>
      </p:grpSp>
      <p:sp>
        <p:nvSpPr>
          <p:cNvPr id="6" name="CuadroTexto 10">
            <a:extLst>
              <a:ext uri="{FF2B5EF4-FFF2-40B4-BE49-F238E27FC236}">
                <a16:creationId xmlns:a16="http://schemas.microsoft.com/office/drawing/2014/main" id="{8B2BCA8D-7E32-F085-A23F-5F547907D58A}"/>
              </a:ext>
            </a:extLst>
          </p:cNvPr>
          <p:cNvSpPr txBox="1"/>
          <p:nvPr/>
        </p:nvSpPr>
        <p:spPr>
          <a:xfrm>
            <a:off x="184392" y="815542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0239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B420A-5EA1-4BD5-1E86-284E148BA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B71D2C2-329D-1614-D7BA-900CB0D85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3EDC3F-2319-25FF-729B-9ED79FDAA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FF426EE-A749-CB91-7BC2-38EE4D0069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E30CA758-209D-48F9-96AC-339AD52872F8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BA265A50-62AC-32C1-C12C-CB7944D9F047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F741D58A-197D-F17A-55D4-C64F6C233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97ABAC82-24D6-096A-4E15-993542F33694}"/>
              </a:ext>
            </a:extLst>
          </p:cNvPr>
          <p:cNvSpPr txBox="1"/>
          <p:nvPr/>
        </p:nvSpPr>
        <p:spPr>
          <a:xfrm>
            <a:off x="418288" y="2980082"/>
            <a:ext cx="3063789" cy="2585323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1980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20, 15, 10)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(2012, 2017, 2022)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(2012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2017)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44CC615B-6F40-C44F-FAC1-D72344E83D23}"/>
              </a:ext>
            </a:extLst>
          </p:cNvPr>
          <p:cNvSpPr txBox="1"/>
          <p:nvPr/>
        </p:nvSpPr>
        <p:spPr>
          <a:xfrm>
            <a:off x="4621358" y="2980082"/>
            <a:ext cx="2601245" cy="313932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(C,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C:N)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(5)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A9AA7D-C3B1-BF3A-5647-D5290B2CC2D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2178379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4CDFF00-B5C4-99C7-75FA-DBDC703114CD}"/>
              </a:ext>
            </a:extLst>
          </p:cNvPr>
          <p:cNvSpPr txBox="1">
            <a:spLocks/>
          </p:cNvSpPr>
          <p:nvPr/>
        </p:nvSpPr>
        <p:spPr>
          <a:xfrm>
            <a:off x="5704734" y="635027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2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F2D9288-CD85-756C-D464-FE6CF8F50116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E5A0EF-A980-5571-827A-2670EEA68D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0259" y="1746769"/>
            <a:ext cx="5138195" cy="513819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293EE323-DA89-CD22-DD27-394A73B7E917}"/>
              </a:ext>
            </a:extLst>
          </p:cNvPr>
          <p:cNvSpPr txBox="1"/>
          <p:nvPr/>
        </p:nvSpPr>
        <p:spPr>
          <a:xfrm>
            <a:off x="52874" y="2235239"/>
            <a:ext cx="58067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and more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gains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importance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in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arid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environments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AEC58-0706-69CC-3EDA-D2277C272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568A51-95B5-2683-A620-969A22AA7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8A1E26B-DF94-8827-3AD6-6175106F319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4BE05C-9258-6EAF-2B03-08B0B96E52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42720"/>
            <a:ext cx="4404360" cy="44043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63373C-1BC3-0C3A-1CEA-FECBDE856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820" y="1442720"/>
            <a:ext cx="4404360" cy="44043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AF05878-F78A-F172-9B0C-46940CF427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640" y="1442720"/>
            <a:ext cx="4404360" cy="440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6374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6F8F6-FCFA-ADC5-320A-E4C5CCBA0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39F43A-4D02-77A1-C7D8-B80CCD7E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0ACD50A-2445-28CD-628C-631DCD78738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725EDF-92C3-BED2-8BED-2B06FA466C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42720"/>
            <a:ext cx="4404360" cy="44043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A5BD63-CA17-2CA7-A9DB-644B8E5B28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820" y="1442720"/>
            <a:ext cx="4404360" cy="44043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A26861B-A9E6-845A-07C5-A5616EC8D3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640" y="1442720"/>
            <a:ext cx="4404360" cy="440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116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72B3E-E391-3855-6057-254C02E5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1BEE753-EDA8-55C8-3FC9-CEA4A47C51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1B7DD8-542E-121E-D569-A3D69EC74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19AD50-4EA2-D707-0659-D0695216E04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24D53AC-3A64-A8E8-83D9-DCA3815F4DE9}"/>
              </a:ext>
            </a:extLst>
          </p:cNvPr>
          <p:cNvSpPr txBox="1">
            <a:spLocks/>
          </p:cNvSpPr>
          <p:nvPr/>
        </p:nvSpPr>
        <p:spPr>
          <a:xfrm>
            <a:off x="4405261" y="6368128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3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2816B903-2C67-CA1A-3C16-BB3A68E4FBDB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589A80-24E8-0591-5134-47C5807191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915" y="1800427"/>
            <a:ext cx="6522962" cy="4891963"/>
          </a:xfrm>
          <a:prstGeom prst="rect">
            <a:avLst/>
          </a:prstGeom>
        </p:spPr>
      </p:pic>
      <p:sp>
        <p:nvSpPr>
          <p:cNvPr id="7" name="CuadroTexto 10">
            <a:extLst>
              <a:ext uri="{FF2B5EF4-FFF2-40B4-BE49-F238E27FC236}">
                <a16:creationId xmlns:a16="http://schemas.microsoft.com/office/drawing/2014/main" id="{49AF0DBE-0958-31CA-8A1D-B5DC38A4CA49}"/>
              </a:ext>
            </a:extLst>
          </p:cNvPr>
          <p:cNvSpPr txBox="1"/>
          <p:nvPr/>
        </p:nvSpPr>
        <p:spPr>
          <a:xfrm>
            <a:off x="-25174" y="2353582"/>
            <a:ext cx="531081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senescence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 alba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upregulated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ROS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synthesis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leading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oxidative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damage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maybe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due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high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temperatures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l-GR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6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tight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control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&amp;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increased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iWUE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1507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5F5F-8D62-C5FA-B53C-C8888E143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4860345-C2F9-9510-85FB-037DEC4C8F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C3B0C2D-7A66-67E6-06C9-786658FE8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53CF077-E3D8-34D6-996D-5F36033DC22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8A1FD53-63F5-DA2A-98D1-6761D62A1A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231"/>
            <a:ext cx="4383615" cy="32875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845F4E-7400-27DE-F164-0906590FF0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5525" y="1785231"/>
            <a:ext cx="4383615" cy="32875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26501BC-0870-BE07-99D2-D4C64540E1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1050" y="1785231"/>
            <a:ext cx="4383615" cy="328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583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09BC8-A803-6BAC-F668-5D94D6E82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77F85A7-1F17-3A54-BDA6-0E0C54985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53240D-5765-7DCE-9786-A5A246946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0F8C04C-5447-1533-EF0D-F502EE79EEA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F238245-1957-06C9-F589-5B66927EED71}"/>
              </a:ext>
            </a:extLst>
          </p:cNvPr>
          <p:cNvSpPr txBox="1">
            <a:spLocks/>
          </p:cNvSpPr>
          <p:nvPr/>
        </p:nvSpPr>
        <p:spPr>
          <a:xfrm>
            <a:off x="4126560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4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F1FB67B6-FA0F-C59E-F249-3F674E59B610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predisposing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05A1A4-9B05-87BD-B4D5-869DDBE5B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8" y="2021528"/>
            <a:ext cx="3092947" cy="4639701"/>
          </a:xfrm>
          <a:prstGeom prst="rect">
            <a:avLst/>
          </a:prstGeom>
        </p:spPr>
      </p:pic>
      <p:sp>
        <p:nvSpPr>
          <p:cNvPr id="15" name="TextBox 16">
            <a:extLst>
              <a:ext uri="{FF2B5EF4-FFF2-40B4-BE49-F238E27FC236}">
                <a16:creationId xmlns:a16="http://schemas.microsoft.com/office/drawing/2014/main" id="{DBF7742C-0035-3B84-E4A4-2F4E6B3F34B1}"/>
              </a:ext>
            </a:extLst>
          </p:cNvPr>
          <p:cNvSpPr txBox="1"/>
          <p:nvPr/>
        </p:nvSpPr>
        <p:spPr>
          <a:xfrm>
            <a:off x="6095997" y="2455095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damaged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healthy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D4A4977B-A7DD-5A63-0387-0E7370868A5F}"/>
              </a:ext>
            </a:extLst>
          </p:cNvPr>
          <p:cNvSpPr txBox="1"/>
          <p:nvPr/>
        </p:nvSpPr>
        <p:spPr>
          <a:xfrm>
            <a:off x="4845451" y="3429000"/>
            <a:ext cx="675539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BAI,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and Age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were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RR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and Wood 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RRs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29714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0A17A-75C7-4B1C-467E-746896C8E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FF53BF0-3EC8-55E9-955B-08CF894402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945A35-79C4-3A74-523D-1C5741DDA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9A531DD-3F80-ABB1-D728-D5BDBA5DDBD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7007B9DD-16E8-DFB5-2FDB-AAA106970DC8}"/>
              </a:ext>
            </a:extLst>
          </p:cNvPr>
          <p:cNvSpPr txBox="1">
            <a:spLocks/>
          </p:cNvSpPr>
          <p:nvPr/>
        </p:nvSpPr>
        <p:spPr>
          <a:xfrm>
            <a:off x="4126560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4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CF8DF62B-02D6-BC2F-586F-06019FDF2EC0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predisposing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71D966E2-C050-943C-F732-8E8131224A17}"/>
              </a:ext>
            </a:extLst>
          </p:cNvPr>
          <p:cNvSpPr txBox="1"/>
          <p:nvPr/>
        </p:nvSpPr>
        <p:spPr>
          <a:xfrm>
            <a:off x="6095997" y="2455095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damaged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healthy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0ADAC6F9-978C-C475-6D36-EE0D609E3AC4}"/>
              </a:ext>
            </a:extLst>
          </p:cNvPr>
          <p:cNvSpPr txBox="1"/>
          <p:nvPr/>
        </p:nvSpPr>
        <p:spPr>
          <a:xfrm>
            <a:off x="4845451" y="3429000"/>
            <a:ext cx="67553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muestra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mayores</a:t>
            </a:r>
            <a:endParaRPr lang="es-ES" sz="20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DB15C9-C61C-C0CE-5CCA-1A3B58B8D7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051" y="2000150"/>
            <a:ext cx="3224120" cy="4836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7885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E3FE-ABF9-2983-F15A-1FEFAEA8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6D41078-2730-8B0A-3CAF-BA787ABD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841360-6F88-9716-453D-E664F853C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6128630-A9BC-495F-C621-7B7F7BF8181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2F9CDB4-AD3C-397D-0942-8DF2D3E370B2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471F79EF-4DDD-D464-5E81-5DFC13BB7370}"/>
              </a:ext>
            </a:extLst>
          </p:cNvPr>
          <p:cNvSpPr txBox="1"/>
          <p:nvPr/>
        </p:nvSpPr>
        <p:spPr>
          <a:xfrm>
            <a:off x="633461" y="2598003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worth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1942CB3D-3C99-4195-732D-B90B71ECC0F6}"/>
              </a:ext>
            </a:extLst>
          </p:cNvPr>
          <p:cNvSpPr txBox="1"/>
          <p:nvPr/>
        </p:nvSpPr>
        <p:spPr>
          <a:xfrm>
            <a:off x="633463" y="3488989"/>
            <a:ext cx="5587119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Linear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Mixed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Equations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83AD2E54-7FD0-1ED6-7EA6-C43FA5109A18}"/>
              </a:ext>
            </a:extLst>
          </p:cNvPr>
          <p:cNvSpPr txBox="1"/>
          <p:nvPr/>
        </p:nvSpPr>
        <p:spPr>
          <a:xfrm>
            <a:off x="745077" y="4379975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= </a:t>
            </a: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+ PCA1 + PCA2 + (1 | site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id) ¿?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08A062-5EAA-2C30-1BD7-BB668502F5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040" y="1613511"/>
            <a:ext cx="4878729" cy="487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9503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C4FE-D540-58EA-C148-B08589E6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1F3314-AF75-E728-58A1-966BF899AA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04E661-DA61-B627-FBC9-AE09F0C45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392BBB0-7417-4E4E-DDE1-47A8F0C164B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B9DD9AE-F01B-0965-B781-7B9F3A7F2EC9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42D86B-F7ED-BFD0-9CB6-B028B92C9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528"/>
          <a:stretch>
            <a:fillRect/>
          </a:stretch>
        </p:blipFill>
        <p:spPr>
          <a:xfrm>
            <a:off x="633461" y="1979271"/>
            <a:ext cx="6763019" cy="426912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12BDB73-026F-4EB4-C430-9729CEF92A3E}"/>
              </a:ext>
            </a:extLst>
          </p:cNvPr>
          <p:cNvSpPr txBox="1"/>
          <p:nvPr/>
        </p:nvSpPr>
        <p:spPr>
          <a:xfrm>
            <a:off x="7298421" y="2129176"/>
            <a:ext cx="44973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Very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N, BAI, Rt12;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 Rs12, LWC;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Rs17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C6C3135-4F44-B03E-6B54-10D12149D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9630" r="78500" b="7259"/>
          <a:stretch>
            <a:fillRect/>
          </a:stretch>
        </p:blipFill>
        <p:spPr>
          <a:xfrm>
            <a:off x="5233824" y="4643120"/>
            <a:ext cx="2091536" cy="126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241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196E3-8B72-C39D-0421-4BC10005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3186D16-E14C-59DB-BF5B-6BC5404D8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DF9691-CCBB-C664-CD90-631959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51DF5E3-F89C-345F-EE29-106FDF1BCD5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D4B8B29-5AC3-B419-6980-33A710E5FBB0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FFECE6-DE50-2565-AF8B-B54C1AE68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8B9933-73B0-6F9C-F057-1FD131C09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730" r="78070" b="5485"/>
          <a:stretch>
            <a:fillRect/>
          </a:stretch>
        </p:blipFill>
        <p:spPr>
          <a:xfrm>
            <a:off x="2171699" y="5150733"/>
            <a:ext cx="2673752" cy="15625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6D8BEF-2161-71BC-97EA-EE6E6E6545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9536" r="79114" b="7679"/>
          <a:stretch>
            <a:fillRect/>
          </a:stretch>
        </p:blipFill>
        <p:spPr>
          <a:xfrm>
            <a:off x="6096000" y="5104433"/>
            <a:ext cx="2546430" cy="1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3089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F5BA-1B83-F460-847D-0C3BB8B77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F2464FC-5965-91B7-7F19-A93D65516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AADC97-1ACE-B518-0FB9-7AE3D69EF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5EC93B4-F7AF-6284-EEAA-1292D35F803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764E94B-DB39-2D18-C576-6D0CBDC426E8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974E99-1F0E-A5E3-45C4-D41C0A20A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sp>
        <p:nvSpPr>
          <p:cNvPr id="5" name="CuadroTexto 10">
            <a:extLst>
              <a:ext uri="{FF2B5EF4-FFF2-40B4-BE49-F238E27FC236}">
                <a16:creationId xmlns:a16="http://schemas.microsoft.com/office/drawing/2014/main" id="{C39E252F-F3F3-99FB-0061-B54E73F554C0}"/>
              </a:ext>
            </a:extLst>
          </p:cNvPr>
          <p:cNvSpPr txBox="1"/>
          <p:nvPr/>
        </p:nvSpPr>
        <p:spPr>
          <a:xfrm>
            <a:off x="1082793" y="5054296"/>
            <a:ext cx="95849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PC2 negative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positive PC1</a:t>
            </a:r>
            <a:endParaRPr lang="es-ES" sz="20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/ </a:t>
            </a:r>
            <a:r>
              <a:rPr lang="el-GR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C, Rt12</a:t>
            </a:r>
          </a:p>
        </p:txBody>
      </p:sp>
    </p:spTree>
    <p:extLst>
      <p:ext uri="{BB962C8B-B14F-4D97-AF65-F5344CB8AC3E}">
        <p14:creationId xmlns:p14="http://schemas.microsoft.com/office/powerpoint/2010/main" val="396626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65259-178B-0DEA-4FFB-41A3B0FC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3BF7C92-9F56-A55B-29D2-2825D4A4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A3AF12-B690-A7D6-A9FD-B79082118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BF416D5-592C-9B1C-CFE3-D8345203556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50AE5DD-0CB7-C762-5243-BBCA80BB48FB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D0749B-C324-8962-0DD1-17872AB02B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592" y="1823925"/>
            <a:ext cx="3960316" cy="44499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80EA64-AF73-35F1-A9A0-6D1BBBA5A3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253" y="1823925"/>
            <a:ext cx="3960316" cy="44499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D748782-9BAD-B727-C1D1-0B87CB12FF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914" y="1800427"/>
            <a:ext cx="3960316" cy="443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776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F4F8B-1BEE-52D9-EB06-A7BBD3FE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91109CD-FA4E-9AF7-B972-E38B190FC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3F75E7-9067-958C-69F4-00C1AF6D9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8BD0FA7-1F33-65E2-7533-1E67EC68798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CEEF58D-3933-A6B1-BBE1-08613DEFE4DF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01" name="Marcador de contenido 2">
            <a:extLst>
              <a:ext uri="{FF2B5EF4-FFF2-40B4-BE49-F238E27FC236}">
                <a16:creationId xmlns:a16="http://schemas.microsoft.com/office/drawing/2014/main" id="{3AC7793B-6346-909E-0D70-DE6E141A4D2E}"/>
              </a:ext>
            </a:extLst>
          </p:cNvPr>
          <p:cNvSpPr txBox="1">
            <a:spLocks/>
          </p:cNvSpPr>
          <p:nvPr/>
        </p:nvSpPr>
        <p:spPr>
          <a:xfrm>
            <a:off x="240786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GLM?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2" name="Marcador de contenido 2">
            <a:extLst>
              <a:ext uri="{FF2B5EF4-FFF2-40B4-BE49-F238E27FC236}">
                <a16:creationId xmlns:a16="http://schemas.microsoft.com/office/drawing/2014/main" id="{1D220480-4BFC-1D9B-5029-4284165E7AD0}"/>
              </a:ext>
            </a:extLst>
          </p:cNvPr>
          <p:cNvSpPr txBox="1">
            <a:spLocks/>
          </p:cNvSpPr>
          <p:nvPr/>
        </p:nvSpPr>
        <p:spPr>
          <a:xfrm>
            <a:off x="792474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SEM?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03" name="Grupo 2">
            <a:extLst>
              <a:ext uri="{FF2B5EF4-FFF2-40B4-BE49-F238E27FC236}">
                <a16:creationId xmlns:a16="http://schemas.microsoft.com/office/drawing/2014/main" id="{A71C39C2-B922-EC60-37B8-4197DDDEB311}"/>
              </a:ext>
            </a:extLst>
          </p:cNvPr>
          <p:cNvGrpSpPr/>
          <p:nvPr/>
        </p:nvGrpSpPr>
        <p:grpSpPr>
          <a:xfrm>
            <a:off x="7275553" y="3429000"/>
            <a:ext cx="3477754" cy="1250117"/>
            <a:chOff x="1139560" y="5095351"/>
            <a:chExt cx="3477754" cy="1250117"/>
          </a:xfrm>
        </p:grpSpPr>
        <p:pic>
          <p:nvPicPr>
            <p:cNvPr id="104" name="Imagen 4">
              <a:extLst>
                <a:ext uri="{FF2B5EF4-FFF2-40B4-BE49-F238E27FC236}">
                  <a16:creationId xmlns:a16="http://schemas.microsoft.com/office/drawing/2014/main" id="{5E44B980-6F3A-E7AD-9E03-28074ADE3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05" name="CuadroTexto 5">
              <a:extLst>
                <a:ext uri="{FF2B5EF4-FFF2-40B4-BE49-F238E27FC236}">
                  <a16:creationId xmlns:a16="http://schemas.microsoft.com/office/drawing/2014/main" id="{B7F97F80-303C-AE69-190F-953E36464FD7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06" name="CuadroTexto 6">
              <a:extLst>
                <a:ext uri="{FF2B5EF4-FFF2-40B4-BE49-F238E27FC236}">
                  <a16:creationId xmlns:a16="http://schemas.microsoft.com/office/drawing/2014/main" id="{C581EE06-F26E-0237-FBB8-ACC8A8C097B1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07" name="Marcador de contenido 2">
            <a:extLst>
              <a:ext uri="{FF2B5EF4-FFF2-40B4-BE49-F238E27FC236}">
                <a16:creationId xmlns:a16="http://schemas.microsoft.com/office/drawing/2014/main" id="{4FE96E70-0C70-8FFB-2D33-B4DA52F8AB87}"/>
              </a:ext>
            </a:extLst>
          </p:cNvPr>
          <p:cNvSpPr txBox="1">
            <a:spLocks/>
          </p:cNvSpPr>
          <p:nvPr/>
        </p:nvSpPr>
        <p:spPr>
          <a:xfrm>
            <a:off x="633460" y="4221220"/>
            <a:ext cx="6231690" cy="15061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buClr>
                <a:srgbClr val="218317"/>
              </a:buClr>
            </a:pPr>
            <a:r>
              <a:rPr lang="es-ES" sz="2400" dirty="0" err="1">
                <a:latin typeface="Helvetica"/>
                <a:cs typeface="Helvetica"/>
              </a:rPr>
              <a:t>Changes</a:t>
            </a:r>
            <a:r>
              <a:rPr lang="es-ES" sz="2400" dirty="0">
                <a:latin typeface="Helvetica"/>
                <a:cs typeface="Helvetica"/>
              </a:rPr>
              <a:t> in SEM </a:t>
            </a:r>
            <a:r>
              <a:rPr lang="es-ES" sz="2400" b="1" dirty="0" err="1">
                <a:latin typeface="Helvetica"/>
                <a:cs typeface="Helvetica"/>
              </a:rPr>
              <a:t>pathways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different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physiological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processes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D vs. ND</a:t>
            </a:r>
          </a:p>
          <a:p>
            <a:pPr algn="just">
              <a:buClr>
                <a:srgbClr val="218317"/>
              </a:buClr>
            </a:pP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Variables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relationships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just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8" name="Signo de multiplicación 18">
            <a:extLst>
              <a:ext uri="{FF2B5EF4-FFF2-40B4-BE49-F238E27FC236}">
                <a16:creationId xmlns:a16="http://schemas.microsoft.com/office/drawing/2014/main" id="{B367929E-6404-DD1F-DEF1-7CA4B457D36C}"/>
              </a:ext>
            </a:extLst>
          </p:cNvPr>
          <p:cNvSpPr/>
          <p:nvPr/>
        </p:nvSpPr>
        <p:spPr>
          <a:xfrm>
            <a:off x="2918816" y="219698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225422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98CAA-7B73-8A37-6716-C48ABCAA6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7867981-5F76-23DC-E606-5CDED27EE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08ADC9-7EBB-50F1-1929-F5909017E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A85501-43CA-EFCD-123C-307D807A646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B11F9D0-E8AD-CA46-9122-ED6DDF76FA2E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7F8412-D90C-5294-E6D4-AB5BBAEA6D55}"/>
              </a:ext>
            </a:extLst>
          </p:cNvPr>
          <p:cNvSpPr/>
          <p:nvPr/>
        </p:nvSpPr>
        <p:spPr>
          <a:xfrm>
            <a:off x="2823881" y="1947643"/>
            <a:ext cx="6106110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SPEI, TEMP.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AF0A82-E298-C6BA-D660-6A75F845B2F1}"/>
              </a:ext>
            </a:extLst>
          </p:cNvPr>
          <p:cNvSpPr/>
          <p:nvPr/>
        </p:nvSpPr>
        <p:spPr>
          <a:xfrm>
            <a:off x="5411438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13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641A9A-AB93-703A-3F2F-A00A04AF3607}"/>
              </a:ext>
            </a:extLst>
          </p:cNvPr>
          <p:cNvSpPr/>
          <p:nvPr/>
        </p:nvSpPr>
        <p:spPr>
          <a:xfrm>
            <a:off x="7998995" y="3288916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15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B3C5FE-2D5F-A191-35C9-8E2EAD6CF2C5}"/>
              </a:ext>
            </a:extLst>
          </p:cNvPr>
          <p:cNvSpPr/>
          <p:nvPr/>
        </p:nvSpPr>
        <p:spPr>
          <a:xfrm>
            <a:off x="3072328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5FF3E-8CAC-F9F0-55BB-9243931BF307}"/>
              </a:ext>
            </a:extLst>
          </p:cNvPr>
          <p:cNvSpPr/>
          <p:nvPr/>
        </p:nvSpPr>
        <p:spPr>
          <a:xfrm>
            <a:off x="1193492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Height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364021-A0EA-94C1-F57E-91F3ADE25ADB}"/>
              </a:ext>
            </a:extLst>
          </p:cNvPr>
          <p:cNvSpPr/>
          <p:nvPr/>
        </p:nvSpPr>
        <p:spPr>
          <a:xfrm>
            <a:off x="2746915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RWC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4D3892-4914-33F1-531A-B80FB9E49D5D}"/>
              </a:ext>
            </a:extLst>
          </p:cNvPr>
          <p:cNvSpPr/>
          <p:nvPr/>
        </p:nvSpPr>
        <p:spPr>
          <a:xfrm>
            <a:off x="5411438" y="4478685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Chl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/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xc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FDA849-6A0B-E94C-9A97-047675BFA308}"/>
              </a:ext>
            </a:extLst>
          </p:cNvPr>
          <p:cNvSpPr/>
          <p:nvPr/>
        </p:nvSpPr>
        <p:spPr>
          <a:xfrm>
            <a:off x="307232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BAI80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5F59-5C32-265B-889E-520B7763DD6C}"/>
              </a:ext>
            </a:extLst>
          </p:cNvPr>
          <p:cNvSpPr/>
          <p:nvPr/>
        </p:nvSpPr>
        <p:spPr>
          <a:xfrm>
            <a:off x="7170714" y="5727402"/>
            <a:ext cx="1368358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Defoliation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7AE41B-9024-37F4-8B61-4107D42EC552}"/>
              </a:ext>
            </a:extLst>
          </p:cNvPr>
          <p:cNvSpPr/>
          <p:nvPr/>
        </p:nvSpPr>
        <p:spPr>
          <a:xfrm>
            <a:off x="541143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Rt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Rs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A19E89-F2F4-E939-609B-CF8711894A6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76936" y="2423815"/>
            <a:ext cx="0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6D03CD97-2BC2-E7C3-88B3-18AF72A98795}"/>
              </a:ext>
            </a:extLst>
          </p:cNvPr>
          <p:cNvSpPr txBox="1">
            <a:spLocks/>
          </p:cNvSpPr>
          <p:nvPr/>
        </p:nvSpPr>
        <p:spPr>
          <a:xfrm>
            <a:off x="5876935" y="2633198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Stomatal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closure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AE11DCB-1467-9A8C-B42F-C9A98BE38DA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876936" y="2423815"/>
            <a:ext cx="2587557" cy="86510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9C59B448-4D5A-4D4E-EC63-F005EBCBE54E}"/>
              </a:ext>
            </a:extLst>
          </p:cNvPr>
          <p:cNvSpPr txBox="1">
            <a:spLocks/>
          </p:cNvSpPr>
          <p:nvPr/>
        </p:nvSpPr>
        <p:spPr>
          <a:xfrm>
            <a:off x="7834725" y="252205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Limitted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uptake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53948D9-032E-9D41-D6E7-F49890C9C9F4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3212413" y="2423815"/>
            <a:ext cx="2664523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7443CDB0-2D90-C022-A0FF-8A2BF129CEEF}"/>
              </a:ext>
            </a:extLst>
          </p:cNvPr>
          <p:cNvSpPr txBox="1">
            <a:spLocks/>
          </p:cNvSpPr>
          <p:nvPr/>
        </p:nvSpPr>
        <p:spPr>
          <a:xfrm>
            <a:off x="4047259" y="252229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Turgor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loss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AE48C19-1773-629D-8FBD-8FFC3B4FBFBE}"/>
              </a:ext>
            </a:extLst>
          </p:cNvPr>
          <p:cNvCxnSpPr>
            <a:cxnSpLocks/>
            <a:stCxn id="6" idx="1"/>
            <a:endCxn id="14" idx="3"/>
          </p:cNvCxnSpPr>
          <p:nvPr/>
        </p:nvCxnSpPr>
        <p:spPr>
          <a:xfrm flipH="1">
            <a:off x="3677911" y="3555044"/>
            <a:ext cx="1733527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arcador de contenido 2">
            <a:extLst>
              <a:ext uri="{FF2B5EF4-FFF2-40B4-BE49-F238E27FC236}">
                <a16:creationId xmlns:a16="http://schemas.microsoft.com/office/drawing/2014/main" id="{37BA9148-B754-E992-0BBB-096D6F435085}"/>
              </a:ext>
            </a:extLst>
          </p:cNvPr>
          <p:cNvSpPr txBox="1">
            <a:spLocks/>
          </p:cNvSpPr>
          <p:nvPr/>
        </p:nvSpPr>
        <p:spPr>
          <a:xfrm>
            <a:off x="4003324" y="3236555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FC4F89A-95EC-171B-B868-7D156E5A839A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7854893" y="3765088"/>
            <a:ext cx="609600" cy="1962314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Marcador de contenido 2">
            <a:extLst>
              <a:ext uri="{FF2B5EF4-FFF2-40B4-BE49-F238E27FC236}">
                <a16:creationId xmlns:a16="http://schemas.microsoft.com/office/drawing/2014/main" id="{24C41916-A79D-12D1-1660-15536A4B33B0}"/>
              </a:ext>
            </a:extLst>
          </p:cNvPr>
          <p:cNvSpPr txBox="1">
            <a:spLocks/>
          </p:cNvSpPr>
          <p:nvPr/>
        </p:nvSpPr>
        <p:spPr>
          <a:xfrm>
            <a:off x="8195363" y="4496322"/>
            <a:ext cx="930996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050" dirty="0" err="1">
                <a:latin typeface="Helvetica"/>
                <a:cs typeface="Helvetica"/>
              </a:rPr>
              <a:t>Leaf</a:t>
            </a:r>
            <a:r>
              <a:rPr lang="es-ES" sz="1050" dirty="0">
                <a:latin typeface="Helvetica"/>
                <a:cs typeface="Helvetica"/>
              </a:rPr>
              <a:t> </a:t>
            </a:r>
            <a:r>
              <a:rPr lang="es-ES" sz="1050" dirty="0" err="1">
                <a:latin typeface="Helvetica"/>
                <a:cs typeface="Helvetica"/>
              </a:rPr>
              <a:t>senescence</a:t>
            </a:r>
            <a:endParaRPr lang="es-ES" sz="1050" dirty="0">
              <a:latin typeface="Helvetica"/>
              <a:cs typeface="Helvetica"/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1161069-BC9D-857B-2AA5-67E47DAE7AA2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6342434" y="3527002"/>
            <a:ext cx="1656561" cy="28042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Marcador de contenido 2">
            <a:extLst>
              <a:ext uri="{FF2B5EF4-FFF2-40B4-BE49-F238E27FC236}">
                <a16:creationId xmlns:a16="http://schemas.microsoft.com/office/drawing/2014/main" id="{58B5D179-818E-1C65-AC85-3F0FBD5CF1C5}"/>
              </a:ext>
            </a:extLst>
          </p:cNvPr>
          <p:cNvSpPr txBox="1">
            <a:spLocks/>
          </p:cNvSpPr>
          <p:nvPr/>
        </p:nvSpPr>
        <p:spPr>
          <a:xfrm>
            <a:off x="6661280" y="3261736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661FD95-5CE8-BB71-220A-01A5B8AF8C57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>
            <a:off x="3212413" y="3793130"/>
            <a:ext cx="2199025" cy="92364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692EA1A-906F-5C77-80EA-DC372CE4D24D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>
            <a:off x="5876936" y="3793130"/>
            <a:ext cx="0" cy="68555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4251960-B8B5-2A7C-D593-EF450A942942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3537826" y="4954857"/>
            <a:ext cx="2339110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7F616B-5FB8-2811-D2CB-451D9285BBFA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003324" y="5965488"/>
            <a:ext cx="1408114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CC416C5-3F03-83F6-4B72-F0FD5C7046CB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5876936" y="4954857"/>
            <a:ext cx="1977957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1E384D-699E-0026-706C-F09418BE0962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3537826" y="4879309"/>
            <a:ext cx="0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F31375A-0BCB-CE53-8077-4217AF30C23C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2124488" y="4641223"/>
            <a:ext cx="94784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DB0311E-95A2-730A-4E51-520DE649C299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1658990" y="4879309"/>
            <a:ext cx="1878836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5D686F3D-2E00-3945-11E1-6AD7DB5AAEDF}"/>
              </a:ext>
            </a:extLst>
          </p:cNvPr>
          <p:cNvCxnSpPr>
            <a:cxnSpLocks/>
            <a:stCxn id="12" idx="0"/>
            <a:endCxn id="6" idx="2"/>
          </p:cNvCxnSpPr>
          <p:nvPr/>
        </p:nvCxnSpPr>
        <p:spPr>
          <a:xfrm flipV="1">
            <a:off x="1658990" y="3793130"/>
            <a:ext cx="4217946" cy="610007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5EE4D6-48A7-291A-EDCC-E93F0D35FEC1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677911" y="3793130"/>
            <a:ext cx="2199025" cy="585933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8BC9647-A478-0ED0-A895-993D28FF4014}"/>
              </a:ext>
            </a:extLst>
          </p:cNvPr>
          <p:cNvCxnSpPr>
            <a:cxnSpLocks/>
            <a:stCxn id="19" idx="3"/>
            <a:endCxn id="17" idx="1"/>
          </p:cNvCxnSpPr>
          <p:nvPr/>
        </p:nvCxnSpPr>
        <p:spPr>
          <a:xfrm>
            <a:off x="6342434" y="5965488"/>
            <a:ext cx="82828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449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8E399-BD7F-5906-4771-D944572E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4D7494-4F9D-7116-BC10-966B78A5C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1D8ECD7-47CA-35AE-41CB-0EE1D9A2312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72501A8-8A07-03EC-0D75-8F9BE8EF13A0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6412D189-F44F-63E1-9B0C-08ECEC3C39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analysis – Physiological responses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C5994F4-2763-6EBB-1E7E-137F143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7509" y="2381829"/>
            <a:ext cx="3961851" cy="396185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AC25151-B4AA-40E3-26C7-FDEAB34DF5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67" y="2559355"/>
            <a:ext cx="3784326" cy="378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683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4413</TotalTime>
  <Words>2548</Words>
  <Application>Microsoft Office PowerPoint</Application>
  <PresentationFormat>Widescreen</PresentationFormat>
  <Paragraphs>625</Paragraphs>
  <Slides>41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Drought-induced tree mortality</vt:lpstr>
      <vt:lpstr>PowerPoint Presentation</vt:lpstr>
      <vt:lpstr>PowerPoint Presentation</vt:lpstr>
      <vt:lpstr> Complementary strategies to cope with drought</vt:lpstr>
      <vt:lpstr> Responses to drought</vt:lpstr>
      <vt:lpstr>PowerPoint Presentation</vt:lpstr>
      <vt:lpstr> Complementary strategies to cope with drought</vt:lpstr>
      <vt:lpstr> Complementary strategies to cope with drought</vt:lpstr>
      <vt:lpstr> Complementary strategies to cope with drought</vt:lpstr>
      <vt:lpstr> Complementary strategies to cope with drought</vt:lpstr>
      <vt:lpstr> Study area</vt:lpstr>
      <vt:lpstr> Sampling design</vt:lpstr>
      <vt:lpstr> Sampling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Data analysis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48</cp:revision>
  <dcterms:created xsi:type="dcterms:W3CDTF">2025-04-25T13:52:31Z</dcterms:created>
  <dcterms:modified xsi:type="dcterms:W3CDTF">2025-07-16T19:26:45Z</dcterms:modified>
</cp:coreProperties>
</file>