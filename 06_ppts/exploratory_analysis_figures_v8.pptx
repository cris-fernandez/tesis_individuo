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5"/>
  </p:notesMasterIdLst>
  <p:sldIdLst>
    <p:sldId id="257" r:id="rId2"/>
    <p:sldId id="341" r:id="rId3"/>
    <p:sldId id="454" r:id="rId4"/>
    <p:sldId id="455" r:id="rId5"/>
    <p:sldId id="304" r:id="rId6"/>
    <p:sldId id="457" r:id="rId7"/>
    <p:sldId id="456" r:id="rId8"/>
    <p:sldId id="302" r:id="rId9"/>
    <p:sldId id="447" r:id="rId10"/>
    <p:sldId id="449" r:id="rId11"/>
    <p:sldId id="451" r:id="rId12"/>
    <p:sldId id="335" r:id="rId13"/>
    <p:sldId id="342" r:id="rId14"/>
    <p:sldId id="337" r:id="rId15"/>
    <p:sldId id="282" r:id="rId16"/>
    <p:sldId id="404" r:id="rId17"/>
    <p:sldId id="459" r:id="rId18"/>
    <p:sldId id="460" r:id="rId19"/>
    <p:sldId id="406" r:id="rId20"/>
    <p:sldId id="467" r:id="rId21"/>
    <p:sldId id="407" r:id="rId22"/>
    <p:sldId id="408" r:id="rId23"/>
    <p:sldId id="409" r:id="rId24"/>
    <p:sldId id="411" r:id="rId25"/>
    <p:sldId id="433" r:id="rId26"/>
    <p:sldId id="435" r:id="rId27"/>
    <p:sldId id="458" r:id="rId28"/>
    <p:sldId id="413" r:id="rId29"/>
    <p:sldId id="461" r:id="rId30"/>
    <p:sldId id="464" r:id="rId31"/>
    <p:sldId id="462" r:id="rId32"/>
    <p:sldId id="441" r:id="rId33"/>
    <p:sldId id="463" r:id="rId34"/>
    <p:sldId id="465" r:id="rId35"/>
    <p:sldId id="466" r:id="rId36"/>
    <p:sldId id="442" r:id="rId37"/>
    <p:sldId id="443" r:id="rId38"/>
    <p:sldId id="445" r:id="rId39"/>
    <p:sldId id="444" r:id="rId40"/>
    <p:sldId id="446" r:id="rId41"/>
    <p:sldId id="452" r:id="rId42"/>
    <p:sldId id="453" r:id="rId43"/>
    <p:sldId id="424" r:id="rId44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DB4BCF0B-13A8-F3D9-5213-32840108FAB3}" name="Cristopher Fernández de Blas" initials="CF" userId="13a2925ceb8d18c3" providerId="Windows Live"/>
  <p188:author id="{9B18557D-7187-C966-2E91-CE8B6CF86FC3}" name="Charlotte Grossiord" initials="" userId="S::charlotte.grossiord@wsl.ch::81d5e498-a7ae-4007-b872-c94d21631f55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C267F"/>
    <a:srgbClr val="FFB000"/>
    <a:srgbClr val="785EF0"/>
    <a:srgbClr val="218317"/>
    <a:srgbClr val="2F5597"/>
    <a:srgbClr val="DB5E01"/>
    <a:srgbClr val="37AD88"/>
    <a:srgbClr val="716CB1"/>
    <a:srgbClr val="7030A0"/>
    <a:srgbClr val="7873B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94"/>
  </p:normalViewPr>
  <p:slideViewPr>
    <p:cSldViewPr snapToGrid="0">
      <p:cViewPr varScale="1">
        <p:scale>
          <a:sx n="82" d="100"/>
          <a:sy n="82" d="100"/>
        </p:scale>
        <p:origin x="120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50" Type="http://schemas.microsoft.com/office/2018/10/relationships/authors" Target="author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02983DD-E218-4F5B-97E6-73372FCDFB94}" type="datetimeFigureOut">
              <a:rPr lang="es-ES" smtClean="0"/>
              <a:t>17/07/2025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285FFF-AA8A-422F-901E-D94C39C8B224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2800835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285FFF-AA8A-422F-901E-D94C39C8B224}" type="slidenum">
              <a:rPr lang="es-ES" smtClean="0"/>
              <a:t>13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0624471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285FFF-AA8A-422F-901E-D94C39C8B224}" type="slidenum">
              <a:rPr lang="es-ES" smtClean="0"/>
              <a:t>19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3473895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43ECE9-B7C0-558C-DFD5-ED2DB9734D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C46D53EB-32BE-0162-E862-D2B86E24743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5BD399CB-4068-B36F-E4EE-11EA23231C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7F55B408-5CF0-F9EA-19C1-0C14EDA2723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285FFF-AA8A-422F-901E-D94C39C8B224}" type="slidenum">
              <a:rPr lang="es-ES" smtClean="0"/>
              <a:t>20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21104007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9A0863-D448-E9C8-3713-0B5CFCB60F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407FB442-828C-AE76-F148-980D2AEE675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F4AE7446-4695-93DD-A912-31F01CD750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C6914FCB-90AD-2E02-7705-F40B6080B1B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285FFF-AA8A-422F-901E-D94C39C8B224}" type="slidenum">
              <a:rPr lang="es-ES" smtClean="0"/>
              <a:t>25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7901476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8DAD94-0158-8CAB-91D9-52BDAFE79A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8F7E8ECE-EA24-3954-FB25-C2129596103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4503F959-63CD-34AE-1B2E-0A7FCA605D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4C8D4EB-2427-3376-5589-AB4DE910CEF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285FFF-AA8A-422F-901E-D94C39C8B224}" type="slidenum">
              <a:rPr lang="es-ES" smtClean="0"/>
              <a:t>26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8938298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285FFF-AA8A-422F-901E-D94C39C8B224}" type="slidenum">
              <a:rPr lang="es-ES" smtClean="0"/>
              <a:t>28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5773553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AD8B23-A54B-9135-E980-999D7BAE0E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E0033E05-D6E9-BF95-E726-E64CBFAA454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A2086062-BC85-60E3-0AE8-CD9B073137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B9E413E-0514-DE85-CDCB-9348544389F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285FFF-AA8A-422F-901E-D94C39C8B224}" type="slidenum">
              <a:rPr lang="es-ES" smtClean="0"/>
              <a:t>29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8286234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2E6042-EE08-341E-8F3C-8423A9AE12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A34CE9DD-C62B-34A9-8332-4D25265DEC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AAA4BEC5-40BD-4508-E6C0-866154BEF2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154C658F-B04D-B882-7DE6-DAA0F449C41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285FFF-AA8A-422F-901E-D94C39C8B224}" type="slidenum">
              <a:rPr lang="es-ES" smtClean="0"/>
              <a:t>30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2097800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DDFE64-8AE2-3B87-7546-152F3541DC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ECC6695C-A171-FD10-306F-D62444C37F9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9CBF29B5-31C5-DB27-6B02-05365060D3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A1C9848E-7D36-7513-5EAC-5B4F41A230E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285FFF-AA8A-422F-901E-D94C39C8B224}" type="slidenum">
              <a:rPr lang="es-ES" smtClean="0"/>
              <a:t>31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7014243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DFEF00-6B82-8F5A-C945-A09E5C5F9A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93148436-55A8-DDB5-3509-2F79579B6F6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B9A29234-E70F-FE86-0886-BCD5229F5D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54EF42A-E447-B9D4-722A-F0E5E2C748D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285FFF-AA8A-422F-901E-D94C39C8B224}" type="slidenum">
              <a:rPr lang="es-ES" smtClean="0"/>
              <a:t>32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3248783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C89FB9-4200-807F-339E-5D641189BF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384C0785-2B1C-8C71-FEDE-2A8431143A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D18D6763-F416-5CCF-ACA4-7636BF535C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B5BE7A7-58D3-D3CF-5341-CEACDA4A043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285FFF-AA8A-422F-901E-D94C39C8B224}" type="slidenum">
              <a:rPr lang="es-ES" smtClean="0"/>
              <a:t>33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01179942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0956D4-9570-0DAD-1187-A2E072C2BB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65DA9BA2-7363-D687-7216-A2344181F4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94016FC8-BA46-C3FA-D495-7F0C4E5BFF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29AE3E7D-73EF-E53C-5FD1-660AF787AAF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285FFF-AA8A-422F-901E-D94C39C8B224}" type="slidenum">
              <a:rPr lang="es-ES" smtClean="0"/>
              <a:t>34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8603697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B90250-3A64-0E66-1733-F313D9D4DB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43987B14-8E35-4C59-AAEC-0AE7DACB826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971D3F1B-AFD4-A5E7-B650-513DBD6F6F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2CF611E2-FDA4-FA72-9154-D9433F6D0FA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285FFF-AA8A-422F-901E-D94C39C8B224}" type="slidenum">
              <a:rPr lang="es-ES" smtClean="0"/>
              <a:t>35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0818752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11E000-4D3E-497D-4267-2AA8B787BB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A403AFD5-61ED-2CE6-EBA8-C92EAE66EC9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1925A137-A7AC-ED90-C8ED-20285F256D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2725625B-E6B7-9436-31E8-56E08BAB178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285FFF-AA8A-422F-901E-D94C39C8B224}" type="slidenum">
              <a:rPr lang="es-ES" smtClean="0"/>
              <a:t>36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09035912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FFD959-9B52-85EE-548F-E5967552EC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4E3B80D5-C571-8F99-AB8F-57B1511FCD8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55868661-B462-C3EB-2D5F-38B4275139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A6F0060-1A90-EF5A-5E66-F14377B7445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285FFF-AA8A-422F-901E-D94C39C8B224}" type="slidenum">
              <a:rPr lang="es-ES" smtClean="0"/>
              <a:t>37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642931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DDACC0-3F97-3DF7-79A8-B0FBC69A2F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A39138D8-384E-68C7-2A8B-A2B7A45885B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B24EADFE-4B01-CF78-86CA-DBBB7F5A2F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73DABD3C-6AF3-F8A0-8439-86B40714607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285FFF-AA8A-422F-901E-D94C39C8B224}" type="slidenum">
              <a:rPr lang="es-ES" smtClean="0"/>
              <a:t>38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2078172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04670D-B66E-CD2D-C675-B1E6644526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6FA68332-AF43-E0CE-3526-7DF31654311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62EB7C56-4434-69BF-326D-C968D49681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C3B4D3AD-25AE-76B9-DDE2-C61E216DC17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285FFF-AA8A-422F-901E-D94C39C8B224}" type="slidenum">
              <a:rPr lang="es-ES" smtClean="0"/>
              <a:t>39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5053167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0D6093-4778-8DEE-52A3-DDEF1E054B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A6276539-5D5C-C6C6-2238-D3A7DE8275F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F5C5D938-0591-BA05-7040-78AB12A3B8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4BDC18B9-5FE2-50C5-5B65-D0946DC7C55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285FFF-AA8A-422F-901E-D94C39C8B224}" type="slidenum">
              <a:rPr lang="es-ES" smtClean="0"/>
              <a:t>40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0715432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9AEE78-A7C1-8933-E9C6-EEED35176E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7AD78DE3-ED76-79B3-EDCF-307E7E98301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CB13050C-4B5C-8980-E28D-F1AAFB0ED7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A0FBEB3B-AC04-F0E0-A86E-A74F32C2185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285FFF-AA8A-422F-901E-D94C39C8B224}" type="slidenum">
              <a:rPr lang="es-ES" smtClean="0"/>
              <a:t>41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5403717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330405-03BC-BA28-9A0D-24AA5947EA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2921C0C6-807E-938D-9905-0C1D7A0C80D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A777784F-F6F9-4AC8-D9DC-7076A2EEF7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581741B-F274-FAAC-53C1-3EDF5CC2231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285FFF-AA8A-422F-901E-D94C39C8B224}" type="slidenum">
              <a:rPr lang="es-ES" smtClean="0"/>
              <a:t>42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935589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27640DE-EF5A-BF63-2E51-3F00BBC828B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06BF010-56F3-6C41-3ED4-6C6CD7B8672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7B884DF-EF45-3ED4-7FED-EDBF9117AA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302A3C-7F5D-464A-B794-A5CF9734955A}" type="datetimeFigureOut">
              <a:rPr lang="es-ES" smtClean="0"/>
              <a:t>17/07/2025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C4C811A-9D34-4AB3-450F-9DA4CF3A43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45F95F7-3C7B-946C-366A-49B0409368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A0A005-AA7D-412A-A4BC-0E346569C849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900993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EC9DE6E-BF0C-E652-3C51-49F5B25CC3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C9BD04C-625F-583F-FC5B-0B03DB01F3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CEC05C8-58D0-6801-9E5F-F0B2E40CE1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302A3C-7F5D-464A-B794-A5CF9734955A}" type="datetimeFigureOut">
              <a:rPr lang="es-ES" smtClean="0"/>
              <a:t>17/07/2025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383DC1A-F7D9-17B6-DD6B-F8340D3E5C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D60615A-9ABF-3407-3DD7-7F2A4626C6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A0A005-AA7D-412A-A4BC-0E346569C849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004926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ECD798C-EF3C-75D7-DF34-7D4C4274B3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B5D251F-D0F0-354A-F45F-27D2789AA6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ABC9AAB-A900-C82B-BE85-C8F402303E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302A3C-7F5D-464A-B794-A5CF9734955A}" type="datetimeFigureOut">
              <a:rPr lang="es-ES" smtClean="0"/>
              <a:t>17/07/2025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DCAC175-7E84-92B8-4A79-9CBAFDBDAD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C42F1AF-BA78-B1B5-EC60-FA0ADA4146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A0A005-AA7D-412A-A4BC-0E346569C849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760383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55D3BAE-9F26-0518-54AF-3E926C2C25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88A59CD-AFDE-1619-A608-CDEC2CDC6B1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9CCD51C-A4E4-C6A4-BBD0-93E4CAEB7E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0FF563BB-C9D2-279E-8859-0E3182017F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302A3C-7F5D-464A-B794-A5CF9734955A}" type="datetimeFigureOut">
              <a:rPr lang="es-ES" smtClean="0"/>
              <a:t>17/07/2025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014AD24-34FC-A14B-6E80-F6F63915C0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AA1E899-44E6-3273-3EE1-32945AC39F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A0A005-AA7D-412A-A4BC-0E346569C849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5246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2DDA15D-25C4-382E-22A7-81D0B7919A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58AE567-062B-49F4-8619-63F87A3975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6420789-F3FF-21AF-9D54-CD59B67513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771177D8-E0EE-7BD1-068F-C81B122CD15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AF8A0FCD-E226-F963-4F76-8996CB9B829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06CDC16D-2FED-2D12-3D08-D6F077A708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302A3C-7F5D-464A-B794-A5CF9734955A}" type="datetimeFigureOut">
              <a:rPr lang="es-ES" smtClean="0"/>
              <a:t>17/07/2025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EECFB62D-A51A-2454-4405-88CE76E5A3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8D74924C-DB70-2D03-5E1D-0C3DDF4CCB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A0A005-AA7D-412A-A4BC-0E346569C849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740696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C94F3FD-BF5F-164B-AAF7-98EC5A3E32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8937ECC9-AC2F-85D7-F049-98C88DF4AD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302A3C-7F5D-464A-B794-A5CF9734955A}" type="datetimeFigureOut">
              <a:rPr lang="es-ES" smtClean="0"/>
              <a:t>17/07/2025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9BC12025-51E5-6BB4-4D99-1EAD8C366D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8C52ADA6-2C6B-24C3-2868-EF4353B0BF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A0A005-AA7D-412A-A4BC-0E346569C849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100415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F36E515E-F511-61BB-3E91-09426519D1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302A3C-7F5D-464A-B794-A5CF9734955A}" type="datetimeFigureOut">
              <a:rPr lang="es-ES" smtClean="0"/>
              <a:t>17/07/2025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7C4634D0-27C9-95EF-3E84-BE4C1A275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14E3C35-4075-3D27-0B82-3A6CC319D2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A0A005-AA7D-412A-A4BC-0E346569C849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119444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A510776-5E34-0607-D69E-3EF7EC6E4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1EEC768-6F4D-C19A-89E0-6A794544B8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7435944C-60F6-AF2F-105B-501D425493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AEF41D29-352F-5057-8D57-E152E682A6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302A3C-7F5D-464A-B794-A5CF9734955A}" type="datetimeFigureOut">
              <a:rPr lang="es-ES" smtClean="0"/>
              <a:t>17/07/2025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5E0DC31-00EB-A127-3B45-7199844797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D5EF0AB-281F-DE3B-5B75-1EBA35933C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A0A005-AA7D-412A-A4BC-0E346569C849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352622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A2A6A52-845E-5021-3313-F13CB32E9B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C993D278-CC78-61F0-4FC8-993DFC68C9A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7383A53A-9C6B-26A9-6123-57B769CDCA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F633E21-3097-61E0-8610-BEF2D3E5D6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302A3C-7F5D-464A-B794-A5CF9734955A}" type="datetimeFigureOut">
              <a:rPr lang="es-ES" smtClean="0"/>
              <a:t>17/07/2025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F70A8BFE-DEEE-886A-DD29-0927196B8E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71C076B-F3BC-8A46-DF79-E64A30195E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A0A005-AA7D-412A-A4BC-0E346569C849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640130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6063C6-B53F-825E-64CB-3015916A2D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72F3F1A8-F0E5-5999-2539-3162C3A5E28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E91299C-664F-B1DC-502B-AACAA5B124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302A3C-7F5D-464A-B794-A5CF9734955A}" type="datetimeFigureOut">
              <a:rPr lang="es-ES" smtClean="0"/>
              <a:t>17/07/2025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DFE2D33-E41C-7A2D-954D-B7377B44C1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ED44EEB-61E8-1F17-C276-395DCEB357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A0A005-AA7D-412A-A4BC-0E346569C849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678281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A9C72534-2A4D-909F-7175-F0B6627FC6E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F12AD40B-7F62-DB1B-BC75-257EF759F4F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293092A-D1B6-2D0C-7F7C-F9B47D5150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302A3C-7F5D-464A-B794-A5CF9734955A}" type="datetimeFigureOut">
              <a:rPr lang="es-ES" smtClean="0"/>
              <a:t>17/07/2025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CF58730-2AEA-FFBD-4EB1-6446AC442A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009B5FE-8900-CDE3-A45F-9CE5E24B33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A0A005-AA7D-412A-A4BC-0E346569C849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4532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ED114144-76B6-9D89-6BFE-9EA6B51004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6FF20E2-1DD1-B589-89E2-410C47E23A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8F1B9EB-6037-B051-58F5-0FB73F7BA58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302A3C-7F5D-464A-B794-A5CF9734955A}" type="datetimeFigureOut">
              <a:rPr lang="es-ES" smtClean="0"/>
              <a:t>17/07/2025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EC72BF2-7511-AB6D-DE0B-5A6923A828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CF6153C-F5E0-E3A2-16A0-F50E144789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A0A005-AA7D-412A-A4BC-0E346569C849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736857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tiff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sv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svg"/><Relationship Id="rId5" Type="http://schemas.openxmlformats.org/officeDocument/2006/relationships/image" Target="../media/image16.png"/><Relationship Id="rId4" Type="http://schemas.openxmlformats.org/officeDocument/2006/relationships/image" Target="../media/image15.sv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sv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svg"/><Relationship Id="rId5" Type="http://schemas.openxmlformats.org/officeDocument/2006/relationships/image" Target="../media/image16.png"/><Relationship Id="rId4" Type="http://schemas.openxmlformats.org/officeDocument/2006/relationships/image" Target="../media/image15.sv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sv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svg"/><Relationship Id="rId5" Type="http://schemas.openxmlformats.org/officeDocument/2006/relationships/image" Target="../media/image16.png"/><Relationship Id="rId4" Type="http://schemas.openxmlformats.org/officeDocument/2006/relationships/image" Target="../media/image15.sv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0.png"/><Relationship Id="rId7" Type="http://schemas.openxmlformats.org/officeDocument/2006/relationships/image" Target="../media/image17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svg"/><Relationship Id="rId4" Type="http://schemas.openxmlformats.org/officeDocument/2006/relationships/image" Target="../media/image14.png"/><Relationship Id="rId9" Type="http://schemas.openxmlformats.org/officeDocument/2006/relationships/image" Target="../media/image19.sv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tiff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21.tiff"/><Relationship Id="rId7" Type="http://schemas.openxmlformats.org/officeDocument/2006/relationships/image" Target="../media/image25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23.svg"/><Relationship Id="rId4" Type="http://schemas.openxmlformats.org/officeDocument/2006/relationships/image" Target="../media/image22.png"/><Relationship Id="rId9" Type="http://schemas.openxmlformats.org/officeDocument/2006/relationships/image" Target="../media/image27.sv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tif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tif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tif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tif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2.tiff"/><Relationship Id="rId4" Type="http://schemas.openxmlformats.org/officeDocument/2006/relationships/image" Target="../media/image31.tiff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tif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2.tiff"/><Relationship Id="rId4" Type="http://schemas.openxmlformats.org/officeDocument/2006/relationships/image" Target="../media/image31.tiff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tif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tif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6.tiff"/><Relationship Id="rId4" Type="http://schemas.openxmlformats.org/officeDocument/2006/relationships/image" Target="../media/image35.tiff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tiff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tiff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tiff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0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tiff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tiff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2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tiff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tiff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tiff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8.tiff"/><Relationship Id="rId4" Type="http://schemas.openxmlformats.org/officeDocument/2006/relationships/image" Target="../media/image47.tiff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tiff"/><Relationship Id="rId2" Type="http://schemas.openxmlformats.org/officeDocument/2006/relationships/image" Target="../media/image49.tif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07D1276C-2F08-785C-87EC-6B990140D147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5735636"/>
          </a:xfrm>
          <a:prstGeom prst="rect">
            <a:avLst/>
          </a:prstGeom>
          <a:solidFill>
            <a:srgbClr val="218317"/>
          </a:solidFill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b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	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6B99B278-9C5A-620C-C671-715C2AA7A6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982404"/>
            <a:ext cx="9144000" cy="3188380"/>
          </a:xfrm>
        </p:spPr>
        <p:txBody>
          <a:bodyPr>
            <a:normAutofit/>
          </a:bodyPr>
          <a:lstStyle/>
          <a:p>
            <a:r>
              <a:rPr lang="es-ES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Preliminar </a:t>
            </a:r>
            <a:r>
              <a:rPr lang="es-ES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analyses</a:t>
            </a:r>
            <a:br>
              <a:rPr lang="es-ES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</a:br>
            <a:r>
              <a:rPr lang="es-ES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- </a:t>
            </a:r>
            <a:br>
              <a:rPr lang="es-ES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</a:br>
            <a:r>
              <a:rPr lang="es-ES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Figures</a:t>
            </a:r>
          </a:p>
        </p:txBody>
      </p:sp>
      <p:sp>
        <p:nvSpPr>
          <p:cNvPr id="5" name="Título 1">
            <a:extLst>
              <a:ext uri="{FF2B5EF4-FFF2-40B4-BE49-F238E27FC236}">
                <a16:creationId xmlns:a16="http://schemas.microsoft.com/office/drawing/2014/main" id="{D1217E08-3399-DFA2-1E05-836FE1C2F420}"/>
              </a:ext>
            </a:extLst>
          </p:cNvPr>
          <p:cNvSpPr txBox="1">
            <a:spLocks/>
          </p:cNvSpPr>
          <p:nvPr/>
        </p:nvSpPr>
        <p:spPr>
          <a:xfrm>
            <a:off x="1" y="5735636"/>
            <a:ext cx="12192000" cy="11223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3200" dirty="0" err="1">
                <a:latin typeface="Helvetica"/>
                <a:cs typeface="Helvetica"/>
              </a:rPr>
              <a:t>Chapter</a:t>
            </a:r>
            <a:r>
              <a:rPr lang="es-ES" sz="3200" dirty="0">
                <a:latin typeface="Helvetica"/>
                <a:cs typeface="Helvetica"/>
              </a:rPr>
              <a:t> 2: </a:t>
            </a:r>
            <a:r>
              <a:rPr lang="es-ES" sz="3200" dirty="0" err="1">
                <a:latin typeface="Helvetica"/>
                <a:cs typeface="Helvetica"/>
              </a:rPr>
              <a:t>assessing</a:t>
            </a:r>
            <a:r>
              <a:rPr lang="es-ES" sz="3200" dirty="0">
                <a:latin typeface="Helvetica"/>
                <a:cs typeface="Helvetica"/>
              </a:rPr>
              <a:t> individual </a:t>
            </a:r>
            <a:r>
              <a:rPr lang="es-ES" sz="3200" dirty="0" err="1">
                <a:latin typeface="Helvetica"/>
                <a:cs typeface="Helvetica"/>
              </a:rPr>
              <a:t>factors</a:t>
            </a:r>
            <a:r>
              <a:rPr lang="es-ES" sz="3200" dirty="0">
                <a:latin typeface="Helvetica"/>
                <a:cs typeface="Helvetica"/>
              </a:rPr>
              <a:t> </a:t>
            </a:r>
            <a:r>
              <a:rPr lang="es-ES" sz="3200" dirty="0" err="1">
                <a:latin typeface="Helvetica"/>
                <a:cs typeface="Helvetica"/>
              </a:rPr>
              <a:t>determining</a:t>
            </a:r>
            <a:r>
              <a:rPr lang="es-ES" sz="3200" dirty="0">
                <a:latin typeface="Helvetica"/>
                <a:cs typeface="Helvetica"/>
              </a:rPr>
              <a:t> </a:t>
            </a:r>
            <a:r>
              <a:rPr lang="es-ES" sz="3200" dirty="0" err="1">
                <a:latin typeface="Helvetica"/>
                <a:cs typeface="Helvetica"/>
              </a:rPr>
              <a:t>drought</a:t>
            </a:r>
            <a:r>
              <a:rPr lang="es-ES" sz="3200" dirty="0">
                <a:latin typeface="Helvetica"/>
                <a:cs typeface="Helvetica"/>
              </a:rPr>
              <a:t> </a:t>
            </a:r>
            <a:r>
              <a:rPr lang="es-ES" sz="3200" dirty="0" err="1">
                <a:latin typeface="Helvetica"/>
                <a:cs typeface="Helvetica"/>
              </a:rPr>
              <a:t>vulnerability</a:t>
            </a:r>
            <a:endParaRPr lang="es-ES" sz="3200" dirty="0">
              <a:latin typeface="Helvetica"/>
              <a:cs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16642136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54A987-8E48-280D-E7CC-510D650B5C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8" descr="Trees on the Edge: Understanding Douglas-fir Decline and Mortality in  Southwest Oregon | OSU Extension Service">
            <a:extLst>
              <a:ext uri="{FF2B5EF4-FFF2-40B4-BE49-F238E27FC236}">
                <a16:creationId xmlns:a16="http://schemas.microsoft.com/office/drawing/2014/main" id="{10367549-1026-C488-5876-09B6139F50B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451" b="15946"/>
          <a:stretch/>
        </p:blipFill>
        <p:spPr bwMode="auto">
          <a:xfrm>
            <a:off x="3054763" y="1749582"/>
            <a:ext cx="6082473" cy="33588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Marcador de contenido 2">
            <a:extLst>
              <a:ext uri="{FF2B5EF4-FFF2-40B4-BE49-F238E27FC236}">
                <a16:creationId xmlns:a16="http://schemas.microsoft.com/office/drawing/2014/main" id="{79781540-947F-806E-0694-E726A1E765ED}"/>
              </a:ext>
            </a:extLst>
          </p:cNvPr>
          <p:cNvSpPr txBox="1">
            <a:spLocks/>
          </p:cNvSpPr>
          <p:nvPr/>
        </p:nvSpPr>
        <p:spPr>
          <a:xfrm>
            <a:off x="153017" y="1019998"/>
            <a:ext cx="11709532" cy="133726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s-ES" sz="3200" err="1">
                <a:latin typeface="Helvetica"/>
                <a:cs typeface="Helvetica"/>
              </a:rPr>
              <a:t>It</a:t>
            </a:r>
            <a:r>
              <a:rPr lang="es-ES" sz="3200">
                <a:latin typeface="Helvetica"/>
                <a:cs typeface="Helvetica"/>
              </a:rPr>
              <a:t> </a:t>
            </a:r>
            <a:r>
              <a:rPr lang="es-ES" sz="3200" err="1">
                <a:latin typeface="Helvetica"/>
                <a:cs typeface="Helvetica"/>
              </a:rPr>
              <a:t>is</a:t>
            </a:r>
            <a:r>
              <a:rPr lang="es-ES" sz="3200">
                <a:latin typeface="Helvetica"/>
                <a:cs typeface="Helvetica"/>
              </a:rPr>
              <a:t> </a:t>
            </a:r>
            <a:r>
              <a:rPr lang="es-ES" sz="3200" err="1">
                <a:latin typeface="Helvetica"/>
                <a:cs typeface="Helvetica"/>
              </a:rPr>
              <a:t>hard</a:t>
            </a:r>
            <a:r>
              <a:rPr lang="es-ES" sz="3200">
                <a:latin typeface="Helvetica"/>
                <a:cs typeface="Helvetica"/>
              </a:rPr>
              <a:t> </a:t>
            </a:r>
            <a:r>
              <a:rPr lang="es-ES" sz="3200" err="1">
                <a:latin typeface="Helvetica"/>
                <a:cs typeface="Helvetica"/>
              </a:rPr>
              <a:t>to</a:t>
            </a:r>
            <a:r>
              <a:rPr lang="es-ES" sz="3200">
                <a:latin typeface="Helvetica"/>
                <a:cs typeface="Helvetica"/>
              </a:rPr>
              <a:t> </a:t>
            </a:r>
            <a:r>
              <a:rPr lang="es-ES" sz="3200" err="1">
                <a:latin typeface="Helvetica"/>
                <a:cs typeface="Helvetica"/>
              </a:rPr>
              <a:t>forecast</a:t>
            </a:r>
            <a:r>
              <a:rPr lang="es-ES" sz="3200">
                <a:latin typeface="Helvetica"/>
                <a:cs typeface="Helvetica"/>
              </a:rPr>
              <a:t> </a:t>
            </a:r>
            <a:r>
              <a:rPr lang="es-ES" sz="3200" err="1">
                <a:latin typeface="Helvetica"/>
                <a:cs typeface="Helvetica"/>
              </a:rPr>
              <a:t>drought-induced</a:t>
            </a:r>
            <a:r>
              <a:rPr lang="es-ES" sz="3200">
                <a:latin typeface="Helvetica"/>
                <a:cs typeface="Helvetica"/>
              </a:rPr>
              <a:t> die-back </a:t>
            </a:r>
            <a:r>
              <a:rPr lang="es-ES" sz="3200" err="1">
                <a:latin typeface="Helvetica"/>
                <a:cs typeface="Helvetica"/>
              </a:rPr>
              <a:t>events</a:t>
            </a:r>
            <a:endParaRPr lang="es-ES" sz="3200">
              <a:latin typeface="Helvetica"/>
              <a:cs typeface="Helvetica"/>
            </a:endParaRPr>
          </a:p>
        </p:txBody>
      </p:sp>
      <p:sp>
        <p:nvSpPr>
          <p:cNvPr id="14" name="Título 1">
            <a:extLst>
              <a:ext uri="{FF2B5EF4-FFF2-40B4-BE49-F238E27FC236}">
                <a16:creationId xmlns:a16="http://schemas.microsoft.com/office/drawing/2014/main" id="{B7F0C8A6-D36B-E2BB-A94E-FA9002271D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9690902" cy="804155"/>
          </a:xfrm>
          <a:solidFill>
            <a:srgbClr val="218317"/>
          </a:solidFill>
        </p:spPr>
        <p:txBody>
          <a:bodyPr>
            <a:normAutofit/>
          </a:bodyPr>
          <a:lstStyle/>
          <a:p>
            <a:r>
              <a:rPr lang="es-ES" sz="29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	</a:t>
            </a:r>
            <a:r>
              <a:rPr lang="es-ES" sz="29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Drought-induced</a:t>
            </a:r>
            <a:r>
              <a:rPr lang="es-ES" sz="29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9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tree</a:t>
            </a:r>
            <a:r>
              <a:rPr lang="es-ES" sz="29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9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mortality</a:t>
            </a:r>
            <a:endParaRPr lang="es-ES" sz="2900" b="1" dirty="0">
              <a:solidFill>
                <a:schemeClr val="bg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pic>
        <p:nvPicPr>
          <p:cNvPr id="2" name="Picture 2" descr="Original “death spiral” from Manion (1991) describing biotic and... |  Download Scientific Diagram">
            <a:extLst>
              <a:ext uri="{FF2B5EF4-FFF2-40B4-BE49-F238E27FC236}">
                <a16:creationId xmlns:a16="http://schemas.microsoft.com/office/drawing/2014/main" id="{ADD07D04-7217-3275-1F63-0E6BE590A4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7520" y="1858090"/>
            <a:ext cx="2672740" cy="32503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 descr="Dead Pine Tree – Photos Public Domain">
            <a:extLst>
              <a:ext uri="{FF2B5EF4-FFF2-40B4-BE49-F238E27FC236}">
                <a16:creationId xmlns:a16="http://schemas.microsoft.com/office/drawing/2014/main" id="{541BA644-CF11-0384-ABC7-D2AD6FE4C5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81930" y="3807466"/>
            <a:ext cx="1710612" cy="25659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Marcador de contenido 2">
            <a:extLst>
              <a:ext uri="{FF2B5EF4-FFF2-40B4-BE49-F238E27FC236}">
                <a16:creationId xmlns:a16="http://schemas.microsoft.com/office/drawing/2014/main" id="{A836884B-99ED-D5AD-864C-98C470AA9185}"/>
              </a:ext>
            </a:extLst>
          </p:cNvPr>
          <p:cNvSpPr txBox="1">
            <a:spLocks/>
          </p:cNvSpPr>
          <p:nvPr/>
        </p:nvSpPr>
        <p:spPr>
          <a:xfrm>
            <a:off x="10121175" y="3807466"/>
            <a:ext cx="2459409" cy="10517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s-ES" b="1">
                <a:latin typeface="Helvetica" panose="020B0604020202020204" pitchFamily="34" charset="0"/>
                <a:cs typeface="Helvetica" panose="020B0604020202020204" pitchFamily="34" charset="0"/>
              </a:rPr>
              <a:t>Individual </a:t>
            </a:r>
            <a:r>
              <a:rPr lang="es-ES" b="1" err="1">
                <a:latin typeface="Helvetica" panose="020B0604020202020204" pitchFamily="34" charset="0"/>
                <a:cs typeface="Helvetica" panose="020B0604020202020204" pitchFamily="34" charset="0"/>
              </a:rPr>
              <a:t>level</a:t>
            </a:r>
            <a:endParaRPr lang="es-ES" b="1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endParaRPr lang="es-ES" b="1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grpSp>
        <p:nvGrpSpPr>
          <p:cNvPr id="9" name="Grupo 8">
            <a:extLst>
              <a:ext uri="{FF2B5EF4-FFF2-40B4-BE49-F238E27FC236}">
                <a16:creationId xmlns:a16="http://schemas.microsoft.com/office/drawing/2014/main" id="{812A7CE1-B498-71BA-ACAB-F8AB56577FAD}"/>
              </a:ext>
            </a:extLst>
          </p:cNvPr>
          <p:cNvGrpSpPr/>
          <p:nvPr/>
        </p:nvGrpSpPr>
        <p:grpSpPr>
          <a:xfrm>
            <a:off x="6848359" y="4089754"/>
            <a:ext cx="1156529" cy="1538950"/>
            <a:chOff x="6527591" y="4904433"/>
            <a:chExt cx="1156529" cy="1538950"/>
          </a:xfrm>
        </p:grpSpPr>
        <p:sp>
          <p:nvSpPr>
            <p:cNvPr id="6" name="Triángulo isósceles 5">
              <a:extLst>
                <a:ext uri="{FF2B5EF4-FFF2-40B4-BE49-F238E27FC236}">
                  <a16:creationId xmlns:a16="http://schemas.microsoft.com/office/drawing/2014/main" id="{B01FFFBC-D897-9971-1EDB-E838FBF81A2A}"/>
                </a:ext>
              </a:extLst>
            </p:cNvPr>
            <p:cNvSpPr/>
            <p:nvPr/>
          </p:nvSpPr>
          <p:spPr>
            <a:xfrm rot="8499904">
              <a:off x="7235961" y="4996921"/>
              <a:ext cx="448159" cy="1446462"/>
            </a:xfrm>
            <a:prstGeom prst="triangle">
              <a:avLst/>
            </a:prstGeom>
            <a:solidFill>
              <a:srgbClr val="21831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8" name="Triángulo isósceles 7">
              <a:extLst>
                <a:ext uri="{FF2B5EF4-FFF2-40B4-BE49-F238E27FC236}">
                  <a16:creationId xmlns:a16="http://schemas.microsoft.com/office/drawing/2014/main" id="{C8B95656-D402-A8F4-31C2-DBEA3C25C88A}"/>
                </a:ext>
              </a:extLst>
            </p:cNvPr>
            <p:cNvSpPr/>
            <p:nvPr/>
          </p:nvSpPr>
          <p:spPr>
            <a:xfrm rot="19291684">
              <a:off x="6527591" y="4904433"/>
              <a:ext cx="878698" cy="371984"/>
            </a:xfrm>
            <a:prstGeom prst="triangle">
              <a:avLst/>
            </a:prstGeom>
            <a:solidFill>
              <a:srgbClr val="21831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  <p:sp>
        <p:nvSpPr>
          <p:cNvPr id="13" name="Marcador de contenido 2">
            <a:extLst>
              <a:ext uri="{FF2B5EF4-FFF2-40B4-BE49-F238E27FC236}">
                <a16:creationId xmlns:a16="http://schemas.microsoft.com/office/drawing/2014/main" id="{6DDD3D6A-02B8-AC23-3DE9-25BF6BF2B355}"/>
              </a:ext>
            </a:extLst>
          </p:cNvPr>
          <p:cNvSpPr txBox="1">
            <a:spLocks/>
          </p:cNvSpPr>
          <p:nvPr/>
        </p:nvSpPr>
        <p:spPr>
          <a:xfrm>
            <a:off x="3054763" y="5509923"/>
            <a:ext cx="6027576" cy="68430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s-ES" b="1" err="1">
                <a:latin typeface="Helvetica" panose="020B0604020202020204" pitchFamily="34" charset="0"/>
                <a:cs typeface="Helvetica" panose="020B0604020202020204" pitchFamily="34" charset="0"/>
              </a:rPr>
              <a:t>Early-warning</a:t>
            </a:r>
            <a:r>
              <a:rPr lang="es-ES" b="1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b="1" err="1">
                <a:latin typeface="Helvetica" panose="020B0604020202020204" pitchFamily="34" charset="0"/>
                <a:cs typeface="Helvetica" panose="020B0604020202020204" pitchFamily="34" charset="0"/>
              </a:rPr>
              <a:t>signals</a:t>
            </a:r>
            <a:r>
              <a:rPr lang="es-ES" b="1">
                <a:latin typeface="Helvetica" panose="020B0604020202020204" pitchFamily="34" charset="0"/>
                <a:cs typeface="Helvetica" panose="020B0604020202020204" pitchFamily="34" charset="0"/>
              </a:rPr>
              <a:t>?</a:t>
            </a:r>
          </a:p>
          <a:p>
            <a:endParaRPr lang="es-ES" b="1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0" name="Título 1">
            <a:extLst>
              <a:ext uri="{FF2B5EF4-FFF2-40B4-BE49-F238E27FC236}">
                <a16:creationId xmlns:a16="http://schemas.microsoft.com/office/drawing/2014/main" id="{862230E7-0412-0DD2-A63D-F97F4A5F3604}"/>
              </a:ext>
            </a:extLst>
          </p:cNvPr>
          <p:cNvSpPr txBox="1">
            <a:spLocks/>
          </p:cNvSpPr>
          <p:nvPr/>
        </p:nvSpPr>
        <p:spPr>
          <a:xfrm>
            <a:off x="9690902" y="-1"/>
            <a:ext cx="2501098" cy="804157"/>
          </a:xfrm>
          <a:prstGeom prst="rect">
            <a:avLst/>
          </a:prstGeom>
          <a:solidFill>
            <a:srgbClr val="218317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ES" sz="2800" b="1" dirty="0" err="1">
                <a:solidFill>
                  <a:schemeClr val="accent6">
                    <a:lumMod val="60000"/>
                    <a:lumOff val="4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Introduction</a:t>
            </a:r>
            <a:r>
              <a:rPr lang="es-ES" sz="2800" b="1" dirty="0">
                <a:solidFill>
                  <a:srgbClr val="218317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1191011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26B4A0-35BD-216E-20B8-00F98CCD1C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>
            <a:extLst>
              <a:ext uri="{FF2B5EF4-FFF2-40B4-BE49-F238E27FC236}">
                <a16:creationId xmlns:a16="http://schemas.microsoft.com/office/drawing/2014/main" id="{19DE75C5-D846-9CB9-4570-565DEB5FDA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88915" y="1477262"/>
            <a:ext cx="9366245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kumimoji="0" lang="es-ES" altLang="es-E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altLang="es-E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9068E0E6-B03E-37E1-938B-1E01F441BECF}"/>
              </a:ext>
            </a:extLst>
          </p:cNvPr>
          <p:cNvSpPr txBox="1">
            <a:spLocks/>
          </p:cNvSpPr>
          <p:nvPr/>
        </p:nvSpPr>
        <p:spPr>
          <a:xfrm>
            <a:off x="418288" y="1140469"/>
            <a:ext cx="5136205" cy="646331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Clr>
                <a:srgbClr val="218317"/>
              </a:buClr>
              <a:buNone/>
            </a:pPr>
            <a:r>
              <a:rPr lang="es-ES" sz="3200" b="1" dirty="0" err="1">
                <a:latin typeface="Helvetica"/>
                <a:cs typeface="Helvetica"/>
              </a:rPr>
              <a:t>Mortality</a:t>
            </a:r>
            <a:r>
              <a:rPr lang="es-ES" sz="3200" b="1" dirty="0">
                <a:latin typeface="Helvetica"/>
                <a:cs typeface="Helvetica"/>
              </a:rPr>
              <a:t> </a:t>
            </a:r>
            <a:r>
              <a:rPr lang="es-ES" sz="3200" b="1" dirty="0" err="1">
                <a:latin typeface="Helvetica"/>
                <a:cs typeface="Helvetica"/>
              </a:rPr>
              <a:t>is</a:t>
            </a:r>
            <a:r>
              <a:rPr lang="es-ES" sz="3200" b="1" dirty="0">
                <a:latin typeface="Helvetica"/>
                <a:cs typeface="Helvetica"/>
              </a:rPr>
              <a:t> a </a:t>
            </a:r>
            <a:r>
              <a:rPr lang="es-ES" sz="3200" b="1" dirty="0" err="1">
                <a:latin typeface="Helvetica"/>
                <a:cs typeface="Helvetica"/>
              </a:rPr>
              <a:t>slow</a:t>
            </a:r>
            <a:r>
              <a:rPr lang="es-ES" sz="3200" b="1" dirty="0">
                <a:latin typeface="Helvetica"/>
                <a:cs typeface="Helvetica"/>
              </a:rPr>
              <a:t> </a:t>
            </a:r>
            <a:r>
              <a:rPr lang="es-ES" sz="3200" b="1" dirty="0" err="1">
                <a:latin typeface="Helvetica"/>
                <a:cs typeface="Helvetica"/>
              </a:rPr>
              <a:t>process</a:t>
            </a:r>
            <a:endParaRPr lang="es-ES" dirty="0">
              <a:latin typeface="Helvetica"/>
              <a:cs typeface="Helvetica"/>
              <a:sym typeface="Wingdings" panose="05000000000000000000" pitchFamily="2" charset="2"/>
            </a:endParaRPr>
          </a:p>
          <a:p>
            <a:pPr algn="just">
              <a:buClr>
                <a:srgbClr val="218317"/>
              </a:buClr>
            </a:pPr>
            <a:endParaRPr lang="es-ES" b="1" dirty="0">
              <a:latin typeface="Helvetica"/>
              <a:cs typeface="Helvetica"/>
              <a:sym typeface="Wingdings" panose="05000000000000000000" pitchFamily="2" charset="2"/>
            </a:endParaRPr>
          </a:p>
          <a:p>
            <a:pPr algn="just">
              <a:buClr>
                <a:srgbClr val="218317"/>
              </a:buClr>
            </a:pPr>
            <a:endParaRPr lang="es-ES" b="1" dirty="0">
              <a:latin typeface="Helvetica"/>
              <a:cs typeface="Helvetica"/>
            </a:endParaRPr>
          </a:p>
          <a:p>
            <a:pPr marL="0" indent="0" algn="ctr">
              <a:buClr>
                <a:srgbClr val="218317"/>
              </a:buClr>
              <a:buNone/>
            </a:pPr>
            <a:endParaRPr lang="es-ES" b="1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lvl="1" algn="ctr">
              <a:buClr>
                <a:srgbClr val="218317"/>
              </a:buClr>
              <a:buFont typeface="Calibri" panose="02070309020205020404" pitchFamily="49" charset="0"/>
              <a:buChar char="-"/>
            </a:pPr>
            <a:endParaRPr lang="es-ES" sz="2800" b="1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algn="ctr"/>
            <a:endParaRPr lang="es-ES" sz="3200" b="1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7" name="TextBox 16">
            <a:extLst>
              <a:ext uri="{FF2B5EF4-FFF2-40B4-BE49-F238E27FC236}">
                <a16:creationId xmlns:a16="http://schemas.microsoft.com/office/drawing/2014/main" id="{7E7F35B5-4E0E-15FE-694B-D1B8681A02A3}"/>
              </a:ext>
            </a:extLst>
          </p:cNvPr>
          <p:cNvSpPr txBox="1"/>
          <p:nvPr/>
        </p:nvSpPr>
        <p:spPr>
          <a:xfrm>
            <a:off x="418288" y="2691679"/>
            <a:ext cx="7098556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218317"/>
              </a:buClr>
              <a:buFont typeface="Arial" panose="020B0604020202020204" pitchFamily="34" charset="0"/>
              <a:buChar char="•"/>
            </a:pPr>
            <a:r>
              <a:rPr lang="es-ES" sz="24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Predisposing</a:t>
            </a:r>
            <a:r>
              <a:rPr lang="es-ES" sz="2400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4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factors</a:t>
            </a:r>
            <a:r>
              <a:rPr lang="es-ES" sz="2400" b="1" dirty="0">
                <a:latin typeface="Helvetica" panose="020B0604020202020204" pitchFamily="34" charset="0"/>
                <a:cs typeface="Helvetica" panose="020B0604020202020204" pitchFamily="34" charset="0"/>
              </a:rPr>
              <a:t>: explicarlos</a:t>
            </a:r>
          </a:p>
          <a:p>
            <a:pPr marL="342900" indent="-342900">
              <a:buClr>
                <a:srgbClr val="218317"/>
              </a:buClr>
              <a:buFont typeface="Arial" panose="020B0604020202020204" pitchFamily="34" charset="0"/>
              <a:buChar char="•"/>
            </a:pPr>
            <a:endParaRPr lang="es-ES" sz="2400" b="1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342900" indent="-342900">
              <a:buClr>
                <a:srgbClr val="218317"/>
              </a:buClr>
              <a:buFont typeface="Arial" panose="020B0604020202020204" pitchFamily="34" charset="0"/>
              <a:buChar char="•"/>
            </a:pPr>
            <a:r>
              <a:rPr lang="es-ES" sz="24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Inciting</a:t>
            </a:r>
            <a:r>
              <a:rPr lang="es-ES" sz="2400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4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factors</a:t>
            </a:r>
            <a:endParaRPr lang="es-ES" sz="2400" b="1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342900" indent="-342900">
              <a:buClr>
                <a:srgbClr val="218317"/>
              </a:buClr>
              <a:buFont typeface="Arial" panose="020B0604020202020204" pitchFamily="34" charset="0"/>
              <a:buChar char="•"/>
            </a:pPr>
            <a:endParaRPr lang="es-ES" sz="2400" b="1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342900" indent="-342900">
              <a:buClr>
                <a:srgbClr val="218317"/>
              </a:buClr>
              <a:buFont typeface="Arial" panose="020B0604020202020204" pitchFamily="34" charset="0"/>
              <a:buChar char="•"/>
            </a:pPr>
            <a:r>
              <a:rPr lang="es-ES" sz="24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Contributing</a:t>
            </a:r>
            <a:r>
              <a:rPr lang="es-ES" sz="2400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4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factors</a:t>
            </a:r>
            <a:endParaRPr lang="es-ES" sz="2400" b="1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>
              <a:buClr>
                <a:srgbClr val="218317"/>
              </a:buClr>
            </a:pPr>
            <a:endParaRPr lang="es-ES" sz="2400" b="1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pic>
        <p:nvPicPr>
          <p:cNvPr id="12" name="Picture 2" descr="Original “death spiral” from Manion (1991) describing biotic ...">
            <a:extLst>
              <a:ext uri="{FF2B5EF4-FFF2-40B4-BE49-F238E27FC236}">
                <a16:creationId xmlns:a16="http://schemas.microsoft.com/office/drawing/2014/main" id="{CA1CA5A4-9864-80A9-A20B-0A47A8F769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33055" y="1226789"/>
            <a:ext cx="3643597" cy="4432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ítulo 1">
            <a:extLst>
              <a:ext uri="{FF2B5EF4-FFF2-40B4-BE49-F238E27FC236}">
                <a16:creationId xmlns:a16="http://schemas.microsoft.com/office/drawing/2014/main" id="{8A74FF43-BF03-F0CD-F5D9-41F5B265DAA4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9690902" cy="804155"/>
          </a:xfrm>
          <a:prstGeom prst="rect">
            <a:avLst/>
          </a:prstGeom>
          <a:solidFill>
            <a:srgbClr val="218317"/>
          </a:solidFill>
        </p:spPr>
        <p:txBody>
          <a:bodyPr vert="horz" lIns="91440" tIns="45720" rIns="91440" bIns="45720" rtlCol="0" anchor="ctr">
            <a:normAutofit fontScale="9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3200" b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	Complementary strategies to cope with drought</a:t>
            </a:r>
            <a:endParaRPr lang="es-ES" sz="3200" b="1" dirty="0">
              <a:solidFill>
                <a:schemeClr val="bg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0" name="Título 1">
            <a:extLst>
              <a:ext uri="{FF2B5EF4-FFF2-40B4-BE49-F238E27FC236}">
                <a16:creationId xmlns:a16="http://schemas.microsoft.com/office/drawing/2014/main" id="{C3F98B51-8B48-9C7B-21F1-01DBA31BDCE0}"/>
              </a:ext>
            </a:extLst>
          </p:cNvPr>
          <p:cNvSpPr txBox="1">
            <a:spLocks/>
          </p:cNvSpPr>
          <p:nvPr/>
        </p:nvSpPr>
        <p:spPr>
          <a:xfrm>
            <a:off x="9690902" y="-1"/>
            <a:ext cx="2501098" cy="804157"/>
          </a:xfrm>
          <a:prstGeom prst="rect">
            <a:avLst/>
          </a:prstGeom>
          <a:solidFill>
            <a:srgbClr val="218317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ES" sz="2800" b="1" dirty="0" err="1">
                <a:solidFill>
                  <a:schemeClr val="accent6">
                    <a:lumMod val="60000"/>
                    <a:lumOff val="4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Introduction</a:t>
            </a:r>
            <a:r>
              <a:rPr lang="es-ES" sz="2800" b="1" dirty="0">
                <a:solidFill>
                  <a:srgbClr val="218317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87623F2-A5CB-27A8-DF3B-CA8CB960913E}"/>
              </a:ext>
            </a:extLst>
          </p:cNvPr>
          <p:cNvSpPr txBox="1"/>
          <p:nvPr/>
        </p:nvSpPr>
        <p:spPr>
          <a:xfrm>
            <a:off x="-1068420" y="1951687"/>
            <a:ext cx="732979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Clr>
                <a:srgbClr val="218317"/>
              </a:buClr>
            </a:pP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Dieoff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is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triggered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by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inciting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factors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:</a:t>
            </a:r>
            <a:endParaRPr lang="es-ES" sz="24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300765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A99274-CBE0-DECC-FA46-30DB84BB82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>
            <a:extLst>
              <a:ext uri="{FF2B5EF4-FFF2-40B4-BE49-F238E27FC236}">
                <a16:creationId xmlns:a16="http://schemas.microsoft.com/office/drawing/2014/main" id="{DC644016-CEE2-DABD-FC24-EA11B980B6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88915" y="1477262"/>
            <a:ext cx="9366245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kumimoji="0" lang="es-ES" altLang="es-E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altLang="es-E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Título 1">
            <a:extLst>
              <a:ext uri="{FF2B5EF4-FFF2-40B4-BE49-F238E27FC236}">
                <a16:creationId xmlns:a16="http://schemas.microsoft.com/office/drawing/2014/main" id="{5C1AF615-C739-F6DE-958A-120B7EB7C4DD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9690902" cy="804155"/>
          </a:xfrm>
          <a:prstGeom prst="rect">
            <a:avLst/>
          </a:prstGeom>
          <a:solidFill>
            <a:srgbClr val="218317"/>
          </a:solidFill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	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Predisposing</a:t>
            </a:r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factors</a:t>
            </a:r>
            <a:endParaRPr lang="es-ES" sz="3200" b="1" dirty="0">
              <a:solidFill>
                <a:schemeClr val="bg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0" name="Título 1">
            <a:extLst>
              <a:ext uri="{FF2B5EF4-FFF2-40B4-BE49-F238E27FC236}">
                <a16:creationId xmlns:a16="http://schemas.microsoft.com/office/drawing/2014/main" id="{04614286-7057-553A-2372-1BD6E5281623}"/>
              </a:ext>
            </a:extLst>
          </p:cNvPr>
          <p:cNvSpPr txBox="1">
            <a:spLocks/>
          </p:cNvSpPr>
          <p:nvPr/>
        </p:nvSpPr>
        <p:spPr>
          <a:xfrm>
            <a:off x="9690902" y="-1"/>
            <a:ext cx="2501098" cy="804157"/>
          </a:xfrm>
          <a:prstGeom prst="rect">
            <a:avLst/>
          </a:prstGeom>
          <a:solidFill>
            <a:srgbClr val="218317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ES" sz="2800" b="1" dirty="0" err="1">
                <a:solidFill>
                  <a:schemeClr val="accent6">
                    <a:lumMod val="60000"/>
                    <a:lumOff val="4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Introduction</a:t>
            </a:r>
            <a:r>
              <a:rPr lang="es-ES" sz="2800" b="1" dirty="0">
                <a:solidFill>
                  <a:srgbClr val="218317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.</a:t>
            </a:r>
          </a:p>
        </p:txBody>
      </p:sp>
      <p:pic>
        <p:nvPicPr>
          <p:cNvPr id="1026" name="Picture 2" descr="Pinus palustris">
            <a:extLst>
              <a:ext uri="{FF2B5EF4-FFF2-40B4-BE49-F238E27FC236}">
                <a16:creationId xmlns:a16="http://schemas.microsoft.com/office/drawing/2014/main" id="{9B907A0D-4EE3-08F6-CE61-94DABF9000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0773" y="982244"/>
            <a:ext cx="868869" cy="21848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2" descr="Pinus palustris">
            <a:extLst>
              <a:ext uri="{FF2B5EF4-FFF2-40B4-BE49-F238E27FC236}">
                <a16:creationId xmlns:a16="http://schemas.microsoft.com/office/drawing/2014/main" id="{3847E82B-50DE-48FB-7E87-E95A8BC8A4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60043" y="1922596"/>
            <a:ext cx="489343" cy="12304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TextBox 16">
            <a:extLst>
              <a:ext uri="{FF2B5EF4-FFF2-40B4-BE49-F238E27FC236}">
                <a16:creationId xmlns:a16="http://schemas.microsoft.com/office/drawing/2014/main" id="{DDA02E65-002C-7D7C-E12B-4EB3107CC111}"/>
              </a:ext>
            </a:extLst>
          </p:cNvPr>
          <p:cNvSpPr txBox="1"/>
          <p:nvPr/>
        </p:nvSpPr>
        <p:spPr>
          <a:xfrm>
            <a:off x="1942647" y="1129004"/>
            <a:ext cx="25115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218317"/>
              </a:buClr>
            </a:pPr>
            <a:r>
              <a:rPr lang="es-ES" sz="20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Tree</a:t>
            </a:r>
            <a:r>
              <a:rPr lang="es-ES" sz="2000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size</a:t>
            </a:r>
            <a:endParaRPr lang="es-ES" sz="2000" b="1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7CB7B09-9454-F6E7-308E-40514B993F0F}"/>
              </a:ext>
            </a:extLst>
          </p:cNvPr>
          <p:cNvSpPr txBox="1"/>
          <p:nvPr/>
        </p:nvSpPr>
        <p:spPr>
          <a:xfrm>
            <a:off x="1942646" y="1762906"/>
            <a:ext cx="219160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lr>
                <a:srgbClr val="218317"/>
              </a:buClr>
            </a:pP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Hydraulic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resistance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increases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with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height</a:t>
            </a:r>
            <a:endParaRPr lang="es-ES" sz="20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pic>
        <p:nvPicPr>
          <p:cNvPr id="1028" name="Picture 4" descr="Pinus sylvestris">
            <a:extLst>
              <a:ext uri="{FF2B5EF4-FFF2-40B4-BE49-F238E27FC236}">
                <a16:creationId xmlns:a16="http://schemas.microsoft.com/office/drawing/2014/main" id="{C418E34D-5DE8-56D5-5624-201429A4BE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0773" y="4251734"/>
            <a:ext cx="506218" cy="12517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4" descr="Pinus sylvestris">
            <a:extLst>
              <a:ext uri="{FF2B5EF4-FFF2-40B4-BE49-F238E27FC236}">
                <a16:creationId xmlns:a16="http://schemas.microsoft.com/office/drawing/2014/main" id="{6E381409-F3C2-BCFE-4086-0B9F92C764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824044" y="3982012"/>
            <a:ext cx="655330" cy="16205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Picture 4" descr="Pinus sylvestris">
            <a:extLst>
              <a:ext uri="{FF2B5EF4-FFF2-40B4-BE49-F238E27FC236}">
                <a16:creationId xmlns:a16="http://schemas.microsoft.com/office/drawing/2014/main" id="{09EA2DA3-2B61-1F95-09F8-F511E1755C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1403452" y="4276876"/>
            <a:ext cx="497603" cy="12304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6030EE4D-C8FC-F0F5-5E85-5FF5020AE75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27294" y="1367905"/>
            <a:ext cx="1525894" cy="1525894"/>
          </a:xfrm>
          <a:prstGeom prst="rect">
            <a:avLst/>
          </a:prstGeom>
        </p:spPr>
      </p:pic>
      <p:sp>
        <p:nvSpPr>
          <p:cNvPr id="29" name="TextBox 16">
            <a:extLst>
              <a:ext uri="{FF2B5EF4-FFF2-40B4-BE49-F238E27FC236}">
                <a16:creationId xmlns:a16="http://schemas.microsoft.com/office/drawing/2014/main" id="{A99635C0-D633-5B2F-EFFA-68B4DBBCD319}"/>
              </a:ext>
            </a:extLst>
          </p:cNvPr>
          <p:cNvSpPr txBox="1"/>
          <p:nvPr/>
        </p:nvSpPr>
        <p:spPr>
          <a:xfrm>
            <a:off x="1942647" y="3982012"/>
            <a:ext cx="25115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218317"/>
              </a:buClr>
            </a:pPr>
            <a:r>
              <a:rPr lang="es-ES" sz="20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Competition</a:t>
            </a:r>
            <a:endParaRPr lang="es-ES" sz="2000" b="1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FF4AB7A-BE96-47AE-F5A1-D571840CC777}"/>
              </a:ext>
            </a:extLst>
          </p:cNvPr>
          <p:cNvSpPr txBox="1"/>
          <p:nvPr/>
        </p:nvSpPr>
        <p:spPr>
          <a:xfrm>
            <a:off x="1942646" y="4615914"/>
            <a:ext cx="226943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lr>
                <a:srgbClr val="218317"/>
              </a:buClr>
            </a:pP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Competition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reduces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resource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availability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per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tree</a:t>
            </a:r>
            <a:endParaRPr lang="es-ES" sz="20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pic>
        <p:nvPicPr>
          <p:cNvPr id="1032" name="Picture 8" descr="Pinus pinaster">
            <a:extLst>
              <a:ext uri="{FF2B5EF4-FFF2-40B4-BE49-F238E27FC236}">
                <a16:creationId xmlns:a16="http://schemas.microsoft.com/office/drawing/2014/main" id="{3A580FF9-B536-C693-5120-925331402C5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1238"/>
          <a:stretch>
            <a:fillRect/>
          </a:stretch>
        </p:blipFill>
        <p:spPr bwMode="auto">
          <a:xfrm>
            <a:off x="4675349" y="4056075"/>
            <a:ext cx="756536" cy="13654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Cedrus libani">
            <a:extLst>
              <a:ext uri="{FF2B5EF4-FFF2-40B4-BE49-F238E27FC236}">
                <a16:creationId xmlns:a16="http://schemas.microsoft.com/office/drawing/2014/main" id="{4309878E-FD69-8EF8-E051-1556F6ACE54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6102"/>
          <a:stretch>
            <a:fillRect/>
          </a:stretch>
        </p:blipFill>
        <p:spPr bwMode="auto">
          <a:xfrm>
            <a:off x="5263911" y="4005556"/>
            <a:ext cx="1914514" cy="13507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2" name="TextBox 16">
            <a:extLst>
              <a:ext uri="{FF2B5EF4-FFF2-40B4-BE49-F238E27FC236}">
                <a16:creationId xmlns:a16="http://schemas.microsoft.com/office/drawing/2014/main" id="{0AF93F60-1725-78BB-D8A1-252EA8AE192B}"/>
              </a:ext>
            </a:extLst>
          </p:cNvPr>
          <p:cNvSpPr txBox="1"/>
          <p:nvPr/>
        </p:nvSpPr>
        <p:spPr>
          <a:xfrm>
            <a:off x="7294904" y="3928553"/>
            <a:ext cx="25115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218317"/>
              </a:buClr>
            </a:pPr>
            <a:r>
              <a:rPr lang="es-ES" sz="2000" b="1" dirty="0">
                <a:latin typeface="Helvetica" panose="020B0604020202020204" pitchFamily="34" charset="0"/>
                <a:cs typeface="Helvetica" panose="020B0604020202020204" pitchFamily="34" charset="0"/>
              </a:rPr>
              <a:t>Age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14A932C-7F7F-1DDB-41B5-1B8493A8F80D}"/>
              </a:ext>
            </a:extLst>
          </p:cNvPr>
          <p:cNvSpPr txBox="1"/>
          <p:nvPr/>
        </p:nvSpPr>
        <p:spPr>
          <a:xfrm>
            <a:off x="7294903" y="4562455"/>
            <a:ext cx="2269431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lr>
                <a:srgbClr val="218317"/>
              </a:buClr>
            </a:pP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Photosynthetic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efficiency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decreases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with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age</a:t>
            </a:r>
            <a:endParaRPr lang="es-ES" sz="20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34" name="TextBox 16">
            <a:extLst>
              <a:ext uri="{FF2B5EF4-FFF2-40B4-BE49-F238E27FC236}">
                <a16:creationId xmlns:a16="http://schemas.microsoft.com/office/drawing/2014/main" id="{9A9FD9C5-3D34-48D0-E1EA-D2BDF89220C6}"/>
              </a:ext>
            </a:extLst>
          </p:cNvPr>
          <p:cNvSpPr txBox="1"/>
          <p:nvPr/>
        </p:nvSpPr>
        <p:spPr>
          <a:xfrm>
            <a:off x="8054619" y="1128182"/>
            <a:ext cx="25115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218317"/>
              </a:buClr>
            </a:pPr>
            <a:r>
              <a:rPr lang="es-ES" sz="20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Resilience</a:t>
            </a:r>
            <a:endParaRPr lang="es-ES" sz="2000" b="1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A36E12E-E1E3-59D7-9203-B64E6C49D2C5}"/>
              </a:ext>
            </a:extLst>
          </p:cNvPr>
          <p:cNvSpPr txBox="1"/>
          <p:nvPr/>
        </p:nvSpPr>
        <p:spPr>
          <a:xfrm>
            <a:off x="8054618" y="1762084"/>
            <a:ext cx="3706609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lr>
                <a:srgbClr val="218317"/>
              </a:buClr>
            </a:pPr>
            <a:r>
              <a:rPr lang="es-ES" dirty="0">
                <a:solidFill>
                  <a:srgbClr val="FF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Seguimos considerando </a:t>
            </a:r>
            <a:r>
              <a:rPr lang="es-ES" dirty="0" err="1">
                <a:solidFill>
                  <a:srgbClr val="FF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Rs</a:t>
            </a:r>
            <a:r>
              <a:rPr lang="es-ES" dirty="0">
                <a:solidFill>
                  <a:srgbClr val="FF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 err="1">
                <a:solidFill>
                  <a:srgbClr val="FF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predisposing</a:t>
            </a:r>
            <a:r>
              <a:rPr lang="es-ES" dirty="0">
                <a:solidFill>
                  <a:srgbClr val="FF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? No sabemos cuándo comenzó el decaimiento. </a:t>
            </a:r>
            <a:r>
              <a:rPr lang="es-ES" dirty="0" err="1">
                <a:solidFill>
                  <a:srgbClr val="FF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Same</a:t>
            </a:r>
            <a:r>
              <a:rPr lang="es-ES" dirty="0">
                <a:solidFill>
                  <a:srgbClr val="FF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con </a:t>
            </a:r>
            <a:r>
              <a:rPr lang="es-ES" dirty="0" err="1">
                <a:solidFill>
                  <a:srgbClr val="FF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former</a:t>
            </a:r>
            <a:r>
              <a:rPr lang="es-ES" dirty="0">
                <a:solidFill>
                  <a:srgbClr val="FF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 err="1">
                <a:solidFill>
                  <a:srgbClr val="FF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growth</a:t>
            </a:r>
            <a:r>
              <a:rPr lang="es-ES" dirty="0">
                <a:solidFill>
                  <a:srgbClr val="FF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. ANTONIO</a:t>
            </a:r>
            <a:endParaRPr lang="es-ES" sz="2000" dirty="0">
              <a:solidFill>
                <a:srgbClr val="FF0000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36" name="TextBox 16">
            <a:extLst>
              <a:ext uri="{FF2B5EF4-FFF2-40B4-BE49-F238E27FC236}">
                <a16:creationId xmlns:a16="http://schemas.microsoft.com/office/drawing/2014/main" id="{450D5F18-EAA7-4EBD-B059-0EB79B3C6FFA}"/>
              </a:ext>
            </a:extLst>
          </p:cNvPr>
          <p:cNvSpPr txBox="1"/>
          <p:nvPr/>
        </p:nvSpPr>
        <p:spPr>
          <a:xfrm>
            <a:off x="4134255" y="1142623"/>
            <a:ext cx="219160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buClr>
                <a:srgbClr val="218317"/>
              </a:buClr>
            </a:pPr>
            <a:r>
              <a:rPr lang="es-ES" sz="20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Former</a:t>
            </a:r>
            <a:r>
              <a:rPr lang="es-ES" sz="2000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growth</a:t>
            </a:r>
            <a:endParaRPr lang="es-ES" sz="2000" b="1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AC161D4E-5245-A6EC-1EF7-7FEBAEF83F5D}"/>
              </a:ext>
            </a:extLst>
          </p:cNvPr>
          <p:cNvSpPr txBox="1"/>
          <p:nvPr/>
        </p:nvSpPr>
        <p:spPr>
          <a:xfrm>
            <a:off x="4134254" y="1776525"/>
            <a:ext cx="219160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buClr>
                <a:srgbClr val="218317"/>
              </a:buClr>
            </a:pP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High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growth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rates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allow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trees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to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build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large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C reserves</a:t>
            </a:r>
            <a:endParaRPr lang="es-ES" sz="20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691406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4F1E34-A69D-DADA-E287-034C7886D8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9654471-27AA-762D-935F-08C20B449A45}"/>
              </a:ext>
            </a:extLst>
          </p:cNvPr>
          <p:cNvSpPr txBox="1">
            <a:spLocks/>
          </p:cNvSpPr>
          <p:nvPr/>
        </p:nvSpPr>
        <p:spPr>
          <a:xfrm>
            <a:off x="1407983" y="1968471"/>
            <a:ext cx="2722485" cy="127366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s-ES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Isohydric</a:t>
            </a:r>
            <a:endParaRPr lang="es-ES" b="1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0" indent="0" algn="ctr">
              <a:buNone/>
            </a:pPr>
            <a:r>
              <a:rPr lang="es-ES" dirty="0">
                <a:solidFill>
                  <a:srgbClr val="218317"/>
                </a:solidFill>
                <a:latin typeface="Helvetica"/>
                <a:cs typeface="Helvetica"/>
              </a:rPr>
              <a:t>"Conservative"</a:t>
            </a:r>
            <a:endParaRPr lang="es-ES" dirty="0">
              <a:solidFill>
                <a:srgbClr val="218317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algn="ctr"/>
            <a:endParaRPr lang="es-ES" b="1" dirty="0">
              <a:solidFill>
                <a:srgbClr val="218317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5" name="Marcador de contenido 2">
            <a:extLst>
              <a:ext uri="{FF2B5EF4-FFF2-40B4-BE49-F238E27FC236}">
                <a16:creationId xmlns:a16="http://schemas.microsoft.com/office/drawing/2014/main" id="{57776ACF-C2D5-1F5A-B3CB-7C6DEC9834AB}"/>
              </a:ext>
            </a:extLst>
          </p:cNvPr>
          <p:cNvSpPr txBox="1">
            <a:spLocks/>
          </p:cNvSpPr>
          <p:nvPr/>
        </p:nvSpPr>
        <p:spPr>
          <a:xfrm>
            <a:off x="7368825" y="1968471"/>
            <a:ext cx="2756263" cy="110113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s-ES" b="1" err="1">
                <a:latin typeface="Helvetica" panose="020B0604020202020204" pitchFamily="34" charset="0"/>
                <a:cs typeface="Helvetica" panose="020B0604020202020204" pitchFamily="34" charset="0"/>
              </a:rPr>
              <a:t>Anisohydric</a:t>
            </a:r>
            <a:endParaRPr lang="es-ES" b="1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0" indent="0" algn="ctr">
              <a:buNone/>
            </a:pPr>
            <a:r>
              <a:rPr lang="es-ES">
                <a:solidFill>
                  <a:srgbClr val="218317"/>
                </a:solidFill>
                <a:latin typeface="Helvetica"/>
                <a:cs typeface="Helvetica"/>
              </a:rPr>
              <a:t>"</a:t>
            </a:r>
            <a:r>
              <a:rPr lang="es-ES" err="1">
                <a:solidFill>
                  <a:srgbClr val="218317"/>
                </a:solidFill>
                <a:latin typeface="Helvetica"/>
                <a:cs typeface="Helvetica"/>
              </a:rPr>
              <a:t>Acquisitive</a:t>
            </a:r>
            <a:r>
              <a:rPr lang="es-ES">
                <a:solidFill>
                  <a:srgbClr val="218317"/>
                </a:solidFill>
                <a:latin typeface="Helvetica"/>
                <a:cs typeface="Helvetica"/>
              </a:rPr>
              <a:t>"</a:t>
            </a:r>
            <a:endParaRPr lang="es-ES">
              <a:solidFill>
                <a:srgbClr val="000000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cxnSp>
        <p:nvCxnSpPr>
          <p:cNvPr id="8" name="Conector recto de flecha 7">
            <a:extLst>
              <a:ext uri="{FF2B5EF4-FFF2-40B4-BE49-F238E27FC236}">
                <a16:creationId xmlns:a16="http://schemas.microsoft.com/office/drawing/2014/main" id="{6E7DC63F-7F98-F3D6-5905-8CA4CA583E04}"/>
              </a:ext>
            </a:extLst>
          </p:cNvPr>
          <p:cNvCxnSpPr>
            <a:cxnSpLocks/>
          </p:cNvCxnSpPr>
          <p:nvPr/>
        </p:nvCxnSpPr>
        <p:spPr>
          <a:xfrm>
            <a:off x="5021865" y="2245870"/>
            <a:ext cx="1872507" cy="0"/>
          </a:xfrm>
          <a:prstGeom prst="straightConnector1">
            <a:avLst/>
          </a:prstGeom>
          <a:ln>
            <a:solidFill>
              <a:srgbClr val="218317"/>
            </a:solidFill>
            <a:headEnd type="triangl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5" name="Marcador de contenido 2">
            <a:extLst>
              <a:ext uri="{FF2B5EF4-FFF2-40B4-BE49-F238E27FC236}">
                <a16:creationId xmlns:a16="http://schemas.microsoft.com/office/drawing/2014/main" id="{678D6811-F8C9-009C-246A-8A7EC64FCF0A}"/>
              </a:ext>
            </a:extLst>
          </p:cNvPr>
          <p:cNvSpPr txBox="1">
            <a:spLocks/>
          </p:cNvSpPr>
          <p:nvPr/>
        </p:nvSpPr>
        <p:spPr>
          <a:xfrm>
            <a:off x="4579617" y="1364622"/>
            <a:ext cx="2770640" cy="82796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ES" sz="2400" err="1">
                <a:latin typeface="Helvetica"/>
                <a:cs typeface="Helvetica"/>
              </a:rPr>
              <a:t>Leaf</a:t>
            </a:r>
            <a:r>
              <a:rPr lang="es-ES" sz="2400">
                <a:latin typeface="Helvetica"/>
                <a:cs typeface="Helvetica"/>
              </a:rPr>
              <a:t> </a:t>
            </a:r>
            <a:r>
              <a:rPr lang="es-ES" sz="2400" err="1">
                <a:latin typeface="Helvetica"/>
                <a:cs typeface="Helvetica"/>
              </a:rPr>
              <a:t>Economics</a:t>
            </a:r>
            <a:r>
              <a:rPr lang="es-ES" sz="2400">
                <a:latin typeface="Helvetica"/>
                <a:cs typeface="Helvetica"/>
              </a:rPr>
              <a:t> </a:t>
            </a:r>
            <a:r>
              <a:rPr lang="es-ES" sz="2400" err="1">
                <a:latin typeface="Helvetica"/>
                <a:cs typeface="Helvetica"/>
              </a:rPr>
              <a:t>Spectrum</a:t>
            </a:r>
            <a:endParaRPr lang="es-ES" sz="2400">
              <a:ea typeface="Calibri"/>
              <a:cs typeface="Calibri"/>
            </a:endParaRPr>
          </a:p>
        </p:txBody>
      </p:sp>
      <p:sp>
        <p:nvSpPr>
          <p:cNvPr id="10" name="Marcador de contenido 2">
            <a:extLst>
              <a:ext uri="{FF2B5EF4-FFF2-40B4-BE49-F238E27FC236}">
                <a16:creationId xmlns:a16="http://schemas.microsoft.com/office/drawing/2014/main" id="{F105CAE0-BBA3-51E4-1609-E516C7404CE6}"/>
              </a:ext>
            </a:extLst>
          </p:cNvPr>
          <p:cNvSpPr txBox="1">
            <a:spLocks/>
          </p:cNvSpPr>
          <p:nvPr/>
        </p:nvSpPr>
        <p:spPr>
          <a:xfrm>
            <a:off x="1526346" y="3295417"/>
            <a:ext cx="3495519" cy="241088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Calibri"/>
              <a:buChar char="-"/>
            </a:pPr>
            <a:r>
              <a:rPr lang="es-ES" sz="2400" dirty="0">
                <a:latin typeface="Helvetica"/>
                <a:cs typeface="Helvetica"/>
              </a:rPr>
              <a:t>↑</a:t>
            </a:r>
            <a:r>
              <a:rPr lang="es-ES" sz="2400" dirty="0" err="1">
                <a:latin typeface="Helvetica"/>
                <a:cs typeface="Helvetica"/>
              </a:rPr>
              <a:t>iWUE</a:t>
            </a:r>
            <a:endParaRPr lang="es-ES" sz="2400" dirty="0">
              <a:latin typeface="Helvetica"/>
              <a:cs typeface="Helvetica"/>
            </a:endParaRPr>
          </a:p>
          <a:p>
            <a:pPr>
              <a:buFont typeface="Calibri"/>
              <a:buChar char="-"/>
            </a:pPr>
            <a:r>
              <a:rPr lang="es-ES" sz="2400" dirty="0" err="1">
                <a:latin typeface="Helvetica"/>
                <a:cs typeface="Helvetica"/>
              </a:rPr>
              <a:t>Stomatal</a:t>
            </a:r>
            <a:r>
              <a:rPr lang="es-ES" sz="2400" dirty="0">
                <a:latin typeface="Helvetica"/>
                <a:cs typeface="Helvetica"/>
              </a:rPr>
              <a:t> </a:t>
            </a:r>
            <a:r>
              <a:rPr lang="es-ES" sz="2400" dirty="0" err="1">
                <a:latin typeface="Helvetica"/>
                <a:cs typeface="Helvetica"/>
              </a:rPr>
              <a:t>closure</a:t>
            </a:r>
            <a:endParaRPr lang="es-ES" sz="2400" dirty="0">
              <a:latin typeface="Helvetica"/>
              <a:cs typeface="Helvetica"/>
            </a:endParaRPr>
          </a:p>
          <a:p>
            <a:pPr>
              <a:buFont typeface="Calibri"/>
              <a:buChar char="-"/>
            </a:pPr>
            <a:r>
              <a:rPr lang="es-ES" sz="2400" dirty="0">
                <a:latin typeface="Helvetica"/>
                <a:cs typeface="Helvetica"/>
              </a:rPr>
              <a:t>↓ </a:t>
            </a:r>
            <a:r>
              <a:rPr lang="es-ES" sz="2400" dirty="0" err="1">
                <a:latin typeface="Helvetica"/>
                <a:cs typeface="Helvetica"/>
              </a:rPr>
              <a:t>Growth</a:t>
            </a:r>
            <a:endParaRPr lang="es-ES" sz="2400" dirty="0">
              <a:latin typeface="Helvetica"/>
              <a:cs typeface="Helvetica"/>
            </a:endParaRPr>
          </a:p>
          <a:p>
            <a:pPr>
              <a:buFont typeface="Calibri"/>
              <a:buChar char="-"/>
            </a:pPr>
            <a:r>
              <a:rPr lang="es-ES" sz="2400" dirty="0">
                <a:latin typeface="Helvetica"/>
                <a:cs typeface="Helvetica"/>
              </a:rPr>
              <a:t>↓ </a:t>
            </a:r>
            <a:r>
              <a:rPr lang="es-ES" sz="2400" dirty="0" err="1">
                <a:latin typeface="Helvetica"/>
                <a:cs typeface="Helvetica"/>
              </a:rPr>
              <a:t>Photosynthetic</a:t>
            </a:r>
            <a:r>
              <a:rPr lang="es-ES" sz="2400" dirty="0">
                <a:latin typeface="Helvetica"/>
                <a:cs typeface="Helvetica"/>
              </a:rPr>
              <a:t> </a:t>
            </a:r>
            <a:r>
              <a:rPr lang="es-ES" sz="2400" dirty="0" err="1">
                <a:latin typeface="Helvetica"/>
                <a:cs typeface="Helvetica"/>
              </a:rPr>
              <a:t>rates</a:t>
            </a:r>
            <a:endParaRPr lang="es-ES" sz="2400" dirty="0">
              <a:latin typeface="Helvetica"/>
              <a:cs typeface="Helvetica"/>
            </a:endParaRPr>
          </a:p>
          <a:p>
            <a:pPr>
              <a:buFont typeface="Calibri"/>
              <a:buChar char="-"/>
            </a:pPr>
            <a:r>
              <a:rPr lang="es-ES" sz="2400" dirty="0">
                <a:latin typeface="Helvetica"/>
                <a:cs typeface="Helvetica"/>
              </a:rPr>
              <a:t>↓ SLA</a:t>
            </a:r>
            <a:endParaRPr lang="es-ES" sz="24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algn="ctr">
              <a:buFont typeface="Calibri" panose="020B0604020202020204" pitchFamily="34" charset="0"/>
              <a:buChar char="-"/>
            </a:pPr>
            <a:endParaRPr lang="es-ES" sz="24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2" name="Marcador de contenido 2">
            <a:extLst>
              <a:ext uri="{FF2B5EF4-FFF2-40B4-BE49-F238E27FC236}">
                <a16:creationId xmlns:a16="http://schemas.microsoft.com/office/drawing/2014/main" id="{1660BAB1-4C20-961E-81F7-512FFC819A56}"/>
              </a:ext>
            </a:extLst>
          </p:cNvPr>
          <p:cNvSpPr txBox="1">
            <a:spLocks/>
          </p:cNvSpPr>
          <p:nvPr/>
        </p:nvSpPr>
        <p:spPr>
          <a:xfrm>
            <a:off x="7517838" y="3290539"/>
            <a:ext cx="3495519" cy="2410889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Tx/>
              <a:buChar char="-"/>
            </a:pPr>
            <a:r>
              <a:rPr lang="es-ES" sz="2400">
                <a:latin typeface="Helvetica"/>
                <a:cs typeface="Helvetica"/>
              </a:rPr>
              <a:t>↓ </a:t>
            </a:r>
            <a:r>
              <a:rPr lang="es-ES" sz="2400" err="1">
                <a:latin typeface="Helvetica"/>
                <a:cs typeface="Helvetica"/>
              </a:rPr>
              <a:t>iWUE</a:t>
            </a:r>
            <a:endParaRPr lang="es-ES" sz="2400">
              <a:ea typeface="Calibri" panose="020F0502020204030204"/>
              <a:cs typeface="Calibri" panose="020F0502020204030204"/>
            </a:endParaRPr>
          </a:p>
          <a:p>
            <a:pPr>
              <a:buFont typeface="Calibri"/>
              <a:buChar char="-"/>
            </a:pPr>
            <a:r>
              <a:rPr lang="es-ES" sz="2400" err="1">
                <a:latin typeface="Helvetica"/>
                <a:cs typeface="Helvetica"/>
              </a:rPr>
              <a:t>Leaf</a:t>
            </a:r>
            <a:r>
              <a:rPr lang="es-ES" sz="2400">
                <a:latin typeface="Helvetica"/>
                <a:cs typeface="Helvetica"/>
              </a:rPr>
              <a:t> ↓Ψ</a:t>
            </a:r>
            <a:endParaRPr lang="es-ES" sz="2400">
              <a:cs typeface="Calibri" panose="020F0502020204030204"/>
            </a:endParaRPr>
          </a:p>
          <a:p>
            <a:pPr>
              <a:buFont typeface="Calibri"/>
              <a:buChar char="-"/>
            </a:pPr>
            <a:r>
              <a:rPr lang="es-ES" sz="2400">
                <a:latin typeface="Helvetica"/>
                <a:cs typeface="Helvetica"/>
              </a:rPr>
              <a:t>↑ </a:t>
            </a:r>
            <a:r>
              <a:rPr lang="es-ES" sz="2400" err="1">
                <a:latin typeface="Helvetica" panose="020B0604020202020204" pitchFamily="34" charset="0"/>
                <a:cs typeface="Calibri" panose="020F0502020204030204"/>
              </a:rPr>
              <a:t>Growth</a:t>
            </a:r>
            <a:endParaRPr lang="es-ES" sz="2400">
              <a:latin typeface="Helvetica" panose="020B0604020202020204" pitchFamily="34" charset="0"/>
              <a:cs typeface="Calibri" panose="020F0502020204030204"/>
            </a:endParaRPr>
          </a:p>
          <a:p>
            <a:pPr>
              <a:buFont typeface="Calibri"/>
              <a:buChar char="-"/>
            </a:pPr>
            <a:r>
              <a:rPr lang="es-ES" sz="2400">
                <a:latin typeface="Helvetica"/>
                <a:cs typeface="Helvetica"/>
              </a:rPr>
              <a:t>↑ </a:t>
            </a:r>
            <a:r>
              <a:rPr lang="es-ES" sz="2400" err="1">
                <a:latin typeface="Helvetica" panose="020B0604020202020204" pitchFamily="34" charset="0"/>
                <a:cs typeface="Calibri" panose="020F0502020204030204"/>
              </a:rPr>
              <a:t>Photosynthetic</a:t>
            </a:r>
            <a:r>
              <a:rPr lang="es-ES" sz="2400">
                <a:latin typeface="Helvetica" panose="020B0604020202020204" pitchFamily="34" charset="0"/>
                <a:cs typeface="Calibri" panose="020F0502020204030204"/>
              </a:rPr>
              <a:t> </a:t>
            </a:r>
            <a:r>
              <a:rPr lang="es-ES" sz="2400" err="1">
                <a:latin typeface="Helvetica" panose="020B0604020202020204" pitchFamily="34" charset="0"/>
                <a:cs typeface="Calibri" panose="020F0502020204030204"/>
              </a:rPr>
              <a:t>rates</a:t>
            </a:r>
            <a:endParaRPr lang="es-ES" sz="2400">
              <a:latin typeface="Helvetica" panose="020B0604020202020204" pitchFamily="34" charset="0"/>
              <a:cs typeface="Calibri" panose="020F0502020204030204"/>
            </a:endParaRPr>
          </a:p>
          <a:p>
            <a:pPr>
              <a:buFont typeface="Calibri"/>
              <a:buChar char="-"/>
            </a:pPr>
            <a:r>
              <a:rPr lang="es-ES" sz="2400">
                <a:latin typeface="Helvetica"/>
                <a:cs typeface="Helvetica"/>
              </a:rPr>
              <a:t>↑ </a:t>
            </a:r>
            <a:r>
              <a:rPr lang="es-ES" sz="2400">
                <a:latin typeface="Helvetica" panose="020B0604020202020204" pitchFamily="34" charset="0"/>
                <a:cs typeface="Calibri" panose="020F0502020204030204"/>
              </a:rPr>
              <a:t>SLA</a:t>
            </a:r>
            <a:endParaRPr lang="es-ES" sz="240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algn="ctr"/>
            <a:endParaRPr lang="es-ES" sz="240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B9E3FEF1-F294-3810-DDC5-43B7C278F3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690902" cy="804155"/>
          </a:xfrm>
          <a:solidFill>
            <a:srgbClr val="218317"/>
          </a:solidFill>
        </p:spPr>
        <p:txBody>
          <a:bodyPr>
            <a:normAutofit fontScale="90000"/>
          </a:bodyPr>
          <a:lstStyle/>
          <a:p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	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Complementary</a:t>
            </a:r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strategies</a:t>
            </a:r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to</a:t>
            </a:r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cope 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with</a:t>
            </a:r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drought</a:t>
            </a:r>
            <a:endParaRPr lang="es-ES" sz="3200" b="1" dirty="0">
              <a:solidFill>
                <a:schemeClr val="bg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0F73834-FE5A-03E2-F5BC-C18E44196CDC}"/>
              </a:ext>
            </a:extLst>
          </p:cNvPr>
          <p:cNvSpPr txBox="1">
            <a:spLocks/>
          </p:cNvSpPr>
          <p:nvPr/>
        </p:nvSpPr>
        <p:spPr>
          <a:xfrm>
            <a:off x="9690902" y="-1"/>
            <a:ext cx="2501098" cy="804157"/>
          </a:xfrm>
          <a:prstGeom prst="rect">
            <a:avLst/>
          </a:prstGeom>
          <a:solidFill>
            <a:srgbClr val="218317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ES" sz="2800" b="1" dirty="0" err="1">
                <a:solidFill>
                  <a:schemeClr val="accent6">
                    <a:lumMod val="60000"/>
                    <a:lumOff val="4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Introduction</a:t>
            </a:r>
            <a:r>
              <a:rPr lang="es-ES" sz="2800" b="1" dirty="0">
                <a:solidFill>
                  <a:srgbClr val="218317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6958787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CF1E6B-54C0-D0A4-BB44-5F6FDCE67D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919C8DA7-E3A5-977A-0D1A-BE8222F402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690902" cy="804155"/>
          </a:xfrm>
          <a:solidFill>
            <a:srgbClr val="218317"/>
          </a:solidFill>
        </p:spPr>
        <p:txBody>
          <a:bodyPr>
            <a:normAutofit/>
          </a:bodyPr>
          <a:lstStyle/>
          <a:p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	Responses 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to</a:t>
            </a:r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drought</a:t>
            </a:r>
            <a:endParaRPr lang="es-ES" sz="3200" b="1" dirty="0">
              <a:solidFill>
                <a:schemeClr val="bg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2A74F66-6E00-84D8-CEFF-9E73E9771BF4}"/>
              </a:ext>
            </a:extLst>
          </p:cNvPr>
          <p:cNvSpPr txBox="1">
            <a:spLocks/>
          </p:cNvSpPr>
          <p:nvPr/>
        </p:nvSpPr>
        <p:spPr>
          <a:xfrm>
            <a:off x="9690902" y="-1"/>
            <a:ext cx="2501098" cy="804157"/>
          </a:xfrm>
          <a:prstGeom prst="rect">
            <a:avLst/>
          </a:prstGeom>
          <a:solidFill>
            <a:srgbClr val="218317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ES" sz="2800" b="1" dirty="0" err="1">
                <a:solidFill>
                  <a:schemeClr val="accent6">
                    <a:lumMod val="60000"/>
                    <a:lumOff val="4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Introduction</a:t>
            </a:r>
            <a:r>
              <a:rPr lang="es-ES" sz="2800" b="1" dirty="0">
                <a:solidFill>
                  <a:srgbClr val="218317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.</a:t>
            </a:r>
          </a:p>
        </p:txBody>
      </p:sp>
      <p:sp>
        <p:nvSpPr>
          <p:cNvPr id="6" name="Marcador de contenido 2">
            <a:extLst>
              <a:ext uri="{FF2B5EF4-FFF2-40B4-BE49-F238E27FC236}">
                <a16:creationId xmlns:a16="http://schemas.microsoft.com/office/drawing/2014/main" id="{644D4A72-FE68-F579-B2F2-6429050ECB92}"/>
              </a:ext>
            </a:extLst>
          </p:cNvPr>
          <p:cNvSpPr txBox="1">
            <a:spLocks/>
          </p:cNvSpPr>
          <p:nvPr/>
        </p:nvSpPr>
        <p:spPr>
          <a:xfrm>
            <a:off x="1369072" y="1034615"/>
            <a:ext cx="2722485" cy="127366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s-ES" b="1" err="1">
                <a:latin typeface="Helvetica" panose="020B0604020202020204" pitchFamily="34" charset="0"/>
                <a:cs typeface="Helvetica" panose="020B0604020202020204" pitchFamily="34" charset="0"/>
              </a:rPr>
              <a:t>Isohydric</a:t>
            </a:r>
            <a:endParaRPr lang="es-ES" b="1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0" indent="0" algn="ctr">
              <a:buNone/>
            </a:pPr>
            <a:r>
              <a:rPr lang="es-ES">
                <a:solidFill>
                  <a:srgbClr val="218317"/>
                </a:solidFill>
                <a:latin typeface="Helvetica"/>
                <a:cs typeface="Helvetica"/>
              </a:rPr>
              <a:t>"Conservative"</a:t>
            </a:r>
            <a:endParaRPr lang="es-ES">
              <a:solidFill>
                <a:srgbClr val="218317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algn="ctr"/>
            <a:endParaRPr lang="es-ES" b="1">
              <a:solidFill>
                <a:srgbClr val="218317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7" name="Marcador de contenido 2">
            <a:extLst>
              <a:ext uri="{FF2B5EF4-FFF2-40B4-BE49-F238E27FC236}">
                <a16:creationId xmlns:a16="http://schemas.microsoft.com/office/drawing/2014/main" id="{3EB374C8-56A1-E742-F145-AD3B820A1EB1}"/>
              </a:ext>
            </a:extLst>
          </p:cNvPr>
          <p:cNvSpPr txBox="1">
            <a:spLocks/>
          </p:cNvSpPr>
          <p:nvPr/>
        </p:nvSpPr>
        <p:spPr>
          <a:xfrm>
            <a:off x="7329914" y="1034615"/>
            <a:ext cx="2756263" cy="110113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s-ES" b="1" err="1">
                <a:latin typeface="Helvetica" panose="020B0604020202020204" pitchFamily="34" charset="0"/>
                <a:cs typeface="Helvetica" panose="020B0604020202020204" pitchFamily="34" charset="0"/>
              </a:rPr>
              <a:t>Anisohydric</a:t>
            </a:r>
            <a:endParaRPr lang="es-ES" b="1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0" indent="0" algn="ctr">
              <a:buNone/>
            </a:pPr>
            <a:r>
              <a:rPr lang="es-ES">
                <a:solidFill>
                  <a:srgbClr val="218317"/>
                </a:solidFill>
                <a:latin typeface="Helvetica"/>
                <a:cs typeface="Helvetica"/>
              </a:rPr>
              <a:t>"</a:t>
            </a:r>
            <a:r>
              <a:rPr lang="es-ES" err="1">
                <a:solidFill>
                  <a:srgbClr val="218317"/>
                </a:solidFill>
                <a:latin typeface="Helvetica"/>
                <a:cs typeface="Helvetica"/>
              </a:rPr>
              <a:t>Acquisitive</a:t>
            </a:r>
            <a:r>
              <a:rPr lang="es-ES">
                <a:solidFill>
                  <a:srgbClr val="218317"/>
                </a:solidFill>
                <a:latin typeface="Helvetica"/>
                <a:cs typeface="Helvetica"/>
              </a:rPr>
              <a:t>"</a:t>
            </a:r>
            <a:endParaRPr lang="es-ES">
              <a:solidFill>
                <a:srgbClr val="000000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cxnSp>
        <p:nvCxnSpPr>
          <p:cNvPr id="9" name="Conector recto de flecha 7">
            <a:extLst>
              <a:ext uri="{FF2B5EF4-FFF2-40B4-BE49-F238E27FC236}">
                <a16:creationId xmlns:a16="http://schemas.microsoft.com/office/drawing/2014/main" id="{62730E94-4350-174B-2B32-A64A9B885A84}"/>
              </a:ext>
            </a:extLst>
          </p:cNvPr>
          <p:cNvCxnSpPr>
            <a:cxnSpLocks/>
          </p:cNvCxnSpPr>
          <p:nvPr/>
        </p:nvCxnSpPr>
        <p:spPr>
          <a:xfrm>
            <a:off x="4982954" y="1312014"/>
            <a:ext cx="1872507" cy="0"/>
          </a:xfrm>
          <a:prstGeom prst="straightConnector1">
            <a:avLst/>
          </a:prstGeom>
          <a:ln>
            <a:solidFill>
              <a:srgbClr val="218317"/>
            </a:solidFill>
            <a:headEnd type="triangl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1" name="Marcador de contenido 2">
            <a:extLst>
              <a:ext uri="{FF2B5EF4-FFF2-40B4-BE49-F238E27FC236}">
                <a16:creationId xmlns:a16="http://schemas.microsoft.com/office/drawing/2014/main" id="{562AD7E5-0D9F-137B-9F5D-1D93DC5B3AF6}"/>
              </a:ext>
            </a:extLst>
          </p:cNvPr>
          <p:cNvSpPr txBox="1">
            <a:spLocks/>
          </p:cNvSpPr>
          <p:nvPr/>
        </p:nvSpPr>
        <p:spPr>
          <a:xfrm>
            <a:off x="4533887" y="2258422"/>
            <a:ext cx="2770640" cy="82796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ES" sz="2400" dirty="0" err="1">
                <a:latin typeface="Helvetica"/>
                <a:cs typeface="Helvetica"/>
              </a:rPr>
              <a:t>Reduced</a:t>
            </a:r>
            <a:r>
              <a:rPr lang="es-ES" sz="2400" dirty="0">
                <a:latin typeface="Helvetica"/>
                <a:cs typeface="Helvetica"/>
              </a:rPr>
              <a:t> </a:t>
            </a:r>
            <a:r>
              <a:rPr lang="es-ES" sz="2400" dirty="0" err="1">
                <a:latin typeface="Helvetica"/>
                <a:cs typeface="Helvetica"/>
              </a:rPr>
              <a:t>transpiration</a:t>
            </a:r>
            <a:endParaRPr lang="es-ES" sz="2400" dirty="0">
              <a:ea typeface="Calibri"/>
              <a:cs typeface="Calibri"/>
            </a:endParaRPr>
          </a:p>
        </p:txBody>
      </p:sp>
      <p:sp>
        <p:nvSpPr>
          <p:cNvPr id="13" name="Marcador de contenido 2">
            <a:extLst>
              <a:ext uri="{FF2B5EF4-FFF2-40B4-BE49-F238E27FC236}">
                <a16:creationId xmlns:a16="http://schemas.microsoft.com/office/drawing/2014/main" id="{D9AE80E7-C8A6-26DE-A916-FA67AE3B5270}"/>
              </a:ext>
            </a:extLst>
          </p:cNvPr>
          <p:cNvSpPr txBox="1">
            <a:spLocks/>
          </p:cNvSpPr>
          <p:nvPr/>
        </p:nvSpPr>
        <p:spPr>
          <a:xfrm>
            <a:off x="1542082" y="2672405"/>
            <a:ext cx="2770640" cy="82796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ES" sz="2400" dirty="0" err="1">
                <a:latin typeface="Helvetica"/>
                <a:ea typeface="Calibri"/>
                <a:cs typeface="Helvetica"/>
              </a:rPr>
              <a:t>Reduced</a:t>
            </a:r>
            <a:r>
              <a:rPr lang="es-ES" sz="2400" dirty="0">
                <a:latin typeface="Helvetica"/>
                <a:ea typeface="Calibri"/>
                <a:cs typeface="Helvetica"/>
              </a:rPr>
              <a:t> </a:t>
            </a:r>
            <a:r>
              <a:rPr lang="es-ES" sz="2400" dirty="0" err="1">
                <a:latin typeface="Helvetica"/>
                <a:ea typeface="Calibri"/>
                <a:cs typeface="Helvetica"/>
              </a:rPr>
              <a:t>photosynthesis</a:t>
            </a:r>
            <a:endParaRPr lang="es-ES" sz="2400" dirty="0">
              <a:ea typeface="Calibri"/>
              <a:cs typeface="Calibri"/>
            </a:endParaRPr>
          </a:p>
        </p:txBody>
      </p:sp>
      <p:sp>
        <p:nvSpPr>
          <p:cNvPr id="14" name="Marcador de contenido 2">
            <a:extLst>
              <a:ext uri="{FF2B5EF4-FFF2-40B4-BE49-F238E27FC236}">
                <a16:creationId xmlns:a16="http://schemas.microsoft.com/office/drawing/2014/main" id="{8930BB8C-DF26-3C55-5D1D-7015719258F6}"/>
              </a:ext>
            </a:extLst>
          </p:cNvPr>
          <p:cNvSpPr txBox="1">
            <a:spLocks/>
          </p:cNvSpPr>
          <p:nvPr/>
        </p:nvSpPr>
        <p:spPr>
          <a:xfrm>
            <a:off x="3148567" y="3953213"/>
            <a:ext cx="2770640" cy="82796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ES" sz="2400" dirty="0">
                <a:latin typeface="Helvetica"/>
                <a:ea typeface="Calibri"/>
                <a:cs typeface="Helvetica"/>
              </a:rPr>
              <a:t>C:N </a:t>
            </a:r>
            <a:r>
              <a:rPr lang="es-ES" sz="2400" dirty="0" err="1">
                <a:latin typeface="Helvetica"/>
                <a:ea typeface="Calibri"/>
                <a:cs typeface="Helvetica"/>
              </a:rPr>
              <a:t>changes</a:t>
            </a:r>
            <a:endParaRPr lang="es-ES" sz="2400" dirty="0">
              <a:ea typeface="Calibri"/>
              <a:cs typeface="Calibri"/>
            </a:endParaRPr>
          </a:p>
        </p:txBody>
      </p:sp>
      <p:sp>
        <p:nvSpPr>
          <p:cNvPr id="16" name="Marcador de contenido 2">
            <a:extLst>
              <a:ext uri="{FF2B5EF4-FFF2-40B4-BE49-F238E27FC236}">
                <a16:creationId xmlns:a16="http://schemas.microsoft.com/office/drawing/2014/main" id="{2306961C-763E-CB63-2FCF-D4ABA3B8D1F4}"/>
              </a:ext>
            </a:extLst>
          </p:cNvPr>
          <p:cNvSpPr txBox="1">
            <a:spLocks/>
          </p:cNvSpPr>
          <p:nvPr/>
        </p:nvSpPr>
        <p:spPr>
          <a:xfrm>
            <a:off x="7329914" y="3125246"/>
            <a:ext cx="2770640" cy="82796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ES" sz="2400" dirty="0" err="1">
                <a:latin typeface="Helvetica"/>
                <a:ea typeface="Calibri"/>
                <a:cs typeface="Helvetica"/>
              </a:rPr>
              <a:t>Leaf</a:t>
            </a:r>
            <a:r>
              <a:rPr lang="es-ES" sz="2400" dirty="0">
                <a:latin typeface="Helvetica"/>
                <a:ea typeface="Calibri"/>
                <a:cs typeface="Helvetica"/>
              </a:rPr>
              <a:t> </a:t>
            </a:r>
            <a:r>
              <a:rPr lang="es-ES" sz="2400" dirty="0" err="1">
                <a:latin typeface="Helvetica"/>
                <a:ea typeface="Calibri"/>
                <a:cs typeface="Helvetica"/>
              </a:rPr>
              <a:t>dehydration</a:t>
            </a:r>
            <a:endParaRPr lang="es-ES" sz="2400" dirty="0">
              <a:ea typeface="Calibri"/>
              <a:cs typeface="Calibri"/>
            </a:endParaRPr>
          </a:p>
        </p:txBody>
      </p:sp>
      <p:sp>
        <p:nvSpPr>
          <p:cNvPr id="17" name="Marcador de contenido 2">
            <a:extLst>
              <a:ext uri="{FF2B5EF4-FFF2-40B4-BE49-F238E27FC236}">
                <a16:creationId xmlns:a16="http://schemas.microsoft.com/office/drawing/2014/main" id="{6D6D57E2-808D-130B-B9FD-198E27DF9DD1}"/>
              </a:ext>
            </a:extLst>
          </p:cNvPr>
          <p:cNvSpPr txBox="1">
            <a:spLocks/>
          </p:cNvSpPr>
          <p:nvPr/>
        </p:nvSpPr>
        <p:spPr>
          <a:xfrm>
            <a:off x="7329914" y="4781180"/>
            <a:ext cx="2770640" cy="82796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ES" sz="2400" dirty="0" err="1">
                <a:latin typeface="Helvetica"/>
                <a:ea typeface="Calibri"/>
                <a:cs typeface="Helvetica"/>
              </a:rPr>
              <a:t>Defoliation</a:t>
            </a:r>
            <a:endParaRPr lang="es-ES" sz="2400" dirty="0">
              <a:ea typeface="Calibri"/>
              <a:cs typeface="Calibri"/>
            </a:endParaRPr>
          </a:p>
        </p:txBody>
      </p:sp>
      <p:sp>
        <p:nvSpPr>
          <p:cNvPr id="18" name="Marcador de contenido 2">
            <a:extLst>
              <a:ext uri="{FF2B5EF4-FFF2-40B4-BE49-F238E27FC236}">
                <a16:creationId xmlns:a16="http://schemas.microsoft.com/office/drawing/2014/main" id="{9CE51FE2-2363-EB53-1FA7-527461E1EF13}"/>
              </a:ext>
            </a:extLst>
          </p:cNvPr>
          <p:cNvSpPr txBox="1">
            <a:spLocks/>
          </p:cNvSpPr>
          <p:nvPr/>
        </p:nvSpPr>
        <p:spPr>
          <a:xfrm>
            <a:off x="377927" y="4954638"/>
            <a:ext cx="2770640" cy="82796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ES" sz="2400" dirty="0">
                <a:latin typeface="Helvetica"/>
                <a:ea typeface="Calibri"/>
                <a:cs typeface="Helvetica"/>
              </a:rPr>
              <a:t>SLA</a:t>
            </a:r>
            <a:endParaRPr lang="es-ES" sz="2400" dirty="0">
              <a:ea typeface="Calibri"/>
              <a:cs typeface="Calibri"/>
            </a:endParaRPr>
          </a:p>
        </p:txBody>
      </p:sp>
      <p:sp>
        <p:nvSpPr>
          <p:cNvPr id="19" name="Marcador de contenido 2">
            <a:extLst>
              <a:ext uri="{FF2B5EF4-FFF2-40B4-BE49-F238E27FC236}">
                <a16:creationId xmlns:a16="http://schemas.microsoft.com/office/drawing/2014/main" id="{E9C82405-2C77-E7C3-C52E-C27446345EF3}"/>
              </a:ext>
            </a:extLst>
          </p:cNvPr>
          <p:cNvSpPr txBox="1">
            <a:spLocks/>
          </p:cNvSpPr>
          <p:nvPr/>
        </p:nvSpPr>
        <p:spPr>
          <a:xfrm>
            <a:off x="3853921" y="4995418"/>
            <a:ext cx="2770640" cy="82796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ES" sz="2400" dirty="0" err="1">
                <a:latin typeface="Helvetica"/>
                <a:ea typeface="Calibri"/>
                <a:cs typeface="Helvetica"/>
              </a:rPr>
              <a:t>Growth</a:t>
            </a:r>
            <a:endParaRPr lang="es-ES" sz="2400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9727671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0CE067-61C9-BECA-174F-73EDF5ADDF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>
            <a:extLst>
              <a:ext uri="{FF2B5EF4-FFF2-40B4-BE49-F238E27FC236}">
                <a16:creationId xmlns:a16="http://schemas.microsoft.com/office/drawing/2014/main" id="{7AA79378-1D21-8DD6-E347-4CA11BB064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88915" y="1477262"/>
            <a:ext cx="9366245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kumimoji="0" lang="es-ES" altLang="es-E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altLang="es-E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8AA1F4F3-C189-F447-F1A0-C1A463700C6F}"/>
              </a:ext>
            </a:extLst>
          </p:cNvPr>
          <p:cNvSpPr txBox="1">
            <a:spLocks/>
          </p:cNvSpPr>
          <p:nvPr/>
        </p:nvSpPr>
        <p:spPr>
          <a:xfrm>
            <a:off x="418288" y="1140469"/>
            <a:ext cx="6253100" cy="646331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47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Clr>
                <a:srgbClr val="218317"/>
              </a:buClr>
              <a:buNone/>
            </a:pPr>
            <a:r>
              <a:rPr lang="es-ES" sz="3200" b="1" dirty="0" err="1">
                <a:latin typeface="Helvetica"/>
                <a:cs typeface="Helvetica"/>
              </a:rPr>
              <a:t>Mortality</a:t>
            </a:r>
            <a:r>
              <a:rPr lang="es-ES" sz="3200" b="1" dirty="0">
                <a:latin typeface="Helvetica"/>
                <a:cs typeface="Helvetica"/>
              </a:rPr>
              <a:t> </a:t>
            </a:r>
            <a:r>
              <a:rPr lang="es-ES" sz="3200" b="1" dirty="0" err="1">
                <a:solidFill>
                  <a:srgbClr val="FF0000"/>
                </a:solidFill>
                <a:latin typeface="Helvetica"/>
                <a:cs typeface="Helvetica"/>
              </a:rPr>
              <a:t>may</a:t>
            </a:r>
            <a:r>
              <a:rPr lang="es-ES" sz="3200" b="1" dirty="0">
                <a:solidFill>
                  <a:srgbClr val="FF0000"/>
                </a:solidFill>
                <a:latin typeface="Helvetica"/>
                <a:cs typeface="Helvetica"/>
              </a:rPr>
              <a:t> be</a:t>
            </a:r>
            <a:r>
              <a:rPr lang="es-ES" sz="3200" b="1" dirty="0">
                <a:latin typeface="Helvetica"/>
                <a:cs typeface="Helvetica"/>
              </a:rPr>
              <a:t> a </a:t>
            </a:r>
            <a:r>
              <a:rPr lang="es-ES" sz="3200" b="1" dirty="0" err="1">
                <a:latin typeface="Helvetica"/>
                <a:cs typeface="Helvetica"/>
              </a:rPr>
              <a:t>fast</a:t>
            </a:r>
            <a:r>
              <a:rPr lang="es-ES" sz="3200" b="1" dirty="0">
                <a:latin typeface="Helvetica"/>
                <a:cs typeface="Helvetica"/>
              </a:rPr>
              <a:t> </a:t>
            </a:r>
            <a:r>
              <a:rPr lang="es-ES" sz="3200" b="1" dirty="0" err="1">
                <a:latin typeface="Helvetica"/>
                <a:cs typeface="Helvetica"/>
              </a:rPr>
              <a:t>or</a:t>
            </a:r>
            <a:r>
              <a:rPr lang="es-ES" sz="3200" b="1" dirty="0">
                <a:latin typeface="Helvetica"/>
                <a:cs typeface="Helvetica"/>
              </a:rPr>
              <a:t> </a:t>
            </a:r>
            <a:r>
              <a:rPr lang="es-ES" sz="3200" b="1" dirty="0" err="1">
                <a:latin typeface="Helvetica"/>
                <a:cs typeface="Helvetica"/>
              </a:rPr>
              <a:t>slow</a:t>
            </a:r>
            <a:r>
              <a:rPr lang="es-ES" sz="3200" b="1" dirty="0">
                <a:latin typeface="Helvetica"/>
                <a:cs typeface="Helvetica"/>
              </a:rPr>
              <a:t> </a:t>
            </a:r>
            <a:r>
              <a:rPr lang="es-ES" sz="3200" b="1" dirty="0" err="1">
                <a:latin typeface="Helvetica"/>
                <a:cs typeface="Helvetica"/>
              </a:rPr>
              <a:t>process</a:t>
            </a:r>
            <a:r>
              <a:rPr lang="es-ES" sz="3200" b="1" dirty="0">
                <a:latin typeface="Helvetica"/>
                <a:cs typeface="Helvetica"/>
              </a:rPr>
              <a:t> /</a:t>
            </a:r>
          </a:p>
          <a:p>
            <a:pPr marL="0" indent="0" algn="ctr">
              <a:buClr>
                <a:srgbClr val="218317"/>
              </a:buClr>
              <a:buNone/>
            </a:pPr>
            <a:r>
              <a:rPr lang="es-ES" sz="3200" b="1" dirty="0" err="1">
                <a:latin typeface="Helvetica"/>
                <a:cs typeface="Helvetica"/>
                <a:sym typeface="Wingdings" panose="05000000000000000000" pitchFamily="2" charset="2"/>
              </a:rPr>
              <a:t>Mortality</a:t>
            </a:r>
            <a:r>
              <a:rPr lang="es-ES" sz="3200" b="1" dirty="0">
                <a:latin typeface="Helvetica"/>
                <a:cs typeface="Helvetica"/>
                <a:sym typeface="Wingdings" panose="05000000000000000000" pitchFamily="2" charset="2"/>
              </a:rPr>
              <a:t> </a:t>
            </a:r>
            <a:r>
              <a:rPr lang="es-ES" sz="3200" b="1" dirty="0" err="1">
                <a:latin typeface="Helvetica"/>
                <a:cs typeface="Helvetica"/>
                <a:sym typeface="Wingdings" panose="05000000000000000000" pitchFamily="2" charset="2"/>
              </a:rPr>
              <a:t>rates</a:t>
            </a:r>
            <a:r>
              <a:rPr lang="es-ES" sz="3200" b="1" dirty="0">
                <a:latin typeface="Helvetica"/>
                <a:cs typeface="Helvetica"/>
                <a:sym typeface="Wingdings" panose="05000000000000000000" pitchFamily="2" charset="2"/>
              </a:rPr>
              <a:t> are </a:t>
            </a:r>
            <a:r>
              <a:rPr lang="es-ES" sz="3200" b="1" dirty="0" err="1">
                <a:latin typeface="Helvetica"/>
                <a:cs typeface="Helvetica"/>
                <a:sym typeface="Wingdings" panose="05000000000000000000" pitchFamily="2" charset="2"/>
              </a:rPr>
              <a:t>highly</a:t>
            </a:r>
            <a:r>
              <a:rPr lang="es-ES" sz="3200" b="1" dirty="0">
                <a:latin typeface="Helvetica"/>
                <a:cs typeface="Helvetica"/>
                <a:sym typeface="Wingdings" panose="05000000000000000000" pitchFamily="2" charset="2"/>
              </a:rPr>
              <a:t> variable  look </a:t>
            </a:r>
            <a:r>
              <a:rPr lang="es-ES" sz="3200" b="1" dirty="0" err="1">
                <a:latin typeface="Helvetica"/>
                <a:cs typeface="Helvetica"/>
                <a:sym typeface="Wingdings" panose="05000000000000000000" pitchFamily="2" charset="2"/>
              </a:rPr>
              <a:t>into</a:t>
            </a:r>
            <a:r>
              <a:rPr lang="es-ES" sz="3200" b="1" dirty="0">
                <a:latin typeface="Helvetica"/>
                <a:cs typeface="Helvetica"/>
                <a:sym typeface="Wingdings" panose="05000000000000000000" pitchFamily="2" charset="2"/>
              </a:rPr>
              <a:t> </a:t>
            </a:r>
            <a:r>
              <a:rPr lang="es-ES" sz="3200" b="1" dirty="0" err="1">
                <a:latin typeface="Helvetica"/>
                <a:cs typeface="Helvetica"/>
                <a:sym typeface="Wingdings" panose="05000000000000000000" pitchFamily="2" charset="2"/>
              </a:rPr>
              <a:t>predisposing</a:t>
            </a:r>
            <a:endParaRPr lang="es-ES" dirty="0">
              <a:latin typeface="Helvetica"/>
              <a:cs typeface="Helvetica"/>
              <a:sym typeface="Wingdings" panose="05000000000000000000" pitchFamily="2" charset="2"/>
            </a:endParaRPr>
          </a:p>
          <a:p>
            <a:pPr algn="just">
              <a:buClr>
                <a:srgbClr val="218317"/>
              </a:buClr>
            </a:pPr>
            <a:endParaRPr lang="es-ES" b="1" dirty="0">
              <a:latin typeface="Helvetica"/>
              <a:cs typeface="Helvetica"/>
              <a:sym typeface="Wingdings" panose="05000000000000000000" pitchFamily="2" charset="2"/>
            </a:endParaRPr>
          </a:p>
          <a:p>
            <a:pPr algn="just">
              <a:buClr>
                <a:srgbClr val="218317"/>
              </a:buClr>
            </a:pPr>
            <a:endParaRPr lang="es-ES" b="1" dirty="0">
              <a:latin typeface="Helvetica"/>
              <a:cs typeface="Helvetica"/>
            </a:endParaRPr>
          </a:p>
          <a:p>
            <a:pPr marL="0" indent="0" algn="ctr">
              <a:buClr>
                <a:srgbClr val="218317"/>
              </a:buClr>
              <a:buNone/>
            </a:pPr>
            <a:endParaRPr lang="es-ES" b="1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lvl="1" algn="ctr">
              <a:buClr>
                <a:srgbClr val="218317"/>
              </a:buClr>
              <a:buFont typeface="Calibri" panose="02070309020205020404" pitchFamily="49" charset="0"/>
              <a:buChar char="-"/>
            </a:pPr>
            <a:endParaRPr lang="es-ES" sz="2800" b="1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algn="ctr"/>
            <a:endParaRPr lang="es-ES" sz="3200" b="1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7" name="TextBox 16">
            <a:extLst>
              <a:ext uri="{FF2B5EF4-FFF2-40B4-BE49-F238E27FC236}">
                <a16:creationId xmlns:a16="http://schemas.microsoft.com/office/drawing/2014/main" id="{2C4DB050-BF9F-8D7C-7B9A-F4BFAFCDCEA1}"/>
              </a:ext>
            </a:extLst>
          </p:cNvPr>
          <p:cNvSpPr txBox="1"/>
          <p:nvPr/>
        </p:nvSpPr>
        <p:spPr>
          <a:xfrm>
            <a:off x="0" y="2056069"/>
            <a:ext cx="70985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4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Dieoff</a:t>
            </a:r>
            <a:r>
              <a:rPr lang="es-ES" sz="2400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4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is</a:t>
            </a:r>
            <a:r>
              <a:rPr lang="es-ES" sz="2400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4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triggered</a:t>
            </a:r>
            <a:r>
              <a:rPr lang="es-ES" sz="2400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4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by</a:t>
            </a:r>
            <a:r>
              <a:rPr lang="es-ES" sz="2400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4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predisposing</a:t>
            </a:r>
            <a:r>
              <a:rPr lang="es-ES" sz="2400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4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factors</a:t>
            </a:r>
            <a:endParaRPr lang="es-ES" sz="2800" b="1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pic>
        <p:nvPicPr>
          <p:cNvPr id="12" name="Picture 2" descr="Original “death spiral” from Manion (1991) describing biotic ...">
            <a:extLst>
              <a:ext uri="{FF2B5EF4-FFF2-40B4-BE49-F238E27FC236}">
                <a16:creationId xmlns:a16="http://schemas.microsoft.com/office/drawing/2014/main" id="{A329C9DD-39A8-2780-92CC-F20F2D3074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33055" y="1226789"/>
            <a:ext cx="3643597" cy="4432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2">
            <a:extLst>
              <a:ext uri="{FF2B5EF4-FFF2-40B4-BE49-F238E27FC236}">
                <a16:creationId xmlns:a16="http://schemas.microsoft.com/office/drawing/2014/main" id="{C4296D98-52D8-4F0E-57DE-1B35FF21AD25}"/>
              </a:ext>
            </a:extLst>
          </p:cNvPr>
          <p:cNvSpPr txBox="1"/>
          <p:nvPr/>
        </p:nvSpPr>
        <p:spPr>
          <a:xfrm>
            <a:off x="418288" y="2980082"/>
            <a:ext cx="3063789" cy="1754326"/>
          </a:xfrm>
          <a:prstGeom prst="rect">
            <a:avLst/>
          </a:prstGeom>
          <a:noFill/>
          <a:ln w="57150">
            <a:noFill/>
          </a:ln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218317"/>
              </a:buClr>
              <a:buFont typeface="Arial" panose="020B0604020202020204" pitchFamily="34" charset="0"/>
              <a:buChar char="•"/>
            </a:pP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Tree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size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(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dbh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, altura)</a:t>
            </a:r>
          </a:p>
          <a:p>
            <a:pPr marL="342900" indent="-342900">
              <a:buClr>
                <a:srgbClr val="218317"/>
              </a:buClr>
              <a:buFont typeface="Arial" panose="020B0604020202020204" pitchFamily="34" charset="0"/>
              <a:buChar char="•"/>
            </a:pP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Competition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(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Hegyi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index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)</a:t>
            </a:r>
          </a:p>
          <a:p>
            <a:pPr marL="342900" indent="-342900">
              <a:buClr>
                <a:srgbClr val="218317"/>
              </a:buClr>
              <a:buFont typeface="Arial" panose="020B0604020202020204" pitchFamily="34" charset="0"/>
              <a:buChar char="•"/>
            </a:pP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Growth</a:t>
            </a:r>
            <a:endParaRPr lang="es-ES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342900" indent="-342900">
              <a:buClr>
                <a:srgbClr val="218317"/>
              </a:buClr>
              <a:buFont typeface="Arial" panose="020B0604020202020204" pitchFamily="34" charset="0"/>
              <a:buChar char="•"/>
            </a:pP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Resistance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&amp;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Resilience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(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Lloret’s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indices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)</a:t>
            </a:r>
          </a:p>
        </p:txBody>
      </p:sp>
      <p:sp>
        <p:nvSpPr>
          <p:cNvPr id="14" name="TextBox 2">
            <a:extLst>
              <a:ext uri="{FF2B5EF4-FFF2-40B4-BE49-F238E27FC236}">
                <a16:creationId xmlns:a16="http://schemas.microsoft.com/office/drawing/2014/main" id="{59EEBEAA-39B3-2FC9-08C6-A9F1868495FC}"/>
              </a:ext>
            </a:extLst>
          </p:cNvPr>
          <p:cNvSpPr txBox="1"/>
          <p:nvPr/>
        </p:nvSpPr>
        <p:spPr>
          <a:xfrm>
            <a:off x="4621358" y="2980082"/>
            <a:ext cx="2314463" cy="2862322"/>
          </a:xfrm>
          <a:prstGeom prst="rect">
            <a:avLst/>
          </a:prstGeom>
          <a:noFill/>
          <a:ln w="57150">
            <a:noFill/>
          </a:ln>
        </p:spPr>
        <p:txBody>
          <a:bodyPr wrap="square" rtlCol="0">
            <a:spAutoFit/>
          </a:bodyPr>
          <a:lstStyle/>
          <a:p>
            <a:pPr marL="285750" indent="-285750">
              <a:buClr>
                <a:srgbClr val="218317"/>
              </a:buClr>
              <a:buFont typeface="Arial" panose="020B0604020202020204" pitchFamily="34" charset="0"/>
              <a:buChar char="•"/>
            </a:pP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Defoliation</a:t>
            </a:r>
            <a:endParaRPr lang="es-ES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285750" indent="-285750">
              <a:buClr>
                <a:srgbClr val="218317"/>
              </a:buClr>
              <a:buFont typeface="Arial" panose="020B0604020202020204" pitchFamily="34" charset="0"/>
              <a:buChar char="•"/>
            </a:pP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Pigments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(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Chl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,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carotenoids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)</a:t>
            </a:r>
          </a:p>
          <a:p>
            <a:pPr marL="285750" indent="-285750">
              <a:buClr>
                <a:srgbClr val="218317"/>
              </a:buClr>
              <a:buFont typeface="Arial" panose="020B0604020202020204" pitchFamily="34" charset="0"/>
              <a:buChar char="•"/>
            </a:pP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SLA</a:t>
            </a:r>
          </a:p>
          <a:p>
            <a:pPr marL="285750" indent="-285750">
              <a:buClr>
                <a:srgbClr val="218317"/>
              </a:buClr>
              <a:buFont typeface="Arial" panose="020B0604020202020204" pitchFamily="34" charset="0"/>
              <a:buChar char="•"/>
            </a:pP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RWC</a:t>
            </a:r>
          </a:p>
          <a:p>
            <a:pPr marL="285750" indent="-285750">
              <a:buClr>
                <a:srgbClr val="218317"/>
              </a:buClr>
              <a:buFont typeface="Arial" panose="020B0604020202020204" pitchFamily="34" charset="0"/>
              <a:buChar char="•"/>
            </a:pP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Leaf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isotopes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(</a:t>
            </a:r>
            <a:r>
              <a:rPr lang="el-GR" dirty="0">
                <a:latin typeface="Helvetica" panose="020B0604020202020204" pitchFamily="34" charset="0"/>
                <a:cs typeface="Helvetica" panose="020B0604020202020204" pitchFamily="34" charset="0"/>
              </a:rPr>
              <a:t>δ</a:t>
            </a:r>
            <a:r>
              <a:rPr lang="es-ES" baseline="30000" dirty="0">
                <a:latin typeface="Helvetica" panose="020B0604020202020204" pitchFamily="34" charset="0"/>
                <a:cs typeface="Helvetica" panose="020B0604020202020204" pitchFamily="34" charset="0"/>
              </a:rPr>
              <a:t>13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C, </a:t>
            </a:r>
            <a:r>
              <a:rPr lang="el-GR" dirty="0">
                <a:latin typeface="Helvetica" panose="020B0604020202020204" pitchFamily="34" charset="0"/>
                <a:cs typeface="Helvetica" panose="020B0604020202020204" pitchFamily="34" charset="0"/>
              </a:rPr>
              <a:t>δ</a:t>
            </a:r>
            <a:r>
              <a:rPr lang="es-ES" baseline="30000" dirty="0">
                <a:latin typeface="Helvetica" panose="020B0604020202020204" pitchFamily="34" charset="0"/>
                <a:cs typeface="Helvetica" panose="020B0604020202020204" pitchFamily="34" charset="0"/>
              </a:rPr>
              <a:t>15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n, </a:t>
            </a:r>
            <a:r>
              <a:rPr lang="el-GR" dirty="0">
                <a:latin typeface="Helvetica" panose="020B0604020202020204" pitchFamily="34" charset="0"/>
                <a:cs typeface="Helvetica" panose="020B0604020202020204" pitchFamily="34" charset="0"/>
              </a:rPr>
              <a:t>δ</a:t>
            </a:r>
            <a:r>
              <a:rPr lang="es-ES" baseline="30000" dirty="0">
                <a:latin typeface="Helvetica" panose="020B0604020202020204" pitchFamily="34" charset="0"/>
                <a:cs typeface="Helvetica" panose="020B0604020202020204" pitchFamily="34" charset="0"/>
              </a:rPr>
              <a:t>18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O)</a:t>
            </a:r>
          </a:p>
          <a:p>
            <a:pPr marL="285750" indent="-285750">
              <a:buClr>
                <a:srgbClr val="218317"/>
              </a:buClr>
              <a:buFont typeface="Arial" panose="020B0604020202020204" pitchFamily="34" charset="0"/>
              <a:buChar char="•"/>
            </a:pP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Wood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isotopes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(</a:t>
            </a:r>
            <a:r>
              <a:rPr lang="el-GR" dirty="0">
                <a:latin typeface="Helvetica" panose="020B0604020202020204" pitchFamily="34" charset="0"/>
                <a:cs typeface="Helvetica" panose="020B0604020202020204" pitchFamily="34" charset="0"/>
              </a:rPr>
              <a:t>δ</a:t>
            </a:r>
            <a:r>
              <a:rPr lang="es-ES" baseline="30000" dirty="0">
                <a:latin typeface="Helvetica" panose="020B0604020202020204" pitchFamily="34" charset="0"/>
                <a:cs typeface="Helvetica" panose="020B0604020202020204" pitchFamily="34" charset="0"/>
              </a:rPr>
              <a:t>13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C 2012-2017, </a:t>
            </a:r>
            <a:r>
              <a:rPr lang="el-GR" dirty="0">
                <a:latin typeface="Helvetica" panose="020B0604020202020204" pitchFamily="34" charset="0"/>
                <a:cs typeface="Helvetica" panose="020B0604020202020204" pitchFamily="34" charset="0"/>
              </a:rPr>
              <a:t>δ</a:t>
            </a:r>
            <a:r>
              <a:rPr lang="es-ES" baseline="30000" dirty="0">
                <a:latin typeface="Helvetica" panose="020B0604020202020204" pitchFamily="34" charset="0"/>
                <a:cs typeface="Helvetica" panose="020B0604020202020204" pitchFamily="34" charset="0"/>
              </a:rPr>
              <a:t>13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C 2017-2022)</a:t>
            </a:r>
          </a:p>
        </p:txBody>
      </p:sp>
      <p:sp>
        <p:nvSpPr>
          <p:cNvPr id="15" name="TextBox 16">
            <a:extLst>
              <a:ext uri="{FF2B5EF4-FFF2-40B4-BE49-F238E27FC236}">
                <a16:creationId xmlns:a16="http://schemas.microsoft.com/office/drawing/2014/main" id="{8A238F18-8604-62D5-10C6-A34053331094}"/>
              </a:ext>
            </a:extLst>
          </p:cNvPr>
          <p:cNvSpPr txBox="1"/>
          <p:nvPr/>
        </p:nvSpPr>
        <p:spPr>
          <a:xfrm>
            <a:off x="3022441" y="3443114"/>
            <a:ext cx="182301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3200" b="1" dirty="0">
                <a:latin typeface="Helvetica" panose="020B0604020202020204" pitchFamily="34" charset="0"/>
                <a:cs typeface="Helvetica" panose="020B0604020202020204" pitchFamily="34" charset="0"/>
              </a:rPr>
              <a:t>=/=</a:t>
            </a:r>
          </a:p>
        </p:txBody>
      </p:sp>
      <p:sp>
        <p:nvSpPr>
          <p:cNvPr id="9" name="Título 1">
            <a:extLst>
              <a:ext uri="{FF2B5EF4-FFF2-40B4-BE49-F238E27FC236}">
                <a16:creationId xmlns:a16="http://schemas.microsoft.com/office/drawing/2014/main" id="{A8272FBD-5FB8-8D01-73D5-F83A4E4C8603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9690902" cy="804155"/>
          </a:xfrm>
          <a:prstGeom prst="rect">
            <a:avLst/>
          </a:prstGeom>
          <a:solidFill>
            <a:srgbClr val="218317"/>
          </a:solidFill>
        </p:spPr>
        <p:txBody>
          <a:bodyPr vert="horz" lIns="91440" tIns="45720" rIns="91440" bIns="45720" rtlCol="0" anchor="ctr">
            <a:normAutofit fontScale="9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3200" b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	Complementary strategies to cope with drought</a:t>
            </a:r>
            <a:endParaRPr lang="es-ES" sz="3200" b="1" dirty="0">
              <a:solidFill>
                <a:schemeClr val="bg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0" name="Título 1">
            <a:extLst>
              <a:ext uri="{FF2B5EF4-FFF2-40B4-BE49-F238E27FC236}">
                <a16:creationId xmlns:a16="http://schemas.microsoft.com/office/drawing/2014/main" id="{74E3658E-0D43-A41C-F23B-1C210F54DC99}"/>
              </a:ext>
            </a:extLst>
          </p:cNvPr>
          <p:cNvSpPr txBox="1">
            <a:spLocks/>
          </p:cNvSpPr>
          <p:nvPr/>
        </p:nvSpPr>
        <p:spPr>
          <a:xfrm>
            <a:off x="9690902" y="-1"/>
            <a:ext cx="2501098" cy="804157"/>
          </a:xfrm>
          <a:prstGeom prst="rect">
            <a:avLst/>
          </a:prstGeom>
          <a:solidFill>
            <a:srgbClr val="218317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ES" sz="2800" b="1" dirty="0" err="1">
                <a:solidFill>
                  <a:schemeClr val="accent6">
                    <a:lumMod val="60000"/>
                    <a:lumOff val="4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Introduction</a:t>
            </a:r>
            <a:r>
              <a:rPr lang="es-ES" sz="2800" b="1" dirty="0">
                <a:solidFill>
                  <a:srgbClr val="218317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9208720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24F081-A088-30DB-3883-FCDEC46428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1D60CFF-15AC-6167-1BFE-B868A03B0D66}"/>
              </a:ext>
            </a:extLst>
          </p:cNvPr>
          <p:cNvSpPr txBox="1">
            <a:spLocks/>
          </p:cNvSpPr>
          <p:nvPr/>
        </p:nvSpPr>
        <p:spPr>
          <a:xfrm>
            <a:off x="1407983" y="1968471"/>
            <a:ext cx="2722485" cy="127366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s-ES" b="1" err="1">
                <a:latin typeface="Helvetica" panose="020B0604020202020204" pitchFamily="34" charset="0"/>
                <a:cs typeface="Helvetica" panose="020B0604020202020204" pitchFamily="34" charset="0"/>
              </a:rPr>
              <a:t>Isohydric</a:t>
            </a:r>
            <a:endParaRPr lang="es-ES" b="1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0" indent="0" algn="ctr">
              <a:buNone/>
            </a:pPr>
            <a:r>
              <a:rPr lang="es-ES">
                <a:solidFill>
                  <a:srgbClr val="218317"/>
                </a:solidFill>
                <a:latin typeface="Helvetica"/>
                <a:cs typeface="Helvetica"/>
              </a:rPr>
              <a:t>"Conservative"</a:t>
            </a:r>
            <a:endParaRPr lang="es-ES">
              <a:solidFill>
                <a:srgbClr val="218317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algn="ctr"/>
            <a:endParaRPr lang="es-ES" b="1">
              <a:solidFill>
                <a:srgbClr val="218317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5" name="Marcador de contenido 2">
            <a:extLst>
              <a:ext uri="{FF2B5EF4-FFF2-40B4-BE49-F238E27FC236}">
                <a16:creationId xmlns:a16="http://schemas.microsoft.com/office/drawing/2014/main" id="{C301A0A8-C680-A0B9-0230-69336DE66F5C}"/>
              </a:ext>
            </a:extLst>
          </p:cNvPr>
          <p:cNvSpPr txBox="1">
            <a:spLocks/>
          </p:cNvSpPr>
          <p:nvPr/>
        </p:nvSpPr>
        <p:spPr>
          <a:xfrm>
            <a:off x="7368825" y="1968471"/>
            <a:ext cx="2756263" cy="110113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s-ES" b="1" err="1">
                <a:latin typeface="Helvetica" panose="020B0604020202020204" pitchFamily="34" charset="0"/>
                <a:cs typeface="Helvetica" panose="020B0604020202020204" pitchFamily="34" charset="0"/>
              </a:rPr>
              <a:t>Anisohydric</a:t>
            </a:r>
            <a:endParaRPr lang="es-ES" b="1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0" indent="0" algn="ctr">
              <a:buNone/>
            </a:pPr>
            <a:r>
              <a:rPr lang="es-ES">
                <a:solidFill>
                  <a:srgbClr val="218317"/>
                </a:solidFill>
                <a:latin typeface="Helvetica"/>
                <a:cs typeface="Helvetica"/>
              </a:rPr>
              <a:t>"</a:t>
            </a:r>
            <a:r>
              <a:rPr lang="es-ES" err="1">
                <a:solidFill>
                  <a:srgbClr val="218317"/>
                </a:solidFill>
                <a:latin typeface="Helvetica"/>
                <a:cs typeface="Helvetica"/>
              </a:rPr>
              <a:t>Acquisitive</a:t>
            </a:r>
            <a:r>
              <a:rPr lang="es-ES">
                <a:solidFill>
                  <a:srgbClr val="218317"/>
                </a:solidFill>
                <a:latin typeface="Helvetica"/>
                <a:cs typeface="Helvetica"/>
              </a:rPr>
              <a:t>"</a:t>
            </a:r>
            <a:endParaRPr lang="es-ES">
              <a:solidFill>
                <a:srgbClr val="000000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cxnSp>
        <p:nvCxnSpPr>
          <p:cNvPr id="4" name="Conector recto de flecha 3">
            <a:extLst>
              <a:ext uri="{FF2B5EF4-FFF2-40B4-BE49-F238E27FC236}">
                <a16:creationId xmlns:a16="http://schemas.microsoft.com/office/drawing/2014/main" id="{57A09E0D-8002-1C48-7BE0-E5328339783A}"/>
              </a:ext>
            </a:extLst>
          </p:cNvPr>
          <p:cNvCxnSpPr>
            <a:cxnSpLocks/>
          </p:cNvCxnSpPr>
          <p:nvPr/>
        </p:nvCxnSpPr>
        <p:spPr>
          <a:xfrm flipH="1">
            <a:off x="2708814" y="3069608"/>
            <a:ext cx="7363" cy="569526"/>
          </a:xfrm>
          <a:prstGeom prst="straightConnector1">
            <a:avLst/>
          </a:prstGeom>
          <a:ln w="76200">
            <a:solidFill>
              <a:srgbClr val="21831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Marcador de contenido 2">
            <a:extLst>
              <a:ext uri="{FF2B5EF4-FFF2-40B4-BE49-F238E27FC236}">
                <a16:creationId xmlns:a16="http://schemas.microsoft.com/office/drawing/2014/main" id="{DD6EBB49-2FF0-EA11-DD35-E79B74B70DD8}"/>
              </a:ext>
            </a:extLst>
          </p:cNvPr>
          <p:cNvSpPr txBox="1">
            <a:spLocks/>
          </p:cNvSpPr>
          <p:nvPr/>
        </p:nvSpPr>
        <p:spPr>
          <a:xfrm>
            <a:off x="961054" y="3745826"/>
            <a:ext cx="3495519" cy="68632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ES" sz="2400" b="1">
                <a:latin typeface="Helvetica" panose="020B0604020202020204" pitchFamily="34" charset="0"/>
                <a:cs typeface="Helvetica" panose="020B0604020202020204" pitchFamily="34" charset="0"/>
              </a:rPr>
              <a:t>C </a:t>
            </a:r>
            <a:r>
              <a:rPr lang="es-ES" sz="2400" b="1" err="1">
                <a:latin typeface="Helvetica" panose="020B0604020202020204" pitchFamily="34" charset="0"/>
                <a:cs typeface="Helvetica" panose="020B0604020202020204" pitchFamily="34" charset="0"/>
              </a:rPr>
              <a:t>starvation</a:t>
            </a:r>
            <a:endParaRPr lang="es-ES" sz="2400" b="1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7" name="Marcador de contenido 2">
            <a:extLst>
              <a:ext uri="{FF2B5EF4-FFF2-40B4-BE49-F238E27FC236}">
                <a16:creationId xmlns:a16="http://schemas.microsoft.com/office/drawing/2014/main" id="{235F29CB-D416-8088-46C1-61AD3E5F34DD}"/>
              </a:ext>
            </a:extLst>
          </p:cNvPr>
          <p:cNvSpPr txBox="1">
            <a:spLocks/>
          </p:cNvSpPr>
          <p:nvPr/>
        </p:nvSpPr>
        <p:spPr>
          <a:xfrm>
            <a:off x="6955713" y="3745826"/>
            <a:ext cx="3495519" cy="68632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ES" sz="2400" b="1" err="1">
                <a:latin typeface="Helvetica" panose="020B0604020202020204" pitchFamily="34" charset="0"/>
                <a:cs typeface="Helvetica" panose="020B0604020202020204" pitchFamily="34" charset="0"/>
              </a:rPr>
              <a:t>Hydraulic</a:t>
            </a:r>
            <a:r>
              <a:rPr lang="es-ES" sz="2400" b="1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400" b="1" err="1">
                <a:latin typeface="Helvetica" panose="020B0604020202020204" pitchFamily="34" charset="0"/>
                <a:cs typeface="Helvetica" panose="020B0604020202020204" pitchFamily="34" charset="0"/>
              </a:rPr>
              <a:t>failure</a:t>
            </a:r>
            <a:endParaRPr lang="es-ES" sz="2400" b="1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cxnSp>
        <p:nvCxnSpPr>
          <p:cNvPr id="18" name="Conector recto de flecha 17">
            <a:extLst>
              <a:ext uri="{FF2B5EF4-FFF2-40B4-BE49-F238E27FC236}">
                <a16:creationId xmlns:a16="http://schemas.microsoft.com/office/drawing/2014/main" id="{5B42447E-4AD3-B544-F694-EDB332DCE9EC}"/>
              </a:ext>
            </a:extLst>
          </p:cNvPr>
          <p:cNvCxnSpPr/>
          <p:nvPr/>
        </p:nvCxnSpPr>
        <p:spPr>
          <a:xfrm flipH="1">
            <a:off x="8696110" y="3069608"/>
            <a:ext cx="7363" cy="569526"/>
          </a:xfrm>
          <a:prstGeom prst="straightConnector1">
            <a:avLst/>
          </a:prstGeom>
          <a:ln w="76200">
            <a:solidFill>
              <a:srgbClr val="21831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ectángulo 20">
            <a:extLst>
              <a:ext uri="{FF2B5EF4-FFF2-40B4-BE49-F238E27FC236}">
                <a16:creationId xmlns:a16="http://schemas.microsoft.com/office/drawing/2014/main" id="{AF79CFE7-C6B7-7114-7FED-F6435CFE4821}"/>
              </a:ext>
            </a:extLst>
          </p:cNvPr>
          <p:cNvSpPr/>
          <p:nvPr/>
        </p:nvSpPr>
        <p:spPr>
          <a:xfrm>
            <a:off x="1407983" y="1834769"/>
            <a:ext cx="2722484" cy="2486340"/>
          </a:xfrm>
          <a:prstGeom prst="rect">
            <a:avLst/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BC2D66EB-D7D7-8063-DB8C-354C0B383754}"/>
              </a:ext>
            </a:extLst>
          </p:cNvPr>
          <p:cNvSpPr/>
          <p:nvPr/>
        </p:nvSpPr>
        <p:spPr>
          <a:xfrm>
            <a:off x="7342230" y="1834769"/>
            <a:ext cx="2722484" cy="2486340"/>
          </a:xfrm>
          <a:prstGeom prst="rect">
            <a:avLst/>
          </a:prstGeom>
          <a:noFill/>
          <a:ln w="57150">
            <a:solidFill>
              <a:srgbClr val="2F55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3" name="Marcador de contenido 2">
            <a:extLst>
              <a:ext uri="{FF2B5EF4-FFF2-40B4-BE49-F238E27FC236}">
                <a16:creationId xmlns:a16="http://schemas.microsoft.com/office/drawing/2014/main" id="{7677E2A1-6A78-23DF-4BBB-9381DCF75D4B}"/>
              </a:ext>
            </a:extLst>
          </p:cNvPr>
          <p:cNvSpPr txBox="1">
            <a:spLocks/>
          </p:cNvSpPr>
          <p:nvPr/>
        </p:nvSpPr>
        <p:spPr>
          <a:xfrm>
            <a:off x="1351252" y="1432774"/>
            <a:ext cx="2729849" cy="45420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ES" sz="2400" dirty="0" err="1">
                <a:solidFill>
                  <a:srgbClr val="C00000"/>
                </a:solidFill>
                <a:latin typeface="Helvetica"/>
                <a:cs typeface="Helvetica"/>
              </a:rPr>
              <a:t>Declining</a:t>
            </a:r>
            <a:r>
              <a:rPr lang="es-ES" sz="2400" dirty="0">
                <a:solidFill>
                  <a:srgbClr val="C00000"/>
                </a:solidFill>
                <a:latin typeface="Helvetica"/>
                <a:cs typeface="Helvetica"/>
              </a:rPr>
              <a:t> sites</a:t>
            </a:r>
            <a:endParaRPr lang="es-ES" sz="2400" dirty="0">
              <a:solidFill>
                <a:srgbClr val="C00000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24" name="Marcador de contenido 2">
            <a:extLst>
              <a:ext uri="{FF2B5EF4-FFF2-40B4-BE49-F238E27FC236}">
                <a16:creationId xmlns:a16="http://schemas.microsoft.com/office/drawing/2014/main" id="{E01C7BDA-85BD-6E82-C818-62BC02AB56AE}"/>
              </a:ext>
            </a:extLst>
          </p:cNvPr>
          <p:cNvSpPr txBox="1">
            <a:spLocks/>
          </p:cNvSpPr>
          <p:nvPr/>
        </p:nvSpPr>
        <p:spPr>
          <a:xfrm>
            <a:off x="7368824" y="1432774"/>
            <a:ext cx="2729849" cy="454204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ES" sz="2400" dirty="0">
                <a:solidFill>
                  <a:srgbClr val="2F5597"/>
                </a:solidFill>
                <a:latin typeface="Helvetica"/>
                <a:cs typeface="Helvetica"/>
              </a:rPr>
              <a:t>Non-</a:t>
            </a:r>
            <a:r>
              <a:rPr lang="es-ES" sz="2400" dirty="0" err="1">
                <a:solidFill>
                  <a:srgbClr val="2F5597"/>
                </a:solidFill>
                <a:latin typeface="Helvetica"/>
                <a:cs typeface="Helvetica"/>
              </a:rPr>
              <a:t>declining</a:t>
            </a:r>
            <a:r>
              <a:rPr lang="es-ES" sz="2400" dirty="0">
                <a:solidFill>
                  <a:srgbClr val="2F5597"/>
                </a:solidFill>
                <a:latin typeface="Helvetica"/>
                <a:cs typeface="Helvetica"/>
              </a:rPr>
              <a:t> sites</a:t>
            </a:r>
            <a:endParaRPr lang="es-ES" sz="2400" dirty="0">
              <a:solidFill>
                <a:srgbClr val="2F5597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242A54D1-2ECF-7C61-83B9-4AD86563FD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690902" cy="804155"/>
          </a:xfrm>
          <a:solidFill>
            <a:srgbClr val="218317"/>
          </a:solidFill>
        </p:spPr>
        <p:txBody>
          <a:bodyPr>
            <a:normAutofit fontScale="90000"/>
          </a:bodyPr>
          <a:lstStyle/>
          <a:p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	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Complementary</a:t>
            </a:r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strategies</a:t>
            </a:r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to</a:t>
            </a:r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cope 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with</a:t>
            </a:r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drought</a:t>
            </a:r>
            <a:endParaRPr lang="es-ES" sz="3200" b="1" dirty="0">
              <a:solidFill>
                <a:schemeClr val="bg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442B1F0-F3D3-57E6-4914-BA213DCF8645}"/>
              </a:ext>
            </a:extLst>
          </p:cNvPr>
          <p:cNvSpPr txBox="1">
            <a:spLocks/>
          </p:cNvSpPr>
          <p:nvPr/>
        </p:nvSpPr>
        <p:spPr>
          <a:xfrm>
            <a:off x="9690902" y="-1"/>
            <a:ext cx="2501098" cy="804157"/>
          </a:xfrm>
          <a:prstGeom prst="rect">
            <a:avLst/>
          </a:prstGeom>
          <a:solidFill>
            <a:srgbClr val="218317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ES" sz="2800" b="1" dirty="0" err="1">
                <a:solidFill>
                  <a:schemeClr val="accent6">
                    <a:lumMod val="60000"/>
                    <a:lumOff val="4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Introduction</a:t>
            </a:r>
            <a:r>
              <a:rPr lang="es-ES" sz="2800" b="1" dirty="0">
                <a:solidFill>
                  <a:srgbClr val="218317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7642370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6A2E30-AD87-86BE-4697-EDAD03852A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1">
            <a:extLst>
              <a:ext uri="{FF2B5EF4-FFF2-40B4-BE49-F238E27FC236}">
                <a16:creationId xmlns:a16="http://schemas.microsoft.com/office/drawing/2014/main" id="{E17D39A2-FAE0-31EB-CFF5-788F2DC841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690902" cy="804155"/>
          </a:xfrm>
          <a:solidFill>
            <a:srgbClr val="218317"/>
          </a:solidFill>
        </p:spPr>
        <p:txBody>
          <a:bodyPr>
            <a:normAutofit fontScale="90000"/>
          </a:bodyPr>
          <a:lstStyle/>
          <a:p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	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Complementary</a:t>
            </a:r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strategies</a:t>
            </a:r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to</a:t>
            </a:r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cope 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with</a:t>
            </a:r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drought</a:t>
            </a:r>
            <a:endParaRPr lang="es-ES" sz="3200" b="1" dirty="0">
              <a:solidFill>
                <a:schemeClr val="bg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5F782DD7-1C64-8620-07CF-0495CE0C4739}"/>
              </a:ext>
            </a:extLst>
          </p:cNvPr>
          <p:cNvSpPr txBox="1">
            <a:spLocks/>
          </p:cNvSpPr>
          <p:nvPr/>
        </p:nvSpPr>
        <p:spPr>
          <a:xfrm>
            <a:off x="9690902" y="-1"/>
            <a:ext cx="2501098" cy="804157"/>
          </a:xfrm>
          <a:prstGeom prst="rect">
            <a:avLst/>
          </a:prstGeom>
          <a:solidFill>
            <a:srgbClr val="218317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ES" sz="28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G.I.K.</a:t>
            </a:r>
            <a:r>
              <a:rPr lang="es-ES" sz="2800" b="1" dirty="0">
                <a:solidFill>
                  <a:srgbClr val="218317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.</a:t>
            </a:r>
          </a:p>
        </p:txBody>
      </p:sp>
      <p:sp>
        <p:nvSpPr>
          <p:cNvPr id="7" name="Marcador de contenido 2">
            <a:extLst>
              <a:ext uri="{FF2B5EF4-FFF2-40B4-BE49-F238E27FC236}">
                <a16:creationId xmlns:a16="http://schemas.microsoft.com/office/drawing/2014/main" id="{B79C39D0-3013-0B8C-D452-0FAF13469743}"/>
              </a:ext>
            </a:extLst>
          </p:cNvPr>
          <p:cNvSpPr txBox="1">
            <a:spLocks/>
          </p:cNvSpPr>
          <p:nvPr/>
        </p:nvSpPr>
        <p:spPr>
          <a:xfrm>
            <a:off x="2519949" y="1159347"/>
            <a:ext cx="7152102" cy="80415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Clr>
                <a:srgbClr val="218317"/>
              </a:buClr>
              <a:buNone/>
            </a:pPr>
            <a:r>
              <a:rPr lang="es-ES" b="1" dirty="0" err="1">
                <a:latin typeface="Helvetica"/>
                <a:cs typeface="Helvetica"/>
              </a:rPr>
              <a:t>We</a:t>
            </a:r>
            <a:r>
              <a:rPr lang="es-ES" b="1" dirty="0">
                <a:latin typeface="Helvetica"/>
                <a:cs typeface="Helvetica"/>
              </a:rPr>
              <a:t> are </a:t>
            </a:r>
            <a:r>
              <a:rPr lang="es-ES" b="1" dirty="0" err="1">
                <a:latin typeface="Helvetica"/>
                <a:cs typeface="Helvetica"/>
              </a:rPr>
              <a:t>still</a:t>
            </a:r>
            <a:r>
              <a:rPr lang="es-ES" b="1" dirty="0">
                <a:latin typeface="Helvetica"/>
                <a:cs typeface="Helvetica"/>
              </a:rPr>
              <a:t> </a:t>
            </a:r>
            <a:r>
              <a:rPr lang="es-ES" b="1" dirty="0" err="1">
                <a:latin typeface="Helvetica"/>
                <a:cs typeface="Helvetica"/>
              </a:rPr>
              <a:t>unable</a:t>
            </a:r>
            <a:r>
              <a:rPr lang="es-ES" b="1" dirty="0">
                <a:latin typeface="Helvetica"/>
                <a:cs typeface="Helvetica"/>
              </a:rPr>
              <a:t> </a:t>
            </a:r>
            <a:r>
              <a:rPr lang="es-ES" b="1" dirty="0" err="1">
                <a:latin typeface="Helvetica"/>
                <a:cs typeface="Helvetica"/>
              </a:rPr>
              <a:t>to</a:t>
            </a:r>
            <a:r>
              <a:rPr lang="es-ES" b="1" dirty="0">
                <a:latin typeface="Helvetica"/>
                <a:cs typeface="Helvetica"/>
              </a:rPr>
              <a:t> </a:t>
            </a:r>
            <a:r>
              <a:rPr lang="es-ES" b="1" dirty="0" err="1">
                <a:latin typeface="Helvetica"/>
                <a:cs typeface="Helvetica"/>
              </a:rPr>
              <a:t>forecast</a:t>
            </a:r>
            <a:r>
              <a:rPr lang="es-ES" b="1" dirty="0">
                <a:latin typeface="Helvetica"/>
                <a:cs typeface="Helvetica"/>
              </a:rPr>
              <a:t> die-off!</a:t>
            </a:r>
            <a:endParaRPr lang="es-ES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algn="ctr"/>
            <a:endParaRPr lang="es-ES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8" name="Marcador de contenido 2">
            <a:extLst>
              <a:ext uri="{FF2B5EF4-FFF2-40B4-BE49-F238E27FC236}">
                <a16:creationId xmlns:a16="http://schemas.microsoft.com/office/drawing/2014/main" id="{67384A7C-B566-4B0E-8694-CA63628DC54C}"/>
              </a:ext>
            </a:extLst>
          </p:cNvPr>
          <p:cNvSpPr txBox="1">
            <a:spLocks/>
          </p:cNvSpPr>
          <p:nvPr/>
        </p:nvSpPr>
        <p:spPr>
          <a:xfrm>
            <a:off x="618930" y="2148564"/>
            <a:ext cx="3234614" cy="411009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rgbClr val="218317"/>
              </a:buClr>
            </a:pPr>
            <a:r>
              <a:rPr lang="es-ES" sz="1800" dirty="0" err="1">
                <a:latin typeface="Helvetica"/>
                <a:cs typeface="Helvetica"/>
                <a:sym typeface="Wingdings" panose="05000000000000000000" pitchFamily="2" charset="2"/>
              </a:rPr>
              <a:t>Most</a:t>
            </a:r>
            <a:r>
              <a:rPr lang="es-ES" sz="1800" dirty="0">
                <a:latin typeface="Helvetica"/>
                <a:cs typeface="Helvetica"/>
                <a:sym typeface="Wingdings" panose="05000000000000000000" pitchFamily="2" charset="2"/>
              </a:rPr>
              <a:t> </a:t>
            </a:r>
            <a:r>
              <a:rPr lang="es-ES" sz="1800" dirty="0" err="1">
                <a:latin typeface="Helvetica"/>
                <a:cs typeface="Helvetica"/>
                <a:sym typeface="Wingdings" panose="05000000000000000000" pitchFamily="2" charset="2"/>
              </a:rPr>
              <a:t>studies</a:t>
            </a:r>
            <a:r>
              <a:rPr lang="es-ES" sz="1800" dirty="0">
                <a:latin typeface="Helvetica"/>
                <a:cs typeface="Helvetica"/>
                <a:sym typeface="Wingdings" panose="05000000000000000000" pitchFamily="2" charset="2"/>
              </a:rPr>
              <a:t> </a:t>
            </a:r>
            <a:r>
              <a:rPr lang="es-ES" sz="1800" dirty="0" err="1">
                <a:latin typeface="Helvetica"/>
                <a:cs typeface="Helvetica"/>
                <a:sym typeface="Wingdings" panose="05000000000000000000" pitchFamily="2" charset="2"/>
              </a:rPr>
              <a:t>focus</a:t>
            </a:r>
            <a:r>
              <a:rPr lang="es-ES" sz="1800" dirty="0">
                <a:latin typeface="Helvetica"/>
                <a:cs typeface="Helvetica"/>
                <a:sym typeface="Wingdings" panose="05000000000000000000" pitchFamily="2" charset="2"/>
              </a:rPr>
              <a:t> </a:t>
            </a:r>
            <a:r>
              <a:rPr lang="es-ES" sz="1800" dirty="0" err="1">
                <a:latin typeface="Helvetica"/>
                <a:cs typeface="Helvetica"/>
                <a:sym typeface="Wingdings" panose="05000000000000000000" pitchFamily="2" charset="2"/>
              </a:rPr>
              <a:t>on</a:t>
            </a:r>
            <a:r>
              <a:rPr lang="es-ES" sz="1800" dirty="0">
                <a:latin typeface="Helvetica"/>
                <a:cs typeface="Helvetica"/>
                <a:sym typeface="Wingdings" panose="05000000000000000000" pitchFamily="2" charset="2"/>
              </a:rPr>
              <a:t> </a:t>
            </a:r>
            <a:r>
              <a:rPr lang="es-ES" sz="1800" b="1" dirty="0">
                <a:latin typeface="Helvetica"/>
                <a:cs typeface="Helvetica"/>
                <a:sym typeface="Wingdings" panose="05000000000000000000" pitchFamily="2" charset="2"/>
              </a:rPr>
              <a:t>single </a:t>
            </a:r>
            <a:r>
              <a:rPr lang="es-ES" sz="1800" b="1" dirty="0" err="1">
                <a:latin typeface="Helvetica"/>
                <a:cs typeface="Helvetica"/>
                <a:sym typeface="Wingdings" panose="05000000000000000000" pitchFamily="2" charset="2"/>
              </a:rPr>
              <a:t>species</a:t>
            </a:r>
            <a:endParaRPr lang="es-ES" sz="1800" b="1" dirty="0">
              <a:latin typeface="Helvetica"/>
              <a:cs typeface="Helvetica"/>
              <a:sym typeface="Wingdings" panose="05000000000000000000" pitchFamily="2" charset="2"/>
            </a:endParaRPr>
          </a:p>
          <a:p>
            <a:pPr>
              <a:buClr>
                <a:srgbClr val="218317"/>
              </a:buClr>
            </a:pPr>
            <a:endParaRPr lang="es-ES" sz="1800" b="1" dirty="0">
              <a:latin typeface="Helvetica"/>
              <a:cs typeface="Helvetica"/>
              <a:sym typeface="Wingdings" panose="05000000000000000000" pitchFamily="2" charset="2"/>
            </a:endParaRPr>
          </a:p>
          <a:p>
            <a:pPr>
              <a:buClr>
                <a:srgbClr val="218317"/>
              </a:buClr>
            </a:pPr>
            <a:r>
              <a:rPr lang="es-ES" sz="1800" dirty="0" err="1">
                <a:latin typeface="Helvetica"/>
                <a:cs typeface="Helvetica"/>
                <a:sym typeface="Wingdings" panose="05000000000000000000" pitchFamily="2" charset="2"/>
              </a:rPr>
              <a:t>L</a:t>
            </a:r>
            <a:r>
              <a:rPr lang="es-ES" sz="1800" dirty="0" err="1">
                <a:latin typeface="Helvetica"/>
                <a:cs typeface="Helvetica"/>
              </a:rPr>
              <a:t>ack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dirty="0" err="1">
                <a:latin typeface="Helvetica"/>
                <a:cs typeface="Helvetica"/>
              </a:rPr>
              <a:t>of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b="1" dirty="0">
                <a:latin typeface="Helvetica"/>
                <a:cs typeface="Helvetica"/>
              </a:rPr>
              <a:t>regional-</a:t>
            </a:r>
            <a:r>
              <a:rPr lang="es-ES" sz="1800" b="1" dirty="0" err="1">
                <a:latin typeface="Helvetica"/>
                <a:cs typeface="Helvetica"/>
              </a:rPr>
              <a:t>scale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dirty="0" err="1">
                <a:latin typeface="Helvetica"/>
                <a:cs typeface="Helvetica"/>
              </a:rPr>
              <a:t>studies</a:t>
            </a:r>
            <a:endParaRPr lang="es-ES" sz="1800" dirty="0">
              <a:latin typeface="Helvetica"/>
              <a:cs typeface="Helvetica"/>
            </a:endParaRPr>
          </a:p>
          <a:p>
            <a:pPr>
              <a:buClr>
                <a:srgbClr val="218317"/>
              </a:buClr>
            </a:pPr>
            <a:endParaRPr lang="es-ES" sz="1800" dirty="0">
              <a:latin typeface="Helvetica"/>
              <a:cs typeface="Helvetica"/>
            </a:endParaRPr>
          </a:p>
          <a:p>
            <a:pPr>
              <a:buClr>
                <a:srgbClr val="218317"/>
              </a:buClr>
            </a:pPr>
            <a:r>
              <a:rPr lang="es-ES" sz="1800" dirty="0">
                <a:latin typeface="Helvetica"/>
                <a:cs typeface="Helvetica"/>
              </a:rPr>
              <a:t>Relative </a:t>
            </a:r>
            <a:r>
              <a:rPr lang="es-ES" sz="1800" dirty="0" err="1">
                <a:latin typeface="Helvetica"/>
                <a:cs typeface="Helvetica"/>
              </a:rPr>
              <a:t>importance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dirty="0" err="1">
                <a:latin typeface="Helvetica"/>
                <a:cs typeface="Helvetica"/>
              </a:rPr>
              <a:t>of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b="1" dirty="0" err="1">
                <a:latin typeface="Helvetica"/>
                <a:cs typeface="Helvetica"/>
              </a:rPr>
              <a:t>hydraulic</a:t>
            </a:r>
            <a:r>
              <a:rPr lang="es-ES" sz="1800" b="1" dirty="0">
                <a:latin typeface="Helvetica"/>
                <a:cs typeface="Helvetica"/>
              </a:rPr>
              <a:t> </a:t>
            </a:r>
            <a:r>
              <a:rPr lang="es-ES" sz="1800" b="1" dirty="0" err="1">
                <a:latin typeface="Helvetica"/>
                <a:cs typeface="Helvetica"/>
              </a:rPr>
              <a:t>failure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b="1" dirty="0">
                <a:latin typeface="Helvetica"/>
                <a:cs typeface="Helvetica"/>
              </a:rPr>
              <a:t>vs. </a:t>
            </a:r>
            <a:r>
              <a:rPr lang="es-ES" sz="1800" b="1" dirty="0" err="1">
                <a:latin typeface="Helvetica"/>
                <a:cs typeface="Helvetica"/>
              </a:rPr>
              <a:t>carbon</a:t>
            </a:r>
            <a:r>
              <a:rPr lang="es-ES" sz="1800" b="1" dirty="0">
                <a:latin typeface="Helvetica"/>
                <a:cs typeface="Helvetica"/>
              </a:rPr>
              <a:t> </a:t>
            </a:r>
            <a:r>
              <a:rPr lang="es-ES" sz="1800" b="1" dirty="0" err="1">
                <a:latin typeface="Helvetica"/>
                <a:cs typeface="Helvetica"/>
              </a:rPr>
              <a:t>starvation</a:t>
            </a:r>
            <a:r>
              <a:rPr lang="es-ES" sz="1800" dirty="0">
                <a:latin typeface="Helvetica"/>
                <a:cs typeface="Helvetica"/>
              </a:rPr>
              <a:t>?</a:t>
            </a:r>
          </a:p>
          <a:p>
            <a:pPr>
              <a:buClr>
                <a:srgbClr val="218317"/>
              </a:buClr>
            </a:pPr>
            <a:endParaRPr lang="es-ES" sz="1800" dirty="0">
              <a:latin typeface="Helvetica"/>
              <a:cs typeface="Helvetica"/>
            </a:endParaRPr>
          </a:p>
          <a:p>
            <a:pPr>
              <a:buClr>
                <a:srgbClr val="218317"/>
              </a:buClr>
            </a:pPr>
            <a:r>
              <a:rPr lang="es-ES" sz="1800" b="1" dirty="0" err="1">
                <a:latin typeface="Helvetica"/>
                <a:cs typeface="Helvetica"/>
              </a:rPr>
              <a:t>Overlooked</a:t>
            </a:r>
            <a:r>
              <a:rPr lang="es-ES" sz="1800" b="1" dirty="0">
                <a:latin typeface="Helvetica"/>
                <a:cs typeface="Helvetica"/>
              </a:rPr>
              <a:t> </a:t>
            </a:r>
            <a:r>
              <a:rPr lang="es-ES" sz="1800" b="1" dirty="0" err="1">
                <a:latin typeface="Helvetica"/>
                <a:cs typeface="Helvetica"/>
              </a:rPr>
              <a:t>interactions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dirty="0" err="1">
                <a:latin typeface="Helvetica"/>
                <a:cs typeface="Helvetica"/>
              </a:rPr>
              <a:t>between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dirty="0" err="1">
                <a:latin typeface="Helvetica"/>
                <a:cs typeface="Helvetica"/>
              </a:rPr>
              <a:t>processes</a:t>
            </a:r>
            <a:endParaRPr lang="es-ES" sz="1800" dirty="0">
              <a:latin typeface="Helvetica"/>
              <a:cs typeface="Helvetica"/>
            </a:endParaRPr>
          </a:p>
          <a:p>
            <a:pPr marL="0" indent="0">
              <a:buClr>
                <a:srgbClr val="218317"/>
              </a:buClr>
              <a:buNone/>
            </a:pPr>
            <a:endParaRPr lang="es-ES" sz="1800" b="1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lvl="1">
              <a:buClr>
                <a:srgbClr val="218317"/>
              </a:buClr>
              <a:buFont typeface="Calibri" panose="02070309020205020404" pitchFamily="49" charset="0"/>
              <a:buChar char="-"/>
            </a:pPr>
            <a:endParaRPr lang="es-ES" sz="1800" b="1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endParaRPr lang="es-ES" sz="2000" b="1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40" name="Right Brace 39">
            <a:extLst>
              <a:ext uri="{FF2B5EF4-FFF2-40B4-BE49-F238E27FC236}">
                <a16:creationId xmlns:a16="http://schemas.microsoft.com/office/drawing/2014/main" id="{C2886C7B-FC26-0518-EFEB-6CF99FF7E650}"/>
              </a:ext>
            </a:extLst>
          </p:cNvPr>
          <p:cNvSpPr/>
          <p:nvPr/>
        </p:nvSpPr>
        <p:spPr>
          <a:xfrm>
            <a:off x="3405675" y="2198102"/>
            <a:ext cx="345232" cy="1430766"/>
          </a:xfrm>
          <a:prstGeom prst="rightBrace">
            <a:avLst/>
          </a:prstGeom>
          <a:ln w="38100">
            <a:solidFill>
              <a:srgbClr val="21831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25DAEE9-0E8E-D2A7-0827-068E0C0820F8}"/>
              </a:ext>
            </a:extLst>
          </p:cNvPr>
          <p:cNvSpPr txBox="1">
            <a:spLocks/>
          </p:cNvSpPr>
          <p:nvPr/>
        </p:nvSpPr>
        <p:spPr>
          <a:xfrm>
            <a:off x="3853544" y="2198102"/>
            <a:ext cx="3915996" cy="1430766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rgbClr val="218317"/>
              </a:buClr>
              <a:buNone/>
            </a:pPr>
            <a:r>
              <a:rPr lang="es-ES" sz="1800" dirty="0">
                <a:latin typeface="Helvetica"/>
                <a:cs typeface="Helvetica"/>
              </a:rPr>
              <a:t>Do </a:t>
            </a:r>
            <a:r>
              <a:rPr lang="es-ES" sz="1800" dirty="0" err="1">
                <a:latin typeface="Helvetica"/>
                <a:cs typeface="Helvetica"/>
              </a:rPr>
              <a:t>predisposing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dirty="0" err="1">
                <a:latin typeface="Helvetica"/>
                <a:cs typeface="Helvetica"/>
              </a:rPr>
              <a:t>factors</a:t>
            </a:r>
            <a:r>
              <a:rPr lang="es-ES" sz="1800" dirty="0">
                <a:latin typeface="Helvetica"/>
                <a:cs typeface="Helvetica"/>
              </a:rPr>
              <a:t> &amp; responses </a:t>
            </a:r>
            <a:r>
              <a:rPr lang="es-ES" sz="1800" dirty="0" err="1">
                <a:latin typeface="Helvetica"/>
                <a:cs typeface="Helvetica"/>
              </a:rPr>
              <a:t>remain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dirty="0" err="1">
                <a:latin typeface="Helvetica"/>
                <a:cs typeface="Helvetica"/>
              </a:rPr>
              <a:t>constant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dirty="0" err="1">
                <a:latin typeface="Helvetica"/>
                <a:cs typeface="Helvetica"/>
              </a:rPr>
              <a:t>across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b="1" dirty="0" err="1">
                <a:latin typeface="Helvetica"/>
                <a:cs typeface="Helvetica"/>
              </a:rPr>
              <a:t>species</a:t>
            </a:r>
            <a:r>
              <a:rPr lang="es-ES" sz="1800" dirty="0">
                <a:latin typeface="Helvetica"/>
                <a:cs typeface="Helvetica"/>
              </a:rPr>
              <a:t>?</a:t>
            </a:r>
          </a:p>
          <a:p>
            <a:pPr marL="0" indent="0">
              <a:buClr>
                <a:srgbClr val="218317"/>
              </a:buClr>
              <a:buNone/>
            </a:pPr>
            <a:r>
              <a:rPr lang="es-ES" sz="1800" dirty="0">
                <a:latin typeface="Helvetica"/>
                <a:cs typeface="Helvetica"/>
              </a:rPr>
              <a:t>Do </a:t>
            </a:r>
            <a:r>
              <a:rPr lang="es-ES" sz="1800" dirty="0" err="1">
                <a:latin typeface="Helvetica"/>
                <a:cs typeface="Helvetica"/>
              </a:rPr>
              <a:t>we</a:t>
            </a:r>
            <a:r>
              <a:rPr lang="es-ES" sz="1800" dirty="0">
                <a:latin typeface="Helvetica"/>
                <a:cs typeface="Helvetica"/>
              </a:rPr>
              <a:t> observe </a:t>
            </a:r>
            <a:r>
              <a:rPr lang="es-ES" sz="1800" dirty="0" err="1">
                <a:latin typeface="Helvetica"/>
                <a:cs typeface="Helvetica"/>
              </a:rPr>
              <a:t>the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dirty="0" err="1">
                <a:latin typeface="Helvetica"/>
                <a:cs typeface="Helvetica"/>
              </a:rPr>
              <a:t>same</a:t>
            </a:r>
            <a:r>
              <a:rPr lang="es-ES" sz="1800" dirty="0">
                <a:latin typeface="Helvetica"/>
                <a:cs typeface="Helvetica"/>
              </a:rPr>
              <a:t> at regional </a:t>
            </a:r>
            <a:r>
              <a:rPr lang="es-ES" sz="1800" dirty="0" err="1">
                <a:latin typeface="Helvetica"/>
                <a:cs typeface="Helvetica"/>
              </a:rPr>
              <a:t>scale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dirty="0" err="1">
                <a:latin typeface="Helvetica"/>
                <a:cs typeface="Helvetica"/>
              </a:rPr>
              <a:t>than</a:t>
            </a:r>
            <a:r>
              <a:rPr lang="es-ES" sz="1800" dirty="0">
                <a:latin typeface="Helvetica"/>
                <a:cs typeface="Helvetica"/>
              </a:rPr>
              <a:t> in </a:t>
            </a:r>
            <a:r>
              <a:rPr lang="es-ES" sz="1800" dirty="0" err="1">
                <a:latin typeface="Helvetica"/>
                <a:cs typeface="Helvetica"/>
              </a:rPr>
              <a:t>previous</a:t>
            </a:r>
            <a:r>
              <a:rPr lang="es-ES" sz="1800" dirty="0">
                <a:latin typeface="Helvetica"/>
                <a:cs typeface="Helvetica"/>
              </a:rPr>
              <a:t> local </a:t>
            </a:r>
            <a:r>
              <a:rPr lang="es-ES" sz="1800" dirty="0" err="1">
                <a:latin typeface="Helvetica"/>
                <a:cs typeface="Helvetica"/>
              </a:rPr>
              <a:t>studies</a:t>
            </a:r>
            <a:r>
              <a:rPr lang="es-ES" sz="1800" dirty="0">
                <a:latin typeface="Helvetica"/>
                <a:cs typeface="Helvetica"/>
              </a:rPr>
              <a:t>?</a:t>
            </a:r>
          </a:p>
          <a:p>
            <a:pPr marL="0" indent="0">
              <a:buClr>
                <a:srgbClr val="218317"/>
              </a:buClr>
              <a:buNone/>
            </a:pPr>
            <a:endParaRPr lang="es-ES" sz="18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363432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510321-10CC-3755-288D-DB11919B0D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1">
            <a:extLst>
              <a:ext uri="{FF2B5EF4-FFF2-40B4-BE49-F238E27FC236}">
                <a16:creationId xmlns:a16="http://schemas.microsoft.com/office/drawing/2014/main" id="{64375324-CAE8-7C5C-1191-4D00AF769F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690902" cy="804155"/>
          </a:xfrm>
          <a:solidFill>
            <a:srgbClr val="218317"/>
          </a:solidFill>
        </p:spPr>
        <p:txBody>
          <a:bodyPr>
            <a:normAutofit fontScale="90000"/>
          </a:bodyPr>
          <a:lstStyle/>
          <a:p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	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Complementary</a:t>
            </a:r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strategies</a:t>
            </a:r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to</a:t>
            </a:r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cope 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with</a:t>
            </a:r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drought</a:t>
            </a:r>
            <a:endParaRPr lang="es-ES" sz="3200" b="1" dirty="0">
              <a:solidFill>
                <a:schemeClr val="bg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1D577DDF-6E5B-743A-993E-A0B4E33601FE}"/>
              </a:ext>
            </a:extLst>
          </p:cNvPr>
          <p:cNvSpPr txBox="1">
            <a:spLocks/>
          </p:cNvSpPr>
          <p:nvPr/>
        </p:nvSpPr>
        <p:spPr>
          <a:xfrm>
            <a:off x="9690902" y="-1"/>
            <a:ext cx="2501098" cy="804157"/>
          </a:xfrm>
          <a:prstGeom prst="rect">
            <a:avLst/>
          </a:prstGeom>
          <a:solidFill>
            <a:srgbClr val="218317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ES" sz="28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G.I.K.</a:t>
            </a:r>
            <a:r>
              <a:rPr lang="es-ES" sz="2800" b="1" dirty="0">
                <a:solidFill>
                  <a:srgbClr val="218317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.</a:t>
            </a:r>
          </a:p>
        </p:txBody>
      </p:sp>
      <p:sp>
        <p:nvSpPr>
          <p:cNvPr id="7" name="Marcador de contenido 2">
            <a:extLst>
              <a:ext uri="{FF2B5EF4-FFF2-40B4-BE49-F238E27FC236}">
                <a16:creationId xmlns:a16="http://schemas.microsoft.com/office/drawing/2014/main" id="{16B8D2E9-3CB3-7E27-96D8-15723DF05B8B}"/>
              </a:ext>
            </a:extLst>
          </p:cNvPr>
          <p:cNvSpPr txBox="1">
            <a:spLocks/>
          </p:cNvSpPr>
          <p:nvPr/>
        </p:nvSpPr>
        <p:spPr>
          <a:xfrm>
            <a:off x="2519949" y="1159347"/>
            <a:ext cx="7152102" cy="80415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Clr>
                <a:srgbClr val="218317"/>
              </a:buClr>
              <a:buNone/>
            </a:pPr>
            <a:r>
              <a:rPr lang="es-ES" b="1" dirty="0" err="1">
                <a:latin typeface="Helvetica"/>
                <a:cs typeface="Helvetica"/>
              </a:rPr>
              <a:t>We</a:t>
            </a:r>
            <a:r>
              <a:rPr lang="es-ES" b="1" dirty="0">
                <a:latin typeface="Helvetica"/>
                <a:cs typeface="Helvetica"/>
              </a:rPr>
              <a:t> are </a:t>
            </a:r>
            <a:r>
              <a:rPr lang="es-ES" b="1" dirty="0" err="1">
                <a:latin typeface="Helvetica"/>
                <a:cs typeface="Helvetica"/>
              </a:rPr>
              <a:t>still</a:t>
            </a:r>
            <a:r>
              <a:rPr lang="es-ES" b="1" dirty="0">
                <a:latin typeface="Helvetica"/>
                <a:cs typeface="Helvetica"/>
              </a:rPr>
              <a:t> </a:t>
            </a:r>
            <a:r>
              <a:rPr lang="es-ES" b="1" dirty="0" err="1">
                <a:latin typeface="Helvetica"/>
                <a:cs typeface="Helvetica"/>
              </a:rPr>
              <a:t>unable</a:t>
            </a:r>
            <a:r>
              <a:rPr lang="es-ES" b="1" dirty="0">
                <a:latin typeface="Helvetica"/>
                <a:cs typeface="Helvetica"/>
              </a:rPr>
              <a:t> </a:t>
            </a:r>
            <a:r>
              <a:rPr lang="es-ES" b="1" dirty="0" err="1">
                <a:latin typeface="Helvetica"/>
                <a:cs typeface="Helvetica"/>
              </a:rPr>
              <a:t>to</a:t>
            </a:r>
            <a:r>
              <a:rPr lang="es-ES" b="1" dirty="0">
                <a:latin typeface="Helvetica"/>
                <a:cs typeface="Helvetica"/>
              </a:rPr>
              <a:t> </a:t>
            </a:r>
            <a:r>
              <a:rPr lang="es-ES" b="1" dirty="0" err="1">
                <a:latin typeface="Helvetica"/>
                <a:cs typeface="Helvetica"/>
              </a:rPr>
              <a:t>forecast</a:t>
            </a:r>
            <a:r>
              <a:rPr lang="es-ES" b="1" dirty="0">
                <a:latin typeface="Helvetica"/>
                <a:cs typeface="Helvetica"/>
              </a:rPr>
              <a:t> die-off!</a:t>
            </a:r>
            <a:endParaRPr lang="es-ES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algn="ctr"/>
            <a:endParaRPr lang="es-ES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8" name="Marcador de contenido 2">
            <a:extLst>
              <a:ext uri="{FF2B5EF4-FFF2-40B4-BE49-F238E27FC236}">
                <a16:creationId xmlns:a16="http://schemas.microsoft.com/office/drawing/2014/main" id="{CE03EEE0-A244-B2B4-36B1-6C27FF8A835D}"/>
              </a:ext>
            </a:extLst>
          </p:cNvPr>
          <p:cNvSpPr txBox="1">
            <a:spLocks/>
          </p:cNvSpPr>
          <p:nvPr/>
        </p:nvSpPr>
        <p:spPr>
          <a:xfrm>
            <a:off x="618930" y="2148564"/>
            <a:ext cx="3234614" cy="411009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rgbClr val="218317"/>
              </a:buClr>
            </a:pPr>
            <a:r>
              <a:rPr lang="es-ES" sz="1800" dirty="0" err="1">
                <a:latin typeface="Helvetica"/>
                <a:cs typeface="Helvetica"/>
                <a:sym typeface="Wingdings" panose="05000000000000000000" pitchFamily="2" charset="2"/>
              </a:rPr>
              <a:t>Most</a:t>
            </a:r>
            <a:r>
              <a:rPr lang="es-ES" sz="1800" dirty="0">
                <a:latin typeface="Helvetica"/>
                <a:cs typeface="Helvetica"/>
                <a:sym typeface="Wingdings" panose="05000000000000000000" pitchFamily="2" charset="2"/>
              </a:rPr>
              <a:t> </a:t>
            </a:r>
            <a:r>
              <a:rPr lang="es-ES" sz="1800" dirty="0" err="1">
                <a:latin typeface="Helvetica"/>
                <a:cs typeface="Helvetica"/>
                <a:sym typeface="Wingdings" panose="05000000000000000000" pitchFamily="2" charset="2"/>
              </a:rPr>
              <a:t>studies</a:t>
            </a:r>
            <a:r>
              <a:rPr lang="es-ES" sz="1800" dirty="0">
                <a:latin typeface="Helvetica"/>
                <a:cs typeface="Helvetica"/>
                <a:sym typeface="Wingdings" panose="05000000000000000000" pitchFamily="2" charset="2"/>
              </a:rPr>
              <a:t> </a:t>
            </a:r>
            <a:r>
              <a:rPr lang="es-ES" sz="1800" dirty="0" err="1">
                <a:latin typeface="Helvetica"/>
                <a:cs typeface="Helvetica"/>
                <a:sym typeface="Wingdings" panose="05000000000000000000" pitchFamily="2" charset="2"/>
              </a:rPr>
              <a:t>focus</a:t>
            </a:r>
            <a:r>
              <a:rPr lang="es-ES" sz="1800" dirty="0">
                <a:latin typeface="Helvetica"/>
                <a:cs typeface="Helvetica"/>
                <a:sym typeface="Wingdings" panose="05000000000000000000" pitchFamily="2" charset="2"/>
              </a:rPr>
              <a:t> </a:t>
            </a:r>
            <a:r>
              <a:rPr lang="es-ES" sz="1800" dirty="0" err="1">
                <a:latin typeface="Helvetica"/>
                <a:cs typeface="Helvetica"/>
                <a:sym typeface="Wingdings" panose="05000000000000000000" pitchFamily="2" charset="2"/>
              </a:rPr>
              <a:t>on</a:t>
            </a:r>
            <a:r>
              <a:rPr lang="es-ES" sz="1800" dirty="0">
                <a:latin typeface="Helvetica"/>
                <a:cs typeface="Helvetica"/>
                <a:sym typeface="Wingdings" panose="05000000000000000000" pitchFamily="2" charset="2"/>
              </a:rPr>
              <a:t> </a:t>
            </a:r>
            <a:r>
              <a:rPr lang="es-ES" sz="1800" b="1" dirty="0">
                <a:latin typeface="Helvetica"/>
                <a:cs typeface="Helvetica"/>
                <a:sym typeface="Wingdings" panose="05000000000000000000" pitchFamily="2" charset="2"/>
              </a:rPr>
              <a:t>single </a:t>
            </a:r>
            <a:r>
              <a:rPr lang="es-ES" sz="1800" b="1" dirty="0" err="1">
                <a:latin typeface="Helvetica"/>
                <a:cs typeface="Helvetica"/>
                <a:sym typeface="Wingdings" panose="05000000000000000000" pitchFamily="2" charset="2"/>
              </a:rPr>
              <a:t>species</a:t>
            </a:r>
            <a:endParaRPr lang="es-ES" sz="1800" b="1" dirty="0">
              <a:latin typeface="Helvetica"/>
              <a:cs typeface="Helvetica"/>
              <a:sym typeface="Wingdings" panose="05000000000000000000" pitchFamily="2" charset="2"/>
            </a:endParaRPr>
          </a:p>
          <a:p>
            <a:pPr>
              <a:buClr>
                <a:srgbClr val="218317"/>
              </a:buClr>
            </a:pPr>
            <a:endParaRPr lang="es-ES" sz="1800" b="1" dirty="0">
              <a:latin typeface="Helvetica"/>
              <a:cs typeface="Helvetica"/>
              <a:sym typeface="Wingdings" panose="05000000000000000000" pitchFamily="2" charset="2"/>
            </a:endParaRPr>
          </a:p>
          <a:p>
            <a:pPr>
              <a:buClr>
                <a:srgbClr val="218317"/>
              </a:buClr>
            </a:pPr>
            <a:r>
              <a:rPr lang="es-ES" sz="1800" dirty="0" err="1">
                <a:latin typeface="Helvetica"/>
                <a:cs typeface="Helvetica"/>
                <a:sym typeface="Wingdings" panose="05000000000000000000" pitchFamily="2" charset="2"/>
              </a:rPr>
              <a:t>L</a:t>
            </a:r>
            <a:r>
              <a:rPr lang="es-ES" sz="1800" dirty="0" err="1">
                <a:latin typeface="Helvetica"/>
                <a:cs typeface="Helvetica"/>
              </a:rPr>
              <a:t>ack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dirty="0" err="1">
                <a:latin typeface="Helvetica"/>
                <a:cs typeface="Helvetica"/>
              </a:rPr>
              <a:t>of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b="1" dirty="0">
                <a:latin typeface="Helvetica"/>
                <a:cs typeface="Helvetica"/>
              </a:rPr>
              <a:t>regional-</a:t>
            </a:r>
            <a:r>
              <a:rPr lang="es-ES" sz="1800" b="1" dirty="0" err="1">
                <a:latin typeface="Helvetica"/>
                <a:cs typeface="Helvetica"/>
              </a:rPr>
              <a:t>scale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dirty="0" err="1">
                <a:latin typeface="Helvetica"/>
                <a:cs typeface="Helvetica"/>
              </a:rPr>
              <a:t>studies</a:t>
            </a:r>
            <a:endParaRPr lang="es-ES" sz="1800" dirty="0">
              <a:latin typeface="Helvetica"/>
              <a:cs typeface="Helvetica"/>
            </a:endParaRPr>
          </a:p>
          <a:p>
            <a:pPr>
              <a:buClr>
                <a:srgbClr val="218317"/>
              </a:buClr>
            </a:pPr>
            <a:endParaRPr lang="es-ES" sz="1800" dirty="0">
              <a:latin typeface="Helvetica"/>
              <a:cs typeface="Helvetica"/>
            </a:endParaRPr>
          </a:p>
          <a:p>
            <a:pPr>
              <a:buClr>
                <a:srgbClr val="218317"/>
              </a:buClr>
            </a:pPr>
            <a:r>
              <a:rPr lang="es-ES" sz="1800" dirty="0">
                <a:latin typeface="Helvetica"/>
                <a:cs typeface="Helvetica"/>
              </a:rPr>
              <a:t>Relative </a:t>
            </a:r>
            <a:r>
              <a:rPr lang="es-ES" sz="1800" dirty="0" err="1">
                <a:latin typeface="Helvetica"/>
                <a:cs typeface="Helvetica"/>
              </a:rPr>
              <a:t>importance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dirty="0" err="1">
                <a:latin typeface="Helvetica"/>
                <a:cs typeface="Helvetica"/>
              </a:rPr>
              <a:t>of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b="1" dirty="0" err="1">
                <a:latin typeface="Helvetica"/>
                <a:cs typeface="Helvetica"/>
              </a:rPr>
              <a:t>hydraulic</a:t>
            </a:r>
            <a:r>
              <a:rPr lang="es-ES" sz="1800" b="1" dirty="0">
                <a:latin typeface="Helvetica"/>
                <a:cs typeface="Helvetica"/>
              </a:rPr>
              <a:t> </a:t>
            </a:r>
            <a:r>
              <a:rPr lang="es-ES" sz="1800" b="1" dirty="0" err="1">
                <a:latin typeface="Helvetica"/>
                <a:cs typeface="Helvetica"/>
              </a:rPr>
              <a:t>failure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b="1" dirty="0">
                <a:latin typeface="Helvetica"/>
                <a:cs typeface="Helvetica"/>
              </a:rPr>
              <a:t>vs. </a:t>
            </a:r>
            <a:r>
              <a:rPr lang="es-ES" sz="1800" b="1" dirty="0" err="1">
                <a:latin typeface="Helvetica"/>
                <a:cs typeface="Helvetica"/>
              </a:rPr>
              <a:t>carbon</a:t>
            </a:r>
            <a:r>
              <a:rPr lang="es-ES" sz="1800" b="1" dirty="0">
                <a:latin typeface="Helvetica"/>
                <a:cs typeface="Helvetica"/>
              </a:rPr>
              <a:t> </a:t>
            </a:r>
            <a:r>
              <a:rPr lang="es-ES" sz="1800" b="1" dirty="0" err="1">
                <a:latin typeface="Helvetica"/>
                <a:cs typeface="Helvetica"/>
              </a:rPr>
              <a:t>starvation</a:t>
            </a:r>
            <a:r>
              <a:rPr lang="es-ES" sz="1800" dirty="0">
                <a:latin typeface="Helvetica"/>
                <a:cs typeface="Helvetica"/>
              </a:rPr>
              <a:t>?</a:t>
            </a:r>
          </a:p>
          <a:p>
            <a:pPr>
              <a:buClr>
                <a:srgbClr val="218317"/>
              </a:buClr>
            </a:pPr>
            <a:endParaRPr lang="es-ES" sz="1800" dirty="0">
              <a:latin typeface="Helvetica"/>
              <a:cs typeface="Helvetica"/>
            </a:endParaRPr>
          </a:p>
          <a:p>
            <a:pPr>
              <a:buClr>
                <a:srgbClr val="218317"/>
              </a:buClr>
            </a:pPr>
            <a:r>
              <a:rPr lang="es-ES" sz="1800" b="1" dirty="0" err="1">
                <a:latin typeface="Helvetica"/>
                <a:cs typeface="Helvetica"/>
              </a:rPr>
              <a:t>Overlooked</a:t>
            </a:r>
            <a:r>
              <a:rPr lang="es-ES" sz="1800" b="1" dirty="0">
                <a:latin typeface="Helvetica"/>
                <a:cs typeface="Helvetica"/>
              </a:rPr>
              <a:t> </a:t>
            </a:r>
            <a:r>
              <a:rPr lang="es-ES" sz="1800" b="1" dirty="0" err="1">
                <a:latin typeface="Helvetica"/>
                <a:cs typeface="Helvetica"/>
              </a:rPr>
              <a:t>interactions</a:t>
            </a:r>
            <a:r>
              <a:rPr lang="es-ES" sz="1800" b="1" dirty="0">
                <a:latin typeface="Helvetica"/>
                <a:cs typeface="Helvetica"/>
              </a:rPr>
              <a:t> </a:t>
            </a:r>
            <a:r>
              <a:rPr lang="es-ES" sz="1800" dirty="0" err="1">
                <a:latin typeface="Helvetica"/>
                <a:cs typeface="Helvetica"/>
              </a:rPr>
              <a:t>between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dirty="0" err="1">
                <a:latin typeface="Helvetica"/>
                <a:cs typeface="Helvetica"/>
              </a:rPr>
              <a:t>processes</a:t>
            </a:r>
            <a:endParaRPr lang="es-ES" sz="1800" dirty="0">
              <a:latin typeface="Helvetica"/>
              <a:cs typeface="Helvetica"/>
            </a:endParaRPr>
          </a:p>
          <a:p>
            <a:pPr marL="0" indent="0">
              <a:buClr>
                <a:srgbClr val="218317"/>
              </a:buClr>
              <a:buNone/>
            </a:pPr>
            <a:endParaRPr lang="es-ES" sz="1800" b="1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lvl="1">
              <a:buClr>
                <a:srgbClr val="218317"/>
              </a:buClr>
              <a:buFont typeface="Calibri" panose="02070309020205020404" pitchFamily="49" charset="0"/>
              <a:buChar char="-"/>
            </a:pPr>
            <a:endParaRPr lang="es-ES" sz="1800" b="1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endParaRPr lang="es-ES" sz="2000" b="1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0" name="Marcador de contenido 2">
            <a:extLst>
              <a:ext uri="{FF2B5EF4-FFF2-40B4-BE49-F238E27FC236}">
                <a16:creationId xmlns:a16="http://schemas.microsoft.com/office/drawing/2014/main" id="{4178B487-DF4D-2625-EBC7-8F7EAFFA1862}"/>
              </a:ext>
            </a:extLst>
          </p:cNvPr>
          <p:cNvSpPr txBox="1">
            <a:spLocks/>
          </p:cNvSpPr>
          <p:nvPr/>
        </p:nvSpPr>
        <p:spPr>
          <a:xfrm>
            <a:off x="8374268" y="3005916"/>
            <a:ext cx="3611456" cy="114682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ES" sz="1800" b="1" dirty="0" err="1">
                <a:latin typeface="Helvetica"/>
                <a:cs typeface="Helvetica"/>
              </a:rPr>
              <a:t>Obj</a:t>
            </a:r>
            <a:r>
              <a:rPr lang="es-ES" sz="1800" b="1" dirty="0">
                <a:latin typeface="Helvetica"/>
                <a:cs typeface="Helvetica"/>
              </a:rPr>
              <a:t>. 2.- </a:t>
            </a:r>
            <a:r>
              <a:rPr lang="es-ES" sz="1800" dirty="0" err="1">
                <a:latin typeface="Helvetica"/>
                <a:cs typeface="Helvetica"/>
              </a:rPr>
              <a:t>To</a:t>
            </a:r>
            <a:r>
              <a:rPr lang="es-ES" sz="1800" dirty="0">
                <a:latin typeface="Helvetica"/>
                <a:cs typeface="Helvetica"/>
              </a:rPr>
              <a:t> determine </a:t>
            </a:r>
            <a:r>
              <a:rPr lang="es-ES" sz="1800" dirty="0" err="1">
                <a:latin typeface="Helvetica"/>
                <a:cs typeface="Helvetica"/>
              </a:rPr>
              <a:t>what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dirty="0" err="1">
                <a:latin typeface="Helvetica"/>
                <a:cs typeface="Helvetica"/>
              </a:rPr>
              <a:t>processes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dirty="0" err="1">
                <a:latin typeface="Helvetica"/>
                <a:cs typeface="Helvetica"/>
              </a:rPr>
              <a:t>have</a:t>
            </a:r>
            <a:r>
              <a:rPr lang="es-ES" sz="1800" dirty="0">
                <a:latin typeface="Helvetica"/>
                <a:cs typeface="Helvetica"/>
              </a:rPr>
              <a:t> a </a:t>
            </a:r>
            <a:r>
              <a:rPr lang="es-ES" sz="1800" dirty="0" err="1">
                <a:latin typeface="Helvetica"/>
                <a:cs typeface="Helvetica"/>
              </a:rPr>
              <a:t>greater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dirty="0" err="1">
                <a:latin typeface="Helvetica"/>
                <a:cs typeface="Helvetica"/>
              </a:rPr>
              <a:t>importance</a:t>
            </a:r>
            <a:r>
              <a:rPr lang="es-ES" sz="1800" dirty="0">
                <a:latin typeface="Helvetica"/>
                <a:cs typeface="Helvetica"/>
              </a:rPr>
              <a:t>, and </a:t>
            </a:r>
            <a:r>
              <a:rPr lang="es-ES" sz="1800" dirty="0" err="1">
                <a:latin typeface="Helvetica"/>
                <a:cs typeface="Helvetica"/>
              </a:rPr>
              <a:t>whether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dirty="0" err="1">
                <a:latin typeface="Helvetica"/>
                <a:cs typeface="Helvetica"/>
              </a:rPr>
              <a:t>these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dirty="0" err="1">
                <a:latin typeface="Helvetica"/>
                <a:cs typeface="Helvetica"/>
              </a:rPr>
              <a:t>change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dirty="0" err="1">
                <a:latin typeface="Helvetica"/>
                <a:cs typeface="Helvetica"/>
              </a:rPr>
              <a:t>between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dirty="0" err="1">
                <a:latin typeface="Helvetica"/>
                <a:cs typeface="Helvetica"/>
              </a:rPr>
              <a:t>species</a:t>
            </a:r>
            <a:endParaRPr lang="es-ES" sz="1800" b="1" dirty="0">
              <a:latin typeface="Helvetica"/>
              <a:cs typeface="Helvetica"/>
            </a:endParaRPr>
          </a:p>
        </p:txBody>
      </p:sp>
      <p:sp>
        <p:nvSpPr>
          <p:cNvPr id="39" name="Marcador de contenido 2">
            <a:extLst>
              <a:ext uri="{FF2B5EF4-FFF2-40B4-BE49-F238E27FC236}">
                <a16:creationId xmlns:a16="http://schemas.microsoft.com/office/drawing/2014/main" id="{69C73F29-16B2-F5FB-45B7-526BF92C49ED}"/>
              </a:ext>
            </a:extLst>
          </p:cNvPr>
          <p:cNvSpPr txBox="1">
            <a:spLocks/>
          </p:cNvSpPr>
          <p:nvPr/>
        </p:nvSpPr>
        <p:spPr>
          <a:xfrm>
            <a:off x="3853544" y="2198102"/>
            <a:ext cx="3915996" cy="1430766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rgbClr val="218317"/>
              </a:buClr>
              <a:buNone/>
            </a:pPr>
            <a:r>
              <a:rPr lang="es-ES" sz="1800" dirty="0">
                <a:latin typeface="Helvetica"/>
                <a:cs typeface="Helvetica"/>
              </a:rPr>
              <a:t>Do </a:t>
            </a:r>
            <a:r>
              <a:rPr lang="es-ES" sz="1800" dirty="0" err="1">
                <a:latin typeface="Helvetica"/>
                <a:cs typeface="Helvetica"/>
              </a:rPr>
              <a:t>predisposing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dirty="0" err="1">
                <a:latin typeface="Helvetica"/>
                <a:cs typeface="Helvetica"/>
              </a:rPr>
              <a:t>factors</a:t>
            </a:r>
            <a:r>
              <a:rPr lang="es-ES" sz="1800" dirty="0">
                <a:latin typeface="Helvetica"/>
                <a:cs typeface="Helvetica"/>
              </a:rPr>
              <a:t> &amp; responses </a:t>
            </a:r>
            <a:r>
              <a:rPr lang="es-ES" sz="1800" dirty="0" err="1">
                <a:latin typeface="Helvetica"/>
                <a:cs typeface="Helvetica"/>
              </a:rPr>
              <a:t>remain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dirty="0" err="1">
                <a:latin typeface="Helvetica"/>
                <a:cs typeface="Helvetica"/>
              </a:rPr>
              <a:t>constant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dirty="0" err="1">
                <a:latin typeface="Helvetica"/>
                <a:cs typeface="Helvetica"/>
              </a:rPr>
              <a:t>across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b="1" dirty="0" err="1">
                <a:latin typeface="Helvetica"/>
                <a:cs typeface="Helvetica"/>
              </a:rPr>
              <a:t>species</a:t>
            </a:r>
            <a:r>
              <a:rPr lang="es-ES" sz="1800" dirty="0">
                <a:latin typeface="Helvetica"/>
                <a:cs typeface="Helvetica"/>
              </a:rPr>
              <a:t>?</a:t>
            </a:r>
          </a:p>
          <a:p>
            <a:pPr marL="0" indent="0">
              <a:buClr>
                <a:srgbClr val="218317"/>
              </a:buClr>
              <a:buNone/>
            </a:pPr>
            <a:r>
              <a:rPr lang="es-ES" sz="1800" dirty="0">
                <a:latin typeface="Helvetica"/>
                <a:cs typeface="Helvetica"/>
              </a:rPr>
              <a:t>Do </a:t>
            </a:r>
            <a:r>
              <a:rPr lang="es-ES" sz="1800" dirty="0" err="1">
                <a:latin typeface="Helvetica"/>
                <a:cs typeface="Helvetica"/>
              </a:rPr>
              <a:t>we</a:t>
            </a:r>
            <a:r>
              <a:rPr lang="es-ES" sz="1800" dirty="0">
                <a:latin typeface="Helvetica"/>
                <a:cs typeface="Helvetica"/>
              </a:rPr>
              <a:t> observe </a:t>
            </a:r>
            <a:r>
              <a:rPr lang="es-ES" sz="1800" dirty="0" err="1">
                <a:latin typeface="Helvetica"/>
                <a:cs typeface="Helvetica"/>
              </a:rPr>
              <a:t>the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dirty="0" err="1">
                <a:latin typeface="Helvetica"/>
                <a:cs typeface="Helvetica"/>
              </a:rPr>
              <a:t>same</a:t>
            </a:r>
            <a:r>
              <a:rPr lang="es-ES" sz="1800" dirty="0">
                <a:latin typeface="Helvetica"/>
                <a:cs typeface="Helvetica"/>
              </a:rPr>
              <a:t> at regional </a:t>
            </a:r>
            <a:r>
              <a:rPr lang="es-ES" sz="1800" dirty="0" err="1">
                <a:latin typeface="Helvetica"/>
                <a:cs typeface="Helvetica"/>
              </a:rPr>
              <a:t>scale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dirty="0" err="1">
                <a:latin typeface="Helvetica"/>
                <a:cs typeface="Helvetica"/>
              </a:rPr>
              <a:t>than</a:t>
            </a:r>
            <a:r>
              <a:rPr lang="es-ES" sz="1800" dirty="0">
                <a:latin typeface="Helvetica"/>
                <a:cs typeface="Helvetica"/>
              </a:rPr>
              <a:t> in </a:t>
            </a:r>
            <a:r>
              <a:rPr lang="es-ES" sz="1800" dirty="0" err="1">
                <a:latin typeface="Helvetica"/>
                <a:cs typeface="Helvetica"/>
              </a:rPr>
              <a:t>previous</a:t>
            </a:r>
            <a:r>
              <a:rPr lang="es-ES" sz="1800" dirty="0">
                <a:latin typeface="Helvetica"/>
                <a:cs typeface="Helvetica"/>
              </a:rPr>
              <a:t> local </a:t>
            </a:r>
            <a:r>
              <a:rPr lang="es-ES" sz="1800" dirty="0" err="1">
                <a:latin typeface="Helvetica"/>
                <a:cs typeface="Helvetica"/>
              </a:rPr>
              <a:t>studies</a:t>
            </a:r>
            <a:r>
              <a:rPr lang="es-ES" sz="1800" dirty="0">
                <a:latin typeface="Helvetica"/>
                <a:cs typeface="Helvetica"/>
              </a:rPr>
              <a:t>?</a:t>
            </a:r>
          </a:p>
          <a:p>
            <a:pPr marL="0" indent="0">
              <a:buClr>
                <a:srgbClr val="218317"/>
              </a:buClr>
              <a:buNone/>
            </a:pPr>
            <a:endParaRPr lang="es-ES" sz="18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40" name="Right Brace 39">
            <a:extLst>
              <a:ext uri="{FF2B5EF4-FFF2-40B4-BE49-F238E27FC236}">
                <a16:creationId xmlns:a16="http://schemas.microsoft.com/office/drawing/2014/main" id="{6EA7AB93-34B9-651E-EA12-4B8DCA9E2329}"/>
              </a:ext>
            </a:extLst>
          </p:cNvPr>
          <p:cNvSpPr/>
          <p:nvPr/>
        </p:nvSpPr>
        <p:spPr>
          <a:xfrm>
            <a:off x="3405675" y="2198102"/>
            <a:ext cx="345232" cy="1430766"/>
          </a:xfrm>
          <a:prstGeom prst="rightBrace">
            <a:avLst/>
          </a:prstGeom>
          <a:ln w="38100">
            <a:solidFill>
              <a:srgbClr val="21831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8DA2083-C79E-0F73-F069-CF2DD442ECC3}"/>
              </a:ext>
            </a:extLst>
          </p:cNvPr>
          <p:cNvSpPr txBox="1">
            <a:spLocks/>
          </p:cNvSpPr>
          <p:nvPr/>
        </p:nvSpPr>
        <p:spPr>
          <a:xfrm>
            <a:off x="8374268" y="1819225"/>
            <a:ext cx="3472006" cy="1430766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rgbClr val="218317"/>
              </a:buClr>
              <a:buNone/>
            </a:pPr>
            <a:r>
              <a:rPr lang="es-ES" sz="1800" b="1" dirty="0" err="1">
                <a:latin typeface="Helvetica"/>
                <a:cs typeface="Helvetica"/>
              </a:rPr>
              <a:t>Obj</a:t>
            </a:r>
            <a:r>
              <a:rPr lang="es-ES" sz="1800" b="1" dirty="0">
                <a:latin typeface="Helvetica"/>
                <a:cs typeface="Helvetica"/>
              </a:rPr>
              <a:t>. 1.: </a:t>
            </a:r>
            <a:r>
              <a:rPr lang="es-ES" sz="1800" dirty="0" err="1">
                <a:latin typeface="Helvetica"/>
                <a:cs typeface="Helvetica"/>
              </a:rPr>
              <a:t>To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dirty="0" err="1">
                <a:latin typeface="Helvetica"/>
                <a:cs typeface="Helvetica"/>
              </a:rPr>
              <a:t>assess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dirty="0" err="1">
                <a:latin typeface="Helvetica"/>
                <a:cs typeface="Helvetica"/>
              </a:rPr>
              <a:t>the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dirty="0" err="1">
                <a:latin typeface="Helvetica"/>
                <a:cs typeface="Helvetica"/>
              </a:rPr>
              <a:t>underlying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dirty="0" err="1">
                <a:latin typeface="Helvetica"/>
                <a:cs typeface="Helvetica"/>
              </a:rPr>
              <a:t>processes</a:t>
            </a:r>
            <a:r>
              <a:rPr lang="es-ES" sz="1800" dirty="0">
                <a:latin typeface="Helvetica"/>
                <a:cs typeface="Helvetica"/>
              </a:rPr>
              <a:t> (</a:t>
            </a:r>
            <a:r>
              <a:rPr lang="es-ES" sz="1800" dirty="0" err="1">
                <a:latin typeface="Helvetica"/>
                <a:cs typeface="Helvetica"/>
              </a:rPr>
              <a:t>predisposing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dirty="0" err="1">
                <a:latin typeface="Helvetica"/>
                <a:cs typeface="Helvetica"/>
              </a:rPr>
              <a:t>factors</a:t>
            </a:r>
            <a:r>
              <a:rPr lang="es-ES" sz="1800" dirty="0">
                <a:latin typeface="Helvetica"/>
                <a:cs typeface="Helvetica"/>
              </a:rPr>
              <a:t> + responses) </a:t>
            </a:r>
            <a:r>
              <a:rPr lang="es-ES" sz="1800" dirty="0" err="1">
                <a:latin typeface="Helvetica"/>
                <a:cs typeface="Helvetica"/>
              </a:rPr>
              <a:t>behind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dirty="0" err="1">
                <a:latin typeface="Helvetica"/>
                <a:cs typeface="Helvetica"/>
              </a:rPr>
              <a:t>tree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dirty="0" err="1">
                <a:latin typeface="Helvetica"/>
                <a:cs typeface="Helvetica"/>
              </a:rPr>
              <a:t>dieback</a:t>
            </a:r>
            <a:r>
              <a:rPr lang="es-ES" sz="1800" dirty="0">
                <a:latin typeface="Helvetica"/>
                <a:cs typeface="Helvetica"/>
              </a:rPr>
              <a:t>. </a:t>
            </a:r>
            <a:endParaRPr lang="es-ES" sz="18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5" name="Right Brace 4">
            <a:extLst>
              <a:ext uri="{FF2B5EF4-FFF2-40B4-BE49-F238E27FC236}">
                <a16:creationId xmlns:a16="http://schemas.microsoft.com/office/drawing/2014/main" id="{19F4BDC3-A339-B5B9-B591-9C94CFAA95A5}"/>
              </a:ext>
            </a:extLst>
          </p:cNvPr>
          <p:cNvSpPr/>
          <p:nvPr/>
        </p:nvSpPr>
        <p:spPr>
          <a:xfrm rot="10800000">
            <a:off x="7866261" y="2148564"/>
            <a:ext cx="345232" cy="1430766"/>
          </a:xfrm>
          <a:prstGeom prst="rightBrace">
            <a:avLst/>
          </a:prstGeom>
          <a:ln w="38100">
            <a:solidFill>
              <a:srgbClr val="21831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506531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A10316-C03C-4510-74C3-02AEE8C310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1">
            <a:extLst>
              <a:ext uri="{FF2B5EF4-FFF2-40B4-BE49-F238E27FC236}">
                <a16:creationId xmlns:a16="http://schemas.microsoft.com/office/drawing/2014/main" id="{15D1A503-27DE-1148-8248-4A3D0B195D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690902" cy="804155"/>
          </a:xfrm>
          <a:solidFill>
            <a:srgbClr val="218317"/>
          </a:solidFill>
        </p:spPr>
        <p:txBody>
          <a:bodyPr>
            <a:normAutofit fontScale="90000"/>
          </a:bodyPr>
          <a:lstStyle/>
          <a:p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	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Complementary</a:t>
            </a:r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strategies</a:t>
            </a:r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to</a:t>
            </a:r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cope 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with</a:t>
            </a:r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drought</a:t>
            </a:r>
            <a:endParaRPr lang="es-ES" sz="3200" b="1" dirty="0">
              <a:solidFill>
                <a:schemeClr val="bg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CE0D2CE-3578-6585-19D0-6457C0E7FDAE}"/>
              </a:ext>
            </a:extLst>
          </p:cNvPr>
          <p:cNvSpPr txBox="1">
            <a:spLocks/>
          </p:cNvSpPr>
          <p:nvPr/>
        </p:nvSpPr>
        <p:spPr>
          <a:xfrm>
            <a:off x="9690902" y="-1"/>
            <a:ext cx="2501098" cy="804157"/>
          </a:xfrm>
          <a:prstGeom prst="rect">
            <a:avLst/>
          </a:prstGeom>
          <a:solidFill>
            <a:srgbClr val="218317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ES" sz="28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G.I.K.</a:t>
            </a:r>
            <a:r>
              <a:rPr lang="es-ES" sz="2800" b="1" dirty="0">
                <a:solidFill>
                  <a:srgbClr val="218317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.</a:t>
            </a:r>
          </a:p>
        </p:txBody>
      </p:sp>
      <p:sp>
        <p:nvSpPr>
          <p:cNvPr id="7" name="Marcador de contenido 2">
            <a:extLst>
              <a:ext uri="{FF2B5EF4-FFF2-40B4-BE49-F238E27FC236}">
                <a16:creationId xmlns:a16="http://schemas.microsoft.com/office/drawing/2014/main" id="{C91F7324-8C1F-E194-44E1-E84BC0386F74}"/>
              </a:ext>
            </a:extLst>
          </p:cNvPr>
          <p:cNvSpPr txBox="1">
            <a:spLocks/>
          </p:cNvSpPr>
          <p:nvPr/>
        </p:nvSpPr>
        <p:spPr>
          <a:xfrm>
            <a:off x="2519949" y="1159347"/>
            <a:ext cx="7152102" cy="80415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Clr>
                <a:srgbClr val="218317"/>
              </a:buClr>
              <a:buNone/>
            </a:pPr>
            <a:r>
              <a:rPr lang="es-ES" b="1" dirty="0" err="1">
                <a:latin typeface="Helvetica"/>
                <a:cs typeface="Helvetica"/>
              </a:rPr>
              <a:t>We</a:t>
            </a:r>
            <a:r>
              <a:rPr lang="es-ES" b="1" dirty="0">
                <a:latin typeface="Helvetica"/>
                <a:cs typeface="Helvetica"/>
              </a:rPr>
              <a:t> are </a:t>
            </a:r>
            <a:r>
              <a:rPr lang="es-ES" b="1" dirty="0" err="1">
                <a:latin typeface="Helvetica"/>
                <a:cs typeface="Helvetica"/>
              </a:rPr>
              <a:t>still</a:t>
            </a:r>
            <a:r>
              <a:rPr lang="es-ES" b="1" dirty="0">
                <a:latin typeface="Helvetica"/>
                <a:cs typeface="Helvetica"/>
              </a:rPr>
              <a:t> </a:t>
            </a:r>
            <a:r>
              <a:rPr lang="es-ES" b="1" dirty="0" err="1">
                <a:latin typeface="Helvetica"/>
                <a:cs typeface="Helvetica"/>
              </a:rPr>
              <a:t>unable</a:t>
            </a:r>
            <a:r>
              <a:rPr lang="es-ES" b="1" dirty="0">
                <a:latin typeface="Helvetica"/>
                <a:cs typeface="Helvetica"/>
              </a:rPr>
              <a:t> </a:t>
            </a:r>
            <a:r>
              <a:rPr lang="es-ES" b="1" dirty="0" err="1">
                <a:latin typeface="Helvetica"/>
                <a:cs typeface="Helvetica"/>
              </a:rPr>
              <a:t>to</a:t>
            </a:r>
            <a:r>
              <a:rPr lang="es-ES" b="1" dirty="0">
                <a:latin typeface="Helvetica"/>
                <a:cs typeface="Helvetica"/>
              </a:rPr>
              <a:t> </a:t>
            </a:r>
            <a:r>
              <a:rPr lang="es-ES" b="1" dirty="0" err="1">
                <a:latin typeface="Helvetica"/>
                <a:cs typeface="Helvetica"/>
              </a:rPr>
              <a:t>forecast</a:t>
            </a:r>
            <a:r>
              <a:rPr lang="es-ES" b="1" dirty="0">
                <a:latin typeface="Helvetica"/>
                <a:cs typeface="Helvetica"/>
              </a:rPr>
              <a:t> die-off!</a:t>
            </a:r>
            <a:endParaRPr lang="es-ES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algn="ctr"/>
            <a:endParaRPr lang="es-ES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8" name="Marcador de contenido 2">
            <a:extLst>
              <a:ext uri="{FF2B5EF4-FFF2-40B4-BE49-F238E27FC236}">
                <a16:creationId xmlns:a16="http://schemas.microsoft.com/office/drawing/2014/main" id="{2B005ED0-C625-3C42-CECE-7C91C0882B61}"/>
              </a:ext>
            </a:extLst>
          </p:cNvPr>
          <p:cNvSpPr txBox="1">
            <a:spLocks/>
          </p:cNvSpPr>
          <p:nvPr/>
        </p:nvSpPr>
        <p:spPr>
          <a:xfrm>
            <a:off x="618930" y="2148564"/>
            <a:ext cx="3234614" cy="411009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rgbClr val="218317"/>
              </a:buClr>
            </a:pPr>
            <a:r>
              <a:rPr lang="es-ES" sz="1800" dirty="0" err="1">
                <a:latin typeface="Helvetica"/>
                <a:cs typeface="Helvetica"/>
                <a:sym typeface="Wingdings" panose="05000000000000000000" pitchFamily="2" charset="2"/>
              </a:rPr>
              <a:t>Most</a:t>
            </a:r>
            <a:r>
              <a:rPr lang="es-ES" sz="1800" dirty="0">
                <a:latin typeface="Helvetica"/>
                <a:cs typeface="Helvetica"/>
                <a:sym typeface="Wingdings" panose="05000000000000000000" pitchFamily="2" charset="2"/>
              </a:rPr>
              <a:t> </a:t>
            </a:r>
            <a:r>
              <a:rPr lang="es-ES" sz="1800" dirty="0" err="1">
                <a:latin typeface="Helvetica"/>
                <a:cs typeface="Helvetica"/>
                <a:sym typeface="Wingdings" panose="05000000000000000000" pitchFamily="2" charset="2"/>
              </a:rPr>
              <a:t>studies</a:t>
            </a:r>
            <a:r>
              <a:rPr lang="es-ES" sz="1800" dirty="0">
                <a:latin typeface="Helvetica"/>
                <a:cs typeface="Helvetica"/>
                <a:sym typeface="Wingdings" panose="05000000000000000000" pitchFamily="2" charset="2"/>
              </a:rPr>
              <a:t> </a:t>
            </a:r>
            <a:r>
              <a:rPr lang="es-ES" sz="1800" dirty="0" err="1">
                <a:latin typeface="Helvetica"/>
                <a:cs typeface="Helvetica"/>
                <a:sym typeface="Wingdings" panose="05000000000000000000" pitchFamily="2" charset="2"/>
              </a:rPr>
              <a:t>focus</a:t>
            </a:r>
            <a:r>
              <a:rPr lang="es-ES" sz="1800" dirty="0">
                <a:latin typeface="Helvetica"/>
                <a:cs typeface="Helvetica"/>
                <a:sym typeface="Wingdings" panose="05000000000000000000" pitchFamily="2" charset="2"/>
              </a:rPr>
              <a:t> </a:t>
            </a:r>
            <a:r>
              <a:rPr lang="es-ES" sz="1800" dirty="0" err="1">
                <a:latin typeface="Helvetica"/>
                <a:cs typeface="Helvetica"/>
                <a:sym typeface="Wingdings" panose="05000000000000000000" pitchFamily="2" charset="2"/>
              </a:rPr>
              <a:t>on</a:t>
            </a:r>
            <a:r>
              <a:rPr lang="es-ES" sz="1800" dirty="0">
                <a:latin typeface="Helvetica"/>
                <a:cs typeface="Helvetica"/>
                <a:sym typeface="Wingdings" panose="05000000000000000000" pitchFamily="2" charset="2"/>
              </a:rPr>
              <a:t> </a:t>
            </a:r>
            <a:r>
              <a:rPr lang="es-ES" sz="1800" b="1" dirty="0">
                <a:latin typeface="Helvetica"/>
                <a:cs typeface="Helvetica"/>
                <a:sym typeface="Wingdings" panose="05000000000000000000" pitchFamily="2" charset="2"/>
              </a:rPr>
              <a:t>single </a:t>
            </a:r>
            <a:r>
              <a:rPr lang="es-ES" sz="1800" b="1" dirty="0" err="1">
                <a:latin typeface="Helvetica"/>
                <a:cs typeface="Helvetica"/>
                <a:sym typeface="Wingdings" panose="05000000000000000000" pitchFamily="2" charset="2"/>
              </a:rPr>
              <a:t>species</a:t>
            </a:r>
            <a:endParaRPr lang="es-ES" sz="1800" b="1" dirty="0">
              <a:latin typeface="Helvetica"/>
              <a:cs typeface="Helvetica"/>
              <a:sym typeface="Wingdings" panose="05000000000000000000" pitchFamily="2" charset="2"/>
            </a:endParaRPr>
          </a:p>
          <a:p>
            <a:pPr>
              <a:buClr>
                <a:srgbClr val="218317"/>
              </a:buClr>
            </a:pPr>
            <a:endParaRPr lang="es-ES" sz="1800" b="1" dirty="0">
              <a:latin typeface="Helvetica"/>
              <a:cs typeface="Helvetica"/>
              <a:sym typeface="Wingdings" panose="05000000000000000000" pitchFamily="2" charset="2"/>
            </a:endParaRPr>
          </a:p>
          <a:p>
            <a:pPr>
              <a:buClr>
                <a:srgbClr val="218317"/>
              </a:buClr>
            </a:pPr>
            <a:r>
              <a:rPr lang="es-ES" sz="1800" dirty="0" err="1">
                <a:latin typeface="Helvetica"/>
                <a:cs typeface="Helvetica"/>
                <a:sym typeface="Wingdings" panose="05000000000000000000" pitchFamily="2" charset="2"/>
              </a:rPr>
              <a:t>L</a:t>
            </a:r>
            <a:r>
              <a:rPr lang="es-ES" sz="1800" dirty="0" err="1">
                <a:latin typeface="Helvetica"/>
                <a:cs typeface="Helvetica"/>
              </a:rPr>
              <a:t>ack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dirty="0" err="1">
                <a:latin typeface="Helvetica"/>
                <a:cs typeface="Helvetica"/>
              </a:rPr>
              <a:t>of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b="1" dirty="0">
                <a:latin typeface="Helvetica"/>
                <a:cs typeface="Helvetica"/>
              </a:rPr>
              <a:t>regional-</a:t>
            </a:r>
            <a:r>
              <a:rPr lang="es-ES" sz="1800" b="1" dirty="0" err="1">
                <a:latin typeface="Helvetica"/>
                <a:cs typeface="Helvetica"/>
              </a:rPr>
              <a:t>scale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dirty="0" err="1">
                <a:latin typeface="Helvetica"/>
                <a:cs typeface="Helvetica"/>
              </a:rPr>
              <a:t>studies</a:t>
            </a:r>
            <a:endParaRPr lang="es-ES" sz="1800" dirty="0">
              <a:latin typeface="Helvetica"/>
              <a:cs typeface="Helvetica"/>
            </a:endParaRPr>
          </a:p>
          <a:p>
            <a:pPr>
              <a:buClr>
                <a:srgbClr val="218317"/>
              </a:buClr>
            </a:pPr>
            <a:endParaRPr lang="es-ES" sz="1800" dirty="0">
              <a:latin typeface="Helvetica"/>
              <a:cs typeface="Helvetica"/>
            </a:endParaRPr>
          </a:p>
          <a:p>
            <a:pPr>
              <a:buClr>
                <a:srgbClr val="218317"/>
              </a:buClr>
            </a:pPr>
            <a:r>
              <a:rPr lang="es-ES" sz="1800" dirty="0">
                <a:latin typeface="Helvetica"/>
                <a:cs typeface="Helvetica"/>
              </a:rPr>
              <a:t>Relative </a:t>
            </a:r>
            <a:r>
              <a:rPr lang="es-ES" sz="1800" dirty="0" err="1">
                <a:latin typeface="Helvetica"/>
                <a:cs typeface="Helvetica"/>
              </a:rPr>
              <a:t>importance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dirty="0" err="1">
                <a:latin typeface="Helvetica"/>
                <a:cs typeface="Helvetica"/>
              </a:rPr>
              <a:t>of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b="1" dirty="0" err="1">
                <a:latin typeface="Helvetica"/>
                <a:cs typeface="Helvetica"/>
              </a:rPr>
              <a:t>hydraulic</a:t>
            </a:r>
            <a:r>
              <a:rPr lang="es-ES" sz="1800" b="1" dirty="0">
                <a:latin typeface="Helvetica"/>
                <a:cs typeface="Helvetica"/>
              </a:rPr>
              <a:t> </a:t>
            </a:r>
            <a:r>
              <a:rPr lang="es-ES" sz="1800" b="1" dirty="0" err="1">
                <a:latin typeface="Helvetica"/>
                <a:cs typeface="Helvetica"/>
              </a:rPr>
              <a:t>failure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b="1" dirty="0">
                <a:latin typeface="Helvetica"/>
                <a:cs typeface="Helvetica"/>
              </a:rPr>
              <a:t>vs. </a:t>
            </a:r>
            <a:r>
              <a:rPr lang="es-ES" sz="1800" b="1" dirty="0" err="1">
                <a:latin typeface="Helvetica"/>
                <a:cs typeface="Helvetica"/>
              </a:rPr>
              <a:t>carbon</a:t>
            </a:r>
            <a:r>
              <a:rPr lang="es-ES" sz="1800" b="1" dirty="0">
                <a:latin typeface="Helvetica"/>
                <a:cs typeface="Helvetica"/>
              </a:rPr>
              <a:t> </a:t>
            </a:r>
            <a:r>
              <a:rPr lang="es-ES" sz="1800" b="1" dirty="0" err="1">
                <a:latin typeface="Helvetica"/>
                <a:cs typeface="Helvetica"/>
              </a:rPr>
              <a:t>starvation</a:t>
            </a:r>
            <a:r>
              <a:rPr lang="es-ES" sz="1800" dirty="0">
                <a:latin typeface="Helvetica"/>
                <a:cs typeface="Helvetica"/>
              </a:rPr>
              <a:t>?</a:t>
            </a:r>
          </a:p>
          <a:p>
            <a:pPr>
              <a:buClr>
                <a:srgbClr val="218317"/>
              </a:buClr>
            </a:pPr>
            <a:endParaRPr lang="es-ES" sz="1800" dirty="0">
              <a:latin typeface="Helvetica"/>
              <a:cs typeface="Helvetica"/>
            </a:endParaRPr>
          </a:p>
          <a:p>
            <a:pPr>
              <a:buClr>
                <a:srgbClr val="218317"/>
              </a:buClr>
            </a:pPr>
            <a:r>
              <a:rPr lang="es-ES" sz="1800" b="1" dirty="0" err="1">
                <a:latin typeface="Helvetica"/>
                <a:cs typeface="Helvetica"/>
              </a:rPr>
              <a:t>Overlooked</a:t>
            </a:r>
            <a:r>
              <a:rPr lang="es-ES" sz="1800" b="1" dirty="0">
                <a:latin typeface="Helvetica"/>
                <a:cs typeface="Helvetica"/>
              </a:rPr>
              <a:t> </a:t>
            </a:r>
            <a:r>
              <a:rPr lang="es-ES" sz="1800" b="1" dirty="0" err="1">
                <a:latin typeface="Helvetica"/>
                <a:cs typeface="Helvetica"/>
              </a:rPr>
              <a:t>interactions</a:t>
            </a:r>
            <a:r>
              <a:rPr lang="es-ES" sz="1800" b="1" dirty="0">
                <a:latin typeface="Helvetica"/>
                <a:cs typeface="Helvetica"/>
              </a:rPr>
              <a:t> </a:t>
            </a:r>
            <a:r>
              <a:rPr lang="es-ES" sz="1800" dirty="0" err="1">
                <a:latin typeface="Helvetica"/>
                <a:cs typeface="Helvetica"/>
              </a:rPr>
              <a:t>between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dirty="0" err="1">
                <a:latin typeface="Helvetica"/>
                <a:cs typeface="Helvetica"/>
              </a:rPr>
              <a:t>processes</a:t>
            </a:r>
            <a:endParaRPr lang="es-ES" sz="1800" dirty="0">
              <a:latin typeface="Helvetica"/>
              <a:cs typeface="Helvetica"/>
            </a:endParaRPr>
          </a:p>
          <a:p>
            <a:pPr marL="0" indent="0">
              <a:buClr>
                <a:srgbClr val="218317"/>
              </a:buClr>
              <a:buNone/>
            </a:pPr>
            <a:endParaRPr lang="es-ES" sz="1800" b="1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lvl="1">
              <a:buClr>
                <a:srgbClr val="218317"/>
              </a:buClr>
              <a:buFont typeface="Calibri" panose="02070309020205020404" pitchFamily="49" charset="0"/>
              <a:buChar char="-"/>
            </a:pPr>
            <a:endParaRPr lang="es-ES" sz="1800" b="1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endParaRPr lang="es-ES" sz="2000" b="1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1" name="Marcador de contenido 2">
            <a:extLst>
              <a:ext uri="{FF2B5EF4-FFF2-40B4-BE49-F238E27FC236}">
                <a16:creationId xmlns:a16="http://schemas.microsoft.com/office/drawing/2014/main" id="{D7500AF7-FBA3-3FC5-E9B9-776DD3A3110E}"/>
              </a:ext>
            </a:extLst>
          </p:cNvPr>
          <p:cNvSpPr txBox="1">
            <a:spLocks/>
          </p:cNvSpPr>
          <p:nvPr/>
        </p:nvSpPr>
        <p:spPr>
          <a:xfrm>
            <a:off x="8338458" y="4222068"/>
            <a:ext cx="3750906" cy="152240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ES" sz="1800" b="1" dirty="0" err="1">
                <a:latin typeface="Helvetica"/>
                <a:cs typeface="Helvetica"/>
              </a:rPr>
              <a:t>Obj</a:t>
            </a:r>
            <a:r>
              <a:rPr lang="es-ES" sz="1800" b="1" dirty="0">
                <a:latin typeface="Helvetica"/>
                <a:cs typeface="Helvetica"/>
              </a:rPr>
              <a:t>. 3.- </a:t>
            </a:r>
            <a:r>
              <a:rPr lang="es-ES" sz="1800" dirty="0" err="1">
                <a:latin typeface="Helvetica"/>
                <a:cs typeface="Helvetica"/>
              </a:rPr>
              <a:t>To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dirty="0" err="1">
                <a:latin typeface="Helvetica"/>
                <a:cs typeface="Helvetica"/>
              </a:rPr>
              <a:t>assess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dirty="0" err="1">
                <a:latin typeface="Helvetica"/>
                <a:cs typeface="Helvetica"/>
              </a:rPr>
              <a:t>how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dirty="0" err="1">
                <a:latin typeface="Helvetica"/>
                <a:cs typeface="Helvetica"/>
              </a:rPr>
              <a:t>underlying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dirty="0" err="1">
                <a:latin typeface="Helvetica"/>
                <a:cs typeface="Helvetica"/>
              </a:rPr>
              <a:t>mechanisms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dirty="0" err="1">
                <a:latin typeface="Helvetica"/>
                <a:cs typeface="Helvetica"/>
              </a:rPr>
              <a:t>behind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dirty="0" err="1">
                <a:solidFill>
                  <a:srgbClr val="FF0000"/>
                </a:solidFill>
                <a:latin typeface="Helvetica"/>
                <a:cs typeface="Helvetica"/>
              </a:rPr>
              <a:t>tree</a:t>
            </a:r>
            <a:r>
              <a:rPr lang="es-ES" sz="1800" dirty="0">
                <a:solidFill>
                  <a:srgbClr val="FF0000"/>
                </a:solidFill>
                <a:latin typeface="Helvetica"/>
                <a:cs typeface="Helvetica"/>
              </a:rPr>
              <a:t> </a:t>
            </a:r>
            <a:r>
              <a:rPr lang="es-ES" sz="1800" dirty="0" err="1">
                <a:solidFill>
                  <a:srgbClr val="FF0000"/>
                </a:solidFill>
                <a:latin typeface="Helvetica"/>
                <a:cs typeface="Helvetica"/>
              </a:rPr>
              <a:t>mortality</a:t>
            </a:r>
            <a:r>
              <a:rPr lang="es-ES" sz="1800" dirty="0">
                <a:solidFill>
                  <a:srgbClr val="FF0000"/>
                </a:solidFill>
                <a:latin typeface="Helvetica"/>
                <a:cs typeface="Helvetica"/>
              </a:rPr>
              <a:t> </a:t>
            </a:r>
            <a:r>
              <a:rPr lang="es-ES" sz="1800" dirty="0" err="1">
                <a:latin typeface="Helvetica"/>
                <a:cs typeface="Helvetica"/>
              </a:rPr>
              <a:t>vary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dirty="0" err="1">
                <a:latin typeface="Helvetica"/>
                <a:cs typeface="Helvetica"/>
              </a:rPr>
              <a:t>along</a:t>
            </a:r>
            <a:r>
              <a:rPr lang="es-ES" sz="1800" dirty="0">
                <a:latin typeface="Helvetica"/>
                <a:cs typeface="Helvetica"/>
              </a:rPr>
              <a:t> a </a:t>
            </a:r>
            <a:r>
              <a:rPr lang="es-ES" sz="1800" dirty="0" err="1">
                <a:latin typeface="Helvetica"/>
                <a:cs typeface="Helvetica"/>
              </a:rPr>
              <a:t>moisture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dirty="0" err="1">
                <a:latin typeface="Helvetica"/>
                <a:cs typeface="Helvetica"/>
              </a:rPr>
              <a:t>gradient</a:t>
            </a:r>
            <a:r>
              <a:rPr lang="es-ES" sz="1800" dirty="0">
                <a:latin typeface="Helvetica"/>
                <a:cs typeface="Helvetica"/>
              </a:rPr>
              <a:t> and </a:t>
            </a:r>
            <a:r>
              <a:rPr lang="es-ES" sz="1800" dirty="0" err="1">
                <a:latin typeface="Helvetica"/>
                <a:cs typeface="Helvetica"/>
              </a:rPr>
              <a:t>between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dirty="0" err="1">
                <a:latin typeface="Helvetica"/>
                <a:cs typeface="Helvetica"/>
              </a:rPr>
              <a:t>species</a:t>
            </a:r>
            <a:endParaRPr lang="es-ES" sz="1800" b="1" dirty="0">
              <a:latin typeface="Helvetica"/>
              <a:cs typeface="Helvetica"/>
            </a:endParaRPr>
          </a:p>
        </p:txBody>
      </p:sp>
      <p:sp>
        <p:nvSpPr>
          <p:cNvPr id="40" name="Right Brace 39">
            <a:extLst>
              <a:ext uri="{FF2B5EF4-FFF2-40B4-BE49-F238E27FC236}">
                <a16:creationId xmlns:a16="http://schemas.microsoft.com/office/drawing/2014/main" id="{B3ADCE23-DD4D-5D66-E2A4-4B45EC94B998}"/>
              </a:ext>
            </a:extLst>
          </p:cNvPr>
          <p:cNvSpPr/>
          <p:nvPr/>
        </p:nvSpPr>
        <p:spPr>
          <a:xfrm>
            <a:off x="3405675" y="2198102"/>
            <a:ext cx="345232" cy="1430766"/>
          </a:xfrm>
          <a:prstGeom prst="rightBrace">
            <a:avLst/>
          </a:prstGeom>
          <a:ln w="38100">
            <a:solidFill>
              <a:srgbClr val="21831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4" name="Right Brace 3">
            <a:extLst>
              <a:ext uri="{FF2B5EF4-FFF2-40B4-BE49-F238E27FC236}">
                <a16:creationId xmlns:a16="http://schemas.microsoft.com/office/drawing/2014/main" id="{D1F2BDD0-CDF4-C8DF-F680-5EFBD7753768}"/>
              </a:ext>
            </a:extLst>
          </p:cNvPr>
          <p:cNvSpPr/>
          <p:nvPr/>
        </p:nvSpPr>
        <p:spPr>
          <a:xfrm>
            <a:off x="3680928" y="4267887"/>
            <a:ext cx="345232" cy="1430766"/>
          </a:xfrm>
          <a:prstGeom prst="rightBrace">
            <a:avLst/>
          </a:prstGeom>
          <a:ln w="38100">
            <a:solidFill>
              <a:srgbClr val="21831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" name="Right Brace 4">
            <a:extLst>
              <a:ext uri="{FF2B5EF4-FFF2-40B4-BE49-F238E27FC236}">
                <a16:creationId xmlns:a16="http://schemas.microsoft.com/office/drawing/2014/main" id="{2A754A23-960C-9D67-3655-4E656C477597}"/>
              </a:ext>
            </a:extLst>
          </p:cNvPr>
          <p:cNvSpPr/>
          <p:nvPr/>
        </p:nvSpPr>
        <p:spPr>
          <a:xfrm rot="10800000">
            <a:off x="7866261" y="2148564"/>
            <a:ext cx="345232" cy="1430766"/>
          </a:xfrm>
          <a:prstGeom prst="rightBrace">
            <a:avLst/>
          </a:prstGeom>
          <a:ln w="38100">
            <a:solidFill>
              <a:srgbClr val="21831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81E201F6-5D01-72E5-9A35-976226FBAFE2}"/>
              </a:ext>
            </a:extLst>
          </p:cNvPr>
          <p:cNvCxnSpPr>
            <a:cxnSpLocks/>
            <a:endCxn id="11" idx="1"/>
          </p:cNvCxnSpPr>
          <p:nvPr/>
        </p:nvCxnSpPr>
        <p:spPr>
          <a:xfrm>
            <a:off x="3853543" y="4983270"/>
            <a:ext cx="4484915" cy="0"/>
          </a:xfrm>
          <a:prstGeom prst="straightConnector1">
            <a:avLst/>
          </a:prstGeom>
          <a:ln w="57150">
            <a:solidFill>
              <a:srgbClr val="21831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Marcador de contenido 2">
            <a:extLst>
              <a:ext uri="{FF2B5EF4-FFF2-40B4-BE49-F238E27FC236}">
                <a16:creationId xmlns:a16="http://schemas.microsoft.com/office/drawing/2014/main" id="{F839FDBC-7672-3E86-9907-DBDC81C6F908}"/>
              </a:ext>
            </a:extLst>
          </p:cNvPr>
          <p:cNvSpPr txBox="1">
            <a:spLocks/>
          </p:cNvSpPr>
          <p:nvPr/>
        </p:nvSpPr>
        <p:spPr>
          <a:xfrm>
            <a:off x="3853544" y="2198102"/>
            <a:ext cx="3915996" cy="1430766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rgbClr val="218317"/>
              </a:buClr>
              <a:buNone/>
            </a:pPr>
            <a:r>
              <a:rPr lang="es-ES" sz="1800" dirty="0">
                <a:latin typeface="Helvetica"/>
                <a:cs typeface="Helvetica"/>
              </a:rPr>
              <a:t>Do </a:t>
            </a:r>
            <a:r>
              <a:rPr lang="es-ES" sz="1800" dirty="0" err="1">
                <a:latin typeface="Helvetica"/>
                <a:cs typeface="Helvetica"/>
              </a:rPr>
              <a:t>predisposing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dirty="0" err="1">
                <a:latin typeface="Helvetica"/>
                <a:cs typeface="Helvetica"/>
              </a:rPr>
              <a:t>factors</a:t>
            </a:r>
            <a:r>
              <a:rPr lang="es-ES" sz="1800" dirty="0">
                <a:latin typeface="Helvetica"/>
                <a:cs typeface="Helvetica"/>
              </a:rPr>
              <a:t> &amp; responses </a:t>
            </a:r>
            <a:r>
              <a:rPr lang="es-ES" sz="1800" dirty="0" err="1">
                <a:latin typeface="Helvetica"/>
                <a:cs typeface="Helvetica"/>
              </a:rPr>
              <a:t>remain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dirty="0" err="1">
                <a:latin typeface="Helvetica"/>
                <a:cs typeface="Helvetica"/>
              </a:rPr>
              <a:t>constant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dirty="0" err="1">
                <a:latin typeface="Helvetica"/>
                <a:cs typeface="Helvetica"/>
              </a:rPr>
              <a:t>across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b="1" dirty="0" err="1">
                <a:latin typeface="Helvetica"/>
                <a:cs typeface="Helvetica"/>
              </a:rPr>
              <a:t>species</a:t>
            </a:r>
            <a:r>
              <a:rPr lang="es-ES" sz="1800" dirty="0">
                <a:latin typeface="Helvetica"/>
                <a:cs typeface="Helvetica"/>
              </a:rPr>
              <a:t>?</a:t>
            </a:r>
          </a:p>
          <a:p>
            <a:pPr marL="0" indent="0">
              <a:buClr>
                <a:srgbClr val="218317"/>
              </a:buClr>
              <a:buNone/>
            </a:pPr>
            <a:r>
              <a:rPr lang="es-ES" sz="1800" dirty="0">
                <a:latin typeface="Helvetica"/>
                <a:cs typeface="Helvetica"/>
              </a:rPr>
              <a:t>Do </a:t>
            </a:r>
            <a:r>
              <a:rPr lang="es-ES" sz="1800" dirty="0" err="1">
                <a:latin typeface="Helvetica"/>
                <a:cs typeface="Helvetica"/>
              </a:rPr>
              <a:t>we</a:t>
            </a:r>
            <a:r>
              <a:rPr lang="es-ES" sz="1800" dirty="0">
                <a:latin typeface="Helvetica"/>
                <a:cs typeface="Helvetica"/>
              </a:rPr>
              <a:t> observe </a:t>
            </a:r>
            <a:r>
              <a:rPr lang="es-ES" sz="1800" dirty="0" err="1">
                <a:latin typeface="Helvetica"/>
                <a:cs typeface="Helvetica"/>
              </a:rPr>
              <a:t>the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dirty="0" err="1">
                <a:latin typeface="Helvetica"/>
                <a:cs typeface="Helvetica"/>
              </a:rPr>
              <a:t>same</a:t>
            </a:r>
            <a:r>
              <a:rPr lang="es-ES" sz="1800" dirty="0">
                <a:latin typeface="Helvetica"/>
                <a:cs typeface="Helvetica"/>
              </a:rPr>
              <a:t> at regional </a:t>
            </a:r>
            <a:r>
              <a:rPr lang="es-ES" sz="1800" dirty="0" err="1">
                <a:latin typeface="Helvetica"/>
                <a:cs typeface="Helvetica"/>
              </a:rPr>
              <a:t>scale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dirty="0" err="1">
                <a:latin typeface="Helvetica"/>
                <a:cs typeface="Helvetica"/>
              </a:rPr>
              <a:t>than</a:t>
            </a:r>
            <a:r>
              <a:rPr lang="es-ES" sz="1800" dirty="0">
                <a:latin typeface="Helvetica"/>
                <a:cs typeface="Helvetica"/>
              </a:rPr>
              <a:t> in </a:t>
            </a:r>
            <a:r>
              <a:rPr lang="es-ES" sz="1800" dirty="0" err="1">
                <a:latin typeface="Helvetica"/>
                <a:cs typeface="Helvetica"/>
              </a:rPr>
              <a:t>previous</a:t>
            </a:r>
            <a:r>
              <a:rPr lang="es-ES" sz="1800" dirty="0">
                <a:latin typeface="Helvetica"/>
                <a:cs typeface="Helvetica"/>
              </a:rPr>
              <a:t> local </a:t>
            </a:r>
            <a:r>
              <a:rPr lang="es-ES" sz="1800" dirty="0" err="1">
                <a:latin typeface="Helvetica"/>
                <a:cs typeface="Helvetica"/>
              </a:rPr>
              <a:t>studies</a:t>
            </a:r>
            <a:r>
              <a:rPr lang="es-ES" sz="1800" dirty="0">
                <a:latin typeface="Helvetica"/>
                <a:cs typeface="Helvetica"/>
              </a:rPr>
              <a:t>?</a:t>
            </a:r>
          </a:p>
          <a:p>
            <a:pPr marL="0" indent="0">
              <a:buClr>
                <a:srgbClr val="218317"/>
              </a:buClr>
              <a:buNone/>
            </a:pPr>
            <a:endParaRPr lang="es-ES" sz="18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EC21FEA-B11F-A9E4-BA23-1CE44B25729B}"/>
              </a:ext>
            </a:extLst>
          </p:cNvPr>
          <p:cNvSpPr txBox="1">
            <a:spLocks/>
          </p:cNvSpPr>
          <p:nvPr/>
        </p:nvSpPr>
        <p:spPr>
          <a:xfrm>
            <a:off x="8374268" y="3005916"/>
            <a:ext cx="3611456" cy="114682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ES" sz="1800" b="1" dirty="0" err="1">
                <a:latin typeface="Helvetica"/>
                <a:cs typeface="Helvetica"/>
              </a:rPr>
              <a:t>Obj</a:t>
            </a:r>
            <a:r>
              <a:rPr lang="es-ES" sz="1800" b="1" dirty="0">
                <a:latin typeface="Helvetica"/>
                <a:cs typeface="Helvetica"/>
              </a:rPr>
              <a:t>. 2.- </a:t>
            </a:r>
            <a:r>
              <a:rPr lang="es-ES" sz="1800" dirty="0" err="1">
                <a:latin typeface="Helvetica"/>
                <a:cs typeface="Helvetica"/>
              </a:rPr>
              <a:t>To</a:t>
            </a:r>
            <a:r>
              <a:rPr lang="es-ES" sz="1800" dirty="0">
                <a:latin typeface="Helvetica"/>
                <a:cs typeface="Helvetica"/>
              </a:rPr>
              <a:t> determine </a:t>
            </a:r>
            <a:r>
              <a:rPr lang="es-ES" sz="1800" dirty="0" err="1">
                <a:latin typeface="Helvetica"/>
                <a:cs typeface="Helvetica"/>
              </a:rPr>
              <a:t>what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dirty="0" err="1">
                <a:latin typeface="Helvetica"/>
                <a:cs typeface="Helvetica"/>
              </a:rPr>
              <a:t>processes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dirty="0" err="1">
                <a:latin typeface="Helvetica"/>
                <a:cs typeface="Helvetica"/>
              </a:rPr>
              <a:t>have</a:t>
            </a:r>
            <a:r>
              <a:rPr lang="es-ES" sz="1800" dirty="0">
                <a:latin typeface="Helvetica"/>
                <a:cs typeface="Helvetica"/>
              </a:rPr>
              <a:t> a </a:t>
            </a:r>
            <a:r>
              <a:rPr lang="es-ES" sz="1800" dirty="0" err="1">
                <a:latin typeface="Helvetica"/>
                <a:cs typeface="Helvetica"/>
              </a:rPr>
              <a:t>greater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dirty="0" err="1">
                <a:latin typeface="Helvetica"/>
                <a:cs typeface="Helvetica"/>
              </a:rPr>
              <a:t>importance</a:t>
            </a:r>
            <a:r>
              <a:rPr lang="es-ES" sz="1800" dirty="0">
                <a:latin typeface="Helvetica"/>
                <a:cs typeface="Helvetica"/>
              </a:rPr>
              <a:t>, and </a:t>
            </a:r>
            <a:r>
              <a:rPr lang="es-ES" sz="1800" dirty="0" err="1">
                <a:latin typeface="Helvetica"/>
                <a:cs typeface="Helvetica"/>
              </a:rPr>
              <a:t>whether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dirty="0" err="1">
                <a:latin typeface="Helvetica"/>
                <a:cs typeface="Helvetica"/>
              </a:rPr>
              <a:t>these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dirty="0" err="1">
                <a:latin typeface="Helvetica"/>
                <a:cs typeface="Helvetica"/>
              </a:rPr>
              <a:t>change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dirty="0" err="1">
                <a:latin typeface="Helvetica"/>
                <a:cs typeface="Helvetica"/>
              </a:rPr>
              <a:t>between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dirty="0" err="1">
                <a:latin typeface="Helvetica"/>
                <a:cs typeface="Helvetica"/>
              </a:rPr>
              <a:t>species</a:t>
            </a:r>
            <a:endParaRPr lang="es-ES" sz="1800" b="1" dirty="0">
              <a:latin typeface="Helvetica"/>
              <a:cs typeface="Helvetica"/>
            </a:endParaRPr>
          </a:p>
        </p:txBody>
      </p:sp>
      <p:sp>
        <p:nvSpPr>
          <p:cNvPr id="14" name="Marcador de contenido 2">
            <a:extLst>
              <a:ext uri="{FF2B5EF4-FFF2-40B4-BE49-F238E27FC236}">
                <a16:creationId xmlns:a16="http://schemas.microsoft.com/office/drawing/2014/main" id="{8779BF5F-93E6-147B-D844-C0410A462990}"/>
              </a:ext>
            </a:extLst>
          </p:cNvPr>
          <p:cNvSpPr txBox="1">
            <a:spLocks/>
          </p:cNvSpPr>
          <p:nvPr/>
        </p:nvSpPr>
        <p:spPr>
          <a:xfrm>
            <a:off x="8374268" y="1819225"/>
            <a:ext cx="3472006" cy="1430766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rgbClr val="218317"/>
              </a:buClr>
              <a:buNone/>
            </a:pPr>
            <a:r>
              <a:rPr lang="es-ES" sz="1800" b="1" dirty="0" err="1">
                <a:latin typeface="Helvetica"/>
                <a:cs typeface="Helvetica"/>
              </a:rPr>
              <a:t>Obj</a:t>
            </a:r>
            <a:r>
              <a:rPr lang="es-ES" sz="1800" b="1" dirty="0">
                <a:latin typeface="Helvetica"/>
                <a:cs typeface="Helvetica"/>
              </a:rPr>
              <a:t>. 1.: </a:t>
            </a:r>
            <a:r>
              <a:rPr lang="es-ES" sz="1800" dirty="0" err="1">
                <a:latin typeface="Helvetica"/>
                <a:cs typeface="Helvetica"/>
              </a:rPr>
              <a:t>To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dirty="0" err="1">
                <a:latin typeface="Helvetica"/>
                <a:cs typeface="Helvetica"/>
              </a:rPr>
              <a:t>assess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dirty="0" err="1">
                <a:latin typeface="Helvetica"/>
                <a:cs typeface="Helvetica"/>
              </a:rPr>
              <a:t>the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dirty="0" err="1">
                <a:latin typeface="Helvetica"/>
                <a:cs typeface="Helvetica"/>
              </a:rPr>
              <a:t>underlying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dirty="0" err="1">
                <a:latin typeface="Helvetica"/>
                <a:cs typeface="Helvetica"/>
              </a:rPr>
              <a:t>processes</a:t>
            </a:r>
            <a:r>
              <a:rPr lang="es-ES" sz="1800" dirty="0">
                <a:latin typeface="Helvetica"/>
                <a:cs typeface="Helvetica"/>
              </a:rPr>
              <a:t> (</a:t>
            </a:r>
            <a:r>
              <a:rPr lang="es-ES" sz="1800" dirty="0" err="1">
                <a:latin typeface="Helvetica"/>
                <a:cs typeface="Helvetica"/>
              </a:rPr>
              <a:t>predisposing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dirty="0" err="1">
                <a:latin typeface="Helvetica"/>
                <a:cs typeface="Helvetica"/>
              </a:rPr>
              <a:t>factors</a:t>
            </a:r>
            <a:r>
              <a:rPr lang="es-ES" sz="1800" dirty="0">
                <a:latin typeface="Helvetica"/>
                <a:cs typeface="Helvetica"/>
              </a:rPr>
              <a:t> + responses) </a:t>
            </a:r>
            <a:r>
              <a:rPr lang="es-ES" sz="1800" dirty="0" err="1">
                <a:latin typeface="Helvetica"/>
                <a:cs typeface="Helvetica"/>
              </a:rPr>
              <a:t>behind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dirty="0" err="1">
                <a:latin typeface="Helvetica"/>
                <a:cs typeface="Helvetica"/>
              </a:rPr>
              <a:t>tree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dirty="0" err="1">
                <a:latin typeface="Helvetica"/>
                <a:cs typeface="Helvetica"/>
              </a:rPr>
              <a:t>dieback</a:t>
            </a:r>
            <a:r>
              <a:rPr lang="es-ES" sz="1800" dirty="0">
                <a:latin typeface="Helvetica"/>
                <a:cs typeface="Helvetica"/>
              </a:rPr>
              <a:t>. </a:t>
            </a:r>
            <a:endParaRPr lang="es-ES" sz="18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545220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6E7F21-1BC3-58B7-C745-2A6CDB7671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contenido 2">
            <a:extLst>
              <a:ext uri="{FF2B5EF4-FFF2-40B4-BE49-F238E27FC236}">
                <a16:creationId xmlns:a16="http://schemas.microsoft.com/office/drawing/2014/main" id="{0D2A7F3A-5D92-B637-7E53-8726C79BA350}"/>
              </a:ext>
            </a:extLst>
          </p:cNvPr>
          <p:cNvSpPr txBox="1">
            <a:spLocks/>
          </p:cNvSpPr>
          <p:nvPr/>
        </p:nvSpPr>
        <p:spPr>
          <a:xfrm>
            <a:off x="1354388" y="2694491"/>
            <a:ext cx="3242000" cy="222357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 algn="ctr">
              <a:buClr>
                <a:srgbClr val="218317"/>
              </a:buClr>
              <a:buNone/>
            </a:pP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Field data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sampling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:</a:t>
            </a:r>
          </a:p>
          <a:p>
            <a:pPr marL="457200" lvl="1" indent="0" algn="ctr">
              <a:buClr>
                <a:srgbClr val="218317"/>
              </a:buClr>
              <a:buNone/>
            </a:pP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02/2023 – 09/2023</a:t>
            </a:r>
          </a:p>
          <a:p>
            <a:pPr algn="ctr"/>
            <a:endParaRPr lang="es-ES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3" name="Título 1">
            <a:extLst>
              <a:ext uri="{FF2B5EF4-FFF2-40B4-BE49-F238E27FC236}">
                <a16:creationId xmlns:a16="http://schemas.microsoft.com/office/drawing/2014/main" id="{A999C6EA-7AE8-D840-9E31-A752303DFD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690902" cy="804155"/>
          </a:xfrm>
          <a:solidFill>
            <a:srgbClr val="218317"/>
          </a:solidFill>
        </p:spPr>
        <p:txBody>
          <a:bodyPr>
            <a:normAutofit/>
          </a:bodyPr>
          <a:lstStyle/>
          <a:p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	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Study</a:t>
            </a:r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area</a:t>
            </a:r>
            <a:endParaRPr lang="es-ES" sz="3200" b="1" dirty="0">
              <a:solidFill>
                <a:schemeClr val="bg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7AAA2A6D-DB68-AD63-0A06-EA976E24DC00}"/>
              </a:ext>
            </a:extLst>
          </p:cNvPr>
          <p:cNvSpPr txBox="1">
            <a:spLocks/>
          </p:cNvSpPr>
          <p:nvPr/>
        </p:nvSpPr>
        <p:spPr>
          <a:xfrm>
            <a:off x="9690902" y="-1"/>
            <a:ext cx="2501098" cy="804157"/>
          </a:xfrm>
          <a:prstGeom prst="rect">
            <a:avLst/>
          </a:prstGeom>
          <a:solidFill>
            <a:srgbClr val="218317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ES" sz="28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M&amp;M </a:t>
            </a:r>
            <a:r>
              <a:rPr lang="es-ES" sz="2800" b="1" dirty="0">
                <a:solidFill>
                  <a:srgbClr val="218317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.</a:t>
            </a:r>
          </a:p>
        </p:txBody>
      </p:sp>
      <p:sp>
        <p:nvSpPr>
          <p:cNvPr id="5" name="Marcador de contenido 2">
            <a:extLst>
              <a:ext uri="{FF2B5EF4-FFF2-40B4-BE49-F238E27FC236}">
                <a16:creationId xmlns:a16="http://schemas.microsoft.com/office/drawing/2014/main" id="{A8D7DC10-0A24-5913-467C-1DEA0F80E6D2}"/>
              </a:ext>
            </a:extLst>
          </p:cNvPr>
          <p:cNvSpPr txBox="1">
            <a:spLocks/>
          </p:cNvSpPr>
          <p:nvPr/>
        </p:nvSpPr>
        <p:spPr>
          <a:xfrm>
            <a:off x="1354388" y="5382902"/>
            <a:ext cx="3927650" cy="804155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Clr>
                <a:srgbClr val="218317"/>
              </a:buClr>
              <a:buNone/>
            </a:pPr>
            <a:r>
              <a:rPr lang="es-ES" b="1" dirty="0">
                <a:latin typeface="Helvetica"/>
                <a:cs typeface="Helvetica"/>
              </a:rPr>
              <a:t>14 sites, 91 </a:t>
            </a:r>
            <a:r>
              <a:rPr lang="es-ES" b="1" dirty="0" err="1">
                <a:latin typeface="Helvetica"/>
                <a:cs typeface="Helvetica"/>
              </a:rPr>
              <a:t>plots</a:t>
            </a:r>
            <a:r>
              <a:rPr lang="es-ES" b="1" dirty="0">
                <a:latin typeface="Helvetica"/>
                <a:cs typeface="Helvetica"/>
              </a:rPr>
              <a:t> </a:t>
            </a:r>
          </a:p>
          <a:p>
            <a:pPr marL="0" indent="0" algn="ctr">
              <a:buClr>
                <a:srgbClr val="218317"/>
              </a:buClr>
              <a:buNone/>
            </a:pPr>
            <a:r>
              <a:rPr lang="es-ES" b="1" dirty="0">
                <a:solidFill>
                  <a:srgbClr val="FF0000"/>
                </a:solidFill>
                <a:latin typeface="Helvetica"/>
                <a:cs typeface="Helvetica"/>
              </a:rPr>
              <a:t>462 target </a:t>
            </a:r>
            <a:r>
              <a:rPr lang="es-ES" b="1" dirty="0" err="1">
                <a:solidFill>
                  <a:srgbClr val="FF0000"/>
                </a:solidFill>
                <a:latin typeface="Helvetica"/>
                <a:cs typeface="Helvetica"/>
              </a:rPr>
              <a:t>trees</a:t>
            </a:r>
            <a:endParaRPr lang="es-ES" b="1" dirty="0">
              <a:solidFill>
                <a:srgbClr val="FF0000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0" name="Marcador de contenido 2">
            <a:extLst>
              <a:ext uri="{FF2B5EF4-FFF2-40B4-BE49-F238E27FC236}">
                <a16:creationId xmlns:a16="http://schemas.microsoft.com/office/drawing/2014/main" id="{890B8ACB-5314-6A10-2AB3-9ECB817D1B6C}"/>
              </a:ext>
            </a:extLst>
          </p:cNvPr>
          <p:cNvSpPr txBox="1">
            <a:spLocks/>
          </p:cNvSpPr>
          <p:nvPr/>
        </p:nvSpPr>
        <p:spPr>
          <a:xfrm>
            <a:off x="127518" y="990543"/>
            <a:ext cx="4976327" cy="135509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 algn="just">
              <a:buClr>
                <a:srgbClr val="218317"/>
              </a:buClr>
              <a:buNone/>
            </a:pP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Fig. 1.: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Study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sites in Iberia.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Coloured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areas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represent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the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distribution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area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of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each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species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.</a:t>
            </a:r>
          </a:p>
          <a:p>
            <a:pPr algn="just"/>
            <a:endParaRPr lang="es-ES" sz="24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6" name="CuadroTexto 10">
            <a:extLst>
              <a:ext uri="{FF2B5EF4-FFF2-40B4-BE49-F238E27FC236}">
                <a16:creationId xmlns:a16="http://schemas.microsoft.com/office/drawing/2014/main" id="{F2859508-218F-C191-3C74-ABD62487DB27}"/>
              </a:ext>
            </a:extLst>
          </p:cNvPr>
          <p:cNvSpPr txBox="1"/>
          <p:nvPr/>
        </p:nvSpPr>
        <p:spPr>
          <a:xfrm>
            <a:off x="7961077" y="6346740"/>
            <a:ext cx="478558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 algn="ctr"/>
            <a:r>
              <a:rPr lang="es-ES" b="1" dirty="0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Fig. 1 </a:t>
            </a:r>
          </a:p>
          <a:p>
            <a:pPr lvl="1" algn="ctr"/>
            <a:endParaRPr lang="es-ES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lvl="1" algn="ctr"/>
            <a:endParaRPr lang="es-ES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753CA13-1B33-9875-B0D0-8E108C0BCF9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63"/>
          <a:stretch>
            <a:fillRect/>
          </a:stretch>
        </p:blipFill>
        <p:spPr>
          <a:xfrm>
            <a:off x="6298701" y="804155"/>
            <a:ext cx="3927649" cy="60042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05741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C3B4EC-E283-5677-91B8-01AB140D13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upo 19">
            <a:extLst>
              <a:ext uri="{FF2B5EF4-FFF2-40B4-BE49-F238E27FC236}">
                <a16:creationId xmlns:a16="http://schemas.microsoft.com/office/drawing/2014/main" id="{7D8E0453-8B4A-B20C-AB68-7B3F1859961B}"/>
              </a:ext>
            </a:extLst>
          </p:cNvPr>
          <p:cNvGrpSpPr/>
          <p:nvPr/>
        </p:nvGrpSpPr>
        <p:grpSpPr>
          <a:xfrm>
            <a:off x="8527188" y="5567476"/>
            <a:ext cx="3296404" cy="1220763"/>
            <a:chOff x="6178013" y="5253161"/>
            <a:chExt cx="3296404" cy="1220763"/>
          </a:xfrm>
        </p:grpSpPr>
        <p:pic>
          <p:nvPicPr>
            <p:cNvPr id="21" name="Imagen 20">
              <a:extLst>
                <a:ext uri="{FF2B5EF4-FFF2-40B4-BE49-F238E27FC236}">
                  <a16:creationId xmlns:a16="http://schemas.microsoft.com/office/drawing/2014/main" id="{20EF1E68-78BF-4F46-EC92-7C9B7DC7114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t="53835"/>
            <a:stretch/>
          </p:blipFill>
          <p:spPr>
            <a:xfrm>
              <a:off x="6359362" y="5253161"/>
              <a:ext cx="3115055" cy="1220763"/>
            </a:xfrm>
            <a:prstGeom prst="rect">
              <a:avLst/>
            </a:prstGeom>
          </p:spPr>
        </p:pic>
        <p:sp>
          <p:nvSpPr>
            <p:cNvPr id="22" name="CuadroTexto 21">
              <a:extLst>
                <a:ext uri="{FF2B5EF4-FFF2-40B4-BE49-F238E27FC236}">
                  <a16:creationId xmlns:a16="http://schemas.microsoft.com/office/drawing/2014/main" id="{E7EE9C73-8D0E-B84F-FBE1-CB7E50FBFF03}"/>
                </a:ext>
              </a:extLst>
            </p:cNvPr>
            <p:cNvSpPr txBox="1"/>
            <p:nvPr/>
          </p:nvSpPr>
          <p:spPr>
            <a:xfrm>
              <a:off x="6178013" y="5989310"/>
              <a:ext cx="1217297" cy="26161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1100" dirty="0">
                  <a:solidFill>
                    <a:srgbClr val="2F5597"/>
                  </a:solidFill>
                </a:rPr>
                <a:t>Non-</a:t>
              </a:r>
              <a:r>
                <a:rPr lang="es-ES" sz="1100" dirty="0" err="1">
                  <a:solidFill>
                    <a:srgbClr val="2F5597"/>
                  </a:solidFill>
                </a:rPr>
                <a:t>declining</a:t>
              </a:r>
              <a:r>
                <a:rPr lang="es-ES" sz="1100" dirty="0">
                  <a:solidFill>
                    <a:srgbClr val="2F5597"/>
                  </a:solidFill>
                </a:rPr>
                <a:t> site</a:t>
              </a:r>
            </a:p>
          </p:txBody>
        </p:sp>
        <p:sp>
          <p:nvSpPr>
            <p:cNvPr id="23" name="CuadroTexto 22">
              <a:extLst>
                <a:ext uri="{FF2B5EF4-FFF2-40B4-BE49-F238E27FC236}">
                  <a16:creationId xmlns:a16="http://schemas.microsoft.com/office/drawing/2014/main" id="{6E1F4340-629D-1579-80CB-121769E85279}"/>
                </a:ext>
              </a:extLst>
            </p:cNvPr>
            <p:cNvSpPr txBox="1"/>
            <p:nvPr/>
          </p:nvSpPr>
          <p:spPr>
            <a:xfrm>
              <a:off x="7313725" y="5989310"/>
              <a:ext cx="1217297" cy="26161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1100" dirty="0">
                  <a:solidFill>
                    <a:srgbClr val="7030A0"/>
                  </a:solidFill>
                  <a:cs typeface="Helvetica" panose="020B0604020202020204"/>
                </a:rPr>
                <a:t>Non-</a:t>
              </a:r>
              <a:r>
                <a:rPr lang="es-ES" sz="1100" dirty="0" err="1">
                  <a:solidFill>
                    <a:srgbClr val="7030A0"/>
                  </a:solidFill>
                  <a:cs typeface="Helvetica" panose="020B0604020202020204"/>
                </a:rPr>
                <a:t>declining</a:t>
              </a:r>
              <a:r>
                <a:rPr lang="es-ES" sz="1100" dirty="0">
                  <a:solidFill>
                    <a:srgbClr val="7030A0"/>
                  </a:solidFill>
                  <a:cs typeface="Helvetica" panose="020B0604020202020204"/>
                </a:rPr>
                <a:t> site</a:t>
              </a:r>
            </a:p>
          </p:txBody>
        </p:sp>
        <p:sp>
          <p:nvSpPr>
            <p:cNvPr id="24" name="CuadroTexto 23">
              <a:extLst>
                <a:ext uri="{FF2B5EF4-FFF2-40B4-BE49-F238E27FC236}">
                  <a16:creationId xmlns:a16="http://schemas.microsoft.com/office/drawing/2014/main" id="{AD6DA4FE-3CC6-6D36-6ECB-E616FD3C3825}"/>
                </a:ext>
              </a:extLst>
            </p:cNvPr>
            <p:cNvSpPr txBox="1"/>
            <p:nvPr/>
          </p:nvSpPr>
          <p:spPr>
            <a:xfrm>
              <a:off x="8482962" y="6002841"/>
              <a:ext cx="946093" cy="261610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s-ES" sz="1100" dirty="0" err="1">
                  <a:solidFill>
                    <a:srgbClr val="C00000"/>
                  </a:solidFill>
                </a:rPr>
                <a:t>Declining</a:t>
              </a:r>
              <a:r>
                <a:rPr lang="es-ES" sz="1100" dirty="0">
                  <a:solidFill>
                    <a:srgbClr val="C00000"/>
                  </a:solidFill>
                </a:rPr>
                <a:t> site</a:t>
              </a:r>
            </a:p>
          </p:txBody>
        </p:sp>
      </p:grpSp>
      <p:grpSp>
        <p:nvGrpSpPr>
          <p:cNvPr id="11" name="Grupo 10">
            <a:extLst>
              <a:ext uri="{FF2B5EF4-FFF2-40B4-BE49-F238E27FC236}">
                <a16:creationId xmlns:a16="http://schemas.microsoft.com/office/drawing/2014/main" id="{0557B1E9-74A8-C0C5-AD5B-AA26E6A91D29}"/>
              </a:ext>
            </a:extLst>
          </p:cNvPr>
          <p:cNvGrpSpPr/>
          <p:nvPr/>
        </p:nvGrpSpPr>
        <p:grpSpPr>
          <a:xfrm>
            <a:off x="8527188" y="3944761"/>
            <a:ext cx="3477754" cy="1250117"/>
            <a:chOff x="1139560" y="5095351"/>
            <a:chExt cx="3477754" cy="1250117"/>
          </a:xfrm>
        </p:grpSpPr>
        <p:pic>
          <p:nvPicPr>
            <p:cNvPr id="17" name="Imagen 16">
              <a:extLst>
                <a:ext uri="{FF2B5EF4-FFF2-40B4-BE49-F238E27FC236}">
                  <a16:creationId xmlns:a16="http://schemas.microsoft.com/office/drawing/2014/main" id="{95D803EB-ABFC-2B48-4BBB-B4D3D82F330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b="57655"/>
            <a:stretch/>
          </p:blipFill>
          <p:spPr>
            <a:xfrm>
              <a:off x="1139560" y="5095351"/>
              <a:ext cx="3477754" cy="1250117"/>
            </a:xfrm>
            <a:prstGeom prst="rect">
              <a:avLst/>
            </a:prstGeom>
          </p:spPr>
        </p:pic>
        <p:sp>
          <p:nvSpPr>
            <p:cNvPr id="18" name="CuadroTexto 17">
              <a:extLst>
                <a:ext uri="{FF2B5EF4-FFF2-40B4-BE49-F238E27FC236}">
                  <a16:creationId xmlns:a16="http://schemas.microsoft.com/office/drawing/2014/main" id="{62EDC70A-6C9F-A939-3CEC-DA2DEB707299}"/>
                </a:ext>
              </a:extLst>
            </p:cNvPr>
            <p:cNvSpPr txBox="1"/>
            <p:nvPr/>
          </p:nvSpPr>
          <p:spPr>
            <a:xfrm>
              <a:off x="1609302" y="5843116"/>
              <a:ext cx="1132041" cy="292388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s-ES" sz="1300" dirty="0">
                  <a:solidFill>
                    <a:srgbClr val="2F5597"/>
                  </a:solidFill>
                </a:rPr>
                <a:t>Non-</a:t>
              </a:r>
              <a:r>
                <a:rPr lang="es-ES" sz="1300" dirty="0" err="1">
                  <a:solidFill>
                    <a:srgbClr val="2F5597"/>
                  </a:solidFill>
                </a:rPr>
                <a:t>declining</a:t>
              </a:r>
              <a:endParaRPr lang="es-ES" sz="1300" dirty="0">
                <a:solidFill>
                  <a:srgbClr val="2F5597"/>
                </a:solidFill>
              </a:endParaRPr>
            </a:p>
          </p:txBody>
        </p:sp>
        <p:sp>
          <p:nvSpPr>
            <p:cNvPr id="19" name="CuadroTexto 18">
              <a:extLst>
                <a:ext uri="{FF2B5EF4-FFF2-40B4-BE49-F238E27FC236}">
                  <a16:creationId xmlns:a16="http://schemas.microsoft.com/office/drawing/2014/main" id="{9C373739-D140-0D69-94A9-07D1DDD39ACD}"/>
                </a:ext>
              </a:extLst>
            </p:cNvPr>
            <p:cNvSpPr txBox="1"/>
            <p:nvPr/>
          </p:nvSpPr>
          <p:spPr>
            <a:xfrm>
              <a:off x="3151746" y="5843116"/>
              <a:ext cx="811441" cy="292388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s-ES" sz="1300" dirty="0" err="1">
                  <a:solidFill>
                    <a:srgbClr val="C00000"/>
                  </a:solidFill>
                </a:rPr>
                <a:t>Declining</a:t>
              </a:r>
              <a:endParaRPr lang="es-ES" sz="1300" dirty="0">
                <a:solidFill>
                  <a:srgbClr val="C00000"/>
                </a:solidFill>
              </a:endParaRPr>
            </a:p>
          </p:txBody>
        </p:sp>
      </p:grpSp>
      <p:grpSp>
        <p:nvGrpSpPr>
          <p:cNvPr id="2" name="Grupo 1">
            <a:extLst>
              <a:ext uri="{FF2B5EF4-FFF2-40B4-BE49-F238E27FC236}">
                <a16:creationId xmlns:a16="http://schemas.microsoft.com/office/drawing/2014/main" id="{D4A7DB54-4178-5298-6B51-7E7A57B25860}"/>
              </a:ext>
            </a:extLst>
          </p:cNvPr>
          <p:cNvGrpSpPr/>
          <p:nvPr/>
        </p:nvGrpSpPr>
        <p:grpSpPr>
          <a:xfrm>
            <a:off x="635710" y="1091933"/>
            <a:ext cx="3761427" cy="5167267"/>
            <a:chOff x="6872115" y="927995"/>
            <a:chExt cx="4007741" cy="5167267"/>
          </a:xfrm>
        </p:grpSpPr>
        <p:cxnSp>
          <p:nvCxnSpPr>
            <p:cNvPr id="6" name="Conector recto de flecha 5">
              <a:extLst>
                <a:ext uri="{FF2B5EF4-FFF2-40B4-BE49-F238E27FC236}">
                  <a16:creationId xmlns:a16="http://schemas.microsoft.com/office/drawing/2014/main" id="{1786FCCD-55EC-DFC5-277E-AF1DDBF94257}"/>
                </a:ext>
              </a:extLst>
            </p:cNvPr>
            <p:cNvCxnSpPr>
              <a:cxnSpLocks/>
            </p:cNvCxnSpPr>
            <p:nvPr/>
          </p:nvCxnSpPr>
          <p:spPr>
            <a:xfrm>
              <a:off x="7208697" y="1279802"/>
              <a:ext cx="3292630" cy="0"/>
            </a:xfrm>
            <a:prstGeom prst="straightConnector1">
              <a:avLst/>
            </a:prstGeom>
            <a:ln w="25400"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CuadroTexto 18">
              <a:extLst>
                <a:ext uri="{FF2B5EF4-FFF2-40B4-BE49-F238E27FC236}">
                  <a16:creationId xmlns:a16="http://schemas.microsoft.com/office/drawing/2014/main" id="{E88B7465-25BC-FAB4-8CFF-2E7A84028AB2}"/>
                </a:ext>
              </a:extLst>
            </p:cNvPr>
            <p:cNvSpPr txBox="1"/>
            <p:nvPr/>
          </p:nvSpPr>
          <p:spPr>
            <a:xfrm>
              <a:off x="8456917" y="927995"/>
              <a:ext cx="911247" cy="3738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s-E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s-ES" sz="1829">
                  <a:latin typeface="Arial" panose="020B0604020202020204" pitchFamily="34" charset="0"/>
                  <a:cs typeface="Arial" panose="020B0604020202020204" pitchFamily="34" charset="0"/>
                </a:rPr>
                <a:t>34 m</a:t>
              </a:r>
            </a:p>
          </p:txBody>
        </p:sp>
        <p:pic>
          <p:nvPicPr>
            <p:cNvPr id="8" name="Imagen 7">
              <a:extLst>
                <a:ext uri="{FF2B5EF4-FFF2-40B4-BE49-F238E27FC236}">
                  <a16:creationId xmlns:a16="http://schemas.microsoft.com/office/drawing/2014/main" id="{30E7678A-7A50-7275-0F35-F468D9323FA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872115" y="1563478"/>
              <a:ext cx="4007741" cy="4531784"/>
            </a:xfrm>
            <a:prstGeom prst="rect">
              <a:avLst/>
            </a:prstGeom>
          </p:spPr>
        </p:pic>
      </p:grpSp>
      <p:sp>
        <p:nvSpPr>
          <p:cNvPr id="9" name="CuadroTexto 10">
            <a:extLst>
              <a:ext uri="{FF2B5EF4-FFF2-40B4-BE49-F238E27FC236}">
                <a16:creationId xmlns:a16="http://schemas.microsoft.com/office/drawing/2014/main" id="{BFC4E210-0B8F-7818-4DEA-F8337C5EB8D4}"/>
              </a:ext>
            </a:extLst>
          </p:cNvPr>
          <p:cNvSpPr txBox="1"/>
          <p:nvPr/>
        </p:nvSpPr>
        <p:spPr>
          <a:xfrm>
            <a:off x="4843220" y="1091933"/>
            <a:ext cx="5809299" cy="64940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rgbClr val="218317"/>
              </a:buClr>
            </a:pPr>
            <a:r>
              <a:rPr lang="es-ES" sz="2000" b="1" dirty="0">
                <a:solidFill>
                  <a:schemeClr val="accent6">
                    <a:lumMod val="75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1.- </a:t>
            </a:r>
            <a:r>
              <a:rPr lang="es-ES" sz="2000" b="1" dirty="0" err="1">
                <a:solidFill>
                  <a:schemeClr val="accent6">
                    <a:lumMod val="75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Mature</a:t>
            </a:r>
            <a:r>
              <a:rPr lang="es-ES" sz="2000" b="1" dirty="0">
                <a:solidFill>
                  <a:schemeClr val="accent6">
                    <a:lumMod val="75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b="1" dirty="0" err="1">
                <a:solidFill>
                  <a:schemeClr val="accent6">
                    <a:lumMod val="75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trees</a:t>
            </a:r>
            <a:r>
              <a:rPr lang="es-ES" sz="2000" b="1" dirty="0">
                <a:solidFill>
                  <a:schemeClr val="accent6">
                    <a:lumMod val="75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b="1" dirty="0" err="1">
                <a:solidFill>
                  <a:schemeClr val="accent6">
                    <a:lumMod val="75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inventory</a:t>
            </a:r>
            <a:endParaRPr lang="es-ES" sz="2800" b="1" dirty="0">
              <a:solidFill>
                <a:schemeClr val="accent6">
                  <a:lumMod val="75000"/>
                </a:schemeClr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800100" lvl="1" indent="-342900">
              <a:buClr>
                <a:srgbClr val="218317"/>
              </a:buClr>
              <a:buFont typeface="Arial" panose="020B0604020202020204" pitchFamily="34" charset="0"/>
              <a:buChar char="•"/>
            </a:pP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Species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identity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,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defoliation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&amp;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d.b.h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.</a:t>
            </a:r>
          </a:p>
          <a:p>
            <a:pPr marL="800100" lvl="1" indent="-342900">
              <a:buClr>
                <a:srgbClr val="218317"/>
              </a:buClr>
              <a:buFont typeface="Arial" panose="020B0604020202020204" pitchFamily="34" charset="0"/>
              <a:buChar char="•"/>
            </a:pPr>
            <a:endParaRPr lang="es-ES" sz="24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>
              <a:buClr>
                <a:srgbClr val="218317"/>
              </a:buClr>
            </a:pPr>
            <a:r>
              <a:rPr lang="es-ES" sz="2000" b="1" dirty="0">
                <a:solidFill>
                  <a:schemeClr val="accent6">
                    <a:lumMod val="75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2.- </a:t>
            </a:r>
            <a:r>
              <a:rPr lang="es-ES" sz="2000" b="1" dirty="0" err="1">
                <a:solidFill>
                  <a:schemeClr val="accent6">
                    <a:lumMod val="75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Regeneration</a:t>
            </a:r>
            <a:r>
              <a:rPr lang="es-ES" sz="2000" b="1" dirty="0">
                <a:solidFill>
                  <a:schemeClr val="accent6">
                    <a:lumMod val="75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b="1" dirty="0" err="1">
                <a:solidFill>
                  <a:schemeClr val="accent6">
                    <a:lumMod val="75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inventory</a:t>
            </a:r>
            <a:endParaRPr lang="es-ES" sz="2800" b="1" dirty="0">
              <a:solidFill>
                <a:schemeClr val="accent6">
                  <a:lumMod val="75000"/>
                </a:schemeClr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800100" lvl="1" indent="-342900">
              <a:buClr>
                <a:srgbClr val="218317"/>
              </a:buClr>
              <a:buFont typeface="Arial" panose="020B0604020202020204" pitchFamily="34" charset="0"/>
              <a:buChar char="•"/>
            </a:pP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Species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identity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&amp;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height</a:t>
            </a:r>
            <a:endParaRPr lang="es-ES" sz="20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800100" lvl="1" indent="-342900">
              <a:buClr>
                <a:srgbClr val="218317"/>
              </a:buClr>
              <a:buFont typeface="Arial" panose="020B0604020202020204" pitchFamily="34" charset="0"/>
              <a:buChar char="•"/>
            </a:pPr>
            <a:endParaRPr lang="es-ES" sz="20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>
              <a:buClr>
                <a:srgbClr val="218317"/>
              </a:buClr>
            </a:pPr>
            <a:r>
              <a:rPr lang="es-ES" sz="2000" b="1" dirty="0">
                <a:solidFill>
                  <a:schemeClr val="accent6">
                    <a:lumMod val="75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3.- </a:t>
            </a:r>
            <a:r>
              <a:rPr lang="es-ES" sz="2000" b="1" dirty="0" err="1">
                <a:solidFill>
                  <a:schemeClr val="accent6">
                    <a:lumMod val="75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Shrub</a:t>
            </a:r>
            <a:r>
              <a:rPr lang="es-ES" sz="2000" b="1" dirty="0">
                <a:solidFill>
                  <a:schemeClr val="accent6">
                    <a:lumMod val="75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b="1" dirty="0" err="1">
                <a:solidFill>
                  <a:schemeClr val="accent6">
                    <a:lumMod val="75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inventory</a:t>
            </a:r>
            <a:endParaRPr lang="es-ES" sz="2800" b="1" dirty="0">
              <a:solidFill>
                <a:schemeClr val="accent6">
                  <a:lumMod val="75000"/>
                </a:schemeClr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800100" lvl="1" indent="-342900">
              <a:buClr>
                <a:srgbClr val="218317"/>
              </a:buClr>
              <a:buFont typeface="Arial" panose="020B0604020202020204" pitchFamily="34" charset="0"/>
              <a:buChar char="•"/>
            </a:pP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Species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identity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,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height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&amp;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cover</a:t>
            </a:r>
            <a:endParaRPr lang="es-ES" sz="20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800100" lvl="1" indent="-342900">
              <a:buClr>
                <a:srgbClr val="218317"/>
              </a:buClr>
              <a:buFont typeface="Arial" panose="020B0604020202020204" pitchFamily="34" charset="0"/>
              <a:buChar char="•"/>
            </a:pPr>
            <a:endParaRPr lang="es-ES" sz="20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>
              <a:buClr>
                <a:srgbClr val="218317"/>
              </a:buClr>
            </a:pPr>
            <a:r>
              <a:rPr lang="es-ES" sz="2000" b="1" dirty="0">
                <a:solidFill>
                  <a:schemeClr val="accent6">
                    <a:lumMod val="75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4.- Target </a:t>
            </a:r>
            <a:r>
              <a:rPr lang="es-ES" sz="2000" b="1" dirty="0" err="1">
                <a:solidFill>
                  <a:schemeClr val="accent6">
                    <a:lumMod val="75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trees</a:t>
            </a:r>
            <a:endParaRPr lang="es-ES" sz="2800" b="1" dirty="0">
              <a:solidFill>
                <a:schemeClr val="accent6">
                  <a:lumMod val="75000"/>
                </a:schemeClr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800100" lvl="1" indent="-342900">
              <a:buClr>
                <a:srgbClr val="218317"/>
              </a:buClr>
              <a:buFont typeface="Arial" panose="020B0604020202020204" pitchFamily="34" charset="0"/>
              <a:buChar char="•"/>
            </a:pP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Height</a:t>
            </a:r>
            <a:endParaRPr lang="es-ES" sz="20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800100" lvl="1" indent="-342900">
              <a:buClr>
                <a:srgbClr val="218317"/>
              </a:buClr>
              <a:buFont typeface="Arial" panose="020B0604020202020204" pitchFamily="34" charset="0"/>
              <a:buChar char="•"/>
            </a:pP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LWC </a:t>
            </a:r>
          </a:p>
          <a:p>
            <a:pPr marL="800100" lvl="1" indent="-342900">
              <a:buClr>
                <a:srgbClr val="218317"/>
              </a:buClr>
              <a:buFont typeface="Arial" panose="020B0604020202020204" pitchFamily="34" charset="0"/>
              <a:buChar char="•"/>
            </a:pP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SLA</a:t>
            </a:r>
          </a:p>
          <a:p>
            <a:pPr marL="800100" lvl="1" indent="-342900">
              <a:buClr>
                <a:srgbClr val="218317"/>
              </a:buClr>
              <a:buFont typeface="Arial" panose="020B0604020202020204" pitchFamily="34" charset="0"/>
              <a:buChar char="•"/>
            </a:pP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Photosynthetic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pigments</a:t>
            </a:r>
            <a:endParaRPr lang="es-ES" sz="20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800100" lvl="1" indent="-342900">
              <a:buClr>
                <a:srgbClr val="218317"/>
              </a:buClr>
              <a:buFont typeface="Arial" panose="020B0604020202020204" pitchFamily="34" charset="0"/>
              <a:buChar char="•"/>
            </a:pP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Isotopes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(C, N, O)</a:t>
            </a:r>
          </a:p>
          <a:p>
            <a:pPr marL="800100" lvl="1" indent="-342900">
              <a:buClr>
                <a:srgbClr val="218317"/>
              </a:buClr>
              <a:buFont typeface="Arial" panose="020B0604020202020204" pitchFamily="34" charset="0"/>
              <a:buChar char="•"/>
            </a:pPr>
            <a:endParaRPr lang="es-ES" sz="20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>
              <a:buClr>
                <a:srgbClr val="218317"/>
              </a:buClr>
            </a:pPr>
            <a:r>
              <a:rPr lang="es-ES" sz="2000" b="1" dirty="0">
                <a:solidFill>
                  <a:schemeClr val="accent6">
                    <a:lumMod val="75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5.- </a:t>
            </a:r>
            <a:r>
              <a:rPr lang="es-ES" sz="2000" b="1" dirty="0" err="1">
                <a:solidFill>
                  <a:schemeClr val="accent6">
                    <a:lumMod val="75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Soil</a:t>
            </a:r>
            <a:r>
              <a:rPr lang="es-ES" sz="2000" b="1" dirty="0">
                <a:solidFill>
                  <a:schemeClr val="accent6">
                    <a:lumMod val="75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data</a:t>
            </a:r>
            <a:endParaRPr lang="es-ES" sz="2800" b="1" dirty="0">
              <a:solidFill>
                <a:schemeClr val="accent6">
                  <a:lumMod val="75000"/>
                </a:schemeClr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800100" lvl="1" indent="-342900">
              <a:buClr>
                <a:srgbClr val="218317"/>
              </a:buClr>
              <a:buFont typeface="Arial" panose="020B0604020202020204" pitchFamily="34" charset="0"/>
              <a:buChar char="•"/>
            </a:pPr>
            <a:endParaRPr lang="es-ES" sz="24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800100" lvl="1" indent="-342900">
              <a:buClr>
                <a:srgbClr val="218317"/>
              </a:buClr>
              <a:buFont typeface="Arial" panose="020B0604020202020204" pitchFamily="34" charset="0"/>
              <a:buChar char="•"/>
            </a:pPr>
            <a:endParaRPr lang="es-ES" sz="24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s-ES" sz="24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pic>
        <p:nvPicPr>
          <p:cNvPr id="12" name="Gráfico 11" descr="Abeto">
            <a:extLst>
              <a:ext uri="{FF2B5EF4-FFF2-40B4-BE49-F238E27FC236}">
                <a16:creationId xmlns:a16="http://schemas.microsoft.com/office/drawing/2014/main" id="{545A1811-C8ED-7AF6-9FB7-C0AAABC35AF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826902" y="2389013"/>
            <a:ext cx="914400" cy="914400"/>
          </a:xfrm>
          <a:prstGeom prst="rect">
            <a:avLst/>
          </a:prstGeom>
        </p:spPr>
      </p:pic>
      <p:pic>
        <p:nvPicPr>
          <p:cNvPr id="13" name="Gráfico 12" descr="Abeto">
            <a:extLst>
              <a:ext uri="{FF2B5EF4-FFF2-40B4-BE49-F238E27FC236}">
                <a16:creationId xmlns:a16="http://schemas.microsoft.com/office/drawing/2014/main" id="{89ECA156-2E40-F0AE-D17C-B2DCEA84193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47183" y="2746686"/>
            <a:ext cx="914400" cy="914400"/>
          </a:xfrm>
          <a:prstGeom prst="rect">
            <a:avLst/>
          </a:prstGeom>
        </p:spPr>
      </p:pic>
      <p:pic>
        <p:nvPicPr>
          <p:cNvPr id="14" name="Gráfico 13" descr="Abeto">
            <a:extLst>
              <a:ext uri="{FF2B5EF4-FFF2-40B4-BE49-F238E27FC236}">
                <a16:creationId xmlns:a16="http://schemas.microsoft.com/office/drawing/2014/main" id="{3B199FEF-6E3B-64F7-ABE6-499676A5843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713867" y="3030361"/>
            <a:ext cx="914400" cy="914400"/>
          </a:xfrm>
          <a:prstGeom prst="rect">
            <a:avLst/>
          </a:prstGeom>
        </p:spPr>
      </p:pic>
      <p:pic>
        <p:nvPicPr>
          <p:cNvPr id="15" name="Gráfico 14" descr="Abeto">
            <a:extLst>
              <a:ext uri="{FF2B5EF4-FFF2-40B4-BE49-F238E27FC236}">
                <a16:creationId xmlns:a16="http://schemas.microsoft.com/office/drawing/2014/main" id="{F1C2D211-15A5-69E5-AA50-E3C085ECC35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437058" y="4127146"/>
            <a:ext cx="914400" cy="914400"/>
          </a:xfrm>
          <a:prstGeom prst="rect">
            <a:avLst/>
          </a:prstGeom>
        </p:spPr>
      </p:pic>
      <p:pic>
        <p:nvPicPr>
          <p:cNvPr id="16" name="Gráfico 15" descr="Abeto">
            <a:extLst>
              <a:ext uri="{FF2B5EF4-FFF2-40B4-BE49-F238E27FC236}">
                <a16:creationId xmlns:a16="http://schemas.microsoft.com/office/drawing/2014/main" id="{7A90B577-9218-845B-73D1-20C0BB8C1C4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978353" y="4224808"/>
            <a:ext cx="914400" cy="914400"/>
          </a:xfrm>
          <a:prstGeom prst="rect">
            <a:avLst/>
          </a:prstGeom>
        </p:spPr>
      </p:pic>
      <p:sp>
        <p:nvSpPr>
          <p:cNvPr id="3" name="Título 1">
            <a:extLst>
              <a:ext uri="{FF2B5EF4-FFF2-40B4-BE49-F238E27FC236}">
                <a16:creationId xmlns:a16="http://schemas.microsoft.com/office/drawing/2014/main" id="{BDB7A46D-91B8-F459-9835-65013F61A8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690902" cy="804155"/>
          </a:xfrm>
          <a:solidFill>
            <a:srgbClr val="218317"/>
          </a:solidFill>
        </p:spPr>
        <p:txBody>
          <a:bodyPr>
            <a:normAutofit/>
          </a:bodyPr>
          <a:lstStyle/>
          <a:p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	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Sampling</a:t>
            </a:r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design</a:t>
            </a:r>
            <a:endParaRPr lang="es-ES" sz="3200" b="1" dirty="0">
              <a:solidFill>
                <a:schemeClr val="bg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05782E1E-BC36-63F5-4AA7-2039232E13EA}"/>
              </a:ext>
            </a:extLst>
          </p:cNvPr>
          <p:cNvSpPr txBox="1">
            <a:spLocks/>
          </p:cNvSpPr>
          <p:nvPr/>
        </p:nvSpPr>
        <p:spPr>
          <a:xfrm>
            <a:off x="9690902" y="-1"/>
            <a:ext cx="2501098" cy="804157"/>
          </a:xfrm>
          <a:prstGeom prst="rect">
            <a:avLst/>
          </a:prstGeom>
          <a:solidFill>
            <a:srgbClr val="218317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ES" sz="28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M&amp;M </a:t>
            </a:r>
            <a:r>
              <a:rPr lang="es-ES" sz="2800" b="1" dirty="0">
                <a:solidFill>
                  <a:srgbClr val="218317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75156121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B5B835-B71E-2989-E7E7-A496A14916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contenido 2">
            <a:extLst>
              <a:ext uri="{FF2B5EF4-FFF2-40B4-BE49-F238E27FC236}">
                <a16:creationId xmlns:a16="http://schemas.microsoft.com/office/drawing/2014/main" id="{79B54AFA-0DF0-CB85-F678-98071C00F4C0}"/>
              </a:ext>
            </a:extLst>
          </p:cNvPr>
          <p:cNvSpPr txBox="1">
            <a:spLocks/>
          </p:cNvSpPr>
          <p:nvPr/>
        </p:nvSpPr>
        <p:spPr>
          <a:xfrm>
            <a:off x="883112" y="1248960"/>
            <a:ext cx="5303636" cy="382887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rgbClr val="218317"/>
              </a:buClr>
            </a:pPr>
            <a:r>
              <a:rPr lang="es-ES" sz="2400" b="1" dirty="0" err="1">
                <a:latin typeface="Helvetica"/>
                <a:cs typeface="Helvetica"/>
              </a:rPr>
              <a:t>Morphological</a:t>
            </a:r>
            <a:endParaRPr lang="es-ES" sz="2400" b="1" dirty="0">
              <a:latin typeface="Helvetica"/>
              <a:ea typeface="Calibri" panose="020F0502020204030204"/>
              <a:cs typeface="Helvetica"/>
            </a:endParaRPr>
          </a:p>
          <a:p>
            <a:pPr lvl="1">
              <a:buClr>
                <a:srgbClr val="218317"/>
              </a:buClr>
              <a:buFont typeface="Calibri" panose="020B0604020202020204" pitchFamily="34" charset="0"/>
              <a:buChar char="-"/>
            </a:pPr>
            <a:r>
              <a:rPr lang="es-ES" sz="2000" dirty="0" err="1">
                <a:latin typeface="Helvetica"/>
                <a:cs typeface="Helvetica"/>
              </a:rPr>
              <a:t>Tree</a:t>
            </a:r>
            <a:r>
              <a:rPr lang="es-ES" sz="2000" dirty="0">
                <a:latin typeface="Helvetica"/>
                <a:cs typeface="Helvetica"/>
              </a:rPr>
              <a:t> </a:t>
            </a:r>
            <a:r>
              <a:rPr lang="es-ES" sz="2000" dirty="0" err="1">
                <a:latin typeface="Helvetica"/>
                <a:cs typeface="Helvetica"/>
              </a:rPr>
              <a:t>growth</a:t>
            </a:r>
            <a:r>
              <a:rPr lang="es-ES" sz="2000" dirty="0">
                <a:latin typeface="Helvetica"/>
                <a:cs typeface="Helvetica"/>
              </a:rPr>
              <a:t> </a:t>
            </a:r>
            <a:r>
              <a:rPr lang="es-ES" sz="2000" dirty="0">
                <a:solidFill>
                  <a:srgbClr val="218317"/>
                </a:solidFill>
                <a:latin typeface="Helvetica"/>
                <a:cs typeface="Helvetica"/>
                <a:sym typeface="Wingdings" panose="05000000000000000000" pitchFamily="2" charset="2"/>
              </a:rPr>
              <a:t></a:t>
            </a:r>
            <a:r>
              <a:rPr lang="es-ES" sz="2000" dirty="0">
                <a:latin typeface="Helvetica"/>
                <a:cs typeface="Helvetica"/>
                <a:sym typeface="Wingdings" panose="05000000000000000000" pitchFamily="2" charset="2"/>
              </a:rPr>
              <a:t> </a:t>
            </a:r>
            <a:r>
              <a:rPr lang="es-ES" sz="2000" dirty="0" err="1">
                <a:solidFill>
                  <a:srgbClr val="FF0000"/>
                </a:solidFill>
                <a:latin typeface="Helvetica"/>
                <a:cs typeface="Helvetica"/>
                <a:sym typeface="Wingdings" panose="05000000000000000000" pitchFamily="2" charset="2"/>
              </a:rPr>
              <a:t>growth</a:t>
            </a:r>
            <a:endParaRPr lang="es-ES" sz="2000" dirty="0">
              <a:solidFill>
                <a:srgbClr val="FF0000"/>
              </a:solidFill>
              <a:latin typeface="Helvetica"/>
              <a:cs typeface="Helvetica"/>
            </a:endParaRPr>
          </a:p>
          <a:p>
            <a:pPr lvl="1">
              <a:buClr>
                <a:srgbClr val="218317"/>
              </a:buClr>
              <a:buFont typeface="Calibri" panose="020B0604020202020204" pitchFamily="34" charset="0"/>
              <a:buChar char="-"/>
            </a:pPr>
            <a:r>
              <a:rPr lang="es-ES" sz="2000" dirty="0" err="1">
                <a:latin typeface="Helvetica"/>
                <a:cs typeface="Helvetica"/>
              </a:rPr>
              <a:t>Leaf</a:t>
            </a:r>
            <a:r>
              <a:rPr lang="es-ES" sz="2000" dirty="0">
                <a:latin typeface="Helvetica"/>
                <a:cs typeface="Helvetica"/>
              </a:rPr>
              <a:t> </a:t>
            </a:r>
            <a:r>
              <a:rPr lang="es-ES" sz="2000" dirty="0" err="1">
                <a:latin typeface="Helvetica"/>
                <a:cs typeface="Helvetica"/>
              </a:rPr>
              <a:t>traits</a:t>
            </a:r>
            <a:r>
              <a:rPr lang="es-ES" sz="2000" dirty="0">
                <a:latin typeface="Helvetica"/>
                <a:cs typeface="Helvetica"/>
              </a:rPr>
              <a:t> </a:t>
            </a:r>
            <a:r>
              <a:rPr lang="es-ES" sz="2000" dirty="0">
                <a:solidFill>
                  <a:srgbClr val="218317"/>
                </a:solidFill>
                <a:latin typeface="Helvetica"/>
                <a:cs typeface="Helvetica"/>
                <a:sym typeface="Wingdings" panose="05000000000000000000" pitchFamily="2" charset="2"/>
              </a:rPr>
              <a:t> </a:t>
            </a:r>
            <a:r>
              <a:rPr lang="es-ES" sz="2000" dirty="0" err="1">
                <a:latin typeface="Helvetica"/>
                <a:cs typeface="Helvetica"/>
                <a:sym typeface="Wingdings" panose="05000000000000000000" pitchFamily="2" charset="2"/>
              </a:rPr>
              <a:t>leaf</a:t>
            </a:r>
            <a:r>
              <a:rPr lang="es-ES" sz="2000" dirty="0">
                <a:latin typeface="Helvetica"/>
                <a:cs typeface="Helvetica"/>
                <a:sym typeface="Wingdings" panose="05000000000000000000" pitchFamily="2" charset="2"/>
              </a:rPr>
              <a:t> </a:t>
            </a:r>
            <a:r>
              <a:rPr lang="es-ES" sz="2000" dirty="0" err="1">
                <a:latin typeface="Helvetica"/>
                <a:cs typeface="Helvetica"/>
                <a:sym typeface="Wingdings" panose="05000000000000000000" pitchFamily="2" charset="2"/>
              </a:rPr>
              <a:t>area</a:t>
            </a:r>
            <a:r>
              <a:rPr lang="es-ES" sz="2000" dirty="0">
                <a:latin typeface="Helvetica"/>
                <a:cs typeface="Helvetica"/>
                <a:sym typeface="Wingdings" panose="05000000000000000000" pitchFamily="2" charset="2"/>
              </a:rPr>
              <a:t> &amp; </a:t>
            </a:r>
            <a:r>
              <a:rPr lang="es-ES" sz="2000" dirty="0" err="1">
                <a:solidFill>
                  <a:srgbClr val="FF0000"/>
                </a:solidFill>
                <a:latin typeface="Helvetica"/>
                <a:cs typeface="Helvetica"/>
                <a:sym typeface="Wingdings" panose="05000000000000000000" pitchFamily="2" charset="2"/>
              </a:rPr>
              <a:t>defoliation</a:t>
            </a:r>
            <a:r>
              <a:rPr lang="es-ES" sz="2000" dirty="0">
                <a:latin typeface="Helvetica"/>
                <a:cs typeface="Helvetica"/>
                <a:sym typeface="Wingdings" panose="05000000000000000000" pitchFamily="2" charset="2"/>
              </a:rPr>
              <a:t> </a:t>
            </a:r>
          </a:p>
          <a:p>
            <a:pPr lvl="1">
              <a:buClr>
                <a:srgbClr val="218317"/>
              </a:buClr>
              <a:buFont typeface="Calibri" panose="020B0604020202020204" pitchFamily="34" charset="0"/>
              <a:buChar char="-"/>
            </a:pPr>
            <a:r>
              <a:rPr lang="es-ES" sz="2000" dirty="0" err="1">
                <a:latin typeface="Helvetica"/>
                <a:cs typeface="Helvetica"/>
              </a:rPr>
              <a:t>Leaf</a:t>
            </a:r>
            <a:r>
              <a:rPr lang="es-ES" sz="2000" dirty="0">
                <a:latin typeface="Helvetica"/>
                <a:cs typeface="Helvetica"/>
              </a:rPr>
              <a:t> </a:t>
            </a:r>
            <a:r>
              <a:rPr lang="es-ES" sz="2000" dirty="0" err="1">
                <a:latin typeface="Helvetica"/>
                <a:cs typeface="Helvetica"/>
              </a:rPr>
              <a:t>nutrients</a:t>
            </a:r>
            <a:r>
              <a:rPr lang="es-ES" sz="2000" dirty="0">
                <a:latin typeface="Helvetica"/>
                <a:cs typeface="Helvetica"/>
              </a:rPr>
              <a:t> </a:t>
            </a:r>
            <a:r>
              <a:rPr lang="es-ES" sz="2000" dirty="0">
                <a:solidFill>
                  <a:srgbClr val="218317"/>
                </a:solidFill>
                <a:latin typeface="Helvetica"/>
                <a:cs typeface="Helvetica"/>
                <a:sym typeface="Wingdings" panose="05000000000000000000" pitchFamily="2" charset="2"/>
              </a:rPr>
              <a:t></a:t>
            </a:r>
            <a:r>
              <a:rPr lang="es-ES" sz="2000" dirty="0">
                <a:latin typeface="Helvetica"/>
                <a:cs typeface="Helvetica"/>
                <a:sym typeface="Wingdings" panose="05000000000000000000" pitchFamily="2" charset="2"/>
              </a:rPr>
              <a:t> C &amp; N </a:t>
            </a:r>
            <a:r>
              <a:rPr lang="es-ES" sz="2000" dirty="0" err="1">
                <a:latin typeface="Helvetica"/>
                <a:cs typeface="Helvetica"/>
                <a:sym typeface="Wingdings" panose="05000000000000000000" pitchFamily="2" charset="2"/>
              </a:rPr>
              <a:t>content</a:t>
            </a:r>
            <a:endParaRPr lang="es-ES" sz="20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lvl="1">
              <a:buClr>
                <a:srgbClr val="218317"/>
              </a:buClr>
              <a:buFont typeface="Calibri" panose="020B0604020202020204" pitchFamily="34" charset="0"/>
              <a:buChar char="-"/>
            </a:pPr>
            <a:endParaRPr lang="es-ES" sz="2000" dirty="0">
              <a:latin typeface="Helvetica"/>
              <a:cs typeface="Helvetica"/>
              <a:sym typeface="Wingdings" panose="05000000000000000000" pitchFamily="2" charset="2"/>
            </a:endParaRPr>
          </a:p>
          <a:p>
            <a:pPr lvl="1">
              <a:buClr>
                <a:srgbClr val="218317"/>
              </a:buClr>
              <a:buFont typeface="Calibri" panose="020B0604020202020204" pitchFamily="34" charset="0"/>
              <a:buChar char="-"/>
            </a:pPr>
            <a:endParaRPr lang="es-ES" sz="2000" dirty="0">
              <a:latin typeface="Helvetica"/>
              <a:cs typeface="Helvetica"/>
            </a:endParaRPr>
          </a:p>
          <a:p>
            <a:pPr>
              <a:buClr>
                <a:srgbClr val="218317"/>
              </a:buClr>
            </a:pPr>
            <a:r>
              <a:rPr lang="es-ES" sz="2400" b="1" dirty="0" err="1">
                <a:latin typeface="Helvetica"/>
                <a:cs typeface="Helvetica"/>
              </a:rPr>
              <a:t>Physiological</a:t>
            </a:r>
            <a:endParaRPr lang="es-ES" sz="2400" b="1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lvl="1">
              <a:buClr>
                <a:srgbClr val="218317"/>
              </a:buClr>
              <a:buFont typeface="Calibri" panose="020B0604020202020204" pitchFamily="34" charset="0"/>
              <a:buChar char="-"/>
            </a:pPr>
            <a:r>
              <a:rPr lang="es-ES" sz="2000" dirty="0" err="1">
                <a:latin typeface="Helvetica"/>
                <a:cs typeface="Helvetica"/>
              </a:rPr>
              <a:t>Photosynthesis</a:t>
            </a:r>
            <a:r>
              <a:rPr lang="es-ES" sz="2000" dirty="0">
                <a:latin typeface="Helvetica"/>
                <a:cs typeface="Helvetica"/>
              </a:rPr>
              <a:t> </a:t>
            </a:r>
            <a:r>
              <a:rPr lang="es-ES" sz="2000" dirty="0">
                <a:solidFill>
                  <a:srgbClr val="218317"/>
                </a:solidFill>
                <a:latin typeface="Helvetica"/>
                <a:cs typeface="Helvetica"/>
                <a:sym typeface="Wingdings" panose="05000000000000000000" pitchFamily="2" charset="2"/>
              </a:rPr>
              <a:t></a:t>
            </a:r>
            <a:r>
              <a:rPr lang="es-ES" sz="2000" dirty="0">
                <a:latin typeface="Helvetica"/>
                <a:cs typeface="Helvetica"/>
                <a:sym typeface="Wingdings" panose="05000000000000000000" pitchFamily="2" charset="2"/>
              </a:rPr>
              <a:t> </a:t>
            </a:r>
            <a:r>
              <a:rPr lang="es-ES" sz="2000" dirty="0" err="1">
                <a:latin typeface="Helvetica"/>
                <a:cs typeface="Helvetica"/>
                <a:sym typeface="Wingdings" panose="05000000000000000000" pitchFamily="2" charset="2"/>
              </a:rPr>
              <a:t>spectrophotometry</a:t>
            </a:r>
            <a:endParaRPr lang="es-ES" sz="20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lvl="1">
              <a:buClr>
                <a:srgbClr val="218317"/>
              </a:buClr>
              <a:buFont typeface="Calibri" panose="020B0604020202020204" pitchFamily="34" charset="0"/>
              <a:buChar char="-"/>
            </a:pPr>
            <a:r>
              <a:rPr lang="es-ES" sz="2000" dirty="0" err="1">
                <a:latin typeface="Helvetica"/>
                <a:cs typeface="Helvetica"/>
              </a:rPr>
              <a:t>Water</a:t>
            </a:r>
            <a:r>
              <a:rPr lang="es-ES" sz="2000" dirty="0">
                <a:latin typeface="Helvetica"/>
                <a:cs typeface="Helvetica"/>
              </a:rPr>
              <a:t> </a:t>
            </a:r>
            <a:r>
              <a:rPr lang="es-ES" sz="2000" dirty="0" err="1">
                <a:latin typeface="Helvetica"/>
                <a:cs typeface="Helvetica"/>
              </a:rPr>
              <a:t>relations</a:t>
            </a:r>
            <a:r>
              <a:rPr lang="es-ES" sz="2000" dirty="0">
                <a:latin typeface="Helvetica"/>
                <a:cs typeface="Helvetica"/>
              </a:rPr>
              <a:t> </a:t>
            </a:r>
            <a:r>
              <a:rPr lang="es-ES" sz="2000" dirty="0">
                <a:solidFill>
                  <a:srgbClr val="218317"/>
                </a:solidFill>
                <a:latin typeface="Helvetica"/>
                <a:cs typeface="Helvetica"/>
                <a:sym typeface="Wingdings" panose="05000000000000000000" pitchFamily="2" charset="2"/>
              </a:rPr>
              <a:t></a:t>
            </a:r>
            <a:r>
              <a:rPr lang="es-ES" sz="2000" dirty="0">
                <a:latin typeface="Helvetica"/>
                <a:cs typeface="Helvetica"/>
                <a:sym typeface="Wingdings" panose="05000000000000000000" pitchFamily="2" charset="2"/>
              </a:rPr>
              <a:t> </a:t>
            </a:r>
            <a:r>
              <a:rPr lang="es-ES" sz="2000" dirty="0" err="1">
                <a:latin typeface="Helvetica"/>
                <a:cs typeface="Helvetica"/>
                <a:sym typeface="Wingdings" panose="05000000000000000000" pitchFamily="2" charset="2"/>
              </a:rPr>
              <a:t>water</a:t>
            </a:r>
            <a:r>
              <a:rPr lang="es-ES" sz="2000" dirty="0">
                <a:latin typeface="Helvetica"/>
                <a:cs typeface="Helvetica"/>
                <a:sym typeface="Wingdings" panose="05000000000000000000" pitchFamily="2" charset="2"/>
              </a:rPr>
              <a:t> </a:t>
            </a:r>
            <a:r>
              <a:rPr lang="es-ES" sz="2000" dirty="0" err="1">
                <a:latin typeface="Helvetica"/>
                <a:cs typeface="Helvetica"/>
                <a:sym typeface="Wingdings" panose="05000000000000000000" pitchFamily="2" charset="2"/>
              </a:rPr>
              <a:t>content</a:t>
            </a:r>
            <a:endParaRPr lang="es-ES" sz="20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lvl="1">
              <a:buClr>
                <a:srgbClr val="218317"/>
              </a:buClr>
              <a:buFont typeface="Calibri" panose="020B0604020202020204" pitchFamily="34" charset="0"/>
              <a:buChar char="-"/>
            </a:pPr>
            <a:r>
              <a:rPr lang="es-ES" sz="2000" dirty="0" err="1">
                <a:latin typeface="Helvetica"/>
                <a:cs typeface="Helvetica"/>
              </a:rPr>
              <a:t>Leaf</a:t>
            </a:r>
            <a:r>
              <a:rPr lang="es-ES" sz="2000" dirty="0">
                <a:latin typeface="Helvetica"/>
                <a:cs typeface="Helvetica"/>
              </a:rPr>
              <a:t> </a:t>
            </a:r>
            <a:r>
              <a:rPr lang="es-ES" sz="2000" dirty="0" err="1">
                <a:latin typeface="Helvetica"/>
                <a:cs typeface="Helvetica"/>
              </a:rPr>
              <a:t>isotopes</a:t>
            </a:r>
            <a:r>
              <a:rPr lang="es-ES" sz="2000" dirty="0">
                <a:latin typeface="Helvetica"/>
                <a:cs typeface="Helvetica"/>
              </a:rPr>
              <a:t> </a:t>
            </a:r>
            <a:r>
              <a:rPr lang="es-ES" sz="2000" dirty="0">
                <a:solidFill>
                  <a:srgbClr val="218317"/>
                </a:solidFill>
                <a:latin typeface="Helvetica"/>
                <a:cs typeface="Helvetica"/>
                <a:sym typeface="Wingdings" panose="05000000000000000000" pitchFamily="2" charset="2"/>
              </a:rPr>
              <a:t></a:t>
            </a:r>
            <a:r>
              <a:rPr lang="es-ES" sz="2000" dirty="0">
                <a:latin typeface="Helvetica"/>
                <a:cs typeface="Helvetica"/>
                <a:sym typeface="Wingdings" panose="05000000000000000000" pitchFamily="2" charset="2"/>
              </a:rPr>
              <a:t> </a:t>
            </a:r>
            <a:r>
              <a:rPr lang="es-ES" sz="2000" dirty="0" err="1">
                <a:latin typeface="Helvetica"/>
                <a:cs typeface="Helvetica"/>
                <a:sym typeface="Wingdings" panose="05000000000000000000" pitchFamily="2" charset="2"/>
              </a:rPr>
              <a:t>isotopes</a:t>
            </a:r>
            <a:endParaRPr lang="es-ES" sz="20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lvl="1">
              <a:buClr>
                <a:srgbClr val="218317"/>
              </a:buClr>
              <a:buFont typeface="Calibri" panose="02070309020205020404" pitchFamily="49" charset="0"/>
              <a:buChar char="-"/>
            </a:pPr>
            <a:endParaRPr lang="es-ES" sz="20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endParaRPr lang="es-ES" sz="24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6F6A97FF-FF6A-EEE9-1CC0-AB48DB192F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88915" y="1477262"/>
            <a:ext cx="9366245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kumimoji="0" lang="es-ES" altLang="es-E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altLang="es-E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72FF20BA-0C7E-1C22-7F45-4CE624AEDEB1}"/>
              </a:ext>
            </a:extLst>
          </p:cNvPr>
          <p:cNvSpPr txBox="1">
            <a:spLocks/>
          </p:cNvSpPr>
          <p:nvPr/>
        </p:nvSpPr>
        <p:spPr>
          <a:xfrm>
            <a:off x="6683951" y="2123594"/>
            <a:ext cx="2563083" cy="169457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rgbClr val="218317"/>
              </a:buClr>
              <a:buNone/>
            </a:pPr>
            <a:r>
              <a:rPr lang="es-ES" sz="2400" i="1" dirty="0" err="1">
                <a:solidFill>
                  <a:srgbClr val="746FB2"/>
                </a:solidFill>
                <a:latin typeface="Helvetica"/>
                <a:cs typeface="Helvetica"/>
              </a:rPr>
              <a:t>Abies</a:t>
            </a:r>
            <a:r>
              <a:rPr lang="es-ES" sz="2400" i="1" dirty="0">
                <a:solidFill>
                  <a:srgbClr val="746FB2"/>
                </a:solidFill>
                <a:latin typeface="Helvetica"/>
                <a:cs typeface="Helvetica"/>
              </a:rPr>
              <a:t> alba</a:t>
            </a:r>
          </a:p>
          <a:p>
            <a:pPr marL="0" indent="0">
              <a:buClr>
                <a:srgbClr val="218317"/>
              </a:buClr>
              <a:buNone/>
            </a:pPr>
            <a:r>
              <a:rPr lang="es-ES" sz="2400" i="1" dirty="0" err="1">
                <a:solidFill>
                  <a:srgbClr val="1B9E77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Pinus</a:t>
            </a:r>
            <a:r>
              <a:rPr lang="es-ES" sz="2400" i="1" dirty="0">
                <a:solidFill>
                  <a:srgbClr val="1B9E77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400" i="1" dirty="0" err="1">
                <a:solidFill>
                  <a:srgbClr val="1B9E77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sylvestris</a:t>
            </a:r>
            <a:endParaRPr lang="es-ES" sz="2400" i="1" dirty="0">
              <a:solidFill>
                <a:srgbClr val="1B9E77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0" indent="0">
              <a:buClr>
                <a:srgbClr val="218317"/>
              </a:buClr>
              <a:buNone/>
            </a:pPr>
            <a:r>
              <a:rPr lang="es-ES" sz="2400" i="1" dirty="0" err="1">
                <a:solidFill>
                  <a:srgbClr val="DB5F02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Pinus</a:t>
            </a:r>
            <a:r>
              <a:rPr lang="es-ES" sz="2400" i="1" dirty="0">
                <a:solidFill>
                  <a:srgbClr val="DB5F02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pinea </a:t>
            </a:r>
          </a:p>
          <a:p>
            <a:pPr lvl="1">
              <a:buClr>
                <a:srgbClr val="218317"/>
              </a:buClr>
              <a:buFont typeface="Calibri" panose="02070309020205020404" pitchFamily="49" charset="0"/>
              <a:buChar char="-"/>
            </a:pPr>
            <a:endParaRPr lang="es-ES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endParaRPr lang="es-ES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6" name="Marcador de contenido 2">
            <a:extLst>
              <a:ext uri="{FF2B5EF4-FFF2-40B4-BE49-F238E27FC236}">
                <a16:creationId xmlns:a16="http://schemas.microsoft.com/office/drawing/2014/main" id="{24AEED58-709F-898C-12A6-99AB65DAD3F8}"/>
              </a:ext>
            </a:extLst>
          </p:cNvPr>
          <p:cNvSpPr txBox="1">
            <a:spLocks/>
          </p:cNvSpPr>
          <p:nvPr/>
        </p:nvSpPr>
        <p:spPr>
          <a:xfrm>
            <a:off x="7965492" y="4578350"/>
            <a:ext cx="3672037" cy="197199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Clr>
                <a:srgbClr val="218317"/>
              </a:buClr>
              <a:buNone/>
            </a:pPr>
            <a:endParaRPr lang="es-ES" sz="2400" b="1" u="sng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457200" lvl="1" indent="0" algn="r">
              <a:buClr>
                <a:srgbClr val="218317"/>
              </a:buClr>
              <a:buNone/>
            </a:pPr>
            <a:r>
              <a:rPr lang="es-ES" b="1" u="sng" dirty="0">
                <a:latin typeface="Helvetica" panose="020B0604020202020204" pitchFamily="34" charset="0"/>
                <a:cs typeface="Helvetica" panose="020B0604020202020204" pitchFamily="34" charset="0"/>
              </a:rPr>
              <a:t>462 target </a:t>
            </a:r>
            <a:r>
              <a:rPr lang="es-ES" b="1" u="sng" dirty="0" err="1">
                <a:latin typeface="Helvetica" panose="020B0604020202020204" pitchFamily="34" charset="0"/>
                <a:cs typeface="Helvetica" panose="020B0604020202020204" pitchFamily="34" charset="0"/>
              </a:rPr>
              <a:t>trees</a:t>
            </a:r>
            <a:endParaRPr lang="es-ES" b="1" u="sng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algn="r"/>
            <a:endParaRPr lang="es-ES" b="1" u="sng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7" name="Marcador de contenido 2">
            <a:extLst>
              <a:ext uri="{FF2B5EF4-FFF2-40B4-BE49-F238E27FC236}">
                <a16:creationId xmlns:a16="http://schemas.microsoft.com/office/drawing/2014/main" id="{EC85E287-2566-DBE7-BD26-B22072E8579A}"/>
              </a:ext>
            </a:extLst>
          </p:cNvPr>
          <p:cNvSpPr txBox="1">
            <a:spLocks/>
          </p:cNvSpPr>
          <p:nvPr/>
        </p:nvSpPr>
        <p:spPr>
          <a:xfrm>
            <a:off x="7908218" y="2052059"/>
            <a:ext cx="3672037" cy="252629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Clr>
                <a:srgbClr val="218317"/>
              </a:buClr>
              <a:buNone/>
            </a:pPr>
            <a:r>
              <a:rPr lang="es-ES" sz="2400" dirty="0">
                <a:solidFill>
                  <a:srgbClr val="746FB2"/>
                </a:solidFill>
                <a:latin typeface="Helvetica"/>
                <a:cs typeface="Helvetica"/>
              </a:rPr>
              <a:t>23 </a:t>
            </a:r>
            <a:r>
              <a:rPr lang="es-ES" sz="2400" dirty="0" err="1">
                <a:solidFill>
                  <a:srgbClr val="746FB2"/>
                </a:solidFill>
                <a:latin typeface="Helvetica"/>
                <a:cs typeface="Helvetica"/>
              </a:rPr>
              <a:t>plots</a:t>
            </a:r>
            <a:endParaRPr lang="es-ES" sz="2400" dirty="0">
              <a:solidFill>
                <a:srgbClr val="746FB2"/>
              </a:solidFill>
              <a:latin typeface="Helvetica"/>
              <a:cs typeface="Helvetica"/>
            </a:endParaRPr>
          </a:p>
          <a:p>
            <a:pPr marL="0" indent="0" algn="r">
              <a:buClr>
                <a:srgbClr val="218317"/>
              </a:buClr>
              <a:buNone/>
            </a:pPr>
            <a:r>
              <a:rPr lang="es-ES" sz="2400" dirty="0">
                <a:solidFill>
                  <a:srgbClr val="1B9E77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51 </a:t>
            </a:r>
            <a:r>
              <a:rPr lang="es-ES" sz="2400" dirty="0" err="1">
                <a:solidFill>
                  <a:srgbClr val="1B9E77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plots</a:t>
            </a:r>
            <a:endParaRPr lang="es-ES" sz="2400" dirty="0">
              <a:solidFill>
                <a:srgbClr val="1B9E77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0" indent="0" algn="r">
              <a:buClr>
                <a:srgbClr val="218317"/>
              </a:buClr>
              <a:buNone/>
            </a:pPr>
            <a:r>
              <a:rPr lang="es-ES" sz="2400" dirty="0">
                <a:solidFill>
                  <a:srgbClr val="DB5F02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17 </a:t>
            </a:r>
            <a:r>
              <a:rPr lang="es-ES" sz="2400" dirty="0" err="1">
                <a:solidFill>
                  <a:srgbClr val="DB5F02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plots</a:t>
            </a:r>
            <a:endParaRPr lang="es-ES" sz="2400" dirty="0">
              <a:solidFill>
                <a:srgbClr val="DB5F02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0" indent="0" algn="r">
              <a:buClr>
                <a:srgbClr val="218317"/>
              </a:buClr>
              <a:buNone/>
            </a:pPr>
            <a:endParaRPr lang="es-ES" sz="24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457200" lvl="1" indent="0" algn="r">
              <a:buClr>
                <a:srgbClr val="218317"/>
              </a:buClr>
              <a:buNone/>
            </a:pP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5 targets  x  91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plots</a:t>
            </a:r>
            <a:endParaRPr lang="es-ES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algn="r"/>
            <a:endParaRPr lang="es-ES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0D84DF4-2490-EB95-168F-DB742423D5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690902" cy="804155"/>
          </a:xfrm>
          <a:solidFill>
            <a:srgbClr val="218317"/>
          </a:solidFill>
        </p:spPr>
        <p:txBody>
          <a:bodyPr>
            <a:normAutofit/>
          </a:bodyPr>
          <a:lstStyle/>
          <a:p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	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Sampling</a:t>
            </a:r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design</a:t>
            </a:r>
            <a:endParaRPr lang="es-ES" sz="3200" b="1" dirty="0">
              <a:solidFill>
                <a:schemeClr val="bg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C0EED7EC-8E57-6D07-021B-D020ECFE0CE8}"/>
              </a:ext>
            </a:extLst>
          </p:cNvPr>
          <p:cNvSpPr txBox="1">
            <a:spLocks/>
          </p:cNvSpPr>
          <p:nvPr/>
        </p:nvSpPr>
        <p:spPr>
          <a:xfrm>
            <a:off x="9690902" y="-1"/>
            <a:ext cx="2501098" cy="804157"/>
          </a:xfrm>
          <a:prstGeom prst="rect">
            <a:avLst/>
          </a:prstGeom>
          <a:solidFill>
            <a:srgbClr val="218317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ES" sz="28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M&amp;M </a:t>
            </a:r>
            <a:r>
              <a:rPr lang="es-ES" sz="2800" b="1" dirty="0">
                <a:solidFill>
                  <a:srgbClr val="218317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29949547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90204C-F11E-9B27-13A1-D01D21F6E9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BC34324-CEFD-1EFD-2467-7B61612321A3}"/>
              </a:ext>
            </a:extLst>
          </p:cNvPr>
          <p:cNvSpPr txBox="1">
            <a:spLocks/>
          </p:cNvSpPr>
          <p:nvPr/>
        </p:nvSpPr>
        <p:spPr>
          <a:xfrm>
            <a:off x="623546" y="1374438"/>
            <a:ext cx="10925077" cy="114682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rgbClr val="218317"/>
              </a:buClr>
              <a:buNone/>
            </a:pPr>
            <a:r>
              <a:rPr lang="es-ES" sz="2400" b="1" dirty="0" err="1">
                <a:latin typeface="Helvetica"/>
                <a:cs typeface="Helvetica"/>
              </a:rPr>
              <a:t>Obj</a:t>
            </a:r>
            <a:r>
              <a:rPr lang="es-ES" sz="2400" b="1" dirty="0">
                <a:latin typeface="Helvetica"/>
                <a:cs typeface="Helvetica"/>
              </a:rPr>
              <a:t>. 1.- </a:t>
            </a:r>
            <a:r>
              <a:rPr lang="es-ES" sz="2400" dirty="0" err="1">
                <a:latin typeface="Helvetica"/>
                <a:cs typeface="Helvetica"/>
              </a:rPr>
              <a:t>To</a:t>
            </a:r>
            <a:r>
              <a:rPr lang="es-ES" sz="2400" dirty="0">
                <a:latin typeface="Helvetica"/>
                <a:cs typeface="Helvetica"/>
              </a:rPr>
              <a:t> </a:t>
            </a:r>
            <a:r>
              <a:rPr lang="es-ES" sz="2400" dirty="0" err="1">
                <a:latin typeface="Helvetica"/>
                <a:cs typeface="Helvetica"/>
              </a:rPr>
              <a:t>characterise</a:t>
            </a:r>
            <a:r>
              <a:rPr lang="es-ES" sz="2400" dirty="0">
                <a:latin typeface="Helvetica"/>
                <a:cs typeface="Helvetica"/>
              </a:rPr>
              <a:t> </a:t>
            </a:r>
            <a:r>
              <a:rPr lang="es-ES" sz="2400" dirty="0" err="1">
                <a:latin typeface="Helvetica"/>
                <a:cs typeface="Helvetica"/>
              </a:rPr>
              <a:t>vulnerability</a:t>
            </a:r>
            <a:r>
              <a:rPr lang="es-ES" sz="2400" dirty="0">
                <a:latin typeface="Helvetica"/>
                <a:cs typeface="Helvetica"/>
              </a:rPr>
              <a:t> </a:t>
            </a:r>
            <a:r>
              <a:rPr lang="es-ES" sz="2400" dirty="0" err="1">
                <a:latin typeface="Helvetica"/>
                <a:cs typeface="Helvetica"/>
              </a:rPr>
              <a:t>factors</a:t>
            </a:r>
            <a:r>
              <a:rPr lang="es-ES" sz="2400" dirty="0">
                <a:latin typeface="Helvetica"/>
                <a:cs typeface="Helvetica"/>
              </a:rPr>
              <a:t> </a:t>
            </a:r>
            <a:r>
              <a:rPr lang="es-ES" sz="2400" dirty="0" err="1">
                <a:latin typeface="Helvetica"/>
                <a:cs typeface="Helvetica"/>
              </a:rPr>
              <a:t>determining</a:t>
            </a:r>
            <a:r>
              <a:rPr lang="es-ES" sz="2400" dirty="0">
                <a:latin typeface="Helvetica"/>
                <a:cs typeface="Helvetica"/>
              </a:rPr>
              <a:t> </a:t>
            </a:r>
            <a:r>
              <a:rPr lang="es-ES" sz="2400" dirty="0" err="1">
                <a:solidFill>
                  <a:srgbClr val="FF0000"/>
                </a:solidFill>
                <a:latin typeface="Helvetica"/>
                <a:cs typeface="Helvetica"/>
              </a:rPr>
              <a:t>drought</a:t>
            </a:r>
            <a:r>
              <a:rPr lang="es-ES" sz="2400" dirty="0">
                <a:solidFill>
                  <a:srgbClr val="FF0000"/>
                </a:solidFill>
                <a:latin typeface="Helvetica"/>
                <a:cs typeface="Helvetica"/>
              </a:rPr>
              <a:t> </a:t>
            </a:r>
            <a:r>
              <a:rPr lang="es-ES" sz="2400" dirty="0" err="1">
                <a:solidFill>
                  <a:srgbClr val="FF0000"/>
                </a:solidFill>
                <a:latin typeface="Helvetica"/>
                <a:cs typeface="Helvetica"/>
              </a:rPr>
              <a:t>vulnerability</a:t>
            </a:r>
            <a:r>
              <a:rPr lang="es-ES" sz="2400" dirty="0">
                <a:solidFill>
                  <a:srgbClr val="FF0000"/>
                </a:solidFill>
                <a:latin typeface="Helvetica"/>
                <a:cs typeface="Helvetica"/>
              </a:rPr>
              <a:t> </a:t>
            </a:r>
            <a:r>
              <a:rPr lang="es-ES" sz="2400" dirty="0" err="1">
                <a:latin typeface="Helvetica"/>
                <a:cs typeface="Helvetica"/>
              </a:rPr>
              <a:t>through</a:t>
            </a:r>
            <a:r>
              <a:rPr lang="es-ES" sz="2400" dirty="0">
                <a:latin typeface="Helvetica"/>
                <a:cs typeface="Helvetica"/>
              </a:rPr>
              <a:t> </a:t>
            </a:r>
            <a:r>
              <a:rPr lang="es-ES" sz="2400" dirty="0" err="1">
                <a:latin typeface="Helvetica"/>
                <a:cs typeface="Helvetica"/>
              </a:rPr>
              <a:t>assessment</a:t>
            </a:r>
            <a:r>
              <a:rPr lang="es-ES" sz="2400" dirty="0">
                <a:latin typeface="Helvetica"/>
                <a:cs typeface="Helvetica"/>
              </a:rPr>
              <a:t> </a:t>
            </a:r>
            <a:r>
              <a:rPr lang="es-ES" sz="2400" dirty="0" err="1">
                <a:latin typeface="Helvetica"/>
                <a:cs typeface="Helvetica"/>
              </a:rPr>
              <a:t>of</a:t>
            </a:r>
            <a:r>
              <a:rPr lang="es-ES" sz="2400" dirty="0">
                <a:latin typeface="Helvetica"/>
                <a:cs typeface="Helvetica"/>
              </a:rPr>
              <a:t> </a:t>
            </a:r>
            <a:r>
              <a:rPr lang="es-ES" sz="2400" b="1" dirty="0" err="1">
                <a:latin typeface="Helvetica"/>
                <a:cs typeface="Helvetica"/>
              </a:rPr>
              <a:t>morphological</a:t>
            </a:r>
            <a:r>
              <a:rPr lang="es-ES" sz="2400" b="1" dirty="0">
                <a:latin typeface="Helvetica"/>
                <a:cs typeface="Helvetica"/>
              </a:rPr>
              <a:t> </a:t>
            </a:r>
            <a:r>
              <a:rPr lang="es-ES" sz="2400" dirty="0">
                <a:latin typeface="Helvetica"/>
                <a:cs typeface="Helvetica"/>
              </a:rPr>
              <a:t>and</a:t>
            </a:r>
            <a:r>
              <a:rPr lang="es-ES" sz="2400" b="1" dirty="0">
                <a:latin typeface="Helvetica"/>
                <a:cs typeface="Helvetica"/>
              </a:rPr>
              <a:t> </a:t>
            </a:r>
            <a:r>
              <a:rPr lang="es-ES" sz="2400" b="1" dirty="0" err="1">
                <a:latin typeface="Helvetica"/>
                <a:cs typeface="Helvetica"/>
              </a:rPr>
              <a:t>physiological</a:t>
            </a:r>
            <a:r>
              <a:rPr lang="es-ES" sz="2400" b="1" dirty="0">
                <a:latin typeface="Helvetica"/>
                <a:cs typeface="Helvetica"/>
              </a:rPr>
              <a:t> </a:t>
            </a:r>
            <a:r>
              <a:rPr lang="es-ES" sz="2400" b="1" dirty="0" err="1">
                <a:latin typeface="Helvetica"/>
                <a:cs typeface="Helvetica"/>
              </a:rPr>
              <a:t>traits</a:t>
            </a:r>
            <a:r>
              <a:rPr lang="es-ES" sz="2400" b="1" dirty="0">
                <a:latin typeface="Helvetica"/>
                <a:cs typeface="Helvetica"/>
              </a:rPr>
              <a:t> responses</a:t>
            </a:r>
            <a:r>
              <a:rPr lang="es-ES" sz="2400" dirty="0">
                <a:latin typeface="Helvetica"/>
                <a:cs typeface="Helvetica"/>
              </a:rPr>
              <a:t> in </a:t>
            </a:r>
            <a:r>
              <a:rPr lang="es-ES" sz="2400" dirty="0" err="1">
                <a:latin typeface="Helvetica"/>
                <a:cs typeface="Helvetica"/>
              </a:rPr>
              <a:t>drought-induced</a:t>
            </a:r>
            <a:r>
              <a:rPr lang="es-ES" sz="2400" dirty="0">
                <a:latin typeface="Helvetica"/>
                <a:cs typeface="Helvetica"/>
              </a:rPr>
              <a:t> </a:t>
            </a:r>
            <a:r>
              <a:rPr lang="es-ES" sz="2400" dirty="0" err="1">
                <a:latin typeface="Helvetica"/>
                <a:cs typeface="Helvetica"/>
              </a:rPr>
              <a:t>damaged</a:t>
            </a:r>
            <a:r>
              <a:rPr lang="es-ES" sz="2400" dirty="0">
                <a:latin typeface="Helvetica"/>
                <a:cs typeface="Helvetica"/>
              </a:rPr>
              <a:t> vs. </a:t>
            </a:r>
            <a:r>
              <a:rPr lang="es-ES" sz="2400" dirty="0" err="1">
                <a:latin typeface="Helvetica"/>
                <a:cs typeface="Helvetica"/>
              </a:rPr>
              <a:t>healthy</a:t>
            </a:r>
            <a:r>
              <a:rPr lang="es-ES" sz="2400" dirty="0">
                <a:latin typeface="Helvetica"/>
                <a:cs typeface="Helvetica"/>
              </a:rPr>
              <a:t> </a:t>
            </a:r>
            <a:r>
              <a:rPr lang="es-ES" sz="2400" dirty="0" err="1">
                <a:latin typeface="Helvetica"/>
                <a:cs typeface="Helvetica"/>
              </a:rPr>
              <a:t>areas</a:t>
            </a:r>
            <a:endParaRPr lang="es-ES" sz="24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2" name="Marcador de contenido 2">
            <a:extLst>
              <a:ext uri="{FF2B5EF4-FFF2-40B4-BE49-F238E27FC236}">
                <a16:creationId xmlns:a16="http://schemas.microsoft.com/office/drawing/2014/main" id="{4C414708-B8E9-19C2-E949-7CED186D0D11}"/>
              </a:ext>
            </a:extLst>
          </p:cNvPr>
          <p:cNvSpPr txBox="1">
            <a:spLocks/>
          </p:cNvSpPr>
          <p:nvPr/>
        </p:nvSpPr>
        <p:spPr>
          <a:xfrm>
            <a:off x="623546" y="2776552"/>
            <a:ext cx="10925077" cy="114682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ES" sz="2400" b="1" i="1" dirty="0">
                <a:latin typeface="Helvetica"/>
                <a:cs typeface="Helvetica"/>
              </a:rPr>
              <a:t>H1.-</a:t>
            </a:r>
            <a:r>
              <a:rPr lang="es-ES" sz="2400" i="1" dirty="0">
                <a:latin typeface="Helvetica"/>
                <a:cs typeface="Helvetica"/>
              </a:rPr>
              <a:t> </a:t>
            </a:r>
            <a:r>
              <a:rPr lang="es-ES" sz="2400" i="1" dirty="0" err="1">
                <a:latin typeface="Helvetica"/>
                <a:cs typeface="Helvetica"/>
              </a:rPr>
              <a:t>We</a:t>
            </a:r>
            <a:r>
              <a:rPr lang="es-ES" sz="2400" i="1" dirty="0">
                <a:latin typeface="Helvetica"/>
                <a:cs typeface="Helvetica"/>
              </a:rPr>
              <a:t> </a:t>
            </a:r>
            <a:r>
              <a:rPr lang="es-ES" sz="2400" i="1" dirty="0" err="1">
                <a:latin typeface="Helvetica"/>
                <a:cs typeface="Helvetica"/>
              </a:rPr>
              <a:t>expect</a:t>
            </a:r>
            <a:r>
              <a:rPr lang="es-ES" sz="2400" i="1" dirty="0">
                <a:latin typeface="Helvetica"/>
                <a:cs typeface="Helvetica"/>
              </a:rPr>
              <a:t> </a:t>
            </a:r>
            <a:r>
              <a:rPr lang="es-ES" sz="2400" i="1" dirty="0" err="1">
                <a:latin typeface="Helvetica"/>
                <a:cs typeface="Helvetica"/>
              </a:rPr>
              <a:t>tree</a:t>
            </a:r>
            <a:r>
              <a:rPr lang="es-ES" sz="2400" i="1" dirty="0">
                <a:latin typeface="Helvetica"/>
                <a:cs typeface="Helvetica"/>
              </a:rPr>
              <a:t> </a:t>
            </a:r>
            <a:r>
              <a:rPr lang="es-ES" sz="2400" i="1" dirty="0" err="1">
                <a:latin typeface="Helvetica"/>
                <a:cs typeface="Helvetica"/>
              </a:rPr>
              <a:t>size</a:t>
            </a:r>
            <a:r>
              <a:rPr lang="es-ES" sz="2400" i="1" dirty="0">
                <a:latin typeface="Helvetica"/>
                <a:cs typeface="Helvetica"/>
              </a:rPr>
              <a:t>, </a:t>
            </a:r>
            <a:r>
              <a:rPr lang="es-ES" sz="2400" i="1" dirty="0" err="1">
                <a:latin typeface="Helvetica"/>
                <a:cs typeface="Helvetica"/>
              </a:rPr>
              <a:t>past</a:t>
            </a:r>
            <a:r>
              <a:rPr lang="es-ES" sz="2400" i="1" dirty="0">
                <a:latin typeface="Helvetica"/>
                <a:cs typeface="Helvetica"/>
              </a:rPr>
              <a:t> </a:t>
            </a:r>
            <a:r>
              <a:rPr lang="es-ES" sz="2400" i="1" dirty="0" err="1">
                <a:latin typeface="Helvetica"/>
                <a:cs typeface="Helvetica"/>
              </a:rPr>
              <a:t>tree</a:t>
            </a:r>
            <a:r>
              <a:rPr lang="es-ES" sz="2400" i="1" dirty="0">
                <a:latin typeface="Helvetica"/>
                <a:cs typeface="Helvetica"/>
              </a:rPr>
              <a:t> </a:t>
            </a:r>
            <a:r>
              <a:rPr lang="es-ES" sz="2400" i="1" dirty="0" err="1">
                <a:latin typeface="Helvetica"/>
                <a:cs typeface="Helvetica"/>
              </a:rPr>
              <a:t>growth</a:t>
            </a:r>
            <a:r>
              <a:rPr lang="es-ES" sz="2400" i="1" dirty="0">
                <a:latin typeface="Helvetica"/>
                <a:cs typeface="Helvetica"/>
              </a:rPr>
              <a:t>, </a:t>
            </a:r>
            <a:r>
              <a:rPr lang="es-ES" sz="2400" i="1" dirty="0" err="1">
                <a:latin typeface="Helvetica"/>
                <a:cs typeface="Helvetica"/>
              </a:rPr>
              <a:t>competition</a:t>
            </a:r>
            <a:r>
              <a:rPr lang="es-ES" sz="2400" i="1" dirty="0">
                <a:latin typeface="Helvetica"/>
                <a:cs typeface="Helvetica"/>
              </a:rPr>
              <a:t> and </a:t>
            </a:r>
            <a:r>
              <a:rPr lang="es-ES" sz="2400" i="1" dirty="0" err="1">
                <a:latin typeface="Helvetica"/>
                <a:cs typeface="Helvetica"/>
              </a:rPr>
              <a:t>leaves</a:t>
            </a:r>
            <a:r>
              <a:rPr lang="es-ES" sz="2400" i="1" dirty="0">
                <a:latin typeface="Helvetica"/>
                <a:cs typeface="Helvetica"/>
              </a:rPr>
              <a:t> </a:t>
            </a:r>
            <a:r>
              <a:rPr lang="es-ES" sz="2400" i="1" dirty="0" err="1">
                <a:latin typeface="Helvetica"/>
                <a:cs typeface="Helvetica"/>
              </a:rPr>
              <a:t>traits</a:t>
            </a:r>
            <a:r>
              <a:rPr lang="es-ES" sz="2400" i="1" dirty="0">
                <a:latin typeface="Helvetica"/>
                <a:cs typeface="Helvetica"/>
              </a:rPr>
              <a:t> </a:t>
            </a:r>
            <a:r>
              <a:rPr lang="es-ES" sz="2400" i="1" dirty="0" err="1">
                <a:latin typeface="Helvetica"/>
                <a:cs typeface="Helvetica"/>
              </a:rPr>
              <a:t>to</a:t>
            </a:r>
            <a:r>
              <a:rPr lang="es-ES" sz="2400" i="1" dirty="0">
                <a:latin typeface="Helvetica"/>
                <a:cs typeface="Helvetica"/>
              </a:rPr>
              <a:t> determine </a:t>
            </a:r>
            <a:r>
              <a:rPr lang="es-ES" sz="2400" i="1" dirty="0" err="1">
                <a:latin typeface="Helvetica"/>
                <a:cs typeface="Helvetica"/>
              </a:rPr>
              <a:t>tree</a:t>
            </a:r>
            <a:r>
              <a:rPr lang="es-ES" sz="2400" i="1" dirty="0">
                <a:latin typeface="Helvetica"/>
                <a:cs typeface="Helvetica"/>
              </a:rPr>
              <a:t> </a:t>
            </a:r>
            <a:r>
              <a:rPr lang="es-ES" sz="2400" i="1" dirty="0" err="1">
                <a:latin typeface="Helvetica"/>
                <a:cs typeface="Helvetica"/>
              </a:rPr>
              <a:t>vulnerability</a:t>
            </a:r>
            <a:r>
              <a:rPr lang="es-ES" sz="2400" i="1" dirty="0">
                <a:latin typeface="Helvetica"/>
                <a:cs typeface="Helvetica"/>
              </a:rPr>
              <a:t> </a:t>
            </a:r>
            <a:r>
              <a:rPr lang="es-ES" sz="2400" i="1" dirty="0" err="1">
                <a:latin typeface="Helvetica"/>
                <a:cs typeface="Helvetica"/>
              </a:rPr>
              <a:t>to</a:t>
            </a:r>
            <a:r>
              <a:rPr lang="es-ES" sz="2400" i="1" dirty="0">
                <a:latin typeface="Helvetica"/>
                <a:cs typeface="Helvetica"/>
              </a:rPr>
              <a:t> </a:t>
            </a:r>
            <a:r>
              <a:rPr lang="es-ES" sz="2400" i="1" dirty="0" err="1">
                <a:latin typeface="Helvetica"/>
                <a:cs typeface="Helvetica"/>
              </a:rPr>
              <a:t>drought</a:t>
            </a:r>
            <a:r>
              <a:rPr lang="es-ES" sz="2400" i="1" dirty="0">
                <a:latin typeface="Helvetica"/>
                <a:cs typeface="Helvetica"/>
              </a:rPr>
              <a:t>:</a:t>
            </a:r>
          </a:p>
        </p:txBody>
      </p:sp>
      <p:sp>
        <p:nvSpPr>
          <p:cNvPr id="9" name="Título 1">
            <a:extLst>
              <a:ext uri="{FF2B5EF4-FFF2-40B4-BE49-F238E27FC236}">
                <a16:creationId xmlns:a16="http://schemas.microsoft.com/office/drawing/2014/main" id="{A5A9F656-B91B-8B88-37C0-78549A7B1835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9690902" cy="804155"/>
          </a:xfrm>
          <a:prstGeom prst="rect">
            <a:avLst/>
          </a:prstGeom>
          <a:solidFill>
            <a:srgbClr val="218317"/>
          </a:solidFill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	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Objectives</a:t>
            </a:r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&amp; 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Hypotheses</a:t>
            </a:r>
            <a:endParaRPr lang="es-ES" sz="3200" b="1" dirty="0">
              <a:solidFill>
                <a:schemeClr val="bg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0" name="Título 1">
            <a:extLst>
              <a:ext uri="{FF2B5EF4-FFF2-40B4-BE49-F238E27FC236}">
                <a16:creationId xmlns:a16="http://schemas.microsoft.com/office/drawing/2014/main" id="{08EBD559-FF21-01E8-287A-D770A4F85C25}"/>
              </a:ext>
            </a:extLst>
          </p:cNvPr>
          <p:cNvSpPr txBox="1">
            <a:spLocks/>
          </p:cNvSpPr>
          <p:nvPr/>
        </p:nvSpPr>
        <p:spPr>
          <a:xfrm>
            <a:off x="9690902" y="-1"/>
            <a:ext cx="2501098" cy="804157"/>
          </a:xfrm>
          <a:prstGeom prst="rect">
            <a:avLst/>
          </a:prstGeom>
          <a:solidFill>
            <a:srgbClr val="218317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ES" sz="2800" b="1" dirty="0">
                <a:solidFill>
                  <a:srgbClr val="218317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.</a:t>
            </a:r>
          </a:p>
        </p:txBody>
      </p:sp>
      <p:grpSp>
        <p:nvGrpSpPr>
          <p:cNvPr id="21" name="Grupo 20">
            <a:extLst>
              <a:ext uri="{FF2B5EF4-FFF2-40B4-BE49-F238E27FC236}">
                <a16:creationId xmlns:a16="http://schemas.microsoft.com/office/drawing/2014/main" id="{EED41255-ED85-C941-16C7-80273695DD5E}"/>
              </a:ext>
            </a:extLst>
          </p:cNvPr>
          <p:cNvGrpSpPr/>
          <p:nvPr/>
        </p:nvGrpSpPr>
        <p:grpSpPr>
          <a:xfrm>
            <a:off x="1246240" y="4487957"/>
            <a:ext cx="3477754" cy="1250117"/>
            <a:chOff x="1139560" y="5095351"/>
            <a:chExt cx="3477754" cy="1250117"/>
          </a:xfrm>
        </p:grpSpPr>
        <p:pic>
          <p:nvPicPr>
            <p:cNvPr id="4" name="Imagen 3">
              <a:extLst>
                <a:ext uri="{FF2B5EF4-FFF2-40B4-BE49-F238E27FC236}">
                  <a16:creationId xmlns:a16="http://schemas.microsoft.com/office/drawing/2014/main" id="{55D17402-96E9-A56B-30C4-8061982E658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b="57655"/>
            <a:stretch/>
          </p:blipFill>
          <p:spPr>
            <a:xfrm>
              <a:off x="1139560" y="5095351"/>
              <a:ext cx="3477754" cy="1250117"/>
            </a:xfrm>
            <a:prstGeom prst="rect">
              <a:avLst/>
            </a:prstGeom>
          </p:spPr>
        </p:pic>
        <p:sp>
          <p:nvSpPr>
            <p:cNvPr id="5" name="CuadroTexto 4">
              <a:extLst>
                <a:ext uri="{FF2B5EF4-FFF2-40B4-BE49-F238E27FC236}">
                  <a16:creationId xmlns:a16="http://schemas.microsoft.com/office/drawing/2014/main" id="{17FF3BC9-79A4-4A97-EB19-18CB43D3097D}"/>
                </a:ext>
              </a:extLst>
            </p:cNvPr>
            <p:cNvSpPr txBox="1"/>
            <p:nvPr/>
          </p:nvSpPr>
          <p:spPr>
            <a:xfrm>
              <a:off x="1609302" y="5843116"/>
              <a:ext cx="1132041" cy="292388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s-ES" sz="1300" dirty="0">
                  <a:solidFill>
                    <a:srgbClr val="2F5597"/>
                  </a:solidFill>
                </a:rPr>
                <a:t>Non-</a:t>
              </a:r>
              <a:r>
                <a:rPr lang="es-ES" sz="1300" dirty="0" err="1">
                  <a:solidFill>
                    <a:srgbClr val="2F5597"/>
                  </a:solidFill>
                </a:rPr>
                <a:t>declining</a:t>
              </a:r>
              <a:endParaRPr lang="es-ES" sz="1300" dirty="0">
                <a:solidFill>
                  <a:srgbClr val="2F5597"/>
                </a:solidFill>
              </a:endParaRPr>
            </a:p>
          </p:txBody>
        </p:sp>
        <p:sp>
          <p:nvSpPr>
            <p:cNvPr id="18" name="CuadroTexto 17">
              <a:extLst>
                <a:ext uri="{FF2B5EF4-FFF2-40B4-BE49-F238E27FC236}">
                  <a16:creationId xmlns:a16="http://schemas.microsoft.com/office/drawing/2014/main" id="{FAD85D67-8A8A-77BB-35F9-E448677F08EF}"/>
                </a:ext>
              </a:extLst>
            </p:cNvPr>
            <p:cNvSpPr txBox="1"/>
            <p:nvPr/>
          </p:nvSpPr>
          <p:spPr>
            <a:xfrm>
              <a:off x="3151746" y="5843116"/>
              <a:ext cx="811441" cy="292388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s-ES" sz="1300" dirty="0" err="1">
                  <a:solidFill>
                    <a:srgbClr val="C00000"/>
                  </a:solidFill>
                </a:rPr>
                <a:t>Declining</a:t>
              </a:r>
              <a:endParaRPr lang="es-ES" sz="1300" dirty="0">
                <a:solidFill>
                  <a:srgbClr val="C00000"/>
                </a:solidFill>
              </a:endParaRPr>
            </a:p>
          </p:txBody>
        </p:sp>
      </p:grpSp>
      <p:grpSp>
        <p:nvGrpSpPr>
          <p:cNvPr id="20" name="Grupo 19">
            <a:extLst>
              <a:ext uri="{FF2B5EF4-FFF2-40B4-BE49-F238E27FC236}">
                <a16:creationId xmlns:a16="http://schemas.microsoft.com/office/drawing/2014/main" id="{BB5518D9-AD43-C2DD-9D23-79EF776CC173}"/>
              </a:ext>
            </a:extLst>
          </p:cNvPr>
          <p:cNvGrpSpPr/>
          <p:nvPr/>
        </p:nvGrpSpPr>
        <p:grpSpPr>
          <a:xfrm>
            <a:off x="6389013" y="4487957"/>
            <a:ext cx="3301889" cy="1220763"/>
            <a:chOff x="6178013" y="5057218"/>
            <a:chExt cx="3301889" cy="1220763"/>
          </a:xfrm>
        </p:grpSpPr>
        <p:pic>
          <p:nvPicPr>
            <p:cNvPr id="8" name="Imagen 7">
              <a:extLst>
                <a:ext uri="{FF2B5EF4-FFF2-40B4-BE49-F238E27FC236}">
                  <a16:creationId xmlns:a16="http://schemas.microsoft.com/office/drawing/2014/main" id="{B87B21BD-A6B5-1787-C2FE-38F3E226D73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t="53835"/>
            <a:stretch/>
          </p:blipFill>
          <p:spPr>
            <a:xfrm>
              <a:off x="6364847" y="5057218"/>
              <a:ext cx="3115055" cy="1220763"/>
            </a:xfrm>
            <a:prstGeom prst="rect">
              <a:avLst/>
            </a:prstGeom>
          </p:spPr>
        </p:pic>
        <p:sp>
          <p:nvSpPr>
            <p:cNvPr id="7" name="CuadroTexto 6">
              <a:extLst>
                <a:ext uri="{FF2B5EF4-FFF2-40B4-BE49-F238E27FC236}">
                  <a16:creationId xmlns:a16="http://schemas.microsoft.com/office/drawing/2014/main" id="{50AAB96E-6C5C-AA9D-9E37-537A9CDC0700}"/>
                </a:ext>
              </a:extLst>
            </p:cNvPr>
            <p:cNvSpPr txBox="1"/>
            <p:nvPr/>
          </p:nvSpPr>
          <p:spPr>
            <a:xfrm>
              <a:off x="6178013" y="5989310"/>
              <a:ext cx="1217297" cy="26161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1100" dirty="0">
                  <a:solidFill>
                    <a:srgbClr val="2F5597"/>
                  </a:solidFill>
                </a:rPr>
                <a:t>Non-</a:t>
              </a:r>
              <a:r>
                <a:rPr lang="es-ES" sz="1100" dirty="0" err="1">
                  <a:solidFill>
                    <a:srgbClr val="2F5597"/>
                  </a:solidFill>
                </a:rPr>
                <a:t>declining</a:t>
              </a:r>
              <a:r>
                <a:rPr lang="es-ES" sz="1100" dirty="0">
                  <a:solidFill>
                    <a:srgbClr val="2F5597"/>
                  </a:solidFill>
                </a:rPr>
                <a:t> site</a:t>
              </a:r>
            </a:p>
          </p:txBody>
        </p:sp>
        <p:sp>
          <p:nvSpPr>
            <p:cNvPr id="17" name="CuadroTexto 16">
              <a:extLst>
                <a:ext uri="{FF2B5EF4-FFF2-40B4-BE49-F238E27FC236}">
                  <a16:creationId xmlns:a16="http://schemas.microsoft.com/office/drawing/2014/main" id="{E41E0CA6-A5D7-F12C-31D8-D135866D6D26}"/>
                </a:ext>
              </a:extLst>
            </p:cNvPr>
            <p:cNvSpPr txBox="1"/>
            <p:nvPr/>
          </p:nvSpPr>
          <p:spPr>
            <a:xfrm>
              <a:off x="7313725" y="5989310"/>
              <a:ext cx="1217297" cy="26161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1100" dirty="0">
                  <a:solidFill>
                    <a:srgbClr val="7030A0"/>
                  </a:solidFill>
                  <a:cs typeface="Helvetica" panose="020B0604020202020204"/>
                </a:rPr>
                <a:t>Non-</a:t>
              </a:r>
              <a:r>
                <a:rPr lang="es-ES" sz="1100" dirty="0" err="1">
                  <a:solidFill>
                    <a:srgbClr val="7030A0"/>
                  </a:solidFill>
                  <a:cs typeface="Helvetica" panose="020B0604020202020204"/>
                </a:rPr>
                <a:t>declining</a:t>
              </a:r>
              <a:r>
                <a:rPr lang="es-ES" sz="1100" dirty="0">
                  <a:solidFill>
                    <a:srgbClr val="7030A0"/>
                  </a:solidFill>
                  <a:cs typeface="Helvetica" panose="020B0604020202020204"/>
                </a:rPr>
                <a:t> site</a:t>
              </a:r>
            </a:p>
          </p:txBody>
        </p:sp>
        <p:sp>
          <p:nvSpPr>
            <p:cNvPr id="19" name="CuadroTexto 18">
              <a:extLst>
                <a:ext uri="{FF2B5EF4-FFF2-40B4-BE49-F238E27FC236}">
                  <a16:creationId xmlns:a16="http://schemas.microsoft.com/office/drawing/2014/main" id="{EC3C26AC-8D50-CAE9-0DD5-970E82CAF65D}"/>
                </a:ext>
              </a:extLst>
            </p:cNvPr>
            <p:cNvSpPr txBox="1"/>
            <p:nvPr/>
          </p:nvSpPr>
          <p:spPr>
            <a:xfrm>
              <a:off x="8482962" y="6002841"/>
              <a:ext cx="946093" cy="261610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s-ES" sz="1100" dirty="0" err="1">
                  <a:solidFill>
                    <a:srgbClr val="C00000"/>
                  </a:solidFill>
                </a:rPr>
                <a:t>Declining</a:t>
              </a:r>
              <a:r>
                <a:rPr lang="es-ES" sz="1100" dirty="0">
                  <a:solidFill>
                    <a:srgbClr val="C00000"/>
                  </a:solidFill>
                </a:rPr>
                <a:t> site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90422257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54D7E4-D331-675E-633E-A5F0F37A5C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27AC64E-6013-908B-301B-6ABF5F510488}"/>
              </a:ext>
            </a:extLst>
          </p:cNvPr>
          <p:cNvSpPr txBox="1">
            <a:spLocks/>
          </p:cNvSpPr>
          <p:nvPr/>
        </p:nvSpPr>
        <p:spPr>
          <a:xfrm>
            <a:off x="623546" y="972273"/>
            <a:ext cx="10465002" cy="1548993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Clr>
                <a:srgbClr val="218317"/>
              </a:buClr>
              <a:buNone/>
            </a:pPr>
            <a:r>
              <a:rPr lang="es-ES" sz="2400" b="1" dirty="0" err="1">
                <a:latin typeface="Helvetica"/>
                <a:cs typeface="Helvetica"/>
              </a:rPr>
              <a:t>Obj</a:t>
            </a:r>
            <a:r>
              <a:rPr lang="es-ES" sz="2400" b="1" dirty="0">
                <a:latin typeface="Helvetica" panose="020B0604020202020204"/>
                <a:cs typeface="Helvetica"/>
              </a:rPr>
              <a:t>. 1.- </a:t>
            </a:r>
            <a:r>
              <a:rPr lang="en-US" sz="2400" dirty="0">
                <a:latin typeface="Helvetica" panose="020B0604020202020204"/>
                <a:cs typeface="Helvetica" panose="020B0604020202020204"/>
              </a:rPr>
              <a:t>To assess the underlying processes behind tree dieback by </a:t>
            </a:r>
            <a:r>
              <a:rPr lang="en-US" sz="2400" dirty="0" err="1">
                <a:latin typeface="Helvetica" panose="020B0604020202020204"/>
                <a:cs typeface="Helvetica" panose="020B0604020202020204"/>
              </a:rPr>
              <a:t>characterising</a:t>
            </a:r>
            <a:r>
              <a:rPr lang="en-US" sz="2400" dirty="0">
                <a:latin typeface="Helvetica" panose="020B0604020202020204"/>
                <a:cs typeface="Helvetica" panose="020B0604020202020204"/>
              </a:rPr>
              <a:t> predisposing factors and the morphological and physiological responses to drought</a:t>
            </a:r>
            <a:endParaRPr lang="es-ES" sz="2400" dirty="0">
              <a:latin typeface="Helvetica" panose="020B0604020202020204"/>
              <a:cs typeface="Helvetica" panose="020B0604020202020204"/>
            </a:endParaRPr>
          </a:p>
        </p:txBody>
      </p:sp>
      <p:sp>
        <p:nvSpPr>
          <p:cNvPr id="2" name="Marcador de contenido 2">
            <a:extLst>
              <a:ext uri="{FF2B5EF4-FFF2-40B4-BE49-F238E27FC236}">
                <a16:creationId xmlns:a16="http://schemas.microsoft.com/office/drawing/2014/main" id="{DB95DEED-31A7-D314-C668-90CD69061438}"/>
              </a:ext>
            </a:extLst>
          </p:cNvPr>
          <p:cNvSpPr txBox="1">
            <a:spLocks/>
          </p:cNvSpPr>
          <p:nvPr/>
        </p:nvSpPr>
        <p:spPr>
          <a:xfrm>
            <a:off x="623545" y="2050140"/>
            <a:ext cx="10925077" cy="114682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ES" sz="2400" b="1" i="1" dirty="0">
                <a:latin typeface="Helvetica"/>
                <a:cs typeface="Helvetica"/>
              </a:rPr>
              <a:t>H1.1.-</a:t>
            </a:r>
            <a:r>
              <a:rPr lang="es-ES" sz="2400" i="1" dirty="0">
                <a:latin typeface="Helvetica"/>
                <a:cs typeface="Helvetica"/>
              </a:rPr>
              <a:t> </a:t>
            </a:r>
            <a:r>
              <a:rPr lang="es-ES" sz="2400" i="1" dirty="0" err="1">
                <a:latin typeface="Helvetica"/>
                <a:cs typeface="Helvetica"/>
              </a:rPr>
              <a:t>We</a:t>
            </a:r>
            <a:r>
              <a:rPr lang="es-ES" sz="2400" i="1" dirty="0">
                <a:latin typeface="Helvetica"/>
                <a:cs typeface="Helvetica"/>
              </a:rPr>
              <a:t> </a:t>
            </a:r>
            <a:r>
              <a:rPr lang="es-ES" sz="2400" i="1" dirty="0" err="1">
                <a:latin typeface="Helvetica"/>
                <a:cs typeface="Helvetica"/>
              </a:rPr>
              <a:t>expect</a:t>
            </a:r>
            <a:r>
              <a:rPr lang="es-ES" sz="2400" i="1" dirty="0">
                <a:latin typeface="Helvetica"/>
                <a:cs typeface="Helvetica"/>
              </a:rPr>
              <a:t> </a:t>
            </a:r>
            <a:r>
              <a:rPr lang="es-ES" sz="2400" i="1" dirty="0" err="1">
                <a:latin typeface="Helvetica"/>
                <a:cs typeface="Helvetica"/>
              </a:rPr>
              <a:t>tree</a:t>
            </a:r>
            <a:r>
              <a:rPr lang="es-ES" sz="2400" i="1" dirty="0">
                <a:latin typeface="Helvetica"/>
                <a:cs typeface="Helvetica"/>
              </a:rPr>
              <a:t> </a:t>
            </a:r>
            <a:r>
              <a:rPr lang="es-ES" sz="2400" i="1" dirty="0" err="1">
                <a:latin typeface="Helvetica"/>
                <a:cs typeface="Helvetica"/>
              </a:rPr>
              <a:t>size</a:t>
            </a:r>
            <a:r>
              <a:rPr lang="es-ES" sz="2400" i="1" dirty="0">
                <a:latin typeface="Helvetica"/>
                <a:cs typeface="Helvetica"/>
              </a:rPr>
              <a:t>, </a:t>
            </a:r>
            <a:r>
              <a:rPr lang="es-ES" sz="2400" i="1" dirty="0" err="1">
                <a:latin typeface="Helvetica"/>
                <a:cs typeface="Helvetica"/>
              </a:rPr>
              <a:t>past</a:t>
            </a:r>
            <a:r>
              <a:rPr lang="es-ES" sz="2400" i="1" dirty="0">
                <a:latin typeface="Helvetica"/>
                <a:cs typeface="Helvetica"/>
              </a:rPr>
              <a:t> </a:t>
            </a:r>
            <a:r>
              <a:rPr lang="es-ES" sz="2400" i="1" dirty="0" err="1">
                <a:latin typeface="Helvetica"/>
                <a:cs typeface="Helvetica"/>
              </a:rPr>
              <a:t>tree</a:t>
            </a:r>
            <a:r>
              <a:rPr lang="es-ES" sz="2400" i="1" dirty="0">
                <a:latin typeface="Helvetica"/>
                <a:cs typeface="Helvetica"/>
              </a:rPr>
              <a:t> </a:t>
            </a:r>
            <a:r>
              <a:rPr lang="es-ES" sz="2400" i="1" dirty="0" err="1">
                <a:latin typeface="Helvetica"/>
                <a:cs typeface="Helvetica"/>
              </a:rPr>
              <a:t>growth</a:t>
            </a:r>
            <a:r>
              <a:rPr lang="es-ES" sz="2400" i="1" dirty="0">
                <a:latin typeface="Helvetica"/>
                <a:cs typeface="Helvetica"/>
              </a:rPr>
              <a:t> and </a:t>
            </a:r>
            <a:r>
              <a:rPr lang="es-ES" sz="2400" i="1" dirty="0" err="1">
                <a:latin typeface="Helvetica"/>
                <a:cs typeface="Helvetica"/>
              </a:rPr>
              <a:t>resilience</a:t>
            </a:r>
            <a:r>
              <a:rPr lang="es-ES" sz="2400" i="1" dirty="0">
                <a:latin typeface="Helvetica"/>
                <a:cs typeface="Helvetica"/>
              </a:rPr>
              <a:t>, </a:t>
            </a:r>
            <a:r>
              <a:rPr lang="es-ES" sz="2400" i="1" dirty="0" err="1">
                <a:latin typeface="Helvetica"/>
                <a:cs typeface="Helvetica"/>
              </a:rPr>
              <a:t>competition</a:t>
            </a:r>
            <a:r>
              <a:rPr lang="es-ES" sz="2400" i="1" dirty="0">
                <a:latin typeface="Helvetica"/>
                <a:cs typeface="Helvetica"/>
              </a:rPr>
              <a:t> and </a:t>
            </a:r>
            <a:r>
              <a:rPr lang="es-ES" sz="2400" i="1" dirty="0" err="1">
                <a:latin typeface="Helvetica"/>
                <a:cs typeface="Helvetica"/>
              </a:rPr>
              <a:t>leaves</a:t>
            </a:r>
            <a:r>
              <a:rPr lang="es-ES" sz="2400" i="1" dirty="0">
                <a:latin typeface="Helvetica"/>
                <a:cs typeface="Helvetica"/>
              </a:rPr>
              <a:t> </a:t>
            </a:r>
            <a:r>
              <a:rPr lang="es-ES" sz="2400" i="1" dirty="0" err="1">
                <a:latin typeface="Helvetica"/>
                <a:cs typeface="Helvetica"/>
              </a:rPr>
              <a:t>traits</a:t>
            </a:r>
            <a:r>
              <a:rPr lang="es-ES" sz="2400" i="1" dirty="0">
                <a:latin typeface="Helvetica"/>
                <a:cs typeface="Helvetica"/>
              </a:rPr>
              <a:t> </a:t>
            </a:r>
            <a:r>
              <a:rPr lang="es-ES" sz="2400" i="1" dirty="0" err="1">
                <a:latin typeface="Helvetica"/>
                <a:cs typeface="Helvetica"/>
              </a:rPr>
              <a:t>to</a:t>
            </a:r>
            <a:r>
              <a:rPr lang="es-ES" sz="2400" i="1" dirty="0">
                <a:latin typeface="Helvetica"/>
                <a:cs typeface="Helvetica"/>
              </a:rPr>
              <a:t> be </a:t>
            </a:r>
            <a:r>
              <a:rPr lang="es-ES" sz="2400" i="1" dirty="0" err="1">
                <a:latin typeface="Helvetica"/>
                <a:cs typeface="Helvetica"/>
              </a:rPr>
              <a:t>main</a:t>
            </a:r>
            <a:r>
              <a:rPr lang="es-ES" sz="2400" i="1" dirty="0">
                <a:latin typeface="Helvetica"/>
                <a:cs typeface="Helvetica"/>
              </a:rPr>
              <a:t> drivers </a:t>
            </a:r>
            <a:r>
              <a:rPr lang="es-ES" sz="2400" i="1" dirty="0" err="1">
                <a:latin typeface="Helvetica"/>
                <a:cs typeface="Helvetica"/>
              </a:rPr>
              <a:t>for</a:t>
            </a:r>
            <a:r>
              <a:rPr lang="es-ES" sz="2400" i="1" dirty="0">
                <a:latin typeface="Helvetica"/>
                <a:cs typeface="Helvetica"/>
              </a:rPr>
              <a:t> </a:t>
            </a:r>
            <a:r>
              <a:rPr lang="es-ES" sz="2400" i="1" dirty="0" err="1">
                <a:latin typeface="Helvetica"/>
                <a:cs typeface="Helvetica"/>
              </a:rPr>
              <a:t>tree</a:t>
            </a:r>
            <a:r>
              <a:rPr lang="es-ES" sz="2400" i="1" dirty="0">
                <a:latin typeface="Helvetica"/>
                <a:cs typeface="Helvetica"/>
              </a:rPr>
              <a:t> </a:t>
            </a:r>
            <a:r>
              <a:rPr lang="es-ES" sz="2400" i="1" dirty="0" err="1">
                <a:latin typeface="Helvetica"/>
                <a:cs typeface="Helvetica"/>
              </a:rPr>
              <a:t>mortality</a:t>
            </a:r>
            <a:r>
              <a:rPr lang="es-ES" sz="2400" i="1" dirty="0">
                <a:latin typeface="Helvetica"/>
                <a:cs typeface="Helvetica"/>
              </a:rPr>
              <a:t>:</a:t>
            </a:r>
          </a:p>
        </p:txBody>
      </p:sp>
      <p:sp>
        <p:nvSpPr>
          <p:cNvPr id="9" name="Título 1">
            <a:extLst>
              <a:ext uri="{FF2B5EF4-FFF2-40B4-BE49-F238E27FC236}">
                <a16:creationId xmlns:a16="http://schemas.microsoft.com/office/drawing/2014/main" id="{F991C1F3-927E-0A5B-823D-083C69038146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9690902" cy="804155"/>
          </a:xfrm>
          <a:prstGeom prst="rect">
            <a:avLst/>
          </a:prstGeom>
          <a:solidFill>
            <a:srgbClr val="218317"/>
          </a:solidFill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	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Objectives</a:t>
            </a:r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&amp; 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Hypotheses</a:t>
            </a:r>
            <a:endParaRPr lang="es-ES" sz="3200" b="1" dirty="0">
              <a:solidFill>
                <a:schemeClr val="bg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0" name="Título 1">
            <a:extLst>
              <a:ext uri="{FF2B5EF4-FFF2-40B4-BE49-F238E27FC236}">
                <a16:creationId xmlns:a16="http://schemas.microsoft.com/office/drawing/2014/main" id="{92B30C19-F59E-C526-9CA2-5F4EEDCFA1C8}"/>
              </a:ext>
            </a:extLst>
          </p:cNvPr>
          <p:cNvSpPr txBox="1">
            <a:spLocks/>
          </p:cNvSpPr>
          <p:nvPr/>
        </p:nvSpPr>
        <p:spPr>
          <a:xfrm>
            <a:off x="9690902" y="-1"/>
            <a:ext cx="2501098" cy="804157"/>
          </a:xfrm>
          <a:prstGeom prst="rect">
            <a:avLst/>
          </a:prstGeom>
          <a:solidFill>
            <a:srgbClr val="218317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ES" sz="2800" b="1" dirty="0">
                <a:solidFill>
                  <a:srgbClr val="218317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.</a:t>
            </a:r>
          </a:p>
        </p:txBody>
      </p:sp>
      <p:sp>
        <p:nvSpPr>
          <p:cNvPr id="29" name="Marcador de contenido 2">
            <a:extLst>
              <a:ext uri="{FF2B5EF4-FFF2-40B4-BE49-F238E27FC236}">
                <a16:creationId xmlns:a16="http://schemas.microsoft.com/office/drawing/2014/main" id="{EC3B70F2-E30A-36DE-F606-69C112A48A9A}"/>
              </a:ext>
            </a:extLst>
          </p:cNvPr>
          <p:cNvSpPr txBox="1">
            <a:spLocks/>
          </p:cNvSpPr>
          <p:nvPr/>
        </p:nvSpPr>
        <p:spPr>
          <a:xfrm>
            <a:off x="643378" y="2969723"/>
            <a:ext cx="11206500" cy="329370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rgbClr val="218317"/>
              </a:buClr>
            </a:pPr>
            <a:r>
              <a:rPr lang="es-ES" sz="2000" b="1" dirty="0" err="1">
                <a:latin typeface="Helvetica"/>
                <a:cs typeface="Helvetica"/>
              </a:rPr>
              <a:t>Size</a:t>
            </a:r>
            <a:r>
              <a:rPr lang="es-ES" sz="2000" b="1" dirty="0">
                <a:latin typeface="Helvetica"/>
                <a:cs typeface="Helvetica"/>
              </a:rPr>
              <a:t>: </a:t>
            </a:r>
            <a:r>
              <a:rPr lang="es-ES" sz="2000" b="1" dirty="0" err="1">
                <a:latin typeface="Helvetica"/>
                <a:cs typeface="Helvetica"/>
              </a:rPr>
              <a:t>bigger</a:t>
            </a:r>
            <a:r>
              <a:rPr lang="es-ES" sz="2000" b="1" dirty="0">
                <a:latin typeface="Helvetica"/>
                <a:cs typeface="Helvetica"/>
              </a:rPr>
              <a:t> </a:t>
            </a:r>
            <a:r>
              <a:rPr lang="es-ES" sz="2000" b="1" dirty="0" err="1">
                <a:latin typeface="Helvetica"/>
                <a:cs typeface="Helvetica"/>
              </a:rPr>
              <a:t>trees</a:t>
            </a:r>
            <a:r>
              <a:rPr lang="es-ES" sz="2000" b="1" dirty="0">
                <a:latin typeface="Helvetica"/>
                <a:cs typeface="Helvetica"/>
              </a:rPr>
              <a:t> </a:t>
            </a:r>
            <a:r>
              <a:rPr lang="es-ES" sz="2000" dirty="0" err="1">
                <a:latin typeface="Helvetica"/>
                <a:cs typeface="Helvetica"/>
              </a:rPr>
              <a:t>will</a:t>
            </a:r>
            <a:r>
              <a:rPr lang="es-ES" sz="2000" dirty="0">
                <a:latin typeface="Helvetica"/>
                <a:cs typeface="Helvetica"/>
              </a:rPr>
              <a:t> be more vulnerable </a:t>
            </a:r>
            <a:r>
              <a:rPr lang="es-ES" sz="2000" dirty="0" err="1">
                <a:latin typeface="Helvetica"/>
                <a:cs typeface="Helvetica"/>
              </a:rPr>
              <a:t>due</a:t>
            </a:r>
            <a:r>
              <a:rPr lang="es-ES" sz="2000" dirty="0">
                <a:latin typeface="Helvetica"/>
                <a:cs typeface="Helvetica"/>
              </a:rPr>
              <a:t> </a:t>
            </a:r>
            <a:r>
              <a:rPr lang="es-ES" sz="2000" dirty="0" err="1">
                <a:latin typeface="Helvetica"/>
                <a:cs typeface="Helvetica"/>
              </a:rPr>
              <a:t>to</a:t>
            </a:r>
            <a:r>
              <a:rPr lang="es-ES" sz="2000" dirty="0">
                <a:latin typeface="Helvetica"/>
                <a:cs typeface="Helvetica"/>
              </a:rPr>
              <a:t> </a:t>
            </a:r>
            <a:r>
              <a:rPr lang="es-ES" sz="2000" dirty="0" err="1">
                <a:latin typeface="Helvetica"/>
                <a:cs typeface="Helvetica"/>
              </a:rPr>
              <a:t>hydraulic</a:t>
            </a:r>
            <a:r>
              <a:rPr lang="es-ES" sz="2000" dirty="0">
                <a:latin typeface="Helvetica"/>
                <a:cs typeface="Helvetica"/>
              </a:rPr>
              <a:t> </a:t>
            </a:r>
            <a:r>
              <a:rPr lang="es-ES" sz="2000" dirty="0" err="1">
                <a:latin typeface="Helvetica"/>
                <a:cs typeface="Helvetica"/>
              </a:rPr>
              <a:t>limitations</a:t>
            </a:r>
            <a:r>
              <a:rPr lang="es-ES" sz="2000" dirty="0">
                <a:latin typeface="Helvetica"/>
                <a:cs typeface="Helvetica"/>
              </a:rPr>
              <a:t> (</a:t>
            </a:r>
            <a:r>
              <a:rPr lang="es-ES" sz="2000" dirty="0" err="1">
                <a:latin typeface="Helvetica"/>
                <a:cs typeface="Helvetica"/>
              </a:rPr>
              <a:t>increased</a:t>
            </a:r>
            <a:r>
              <a:rPr lang="es-ES" sz="2000" dirty="0">
                <a:latin typeface="Helvetica"/>
                <a:cs typeface="Helvetica"/>
              </a:rPr>
              <a:t> </a:t>
            </a:r>
            <a:r>
              <a:rPr lang="es-ES" sz="2000" dirty="0" err="1">
                <a:latin typeface="Helvetica"/>
                <a:cs typeface="Helvetica"/>
              </a:rPr>
              <a:t>hydraulic</a:t>
            </a:r>
            <a:r>
              <a:rPr lang="es-ES" sz="2000" dirty="0">
                <a:latin typeface="Helvetica"/>
                <a:cs typeface="Helvetica"/>
              </a:rPr>
              <a:t> </a:t>
            </a:r>
            <a:r>
              <a:rPr lang="es-ES" sz="2000" dirty="0" err="1">
                <a:latin typeface="Helvetica"/>
                <a:cs typeface="Helvetica"/>
              </a:rPr>
              <a:t>resistance</a:t>
            </a:r>
            <a:r>
              <a:rPr lang="es-ES" sz="2000" dirty="0">
                <a:latin typeface="Helvetica"/>
                <a:cs typeface="Helvetica"/>
              </a:rPr>
              <a:t>) </a:t>
            </a:r>
            <a:r>
              <a:rPr lang="es-ES" sz="2000" dirty="0">
                <a:latin typeface="Helvetica"/>
                <a:cs typeface="Helvetica"/>
                <a:sym typeface="Wingdings" panose="05000000000000000000" pitchFamily="2" charset="2"/>
              </a:rPr>
              <a:t> </a:t>
            </a:r>
            <a:r>
              <a:rPr lang="es-ES" sz="2000" b="1" dirty="0">
                <a:latin typeface="Helvetica"/>
                <a:cs typeface="Helvetica"/>
                <a:sym typeface="Wingdings" panose="05000000000000000000" pitchFamily="2" charset="2"/>
              </a:rPr>
              <a:t>↑ </a:t>
            </a:r>
            <a:r>
              <a:rPr lang="es-ES" sz="2000" b="1" dirty="0" err="1">
                <a:latin typeface="Helvetica"/>
                <a:cs typeface="Helvetica"/>
                <a:sym typeface="Wingdings" panose="05000000000000000000" pitchFamily="2" charset="2"/>
              </a:rPr>
              <a:t>height</a:t>
            </a:r>
            <a:r>
              <a:rPr lang="es-ES" sz="2000" b="1" dirty="0">
                <a:latin typeface="Helvetica"/>
                <a:cs typeface="Helvetica"/>
                <a:sym typeface="Wingdings" panose="05000000000000000000" pitchFamily="2" charset="2"/>
              </a:rPr>
              <a:t>, </a:t>
            </a:r>
            <a:r>
              <a:rPr lang="es-ES" sz="2000" b="1" dirty="0" err="1">
                <a:latin typeface="Helvetica"/>
                <a:cs typeface="Helvetica"/>
                <a:sym typeface="Wingdings" panose="05000000000000000000" pitchFamily="2" charset="2"/>
              </a:rPr>
              <a:t>age</a:t>
            </a:r>
            <a:r>
              <a:rPr lang="es-ES" sz="2000" b="1" dirty="0">
                <a:latin typeface="Helvetica"/>
                <a:cs typeface="Helvetica"/>
                <a:sym typeface="Wingdings" panose="05000000000000000000" pitchFamily="2" charset="2"/>
              </a:rPr>
              <a:t> &amp; </a:t>
            </a:r>
            <a:r>
              <a:rPr lang="es-ES" sz="2000" b="1" dirty="0" err="1">
                <a:latin typeface="Helvetica"/>
                <a:cs typeface="Helvetica"/>
                <a:sym typeface="Wingdings" panose="05000000000000000000" pitchFamily="2" charset="2"/>
              </a:rPr>
              <a:t>dbh</a:t>
            </a:r>
            <a:r>
              <a:rPr lang="es-ES" sz="2000" b="1" dirty="0">
                <a:latin typeface="Helvetica"/>
                <a:cs typeface="Helvetica"/>
                <a:sym typeface="Wingdings" panose="05000000000000000000" pitchFamily="2" charset="2"/>
              </a:rPr>
              <a:t> in </a:t>
            </a:r>
            <a:r>
              <a:rPr lang="es-ES" sz="2000" b="1" dirty="0" err="1">
                <a:solidFill>
                  <a:srgbClr val="C00000"/>
                </a:solidFill>
                <a:latin typeface="Helvetica"/>
                <a:cs typeface="Helvetica"/>
                <a:sym typeface="Wingdings" panose="05000000000000000000" pitchFamily="2" charset="2"/>
              </a:rPr>
              <a:t>declining</a:t>
            </a:r>
            <a:r>
              <a:rPr lang="es-ES" sz="2000" b="1" dirty="0">
                <a:solidFill>
                  <a:srgbClr val="C00000"/>
                </a:solidFill>
                <a:latin typeface="Helvetica"/>
                <a:cs typeface="Helvetica"/>
                <a:sym typeface="Wingdings" panose="05000000000000000000" pitchFamily="2" charset="2"/>
              </a:rPr>
              <a:t> sites</a:t>
            </a:r>
            <a:r>
              <a:rPr lang="es-ES" sz="2000" b="1" dirty="0">
                <a:solidFill>
                  <a:srgbClr val="C00000"/>
                </a:solidFill>
                <a:latin typeface="Helvetica"/>
                <a:cs typeface="Helvetica"/>
              </a:rPr>
              <a:t> </a:t>
            </a:r>
          </a:p>
          <a:p>
            <a:pPr>
              <a:buClr>
                <a:srgbClr val="218317"/>
              </a:buClr>
            </a:pPr>
            <a:r>
              <a:rPr lang="es-ES" sz="2000" b="1" dirty="0" err="1">
                <a:latin typeface="Helvetica"/>
                <a:cs typeface="Helvetica"/>
              </a:rPr>
              <a:t>Growth</a:t>
            </a:r>
            <a:r>
              <a:rPr lang="es-ES" sz="2000" b="1" dirty="0">
                <a:latin typeface="Helvetica"/>
                <a:cs typeface="Helvetica"/>
              </a:rPr>
              <a:t>: </a:t>
            </a:r>
            <a:r>
              <a:rPr lang="es-ES" sz="2000" dirty="0" err="1">
                <a:latin typeface="Helvetica"/>
                <a:cs typeface="Helvetica"/>
              </a:rPr>
              <a:t>we</a:t>
            </a:r>
            <a:r>
              <a:rPr lang="es-ES" sz="2000" dirty="0">
                <a:latin typeface="Helvetica"/>
                <a:cs typeface="Helvetica"/>
              </a:rPr>
              <a:t> </a:t>
            </a:r>
            <a:r>
              <a:rPr lang="es-ES" sz="2000" dirty="0" err="1">
                <a:latin typeface="Helvetica"/>
                <a:cs typeface="Helvetica"/>
              </a:rPr>
              <a:t>expect</a:t>
            </a:r>
            <a:r>
              <a:rPr lang="es-ES" sz="2000" dirty="0">
                <a:latin typeface="Helvetica"/>
                <a:cs typeface="Helvetica"/>
              </a:rPr>
              <a:t> </a:t>
            </a:r>
            <a:r>
              <a:rPr lang="es-ES" sz="2000" b="1" dirty="0">
                <a:latin typeface="Helvetica"/>
                <a:cs typeface="Helvetica"/>
              </a:rPr>
              <a:t>a </a:t>
            </a:r>
            <a:r>
              <a:rPr lang="es-ES" sz="2000" b="1" dirty="0" err="1">
                <a:latin typeface="Helvetica"/>
                <a:cs typeface="Helvetica"/>
              </a:rPr>
              <a:t>reduced</a:t>
            </a:r>
            <a:r>
              <a:rPr lang="es-ES" sz="2000" b="1" dirty="0">
                <a:latin typeface="Helvetica"/>
                <a:cs typeface="Helvetica"/>
              </a:rPr>
              <a:t> </a:t>
            </a:r>
            <a:r>
              <a:rPr lang="es-ES" sz="2000" b="1" dirty="0" err="1">
                <a:latin typeface="Helvetica"/>
                <a:cs typeface="Helvetica"/>
              </a:rPr>
              <a:t>growth</a:t>
            </a:r>
            <a:r>
              <a:rPr lang="es-ES" sz="2000" b="1" dirty="0">
                <a:latin typeface="Helvetica"/>
                <a:cs typeface="Helvetica"/>
              </a:rPr>
              <a:t> </a:t>
            </a:r>
            <a:r>
              <a:rPr lang="es-ES" sz="2000" b="1" dirty="0" err="1">
                <a:latin typeface="Helvetica"/>
                <a:cs typeface="Helvetica"/>
              </a:rPr>
              <a:t>trend</a:t>
            </a:r>
            <a:r>
              <a:rPr lang="es-ES" sz="2000" b="1" dirty="0">
                <a:latin typeface="Helvetica"/>
                <a:cs typeface="Helvetica"/>
              </a:rPr>
              <a:t>, and </a:t>
            </a:r>
            <a:r>
              <a:rPr lang="es-ES" sz="2000" b="1" dirty="0" err="1">
                <a:latin typeface="Helvetica"/>
                <a:cs typeface="Helvetica"/>
              </a:rPr>
              <a:t>resilience</a:t>
            </a:r>
            <a:r>
              <a:rPr lang="es-ES" sz="2000" b="1" dirty="0">
                <a:latin typeface="Helvetica"/>
                <a:cs typeface="Helvetica"/>
              </a:rPr>
              <a:t> </a:t>
            </a:r>
            <a:r>
              <a:rPr lang="es-ES" sz="2000" dirty="0">
                <a:latin typeface="Helvetica"/>
                <a:cs typeface="Helvetica"/>
              </a:rPr>
              <a:t> </a:t>
            </a:r>
            <a:r>
              <a:rPr lang="es-ES" sz="2000" dirty="0">
                <a:latin typeface="Helvetica"/>
                <a:cs typeface="Helvetica"/>
                <a:sym typeface="Wingdings" panose="05000000000000000000" pitchFamily="2" charset="2"/>
              </a:rPr>
              <a:t> </a:t>
            </a:r>
            <a:r>
              <a:rPr lang="es-ES" sz="2000" b="1" dirty="0">
                <a:latin typeface="Helvetica"/>
                <a:cs typeface="Helvetica"/>
                <a:sym typeface="Wingdings" panose="05000000000000000000" pitchFamily="2" charset="2"/>
              </a:rPr>
              <a:t>↓ BAI, </a:t>
            </a:r>
            <a:r>
              <a:rPr lang="es-ES" sz="2000" b="1" dirty="0" err="1">
                <a:latin typeface="Helvetica"/>
                <a:cs typeface="Helvetica"/>
                <a:sym typeface="Wingdings" panose="05000000000000000000" pitchFamily="2" charset="2"/>
              </a:rPr>
              <a:t>Rt</a:t>
            </a:r>
            <a:r>
              <a:rPr lang="es-ES" sz="2000" b="1" dirty="0">
                <a:latin typeface="Helvetica"/>
                <a:cs typeface="Helvetica"/>
                <a:sym typeface="Wingdings" panose="05000000000000000000" pitchFamily="2" charset="2"/>
              </a:rPr>
              <a:t> &amp; </a:t>
            </a:r>
            <a:r>
              <a:rPr lang="es-ES" sz="2000" b="1" dirty="0" err="1">
                <a:latin typeface="Helvetica"/>
                <a:cs typeface="Helvetica"/>
                <a:sym typeface="Wingdings" panose="05000000000000000000" pitchFamily="2" charset="2"/>
              </a:rPr>
              <a:t>Rs</a:t>
            </a:r>
            <a:r>
              <a:rPr lang="es-ES" sz="2000" b="1" dirty="0">
                <a:latin typeface="Helvetica"/>
                <a:cs typeface="Helvetica"/>
                <a:sym typeface="Wingdings" panose="05000000000000000000" pitchFamily="2" charset="2"/>
              </a:rPr>
              <a:t> in </a:t>
            </a:r>
            <a:r>
              <a:rPr lang="es-ES" sz="2000" b="1" dirty="0" err="1">
                <a:solidFill>
                  <a:srgbClr val="C00000"/>
                </a:solidFill>
                <a:latin typeface="Helvetica"/>
                <a:cs typeface="Helvetica"/>
                <a:sym typeface="Wingdings" panose="05000000000000000000" pitchFamily="2" charset="2"/>
              </a:rPr>
              <a:t>declining</a:t>
            </a:r>
            <a:r>
              <a:rPr lang="es-ES" sz="2000" b="1" dirty="0">
                <a:solidFill>
                  <a:srgbClr val="C00000"/>
                </a:solidFill>
                <a:latin typeface="Helvetica"/>
                <a:cs typeface="Helvetica"/>
                <a:sym typeface="Wingdings" panose="05000000000000000000" pitchFamily="2" charset="2"/>
              </a:rPr>
              <a:t> sites</a:t>
            </a:r>
          </a:p>
          <a:p>
            <a:pPr>
              <a:buClr>
                <a:srgbClr val="218317"/>
              </a:buClr>
            </a:pPr>
            <a:r>
              <a:rPr lang="es-ES" sz="2000" b="1" dirty="0" err="1">
                <a:latin typeface="Helvetica"/>
                <a:cs typeface="Helvetica"/>
                <a:sym typeface="Wingdings" panose="05000000000000000000" pitchFamily="2" charset="2"/>
              </a:rPr>
              <a:t>Leaves</a:t>
            </a:r>
            <a:r>
              <a:rPr lang="es-ES" sz="2000" b="1" dirty="0">
                <a:latin typeface="Helvetica"/>
                <a:cs typeface="Helvetica"/>
                <a:sym typeface="Wingdings" panose="05000000000000000000" pitchFamily="2" charset="2"/>
              </a:rPr>
              <a:t> </a:t>
            </a:r>
            <a:r>
              <a:rPr lang="es-ES" sz="2000" b="1" dirty="0" err="1">
                <a:latin typeface="Helvetica"/>
                <a:cs typeface="Helvetica"/>
                <a:sym typeface="Wingdings" panose="05000000000000000000" pitchFamily="2" charset="2"/>
              </a:rPr>
              <a:t>traits</a:t>
            </a:r>
            <a:r>
              <a:rPr lang="es-ES" sz="2000" b="1" dirty="0">
                <a:latin typeface="Helvetica"/>
                <a:cs typeface="Helvetica"/>
                <a:sym typeface="Wingdings" panose="05000000000000000000" pitchFamily="2" charset="2"/>
              </a:rPr>
              <a:t>: </a:t>
            </a:r>
            <a:r>
              <a:rPr lang="es-ES" sz="2000" dirty="0">
                <a:latin typeface="Helvetica"/>
                <a:cs typeface="Helvetica"/>
                <a:sym typeface="Wingdings" panose="05000000000000000000" pitchFamily="2" charset="2"/>
              </a:rPr>
              <a:t>a </a:t>
            </a:r>
            <a:r>
              <a:rPr lang="es-ES" sz="2000" dirty="0" err="1">
                <a:latin typeface="Helvetica"/>
                <a:cs typeface="Helvetica"/>
                <a:sym typeface="Wingdings" panose="05000000000000000000" pitchFamily="2" charset="2"/>
              </a:rPr>
              <a:t>higher</a:t>
            </a:r>
            <a:r>
              <a:rPr lang="es-ES" sz="2000" dirty="0">
                <a:latin typeface="Helvetica"/>
                <a:cs typeface="Helvetica"/>
                <a:sym typeface="Wingdings" panose="05000000000000000000" pitchFamily="2" charset="2"/>
              </a:rPr>
              <a:t> SLA leads </a:t>
            </a:r>
            <a:r>
              <a:rPr lang="es-ES" sz="2000" dirty="0" err="1">
                <a:latin typeface="Helvetica"/>
                <a:cs typeface="Helvetica"/>
                <a:sym typeface="Wingdings" panose="05000000000000000000" pitchFamily="2" charset="2"/>
              </a:rPr>
              <a:t>to</a:t>
            </a:r>
            <a:r>
              <a:rPr lang="es-ES" sz="2000" dirty="0">
                <a:latin typeface="Helvetica"/>
                <a:cs typeface="Helvetica"/>
                <a:sym typeface="Wingdings" panose="05000000000000000000" pitchFamily="2" charset="2"/>
              </a:rPr>
              <a:t> </a:t>
            </a:r>
            <a:r>
              <a:rPr lang="es-ES" sz="2000" dirty="0" err="1">
                <a:latin typeface="Helvetica"/>
                <a:cs typeface="Helvetica"/>
                <a:sym typeface="Wingdings" panose="05000000000000000000" pitchFamily="2" charset="2"/>
              </a:rPr>
              <a:t>faster</a:t>
            </a:r>
            <a:r>
              <a:rPr lang="es-ES" sz="2000" dirty="0">
                <a:latin typeface="Helvetica"/>
                <a:cs typeface="Helvetica"/>
                <a:sym typeface="Wingdings" panose="05000000000000000000" pitchFamily="2" charset="2"/>
              </a:rPr>
              <a:t> </a:t>
            </a:r>
            <a:r>
              <a:rPr lang="es-ES" sz="2000" dirty="0" err="1">
                <a:latin typeface="Helvetica"/>
                <a:cs typeface="Helvetica"/>
                <a:sym typeface="Wingdings" panose="05000000000000000000" pitchFamily="2" charset="2"/>
              </a:rPr>
              <a:t>water</a:t>
            </a:r>
            <a:r>
              <a:rPr lang="es-ES" sz="2000" dirty="0">
                <a:latin typeface="Helvetica"/>
                <a:cs typeface="Helvetica"/>
                <a:sym typeface="Wingdings" panose="05000000000000000000" pitchFamily="2" charset="2"/>
              </a:rPr>
              <a:t> </a:t>
            </a:r>
            <a:r>
              <a:rPr lang="es-ES" sz="2000" dirty="0" err="1">
                <a:latin typeface="Helvetica"/>
                <a:cs typeface="Helvetica"/>
                <a:sym typeface="Wingdings" panose="05000000000000000000" pitchFamily="2" charset="2"/>
              </a:rPr>
              <a:t>loss</a:t>
            </a:r>
            <a:r>
              <a:rPr lang="es-ES" sz="2000" dirty="0">
                <a:latin typeface="Helvetica"/>
                <a:cs typeface="Helvetica"/>
                <a:sym typeface="Wingdings" panose="05000000000000000000" pitchFamily="2" charset="2"/>
              </a:rPr>
              <a:t>  </a:t>
            </a:r>
            <a:r>
              <a:rPr lang="es-ES" sz="2000" b="1" dirty="0">
                <a:latin typeface="Helvetica"/>
                <a:cs typeface="Helvetica"/>
                <a:sym typeface="Wingdings" panose="05000000000000000000" pitchFamily="2" charset="2"/>
              </a:rPr>
              <a:t>↑ SLA in </a:t>
            </a:r>
            <a:r>
              <a:rPr lang="es-ES" sz="2000" b="1" dirty="0" err="1">
                <a:solidFill>
                  <a:srgbClr val="C00000"/>
                </a:solidFill>
                <a:latin typeface="Helvetica"/>
                <a:cs typeface="Helvetica"/>
                <a:sym typeface="Wingdings" panose="05000000000000000000" pitchFamily="2" charset="2"/>
              </a:rPr>
              <a:t>declining</a:t>
            </a:r>
            <a:r>
              <a:rPr lang="es-ES" sz="2000" b="1" dirty="0">
                <a:solidFill>
                  <a:srgbClr val="C00000"/>
                </a:solidFill>
                <a:latin typeface="Helvetica"/>
                <a:cs typeface="Helvetica"/>
                <a:sym typeface="Wingdings" panose="05000000000000000000" pitchFamily="2" charset="2"/>
              </a:rPr>
              <a:t> sites</a:t>
            </a:r>
            <a:r>
              <a:rPr lang="es-ES" sz="2000" b="1" dirty="0">
                <a:solidFill>
                  <a:srgbClr val="C00000"/>
                </a:solidFill>
                <a:latin typeface="Helvetica"/>
                <a:cs typeface="Helvetica"/>
              </a:rPr>
              <a:t> </a:t>
            </a:r>
          </a:p>
          <a:p>
            <a:pPr>
              <a:buClr>
                <a:srgbClr val="218317"/>
              </a:buClr>
            </a:pPr>
            <a:r>
              <a:rPr lang="es-ES" sz="2000" b="1" dirty="0" err="1">
                <a:latin typeface="Helvetica"/>
                <a:cs typeface="Helvetica"/>
              </a:rPr>
              <a:t>Competition</a:t>
            </a:r>
            <a:r>
              <a:rPr lang="es-ES" sz="2000" b="1" dirty="0">
                <a:latin typeface="Helvetica"/>
                <a:cs typeface="Helvetica"/>
              </a:rPr>
              <a:t>: </a:t>
            </a:r>
            <a:r>
              <a:rPr lang="es-ES" sz="2000" dirty="0" err="1">
                <a:latin typeface="Helvetica"/>
                <a:cs typeface="Helvetica"/>
              </a:rPr>
              <a:t>competition</a:t>
            </a:r>
            <a:r>
              <a:rPr lang="es-ES" sz="2000" dirty="0">
                <a:latin typeface="Helvetica"/>
                <a:cs typeface="Helvetica"/>
              </a:rPr>
              <a:t> reduces </a:t>
            </a:r>
            <a:r>
              <a:rPr lang="es-ES" sz="2000" dirty="0" err="1">
                <a:latin typeface="Helvetica"/>
                <a:cs typeface="Helvetica"/>
              </a:rPr>
              <a:t>water</a:t>
            </a:r>
            <a:r>
              <a:rPr lang="es-ES" sz="2000" dirty="0">
                <a:latin typeface="Helvetica"/>
                <a:cs typeface="Helvetica"/>
              </a:rPr>
              <a:t> </a:t>
            </a:r>
            <a:r>
              <a:rPr lang="es-ES" sz="2000" dirty="0" err="1">
                <a:latin typeface="Helvetica"/>
                <a:cs typeface="Helvetica"/>
              </a:rPr>
              <a:t>availability</a:t>
            </a:r>
            <a:r>
              <a:rPr lang="es-ES" sz="2000" dirty="0">
                <a:latin typeface="Helvetica"/>
                <a:cs typeface="Helvetica"/>
              </a:rPr>
              <a:t> per </a:t>
            </a:r>
            <a:r>
              <a:rPr lang="es-ES" sz="2000" dirty="0" err="1">
                <a:latin typeface="Helvetica"/>
                <a:cs typeface="Helvetica"/>
              </a:rPr>
              <a:t>tree</a:t>
            </a:r>
            <a:r>
              <a:rPr lang="es-ES" sz="2000" dirty="0">
                <a:latin typeface="Helvetica"/>
                <a:cs typeface="Helvetica"/>
              </a:rPr>
              <a:t> and </a:t>
            </a:r>
            <a:r>
              <a:rPr lang="es-ES" sz="2000" dirty="0" err="1">
                <a:latin typeface="Helvetica"/>
                <a:cs typeface="Helvetica"/>
              </a:rPr>
              <a:t>increases</a:t>
            </a:r>
            <a:r>
              <a:rPr lang="es-ES" sz="2000" dirty="0">
                <a:latin typeface="Helvetica"/>
                <a:cs typeface="Helvetica"/>
              </a:rPr>
              <a:t> </a:t>
            </a:r>
            <a:r>
              <a:rPr lang="es-ES" sz="2000" dirty="0" err="1">
                <a:latin typeface="Helvetica"/>
                <a:cs typeface="Helvetica"/>
              </a:rPr>
              <a:t>water</a:t>
            </a:r>
            <a:r>
              <a:rPr lang="es-ES" sz="2000" dirty="0">
                <a:latin typeface="Helvetica"/>
                <a:cs typeface="Helvetica"/>
              </a:rPr>
              <a:t> </a:t>
            </a:r>
            <a:r>
              <a:rPr lang="es-ES" sz="2000" dirty="0" err="1">
                <a:latin typeface="Helvetica"/>
                <a:cs typeface="Helvetica"/>
              </a:rPr>
              <a:t>interception</a:t>
            </a:r>
            <a:r>
              <a:rPr lang="es-ES" sz="2000" dirty="0">
                <a:latin typeface="Helvetica"/>
                <a:cs typeface="Helvetica"/>
              </a:rPr>
              <a:t> </a:t>
            </a:r>
            <a:r>
              <a:rPr lang="es-ES" sz="2000" dirty="0">
                <a:latin typeface="Helvetica"/>
                <a:cs typeface="Helvetica"/>
                <a:sym typeface="Wingdings" panose="05000000000000000000" pitchFamily="2" charset="2"/>
              </a:rPr>
              <a:t> </a:t>
            </a:r>
            <a:r>
              <a:rPr lang="es-ES" sz="2000" b="1" dirty="0">
                <a:latin typeface="Helvetica"/>
                <a:cs typeface="Helvetica"/>
                <a:sym typeface="Wingdings" panose="05000000000000000000" pitchFamily="2" charset="2"/>
              </a:rPr>
              <a:t>↑ </a:t>
            </a:r>
            <a:r>
              <a:rPr lang="es-ES" sz="2000" b="1" dirty="0" err="1">
                <a:latin typeface="Helvetica"/>
                <a:cs typeface="Helvetica"/>
                <a:sym typeface="Wingdings" panose="05000000000000000000" pitchFamily="2" charset="2"/>
              </a:rPr>
              <a:t>Hegyi</a:t>
            </a:r>
            <a:r>
              <a:rPr lang="es-ES" sz="2000" b="1" dirty="0">
                <a:latin typeface="Helvetica"/>
                <a:cs typeface="Helvetica"/>
                <a:sym typeface="Wingdings" panose="05000000000000000000" pitchFamily="2" charset="2"/>
              </a:rPr>
              <a:t> </a:t>
            </a:r>
            <a:r>
              <a:rPr lang="es-ES" sz="2000" b="1" dirty="0" err="1">
                <a:latin typeface="Helvetica"/>
                <a:cs typeface="Helvetica"/>
                <a:sym typeface="Wingdings" panose="05000000000000000000" pitchFamily="2" charset="2"/>
              </a:rPr>
              <a:t>index</a:t>
            </a:r>
            <a:r>
              <a:rPr lang="es-ES" sz="2000" b="1" dirty="0">
                <a:latin typeface="Helvetica"/>
                <a:cs typeface="Helvetica"/>
                <a:sym typeface="Wingdings" panose="05000000000000000000" pitchFamily="2" charset="2"/>
              </a:rPr>
              <a:t> in </a:t>
            </a:r>
            <a:r>
              <a:rPr lang="es-ES" sz="2000" b="1" dirty="0" err="1">
                <a:solidFill>
                  <a:srgbClr val="C00000"/>
                </a:solidFill>
                <a:latin typeface="Helvetica"/>
                <a:cs typeface="Helvetica"/>
                <a:sym typeface="Wingdings" panose="05000000000000000000" pitchFamily="2" charset="2"/>
              </a:rPr>
              <a:t>declining</a:t>
            </a:r>
            <a:r>
              <a:rPr lang="es-ES" sz="2000" b="1" dirty="0">
                <a:solidFill>
                  <a:srgbClr val="C00000"/>
                </a:solidFill>
                <a:latin typeface="Helvetica"/>
                <a:cs typeface="Helvetica"/>
                <a:sym typeface="Wingdings" panose="05000000000000000000" pitchFamily="2" charset="2"/>
              </a:rPr>
              <a:t> sites</a:t>
            </a:r>
            <a:r>
              <a:rPr lang="es-ES" sz="2000" b="1" dirty="0">
                <a:solidFill>
                  <a:srgbClr val="C00000"/>
                </a:solidFill>
                <a:latin typeface="Helvetica"/>
                <a:cs typeface="Helvetica"/>
              </a:rPr>
              <a:t> </a:t>
            </a:r>
            <a:endParaRPr lang="es-ES" sz="2000" b="1" dirty="0">
              <a:latin typeface="Helvetica"/>
              <a:cs typeface="Helvetica"/>
            </a:endParaRPr>
          </a:p>
          <a:p>
            <a:pPr>
              <a:buClr>
                <a:srgbClr val="218317"/>
              </a:buClr>
            </a:pPr>
            <a:endParaRPr lang="es-ES" sz="2000" b="1" dirty="0">
              <a:solidFill>
                <a:srgbClr val="C00000"/>
              </a:solidFill>
              <a:latin typeface="Helvetica"/>
              <a:cs typeface="Helvetica"/>
            </a:endParaRPr>
          </a:p>
        </p:txBody>
      </p:sp>
      <p:grpSp>
        <p:nvGrpSpPr>
          <p:cNvPr id="17" name="Grupo 10">
            <a:extLst>
              <a:ext uri="{FF2B5EF4-FFF2-40B4-BE49-F238E27FC236}">
                <a16:creationId xmlns:a16="http://schemas.microsoft.com/office/drawing/2014/main" id="{AE7A70BA-E169-F143-E499-51CFF2CB82BC}"/>
              </a:ext>
            </a:extLst>
          </p:cNvPr>
          <p:cNvGrpSpPr/>
          <p:nvPr/>
        </p:nvGrpSpPr>
        <p:grpSpPr>
          <a:xfrm>
            <a:off x="8119357" y="5497846"/>
            <a:ext cx="3301889" cy="1220763"/>
            <a:chOff x="6178013" y="5057218"/>
            <a:chExt cx="3301889" cy="1220763"/>
          </a:xfrm>
        </p:grpSpPr>
        <p:pic>
          <p:nvPicPr>
            <p:cNvPr id="18" name="Imagen 11">
              <a:extLst>
                <a:ext uri="{FF2B5EF4-FFF2-40B4-BE49-F238E27FC236}">
                  <a16:creationId xmlns:a16="http://schemas.microsoft.com/office/drawing/2014/main" id="{A5772DCB-5C97-E308-A95F-C3DB29AC08C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t="53835"/>
            <a:stretch/>
          </p:blipFill>
          <p:spPr>
            <a:xfrm>
              <a:off x="6364847" y="5057218"/>
              <a:ext cx="3115055" cy="1220763"/>
            </a:xfrm>
            <a:prstGeom prst="rect">
              <a:avLst/>
            </a:prstGeom>
          </p:spPr>
        </p:pic>
        <p:sp>
          <p:nvSpPr>
            <p:cNvPr id="19" name="CuadroTexto 12">
              <a:extLst>
                <a:ext uri="{FF2B5EF4-FFF2-40B4-BE49-F238E27FC236}">
                  <a16:creationId xmlns:a16="http://schemas.microsoft.com/office/drawing/2014/main" id="{74CBF22B-872E-9AA3-00AA-9A07C9F72F71}"/>
                </a:ext>
              </a:extLst>
            </p:cNvPr>
            <p:cNvSpPr txBox="1"/>
            <p:nvPr/>
          </p:nvSpPr>
          <p:spPr>
            <a:xfrm>
              <a:off x="6178013" y="5989310"/>
              <a:ext cx="1217297" cy="26161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1100" dirty="0">
                  <a:solidFill>
                    <a:srgbClr val="2F5597"/>
                  </a:solidFill>
                </a:rPr>
                <a:t>Non-</a:t>
              </a:r>
              <a:r>
                <a:rPr lang="es-ES" sz="1100" dirty="0" err="1">
                  <a:solidFill>
                    <a:srgbClr val="2F5597"/>
                  </a:solidFill>
                </a:rPr>
                <a:t>declining</a:t>
              </a:r>
              <a:r>
                <a:rPr lang="es-ES" sz="1100" dirty="0">
                  <a:solidFill>
                    <a:srgbClr val="2F5597"/>
                  </a:solidFill>
                </a:rPr>
                <a:t> site</a:t>
              </a:r>
            </a:p>
          </p:txBody>
        </p:sp>
        <p:sp>
          <p:nvSpPr>
            <p:cNvPr id="20" name="CuadroTexto 13">
              <a:extLst>
                <a:ext uri="{FF2B5EF4-FFF2-40B4-BE49-F238E27FC236}">
                  <a16:creationId xmlns:a16="http://schemas.microsoft.com/office/drawing/2014/main" id="{28CFE2FE-E220-C703-D5C3-40A11B18C0BE}"/>
                </a:ext>
              </a:extLst>
            </p:cNvPr>
            <p:cNvSpPr txBox="1"/>
            <p:nvPr/>
          </p:nvSpPr>
          <p:spPr>
            <a:xfrm>
              <a:off x="7313725" y="5989310"/>
              <a:ext cx="1217297" cy="26161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1100" dirty="0">
                  <a:solidFill>
                    <a:srgbClr val="7030A0"/>
                  </a:solidFill>
                  <a:cs typeface="Helvetica" panose="020B0604020202020204"/>
                </a:rPr>
                <a:t>Non-</a:t>
              </a:r>
              <a:r>
                <a:rPr lang="es-ES" sz="1100" dirty="0" err="1">
                  <a:solidFill>
                    <a:srgbClr val="7030A0"/>
                  </a:solidFill>
                  <a:cs typeface="Helvetica" panose="020B0604020202020204"/>
                </a:rPr>
                <a:t>declining</a:t>
              </a:r>
              <a:r>
                <a:rPr lang="es-ES" sz="1100" dirty="0">
                  <a:solidFill>
                    <a:srgbClr val="7030A0"/>
                  </a:solidFill>
                  <a:cs typeface="Helvetica" panose="020B0604020202020204"/>
                </a:rPr>
                <a:t> site</a:t>
              </a:r>
            </a:p>
          </p:txBody>
        </p:sp>
        <p:sp>
          <p:nvSpPr>
            <p:cNvPr id="21" name="CuadroTexto 14">
              <a:extLst>
                <a:ext uri="{FF2B5EF4-FFF2-40B4-BE49-F238E27FC236}">
                  <a16:creationId xmlns:a16="http://schemas.microsoft.com/office/drawing/2014/main" id="{8DB1AC4C-4375-0CAF-1E82-D27DE73C0CAB}"/>
                </a:ext>
              </a:extLst>
            </p:cNvPr>
            <p:cNvSpPr txBox="1"/>
            <p:nvPr/>
          </p:nvSpPr>
          <p:spPr>
            <a:xfrm>
              <a:off x="8482962" y="6002841"/>
              <a:ext cx="946093" cy="261610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s-ES" sz="1100" dirty="0" err="1">
                  <a:solidFill>
                    <a:srgbClr val="C00000"/>
                  </a:solidFill>
                </a:rPr>
                <a:t>Declining</a:t>
              </a:r>
              <a:r>
                <a:rPr lang="es-ES" sz="1100" dirty="0">
                  <a:solidFill>
                    <a:srgbClr val="C00000"/>
                  </a:solidFill>
                </a:rPr>
                <a:t> site</a:t>
              </a:r>
            </a:p>
          </p:txBody>
        </p:sp>
      </p:grpSp>
      <p:pic>
        <p:nvPicPr>
          <p:cNvPr id="22" name="Gráfico 12" descr="Abeto">
            <a:extLst>
              <a:ext uri="{FF2B5EF4-FFF2-40B4-BE49-F238E27FC236}">
                <a16:creationId xmlns:a16="http://schemas.microsoft.com/office/drawing/2014/main" id="{AC02F84F-0C3B-51BE-4EC6-5C74C663763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565199" y="5497846"/>
            <a:ext cx="618077" cy="618077"/>
          </a:xfrm>
          <a:prstGeom prst="rect">
            <a:avLst/>
          </a:prstGeom>
        </p:spPr>
      </p:pic>
      <p:pic>
        <p:nvPicPr>
          <p:cNvPr id="23" name="Gráfico 13" descr="Abeto">
            <a:extLst>
              <a:ext uri="{FF2B5EF4-FFF2-40B4-BE49-F238E27FC236}">
                <a16:creationId xmlns:a16="http://schemas.microsoft.com/office/drawing/2014/main" id="{2CED8C8A-412E-A858-C64A-AA4C828FCC7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954479" y="5497846"/>
            <a:ext cx="618077" cy="618077"/>
          </a:xfrm>
          <a:prstGeom prst="rect">
            <a:avLst/>
          </a:prstGeom>
        </p:spPr>
      </p:pic>
      <p:pic>
        <p:nvPicPr>
          <p:cNvPr id="24" name="Gráfico 14" descr="Abeto">
            <a:extLst>
              <a:ext uri="{FF2B5EF4-FFF2-40B4-BE49-F238E27FC236}">
                <a16:creationId xmlns:a16="http://schemas.microsoft.com/office/drawing/2014/main" id="{D0E371E1-FF0C-2897-27EC-DAAE068B659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298066" y="5497846"/>
            <a:ext cx="618077" cy="618077"/>
          </a:xfrm>
          <a:prstGeom prst="rect">
            <a:avLst/>
          </a:prstGeom>
        </p:spPr>
      </p:pic>
      <p:sp>
        <p:nvSpPr>
          <p:cNvPr id="25" name="Marcador de contenido 2">
            <a:extLst>
              <a:ext uri="{FF2B5EF4-FFF2-40B4-BE49-F238E27FC236}">
                <a16:creationId xmlns:a16="http://schemas.microsoft.com/office/drawing/2014/main" id="{E97A57E8-CFBD-F5AE-FC1A-518E6F114990}"/>
              </a:ext>
            </a:extLst>
          </p:cNvPr>
          <p:cNvSpPr txBox="1">
            <a:spLocks/>
          </p:cNvSpPr>
          <p:nvPr/>
        </p:nvSpPr>
        <p:spPr>
          <a:xfrm>
            <a:off x="3221386" y="6211458"/>
            <a:ext cx="1305702" cy="550290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ES" sz="1400" i="1" dirty="0" err="1">
                <a:solidFill>
                  <a:srgbClr val="746FB2"/>
                </a:solidFill>
                <a:latin typeface="Helvetica" panose="020B0604020202020204"/>
                <a:cs typeface="Helvetica"/>
              </a:rPr>
              <a:t>Abies</a:t>
            </a:r>
            <a:r>
              <a:rPr lang="es-ES" sz="1400" i="1" dirty="0">
                <a:solidFill>
                  <a:srgbClr val="746FB2"/>
                </a:solidFill>
                <a:latin typeface="Helvetica" panose="020B0604020202020204"/>
                <a:cs typeface="Helvetica"/>
              </a:rPr>
              <a:t> alba</a:t>
            </a:r>
          </a:p>
          <a:p>
            <a:pPr marL="0" indent="0" algn="ctr">
              <a:buNone/>
            </a:pPr>
            <a:r>
              <a:rPr lang="es-ES" sz="1400" dirty="0" err="1">
                <a:solidFill>
                  <a:srgbClr val="746FB2"/>
                </a:solidFill>
                <a:latin typeface="Helvetica" panose="020B0604020202020204"/>
                <a:cs typeface="Helvetica" panose="020B0604020202020204"/>
              </a:rPr>
              <a:t>Temperate</a:t>
            </a:r>
            <a:endParaRPr lang="es-ES" sz="1400" dirty="0">
              <a:solidFill>
                <a:srgbClr val="746FB2"/>
              </a:solidFill>
              <a:latin typeface="Helvetica" panose="020B0604020202020204"/>
              <a:cs typeface="Helvetica" panose="020B0604020202020204"/>
            </a:endParaRPr>
          </a:p>
          <a:p>
            <a:pPr marL="0" indent="0" algn="ctr">
              <a:buClr>
                <a:srgbClr val="218317"/>
              </a:buClr>
              <a:buNone/>
            </a:pPr>
            <a:endParaRPr lang="es-ES" sz="1400" i="1" dirty="0">
              <a:solidFill>
                <a:srgbClr val="746FB2"/>
              </a:solidFill>
              <a:latin typeface="Helvetica" panose="020B0604020202020204"/>
              <a:cs typeface="Helvetica" panose="020B0604020202020204"/>
            </a:endParaRPr>
          </a:p>
        </p:txBody>
      </p:sp>
      <p:sp>
        <p:nvSpPr>
          <p:cNvPr id="26" name="Marcador de contenido 2">
            <a:extLst>
              <a:ext uri="{FF2B5EF4-FFF2-40B4-BE49-F238E27FC236}">
                <a16:creationId xmlns:a16="http://schemas.microsoft.com/office/drawing/2014/main" id="{4610296F-889E-2FEA-7AFA-095562B99E94}"/>
              </a:ext>
            </a:extLst>
          </p:cNvPr>
          <p:cNvSpPr txBox="1">
            <a:spLocks/>
          </p:cNvSpPr>
          <p:nvPr/>
        </p:nvSpPr>
        <p:spPr>
          <a:xfrm>
            <a:off x="4485667" y="6189688"/>
            <a:ext cx="1549903" cy="549094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ES" sz="1400" i="1" dirty="0" err="1">
                <a:solidFill>
                  <a:srgbClr val="1B9E77"/>
                </a:solidFill>
                <a:latin typeface="Helvetica" panose="020B0604020202020204"/>
                <a:cs typeface="Helvetica"/>
              </a:rPr>
              <a:t>Pinus</a:t>
            </a:r>
            <a:r>
              <a:rPr lang="es-ES" sz="1400" i="1" dirty="0">
                <a:solidFill>
                  <a:srgbClr val="1B9E77"/>
                </a:solidFill>
                <a:latin typeface="Helvetica" panose="020B0604020202020204"/>
                <a:cs typeface="Helvetica"/>
              </a:rPr>
              <a:t> </a:t>
            </a:r>
            <a:r>
              <a:rPr lang="es-ES" sz="1400" i="1" dirty="0" err="1">
                <a:solidFill>
                  <a:srgbClr val="1B9E77"/>
                </a:solidFill>
                <a:latin typeface="Helvetica" panose="020B0604020202020204"/>
                <a:cs typeface="Helvetica"/>
              </a:rPr>
              <a:t>sylvestris</a:t>
            </a:r>
            <a:endParaRPr lang="es-ES" sz="1400" i="1" dirty="0">
              <a:solidFill>
                <a:srgbClr val="1B9E77"/>
              </a:solidFill>
              <a:latin typeface="Helvetica" panose="020B0604020202020204"/>
              <a:cs typeface="Helvetica"/>
            </a:endParaRPr>
          </a:p>
          <a:p>
            <a:pPr marL="0" indent="0" algn="ctr">
              <a:buNone/>
            </a:pPr>
            <a:r>
              <a:rPr lang="es-ES" sz="1400" dirty="0" err="1">
                <a:solidFill>
                  <a:srgbClr val="1B9E77"/>
                </a:solidFill>
                <a:latin typeface="Helvetica" panose="020B0604020202020204"/>
                <a:cs typeface="Helvetica" panose="020B0604020202020204"/>
              </a:rPr>
              <a:t>Temperate</a:t>
            </a:r>
            <a:endParaRPr lang="es-ES" sz="1400" dirty="0">
              <a:solidFill>
                <a:srgbClr val="1B9E77"/>
              </a:solidFill>
              <a:latin typeface="Helvetica" panose="020B0604020202020204"/>
              <a:cs typeface="Helvetica" panose="020B0604020202020204"/>
            </a:endParaRPr>
          </a:p>
          <a:p>
            <a:pPr marL="0" indent="0" algn="ctr">
              <a:buClr>
                <a:srgbClr val="218317"/>
              </a:buClr>
              <a:buNone/>
            </a:pPr>
            <a:endParaRPr lang="es-ES" sz="1400" i="1" dirty="0">
              <a:solidFill>
                <a:srgbClr val="1B9E77"/>
              </a:solidFill>
              <a:latin typeface="Helvetica" panose="020B0604020202020204"/>
              <a:cs typeface="Helvetica" panose="020B0604020202020204"/>
            </a:endParaRPr>
          </a:p>
        </p:txBody>
      </p:sp>
      <p:sp>
        <p:nvSpPr>
          <p:cNvPr id="27" name="Marcador de contenido 2">
            <a:extLst>
              <a:ext uri="{FF2B5EF4-FFF2-40B4-BE49-F238E27FC236}">
                <a16:creationId xmlns:a16="http://schemas.microsoft.com/office/drawing/2014/main" id="{E5D78DD7-DADA-BF19-EF42-3C987C584762}"/>
              </a:ext>
            </a:extLst>
          </p:cNvPr>
          <p:cNvSpPr txBox="1">
            <a:spLocks/>
          </p:cNvSpPr>
          <p:nvPr/>
        </p:nvSpPr>
        <p:spPr>
          <a:xfrm>
            <a:off x="5820360" y="6176289"/>
            <a:ext cx="1573487" cy="545542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ES" sz="1400" i="1" dirty="0" err="1">
                <a:solidFill>
                  <a:srgbClr val="DB5F02"/>
                </a:solidFill>
                <a:latin typeface="Helvetica" panose="020B0604020202020204"/>
                <a:cs typeface="Helvetica"/>
              </a:rPr>
              <a:t>Pinus</a:t>
            </a:r>
            <a:r>
              <a:rPr lang="es-ES" sz="1400" i="1" dirty="0">
                <a:solidFill>
                  <a:srgbClr val="DB5F02"/>
                </a:solidFill>
                <a:latin typeface="Helvetica" panose="020B0604020202020204"/>
                <a:cs typeface="Helvetica"/>
              </a:rPr>
              <a:t> pinea</a:t>
            </a:r>
          </a:p>
          <a:p>
            <a:pPr marL="0" indent="0" algn="ctr">
              <a:buClr>
                <a:srgbClr val="218317"/>
              </a:buClr>
              <a:buNone/>
            </a:pPr>
            <a:r>
              <a:rPr lang="es-ES" sz="1400" dirty="0" err="1">
                <a:solidFill>
                  <a:srgbClr val="DB5F02"/>
                </a:solidFill>
                <a:latin typeface="Helvetica" panose="020B0604020202020204"/>
                <a:cs typeface="Helvetica" panose="020B0604020202020204"/>
              </a:rPr>
              <a:t>Mediterranean</a:t>
            </a:r>
            <a:endParaRPr lang="es-ES" sz="1400" dirty="0">
              <a:solidFill>
                <a:srgbClr val="DB5F02"/>
              </a:solidFill>
              <a:latin typeface="Helvetica" panose="020B0604020202020204"/>
              <a:cs typeface="Helvetica" panose="020B0604020202020204"/>
            </a:endParaRPr>
          </a:p>
        </p:txBody>
      </p:sp>
      <p:sp>
        <p:nvSpPr>
          <p:cNvPr id="28" name="Marcador de contenido 2">
            <a:extLst>
              <a:ext uri="{FF2B5EF4-FFF2-40B4-BE49-F238E27FC236}">
                <a16:creationId xmlns:a16="http://schemas.microsoft.com/office/drawing/2014/main" id="{56084E07-2C04-CD6D-31F4-50F1D21AE7B1}"/>
              </a:ext>
            </a:extLst>
          </p:cNvPr>
          <p:cNvSpPr txBox="1">
            <a:spLocks/>
          </p:cNvSpPr>
          <p:nvPr/>
        </p:nvSpPr>
        <p:spPr>
          <a:xfrm>
            <a:off x="694186" y="5806884"/>
            <a:ext cx="2198835" cy="100623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Clr>
                <a:srgbClr val="218317"/>
              </a:buClr>
              <a:buNone/>
            </a:pPr>
            <a:r>
              <a:rPr lang="es-ES" sz="2400" b="1" dirty="0">
                <a:latin typeface="Helvetica"/>
                <a:cs typeface="Helvetica"/>
              </a:rPr>
              <a:t>Figs. 2 &amp; 3.: </a:t>
            </a:r>
            <a:r>
              <a:rPr lang="es-ES" sz="2400" b="1" dirty="0" err="1">
                <a:latin typeface="Helvetica"/>
                <a:cs typeface="Helvetica"/>
              </a:rPr>
              <a:t>boxplots</a:t>
            </a:r>
            <a:endParaRPr lang="es-ES" sz="20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lvl="1" algn="ctr">
              <a:buClr>
                <a:srgbClr val="218317"/>
              </a:buClr>
              <a:buFont typeface="Calibri" panose="02070309020205020404" pitchFamily="49" charset="0"/>
              <a:buChar char="-"/>
            </a:pPr>
            <a:endParaRPr lang="es-ES" sz="20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algn="ctr"/>
            <a:endParaRPr lang="es-ES" sz="24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9633984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573334-2C83-86EA-F971-0B92656420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ítulo 1">
            <a:extLst>
              <a:ext uri="{FF2B5EF4-FFF2-40B4-BE49-F238E27FC236}">
                <a16:creationId xmlns:a16="http://schemas.microsoft.com/office/drawing/2014/main" id="{1531D4ED-68A9-CECB-ED15-4387DD59AD3A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9690902" cy="804155"/>
          </a:xfrm>
          <a:prstGeom prst="rect">
            <a:avLst/>
          </a:prstGeom>
          <a:solidFill>
            <a:srgbClr val="218317"/>
          </a:solidFill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	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Objectives</a:t>
            </a:r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&amp; 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Hypotheses</a:t>
            </a:r>
            <a:endParaRPr lang="es-ES" sz="3200" b="1" dirty="0">
              <a:solidFill>
                <a:schemeClr val="bg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0" name="Título 1">
            <a:extLst>
              <a:ext uri="{FF2B5EF4-FFF2-40B4-BE49-F238E27FC236}">
                <a16:creationId xmlns:a16="http://schemas.microsoft.com/office/drawing/2014/main" id="{0D1A1BFE-DC92-E0F0-8D46-80BECDF3116D}"/>
              </a:ext>
            </a:extLst>
          </p:cNvPr>
          <p:cNvSpPr txBox="1">
            <a:spLocks/>
          </p:cNvSpPr>
          <p:nvPr/>
        </p:nvSpPr>
        <p:spPr>
          <a:xfrm>
            <a:off x="9690902" y="-1"/>
            <a:ext cx="2501098" cy="804157"/>
          </a:xfrm>
          <a:prstGeom prst="rect">
            <a:avLst/>
          </a:prstGeom>
          <a:solidFill>
            <a:srgbClr val="218317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ES" sz="2800" b="1" dirty="0">
                <a:solidFill>
                  <a:srgbClr val="218317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.</a:t>
            </a:r>
          </a:p>
        </p:txBody>
      </p:sp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43CA477B-6568-71AB-FBD0-613CC0134996}"/>
              </a:ext>
            </a:extLst>
          </p:cNvPr>
          <p:cNvSpPr txBox="1">
            <a:spLocks/>
          </p:cNvSpPr>
          <p:nvPr/>
        </p:nvSpPr>
        <p:spPr>
          <a:xfrm>
            <a:off x="633459" y="2041583"/>
            <a:ext cx="10925077" cy="114682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ES" sz="2400" b="1" i="1" dirty="0">
                <a:latin typeface="Helvetica"/>
                <a:cs typeface="Helvetica"/>
              </a:rPr>
              <a:t>H1.2.-</a:t>
            </a:r>
            <a:r>
              <a:rPr lang="es-ES" sz="2400" i="1" dirty="0">
                <a:latin typeface="Helvetica"/>
                <a:cs typeface="Helvetica"/>
              </a:rPr>
              <a:t> </a:t>
            </a:r>
            <a:r>
              <a:rPr lang="es-ES" sz="2400" i="1" dirty="0" err="1">
                <a:latin typeface="Helvetica"/>
                <a:cs typeface="Helvetica"/>
              </a:rPr>
              <a:t>We</a:t>
            </a:r>
            <a:r>
              <a:rPr lang="es-ES" sz="2400" i="1" dirty="0">
                <a:latin typeface="Helvetica"/>
                <a:cs typeface="Helvetica"/>
              </a:rPr>
              <a:t> </a:t>
            </a:r>
            <a:r>
              <a:rPr lang="es-ES" sz="2400" i="1" dirty="0" err="1">
                <a:latin typeface="Helvetica"/>
                <a:cs typeface="Helvetica"/>
              </a:rPr>
              <a:t>expect</a:t>
            </a:r>
            <a:r>
              <a:rPr lang="es-ES" sz="2400" i="1" dirty="0">
                <a:latin typeface="Helvetica"/>
                <a:cs typeface="Helvetica"/>
              </a:rPr>
              <a:t> </a:t>
            </a:r>
            <a:r>
              <a:rPr lang="es-ES" sz="2400" i="1" dirty="0" err="1">
                <a:latin typeface="Helvetica"/>
                <a:cs typeface="Helvetica"/>
              </a:rPr>
              <a:t>drought-induced</a:t>
            </a:r>
            <a:r>
              <a:rPr lang="es-ES" sz="2400" i="1" dirty="0">
                <a:latin typeface="Helvetica"/>
                <a:cs typeface="Helvetica"/>
              </a:rPr>
              <a:t> </a:t>
            </a:r>
            <a:r>
              <a:rPr lang="es-ES" sz="2400" i="1" dirty="0" err="1">
                <a:latin typeface="Helvetica"/>
                <a:cs typeface="Helvetica"/>
              </a:rPr>
              <a:t>reduced</a:t>
            </a:r>
            <a:r>
              <a:rPr lang="es-ES" sz="2400" i="1" dirty="0">
                <a:latin typeface="Helvetica"/>
                <a:cs typeface="Helvetica"/>
              </a:rPr>
              <a:t> </a:t>
            </a:r>
            <a:r>
              <a:rPr lang="es-ES" sz="2400" i="1" dirty="0" err="1">
                <a:latin typeface="Helvetica"/>
                <a:cs typeface="Helvetica"/>
              </a:rPr>
              <a:t>photosynthetic</a:t>
            </a:r>
            <a:r>
              <a:rPr lang="es-ES" sz="2400" i="1" dirty="0">
                <a:latin typeface="Helvetica"/>
                <a:cs typeface="Helvetica"/>
              </a:rPr>
              <a:t> </a:t>
            </a:r>
            <a:r>
              <a:rPr lang="es-ES" sz="2400" i="1" dirty="0" err="1">
                <a:latin typeface="Helvetica"/>
                <a:cs typeface="Helvetica"/>
              </a:rPr>
              <a:t>pigments</a:t>
            </a:r>
            <a:r>
              <a:rPr lang="es-ES" sz="2400" i="1" dirty="0">
                <a:latin typeface="Helvetica"/>
                <a:cs typeface="Helvetica"/>
              </a:rPr>
              <a:t> </a:t>
            </a:r>
            <a:r>
              <a:rPr lang="es-ES" sz="2400" i="1" dirty="0" err="1">
                <a:latin typeface="Helvetica"/>
                <a:cs typeface="Helvetica"/>
              </a:rPr>
              <a:t>concentrations</a:t>
            </a:r>
            <a:r>
              <a:rPr lang="es-ES" sz="2400" i="1" dirty="0">
                <a:latin typeface="Helvetica"/>
                <a:cs typeface="Helvetica"/>
              </a:rPr>
              <a:t>, </a:t>
            </a:r>
            <a:r>
              <a:rPr lang="es-ES" sz="2400" i="1" dirty="0" err="1">
                <a:latin typeface="Helvetica"/>
                <a:cs typeface="Helvetica"/>
              </a:rPr>
              <a:t>increased</a:t>
            </a:r>
            <a:r>
              <a:rPr lang="es-ES" sz="2400" i="1" dirty="0">
                <a:latin typeface="Helvetica"/>
                <a:cs typeface="Helvetica"/>
              </a:rPr>
              <a:t> </a:t>
            </a:r>
            <a:r>
              <a:rPr lang="es-ES" sz="2400" i="1" dirty="0" err="1">
                <a:latin typeface="Helvetica"/>
                <a:cs typeface="Helvetica"/>
              </a:rPr>
              <a:t>iWUE</a:t>
            </a:r>
            <a:r>
              <a:rPr lang="es-ES" sz="2400" i="1" dirty="0">
                <a:latin typeface="Helvetica"/>
                <a:cs typeface="Helvetica"/>
              </a:rPr>
              <a:t> and </a:t>
            </a:r>
            <a:r>
              <a:rPr lang="es-ES" sz="2400" i="1" dirty="0" err="1">
                <a:latin typeface="Helvetica"/>
                <a:cs typeface="Helvetica"/>
              </a:rPr>
              <a:t>leaves</a:t>
            </a:r>
            <a:r>
              <a:rPr lang="es-ES" sz="2400" i="1" dirty="0">
                <a:latin typeface="Helvetica"/>
                <a:cs typeface="Helvetica"/>
              </a:rPr>
              <a:t> </a:t>
            </a:r>
            <a:r>
              <a:rPr lang="es-ES" sz="2400" i="1" dirty="0" err="1">
                <a:latin typeface="Helvetica"/>
                <a:cs typeface="Helvetica"/>
              </a:rPr>
              <a:t>nutrients</a:t>
            </a:r>
            <a:r>
              <a:rPr lang="es-ES" sz="2400" i="1" dirty="0">
                <a:latin typeface="Helvetica"/>
                <a:cs typeface="Helvetica"/>
              </a:rPr>
              <a:t> </a:t>
            </a:r>
            <a:r>
              <a:rPr lang="es-ES" sz="2400" i="1" dirty="0" err="1">
                <a:latin typeface="Helvetica"/>
                <a:cs typeface="Helvetica"/>
              </a:rPr>
              <a:t>allocation</a:t>
            </a:r>
            <a:endParaRPr lang="es-ES" sz="2400" i="1" dirty="0">
              <a:latin typeface="Helvetica"/>
              <a:cs typeface="Helvetica"/>
            </a:endParaRPr>
          </a:p>
        </p:txBody>
      </p:sp>
      <p:sp>
        <p:nvSpPr>
          <p:cNvPr id="8" name="Marcador de contenido 2">
            <a:extLst>
              <a:ext uri="{FF2B5EF4-FFF2-40B4-BE49-F238E27FC236}">
                <a16:creationId xmlns:a16="http://schemas.microsoft.com/office/drawing/2014/main" id="{8C25AC63-98C6-64BF-F6DD-B75119648688}"/>
              </a:ext>
            </a:extLst>
          </p:cNvPr>
          <p:cNvSpPr txBox="1">
            <a:spLocks/>
          </p:cNvSpPr>
          <p:nvPr/>
        </p:nvSpPr>
        <p:spPr>
          <a:xfrm>
            <a:off x="633459" y="2951923"/>
            <a:ext cx="10925077" cy="339918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rgbClr val="218317"/>
              </a:buClr>
            </a:pPr>
            <a:r>
              <a:rPr lang="es-ES" sz="2000" b="1" dirty="0" err="1">
                <a:latin typeface="Helvetica"/>
                <a:cs typeface="Helvetica"/>
              </a:rPr>
              <a:t>Pigments</a:t>
            </a:r>
            <a:r>
              <a:rPr lang="es-ES" sz="2000" b="1" dirty="0">
                <a:latin typeface="Helvetica"/>
                <a:cs typeface="Helvetica"/>
              </a:rPr>
              <a:t>: </a:t>
            </a:r>
            <a:r>
              <a:rPr lang="en-US" sz="2000" dirty="0">
                <a:latin typeface="Helvetica"/>
                <a:cs typeface="Helvetica"/>
              </a:rPr>
              <a:t>water stress-induced increased ABA and ROS trigger upregulation of senescence-associated genes (SAG), and to damages to photosynthetic apparatus </a:t>
            </a:r>
            <a:r>
              <a:rPr lang="en-US" sz="2000" dirty="0">
                <a:latin typeface="Helvetica"/>
                <a:cs typeface="Helvetica"/>
                <a:sym typeface="Wingdings" panose="05000000000000000000" pitchFamily="2" charset="2"/>
              </a:rPr>
              <a:t> </a:t>
            </a:r>
            <a:r>
              <a:rPr lang="es-ES" sz="2000" b="1" dirty="0">
                <a:latin typeface="Helvetica"/>
                <a:cs typeface="Helvetica"/>
                <a:sym typeface="Wingdings" panose="05000000000000000000" pitchFamily="2" charset="2"/>
              </a:rPr>
              <a:t>↓ </a:t>
            </a:r>
            <a:r>
              <a:rPr lang="es-ES" sz="2000" b="1" dirty="0" err="1">
                <a:latin typeface="Helvetica"/>
                <a:cs typeface="Helvetica"/>
                <a:sym typeface="Wingdings" panose="05000000000000000000" pitchFamily="2" charset="2"/>
              </a:rPr>
              <a:t>Pigments</a:t>
            </a:r>
            <a:r>
              <a:rPr lang="es-ES" sz="2000" b="1" dirty="0">
                <a:latin typeface="Helvetica"/>
                <a:cs typeface="Helvetica"/>
                <a:sym typeface="Wingdings" panose="05000000000000000000" pitchFamily="2" charset="2"/>
              </a:rPr>
              <a:t> </a:t>
            </a:r>
            <a:r>
              <a:rPr lang="es-ES" sz="2000" b="1" dirty="0" err="1">
                <a:latin typeface="Helvetica"/>
                <a:cs typeface="Helvetica"/>
                <a:sym typeface="Wingdings" panose="05000000000000000000" pitchFamily="2" charset="2"/>
              </a:rPr>
              <a:t>concentration</a:t>
            </a:r>
            <a:endParaRPr lang="es-ES" sz="2000" b="1" dirty="0">
              <a:solidFill>
                <a:srgbClr val="C00000"/>
              </a:solidFill>
              <a:latin typeface="Helvetica"/>
              <a:cs typeface="Helvetica"/>
              <a:sym typeface="Wingdings" panose="05000000000000000000" pitchFamily="2" charset="2"/>
            </a:endParaRPr>
          </a:p>
          <a:p>
            <a:pPr>
              <a:buClr>
                <a:srgbClr val="218317"/>
              </a:buClr>
            </a:pPr>
            <a:r>
              <a:rPr lang="es-ES" sz="2000" b="1" dirty="0" err="1">
                <a:latin typeface="Helvetica"/>
                <a:cs typeface="Helvetica"/>
              </a:rPr>
              <a:t>iWUE</a:t>
            </a:r>
            <a:r>
              <a:rPr lang="es-ES" sz="2000" b="1" dirty="0">
                <a:latin typeface="Helvetica"/>
                <a:cs typeface="Helvetica"/>
              </a:rPr>
              <a:t>: </a:t>
            </a:r>
            <a:r>
              <a:rPr lang="es-ES" sz="2000" dirty="0" err="1">
                <a:latin typeface="Helvetica"/>
                <a:cs typeface="Helvetica"/>
              </a:rPr>
              <a:t>we</a:t>
            </a:r>
            <a:r>
              <a:rPr lang="es-ES" sz="2000" dirty="0">
                <a:latin typeface="Helvetica"/>
                <a:cs typeface="Helvetica"/>
              </a:rPr>
              <a:t> </a:t>
            </a:r>
            <a:r>
              <a:rPr lang="es-ES" sz="2000" dirty="0" err="1">
                <a:latin typeface="Helvetica"/>
                <a:cs typeface="Helvetica"/>
              </a:rPr>
              <a:t>an</a:t>
            </a:r>
            <a:r>
              <a:rPr lang="es-ES" sz="2000" dirty="0">
                <a:latin typeface="Helvetica"/>
                <a:cs typeface="Helvetica"/>
              </a:rPr>
              <a:t> </a:t>
            </a:r>
            <a:r>
              <a:rPr lang="es-ES" sz="2000" dirty="0" err="1">
                <a:latin typeface="Helvetica"/>
                <a:cs typeface="Helvetica"/>
              </a:rPr>
              <a:t>isohydric</a:t>
            </a:r>
            <a:r>
              <a:rPr lang="es-ES" sz="2000" dirty="0">
                <a:latin typeface="Helvetica"/>
                <a:cs typeface="Helvetica"/>
              </a:rPr>
              <a:t> </a:t>
            </a:r>
            <a:r>
              <a:rPr lang="es-ES" sz="2000" dirty="0" err="1">
                <a:latin typeface="Helvetica"/>
                <a:cs typeface="Helvetica"/>
              </a:rPr>
              <a:t>behaviour</a:t>
            </a:r>
            <a:r>
              <a:rPr lang="es-ES" sz="2000" dirty="0">
                <a:latin typeface="Helvetica"/>
                <a:cs typeface="Helvetica"/>
              </a:rPr>
              <a:t> </a:t>
            </a:r>
            <a:r>
              <a:rPr lang="es-ES" sz="2000" dirty="0" err="1">
                <a:latin typeface="Helvetica"/>
                <a:cs typeface="Helvetica"/>
              </a:rPr>
              <a:t>leading</a:t>
            </a:r>
            <a:r>
              <a:rPr lang="es-ES" sz="2000" dirty="0">
                <a:latin typeface="Helvetica"/>
                <a:cs typeface="Helvetica"/>
              </a:rPr>
              <a:t> </a:t>
            </a:r>
            <a:r>
              <a:rPr lang="es-ES" sz="2000" dirty="0" err="1">
                <a:latin typeface="Helvetica"/>
                <a:cs typeface="Helvetica"/>
              </a:rPr>
              <a:t>to</a:t>
            </a:r>
            <a:r>
              <a:rPr lang="es-ES" sz="2000" dirty="0">
                <a:latin typeface="Helvetica"/>
                <a:cs typeface="Helvetica"/>
              </a:rPr>
              <a:t> </a:t>
            </a:r>
            <a:r>
              <a:rPr lang="es-ES" sz="2000" dirty="0" err="1">
                <a:latin typeface="Helvetica"/>
                <a:cs typeface="Helvetica"/>
              </a:rPr>
              <a:t>stomatal</a:t>
            </a:r>
            <a:r>
              <a:rPr lang="es-ES" sz="2000" dirty="0">
                <a:latin typeface="Helvetica"/>
                <a:cs typeface="Helvetica"/>
              </a:rPr>
              <a:t> </a:t>
            </a:r>
            <a:r>
              <a:rPr lang="es-ES" sz="2000" dirty="0" err="1">
                <a:latin typeface="Helvetica"/>
                <a:cs typeface="Helvetica"/>
              </a:rPr>
              <a:t>closure</a:t>
            </a:r>
            <a:r>
              <a:rPr lang="es-ES" sz="2000" dirty="0">
                <a:latin typeface="Helvetica"/>
                <a:cs typeface="Helvetica"/>
              </a:rPr>
              <a:t> </a:t>
            </a:r>
            <a:r>
              <a:rPr lang="es-ES" sz="2000" dirty="0">
                <a:latin typeface="Helvetica"/>
                <a:cs typeface="Helvetica"/>
                <a:sym typeface="Wingdings" panose="05000000000000000000" pitchFamily="2" charset="2"/>
              </a:rPr>
              <a:t> </a:t>
            </a:r>
            <a:r>
              <a:rPr lang="es-ES" sz="2000" b="1" dirty="0">
                <a:latin typeface="Helvetica"/>
                <a:cs typeface="Helvetica"/>
                <a:sym typeface="Wingdings" panose="05000000000000000000" pitchFamily="2" charset="2"/>
              </a:rPr>
              <a:t>↑ </a:t>
            </a:r>
            <a:r>
              <a:rPr lang="el-GR" sz="2000" b="1" dirty="0">
                <a:latin typeface="Helvetica"/>
                <a:cs typeface="Helvetica"/>
                <a:sym typeface="Wingdings" panose="05000000000000000000" pitchFamily="2" charset="2"/>
              </a:rPr>
              <a:t>δ</a:t>
            </a:r>
            <a:r>
              <a:rPr lang="es-ES" sz="2000" b="1" baseline="30000" dirty="0">
                <a:latin typeface="Helvetica"/>
                <a:cs typeface="Helvetica"/>
                <a:sym typeface="Wingdings" panose="05000000000000000000" pitchFamily="2" charset="2"/>
              </a:rPr>
              <a:t>13</a:t>
            </a:r>
            <a:r>
              <a:rPr lang="es-ES" sz="2000" b="1" dirty="0">
                <a:latin typeface="Helvetica"/>
                <a:cs typeface="Helvetica"/>
                <a:sym typeface="Wingdings" panose="05000000000000000000" pitchFamily="2" charset="2"/>
              </a:rPr>
              <a:t>C and </a:t>
            </a:r>
            <a:r>
              <a:rPr lang="el-GR" sz="2000" b="1" dirty="0">
                <a:latin typeface="Helvetica"/>
                <a:cs typeface="Helvetica"/>
                <a:sym typeface="Wingdings" panose="05000000000000000000" pitchFamily="2" charset="2"/>
              </a:rPr>
              <a:t>δ</a:t>
            </a:r>
            <a:r>
              <a:rPr lang="es-ES" sz="2000" b="1" baseline="30000" dirty="0">
                <a:latin typeface="Helvetica"/>
                <a:cs typeface="Helvetica"/>
                <a:sym typeface="Wingdings" panose="05000000000000000000" pitchFamily="2" charset="2"/>
              </a:rPr>
              <a:t>18</a:t>
            </a:r>
            <a:r>
              <a:rPr lang="es-ES" sz="2000" b="1" dirty="0">
                <a:latin typeface="Helvetica"/>
                <a:cs typeface="Helvetica"/>
                <a:sym typeface="Wingdings" panose="05000000000000000000" pitchFamily="2" charset="2"/>
              </a:rPr>
              <a:t>O in </a:t>
            </a:r>
            <a:r>
              <a:rPr lang="es-ES" sz="2000" b="1" dirty="0" err="1">
                <a:latin typeface="Helvetica"/>
                <a:cs typeface="Helvetica"/>
                <a:sym typeface="Wingdings" panose="05000000000000000000" pitchFamily="2" charset="2"/>
              </a:rPr>
              <a:t>leaves</a:t>
            </a:r>
            <a:r>
              <a:rPr lang="es-ES" sz="2000" b="1" dirty="0">
                <a:latin typeface="Helvetica"/>
                <a:cs typeface="Helvetica"/>
                <a:sym typeface="Wingdings" panose="05000000000000000000" pitchFamily="2" charset="2"/>
              </a:rPr>
              <a:t> and </a:t>
            </a:r>
            <a:r>
              <a:rPr lang="es-ES" sz="2000" b="1" dirty="0" err="1">
                <a:latin typeface="Helvetica"/>
                <a:cs typeface="Helvetica"/>
                <a:sym typeface="Wingdings" panose="05000000000000000000" pitchFamily="2" charset="2"/>
              </a:rPr>
              <a:t>wood</a:t>
            </a:r>
            <a:r>
              <a:rPr lang="es-ES" sz="2000" b="1" dirty="0">
                <a:latin typeface="Helvetica"/>
                <a:cs typeface="Helvetica"/>
                <a:sym typeface="Wingdings" panose="05000000000000000000" pitchFamily="2" charset="2"/>
              </a:rPr>
              <a:t> </a:t>
            </a:r>
            <a:r>
              <a:rPr lang="es-ES" sz="2000" b="1" dirty="0" err="1">
                <a:latin typeface="Helvetica"/>
                <a:cs typeface="Helvetica"/>
                <a:sym typeface="Wingdings" panose="05000000000000000000" pitchFamily="2" charset="2"/>
              </a:rPr>
              <a:t>tissue</a:t>
            </a:r>
            <a:endParaRPr lang="es-ES" sz="2000" b="1" dirty="0">
              <a:latin typeface="Helvetica"/>
              <a:cs typeface="Helvetica"/>
              <a:sym typeface="Wingdings" panose="05000000000000000000" pitchFamily="2" charset="2"/>
            </a:endParaRPr>
          </a:p>
          <a:p>
            <a:pPr>
              <a:buClr>
                <a:srgbClr val="218317"/>
              </a:buClr>
            </a:pPr>
            <a:r>
              <a:rPr lang="es-ES" sz="2000" b="1" dirty="0" err="1">
                <a:latin typeface="Helvetica"/>
                <a:cs typeface="Helvetica"/>
                <a:sym typeface="Wingdings" panose="05000000000000000000" pitchFamily="2" charset="2"/>
              </a:rPr>
              <a:t>Nutrients</a:t>
            </a:r>
            <a:r>
              <a:rPr lang="es-ES" sz="2000" b="1" dirty="0">
                <a:latin typeface="Helvetica"/>
                <a:cs typeface="Helvetica"/>
                <a:sym typeface="Wingdings" panose="05000000000000000000" pitchFamily="2" charset="2"/>
              </a:rPr>
              <a:t>: </a:t>
            </a:r>
            <a:r>
              <a:rPr lang="es-ES" sz="2000" dirty="0" err="1">
                <a:latin typeface="Helvetica"/>
                <a:cs typeface="Helvetica"/>
                <a:sym typeface="Wingdings" panose="05000000000000000000" pitchFamily="2" charset="2"/>
              </a:rPr>
              <a:t>we</a:t>
            </a:r>
            <a:r>
              <a:rPr lang="es-ES" sz="2000" dirty="0">
                <a:latin typeface="Helvetica"/>
                <a:cs typeface="Helvetica"/>
                <a:sym typeface="Wingdings" panose="05000000000000000000" pitchFamily="2" charset="2"/>
              </a:rPr>
              <a:t> </a:t>
            </a:r>
            <a:r>
              <a:rPr lang="es-ES" sz="2000" dirty="0" err="1">
                <a:latin typeface="Helvetica"/>
                <a:cs typeface="Helvetica"/>
                <a:sym typeface="Wingdings" panose="05000000000000000000" pitchFamily="2" charset="2"/>
              </a:rPr>
              <a:t>nutrient</a:t>
            </a:r>
            <a:r>
              <a:rPr lang="es-ES" sz="2000" dirty="0">
                <a:latin typeface="Helvetica"/>
                <a:cs typeface="Helvetica"/>
                <a:sym typeface="Wingdings" panose="05000000000000000000" pitchFamily="2" charset="2"/>
              </a:rPr>
              <a:t> </a:t>
            </a:r>
            <a:r>
              <a:rPr lang="es-ES" sz="2000" dirty="0" err="1">
                <a:latin typeface="Helvetica"/>
                <a:cs typeface="Helvetica"/>
                <a:sym typeface="Wingdings" panose="05000000000000000000" pitchFamily="2" charset="2"/>
              </a:rPr>
              <a:t>allocation</a:t>
            </a:r>
            <a:r>
              <a:rPr lang="es-ES" sz="2000" dirty="0">
                <a:latin typeface="Helvetica"/>
                <a:cs typeface="Helvetica"/>
                <a:sym typeface="Wingdings" panose="05000000000000000000" pitchFamily="2" charset="2"/>
              </a:rPr>
              <a:t> in </a:t>
            </a:r>
            <a:r>
              <a:rPr lang="es-ES" sz="2000" dirty="0" err="1">
                <a:latin typeface="Helvetica"/>
                <a:cs typeface="Helvetica"/>
                <a:sym typeface="Wingdings" panose="05000000000000000000" pitchFamily="2" charset="2"/>
              </a:rPr>
              <a:t>leaves</a:t>
            </a:r>
            <a:r>
              <a:rPr lang="es-ES" sz="2000" dirty="0">
                <a:latin typeface="Helvetica"/>
                <a:cs typeface="Helvetica"/>
                <a:sym typeface="Wingdings" panose="05000000000000000000" pitchFamily="2" charset="2"/>
              </a:rPr>
              <a:t> </a:t>
            </a:r>
            <a:r>
              <a:rPr lang="es-ES" sz="2000" dirty="0" err="1">
                <a:latin typeface="Helvetica"/>
                <a:cs typeface="Helvetica"/>
                <a:sym typeface="Wingdings" panose="05000000000000000000" pitchFamily="2" charset="2"/>
              </a:rPr>
              <a:t>due</a:t>
            </a:r>
            <a:r>
              <a:rPr lang="es-ES" sz="2000" dirty="0">
                <a:latin typeface="Helvetica"/>
                <a:cs typeface="Helvetica"/>
                <a:sym typeface="Wingdings" panose="05000000000000000000" pitchFamily="2" charset="2"/>
              </a:rPr>
              <a:t> </a:t>
            </a:r>
            <a:r>
              <a:rPr lang="es-ES" sz="2000" dirty="0" err="1">
                <a:latin typeface="Helvetica"/>
                <a:cs typeface="Helvetica"/>
                <a:sym typeface="Wingdings" panose="05000000000000000000" pitchFamily="2" charset="2"/>
              </a:rPr>
              <a:t>to</a:t>
            </a:r>
            <a:r>
              <a:rPr lang="es-ES" sz="2000" dirty="0">
                <a:latin typeface="Helvetica"/>
                <a:cs typeface="Helvetica"/>
                <a:sym typeface="Wingdings" panose="05000000000000000000" pitchFamily="2" charset="2"/>
              </a:rPr>
              <a:t> </a:t>
            </a:r>
            <a:r>
              <a:rPr lang="es-ES" sz="2000" dirty="0" err="1">
                <a:latin typeface="Helvetica"/>
                <a:cs typeface="Helvetica"/>
                <a:sym typeface="Wingdings" panose="05000000000000000000" pitchFamily="2" charset="2"/>
              </a:rPr>
              <a:t>drought-induced</a:t>
            </a:r>
            <a:r>
              <a:rPr lang="es-ES" sz="2000" dirty="0">
                <a:latin typeface="Helvetica"/>
                <a:cs typeface="Helvetica"/>
                <a:sym typeface="Wingdings" panose="05000000000000000000" pitchFamily="2" charset="2"/>
              </a:rPr>
              <a:t> </a:t>
            </a:r>
            <a:r>
              <a:rPr lang="es-ES" sz="2000" dirty="0" err="1">
                <a:latin typeface="Helvetica"/>
                <a:cs typeface="Helvetica"/>
                <a:sym typeface="Wingdings" panose="05000000000000000000" pitchFamily="2" charset="2"/>
              </a:rPr>
              <a:t>reduced</a:t>
            </a:r>
            <a:r>
              <a:rPr lang="es-ES" sz="2000" dirty="0">
                <a:latin typeface="Helvetica"/>
                <a:cs typeface="Helvetica"/>
                <a:sym typeface="Wingdings" panose="05000000000000000000" pitchFamily="2" charset="2"/>
              </a:rPr>
              <a:t> </a:t>
            </a:r>
            <a:r>
              <a:rPr lang="es-ES" sz="2000" dirty="0" err="1">
                <a:latin typeface="Helvetica"/>
                <a:cs typeface="Helvetica"/>
                <a:sym typeface="Wingdings" panose="05000000000000000000" pitchFamily="2" charset="2"/>
              </a:rPr>
              <a:t>nutrients</a:t>
            </a:r>
            <a:r>
              <a:rPr lang="es-ES" sz="2000" dirty="0">
                <a:latin typeface="Helvetica"/>
                <a:cs typeface="Helvetica"/>
                <a:sym typeface="Wingdings" panose="05000000000000000000" pitchFamily="2" charset="2"/>
              </a:rPr>
              <a:t> </a:t>
            </a:r>
            <a:r>
              <a:rPr lang="es-ES" sz="2000" dirty="0" err="1">
                <a:latin typeface="Helvetica"/>
                <a:cs typeface="Helvetica"/>
                <a:sym typeface="Wingdings" panose="05000000000000000000" pitchFamily="2" charset="2"/>
              </a:rPr>
              <a:t>uptake</a:t>
            </a:r>
            <a:r>
              <a:rPr lang="es-ES" sz="2000" dirty="0">
                <a:latin typeface="Helvetica"/>
                <a:cs typeface="Helvetica"/>
                <a:sym typeface="Wingdings" panose="05000000000000000000" pitchFamily="2" charset="2"/>
              </a:rPr>
              <a:t>   </a:t>
            </a:r>
            <a:r>
              <a:rPr lang="es-ES" sz="2000" b="1" dirty="0">
                <a:latin typeface="Helvetica"/>
                <a:cs typeface="Helvetica"/>
                <a:sym typeface="Wingdings" panose="05000000000000000000" pitchFamily="2" charset="2"/>
              </a:rPr>
              <a:t>↓N </a:t>
            </a:r>
            <a:r>
              <a:rPr lang="es-ES" sz="2000" b="1" dirty="0" err="1">
                <a:latin typeface="Helvetica"/>
                <a:cs typeface="Helvetica"/>
                <a:sym typeface="Wingdings" panose="05000000000000000000" pitchFamily="2" charset="2"/>
              </a:rPr>
              <a:t>concentration</a:t>
            </a:r>
            <a:r>
              <a:rPr lang="es-ES" sz="2000" b="1" dirty="0">
                <a:latin typeface="Helvetica"/>
                <a:cs typeface="Helvetica"/>
                <a:sym typeface="Wingdings" panose="05000000000000000000" pitchFamily="2" charset="2"/>
              </a:rPr>
              <a:t> and ↑ C:N ratio in </a:t>
            </a:r>
            <a:r>
              <a:rPr lang="es-ES" sz="2000" b="1" dirty="0" err="1">
                <a:solidFill>
                  <a:srgbClr val="C00000"/>
                </a:solidFill>
                <a:latin typeface="Helvetica"/>
                <a:cs typeface="Helvetica"/>
                <a:sym typeface="Wingdings" panose="05000000000000000000" pitchFamily="2" charset="2"/>
              </a:rPr>
              <a:t>declining</a:t>
            </a:r>
            <a:r>
              <a:rPr lang="es-ES" sz="2000" b="1" dirty="0">
                <a:solidFill>
                  <a:srgbClr val="C00000"/>
                </a:solidFill>
                <a:latin typeface="Helvetica"/>
                <a:cs typeface="Helvetica"/>
                <a:sym typeface="Wingdings" panose="05000000000000000000" pitchFamily="2" charset="2"/>
              </a:rPr>
              <a:t> sites</a:t>
            </a:r>
            <a:endParaRPr lang="es-ES" sz="2000" b="1" dirty="0">
              <a:latin typeface="Helvetica"/>
              <a:cs typeface="Helvetica"/>
            </a:endParaRPr>
          </a:p>
          <a:p>
            <a:pPr>
              <a:buClr>
                <a:srgbClr val="218317"/>
              </a:buClr>
            </a:pPr>
            <a:endParaRPr lang="es-ES" sz="2000" b="1" dirty="0">
              <a:solidFill>
                <a:srgbClr val="C00000"/>
              </a:solidFill>
              <a:latin typeface="Helvetica"/>
              <a:cs typeface="Helvetica"/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77E0554-C1E2-14A8-189C-36E143C46AFE}"/>
              </a:ext>
            </a:extLst>
          </p:cNvPr>
          <p:cNvSpPr txBox="1">
            <a:spLocks/>
          </p:cNvSpPr>
          <p:nvPr/>
        </p:nvSpPr>
        <p:spPr>
          <a:xfrm>
            <a:off x="623546" y="972273"/>
            <a:ext cx="10465002" cy="1548993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Clr>
                <a:srgbClr val="218317"/>
              </a:buClr>
              <a:buNone/>
            </a:pPr>
            <a:r>
              <a:rPr lang="es-ES" sz="2400" b="1" dirty="0" err="1">
                <a:latin typeface="Helvetica"/>
                <a:cs typeface="Helvetica"/>
              </a:rPr>
              <a:t>Obj</a:t>
            </a:r>
            <a:r>
              <a:rPr lang="es-ES" sz="2400" b="1" dirty="0">
                <a:latin typeface="Helvetica" panose="020B0604020202020204"/>
                <a:cs typeface="Helvetica"/>
              </a:rPr>
              <a:t>. 1.- </a:t>
            </a:r>
            <a:r>
              <a:rPr lang="en-US" sz="2400" dirty="0">
                <a:latin typeface="Helvetica" panose="020B0604020202020204"/>
                <a:cs typeface="Helvetica" panose="020B0604020202020204"/>
              </a:rPr>
              <a:t>To assess the underlying processes behind tree dieback by </a:t>
            </a:r>
            <a:r>
              <a:rPr lang="en-US" sz="2400" dirty="0" err="1">
                <a:latin typeface="Helvetica" panose="020B0604020202020204"/>
                <a:cs typeface="Helvetica" panose="020B0604020202020204"/>
              </a:rPr>
              <a:t>characterising</a:t>
            </a:r>
            <a:r>
              <a:rPr lang="en-US" sz="2400" dirty="0">
                <a:latin typeface="Helvetica" panose="020B0604020202020204"/>
                <a:cs typeface="Helvetica" panose="020B0604020202020204"/>
              </a:rPr>
              <a:t> predisposing factors and the morphological and physiological responses to drought</a:t>
            </a:r>
            <a:endParaRPr lang="es-ES" sz="2400" dirty="0">
              <a:latin typeface="Helvetica" panose="020B0604020202020204"/>
              <a:cs typeface="Helvetica" panose="020B0604020202020204"/>
            </a:endParaRPr>
          </a:p>
        </p:txBody>
      </p:sp>
      <p:grpSp>
        <p:nvGrpSpPr>
          <p:cNvPr id="5" name="Grupo 10">
            <a:extLst>
              <a:ext uri="{FF2B5EF4-FFF2-40B4-BE49-F238E27FC236}">
                <a16:creationId xmlns:a16="http://schemas.microsoft.com/office/drawing/2014/main" id="{203E5D08-514D-B4C0-BB55-67D677B827AB}"/>
              </a:ext>
            </a:extLst>
          </p:cNvPr>
          <p:cNvGrpSpPr/>
          <p:nvPr/>
        </p:nvGrpSpPr>
        <p:grpSpPr>
          <a:xfrm>
            <a:off x="8119357" y="5497846"/>
            <a:ext cx="3301889" cy="1220763"/>
            <a:chOff x="6178013" y="5057218"/>
            <a:chExt cx="3301889" cy="1220763"/>
          </a:xfrm>
        </p:grpSpPr>
        <p:pic>
          <p:nvPicPr>
            <p:cNvPr id="6" name="Imagen 11">
              <a:extLst>
                <a:ext uri="{FF2B5EF4-FFF2-40B4-BE49-F238E27FC236}">
                  <a16:creationId xmlns:a16="http://schemas.microsoft.com/office/drawing/2014/main" id="{15743DB9-D966-31B0-3697-39EF2DE02E2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t="53835"/>
            <a:stretch/>
          </p:blipFill>
          <p:spPr>
            <a:xfrm>
              <a:off x="6364847" y="5057218"/>
              <a:ext cx="3115055" cy="1220763"/>
            </a:xfrm>
            <a:prstGeom prst="rect">
              <a:avLst/>
            </a:prstGeom>
          </p:spPr>
        </p:pic>
        <p:sp>
          <p:nvSpPr>
            <p:cNvPr id="7" name="CuadroTexto 12">
              <a:extLst>
                <a:ext uri="{FF2B5EF4-FFF2-40B4-BE49-F238E27FC236}">
                  <a16:creationId xmlns:a16="http://schemas.microsoft.com/office/drawing/2014/main" id="{96170DCF-EBAA-2DE3-5423-8CF28E560A15}"/>
                </a:ext>
              </a:extLst>
            </p:cNvPr>
            <p:cNvSpPr txBox="1"/>
            <p:nvPr/>
          </p:nvSpPr>
          <p:spPr>
            <a:xfrm>
              <a:off x="6178013" y="5989310"/>
              <a:ext cx="1217297" cy="26161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1100" dirty="0">
                  <a:solidFill>
                    <a:srgbClr val="2F5597"/>
                  </a:solidFill>
                </a:rPr>
                <a:t>Non-</a:t>
              </a:r>
              <a:r>
                <a:rPr lang="es-ES" sz="1100" dirty="0" err="1">
                  <a:solidFill>
                    <a:srgbClr val="2F5597"/>
                  </a:solidFill>
                </a:rPr>
                <a:t>declining</a:t>
              </a:r>
              <a:r>
                <a:rPr lang="es-ES" sz="1100" dirty="0">
                  <a:solidFill>
                    <a:srgbClr val="2F5597"/>
                  </a:solidFill>
                </a:rPr>
                <a:t> site</a:t>
              </a:r>
            </a:p>
          </p:txBody>
        </p:sp>
        <p:sp>
          <p:nvSpPr>
            <p:cNvPr id="22" name="CuadroTexto 13">
              <a:extLst>
                <a:ext uri="{FF2B5EF4-FFF2-40B4-BE49-F238E27FC236}">
                  <a16:creationId xmlns:a16="http://schemas.microsoft.com/office/drawing/2014/main" id="{1EFBCC74-43D6-DEB0-2A8D-6209F2F0149A}"/>
                </a:ext>
              </a:extLst>
            </p:cNvPr>
            <p:cNvSpPr txBox="1"/>
            <p:nvPr/>
          </p:nvSpPr>
          <p:spPr>
            <a:xfrm>
              <a:off x="7313725" y="5989310"/>
              <a:ext cx="1217297" cy="26161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1100" dirty="0">
                  <a:solidFill>
                    <a:srgbClr val="7030A0"/>
                  </a:solidFill>
                  <a:cs typeface="Helvetica" panose="020B0604020202020204"/>
                </a:rPr>
                <a:t>Non-</a:t>
              </a:r>
              <a:r>
                <a:rPr lang="es-ES" sz="1100" dirty="0" err="1">
                  <a:solidFill>
                    <a:srgbClr val="7030A0"/>
                  </a:solidFill>
                  <a:cs typeface="Helvetica" panose="020B0604020202020204"/>
                </a:rPr>
                <a:t>declining</a:t>
              </a:r>
              <a:r>
                <a:rPr lang="es-ES" sz="1100" dirty="0">
                  <a:solidFill>
                    <a:srgbClr val="7030A0"/>
                  </a:solidFill>
                  <a:cs typeface="Helvetica" panose="020B0604020202020204"/>
                </a:rPr>
                <a:t> site</a:t>
              </a:r>
            </a:p>
          </p:txBody>
        </p:sp>
        <p:sp>
          <p:nvSpPr>
            <p:cNvPr id="23" name="CuadroTexto 14">
              <a:extLst>
                <a:ext uri="{FF2B5EF4-FFF2-40B4-BE49-F238E27FC236}">
                  <a16:creationId xmlns:a16="http://schemas.microsoft.com/office/drawing/2014/main" id="{2FDCDDE0-3CE5-EF26-1368-600014523DB5}"/>
                </a:ext>
              </a:extLst>
            </p:cNvPr>
            <p:cNvSpPr txBox="1"/>
            <p:nvPr/>
          </p:nvSpPr>
          <p:spPr>
            <a:xfrm>
              <a:off x="8482962" y="6002841"/>
              <a:ext cx="946093" cy="261610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s-ES" sz="1100" dirty="0" err="1">
                  <a:solidFill>
                    <a:srgbClr val="C00000"/>
                  </a:solidFill>
                </a:rPr>
                <a:t>Declining</a:t>
              </a:r>
              <a:r>
                <a:rPr lang="es-ES" sz="1100" dirty="0">
                  <a:solidFill>
                    <a:srgbClr val="C00000"/>
                  </a:solidFill>
                </a:rPr>
                <a:t> site</a:t>
              </a:r>
            </a:p>
          </p:txBody>
        </p:sp>
      </p:grpSp>
      <p:pic>
        <p:nvPicPr>
          <p:cNvPr id="24" name="Gráfico 12" descr="Abeto">
            <a:extLst>
              <a:ext uri="{FF2B5EF4-FFF2-40B4-BE49-F238E27FC236}">
                <a16:creationId xmlns:a16="http://schemas.microsoft.com/office/drawing/2014/main" id="{4D43DE4E-C69B-69CE-44C5-8D982D53D2B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565199" y="5497846"/>
            <a:ext cx="618077" cy="618077"/>
          </a:xfrm>
          <a:prstGeom prst="rect">
            <a:avLst/>
          </a:prstGeom>
        </p:spPr>
      </p:pic>
      <p:pic>
        <p:nvPicPr>
          <p:cNvPr id="25" name="Gráfico 13" descr="Abeto">
            <a:extLst>
              <a:ext uri="{FF2B5EF4-FFF2-40B4-BE49-F238E27FC236}">
                <a16:creationId xmlns:a16="http://schemas.microsoft.com/office/drawing/2014/main" id="{90DC389B-61EE-715B-88BF-307098D5EB7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954479" y="5497846"/>
            <a:ext cx="618077" cy="618077"/>
          </a:xfrm>
          <a:prstGeom prst="rect">
            <a:avLst/>
          </a:prstGeom>
        </p:spPr>
      </p:pic>
      <p:pic>
        <p:nvPicPr>
          <p:cNvPr id="26" name="Gráfico 14" descr="Abeto">
            <a:extLst>
              <a:ext uri="{FF2B5EF4-FFF2-40B4-BE49-F238E27FC236}">
                <a16:creationId xmlns:a16="http://schemas.microsoft.com/office/drawing/2014/main" id="{39DAA87B-66D0-EF6D-89D4-499A0BDB8AE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298066" y="5497846"/>
            <a:ext cx="618077" cy="618077"/>
          </a:xfrm>
          <a:prstGeom prst="rect">
            <a:avLst/>
          </a:prstGeom>
        </p:spPr>
      </p:pic>
      <p:sp>
        <p:nvSpPr>
          <p:cNvPr id="27" name="Marcador de contenido 2">
            <a:extLst>
              <a:ext uri="{FF2B5EF4-FFF2-40B4-BE49-F238E27FC236}">
                <a16:creationId xmlns:a16="http://schemas.microsoft.com/office/drawing/2014/main" id="{5EE2A37B-6F3B-529A-00B8-1D7E573CB588}"/>
              </a:ext>
            </a:extLst>
          </p:cNvPr>
          <p:cNvSpPr txBox="1">
            <a:spLocks/>
          </p:cNvSpPr>
          <p:nvPr/>
        </p:nvSpPr>
        <p:spPr>
          <a:xfrm>
            <a:off x="3221386" y="6211458"/>
            <a:ext cx="1305702" cy="550290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ES" sz="1400" i="1" dirty="0" err="1">
                <a:solidFill>
                  <a:srgbClr val="746FB2"/>
                </a:solidFill>
                <a:latin typeface="Helvetica" panose="020B0604020202020204"/>
                <a:cs typeface="Helvetica"/>
              </a:rPr>
              <a:t>Abies</a:t>
            </a:r>
            <a:r>
              <a:rPr lang="es-ES" sz="1400" i="1" dirty="0">
                <a:solidFill>
                  <a:srgbClr val="746FB2"/>
                </a:solidFill>
                <a:latin typeface="Helvetica" panose="020B0604020202020204"/>
                <a:cs typeface="Helvetica"/>
              </a:rPr>
              <a:t> alba</a:t>
            </a:r>
          </a:p>
          <a:p>
            <a:pPr marL="0" indent="0" algn="ctr">
              <a:buNone/>
            </a:pPr>
            <a:r>
              <a:rPr lang="es-ES" sz="1400" dirty="0" err="1">
                <a:solidFill>
                  <a:srgbClr val="746FB2"/>
                </a:solidFill>
                <a:latin typeface="Helvetica" panose="020B0604020202020204"/>
                <a:cs typeface="Helvetica" panose="020B0604020202020204"/>
              </a:rPr>
              <a:t>Temperate</a:t>
            </a:r>
            <a:endParaRPr lang="es-ES" sz="1400" dirty="0">
              <a:solidFill>
                <a:srgbClr val="746FB2"/>
              </a:solidFill>
              <a:latin typeface="Helvetica" panose="020B0604020202020204"/>
              <a:cs typeface="Helvetica" panose="020B0604020202020204"/>
            </a:endParaRPr>
          </a:p>
          <a:p>
            <a:pPr marL="0" indent="0" algn="ctr">
              <a:buClr>
                <a:srgbClr val="218317"/>
              </a:buClr>
              <a:buNone/>
            </a:pPr>
            <a:endParaRPr lang="es-ES" sz="1400" i="1" dirty="0">
              <a:solidFill>
                <a:srgbClr val="746FB2"/>
              </a:solidFill>
              <a:latin typeface="Helvetica" panose="020B0604020202020204"/>
              <a:cs typeface="Helvetica" panose="020B0604020202020204"/>
            </a:endParaRPr>
          </a:p>
        </p:txBody>
      </p:sp>
      <p:sp>
        <p:nvSpPr>
          <p:cNvPr id="28" name="Marcador de contenido 2">
            <a:extLst>
              <a:ext uri="{FF2B5EF4-FFF2-40B4-BE49-F238E27FC236}">
                <a16:creationId xmlns:a16="http://schemas.microsoft.com/office/drawing/2014/main" id="{C86891F8-49FE-7479-B385-0EE780B686C9}"/>
              </a:ext>
            </a:extLst>
          </p:cNvPr>
          <p:cNvSpPr txBox="1">
            <a:spLocks/>
          </p:cNvSpPr>
          <p:nvPr/>
        </p:nvSpPr>
        <p:spPr>
          <a:xfrm>
            <a:off x="4485667" y="6189688"/>
            <a:ext cx="1549903" cy="549094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ES" sz="1400" i="1" dirty="0" err="1">
                <a:solidFill>
                  <a:srgbClr val="1B9E77"/>
                </a:solidFill>
                <a:latin typeface="Helvetica" panose="020B0604020202020204"/>
                <a:cs typeface="Helvetica"/>
              </a:rPr>
              <a:t>Pinus</a:t>
            </a:r>
            <a:r>
              <a:rPr lang="es-ES" sz="1400" i="1" dirty="0">
                <a:solidFill>
                  <a:srgbClr val="1B9E77"/>
                </a:solidFill>
                <a:latin typeface="Helvetica" panose="020B0604020202020204"/>
                <a:cs typeface="Helvetica"/>
              </a:rPr>
              <a:t> </a:t>
            </a:r>
            <a:r>
              <a:rPr lang="es-ES" sz="1400" i="1" dirty="0" err="1">
                <a:solidFill>
                  <a:srgbClr val="1B9E77"/>
                </a:solidFill>
                <a:latin typeface="Helvetica" panose="020B0604020202020204"/>
                <a:cs typeface="Helvetica"/>
              </a:rPr>
              <a:t>sylvestris</a:t>
            </a:r>
            <a:endParaRPr lang="es-ES" sz="1400" i="1" dirty="0">
              <a:solidFill>
                <a:srgbClr val="1B9E77"/>
              </a:solidFill>
              <a:latin typeface="Helvetica" panose="020B0604020202020204"/>
              <a:cs typeface="Helvetica"/>
            </a:endParaRPr>
          </a:p>
          <a:p>
            <a:pPr marL="0" indent="0" algn="ctr">
              <a:buNone/>
            </a:pPr>
            <a:r>
              <a:rPr lang="es-ES" sz="1400" dirty="0" err="1">
                <a:solidFill>
                  <a:srgbClr val="1B9E77"/>
                </a:solidFill>
                <a:latin typeface="Helvetica" panose="020B0604020202020204"/>
                <a:cs typeface="Helvetica" panose="020B0604020202020204"/>
              </a:rPr>
              <a:t>Temperate</a:t>
            </a:r>
            <a:endParaRPr lang="es-ES" sz="1400" dirty="0">
              <a:solidFill>
                <a:srgbClr val="1B9E77"/>
              </a:solidFill>
              <a:latin typeface="Helvetica" panose="020B0604020202020204"/>
              <a:cs typeface="Helvetica" panose="020B0604020202020204"/>
            </a:endParaRPr>
          </a:p>
          <a:p>
            <a:pPr marL="0" indent="0" algn="ctr">
              <a:buClr>
                <a:srgbClr val="218317"/>
              </a:buClr>
              <a:buNone/>
            </a:pPr>
            <a:endParaRPr lang="es-ES" sz="1400" i="1" dirty="0">
              <a:solidFill>
                <a:srgbClr val="1B9E77"/>
              </a:solidFill>
              <a:latin typeface="Helvetica" panose="020B0604020202020204"/>
              <a:cs typeface="Helvetica" panose="020B0604020202020204"/>
            </a:endParaRPr>
          </a:p>
        </p:txBody>
      </p:sp>
      <p:sp>
        <p:nvSpPr>
          <p:cNvPr id="29" name="Marcador de contenido 2">
            <a:extLst>
              <a:ext uri="{FF2B5EF4-FFF2-40B4-BE49-F238E27FC236}">
                <a16:creationId xmlns:a16="http://schemas.microsoft.com/office/drawing/2014/main" id="{7079A055-B82E-0A8E-86DA-33FB320EE7E4}"/>
              </a:ext>
            </a:extLst>
          </p:cNvPr>
          <p:cNvSpPr txBox="1">
            <a:spLocks/>
          </p:cNvSpPr>
          <p:nvPr/>
        </p:nvSpPr>
        <p:spPr>
          <a:xfrm>
            <a:off x="5820360" y="6176289"/>
            <a:ext cx="1573487" cy="545542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ES" sz="1400" i="1" dirty="0" err="1">
                <a:solidFill>
                  <a:srgbClr val="DB5F02"/>
                </a:solidFill>
                <a:latin typeface="Helvetica" panose="020B0604020202020204"/>
                <a:cs typeface="Helvetica"/>
              </a:rPr>
              <a:t>Pinus</a:t>
            </a:r>
            <a:r>
              <a:rPr lang="es-ES" sz="1400" i="1" dirty="0">
                <a:solidFill>
                  <a:srgbClr val="DB5F02"/>
                </a:solidFill>
                <a:latin typeface="Helvetica" panose="020B0604020202020204"/>
                <a:cs typeface="Helvetica"/>
              </a:rPr>
              <a:t> pinea</a:t>
            </a:r>
          </a:p>
          <a:p>
            <a:pPr marL="0" indent="0" algn="ctr">
              <a:buClr>
                <a:srgbClr val="218317"/>
              </a:buClr>
              <a:buNone/>
            </a:pPr>
            <a:r>
              <a:rPr lang="es-ES" sz="1400" dirty="0" err="1">
                <a:solidFill>
                  <a:srgbClr val="DB5F02"/>
                </a:solidFill>
                <a:latin typeface="Helvetica" panose="020B0604020202020204"/>
                <a:cs typeface="Helvetica" panose="020B0604020202020204"/>
              </a:rPr>
              <a:t>Mediterranean</a:t>
            </a:r>
            <a:endParaRPr lang="es-ES" sz="1400" dirty="0">
              <a:solidFill>
                <a:srgbClr val="DB5F02"/>
              </a:solidFill>
              <a:latin typeface="Helvetica" panose="020B0604020202020204"/>
              <a:cs typeface="Helvetica" panose="020B0604020202020204"/>
            </a:endParaRPr>
          </a:p>
        </p:txBody>
      </p:sp>
      <p:sp>
        <p:nvSpPr>
          <p:cNvPr id="30" name="Marcador de contenido 2">
            <a:extLst>
              <a:ext uri="{FF2B5EF4-FFF2-40B4-BE49-F238E27FC236}">
                <a16:creationId xmlns:a16="http://schemas.microsoft.com/office/drawing/2014/main" id="{571A3638-3094-E842-1213-49608A81FC26}"/>
              </a:ext>
            </a:extLst>
          </p:cNvPr>
          <p:cNvSpPr txBox="1">
            <a:spLocks/>
          </p:cNvSpPr>
          <p:nvPr/>
        </p:nvSpPr>
        <p:spPr>
          <a:xfrm>
            <a:off x="694186" y="5806884"/>
            <a:ext cx="2198835" cy="100623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Clr>
                <a:srgbClr val="218317"/>
              </a:buClr>
              <a:buNone/>
            </a:pPr>
            <a:r>
              <a:rPr lang="es-ES" sz="2400" b="1" dirty="0">
                <a:latin typeface="Helvetica"/>
                <a:cs typeface="Helvetica"/>
              </a:rPr>
              <a:t>Figs. 2 &amp; 3.: </a:t>
            </a:r>
            <a:r>
              <a:rPr lang="es-ES" sz="2400" b="1" dirty="0" err="1">
                <a:latin typeface="Helvetica"/>
                <a:cs typeface="Helvetica"/>
              </a:rPr>
              <a:t>boxplots</a:t>
            </a:r>
            <a:endParaRPr lang="es-ES" sz="20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lvl="1" algn="ctr">
              <a:buClr>
                <a:srgbClr val="218317"/>
              </a:buClr>
              <a:buFont typeface="Calibri" panose="02070309020205020404" pitchFamily="49" charset="0"/>
              <a:buChar char="-"/>
            </a:pPr>
            <a:endParaRPr lang="es-ES" sz="20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algn="ctr"/>
            <a:endParaRPr lang="es-ES" sz="24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8088646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B41F2B-2CE6-3B6E-5A7A-0F513B4EE4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contenido 2">
            <a:extLst>
              <a:ext uri="{FF2B5EF4-FFF2-40B4-BE49-F238E27FC236}">
                <a16:creationId xmlns:a16="http://schemas.microsoft.com/office/drawing/2014/main" id="{88811F14-2E6D-453F-4848-4BDD5429DE7D}"/>
              </a:ext>
            </a:extLst>
          </p:cNvPr>
          <p:cNvSpPr txBox="1">
            <a:spLocks/>
          </p:cNvSpPr>
          <p:nvPr/>
        </p:nvSpPr>
        <p:spPr>
          <a:xfrm>
            <a:off x="633459" y="1028714"/>
            <a:ext cx="10925077" cy="114682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ES" sz="2400" b="1" dirty="0" err="1">
                <a:latin typeface="Helvetica"/>
                <a:cs typeface="Helvetica"/>
              </a:rPr>
              <a:t>Obj</a:t>
            </a:r>
            <a:r>
              <a:rPr lang="es-ES" sz="2400" b="1" dirty="0">
                <a:latin typeface="Helvetica"/>
                <a:cs typeface="Helvetica"/>
              </a:rPr>
              <a:t>. 2.- </a:t>
            </a:r>
            <a:r>
              <a:rPr lang="es-ES" sz="2400" dirty="0" err="1">
                <a:latin typeface="Helvetica"/>
                <a:cs typeface="Helvetica"/>
              </a:rPr>
              <a:t>To</a:t>
            </a:r>
            <a:r>
              <a:rPr lang="es-ES" sz="2400" dirty="0">
                <a:latin typeface="Helvetica"/>
                <a:cs typeface="Helvetica"/>
              </a:rPr>
              <a:t> </a:t>
            </a:r>
            <a:r>
              <a:rPr lang="es-ES" sz="2400" dirty="0" err="1">
                <a:latin typeface="Helvetica"/>
                <a:cs typeface="Helvetica"/>
              </a:rPr>
              <a:t>assess</a:t>
            </a:r>
            <a:r>
              <a:rPr lang="es-ES" sz="2400" dirty="0">
                <a:latin typeface="Helvetica"/>
                <a:cs typeface="Helvetica"/>
              </a:rPr>
              <a:t> </a:t>
            </a:r>
            <a:r>
              <a:rPr lang="es-ES" sz="2400" dirty="0" err="1">
                <a:latin typeface="Helvetica"/>
                <a:cs typeface="Helvetica"/>
              </a:rPr>
              <a:t>what</a:t>
            </a:r>
            <a:r>
              <a:rPr lang="es-ES" sz="2400" dirty="0">
                <a:latin typeface="Helvetica"/>
                <a:cs typeface="Helvetica"/>
              </a:rPr>
              <a:t> </a:t>
            </a:r>
            <a:r>
              <a:rPr lang="es-ES" sz="2400" dirty="0" err="1">
                <a:latin typeface="Helvetica"/>
                <a:cs typeface="Helvetica"/>
              </a:rPr>
              <a:t>predisposing</a:t>
            </a:r>
            <a:r>
              <a:rPr lang="es-ES" sz="2400" dirty="0">
                <a:latin typeface="Helvetica"/>
                <a:cs typeface="Helvetica"/>
              </a:rPr>
              <a:t> </a:t>
            </a:r>
            <a:r>
              <a:rPr lang="es-ES" sz="2400" dirty="0" err="1">
                <a:latin typeface="Helvetica"/>
                <a:cs typeface="Helvetica"/>
              </a:rPr>
              <a:t>factors</a:t>
            </a:r>
            <a:r>
              <a:rPr lang="es-ES" sz="2400" dirty="0">
                <a:latin typeface="Helvetica"/>
                <a:cs typeface="Helvetica"/>
              </a:rPr>
              <a:t> </a:t>
            </a:r>
            <a:r>
              <a:rPr lang="es-ES" sz="2400" dirty="0" err="1">
                <a:latin typeface="Helvetica"/>
                <a:cs typeface="Helvetica"/>
              </a:rPr>
              <a:t>have</a:t>
            </a:r>
            <a:r>
              <a:rPr lang="es-ES" sz="2400" dirty="0">
                <a:latin typeface="Helvetica"/>
                <a:cs typeface="Helvetica"/>
              </a:rPr>
              <a:t> a </a:t>
            </a:r>
            <a:r>
              <a:rPr lang="es-ES" sz="2400" dirty="0" err="1">
                <a:latin typeface="Helvetica"/>
                <a:cs typeface="Helvetica"/>
              </a:rPr>
              <a:t>larger</a:t>
            </a:r>
            <a:r>
              <a:rPr lang="es-ES" sz="2400" dirty="0">
                <a:latin typeface="Helvetica"/>
                <a:cs typeface="Helvetica"/>
              </a:rPr>
              <a:t> </a:t>
            </a:r>
            <a:r>
              <a:rPr lang="es-ES" sz="2400" dirty="0" err="1">
                <a:latin typeface="Helvetica"/>
                <a:cs typeface="Helvetica"/>
              </a:rPr>
              <a:t>effect</a:t>
            </a:r>
            <a:r>
              <a:rPr lang="es-ES" sz="2400" dirty="0">
                <a:latin typeface="Helvetica"/>
                <a:cs typeface="Helvetica"/>
              </a:rPr>
              <a:t>, and </a:t>
            </a:r>
            <a:r>
              <a:rPr lang="es-ES" sz="2400" dirty="0" err="1">
                <a:latin typeface="Helvetica"/>
                <a:cs typeface="Helvetica"/>
              </a:rPr>
              <a:t>what</a:t>
            </a:r>
            <a:r>
              <a:rPr lang="es-ES" sz="2400" dirty="0">
                <a:latin typeface="Helvetica"/>
                <a:cs typeface="Helvetica"/>
              </a:rPr>
              <a:t>  </a:t>
            </a:r>
            <a:r>
              <a:rPr lang="es-ES" sz="2400" dirty="0" err="1">
                <a:latin typeface="Helvetica"/>
                <a:cs typeface="Helvetica"/>
              </a:rPr>
              <a:t>morphological</a:t>
            </a:r>
            <a:r>
              <a:rPr lang="es-ES" sz="2400" dirty="0">
                <a:latin typeface="Helvetica"/>
                <a:cs typeface="Helvetica"/>
              </a:rPr>
              <a:t> and </a:t>
            </a:r>
            <a:r>
              <a:rPr lang="es-ES" sz="2400" dirty="0" err="1">
                <a:latin typeface="Helvetica"/>
                <a:cs typeface="Helvetica"/>
              </a:rPr>
              <a:t>physiological</a:t>
            </a:r>
            <a:r>
              <a:rPr lang="es-ES" sz="2400" b="1" dirty="0">
                <a:latin typeface="Helvetica"/>
                <a:cs typeface="Helvetica"/>
              </a:rPr>
              <a:t> responses </a:t>
            </a:r>
            <a:r>
              <a:rPr lang="es-ES" sz="2400" b="1" dirty="0" err="1">
                <a:latin typeface="Helvetica"/>
                <a:cs typeface="Helvetica"/>
              </a:rPr>
              <a:t>to</a:t>
            </a:r>
            <a:r>
              <a:rPr lang="es-ES" sz="2400" b="1" dirty="0">
                <a:latin typeface="Helvetica"/>
                <a:cs typeface="Helvetica"/>
              </a:rPr>
              <a:t> </a:t>
            </a:r>
            <a:r>
              <a:rPr lang="es-ES" sz="2400" b="1" dirty="0" err="1">
                <a:latin typeface="Helvetica"/>
                <a:cs typeface="Helvetica"/>
              </a:rPr>
              <a:t>drought</a:t>
            </a:r>
            <a:r>
              <a:rPr lang="es-ES" sz="2400" b="1" dirty="0">
                <a:latin typeface="Helvetica"/>
                <a:cs typeface="Helvetica"/>
              </a:rPr>
              <a:t> </a:t>
            </a:r>
            <a:r>
              <a:rPr lang="es-ES" sz="2400" dirty="0">
                <a:latin typeface="Helvetica"/>
                <a:cs typeface="Helvetica"/>
              </a:rPr>
              <a:t>are more intense</a:t>
            </a:r>
            <a:endParaRPr lang="es-ES" sz="2400" b="1" dirty="0">
              <a:latin typeface="Helvetica"/>
              <a:cs typeface="Helvetica"/>
            </a:endParaRPr>
          </a:p>
        </p:txBody>
      </p:sp>
      <p:sp>
        <p:nvSpPr>
          <p:cNvPr id="9" name="Título 1">
            <a:extLst>
              <a:ext uri="{FF2B5EF4-FFF2-40B4-BE49-F238E27FC236}">
                <a16:creationId xmlns:a16="http://schemas.microsoft.com/office/drawing/2014/main" id="{8FA807DE-486F-E2FD-C605-76D98365CA69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9690902" cy="804155"/>
          </a:xfrm>
          <a:prstGeom prst="rect">
            <a:avLst/>
          </a:prstGeom>
          <a:solidFill>
            <a:srgbClr val="218317"/>
          </a:solidFill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	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Objectives</a:t>
            </a:r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&amp; 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Hypotheses</a:t>
            </a:r>
            <a:endParaRPr lang="es-ES" sz="3200" b="1" dirty="0">
              <a:solidFill>
                <a:schemeClr val="bg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0" name="Título 1">
            <a:extLst>
              <a:ext uri="{FF2B5EF4-FFF2-40B4-BE49-F238E27FC236}">
                <a16:creationId xmlns:a16="http://schemas.microsoft.com/office/drawing/2014/main" id="{527D2CA0-A97D-4306-2E61-01913089995F}"/>
              </a:ext>
            </a:extLst>
          </p:cNvPr>
          <p:cNvSpPr txBox="1">
            <a:spLocks/>
          </p:cNvSpPr>
          <p:nvPr/>
        </p:nvSpPr>
        <p:spPr>
          <a:xfrm>
            <a:off x="9690902" y="-1"/>
            <a:ext cx="2501098" cy="804157"/>
          </a:xfrm>
          <a:prstGeom prst="rect">
            <a:avLst/>
          </a:prstGeom>
          <a:solidFill>
            <a:srgbClr val="218317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ES" sz="2800" b="1" dirty="0">
                <a:solidFill>
                  <a:srgbClr val="218317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.</a:t>
            </a:r>
          </a:p>
        </p:txBody>
      </p:sp>
      <p:grpSp>
        <p:nvGrpSpPr>
          <p:cNvPr id="11" name="Grupo 10">
            <a:extLst>
              <a:ext uri="{FF2B5EF4-FFF2-40B4-BE49-F238E27FC236}">
                <a16:creationId xmlns:a16="http://schemas.microsoft.com/office/drawing/2014/main" id="{9F643657-7975-B3E2-E900-193C3AF9E79E}"/>
              </a:ext>
            </a:extLst>
          </p:cNvPr>
          <p:cNvGrpSpPr/>
          <p:nvPr/>
        </p:nvGrpSpPr>
        <p:grpSpPr>
          <a:xfrm>
            <a:off x="4163853" y="3572538"/>
            <a:ext cx="3301889" cy="1220763"/>
            <a:chOff x="6178013" y="5057218"/>
            <a:chExt cx="3301889" cy="1220763"/>
          </a:xfrm>
        </p:grpSpPr>
        <p:pic>
          <p:nvPicPr>
            <p:cNvPr id="12" name="Imagen 11">
              <a:extLst>
                <a:ext uri="{FF2B5EF4-FFF2-40B4-BE49-F238E27FC236}">
                  <a16:creationId xmlns:a16="http://schemas.microsoft.com/office/drawing/2014/main" id="{40ECA43A-734B-975E-EE1B-96A44D2C6DC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t="53835"/>
            <a:stretch/>
          </p:blipFill>
          <p:spPr>
            <a:xfrm>
              <a:off x="6364847" y="5057218"/>
              <a:ext cx="3115055" cy="1220763"/>
            </a:xfrm>
            <a:prstGeom prst="rect">
              <a:avLst/>
            </a:prstGeom>
          </p:spPr>
        </p:pic>
        <p:sp>
          <p:nvSpPr>
            <p:cNvPr id="13" name="CuadroTexto 12">
              <a:extLst>
                <a:ext uri="{FF2B5EF4-FFF2-40B4-BE49-F238E27FC236}">
                  <a16:creationId xmlns:a16="http://schemas.microsoft.com/office/drawing/2014/main" id="{517D0BB6-AEF1-6E96-5083-B3F19A7F349E}"/>
                </a:ext>
              </a:extLst>
            </p:cNvPr>
            <p:cNvSpPr txBox="1"/>
            <p:nvPr/>
          </p:nvSpPr>
          <p:spPr>
            <a:xfrm>
              <a:off x="6178013" y="5989310"/>
              <a:ext cx="1217297" cy="26161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1100" dirty="0">
                  <a:solidFill>
                    <a:srgbClr val="2F5597"/>
                  </a:solidFill>
                </a:rPr>
                <a:t>Non-</a:t>
              </a:r>
              <a:r>
                <a:rPr lang="es-ES" sz="1100" dirty="0" err="1">
                  <a:solidFill>
                    <a:srgbClr val="2F5597"/>
                  </a:solidFill>
                </a:rPr>
                <a:t>declining</a:t>
              </a:r>
              <a:r>
                <a:rPr lang="es-ES" sz="1100" dirty="0">
                  <a:solidFill>
                    <a:srgbClr val="2F5597"/>
                  </a:solidFill>
                </a:rPr>
                <a:t> site</a:t>
              </a:r>
            </a:p>
          </p:txBody>
        </p:sp>
        <p:sp>
          <p:nvSpPr>
            <p:cNvPr id="14" name="CuadroTexto 13">
              <a:extLst>
                <a:ext uri="{FF2B5EF4-FFF2-40B4-BE49-F238E27FC236}">
                  <a16:creationId xmlns:a16="http://schemas.microsoft.com/office/drawing/2014/main" id="{5E2C8D7F-B8A3-9694-BC48-6961661D06D4}"/>
                </a:ext>
              </a:extLst>
            </p:cNvPr>
            <p:cNvSpPr txBox="1"/>
            <p:nvPr/>
          </p:nvSpPr>
          <p:spPr>
            <a:xfrm>
              <a:off x="7313725" y="5989310"/>
              <a:ext cx="1217297" cy="26161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1100" dirty="0">
                  <a:solidFill>
                    <a:srgbClr val="7030A0"/>
                  </a:solidFill>
                  <a:cs typeface="Helvetica" panose="020B0604020202020204"/>
                </a:rPr>
                <a:t>Non-</a:t>
              </a:r>
              <a:r>
                <a:rPr lang="es-ES" sz="1100" dirty="0" err="1">
                  <a:solidFill>
                    <a:srgbClr val="7030A0"/>
                  </a:solidFill>
                  <a:cs typeface="Helvetica" panose="020B0604020202020204"/>
                </a:rPr>
                <a:t>declining</a:t>
              </a:r>
              <a:r>
                <a:rPr lang="es-ES" sz="1100" dirty="0">
                  <a:solidFill>
                    <a:srgbClr val="7030A0"/>
                  </a:solidFill>
                  <a:cs typeface="Helvetica" panose="020B0604020202020204"/>
                </a:rPr>
                <a:t> site</a:t>
              </a:r>
            </a:p>
          </p:txBody>
        </p:sp>
        <p:sp>
          <p:nvSpPr>
            <p:cNvPr id="15" name="CuadroTexto 14">
              <a:extLst>
                <a:ext uri="{FF2B5EF4-FFF2-40B4-BE49-F238E27FC236}">
                  <a16:creationId xmlns:a16="http://schemas.microsoft.com/office/drawing/2014/main" id="{B308FC39-0632-B511-FA0A-6C29BD9848B0}"/>
                </a:ext>
              </a:extLst>
            </p:cNvPr>
            <p:cNvSpPr txBox="1"/>
            <p:nvPr/>
          </p:nvSpPr>
          <p:spPr>
            <a:xfrm>
              <a:off x="8482962" y="6002841"/>
              <a:ext cx="946093" cy="261610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s-ES" sz="1100" dirty="0" err="1">
                  <a:solidFill>
                    <a:srgbClr val="C00000"/>
                  </a:solidFill>
                </a:rPr>
                <a:t>Declining</a:t>
              </a:r>
              <a:r>
                <a:rPr lang="es-ES" sz="1100" dirty="0">
                  <a:solidFill>
                    <a:srgbClr val="C00000"/>
                  </a:solidFill>
                </a:rPr>
                <a:t> site</a:t>
              </a:r>
            </a:p>
          </p:txBody>
        </p:sp>
      </p:grpSp>
      <p:pic>
        <p:nvPicPr>
          <p:cNvPr id="16" name="Gráfico 12" descr="Abeto">
            <a:extLst>
              <a:ext uri="{FF2B5EF4-FFF2-40B4-BE49-F238E27FC236}">
                <a16:creationId xmlns:a16="http://schemas.microsoft.com/office/drawing/2014/main" id="{2FFDE6F1-63F2-83C6-1761-161DBB27A18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862214" y="2336610"/>
            <a:ext cx="709463" cy="709463"/>
          </a:xfrm>
          <a:prstGeom prst="rect">
            <a:avLst/>
          </a:prstGeom>
        </p:spPr>
      </p:pic>
      <p:pic>
        <p:nvPicPr>
          <p:cNvPr id="17" name="Gráfico 13" descr="Abeto">
            <a:extLst>
              <a:ext uri="{FF2B5EF4-FFF2-40B4-BE49-F238E27FC236}">
                <a16:creationId xmlns:a16="http://schemas.microsoft.com/office/drawing/2014/main" id="{BA8A0383-5AB2-D2C7-B020-906BFD8D025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633353" y="2336609"/>
            <a:ext cx="709463" cy="709463"/>
          </a:xfrm>
          <a:prstGeom prst="rect">
            <a:avLst/>
          </a:prstGeom>
        </p:spPr>
      </p:pic>
      <p:pic>
        <p:nvPicPr>
          <p:cNvPr id="18" name="Gráfico 14" descr="Abeto">
            <a:extLst>
              <a:ext uri="{FF2B5EF4-FFF2-40B4-BE49-F238E27FC236}">
                <a16:creationId xmlns:a16="http://schemas.microsoft.com/office/drawing/2014/main" id="{81F6BC4D-7506-0AF1-E3D3-F0B2B2D2E8A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892719" y="2388759"/>
            <a:ext cx="709463" cy="709463"/>
          </a:xfrm>
          <a:prstGeom prst="rect">
            <a:avLst/>
          </a:prstGeom>
        </p:spPr>
      </p:pic>
      <p:sp>
        <p:nvSpPr>
          <p:cNvPr id="19" name="Marcador de contenido 2">
            <a:extLst>
              <a:ext uri="{FF2B5EF4-FFF2-40B4-BE49-F238E27FC236}">
                <a16:creationId xmlns:a16="http://schemas.microsoft.com/office/drawing/2014/main" id="{C63DCA25-FA30-7F19-D46E-B1F4C0C4494D}"/>
              </a:ext>
            </a:extLst>
          </p:cNvPr>
          <p:cNvSpPr txBox="1">
            <a:spLocks/>
          </p:cNvSpPr>
          <p:nvPr/>
        </p:nvSpPr>
        <p:spPr>
          <a:xfrm>
            <a:off x="3511002" y="2557344"/>
            <a:ext cx="1305702" cy="550290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ES" sz="1800" i="1" dirty="0" err="1">
                <a:solidFill>
                  <a:srgbClr val="746FB2"/>
                </a:solidFill>
                <a:latin typeface="Helvetica" panose="020B0604020202020204"/>
                <a:cs typeface="Helvetica"/>
              </a:rPr>
              <a:t>Abies</a:t>
            </a:r>
            <a:r>
              <a:rPr lang="es-ES" sz="1800" i="1" dirty="0">
                <a:solidFill>
                  <a:srgbClr val="746FB2"/>
                </a:solidFill>
                <a:latin typeface="Helvetica" panose="020B0604020202020204"/>
                <a:cs typeface="Helvetica"/>
              </a:rPr>
              <a:t> alba</a:t>
            </a:r>
          </a:p>
          <a:p>
            <a:pPr marL="0" indent="0">
              <a:buNone/>
            </a:pPr>
            <a:r>
              <a:rPr lang="es-ES" sz="1800" dirty="0" err="1">
                <a:solidFill>
                  <a:srgbClr val="746FB2"/>
                </a:solidFill>
                <a:latin typeface="Helvetica" panose="020B0604020202020204"/>
                <a:cs typeface="Helvetica" panose="020B0604020202020204"/>
              </a:rPr>
              <a:t>Temperate</a:t>
            </a:r>
            <a:endParaRPr lang="es-ES" sz="1800" dirty="0">
              <a:solidFill>
                <a:srgbClr val="746FB2"/>
              </a:solidFill>
              <a:latin typeface="Helvetica" panose="020B0604020202020204"/>
              <a:cs typeface="Helvetica" panose="020B0604020202020204"/>
            </a:endParaRPr>
          </a:p>
          <a:p>
            <a:pPr marL="0" indent="0">
              <a:buClr>
                <a:srgbClr val="218317"/>
              </a:buClr>
              <a:buNone/>
            </a:pPr>
            <a:endParaRPr lang="es-ES" sz="1800" i="1" dirty="0">
              <a:solidFill>
                <a:srgbClr val="746FB2"/>
              </a:solidFill>
              <a:latin typeface="Helvetica" panose="020B0604020202020204"/>
              <a:cs typeface="Helvetica" panose="020B0604020202020204"/>
            </a:endParaRPr>
          </a:p>
        </p:txBody>
      </p:sp>
      <p:sp>
        <p:nvSpPr>
          <p:cNvPr id="20" name="Marcador de contenido 2">
            <a:extLst>
              <a:ext uri="{FF2B5EF4-FFF2-40B4-BE49-F238E27FC236}">
                <a16:creationId xmlns:a16="http://schemas.microsoft.com/office/drawing/2014/main" id="{A3DB37F8-842F-E63F-3EBF-61F708D7D9EE}"/>
              </a:ext>
            </a:extLst>
          </p:cNvPr>
          <p:cNvSpPr txBox="1">
            <a:spLocks/>
          </p:cNvSpPr>
          <p:nvPr/>
        </p:nvSpPr>
        <p:spPr>
          <a:xfrm>
            <a:off x="5342816" y="2557344"/>
            <a:ext cx="1549903" cy="549094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ES" sz="1800" i="1" dirty="0" err="1">
                <a:solidFill>
                  <a:srgbClr val="1B9E77"/>
                </a:solidFill>
                <a:latin typeface="Helvetica" panose="020B0604020202020204"/>
                <a:cs typeface="Helvetica"/>
              </a:rPr>
              <a:t>Pinus</a:t>
            </a:r>
            <a:r>
              <a:rPr lang="es-ES" sz="1800" i="1" dirty="0">
                <a:solidFill>
                  <a:srgbClr val="1B9E77"/>
                </a:solidFill>
                <a:latin typeface="Helvetica" panose="020B0604020202020204"/>
                <a:cs typeface="Helvetica"/>
              </a:rPr>
              <a:t> </a:t>
            </a:r>
            <a:r>
              <a:rPr lang="es-ES" sz="1800" i="1" dirty="0" err="1">
                <a:solidFill>
                  <a:srgbClr val="1B9E77"/>
                </a:solidFill>
                <a:latin typeface="Helvetica" panose="020B0604020202020204"/>
                <a:cs typeface="Helvetica"/>
              </a:rPr>
              <a:t>sylvestris</a:t>
            </a:r>
            <a:endParaRPr lang="es-ES" sz="1800" i="1" dirty="0">
              <a:solidFill>
                <a:srgbClr val="1B9E77"/>
              </a:solidFill>
              <a:latin typeface="Helvetica" panose="020B0604020202020204"/>
              <a:cs typeface="Helvetica"/>
            </a:endParaRPr>
          </a:p>
          <a:p>
            <a:pPr marL="0" indent="0">
              <a:buNone/>
            </a:pPr>
            <a:r>
              <a:rPr lang="es-ES" sz="1800" dirty="0" err="1">
                <a:solidFill>
                  <a:srgbClr val="1B9E77"/>
                </a:solidFill>
                <a:latin typeface="Helvetica" panose="020B0604020202020204"/>
                <a:cs typeface="Helvetica" panose="020B0604020202020204"/>
              </a:rPr>
              <a:t>Temperate</a:t>
            </a:r>
            <a:endParaRPr lang="es-ES" sz="1800" dirty="0">
              <a:solidFill>
                <a:srgbClr val="1B9E77"/>
              </a:solidFill>
              <a:latin typeface="Helvetica" panose="020B0604020202020204"/>
              <a:cs typeface="Helvetica" panose="020B0604020202020204"/>
            </a:endParaRPr>
          </a:p>
          <a:p>
            <a:pPr marL="0" indent="0">
              <a:buClr>
                <a:srgbClr val="218317"/>
              </a:buClr>
              <a:buNone/>
            </a:pPr>
            <a:endParaRPr lang="es-ES" sz="1800" i="1" dirty="0">
              <a:solidFill>
                <a:srgbClr val="1B9E77"/>
              </a:solidFill>
              <a:latin typeface="Helvetica" panose="020B0604020202020204"/>
              <a:cs typeface="Helvetica" panose="020B0604020202020204"/>
            </a:endParaRPr>
          </a:p>
        </p:txBody>
      </p:sp>
      <p:sp>
        <p:nvSpPr>
          <p:cNvPr id="21" name="Marcador de contenido 2">
            <a:extLst>
              <a:ext uri="{FF2B5EF4-FFF2-40B4-BE49-F238E27FC236}">
                <a16:creationId xmlns:a16="http://schemas.microsoft.com/office/drawing/2014/main" id="{1FA797B7-5E21-1723-D637-B62FFCC0ACC0}"/>
              </a:ext>
            </a:extLst>
          </p:cNvPr>
          <p:cNvSpPr txBox="1">
            <a:spLocks/>
          </p:cNvSpPr>
          <p:nvPr/>
        </p:nvSpPr>
        <p:spPr>
          <a:xfrm>
            <a:off x="7602182" y="2552680"/>
            <a:ext cx="1573487" cy="545542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ES" sz="1800" i="1" dirty="0" err="1">
                <a:solidFill>
                  <a:srgbClr val="DB5F02"/>
                </a:solidFill>
                <a:latin typeface="Helvetica" panose="020B0604020202020204"/>
                <a:cs typeface="Helvetica"/>
              </a:rPr>
              <a:t>Pinus</a:t>
            </a:r>
            <a:r>
              <a:rPr lang="es-ES" sz="1800" i="1" dirty="0">
                <a:solidFill>
                  <a:srgbClr val="DB5F02"/>
                </a:solidFill>
                <a:latin typeface="Helvetica" panose="020B0604020202020204"/>
                <a:cs typeface="Helvetica"/>
              </a:rPr>
              <a:t> pinea</a:t>
            </a:r>
          </a:p>
          <a:p>
            <a:pPr marL="0" indent="0">
              <a:buClr>
                <a:srgbClr val="218317"/>
              </a:buClr>
              <a:buNone/>
            </a:pPr>
            <a:r>
              <a:rPr lang="es-ES" sz="1800" dirty="0" err="1">
                <a:solidFill>
                  <a:srgbClr val="DB5F02"/>
                </a:solidFill>
                <a:latin typeface="Helvetica" panose="020B0604020202020204"/>
                <a:cs typeface="Helvetica" panose="020B0604020202020204"/>
              </a:rPr>
              <a:t>Mediterranean</a:t>
            </a:r>
            <a:endParaRPr lang="es-ES" sz="1800" dirty="0">
              <a:solidFill>
                <a:srgbClr val="DB5F02"/>
              </a:solidFill>
              <a:latin typeface="Helvetica" panose="020B0604020202020204"/>
              <a:cs typeface="Helvetica" panose="020B0604020202020204"/>
            </a:endParaRPr>
          </a:p>
        </p:txBody>
      </p:sp>
      <p:sp>
        <p:nvSpPr>
          <p:cNvPr id="29" name="Marcador de contenido 2">
            <a:extLst>
              <a:ext uri="{FF2B5EF4-FFF2-40B4-BE49-F238E27FC236}">
                <a16:creationId xmlns:a16="http://schemas.microsoft.com/office/drawing/2014/main" id="{EC2A8C6D-6E1F-17F8-99F0-2176763D971C}"/>
              </a:ext>
            </a:extLst>
          </p:cNvPr>
          <p:cNvSpPr txBox="1">
            <a:spLocks/>
          </p:cNvSpPr>
          <p:nvPr/>
        </p:nvSpPr>
        <p:spPr>
          <a:xfrm>
            <a:off x="3488956" y="5413345"/>
            <a:ext cx="4838513" cy="100623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Clr>
                <a:srgbClr val="218317"/>
              </a:buClr>
              <a:buNone/>
            </a:pPr>
            <a:r>
              <a:rPr lang="es-ES" sz="2400" b="1" dirty="0">
                <a:latin typeface="Helvetica"/>
                <a:cs typeface="Helvetica"/>
              </a:rPr>
              <a:t>Fig. 4.: Response Ratios</a:t>
            </a:r>
            <a:endParaRPr lang="es-ES" sz="20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lvl="1" algn="ctr">
              <a:buClr>
                <a:srgbClr val="218317"/>
              </a:buClr>
              <a:buFont typeface="Calibri" panose="02070309020205020404" pitchFamily="49" charset="0"/>
              <a:buChar char="-"/>
            </a:pPr>
            <a:endParaRPr lang="es-ES" sz="20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algn="ctr"/>
            <a:endParaRPr lang="es-ES" sz="24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5407584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B7D948-86BD-7218-880B-80096F80DD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ítulo 1">
            <a:extLst>
              <a:ext uri="{FF2B5EF4-FFF2-40B4-BE49-F238E27FC236}">
                <a16:creationId xmlns:a16="http://schemas.microsoft.com/office/drawing/2014/main" id="{55ABC543-C68D-55DD-197B-359CA9BABF5F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9690902" cy="804155"/>
          </a:xfrm>
          <a:prstGeom prst="rect">
            <a:avLst/>
          </a:prstGeom>
          <a:solidFill>
            <a:srgbClr val="218317"/>
          </a:solidFill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	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Objectives</a:t>
            </a:r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&amp; 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Hypotheses</a:t>
            </a:r>
            <a:endParaRPr lang="es-ES" sz="3200" b="1" dirty="0">
              <a:solidFill>
                <a:schemeClr val="bg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0" name="Título 1">
            <a:extLst>
              <a:ext uri="{FF2B5EF4-FFF2-40B4-BE49-F238E27FC236}">
                <a16:creationId xmlns:a16="http://schemas.microsoft.com/office/drawing/2014/main" id="{E61FBC3C-017C-E532-87EF-270CA7195D0F}"/>
              </a:ext>
            </a:extLst>
          </p:cNvPr>
          <p:cNvSpPr txBox="1">
            <a:spLocks/>
          </p:cNvSpPr>
          <p:nvPr/>
        </p:nvSpPr>
        <p:spPr>
          <a:xfrm>
            <a:off x="9690902" y="-1"/>
            <a:ext cx="2501098" cy="804157"/>
          </a:xfrm>
          <a:prstGeom prst="rect">
            <a:avLst/>
          </a:prstGeom>
          <a:solidFill>
            <a:srgbClr val="218317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ES" sz="2800" b="1" dirty="0">
                <a:solidFill>
                  <a:srgbClr val="218317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.</a:t>
            </a:r>
          </a:p>
        </p:txBody>
      </p:sp>
      <p:sp>
        <p:nvSpPr>
          <p:cNvPr id="5" name="Marcador de contenido 2">
            <a:extLst>
              <a:ext uri="{FF2B5EF4-FFF2-40B4-BE49-F238E27FC236}">
                <a16:creationId xmlns:a16="http://schemas.microsoft.com/office/drawing/2014/main" id="{B4C51AA4-52F0-151B-7375-C783F89B7860}"/>
              </a:ext>
            </a:extLst>
          </p:cNvPr>
          <p:cNvSpPr txBox="1">
            <a:spLocks/>
          </p:cNvSpPr>
          <p:nvPr/>
        </p:nvSpPr>
        <p:spPr>
          <a:xfrm>
            <a:off x="633461" y="1025596"/>
            <a:ext cx="10925077" cy="114682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ES" sz="2400" b="1" dirty="0" err="1">
                <a:latin typeface="Helvetica"/>
                <a:cs typeface="Helvetica"/>
              </a:rPr>
              <a:t>Obj</a:t>
            </a:r>
            <a:r>
              <a:rPr lang="es-ES" sz="2400" b="1" dirty="0">
                <a:latin typeface="Helvetica"/>
                <a:cs typeface="Helvetica"/>
              </a:rPr>
              <a:t>. 3.- </a:t>
            </a:r>
            <a:r>
              <a:rPr lang="es-ES" sz="2400" dirty="0" err="1">
                <a:latin typeface="Helvetica"/>
                <a:cs typeface="Helvetica"/>
              </a:rPr>
              <a:t>To</a:t>
            </a:r>
            <a:r>
              <a:rPr lang="es-ES" sz="2400" dirty="0">
                <a:latin typeface="Helvetica"/>
                <a:cs typeface="Helvetica"/>
              </a:rPr>
              <a:t> </a:t>
            </a:r>
            <a:r>
              <a:rPr lang="es-ES" sz="2400" dirty="0" err="1">
                <a:latin typeface="Helvetica"/>
                <a:cs typeface="Helvetica"/>
              </a:rPr>
              <a:t>assess</a:t>
            </a:r>
            <a:r>
              <a:rPr lang="es-ES" sz="2400" dirty="0">
                <a:latin typeface="Helvetica"/>
                <a:cs typeface="Helvetica"/>
              </a:rPr>
              <a:t> </a:t>
            </a:r>
            <a:r>
              <a:rPr lang="es-ES" sz="2400" dirty="0" err="1">
                <a:latin typeface="Helvetica"/>
                <a:cs typeface="Helvetica"/>
              </a:rPr>
              <a:t>how</a:t>
            </a:r>
            <a:r>
              <a:rPr lang="es-ES" sz="2400" dirty="0">
                <a:latin typeface="Helvetica"/>
                <a:cs typeface="Helvetica"/>
              </a:rPr>
              <a:t> </a:t>
            </a:r>
            <a:r>
              <a:rPr lang="es-ES" sz="2400" dirty="0" err="1">
                <a:latin typeface="Helvetica"/>
                <a:cs typeface="Helvetica"/>
              </a:rPr>
              <a:t>underlying</a:t>
            </a:r>
            <a:r>
              <a:rPr lang="es-ES" sz="2400" dirty="0">
                <a:latin typeface="Helvetica"/>
                <a:cs typeface="Helvetica"/>
              </a:rPr>
              <a:t> </a:t>
            </a:r>
            <a:r>
              <a:rPr lang="es-ES" sz="2400" dirty="0" err="1">
                <a:latin typeface="Helvetica"/>
                <a:cs typeface="Helvetica"/>
              </a:rPr>
              <a:t>mechanisms</a:t>
            </a:r>
            <a:r>
              <a:rPr lang="es-ES" sz="2400" dirty="0">
                <a:latin typeface="Helvetica"/>
                <a:cs typeface="Helvetica"/>
              </a:rPr>
              <a:t> </a:t>
            </a:r>
            <a:r>
              <a:rPr lang="es-ES" sz="2400" dirty="0" err="1">
                <a:latin typeface="Helvetica"/>
                <a:cs typeface="Helvetica"/>
              </a:rPr>
              <a:t>behind</a:t>
            </a:r>
            <a:r>
              <a:rPr lang="es-ES" sz="2400" dirty="0">
                <a:latin typeface="Helvetica"/>
                <a:cs typeface="Helvetica"/>
              </a:rPr>
              <a:t> </a:t>
            </a:r>
            <a:r>
              <a:rPr lang="es-ES" sz="2400" dirty="0" err="1">
                <a:solidFill>
                  <a:srgbClr val="FF0000"/>
                </a:solidFill>
                <a:latin typeface="Helvetica"/>
                <a:cs typeface="Helvetica"/>
              </a:rPr>
              <a:t>tree</a:t>
            </a:r>
            <a:r>
              <a:rPr lang="es-ES" sz="2400" dirty="0">
                <a:solidFill>
                  <a:srgbClr val="FF0000"/>
                </a:solidFill>
                <a:latin typeface="Helvetica"/>
                <a:cs typeface="Helvetica"/>
              </a:rPr>
              <a:t> </a:t>
            </a:r>
            <a:r>
              <a:rPr lang="es-ES" sz="2400" dirty="0" err="1">
                <a:solidFill>
                  <a:srgbClr val="FF0000"/>
                </a:solidFill>
                <a:latin typeface="Helvetica"/>
                <a:cs typeface="Helvetica"/>
              </a:rPr>
              <a:t>mortality</a:t>
            </a:r>
            <a:r>
              <a:rPr lang="es-ES" sz="2400" dirty="0">
                <a:solidFill>
                  <a:srgbClr val="FF0000"/>
                </a:solidFill>
                <a:latin typeface="Helvetica"/>
                <a:cs typeface="Helvetica"/>
              </a:rPr>
              <a:t> </a:t>
            </a:r>
            <a:r>
              <a:rPr lang="es-ES" sz="2400" dirty="0" err="1">
                <a:latin typeface="Helvetica"/>
                <a:cs typeface="Helvetica"/>
              </a:rPr>
              <a:t>vary</a:t>
            </a:r>
            <a:r>
              <a:rPr lang="es-ES" sz="2400" dirty="0">
                <a:latin typeface="Helvetica"/>
                <a:cs typeface="Helvetica"/>
              </a:rPr>
              <a:t> </a:t>
            </a:r>
            <a:r>
              <a:rPr lang="es-ES" sz="2400" dirty="0" err="1">
                <a:latin typeface="Helvetica"/>
                <a:cs typeface="Helvetica"/>
              </a:rPr>
              <a:t>along</a:t>
            </a:r>
            <a:r>
              <a:rPr lang="es-ES" sz="2400" dirty="0">
                <a:latin typeface="Helvetica"/>
                <a:cs typeface="Helvetica"/>
              </a:rPr>
              <a:t> a </a:t>
            </a:r>
            <a:r>
              <a:rPr lang="es-ES" sz="2400" dirty="0" err="1">
                <a:latin typeface="Helvetica"/>
                <a:cs typeface="Helvetica"/>
              </a:rPr>
              <a:t>moisture</a:t>
            </a:r>
            <a:r>
              <a:rPr lang="es-ES" sz="2400" dirty="0">
                <a:latin typeface="Helvetica"/>
                <a:cs typeface="Helvetica"/>
              </a:rPr>
              <a:t> </a:t>
            </a:r>
            <a:r>
              <a:rPr lang="es-ES" sz="2400" dirty="0" err="1">
                <a:latin typeface="Helvetica"/>
                <a:cs typeface="Helvetica"/>
              </a:rPr>
              <a:t>gradient</a:t>
            </a:r>
            <a:r>
              <a:rPr lang="es-ES" sz="2400" dirty="0">
                <a:latin typeface="Helvetica"/>
                <a:cs typeface="Helvetica"/>
              </a:rPr>
              <a:t> and </a:t>
            </a:r>
            <a:r>
              <a:rPr lang="es-ES" sz="2400" dirty="0" err="1">
                <a:latin typeface="Helvetica"/>
                <a:cs typeface="Helvetica"/>
              </a:rPr>
              <a:t>between</a:t>
            </a:r>
            <a:r>
              <a:rPr lang="es-ES" sz="2400" dirty="0">
                <a:latin typeface="Helvetica"/>
                <a:cs typeface="Helvetica"/>
              </a:rPr>
              <a:t> </a:t>
            </a:r>
            <a:r>
              <a:rPr lang="es-ES" sz="2400" dirty="0" err="1">
                <a:latin typeface="Helvetica"/>
                <a:cs typeface="Helvetica"/>
              </a:rPr>
              <a:t>species</a:t>
            </a:r>
            <a:endParaRPr lang="es-ES" sz="2400" b="1" dirty="0">
              <a:latin typeface="Helvetica"/>
              <a:cs typeface="Helvetica"/>
            </a:endParaRPr>
          </a:p>
        </p:txBody>
      </p:sp>
      <p:sp>
        <p:nvSpPr>
          <p:cNvPr id="7" name="Marcador de contenido 2">
            <a:extLst>
              <a:ext uri="{FF2B5EF4-FFF2-40B4-BE49-F238E27FC236}">
                <a16:creationId xmlns:a16="http://schemas.microsoft.com/office/drawing/2014/main" id="{7C371B6A-D08A-2959-5BDA-6D76133D6F74}"/>
              </a:ext>
            </a:extLst>
          </p:cNvPr>
          <p:cNvSpPr txBox="1">
            <a:spLocks/>
          </p:cNvSpPr>
          <p:nvPr/>
        </p:nvSpPr>
        <p:spPr>
          <a:xfrm>
            <a:off x="633460" y="1988018"/>
            <a:ext cx="10925077" cy="114682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ES" sz="2400" b="1" i="1" dirty="0">
                <a:latin typeface="Helvetica"/>
                <a:cs typeface="Helvetica"/>
              </a:rPr>
              <a:t>H3</a:t>
            </a:r>
            <a:r>
              <a:rPr lang="es-ES" sz="2400" i="1" dirty="0">
                <a:latin typeface="Helvetica"/>
                <a:cs typeface="Helvetica"/>
              </a:rPr>
              <a:t>.- </a:t>
            </a:r>
            <a:r>
              <a:rPr lang="es-ES" sz="2400" i="1" dirty="0" err="1">
                <a:latin typeface="Helvetica"/>
                <a:cs typeface="Helvetica"/>
              </a:rPr>
              <a:t>We</a:t>
            </a:r>
            <a:r>
              <a:rPr lang="es-ES" sz="2400" i="1" dirty="0">
                <a:latin typeface="Helvetica"/>
                <a:cs typeface="Helvetica"/>
              </a:rPr>
              <a:t> </a:t>
            </a:r>
            <a:r>
              <a:rPr lang="es-ES" sz="2400" i="1" dirty="0" err="1">
                <a:latin typeface="Helvetica"/>
                <a:cs typeface="Helvetica"/>
              </a:rPr>
              <a:t>expect</a:t>
            </a:r>
            <a:r>
              <a:rPr lang="es-ES" sz="2400" i="1" dirty="0">
                <a:latin typeface="Helvetica"/>
                <a:cs typeface="Helvetica"/>
              </a:rPr>
              <a:t> </a:t>
            </a:r>
            <a:r>
              <a:rPr lang="es-ES" sz="2400" b="1" i="1" dirty="0" err="1">
                <a:latin typeface="Helvetica"/>
                <a:cs typeface="Helvetica"/>
              </a:rPr>
              <a:t>variations</a:t>
            </a:r>
            <a:r>
              <a:rPr lang="es-ES" sz="2400" b="1" i="1" dirty="0">
                <a:latin typeface="Helvetica"/>
                <a:cs typeface="Helvetica"/>
              </a:rPr>
              <a:t> </a:t>
            </a:r>
            <a:r>
              <a:rPr lang="es-ES" sz="2400" i="1" dirty="0">
                <a:latin typeface="Helvetica"/>
                <a:cs typeface="Helvetica"/>
              </a:rPr>
              <a:t>in </a:t>
            </a:r>
            <a:r>
              <a:rPr lang="es-ES" sz="2400" i="1" dirty="0" err="1">
                <a:latin typeface="Helvetica"/>
                <a:cs typeface="Helvetica"/>
              </a:rPr>
              <a:t>each</a:t>
            </a:r>
            <a:r>
              <a:rPr lang="es-ES" sz="2400" i="1" dirty="0">
                <a:latin typeface="Helvetica"/>
                <a:cs typeface="Helvetica"/>
              </a:rPr>
              <a:t> </a:t>
            </a:r>
            <a:r>
              <a:rPr lang="es-ES" sz="2400" i="1" dirty="0" err="1">
                <a:latin typeface="Helvetica"/>
                <a:cs typeface="Helvetica"/>
              </a:rPr>
              <a:t>species</a:t>
            </a:r>
            <a:r>
              <a:rPr lang="es-ES" sz="2400" i="1" dirty="0">
                <a:latin typeface="Helvetica"/>
                <a:cs typeface="Helvetica"/>
              </a:rPr>
              <a:t> </a:t>
            </a:r>
            <a:r>
              <a:rPr lang="es-ES" sz="2400" i="1" dirty="0" err="1">
                <a:latin typeface="Helvetica"/>
                <a:cs typeface="Helvetica"/>
              </a:rPr>
              <a:t>path</a:t>
            </a:r>
            <a:endParaRPr lang="es-ES" sz="2400" i="1" dirty="0">
              <a:latin typeface="Helvetica"/>
              <a:cs typeface="Helvetica"/>
            </a:endParaRPr>
          </a:p>
        </p:txBody>
      </p:sp>
      <p:grpSp>
        <p:nvGrpSpPr>
          <p:cNvPr id="16" name="Grupo 10">
            <a:extLst>
              <a:ext uri="{FF2B5EF4-FFF2-40B4-BE49-F238E27FC236}">
                <a16:creationId xmlns:a16="http://schemas.microsoft.com/office/drawing/2014/main" id="{D3C51BF8-A12E-3EEC-2C9C-53525A3396BA}"/>
              </a:ext>
            </a:extLst>
          </p:cNvPr>
          <p:cNvGrpSpPr/>
          <p:nvPr/>
        </p:nvGrpSpPr>
        <p:grpSpPr>
          <a:xfrm>
            <a:off x="4163853" y="4081825"/>
            <a:ext cx="3301889" cy="1220763"/>
            <a:chOff x="6178013" y="5057218"/>
            <a:chExt cx="3301889" cy="1220763"/>
          </a:xfrm>
        </p:grpSpPr>
        <p:pic>
          <p:nvPicPr>
            <p:cNvPr id="17" name="Imagen 11">
              <a:extLst>
                <a:ext uri="{FF2B5EF4-FFF2-40B4-BE49-F238E27FC236}">
                  <a16:creationId xmlns:a16="http://schemas.microsoft.com/office/drawing/2014/main" id="{431B4C22-1225-65E5-66B5-87C9CC2924F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t="53835"/>
            <a:stretch/>
          </p:blipFill>
          <p:spPr>
            <a:xfrm>
              <a:off x="6364847" y="5057218"/>
              <a:ext cx="3115055" cy="1220763"/>
            </a:xfrm>
            <a:prstGeom prst="rect">
              <a:avLst/>
            </a:prstGeom>
          </p:spPr>
        </p:pic>
        <p:sp>
          <p:nvSpPr>
            <p:cNvPr id="18" name="CuadroTexto 12">
              <a:extLst>
                <a:ext uri="{FF2B5EF4-FFF2-40B4-BE49-F238E27FC236}">
                  <a16:creationId xmlns:a16="http://schemas.microsoft.com/office/drawing/2014/main" id="{E693AFC3-DA08-3DD1-50F6-6D4804D871E1}"/>
                </a:ext>
              </a:extLst>
            </p:cNvPr>
            <p:cNvSpPr txBox="1"/>
            <p:nvPr/>
          </p:nvSpPr>
          <p:spPr>
            <a:xfrm>
              <a:off x="6178013" y="5989310"/>
              <a:ext cx="1217297" cy="26161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1100" dirty="0">
                  <a:solidFill>
                    <a:srgbClr val="2F5597"/>
                  </a:solidFill>
                </a:rPr>
                <a:t>Non-</a:t>
              </a:r>
              <a:r>
                <a:rPr lang="es-ES" sz="1100" dirty="0" err="1">
                  <a:solidFill>
                    <a:srgbClr val="2F5597"/>
                  </a:solidFill>
                </a:rPr>
                <a:t>declining</a:t>
              </a:r>
              <a:r>
                <a:rPr lang="es-ES" sz="1100" dirty="0">
                  <a:solidFill>
                    <a:srgbClr val="2F5597"/>
                  </a:solidFill>
                </a:rPr>
                <a:t> site</a:t>
              </a:r>
            </a:p>
          </p:txBody>
        </p:sp>
        <p:sp>
          <p:nvSpPr>
            <p:cNvPr id="19" name="CuadroTexto 13">
              <a:extLst>
                <a:ext uri="{FF2B5EF4-FFF2-40B4-BE49-F238E27FC236}">
                  <a16:creationId xmlns:a16="http://schemas.microsoft.com/office/drawing/2014/main" id="{3326A594-41DA-4460-3F92-CC8B708DFA5A}"/>
                </a:ext>
              </a:extLst>
            </p:cNvPr>
            <p:cNvSpPr txBox="1"/>
            <p:nvPr/>
          </p:nvSpPr>
          <p:spPr>
            <a:xfrm>
              <a:off x="7313725" y="5989310"/>
              <a:ext cx="1217297" cy="26161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1100" dirty="0">
                  <a:solidFill>
                    <a:srgbClr val="7030A0"/>
                  </a:solidFill>
                  <a:cs typeface="Helvetica" panose="020B0604020202020204"/>
                </a:rPr>
                <a:t>Non-</a:t>
              </a:r>
              <a:r>
                <a:rPr lang="es-ES" sz="1100" dirty="0" err="1">
                  <a:solidFill>
                    <a:srgbClr val="7030A0"/>
                  </a:solidFill>
                  <a:cs typeface="Helvetica" panose="020B0604020202020204"/>
                </a:rPr>
                <a:t>declining</a:t>
              </a:r>
              <a:r>
                <a:rPr lang="es-ES" sz="1100" dirty="0">
                  <a:solidFill>
                    <a:srgbClr val="7030A0"/>
                  </a:solidFill>
                  <a:cs typeface="Helvetica" panose="020B0604020202020204"/>
                </a:rPr>
                <a:t> site</a:t>
              </a:r>
            </a:p>
          </p:txBody>
        </p:sp>
        <p:sp>
          <p:nvSpPr>
            <p:cNvPr id="20" name="CuadroTexto 14">
              <a:extLst>
                <a:ext uri="{FF2B5EF4-FFF2-40B4-BE49-F238E27FC236}">
                  <a16:creationId xmlns:a16="http://schemas.microsoft.com/office/drawing/2014/main" id="{70009FC4-C941-85EB-2B1D-BD36A934AE1C}"/>
                </a:ext>
              </a:extLst>
            </p:cNvPr>
            <p:cNvSpPr txBox="1"/>
            <p:nvPr/>
          </p:nvSpPr>
          <p:spPr>
            <a:xfrm>
              <a:off x="8482962" y="6002841"/>
              <a:ext cx="946093" cy="261610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s-ES" sz="1100" dirty="0" err="1">
                  <a:solidFill>
                    <a:srgbClr val="C00000"/>
                  </a:solidFill>
                </a:rPr>
                <a:t>Declining</a:t>
              </a:r>
              <a:r>
                <a:rPr lang="es-ES" sz="1100" dirty="0">
                  <a:solidFill>
                    <a:srgbClr val="C00000"/>
                  </a:solidFill>
                </a:rPr>
                <a:t> site</a:t>
              </a:r>
            </a:p>
          </p:txBody>
        </p:sp>
      </p:grpSp>
      <p:pic>
        <p:nvPicPr>
          <p:cNvPr id="21" name="Gráfico 12" descr="Abeto">
            <a:extLst>
              <a:ext uri="{FF2B5EF4-FFF2-40B4-BE49-F238E27FC236}">
                <a16:creationId xmlns:a16="http://schemas.microsoft.com/office/drawing/2014/main" id="{E34F903F-65E2-EAA2-2453-742FE218CE1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862214" y="2845897"/>
            <a:ext cx="709463" cy="709463"/>
          </a:xfrm>
          <a:prstGeom prst="rect">
            <a:avLst/>
          </a:prstGeom>
        </p:spPr>
      </p:pic>
      <p:pic>
        <p:nvPicPr>
          <p:cNvPr id="22" name="Gráfico 13" descr="Abeto">
            <a:extLst>
              <a:ext uri="{FF2B5EF4-FFF2-40B4-BE49-F238E27FC236}">
                <a16:creationId xmlns:a16="http://schemas.microsoft.com/office/drawing/2014/main" id="{7954ACF9-EB30-5FA2-5D04-29E087E7A9D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633353" y="2845896"/>
            <a:ext cx="709463" cy="709463"/>
          </a:xfrm>
          <a:prstGeom prst="rect">
            <a:avLst/>
          </a:prstGeom>
        </p:spPr>
      </p:pic>
      <p:pic>
        <p:nvPicPr>
          <p:cNvPr id="23" name="Gráfico 14" descr="Abeto">
            <a:extLst>
              <a:ext uri="{FF2B5EF4-FFF2-40B4-BE49-F238E27FC236}">
                <a16:creationId xmlns:a16="http://schemas.microsoft.com/office/drawing/2014/main" id="{AAD6ACC8-7E24-64AA-E8CF-F1F46BBD0D5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892719" y="2898046"/>
            <a:ext cx="709463" cy="709463"/>
          </a:xfrm>
          <a:prstGeom prst="rect">
            <a:avLst/>
          </a:prstGeom>
        </p:spPr>
      </p:pic>
      <p:sp>
        <p:nvSpPr>
          <p:cNvPr id="24" name="Marcador de contenido 2">
            <a:extLst>
              <a:ext uri="{FF2B5EF4-FFF2-40B4-BE49-F238E27FC236}">
                <a16:creationId xmlns:a16="http://schemas.microsoft.com/office/drawing/2014/main" id="{1603EEB4-3B48-B092-D20A-77A7158A1E56}"/>
              </a:ext>
            </a:extLst>
          </p:cNvPr>
          <p:cNvSpPr txBox="1">
            <a:spLocks/>
          </p:cNvSpPr>
          <p:nvPr/>
        </p:nvSpPr>
        <p:spPr>
          <a:xfrm>
            <a:off x="3511002" y="3066631"/>
            <a:ext cx="1305702" cy="550290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ES" sz="1800" i="1" dirty="0" err="1">
                <a:solidFill>
                  <a:srgbClr val="746FB2"/>
                </a:solidFill>
                <a:latin typeface="Helvetica" panose="020B0604020202020204"/>
                <a:cs typeface="Helvetica"/>
              </a:rPr>
              <a:t>Abies</a:t>
            </a:r>
            <a:r>
              <a:rPr lang="es-ES" sz="1800" i="1" dirty="0">
                <a:solidFill>
                  <a:srgbClr val="746FB2"/>
                </a:solidFill>
                <a:latin typeface="Helvetica" panose="020B0604020202020204"/>
                <a:cs typeface="Helvetica"/>
              </a:rPr>
              <a:t> alba</a:t>
            </a:r>
          </a:p>
          <a:p>
            <a:pPr marL="0" indent="0">
              <a:buNone/>
            </a:pPr>
            <a:r>
              <a:rPr lang="es-ES" sz="1800" dirty="0" err="1">
                <a:solidFill>
                  <a:srgbClr val="746FB2"/>
                </a:solidFill>
                <a:latin typeface="Helvetica" panose="020B0604020202020204"/>
                <a:cs typeface="Helvetica" panose="020B0604020202020204"/>
              </a:rPr>
              <a:t>Temperate</a:t>
            </a:r>
            <a:endParaRPr lang="es-ES" sz="1800" dirty="0">
              <a:solidFill>
                <a:srgbClr val="746FB2"/>
              </a:solidFill>
              <a:latin typeface="Helvetica" panose="020B0604020202020204"/>
              <a:cs typeface="Helvetica" panose="020B0604020202020204"/>
            </a:endParaRPr>
          </a:p>
          <a:p>
            <a:pPr marL="0" indent="0">
              <a:buClr>
                <a:srgbClr val="218317"/>
              </a:buClr>
              <a:buNone/>
            </a:pPr>
            <a:endParaRPr lang="es-ES" sz="1800" i="1" dirty="0">
              <a:solidFill>
                <a:srgbClr val="746FB2"/>
              </a:solidFill>
              <a:latin typeface="Helvetica" panose="020B0604020202020204"/>
              <a:cs typeface="Helvetica" panose="020B0604020202020204"/>
            </a:endParaRPr>
          </a:p>
        </p:txBody>
      </p:sp>
      <p:sp>
        <p:nvSpPr>
          <p:cNvPr id="25" name="Marcador de contenido 2">
            <a:extLst>
              <a:ext uri="{FF2B5EF4-FFF2-40B4-BE49-F238E27FC236}">
                <a16:creationId xmlns:a16="http://schemas.microsoft.com/office/drawing/2014/main" id="{76839350-3B71-6A7F-CDD0-3F80D442B6E2}"/>
              </a:ext>
            </a:extLst>
          </p:cNvPr>
          <p:cNvSpPr txBox="1">
            <a:spLocks/>
          </p:cNvSpPr>
          <p:nvPr/>
        </p:nvSpPr>
        <p:spPr>
          <a:xfrm>
            <a:off x="5342816" y="3066631"/>
            <a:ext cx="1549903" cy="549094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ES" sz="1800" i="1" dirty="0" err="1">
                <a:solidFill>
                  <a:srgbClr val="1B9E77"/>
                </a:solidFill>
                <a:latin typeface="Helvetica" panose="020B0604020202020204"/>
                <a:cs typeface="Helvetica"/>
              </a:rPr>
              <a:t>Pinus</a:t>
            </a:r>
            <a:r>
              <a:rPr lang="es-ES" sz="1800" i="1" dirty="0">
                <a:solidFill>
                  <a:srgbClr val="1B9E77"/>
                </a:solidFill>
                <a:latin typeface="Helvetica" panose="020B0604020202020204"/>
                <a:cs typeface="Helvetica"/>
              </a:rPr>
              <a:t> </a:t>
            </a:r>
            <a:r>
              <a:rPr lang="es-ES" sz="1800" i="1" dirty="0" err="1">
                <a:solidFill>
                  <a:srgbClr val="1B9E77"/>
                </a:solidFill>
                <a:latin typeface="Helvetica" panose="020B0604020202020204"/>
                <a:cs typeface="Helvetica"/>
              </a:rPr>
              <a:t>sylvestris</a:t>
            </a:r>
            <a:endParaRPr lang="es-ES" sz="1800" i="1" dirty="0">
              <a:solidFill>
                <a:srgbClr val="1B9E77"/>
              </a:solidFill>
              <a:latin typeface="Helvetica" panose="020B0604020202020204"/>
              <a:cs typeface="Helvetica"/>
            </a:endParaRPr>
          </a:p>
          <a:p>
            <a:pPr marL="0" indent="0">
              <a:buNone/>
            </a:pPr>
            <a:r>
              <a:rPr lang="es-ES" sz="1800" dirty="0" err="1">
                <a:solidFill>
                  <a:srgbClr val="1B9E77"/>
                </a:solidFill>
                <a:latin typeface="Helvetica" panose="020B0604020202020204"/>
                <a:cs typeface="Helvetica" panose="020B0604020202020204"/>
              </a:rPr>
              <a:t>Temperate</a:t>
            </a:r>
            <a:endParaRPr lang="es-ES" sz="1800" dirty="0">
              <a:solidFill>
                <a:srgbClr val="1B9E77"/>
              </a:solidFill>
              <a:latin typeface="Helvetica" panose="020B0604020202020204"/>
              <a:cs typeface="Helvetica" panose="020B0604020202020204"/>
            </a:endParaRPr>
          </a:p>
          <a:p>
            <a:pPr marL="0" indent="0">
              <a:buClr>
                <a:srgbClr val="218317"/>
              </a:buClr>
              <a:buNone/>
            </a:pPr>
            <a:endParaRPr lang="es-ES" sz="1800" i="1" dirty="0">
              <a:solidFill>
                <a:srgbClr val="1B9E77"/>
              </a:solidFill>
              <a:latin typeface="Helvetica" panose="020B0604020202020204"/>
              <a:cs typeface="Helvetica" panose="020B0604020202020204"/>
            </a:endParaRPr>
          </a:p>
        </p:txBody>
      </p:sp>
      <p:sp>
        <p:nvSpPr>
          <p:cNvPr id="26" name="Marcador de contenido 2">
            <a:extLst>
              <a:ext uri="{FF2B5EF4-FFF2-40B4-BE49-F238E27FC236}">
                <a16:creationId xmlns:a16="http://schemas.microsoft.com/office/drawing/2014/main" id="{48CB1843-2F1A-1DA9-8591-69B235E61C2B}"/>
              </a:ext>
            </a:extLst>
          </p:cNvPr>
          <p:cNvSpPr txBox="1">
            <a:spLocks/>
          </p:cNvSpPr>
          <p:nvPr/>
        </p:nvSpPr>
        <p:spPr>
          <a:xfrm>
            <a:off x="7602182" y="3061967"/>
            <a:ext cx="1573487" cy="545542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ES" sz="1800" i="1" dirty="0" err="1">
                <a:solidFill>
                  <a:srgbClr val="DB5F02"/>
                </a:solidFill>
                <a:latin typeface="Helvetica" panose="020B0604020202020204"/>
                <a:cs typeface="Helvetica"/>
              </a:rPr>
              <a:t>Pinus</a:t>
            </a:r>
            <a:r>
              <a:rPr lang="es-ES" sz="1800" i="1" dirty="0">
                <a:solidFill>
                  <a:srgbClr val="DB5F02"/>
                </a:solidFill>
                <a:latin typeface="Helvetica" panose="020B0604020202020204"/>
                <a:cs typeface="Helvetica"/>
              </a:rPr>
              <a:t> pinea</a:t>
            </a:r>
          </a:p>
          <a:p>
            <a:pPr marL="0" indent="0">
              <a:buClr>
                <a:srgbClr val="218317"/>
              </a:buClr>
              <a:buNone/>
            </a:pPr>
            <a:r>
              <a:rPr lang="es-ES" sz="1800" dirty="0" err="1">
                <a:solidFill>
                  <a:srgbClr val="DB5F02"/>
                </a:solidFill>
                <a:latin typeface="Helvetica" panose="020B0604020202020204"/>
                <a:cs typeface="Helvetica" panose="020B0604020202020204"/>
              </a:rPr>
              <a:t>Mediterranean</a:t>
            </a:r>
            <a:endParaRPr lang="es-ES" sz="1800" dirty="0">
              <a:solidFill>
                <a:srgbClr val="DB5F02"/>
              </a:solidFill>
              <a:latin typeface="Helvetica" panose="020B0604020202020204"/>
              <a:cs typeface="Helvetica" panose="020B0604020202020204"/>
            </a:endParaRPr>
          </a:p>
        </p:txBody>
      </p:sp>
      <p:sp>
        <p:nvSpPr>
          <p:cNvPr id="27" name="Marcador de contenido 2">
            <a:extLst>
              <a:ext uri="{FF2B5EF4-FFF2-40B4-BE49-F238E27FC236}">
                <a16:creationId xmlns:a16="http://schemas.microsoft.com/office/drawing/2014/main" id="{388DFB22-E1DD-5B95-1421-CEA06847A806}"/>
              </a:ext>
            </a:extLst>
          </p:cNvPr>
          <p:cNvSpPr txBox="1">
            <a:spLocks/>
          </p:cNvSpPr>
          <p:nvPr/>
        </p:nvSpPr>
        <p:spPr>
          <a:xfrm>
            <a:off x="3488956" y="5666286"/>
            <a:ext cx="4838513" cy="100623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Clr>
                <a:srgbClr val="218317"/>
              </a:buClr>
              <a:buNone/>
            </a:pPr>
            <a:r>
              <a:rPr lang="es-ES" sz="2400" b="1" dirty="0">
                <a:latin typeface="Helvetica"/>
                <a:cs typeface="Helvetica"/>
              </a:rPr>
              <a:t>Fig. 5.: </a:t>
            </a:r>
            <a:r>
              <a:rPr lang="es-ES" sz="2400" b="1" dirty="0" err="1">
                <a:latin typeface="Helvetica"/>
                <a:cs typeface="Helvetica"/>
              </a:rPr>
              <a:t>pca</a:t>
            </a:r>
            <a:endParaRPr lang="es-ES" sz="20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lvl="1" algn="ctr">
              <a:buClr>
                <a:srgbClr val="218317"/>
              </a:buClr>
              <a:buFont typeface="Calibri" panose="02070309020205020404" pitchFamily="49" charset="0"/>
              <a:buChar char="-"/>
            </a:pPr>
            <a:endParaRPr lang="es-ES" sz="20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algn="ctr"/>
            <a:endParaRPr lang="es-ES" sz="24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8830002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A16DFF-6A6B-F31E-E46A-B7C4E935B7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ítulo 1">
            <a:extLst>
              <a:ext uri="{FF2B5EF4-FFF2-40B4-BE49-F238E27FC236}">
                <a16:creationId xmlns:a16="http://schemas.microsoft.com/office/drawing/2014/main" id="{8D6329F4-0048-0A2F-90D2-AD6CB3051F49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9690902" cy="804155"/>
          </a:xfrm>
          <a:prstGeom prst="rect">
            <a:avLst/>
          </a:prstGeom>
          <a:solidFill>
            <a:srgbClr val="218317"/>
          </a:solidFill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	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Objectives</a:t>
            </a:r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&amp; 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Hypotheses</a:t>
            </a:r>
            <a:endParaRPr lang="es-ES" sz="3200" b="1" dirty="0">
              <a:solidFill>
                <a:schemeClr val="bg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0" name="Título 1">
            <a:extLst>
              <a:ext uri="{FF2B5EF4-FFF2-40B4-BE49-F238E27FC236}">
                <a16:creationId xmlns:a16="http://schemas.microsoft.com/office/drawing/2014/main" id="{437478BB-121C-DEB7-784B-48A9E3385581}"/>
              </a:ext>
            </a:extLst>
          </p:cNvPr>
          <p:cNvSpPr txBox="1">
            <a:spLocks/>
          </p:cNvSpPr>
          <p:nvPr/>
        </p:nvSpPr>
        <p:spPr>
          <a:xfrm>
            <a:off x="9690902" y="-1"/>
            <a:ext cx="2501098" cy="804157"/>
          </a:xfrm>
          <a:prstGeom prst="rect">
            <a:avLst/>
          </a:prstGeom>
          <a:solidFill>
            <a:srgbClr val="218317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ES" sz="2800" b="1" dirty="0">
                <a:solidFill>
                  <a:srgbClr val="218317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.</a:t>
            </a:r>
          </a:p>
        </p:txBody>
      </p:sp>
      <p:sp>
        <p:nvSpPr>
          <p:cNvPr id="5" name="Marcador de contenido 2">
            <a:extLst>
              <a:ext uri="{FF2B5EF4-FFF2-40B4-BE49-F238E27FC236}">
                <a16:creationId xmlns:a16="http://schemas.microsoft.com/office/drawing/2014/main" id="{BA510E4B-1EB2-9182-5B4A-2B0421D85C3A}"/>
              </a:ext>
            </a:extLst>
          </p:cNvPr>
          <p:cNvSpPr txBox="1">
            <a:spLocks/>
          </p:cNvSpPr>
          <p:nvPr/>
        </p:nvSpPr>
        <p:spPr>
          <a:xfrm>
            <a:off x="633461" y="1025596"/>
            <a:ext cx="10925077" cy="114682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ES" sz="2400" b="1" dirty="0">
                <a:latin typeface="Helvetica"/>
                <a:cs typeface="Helvetica"/>
              </a:rPr>
              <a:t>SEM??</a:t>
            </a:r>
          </a:p>
        </p:txBody>
      </p:sp>
    </p:spTree>
    <p:extLst>
      <p:ext uri="{BB962C8B-B14F-4D97-AF65-F5344CB8AC3E}">
        <p14:creationId xmlns:p14="http://schemas.microsoft.com/office/powerpoint/2010/main" val="69839349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66FAEA-39D9-CE78-4D46-CC5CAC7C70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contenido 2">
            <a:extLst>
              <a:ext uri="{FF2B5EF4-FFF2-40B4-BE49-F238E27FC236}">
                <a16:creationId xmlns:a16="http://schemas.microsoft.com/office/drawing/2014/main" id="{7326C9ED-643F-A6B7-434D-002D898ED626}"/>
              </a:ext>
            </a:extLst>
          </p:cNvPr>
          <p:cNvSpPr txBox="1">
            <a:spLocks/>
          </p:cNvSpPr>
          <p:nvPr/>
        </p:nvSpPr>
        <p:spPr>
          <a:xfrm>
            <a:off x="792364" y="1836789"/>
            <a:ext cx="5303636" cy="382887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rgbClr val="218317"/>
              </a:buClr>
            </a:pPr>
            <a:r>
              <a:rPr lang="es-ES" sz="2400" b="1" dirty="0" err="1">
                <a:latin typeface="Helvetica"/>
                <a:cs typeface="Helvetica"/>
              </a:rPr>
              <a:t>Morphological</a:t>
            </a:r>
            <a:endParaRPr lang="es-ES" sz="2400" b="1" dirty="0">
              <a:latin typeface="Helvetica"/>
              <a:ea typeface="Calibri" panose="020F0502020204030204"/>
              <a:cs typeface="Helvetica"/>
            </a:endParaRPr>
          </a:p>
          <a:p>
            <a:pPr lvl="1">
              <a:buClr>
                <a:srgbClr val="218317"/>
              </a:buClr>
              <a:buFont typeface="Calibri" panose="020B0604020202020204" pitchFamily="34" charset="0"/>
              <a:buChar char="-"/>
            </a:pPr>
            <a:r>
              <a:rPr lang="es-ES" sz="2000" dirty="0" err="1">
                <a:latin typeface="Helvetica"/>
                <a:cs typeface="Helvetica"/>
              </a:rPr>
              <a:t>Tree</a:t>
            </a:r>
            <a:r>
              <a:rPr lang="es-ES" sz="2000" dirty="0">
                <a:latin typeface="Helvetica"/>
                <a:cs typeface="Helvetica"/>
              </a:rPr>
              <a:t> </a:t>
            </a:r>
            <a:r>
              <a:rPr lang="es-ES" sz="2000" dirty="0" err="1">
                <a:latin typeface="Helvetica"/>
                <a:cs typeface="Helvetica"/>
              </a:rPr>
              <a:t>growth</a:t>
            </a:r>
            <a:r>
              <a:rPr lang="es-ES" sz="2000" dirty="0">
                <a:latin typeface="Helvetica"/>
                <a:cs typeface="Helvetica"/>
              </a:rPr>
              <a:t> </a:t>
            </a:r>
            <a:r>
              <a:rPr lang="es-ES" sz="2000" dirty="0">
                <a:solidFill>
                  <a:srgbClr val="218317"/>
                </a:solidFill>
                <a:latin typeface="Helvetica"/>
                <a:cs typeface="Helvetica"/>
                <a:sym typeface="Wingdings" panose="05000000000000000000" pitchFamily="2" charset="2"/>
              </a:rPr>
              <a:t></a:t>
            </a:r>
            <a:r>
              <a:rPr lang="es-ES" sz="2000" dirty="0">
                <a:latin typeface="Helvetica"/>
                <a:cs typeface="Helvetica"/>
                <a:sym typeface="Wingdings" panose="05000000000000000000" pitchFamily="2" charset="2"/>
              </a:rPr>
              <a:t> </a:t>
            </a:r>
            <a:r>
              <a:rPr lang="es-ES" sz="2000" dirty="0" err="1">
                <a:latin typeface="Helvetica"/>
                <a:cs typeface="Helvetica"/>
                <a:sym typeface="Wingdings" panose="05000000000000000000" pitchFamily="2" charset="2"/>
              </a:rPr>
              <a:t>dendro</a:t>
            </a:r>
            <a:endParaRPr lang="es-ES" sz="2000" dirty="0">
              <a:latin typeface="Helvetica"/>
              <a:cs typeface="Helvetica"/>
            </a:endParaRPr>
          </a:p>
          <a:p>
            <a:pPr lvl="1">
              <a:buClr>
                <a:srgbClr val="218317"/>
              </a:buClr>
              <a:buFont typeface="Calibri" panose="020B0604020202020204" pitchFamily="34" charset="0"/>
              <a:buChar char="-"/>
            </a:pPr>
            <a:r>
              <a:rPr lang="es-ES" sz="2000" dirty="0" err="1">
                <a:latin typeface="Helvetica"/>
                <a:cs typeface="Helvetica"/>
              </a:rPr>
              <a:t>Leaf</a:t>
            </a:r>
            <a:r>
              <a:rPr lang="es-ES" sz="2000" dirty="0">
                <a:latin typeface="Helvetica"/>
                <a:cs typeface="Helvetica"/>
              </a:rPr>
              <a:t> </a:t>
            </a:r>
            <a:r>
              <a:rPr lang="es-ES" sz="2000" dirty="0" err="1">
                <a:latin typeface="Helvetica"/>
                <a:cs typeface="Helvetica"/>
              </a:rPr>
              <a:t>traits</a:t>
            </a:r>
            <a:r>
              <a:rPr lang="es-ES" sz="2000" dirty="0">
                <a:latin typeface="Helvetica"/>
                <a:cs typeface="Helvetica"/>
              </a:rPr>
              <a:t> </a:t>
            </a:r>
            <a:r>
              <a:rPr lang="es-ES" sz="2000" dirty="0">
                <a:solidFill>
                  <a:srgbClr val="218317"/>
                </a:solidFill>
                <a:latin typeface="Helvetica"/>
                <a:cs typeface="Helvetica"/>
                <a:sym typeface="Wingdings" panose="05000000000000000000" pitchFamily="2" charset="2"/>
              </a:rPr>
              <a:t> </a:t>
            </a:r>
            <a:r>
              <a:rPr lang="es-ES" sz="2000" dirty="0" err="1">
                <a:latin typeface="Helvetica"/>
                <a:cs typeface="Helvetica"/>
                <a:sym typeface="Wingdings" panose="05000000000000000000" pitchFamily="2" charset="2"/>
              </a:rPr>
              <a:t>leaf</a:t>
            </a:r>
            <a:r>
              <a:rPr lang="es-ES" sz="2000" dirty="0">
                <a:latin typeface="Helvetica"/>
                <a:cs typeface="Helvetica"/>
                <a:sym typeface="Wingdings" panose="05000000000000000000" pitchFamily="2" charset="2"/>
              </a:rPr>
              <a:t> </a:t>
            </a:r>
            <a:r>
              <a:rPr lang="es-ES" sz="2000" dirty="0" err="1">
                <a:latin typeface="Helvetica"/>
                <a:cs typeface="Helvetica"/>
                <a:sym typeface="Wingdings" panose="05000000000000000000" pitchFamily="2" charset="2"/>
              </a:rPr>
              <a:t>area</a:t>
            </a:r>
            <a:r>
              <a:rPr lang="es-ES" sz="2000" dirty="0">
                <a:latin typeface="Helvetica"/>
                <a:cs typeface="Helvetica"/>
                <a:sym typeface="Wingdings" panose="05000000000000000000" pitchFamily="2" charset="2"/>
              </a:rPr>
              <a:t> &amp; </a:t>
            </a:r>
            <a:r>
              <a:rPr lang="es-ES" sz="2000" dirty="0" err="1">
                <a:latin typeface="Helvetica"/>
                <a:cs typeface="Helvetica"/>
                <a:sym typeface="Wingdings" panose="05000000000000000000" pitchFamily="2" charset="2"/>
              </a:rPr>
              <a:t>defoliation</a:t>
            </a:r>
            <a:r>
              <a:rPr lang="es-ES" sz="2000" dirty="0">
                <a:latin typeface="Helvetica"/>
                <a:cs typeface="Helvetica"/>
                <a:sym typeface="Wingdings" panose="05000000000000000000" pitchFamily="2" charset="2"/>
              </a:rPr>
              <a:t> </a:t>
            </a:r>
          </a:p>
          <a:p>
            <a:pPr lvl="1">
              <a:buClr>
                <a:srgbClr val="218317"/>
              </a:buClr>
              <a:buFont typeface="Calibri" panose="020B0604020202020204" pitchFamily="34" charset="0"/>
              <a:buChar char="-"/>
            </a:pPr>
            <a:endParaRPr lang="es-ES" sz="2000" dirty="0">
              <a:latin typeface="Helvetica"/>
              <a:cs typeface="Helvetica"/>
            </a:endParaRPr>
          </a:p>
          <a:p>
            <a:pPr>
              <a:buClr>
                <a:srgbClr val="218317"/>
              </a:buClr>
            </a:pPr>
            <a:r>
              <a:rPr lang="es-ES" sz="2400" b="1" dirty="0" err="1">
                <a:latin typeface="Helvetica"/>
                <a:cs typeface="Helvetica"/>
              </a:rPr>
              <a:t>Physiological</a:t>
            </a:r>
            <a:endParaRPr lang="es-ES" sz="2400" b="1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lvl="1">
              <a:buClr>
                <a:srgbClr val="218317"/>
              </a:buClr>
              <a:buFont typeface="Calibri" panose="020B0604020202020204" pitchFamily="34" charset="0"/>
              <a:buChar char="-"/>
            </a:pPr>
            <a:r>
              <a:rPr lang="es-ES" sz="2000" dirty="0" err="1">
                <a:latin typeface="Helvetica"/>
                <a:cs typeface="Helvetica"/>
              </a:rPr>
              <a:t>Photosynthesis</a:t>
            </a:r>
            <a:r>
              <a:rPr lang="es-ES" sz="2000" dirty="0">
                <a:latin typeface="Helvetica"/>
                <a:cs typeface="Helvetica"/>
              </a:rPr>
              <a:t> </a:t>
            </a:r>
            <a:r>
              <a:rPr lang="es-ES" sz="2000" dirty="0">
                <a:solidFill>
                  <a:srgbClr val="218317"/>
                </a:solidFill>
                <a:latin typeface="Helvetica"/>
                <a:cs typeface="Helvetica"/>
                <a:sym typeface="Wingdings" panose="05000000000000000000" pitchFamily="2" charset="2"/>
              </a:rPr>
              <a:t></a:t>
            </a:r>
            <a:r>
              <a:rPr lang="es-ES" sz="2000" dirty="0">
                <a:latin typeface="Helvetica"/>
                <a:cs typeface="Helvetica"/>
                <a:sym typeface="Wingdings" panose="05000000000000000000" pitchFamily="2" charset="2"/>
              </a:rPr>
              <a:t> </a:t>
            </a:r>
            <a:r>
              <a:rPr lang="es-ES" sz="2000" dirty="0" err="1">
                <a:latin typeface="Helvetica"/>
                <a:cs typeface="Helvetica"/>
                <a:sym typeface="Wingdings" panose="05000000000000000000" pitchFamily="2" charset="2"/>
              </a:rPr>
              <a:t>spectrophotometry</a:t>
            </a:r>
            <a:endParaRPr lang="es-ES" sz="20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lvl="1">
              <a:buClr>
                <a:srgbClr val="218317"/>
              </a:buClr>
              <a:buFont typeface="Calibri" panose="020B0604020202020204" pitchFamily="34" charset="0"/>
              <a:buChar char="-"/>
            </a:pPr>
            <a:r>
              <a:rPr lang="es-ES" sz="2000" dirty="0" err="1">
                <a:latin typeface="Helvetica"/>
                <a:cs typeface="Helvetica"/>
              </a:rPr>
              <a:t>Water</a:t>
            </a:r>
            <a:r>
              <a:rPr lang="es-ES" sz="2000" dirty="0">
                <a:latin typeface="Helvetica"/>
                <a:cs typeface="Helvetica"/>
              </a:rPr>
              <a:t> </a:t>
            </a:r>
            <a:r>
              <a:rPr lang="es-ES" sz="2000" dirty="0" err="1">
                <a:latin typeface="Helvetica"/>
                <a:cs typeface="Helvetica"/>
              </a:rPr>
              <a:t>relations</a:t>
            </a:r>
            <a:r>
              <a:rPr lang="es-ES" sz="2000" dirty="0">
                <a:latin typeface="Helvetica"/>
                <a:cs typeface="Helvetica"/>
              </a:rPr>
              <a:t> </a:t>
            </a:r>
            <a:r>
              <a:rPr lang="es-ES" sz="2000" dirty="0">
                <a:solidFill>
                  <a:srgbClr val="218317"/>
                </a:solidFill>
                <a:latin typeface="Helvetica"/>
                <a:cs typeface="Helvetica"/>
                <a:sym typeface="Wingdings" panose="05000000000000000000" pitchFamily="2" charset="2"/>
              </a:rPr>
              <a:t></a:t>
            </a:r>
            <a:r>
              <a:rPr lang="es-ES" sz="2000" dirty="0">
                <a:latin typeface="Helvetica"/>
                <a:cs typeface="Helvetica"/>
                <a:sym typeface="Wingdings" panose="05000000000000000000" pitchFamily="2" charset="2"/>
              </a:rPr>
              <a:t> </a:t>
            </a:r>
            <a:r>
              <a:rPr lang="es-ES" sz="2000" dirty="0" err="1">
                <a:latin typeface="Helvetica"/>
                <a:cs typeface="Helvetica"/>
                <a:sym typeface="Wingdings" panose="05000000000000000000" pitchFamily="2" charset="2"/>
              </a:rPr>
              <a:t>water</a:t>
            </a:r>
            <a:r>
              <a:rPr lang="es-ES" sz="2000" dirty="0">
                <a:latin typeface="Helvetica"/>
                <a:cs typeface="Helvetica"/>
                <a:sym typeface="Wingdings" panose="05000000000000000000" pitchFamily="2" charset="2"/>
              </a:rPr>
              <a:t> </a:t>
            </a:r>
            <a:r>
              <a:rPr lang="es-ES" sz="2000" dirty="0" err="1">
                <a:latin typeface="Helvetica"/>
                <a:cs typeface="Helvetica"/>
                <a:sym typeface="Wingdings" panose="05000000000000000000" pitchFamily="2" charset="2"/>
              </a:rPr>
              <a:t>content</a:t>
            </a:r>
            <a:endParaRPr lang="es-ES" sz="20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lvl="1">
              <a:buClr>
                <a:srgbClr val="218317"/>
              </a:buClr>
              <a:buFont typeface="Calibri" panose="020B0604020202020204" pitchFamily="34" charset="0"/>
              <a:buChar char="-"/>
            </a:pPr>
            <a:r>
              <a:rPr lang="es-ES" sz="2000" dirty="0" err="1">
                <a:latin typeface="Helvetica"/>
                <a:cs typeface="Helvetica"/>
              </a:rPr>
              <a:t>Leaf</a:t>
            </a:r>
            <a:r>
              <a:rPr lang="es-ES" sz="2000" dirty="0">
                <a:latin typeface="Helvetica"/>
                <a:cs typeface="Helvetica"/>
              </a:rPr>
              <a:t> </a:t>
            </a:r>
            <a:r>
              <a:rPr lang="es-ES" sz="2000" dirty="0" err="1">
                <a:latin typeface="Helvetica"/>
                <a:cs typeface="Helvetica"/>
              </a:rPr>
              <a:t>nutrients</a:t>
            </a:r>
            <a:r>
              <a:rPr lang="es-ES" sz="2000" dirty="0">
                <a:latin typeface="Helvetica"/>
                <a:cs typeface="Helvetica"/>
              </a:rPr>
              <a:t> </a:t>
            </a:r>
            <a:r>
              <a:rPr lang="es-ES" sz="2000" dirty="0">
                <a:solidFill>
                  <a:srgbClr val="218317"/>
                </a:solidFill>
                <a:latin typeface="Helvetica"/>
                <a:cs typeface="Helvetica"/>
                <a:sym typeface="Wingdings" panose="05000000000000000000" pitchFamily="2" charset="2"/>
              </a:rPr>
              <a:t></a:t>
            </a:r>
            <a:r>
              <a:rPr lang="es-ES" sz="2000" dirty="0">
                <a:latin typeface="Helvetica"/>
                <a:cs typeface="Helvetica"/>
                <a:sym typeface="Wingdings" panose="05000000000000000000" pitchFamily="2" charset="2"/>
              </a:rPr>
              <a:t> C &amp; N </a:t>
            </a:r>
            <a:r>
              <a:rPr lang="es-ES" sz="2000" dirty="0" err="1">
                <a:latin typeface="Helvetica"/>
                <a:cs typeface="Helvetica"/>
                <a:sym typeface="Wingdings" panose="05000000000000000000" pitchFamily="2" charset="2"/>
              </a:rPr>
              <a:t>content</a:t>
            </a:r>
            <a:endParaRPr lang="es-ES" sz="20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lvl="1">
              <a:buClr>
                <a:srgbClr val="218317"/>
              </a:buClr>
              <a:buFont typeface="Calibri" panose="020B0604020202020204" pitchFamily="34" charset="0"/>
              <a:buChar char="-"/>
            </a:pPr>
            <a:r>
              <a:rPr lang="es-ES" sz="2000" dirty="0" err="1">
                <a:latin typeface="Helvetica"/>
                <a:cs typeface="Helvetica"/>
              </a:rPr>
              <a:t>Leaf</a:t>
            </a:r>
            <a:r>
              <a:rPr lang="es-ES" sz="2000" dirty="0">
                <a:latin typeface="Helvetica"/>
                <a:cs typeface="Helvetica"/>
              </a:rPr>
              <a:t> </a:t>
            </a:r>
            <a:r>
              <a:rPr lang="es-ES" sz="2000" dirty="0" err="1">
                <a:latin typeface="Helvetica"/>
                <a:cs typeface="Helvetica"/>
              </a:rPr>
              <a:t>isotopes</a:t>
            </a:r>
            <a:r>
              <a:rPr lang="es-ES" sz="2000" dirty="0">
                <a:latin typeface="Helvetica"/>
                <a:cs typeface="Helvetica"/>
              </a:rPr>
              <a:t> </a:t>
            </a:r>
            <a:r>
              <a:rPr lang="es-ES" sz="2000" dirty="0">
                <a:solidFill>
                  <a:srgbClr val="218317"/>
                </a:solidFill>
                <a:latin typeface="Helvetica"/>
                <a:cs typeface="Helvetica"/>
                <a:sym typeface="Wingdings" panose="05000000000000000000" pitchFamily="2" charset="2"/>
              </a:rPr>
              <a:t></a:t>
            </a:r>
            <a:r>
              <a:rPr lang="es-ES" sz="2000" dirty="0">
                <a:latin typeface="Helvetica"/>
                <a:cs typeface="Helvetica"/>
                <a:sym typeface="Wingdings" panose="05000000000000000000" pitchFamily="2" charset="2"/>
              </a:rPr>
              <a:t> </a:t>
            </a:r>
            <a:r>
              <a:rPr lang="es-ES" sz="2000" dirty="0" err="1">
                <a:latin typeface="Helvetica"/>
                <a:cs typeface="Helvetica"/>
                <a:sym typeface="Wingdings" panose="05000000000000000000" pitchFamily="2" charset="2"/>
              </a:rPr>
              <a:t>isotopes</a:t>
            </a:r>
            <a:endParaRPr lang="es-ES" sz="20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lvl="1">
              <a:buClr>
                <a:srgbClr val="218317"/>
              </a:buClr>
              <a:buFont typeface="Calibri" panose="02070309020205020404" pitchFamily="49" charset="0"/>
              <a:buChar char="-"/>
            </a:pPr>
            <a:endParaRPr lang="es-ES" sz="20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endParaRPr lang="es-ES" sz="24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DBD6A544-5F40-3D5E-66D4-7B99D847AC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88915" y="1477262"/>
            <a:ext cx="9366245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kumimoji="0" lang="es-ES" altLang="es-E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altLang="es-E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353E09C6-91E8-1DC0-89E8-E73082808E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690902" cy="804155"/>
          </a:xfrm>
          <a:solidFill>
            <a:srgbClr val="218317"/>
          </a:solidFill>
        </p:spPr>
        <p:txBody>
          <a:bodyPr>
            <a:normAutofit/>
          </a:bodyPr>
          <a:lstStyle/>
          <a:p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	Data 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analysis</a:t>
            </a:r>
            <a:endParaRPr lang="es-ES" sz="3200" b="1" dirty="0">
              <a:solidFill>
                <a:schemeClr val="bg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37649084-6CBA-7A2D-F875-444EAE79B411}"/>
              </a:ext>
            </a:extLst>
          </p:cNvPr>
          <p:cNvSpPr txBox="1">
            <a:spLocks/>
          </p:cNvSpPr>
          <p:nvPr/>
        </p:nvSpPr>
        <p:spPr>
          <a:xfrm>
            <a:off x="9690902" y="-1"/>
            <a:ext cx="2501098" cy="804157"/>
          </a:xfrm>
          <a:prstGeom prst="rect">
            <a:avLst/>
          </a:prstGeom>
          <a:solidFill>
            <a:srgbClr val="218317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ES" sz="2800" b="1" dirty="0">
                <a:solidFill>
                  <a:srgbClr val="218317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.</a:t>
            </a:r>
          </a:p>
        </p:txBody>
      </p:sp>
      <p:sp>
        <p:nvSpPr>
          <p:cNvPr id="9" name="Marcador de contenido 2">
            <a:extLst>
              <a:ext uri="{FF2B5EF4-FFF2-40B4-BE49-F238E27FC236}">
                <a16:creationId xmlns:a16="http://schemas.microsoft.com/office/drawing/2014/main" id="{1525B887-CEB0-B06C-898B-E1F894B39932}"/>
              </a:ext>
            </a:extLst>
          </p:cNvPr>
          <p:cNvSpPr txBox="1">
            <a:spLocks/>
          </p:cNvSpPr>
          <p:nvPr/>
        </p:nvSpPr>
        <p:spPr>
          <a:xfrm>
            <a:off x="6301273" y="1836789"/>
            <a:ext cx="5303636" cy="49586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Clr>
                <a:srgbClr val="218317"/>
              </a:buClr>
              <a:buNone/>
            </a:pPr>
            <a:r>
              <a:rPr lang="es-ES" sz="2400" b="1" dirty="0" err="1">
                <a:latin typeface="Helvetica"/>
                <a:cs typeface="Helvetica"/>
              </a:rPr>
              <a:t>We</a:t>
            </a:r>
            <a:r>
              <a:rPr lang="es-ES" sz="2400" b="1" dirty="0">
                <a:latin typeface="Helvetica"/>
                <a:cs typeface="Helvetica"/>
              </a:rPr>
              <a:t> </a:t>
            </a:r>
            <a:r>
              <a:rPr lang="es-ES" sz="2400" b="1" dirty="0" err="1">
                <a:latin typeface="Helvetica"/>
                <a:cs typeface="Helvetica"/>
              </a:rPr>
              <a:t>have</a:t>
            </a:r>
            <a:r>
              <a:rPr lang="es-ES" sz="2400" b="1" dirty="0">
                <a:latin typeface="Helvetica"/>
                <a:cs typeface="Helvetica"/>
              </a:rPr>
              <a:t> </a:t>
            </a:r>
            <a:r>
              <a:rPr lang="es-ES" sz="2400" b="1" dirty="0" err="1">
                <a:latin typeface="Helvetica"/>
                <a:cs typeface="Helvetica"/>
              </a:rPr>
              <a:t>way</a:t>
            </a:r>
            <a:r>
              <a:rPr lang="es-ES" sz="2400" b="1" dirty="0">
                <a:latin typeface="Helvetica"/>
                <a:cs typeface="Helvetica"/>
              </a:rPr>
              <a:t> </a:t>
            </a:r>
            <a:r>
              <a:rPr lang="es-ES" sz="2400" b="1" dirty="0" err="1">
                <a:latin typeface="Helvetica"/>
                <a:cs typeface="Helvetica"/>
              </a:rPr>
              <a:t>too</a:t>
            </a:r>
            <a:r>
              <a:rPr lang="es-ES" sz="2400" b="1" dirty="0">
                <a:latin typeface="Helvetica"/>
                <a:cs typeface="Helvetica"/>
              </a:rPr>
              <a:t> </a:t>
            </a:r>
            <a:r>
              <a:rPr lang="es-ES" sz="2400" b="1" dirty="0" err="1">
                <a:latin typeface="Helvetica"/>
                <a:cs typeface="Helvetica"/>
              </a:rPr>
              <a:t>many</a:t>
            </a:r>
            <a:r>
              <a:rPr lang="es-ES" sz="2400" b="1" dirty="0">
                <a:latin typeface="Helvetica"/>
                <a:cs typeface="Helvetica"/>
              </a:rPr>
              <a:t> variables!</a:t>
            </a:r>
          </a:p>
          <a:p>
            <a:pPr marL="0" indent="0" algn="ctr">
              <a:buClr>
                <a:srgbClr val="218317"/>
              </a:buClr>
              <a:buNone/>
            </a:pPr>
            <a:endParaRPr lang="es-ES" sz="20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lvl="1" algn="ctr">
              <a:buClr>
                <a:srgbClr val="218317"/>
              </a:buClr>
              <a:buFont typeface="Calibri" panose="02070309020205020404" pitchFamily="49" charset="0"/>
              <a:buChar char="-"/>
            </a:pPr>
            <a:endParaRPr lang="es-ES" sz="20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algn="ctr"/>
            <a:endParaRPr lang="es-ES" sz="24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0" name="Marcador de contenido 2">
            <a:extLst>
              <a:ext uri="{FF2B5EF4-FFF2-40B4-BE49-F238E27FC236}">
                <a16:creationId xmlns:a16="http://schemas.microsoft.com/office/drawing/2014/main" id="{9979CE87-9231-3F4C-545A-EF4ADAAA0ACE}"/>
              </a:ext>
            </a:extLst>
          </p:cNvPr>
          <p:cNvSpPr txBox="1">
            <a:spLocks/>
          </p:cNvSpPr>
          <p:nvPr/>
        </p:nvSpPr>
        <p:spPr>
          <a:xfrm>
            <a:off x="6301273" y="2670689"/>
            <a:ext cx="5303636" cy="2710049"/>
          </a:xfrm>
          <a:prstGeom prst="rect">
            <a:avLst/>
          </a:prstGeom>
        </p:spPr>
        <p:txBody>
          <a:bodyPr vert="horz" lIns="91440" tIns="45720" rIns="91440" bIns="45720" rtlCol="0" anchor="t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Clr>
                <a:srgbClr val="218317"/>
              </a:buClr>
              <a:buNone/>
            </a:pPr>
            <a:r>
              <a:rPr lang="es-ES" sz="2400" b="1" dirty="0">
                <a:latin typeface="Helvetica"/>
                <a:cs typeface="Helvetica"/>
              </a:rPr>
              <a:t>Variable </a:t>
            </a:r>
            <a:r>
              <a:rPr lang="es-ES" sz="2400" b="1" dirty="0" err="1">
                <a:latin typeface="Helvetica"/>
                <a:cs typeface="Helvetica"/>
              </a:rPr>
              <a:t>selection</a:t>
            </a:r>
            <a:r>
              <a:rPr lang="es-ES" sz="2400" b="1" dirty="0">
                <a:latin typeface="Helvetica"/>
                <a:cs typeface="Helvetica"/>
              </a:rPr>
              <a:t>:</a:t>
            </a:r>
          </a:p>
          <a:p>
            <a:pPr marL="457200" indent="-457200" algn="just">
              <a:buClr>
                <a:srgbClr val="218317"/>
              </a:buClr>
              <a:buAutoNum type="arabicPeriod"/>
            </a:pPr>
            <a:r>
              <a:rPr lang="es-ES" sz="2000" b="1" dirty="0" err="1">
                <a:latin typeface="Helvetica"/>
                <a:cs typeface="Helvetica"/>
              </a:rPr>
              <a:t>Bibliographic</a:t>
            </a:r>
            <a:r>
              <a:rPr lang="es-ES" sz="2000" b="1" dirty="0">
                <a:latin typeface="Helvetica"/>
                <a:cs typeface="Helvetica"/>
              </a:rPr>
              <a:t> </a:t>
            </a:r>
            <a:r>
              <a:rPr lang="es-ES" sz="2000" b="1" dirty="0" err="1">
                <a:latin typeface="Helvetica"/>
                <a:cs typeface="Helvetica"/>
              </a:rPr>
              <a:t>revision</a:t>
            </a:r>
            <a:r>
              <a:rPr lang="es-ES" sz="2000" b="1" dirty="0">
                <a:latin typeface="Helvetica"/>
                <a:cs typeface="Helvetica"/>
              </a:rPr>
              <a:t> </a:t>
            </a:r>
            <a:r>
              <a:rPr lang="es-ES" sz="2000" b="1" dirty="0">
                <a:latin typeface="Helvetica"/>
                <a:cs typeface="Helvetica"/>
                <a:sym typeface="Wingdings" panose="05000000000000000000" pitchFamily="2" charset="2"/>
              </a:rPr>
              <a:t> </a:t>
            </a:r>
            <a:r>
              <a:rPr lang="es-ES" sz="2000" dirty="0" err="1">
                <a:latin typeface="Helvetica"/>
                <a:cs typeface="Helvetica"/>
                <a:sym typeface="Wingdings" panose="05000000000000000000" pitchFamily="2" charset="2"/>
              </a:rPr>
              <a:t>to</a:t>
            </a:r>
            <a:r>
              <a:rPr lang="es-ES" sz="2000" dirty="0">
                <a:latin typeface="Helvetica"/>
                <a:cs typeface="Helvetica"/>
                <a:sym typeface="Wingdings" panose="05000000000000000000" pitchFamily="2" charset="2"/>
              </a:rPr>
              <a:t> </a:t>
            </a:r>
            <a:r>
              <a:rPr lang="es-ES" sz="2000" dirty="0" err="1">
                <a:latin typeface="Helvetica"/>
                <a:cs typeface="Helvetica"/>
                <a:sym typeface="Wingdings" panose="05000000000000000000" pitchFamily="2" charset="2"/>
              </a:rPr>
              <a:t>differenciate</a:t>
            </a:r>
            <a:r>
              <a:rPr lang="es-ES" sz="2000" dirty="0">
                <a:latin typeface="Helvetica"/>
                <a:cs typeface="Helvetica"/>
                <a:sym typeface="Wingdings" panose="05000000000000000000" pitchFamily="2" charset="2"/>
              </a:rPr>
              <a:t> </a:t>
            </a:r>
            <a:r>
              <a:rPr lang="es-ES" sz="2000" dirty="0" err="1">
                <a:latin typeface="Helvetica"/>
                <a:cs typeface="Helvetica"/>
                <a:sym typeface="Wingdings" panose="05000000000000000000" pitchFamily="2" charset="2"/>
              </a:rPr>
              <a:t>between</a:t>
            </a:r>
            <a:r>
              <a:rPr lang="es-ES" sz="2000" dirty="0">
                <a:latin typeface="Helvetica"/>
                <a:cs typeface="Helvetica"/>
                <a:sym typeface="Wingdings" panose="05000000000000000000" pitchFamily="2" charset="2"/>
              </a:rPr>
              <a:t> </a:t>
            </a:r>
            <a:r>
              <a:rPr lang="es-ES" sz="2000" dirty="0" err="1">
                <a:latin typeface="Helvetica"/>
                <a:cs typeface="Helvetica"/>
                <a:sym typeface="Wingdings" panose="05000000000000000000" pitchFamily="2" charset="2"/>
              </a:rPr>
              <a:t>inciting</a:t>
            </a:r>
            <a:r>
              <a:rPr lang="es-ES" sz="2000" dirty="0">
                <a:latin typeface="Helvetica"/>
                <a:cs typeface="Helvetica"/>
                <a:sym typeface="Wingdings" panose="05000000000000000000" pitchFamily="2" charset="2"/>
              </a:rPr>
              <a:t> </a:t>
            </a:r>
            <a:r>
              <a:rPr lang="es-ES" sz="2000" dirty="0" err="1">
                <a:latin typeface="Helvetica"/>
                <a:cs typeface="Helvetica"/>
                <a:sym typeface="Wingdings" panose="05000000000000000000" pitchFamily="2" charset="2"/>
              </a:rPr>
              <a:t>factors</a:t>
            </a:r>
            <a:r>
              <a:rPr lang="es-ES" sz="2000" dirty="0">
                <a:latin typeface="Helvetica"/>
                <a:cs typeface="Helvetica"/>
                <a:sym typeface="Wingdings" panose="05000000000000000000" pitchFamily="2" charset="2"/>
              </a:rPr>
              <a:t> and responses</a:t>
            </a:r>
          </a:p>
          <a:p>
            <a:pPr marL="457200" indent="-457200" algn="just">
              <a:buClr>
                <a:srgbClr val="218317"/>
              </a:buClr>
              <a:buAutoNum type="arabicPeriod"/>
            </a:pPr>
            <a:r>
              <a:rPr lang="es-ES" sz="2000" b="1" dirty="0" err="1">
                <a:latin typeface="Helvetica"/>
                <a:cs typeface="Helvetica"/>
                <a:sym typeface="Wingdings" panose="05000000000000000000" pitchFamily="2" charset="2"/>
              </a:rPr>
              <a:t>Correlogram</a:t>
            </a:r>
            <a:r>
              <a:rPr lang="es-ES" sz="2000" b="1" dirty="0">
                <a:latin typeface="Helvetica"/>
                <a:cs typeface="Helvetica"/>
                <a:sym typeface="Wingdings" panose="05000000000000000000" pitchFamily="2" charset="2"/>
              </a:rPr>
              <a:t>  </a:t>
            </a:r>
            <a:r>
              <a:rPr lang="es-ES" sz="2000" dirty="0" err="1">
                <a:latin typeface="Helvetica"/>
                <a:cs typeface="Helvetica"/>
                <a:sym typeface="Wingdings" panose="05000000000000000000" pitchFamily="2" charset="2"/>
              </a:rPr>
              <a:t>to</a:t>
            </a:r>
            <a:r>
              <a:rPr lang="es-ES" sz="2000" dirty="0">
                <a:latin typeface="Helvetica"/>
                <a:cs typeface="Helvetica"/>
                <a:sym typeface="Wingdings" panose="05000000000000000000" pitchFamily="2" charset="2"/>
              </a:rPr>
              <a:t> </a:t>
            </a:r>
            <a:r>
              <a:rPr lang="es-ES" sz="2000" dirty="0" err="1">
                <a:latin typeface="Helvetica"/>
                <a:cs typeface="Helvetica"/>
                <a:sym typeface="Wingdings" panose="05000000000000000000" pitchFamily="2" charset="2"/>
              </a:rPr>
              <a:t>see</a:t>
            </a:r>
            <a:r>
              <a:rPr lang="es-ES" sz="2000" dirty="0">
                <a:latin typeface="Helvetica"/>
                <a:cs typeface="Helvetica"/>
                <a:sym typeface="Wingdings" panose="05000000000000000000" pitchFamily="2" charset="2"/>
              </a:rPr>
              <a:t> </a:t>
            </a:r>
            <a:r>
              <a:rPr lang="es-ES" sz="2000" dirty="0" err="1">
                <a:latin typeface="Helvetica"/>
                <a:cs typeface="Helvetica"/>
                <a:sym typeface="Wingdings" panose="05000000000000000000" pitchFamily="2" charset="2"/>
              </a:rPr>
              <a:t>what</a:t>
            </a:r>
            <a:r>
              <a:rPr lang="es-ES" sz="2000" dirty="0">
                <a:latin typeface="Helvetica"/>
                <a:cs typeface="Helvetica"/>
                <a:sym typeface="Wingdings" panose="05000000000000000000" pitchFamily="2" charset="2"/>
              </a:rPr>
              <a:t> variables are </a:t>
            </a:r>
            <a:r>
              <a:rPr lang="es-ES" sz="2000" dirty="0" err="1">
                <a:latin typeface="Helvetica"/>
                <a:cs typeface="Helvetica"/>
                <a:sym typeface="Wingdings" panose="05000000000000000000" pitchFamily="2" charset="2"/>
              </a:rPr>
              <a:t>redundant</a:t>
            </a:r>
            <a:endParaRPr lang="es-ES" sz="2000" dirty="0">
              <a:latin typeface="Helvetica"/>
              <a:cs typeface="Helvetica"/>
              <a:sym typeface="Wingdings" panose="05000000000000000000" pitchFamily="2" charset="2"/>
            </a:endParaRPr>
          </a:p>
          <a:p>
            <a:pPr marL="457200" indent="-457200" algn="just">
              <a:buClr>
                <a:srgbClr val="218317"/>
              </a:buClr>
              <a:buAutoNum type="arabicPeriod"/>
            </a:pPr>
            <a:r>
              <a:rPr lang="es-ES" sz="2000" b="1" dirty="0">
                <a:latin typeface="Helvetica"/>
                <a:cs typeface="Helvetica"/>
                <a:sym typeface="Wingdings" panose="05000000000000000000" pitchFamily="2" charset="2"/>
              </a:rPr>
              <a:t>Wilcoxon test  </a:t>
            </a:r>
            <a:r>
              <a:rPr lang="es-ES" sz="2000" dirty="0" err="1">
                <a:latin typeface="Helvetica"/>
                <a:cs typeface="Helvetica"/>
                <a:sym typeface="Wingdings" panose="05000000000000000000" pitchFamily="2" charset="2"/>
              </a:rPr>
              <a:t>to</a:t>
            </a:r>
            <a:r>
              <a:rPr lang="es-ES" sz="2000" dirty="0">
                <a:latin typeface="Helvetica"/>
                <a:cs typeface="Helvetica"/>
                <a:sym typeface="Wingdings" panose="05000000000000000000" pitchFamily="2" charset="2"/>
              </a:rPr>
              <a:t> </a:t>
            </a:r>
            <a:r>
              <a:rPr lang="es-ES" sz="2000" dirty="0" err="1">
                <a:latin typeface="Helvetica"/>
                <a:cs typeface="Helvetica"/>
                <a:sym typeface="Wingdings" panose="05000000000000000000" pitchFamily="2" charset="2"/>
              </a:rPr>
              <a:t>select</a:t>
            </a:r>
            <a:r>
              <a:rPr lang="es-ES" sz="2000" dirty="0">
                <a:latin typeface="Helvetica"/>
                <a:cs typeface="Helvetica"/>
                <a:sym typeface="Wingdings" panose="05000000000000000000" pitchFamily="2" charset="2"/>
              </a:rPr>
              <a:t> </a:t>
            </a:r>
            <a:r>
              <a:rPr lang="es-ES" sz="2000" dirty="0" err="1">
                <a:latin typeface="Helvetica"/>
                <a:cs typeface="Helvetica"/>
                <a:sym typeface="Wingdings" panose="05000000000000000000" pitchFamily="2" charset="2"/>
              </a:rPr>
              <a:t>what</a:t>
            </a:r>
            <a:r>
              <a:rPr lang="es-ES" sz="2000" dirty="0">
                <a:latin typeface="Helvetica"/>
                <a:cs typeface="Helvetica"/>
                <a:sym typeface="Wingdings" panose="05000000000000000000" pitchFamily="2" charset="2"/>
              </a:rPr>
              <a:t> variables show a </a:t>
            </a:r>
            <a:r>
              <a:rPr lang="es-ES" sz="2000" dirty="0" err="1">
                <a:latin typeface="Helvetica"/>
                <a:cs typeface="Helvetica"/>
                <a:sym typeface="Wingdings" panose="05000000000000000000" pitchFamily="2" charset="2"/>
              </a:rPr>
              <a:t>significant</a:t>
            </a:r>
            <a:r>
              <a:rPr lang="es-ES" sz="2000" dirty="0">
                <a:latin typeface="Helvetica"/>
                <a:cs typeface="Helvetica"/>
                <a:sym typeface="Wingdings" panose="05000000000000000000" pitchFamily="2" charset="2"/>
              </a:rPr>
              <a:t> </a:t>
            </a:r>
            <a:r>
              <a:rPr lang="es-ES" sz="2000" dirty="0" err="1">
                <a:latin typeface="Helvetica"/>
                <a:cs typeface="Helvetica"/>
                <a:sym typeface="Wingdings" panose="05000000000000000000" pitchFamily="2" charset="2"/>
              </a:rPr>
              <a:t>difference</a:t>
            </a:r>
            <a:endParaRPr lang="es-ES" sz="2000" dirty="0">
              <a:latin typeface="Helvetica"/>
              <a:cs typeface="Helvetica"/>
              <a:sym typeface="Wingdings" panose="05000000000000000000" pitchFamily="2" charset="2"/>
            </a:endParaRPr>
          </a:p>
          <a:p>
            <a:pPr algn="just">
              <a:buClr>
                <a:srgbClr val="218317"/>
              </a:buClr>
            </a:pPr>
            <a:endParaRPr lang="es-ES" sz="2000" b="1" dirty="0">
              <a:latin typeface="Helvetica"/>
              <a:cs typeface="Helvetica"/>
              <a:sym typeface="Wingdings" panose="05000000000000000000" pitchFamily="2" charset="2"/>
            </a:endParaRPr>
          </a:p>
          <a:p>
            <a:pPr algn="just">
              <a:buClr>
                <a:srgbClr val="218317"/>
              </a:buClr>
            </a:pPr>
            <a:endParaRPr lang="es-ES" sz="2000" b="1" dirty="0">
              <a:latin typeface="Helvetica"/>
              <a:cs typeface="Helvetica"/>
            </a:endParaRPr>
          </a:p>
          <a:p>
            <a:pPr marL="0" indent="0" algn="ctr">
              <a:buClr>
                <a:srgbClr val="218317"/>
              </a:buClr>
              <a:buNone/>
            </a:pPr>
            <a:endParaRPr lang="es-ES" sz="2000" b="1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lvl="1" algn="ctr">
              <a:buClr>
                <a:srgbClr val="218317"/>
              </a:buClr>
              <a:buFont typeface="Calibri" panose="02070309020205020404" pitchFamily="49" charset="0"/>
              <a:buChar char="-"/>
            </a:pPr>
            <a:endParaRPr lang="es-ES" sz="2000" b="1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algn="ctr"/>
            <a:endParaRPr lang="es-ES" sz="2400" b="1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1" name="Cerrar llave 10">
            <a:extLst>
              <a:ext uri="{FF2B5EF4-FFF2-40B4-BE49-F238E27FC236}">
                <a16:creationId xmlns:a16="http://schemas.microsoft.com/office/drawing/2014/main" id="{5086CF27-36BF-EF34-D789-41942CCBB32D}"/>
              </a:ext>
            </a:extLst>
          </p:cNvPr>
          <p:cNvSpPr/>
          <p:nvPr/>
        </p:nvSpPr>
        <p:spPr>
          <a:xfrm>
            <a:off x="5927497" y="1836789"/>
            <a:ext cx="271140" cy="3369693"/>
          </a:xfrm>
          <a:prstGeom prst="rightBrace">
            <a:avLst/>
          </a:prstGeom>
          <a:noFill/>
          <a:ln w="38100">
            <a:solidFill>
              <a:srgbClr val="21831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1338592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E014FA-3D28-8403-81B6-B448077719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>
            <a:extLst>
              <a:ext uri="{FF2B5EF4-FFF2-40B4-BE49-F238E27FC236}">
                <a16:creationId xmlns:a16="http://schemas.microsoft.com/office/drawing/2014/main" id="{385FE511-F26E-1A66-6941-39A9082AE3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88915" y="1477262"/>
            <a:ext cx="9366245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kumimoji="0" lang="es-ES" altLang="es-E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altLang="es-E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2E7AE742-6EA7-F8B5-3595-9F111578AD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690902" cy="804155"/>
          </a:xfrm>
          <a:solidFill>
            <a:srgbClr val="218317"/>
          </a:solidFill>
        </p:spPr>
        <p:txBody>
          <a:bodyPr>
            <a:normAutofit/>
          </a:bodyPr>
          <a:lstStyle/>
          <a:p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	Data 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analysis</a:t>
            </a:r>
            <a:endParaRPr lang="es-ES" sz="3200" b="1" dirty="0">
              <a:solidFill>
                <a:schemeClr val="bg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9132A3D2-0918-C180-A3AF-66B4E681884D}"/>
              </a:ext>
            </a:extLst>
          </p:cNvPr>
          <p:cNvSpPr txBox="1">
            <a:spLocks/>
          </p:cNvSpPr>
          <p:nvPr/>
        </p:nvSpPr>
        <p:spPr>
          <a:xfrm>
            <a:off x="9690902" y="-1"/>
            <a:ext cx="2501098" cy="804157"/>
          </a:xfrm>
          <a:prstGeom prst="rect">
            <a:avLst/>
          </a:prstGeom>
          <a:solidFill>
            <a:srgbClr val="218317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ES" sz="2800" b="1" dirty="0">
                <a:solidFill>
                  <a:srgbClr val="218317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.</a:t>
            </a:r>
          </a:p>
        </p:txBody>
      </p:sp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7D0A892C-550D-6C20-3244-E4006C28BAC1}"/>
              </a:ext>
            </a:extLst>
          </p:cNvPr>
          <p:cNvSpPr txBox="1">
            <a:spLocks/>
          </p:cNvSpPr>
          <p:nvPr/>
        </p:nvSpPr>
        <p:spPr>
          <a:xfrm>
            <a:off x="418288" y="1140469"/>
            <a:ext cx="5136205" cy="64633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Clr>
                <a:srgbClr val="218317"/>
              </a:buClr>
              <a:buNone/>
            </a:pPr>
            <a:r>
              <a:rPr lang="es-ES" sz="3200" b="1" dirty="0">
                <a:solidFill>
                  <a:srgbClr val="218317"/>
                </a:solidFill>
                <a:latin typeface="Helvetica"/>
                <a:cs typeface="Helvetica"/>
              </a:rPr>
              <a:t>1.- </a:t>
            </a:r>
            <a:r>
              <a:rPr lang="es-ES" sz="3200" b="1" dirty="0" err="1">
                <a:latin typeface="Helvetica"/>
                <a:cs typeface="Helvetica"/>
              </a:rPr>
              <a:t>Bibliographic</a:t>
            </a:r>
            <a:r>
              <a:rPr lang="es-ES" sz="3200" b="1" dirty="0">
                <a:latin typeface="Helvetica"/>
                <a:cs typeface="Helvetica"/>
              </a:rPr>
              <a:t> </a:t>
            </a:r>
            <a:r>
              <a:rPr lang="es-ES" sz="3200" b="1" dirty="0" err="1">
                <a:latin typeface="Helvetica"/>
                <a:cs typeface="Helvetica"/>
              </a:rPr>
              <a:t>revision</a:t>
            </a:r>
            <a:endParaRPr lang="es-ES" dirty="0">
              <a:latin typeface="Helvetica"/>
              <a:cs typeface="Helvetica"/>
              <a:sym typeface="Wingdings" panose="05000000000000000000" pitchFamily="2" charset="2"/>
            </a:endParaRPr>
          </a:p>
          <a:p>
            <a:pPr algn="just">
              <a:buClr>
                <a:srgbClr val="218317"/>
              </a:buClr>
            </a:pPr>
            <a:endParaRPr lang="es-ES" b="1" dirty="0">
              <a:latin typeface="Helvetica"/>
              <a:cs typeface="Helvetica"/>
              <a:sym typeface="Wingdings" panose="05000000000000000000" pitchFamily="2" charset="2"/>
            </a:endParaRPr>
          </a:p>
          <a:p>
            <a:pPr algn="just">
              <a:buClr>
                <a:srgbClr val="218317"/>
              </a:buClr>
            </a:pPr>
            <a:endParaRPr lang="es-ES" b="1" dirty="0">
              <a:latin typeface="Helvetica"/>
              <a:cs typeface="Helvetica"/>
            </a:endParaRPr>
          </a:p>
          <a:p>
            <a:pPr marL="0" indent="0" algn="ctr">
              <a:buClr>
                <a:srgbClr val="218317"/>
              </a:buClr>
              <a:buNone/>
            </a:pPr>
            <a:endParaRPr lang="es-ES" b="1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lvl="1" algn="ctr">
              <a:buClr>
                <a:srgbClr val="218317"/>
              </a:buClr>
              <a:buFont typeface="Calibri" panose="02070309020205020404" pitchFamily="49" charset="0"/>
              <a:buChar char="-"/>
            </a:pPr>
            <a:endParaRPr lang="es-ES" sz="2800" b="1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algn="ctr"/>
            <a:endParaRPr lang="es-ES" sz="3200" b="1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7" name="TextBox 16">
            <a:extLst>
              <a:ext uri="{FF2B5EF4-FFF2-40B4-BE49-F238E27FC236}">
                <a16:creationId xmlns:a16="http://schemas.microsoft.com/office/drawing/2014/main" id="{D8CA4C81-E87C-509B-D127-B005EEC6CA49}"/>
              </a:ext>
            </a:extLst>
          </p:cNvPr>
          <p:cNvSpPr txBox="1"/>
          <p:nvPr/>
        </p:nvSpPr>
        <p:spPr>
          <a:xfrm>
            <a:off x="-404782" y="2123114"/>
            <a:ext cx="709855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4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Predisposing</a:t>
            </a:r>
            <a:r>
              <a:rPr lang="es-ES" sz="2400" b="1" dirty="0">
                <a:latin typeface="Helvetica" panose="020B0604020202020204" pitchFamily="34" charset="0"/>
                <a:cs typeface="Helvetica" panose="020B0604020202020204" pitchFamily="34" charset="0"/>
              </a:rPr>
              <a:t> factor</a:t>
            </a:r>
            <a:r>
              <a:rPr lang="es-ES" sz="2800" b="1" dirty="0">
                <a:latin typeface="Helvetica" panose="020B0604020202020204" pitchFamily="34" charset="0"/>
                <a:cs typeface="Helvetica" panose="020B0604020202020204" pitchFamily="34" charset="0"/>
              </a:rPr>
              <a:t> =/= </a:t>
            </a:r>
            <a:r>
              <a:rPr lang="es-ES" sz="2400" b="1" dirty="0">
                <a:latin typeface="Helvetica" panose="020B0604020202020204" pitchFamily="34" charset="0"/>
                <a:cs typeface="Helvetica" panose="020B0604020202020204" pitchFamily="34" charset="0"/>
              </a:rPr>
              <a:t>response</a:t>
            </a:r>
            <a:endParaRPr lang="es-ES" sz="2800" b="1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pic>
        <p:nvPicPr>
          <p:cNvPr id="12" name="Picture 2" descr="Original “death spiral” from Manion (1991) describing biotic ...">
            <a:extLst>
              <a:ext uri="{FF2B5EF4-FFF2-40B4-BE49-F238E27FC236}">
                <a16:creationId xmlns:a16="http://schemas.microsoft.com/office/drawing/2014/main" id="{E645AC0B-7EB5-ED28-D344-04A8A75BE6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33055" y="1226789"/>
            <a:ext cx="3643597" cy="4432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2">
            <a:extLst>
              <a:ext uri="{FF2B5EF4-FFF2-40B4-BE49-F238E27FC236}">
                <a16:creationId xmlns:a16="http://schemas.microsoft.com/office/drawing/2014/main" id="{38EBA44B-1185-188E-A668-6131DF56E017}"/>
              </a:ext>
            </a:extLst>
          </p:cNvPr>
          <p:cNvSpPr txBox="1"/>
          <p:nvPr/>
        </p:nvSpPr>
        <p:spPr>
          <a:xfrm>
            <a:off x="418288" y="2980082"/>
            <a:ext cx="3063789" cy="2031325"/>
          </a:xfrm>
          <a:prstGeom prst="rect">
            <a:avLst/>
          </a:prstGeom>
          <a:noFill/>
          <a:ln w="57150">
            <a:noFill/>
          </a:ln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218317"/>
              </a:buClr>
              <a:buFont typeface="Arial" panose="020B0604020202020204" pitchFamily="34" charset="0"/>
              <a:buChar char="•"/>
            </a:pP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Tree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size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(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dbh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, altura)</a:t>
            </a:r>
          </a:p>
          <a:p>
            <a:pPr marL="342900" indent="-342900">
              <a:buClr>
                <a:srgbClr val="218317"/>
              </a:buClr>
              <a:buFont typeface="Arial" panose="020B0604020202020204" pitchFamily="34" charset="0"/>
              <a:buChar char="•"/>
            </a:pP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Competition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(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Hegyi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index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)</a:t>
            </a:r>
          </a:p>
          <a:p>
            <a:pPr marL="342900" indent="-342900">
              <a:buClr>
                <a:srgbClr val="218317"/>
              </a:buClr>
              <a:buFont typeface="Arial" panose="020B0604020202020204" pitchFamily="34" charset="0"/>
              <a:buChar char="•"/>
            </a:pP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iWUE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(SLA, EWT)</a:t>
            </a:r>
          </a:p>
          <a:p>
            <a:pPr marL="342900" indent="-342900">
              <a:buClr>
                <a:srgbClr val="218317"/>
              </a:buClr>
              <a:buFont typeface="Arial" panose="020B0604020202020204" pitchFamily="34" charset="0"/>
              <a:buChar char="•"/>
            </a:pP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Growth</a:t>
            </a:r>
            <a:endParaRPr lang="es-ES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342900" indent="-342900">
              <a:buClr>
                <a:srgbClr val="218317"/>
              </a:buClr>
              <a:buFont typeface="Arial" panose="020B0604020202020204" pitchFamily="34" charset="0"/>
              <a:buChar char="•"/>
            </a:pP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Resistance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&amp;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Resilience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(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Lloret’s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indices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)</a:t>
            </a:r>
          </a:p>
        </p:txBody>
      </p:sp>
      <p:sp>
        <p:nvSpPr>
          <p:cNvPr id="6" name="TextBox 2">
            <a:extLst>
              <a:ext uri="{FF2B5EF4-FFF2-40B4-BE49-F238E27FC236}">
                <a16:creationId xmlns:a16="http://schemas.microsoft.com/office/drawing/2014/main" id="{8245B133-8575-15E6-27D3-0CD81C7F8EC2}"/>
              </a:ext>
            </a:extLst>
          </p:cNvPr>
          <p:cNvSpPr txBox="1"/>
          <p:nvPr/>
        </p:nvSpPr>
        <p:spPr>
          <a:xfrm>
            <a:off x="4621358" y="2980082"/>
            <a:ext cx="2314463" cy="2862322"/>
          </a:xfrm>
          <a:prstGeom prst="rect">
            <a:avLst/>
          </a:prstGeom>
          <a:noFill/>
          <a:ln w="57150">
            <a:noFill/>
          </a:ln>
        </p:spPr>
        <p:txBody>
          <a:bodyPr wrap="square" rtlCol="0">
            <a:spAutoFit/>
          </a:bodyPr>
          <a:lstStyle/>
          <a:p>
            <a:pPr marL="285750" indent="-285750">
              <a:buClr>
                <a:srgbClr val="218317"/>
              </a:buClr>
              <a:buFont typeface="Arial" panose="020B0604020202020204" pitchFamily="34" charset="0"/>
              <a:buChar char="•"/>
            </a:pP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Defoliation</a:t>
            </a:r>
            <a:endParaRPr lang="es-ES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285750" indent="-285750">
              <a:buClr>
                <a:srgbClr val="218317"/>
              </a:buClr>
              <a:buFont typeface="Arial" panose="020B0604020202020204" pitchFamily="34" charset="0"/>
              <a:buChar char="•"/>
            </a:pP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Pigments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(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Chl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,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carotenoids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)</a:t>
            </a:r>
          </a:p>
          <a:p>
            <a:pPr marL="285750" indent="-285750">
              <a:buClr>
                <a:srgbClr val="218317"/>
              </a:buClr>
              <a:buFont typeface="Arial" panose="020B0604020202020204" pitchFamily="34" charset="0"/>
              <a:buChar char="•"/>
            </a:pP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SLA</a:t>
            </a:r>
          </a:p>
          <a:p>
            <a:pPr marL="285750" indent="-285750">
              <a:buClr>
                <a:srgbClr val="218317"/>
              </a:buClr>
              <a:buFont typeface="Arial" panose="020B0604020202020204" pitchFamily="34" charset="0"/>
              <a:buChar char="•"/>
            </a:pP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RWC</a:t>
            </a:r>
          </a:p>
          <a:p>
            <a:pPr marL="285750" indent="-285750">
              <a:buClr>
                <a:srgbClr val="218317"/>
              </a:buClr>
              <a:buFont typeface="Arial" panose="020B0604020202020204" pitchFamily="34" charset="0"/>
              <a:buChar char="•"/>
            </a:pP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Leaf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isotopes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(</a:t>
            </a:r>
            <a:r>
              <a:rPr lang="el-GR" dirty="0">
                <a:latin typeface="Helvetica" panose="020B0604020202020204" pitchFamily="34" charset="0"/>
                <a:cs typeface="Helvetica" panose="020B0604020202020204" pitchFamily="34" charset="0"/>
              </a:rPr>
              <a:t>δ</a:t>
            </a:r>
            <a:r>
              <a:rPr lang="es-ES" baseline="30000" dirty="0">
                <a:latin typeface="Helvetica" panose="020B0604020202020204" pitchFamily="34" charset="0"/>
                <a:cs typeface="Helvetica" panose="020B0604020202020204" pitchFamily="34" charset="0"/>
              </a:rPr>
              <a:t>13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C, </a:t>
            </a:r>
            <a:r>
              <a:rPr lang="el-GR" dirty="0">
                <a:latin typeface="Helvetica" panose="020B0604020202020204" pitchFamily="34" charset="0"/>
                <a:cs typeface="Helvetica" panose="020B0604020202020204" pitchFamily="34" charset="0"/>
              </a:rPr>
              <a:t>δ</a:t>
            </a:r>
            <a:r>
              <a:rPr lang="es-ES" baseline="30000" dirty="0">
                <a:latin typeface="Helvetica" panose="020B0604020202020204" pitchFamily="34" charset="0"/>
                <a:cs typeface="Helvetica" panose="020B0604020202020204" pitchFamily="34" charset="0"/>
              </a:rPr>
              <a:t>15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n, </a:t>
            </a:r>
            <a:r>
              <a:rPr lang="el-GR" dirty="0">
                <a:latin typeface="Helvetica" panose="020B0604020202020204" pitchFamily="34" charset="0"/>
                <a:cs typeface="Helvetica" panose="020B0604020202020204" pitchFamily="34" charset="0"/>
              </a:rPr>
              <a:t>δ</a:t>
            </a:r>
            <a:r>
              <a:rPr lang="es-ES" baseline="30000" dirty="0">
                <a:latin typeface="Helvetica" panose="020B0604020202020204" pitchFamily="34" charset="0"/>
                <a:cs typeface="Helvetica" panose="020B0604020202020204" pitchFamily="34" charset="0"/>
              </a:rPr>
              <a:t>18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O)</a:t>
            </a:r>
          </a:p>
          <a:p>
            <a:pPr marL="285750" indent="-285750">
              <a:buClr>
                <a:srgbClr val="218317"/>
              </a:buClr>
              <a:buFont typeface="Arial" panose="020B0604020202020204" pitchFamily="34" charset="0"/>
              <a:buChar char="•"/>
            </a:pP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Wood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isotopes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(</a:t>
            </a:r>
            <a:r>
              <a:rPr lang="el-GR" dirty="0">
                <a:latin typeface="Helvetica" panose="020B0604020202020204" pitchFamily="34" charset="0"/>
                <a:cs typeface="Helvetica" panose="020B0604020202020204" pitchFamily="34" charset="0"/>
              </a:rPr>
              <a:t>δ</a:t>
            </a:r>
            <a:r>
              <a:rPr lang="es-ES" baseline="30000" dirty="0">
                <a:latin typeface="Helvetica" panose="020B0604020202020204" pitchFamily="34" charset="0"/>
                <a:cs typeface="Helvetica" panose="020B0604020202020204" pitchFamily="34" charset="0"/>
              </a:rPr>
              <a:t>13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C 2012-2017, </a:t>
            </a:r>
            <a:r>
              <a:rPr lang="el-GR" dirty="0">
                <a:latin typeface="Helvetica" panose="020B0604020202020204" pitchFamily="34" charset="0"/>
                <a:cs typeface="Helvetica" panose="020B0604020202020204" pitchFamily="34" charset="0"/>
              </a:rPr>
              <a:t>δ</a:t>
            </a:r>
            <a:r>
              <a:rPr lang="es-ES" baseline="30000" dirty="0">
                <a:latin typeface="Helvetica" panose="020B0604020202020204" pitchFamily="34" charset="0"/>
                <a:cs typeface="Helvetica" panose="020B0604020202020204" pitchFamily="34" charset="0"/>
              </a:rPr>
              <a:t>13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C 2017-2022)</a:t>
            </a:r>
          </a:p>
        </p:txBody>
      </p:sp>
      <p:sp>
        <p:nvSpPr>
          <p:cNvPr id="9" name="TextBox 16">
            <a:extLst>
              <a:ext uri="{FF2B5EF4-FFF2-40B4-BE49-F238E27FC236}">
                <a16:creationId xmlns:a16="http://schemas.microsoft.com/office/drawing/2014/main" id="{4E75BA56-1292-392C-172D-37601AE1B7B7}"/>
              </a:ext>
            </a:extLst>
          </p:cNvPr>
          <p:cNvSpPr txBox="1"/>
          <p:nvPr/>
        </p:nvSpPr>
        <p:spPr>
          <a:xfrm>
            <a:off x="3022441" y="3443114"/>
            <a:ext cx="182301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3200" b="1" dirty="0">
                <a:latin typeface="Helvetica" panose="020B0604020202020204" pitchFamily="34" charset="0"/>
                <a:cs typeface="Helvetica" panose="020B0604020202020204" pitchFamily="34" charset="0"/>
              </a:rPr>
              <a:t>=/=</a:t>
            </a:r>
          </a:p>
        </p:txBody>
      </p:sp>
    </p:spTree>
    <p:extLst>
      <p:ext uri="{BB962C8B-B14F-4D97-AF65-F5344CB8AC3E}">
        <p14:creationId xmlns:p14="http://schemas.microsoft.com/office/powerpoint/2010/main" val="37362730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CB7DEA-18C0-7E70-0100-6D2B240DEC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>
            <a:extLst>
              <a:ext uri="{FF2B5EF4-FFF2-40B4-BE49-F238E27FC236}">
                <a16:creationId xmlns:a16="http://schemas.microsoft.com/office/drawing/2014/main" id="{55E2DDB8-80B8-532F-A330-AC9EAE8265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88915" y="1477262"/>
            <a:ext cx="9366245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kumimoji="0" lang="es-ES" altLang="es-E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altLang="es-E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E423080-27E9-47A0-7D69-91B3822238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690902" cy="804155"/>
          </a:xfrm>
          <a:solidFill>
            <a:srgbClr val="218317"/>
          </a:solidFill>
        </p:spPr>
        <p:txBody>
          <a:bodyPr>
            <a:normAutofit/>
          </a:bodyPr>
          <a:lstStyle/>
          <a:p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	Data 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analysis</a:t>
            </a:r>
            <a:endParaRPr lang="es-ES" sz="3200" b="1" dirty="0">
              <a:solidFill>
                <a:schemeClr val="bg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9E93ADEC-2EAE-FCB5-FEDA-2BA7ADF57666}"/>
              </a:ext>
            </a:extLst>
          </p:cNvPr>
          <p:cNvSpPr txBox="1">
            <a:spLocks/>
          </p:cNvSpPr>
          <p:nvPr/>
        </p:nvSpPr>
        <p:spPr>
          <a:xfrm>
            <a:off x="418288" y="1140469"/>
            <a:ext cx="5136205" cy="64633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rgbClr val="218317"/>
              </a:buClr>
              <a:buNone/>
            </a:pPr>
            <a:r>
              <a:rPr lang="es-ES" sz="3200" b="1" dirty="0">
                <a:solidFill>
                  <a:srgbClr val="218317"/>
                </a:solidFill>
                <a:latin typeface="Helvetica"/>
                <a:cs typeface="Helvetica"/>
              </a:rPr>
              <a:t>2.- </a:t>
            </a:r>
            <a:r>
              <a:rPr lang="es-ES" sz="3200" b="1" dirty="0" err="1">
                <a:latin typeface="Helvetica"/>
                <a:cs typeface="Helvetica"/>
              </a:rPr>
              <a:t>Correlogram</a:t>
            </a:r>
            <a:endParaRPr lang="es-ES" dirty="0">
              <a:latin typeface="Helvetica"/>
              <a:cs typeface="Helvetica"/>
              <a:sym typeface="Wingdings" panose="05000000000000000000" pitchFamily="2" charset="2"/>
            </a:endParaRPr>
          </a:p>
          <a:p>
            <a:pPr>
              <a:buClr>
                <a:srgbClr val="218317"/>
              </a:buClr>
            </a:pPr>
            <a:endParaRPr lang="es-ES" b="1" dirty="0">
              <a:latin typeface="Helvetica"/>
              <a:cs typeface="Helvetica"/>
              <a:sym typeface="Wingdings" panose="05000000000000000000" pitchFamily="2" charset="2"/>
            </a:endParaRPr>
          </a:p>
          <a:p>
            <a:pPr>
              <a:buClr>
                <a:srgbClr val="218317"/>
              </a:buClr>
            </a:pPr>
            <a:endParaRPr lang="es-ES" b="1" dirty="0">
              <a:latin typeface="Helvetica"/>
              <a:cs typeface="Helvetica"/>
            </a:endParaRPr>
          </a:p>
          <a:p>
            <a:pPr marL="0" indent="0">
              <a:buClr>
                <a:srgbClr val="218317"/>
              </a:buClr>
              <a:buNone/>
            </a:pPr>
            <a:endParaRPr lang="es-ES" b="1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lvl="1">
              <a:buClr>
                <a:srgbClr val="218317"/>
              </a:buClr>
              <a:buFont typeface="Calibri" panose="02070309020205020404" pitchFamily="49" charset="0"/>
              <a:buChar char="-"/>
            </a:pPr>
            <a:endParaRPr lang="es-ES" sz="2800" b="1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endParaRPr lang="es-ES" sz="3200" b="1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7" name="TextBox 16">
            <a:extLst>
              <a:ext uri="{FF2B5EF4-FFF2-40B4-BE49-F238E27FC236}">
                <a16:creationId xmlns:a16="http://schemas.microsoft.com/office/drawing/2014/main" id="{6F64AE07-A1AB-4337-F25A-AB4433D8E2FB}"/>
              </a:ext>
            </a:extLst>
          </p:cNvPr>
          <p:cNvSpPr txBox="1"/>
          <p:nvPr/>
        </p:nvSpPr>
        <p:spPr>
          <a:xfrm>
            <a:off x="-404782" y="2123114"/>
            <a:ext cx="70985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4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Redundant</a:t>
            </a:r>
            <a:r>
              <a:rPr lang="es-ES" sz="2400" b="1" dirty="0">
                <a:latin typeface="Helvetica" panose="020B0604020202020204" pitchFamily="34" charset="0"/>
                <a:cs typeface="Helvetica" panose="020B0604020202020204" pitchFamily="34" charset="0"/>
              </a:rPr>
              <a:t> variables:</a:t>
            </a:r>
            <a:endParaRPr lang="es-ES" sz="2800" b="1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3" name="TextBox 2">
            <a:extLst>
              <a:ext uri="{FF2B5EF4-FFF2-40B4-BE49-F238E27FC236}">
                <a16:creationId xmlns:a16="http://schemas.microsoft.com/office/drawing/2014/main" id="{6D925E0D-4A9B-5CFB-3FBF-EDE3D40F1472}"/>
              </a:ext>
            </a:extLst>
          </p:cNvPr>
          <p:cNvSpPr txBox="1"/>
          <p:nvPr/>
        </p:nvSpPr>
        <p:spPr>
          <a:xfrm>
            <a:off x="418288" y="2980082"/>
            <a:ext cx="5476674" cy="1477328"/>
          </a:xfrm>
          <a:prstGeom prst="rect">
            <a:avLst/>
          </a:prstGeom>
          <a:noFill/>
          <a:ln w="57150">
            <a:noFill/>
          </a:ln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218317"/>
              </a:buClr>
              <a:buFont typeface="Arial" panose="020B0604020202020204" pitchFamily="34" charset="0"/>
              <a:buChar char="•"/>
            </a:pP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All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average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b="1" dirty="0">
                <a:latin typeface="Helvetica" panose="020B0604020202020204" pitchFamily="34" charset="0"/>
                <a:cs typeface="Helvetica" panose="020B0604020202020204" pitchFamily="34" charset="0"/>
              </a:rPr>
              <a:t>BAI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values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at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different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time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scales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are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highly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correlated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 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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we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should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just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s-ES" b="1" dirty="0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pick </a:t>
            </a:r>
            <a:r>
              <a:rPr lang="es-ES" b="1" dirty="0" err="1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one</a:t>
            </a:r>
            <a:endParaRPr lang="es-ES" b="1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342900" indent="-342900">
              <a:buClr>
                <a:srgbClr val="218317"/>
              </a:buClr>
              <a:buFont typeface="Arial" panose="020B0604020202020204" pitchFamily="34" charset="0"/>
              <a:buChar char="•"/>
            </a:pP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Height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and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d.b.h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. are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highly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correlated</a:t>
            </a:r>
            <a:endParaRPr lang="es-ES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342900" indent="-342900">
              <a:buClr>
                <a:srgbClr val="218317"/>
              </a:buClr>
              <a:buFont typeface="Arial" panose="020B0604020202020204" pitchFamily="34" charset="0"/>
              <a:buChar char="•"/>
            </a:pP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Age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is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not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that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correlated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to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tree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size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(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surprisingly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)</a:t>
            </a:r>
          </a:p>
        </p:txBody>
      </p:sp>
      <p:sp>
        <p:nvSpPr>
          <p:cNvPr id="9" name="TextBox 16">
            <a:extLst>
              <a:ext uri="{FF2B5EF4-FFF2-40B4-BE49-F238E27FC236}">
                <a16:creationId xmlns:a16="http://schemas.microsoft.com/office/drawing/2014/main" id="{5581CC34-16F7-0132-77D5-E94156FFF00D}"/>
              </a:ext>
            </a:extLst>
          </p:cNvPr>
          <p:cNvSpPr txBox="1"/>
          <p:nvPr/>
        </p:nvSpPr>
        <p:spPr>
          <a:xfrm>
            <a:off x="-392653" y="5108364"/>
            <a:ext cx="70985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What</a:t>
            </a:r>
            <a:r>
              <a:rPr lang="es-ES" sz="2000" b="1" dirty="0">
                <a:latin typeface="Helvetica" panose="020B0604020202020204" pitchFamily="34" charset="0"/>
                <a:cs typeface="Helvetica" panose="020B0604020202020204" pitchFamily="34" charset="0"/>
              </a:rPr>
              <a:t> variables </a:t>
            </a:r>
            <a:r>
              <a:rPr lang="es-ES" sz="20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should</a:t>
            </a:r>
            <a:r>
              <a:rPr lang="es-ES" sz="2000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we</a:t>
            </a:r>
            <a:r>
              <a:rPr lang="es-ES" sz="2000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choose</a:t>
            </a:r>
            <a:r>
              <a:rPr lang="es-ES" sz="2000" b="1" dirty="0">
                <a:latin typeface="Helvetica" panose="020B0604020202020204" pitchFamily="34" charset="0"/>
                <a:cs typeface="Helvetica" panose="020B0604020202020204" pitchFamily="34" charset="0"/>
              </a:rPr>
              <a:t>?</a:t>
            </a:r>
            <a:endParaRPr lang="es-ES" sz="2400" b="1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0" name="TextBox 16">
            <a:extLst>
              <a:ext uri="{FF2B5EF4-FFF2-40B4-BE49-F238E27FC236}">
                <a16:creationId xmlns:a16="http://schemas.microsoft.com/office/drawing/2014/main" id="{7FD12479-C05F-D19B-52C4-D10AA8CF02D5}"/>
              </a:ext>
            </a:extLst>
          </p:cNvPr>
          <p:cNvSpPr txBox="1"/>
          <p:nvPr/>
        </p:nvSpPr>
        <p:spPr>
          <a:xfrm>
            <a:off x="-404782" y="5901424"/>
            <a:ext cx="70985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>
                <a:latin typeface="Helvetica" panose="020B0604020202020204" pitchFamily="34" charset="0"/>
                <a:cs typeface="Helvetica" panose="020B0604020202020204" pitchFamily="34" charset="0"/>
              </a:rPr>
              <a:t>P-</a:t>
            </a:r>
            <a:r>
              <a:rPr lang="es-ES" sz="20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values</a:t>
            </a:r>
            <a:endParaRPr lang="es-ES" sz="2400" b="1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1" name="Flecha: hacia abajo 10">
            <a:extLst>
              <a:ext uri="{FF2B5EF4-FFF2-40B4-BE49-F238E27FC236}">
                <a16:creationId xmlns:a16="http://schemas.microsoft.com/office/drawing/2014/main" id="{1C01611E-7E3A-BF07-144B-AE74BD9B30CC}"/>
              </a:ext>
            </a:extLst>
          </p:cNvPr>
          <p:cNvSpPr/>
          <p:nvPr/>
        </p:nvSpPr>
        <p:spPr>
          <a:xfrm>
            <a:off x="3064213" y="5518922"/>
            <a:ext cx="107004" cy="400110"/>
          </a:xfrm>
          <a:prstGeom prst="downArrow">
            <a:avLst/>
          </a:prstGeom>
          <a:solidFill>
            <a:srgbClr val="218317"/>
          </a:solidFill>
          <a:ln>
            <a:solidFill>
              <a:srgbClr val="21831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" name="Título 1">
            <a:extLst>
              <a:ext uri="{FF2B5EF4-FFF2-40B4-BE49-F238E27FC236}">
                <a16:creationId xmlns:a16="http://schemas.microsoft.com/office/drawing/2014/main" id="{A50DE1E9-94B2-E153-B20D-F07D79F56AD9}"/>
              </a:ext>
            </a:extLst>
          </p:cNvPr>
          <p:cNvSpPr txBox="1">
            <a:spLocks/>
          </p:cNvSpPr>
          <p:nvPr/>
        </p:nvSpPr>
        <p:spPr>
          <a:xfrm>
            <a:off x="9690902" y="-1"/>
            <a:ext cx="2501098" cy="804157"/>
          </a:xfrm>
          <a:prstGeom prst="rect">
            <a:avLst/>
          </a:prstGeom>
          <a:solidFill>
            <a:srgbClr val="218317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ES" sz="2800" b="1" dirty="0">
                <a:solidFill>
                  <a:srgbClr val="218317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.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5FD7C29A-C044-3616-0CD5-A5F7D5CB917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94962" y="804155"/>
            <a:ext cx="6053845" cy="6053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405297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7E03B6-A4BF-DADE-1A72-7B36ED80D3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>
            <a:extLst>
              <a:ext uri="{FF2B5EF4-FFF2-40B4-BE49-F238E27FC236}">
                <a16:creationId xmlns:a16="http://schemas.microsoft.com/office/drawing/2014/main" id="{02512801-7A7B-CA2D-AC0B-35EF8CC3F2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88915" y="1477262"/>
            <a:ext cx="9366245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kumimoji="0" lang="es-ES" altLang="es-E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altLang="es-E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1B49E79-E5A9-8191-4465-1A98A526BF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690902" cy="804155"/>
          </a:xfrm>
          <a:solidFill>
            <a:srgbClr val="218317"/>
          </a:solidFill>
        </p:spPr>
        <p:txBody>
          <a:bodyPr>
            <a:normAutofit/>
          </a:bodyPr>
          <a:lstStyle/>
          <a:p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	Data 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analysis</a:t>
            </a:r>
            <a:endParaRPr lang="es-ES" sz="3200" b="1" dirty="0">
              <a:solidFill>
                <a:schemeClr val="bg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78C9DE0E-B19A-C40A-4DC3-571AD3B8C541}"/>
              </a:ext>
            </a:extLst>
          </p:cNvPr>
          <p:cNvSpPr txBox="1">
            <a:spLocks/>
          </p:cNvSpPr>
          <p:nvPr/>
        </p:nvSpPr>
        <p:spPr>
          <a:xfrm>
            <a:off x="418288" y="1140469"/>
            <a:ext cx="5136205" cy="64633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rgbClr val="218317"/>
              </a:buClr>
              <a:buNone/>
            </a:pPr>
            <a:r>
              <a:rPr lang="es-ES" sz="3200" b="1" dirty="0">
                <a:solidFill>
                  <a:srgbClr val="218317"/>
                </a:solidFill>
                <a:latin typeface="Helvetica"/>
                <a:cs typeface="Helvetica"/>
              </a:rPr>
              <a:t>3.- </a:t>
            </a:r>
            <a:r>
              <a:rPr lang="es-ES" sz="3200" b="1" dirty="0">
                <a:latin typeface="Helvetica"/>
                <a:cs typeface="Helvetica"/>
              </a:rPr>
              <a:t>P-</a:t>
            </a:r>
            <a:r>
              <a:rPr lang="es-ES" sz="3200" b="1" dirty="0" err="1">
                <a:latin typeface="Helvetica"/>
                <a:cs typeface="Helvetica"/>
              </a:rPr>
              <a:t>values</a:t>
            </a:r>
            <a:endParaRPr lang="es-ES" dirty="0">
              <a:latin typeface="Helvetica"/>
              <a:cs typeface="Helvetica"/>
              <a:sym typeface="Wingdings" panose="05000000000000000000" pitchFamily="2" charset="2"/>
            </a:endParaRPr>
          </a:p>
          <a:p>
            <a:pPr>
              <a:buClr>
                <a:srgbClr val="218317"/>
              </a:buClr>
            </a:pPr>
            <a:endParaRPr lang="es-ES" b="1" dirty="0">
              <a:latin typeface="Helvetica"/>
              <a:cs typeface="Helvetica"/>
              <a:sym typeface="Wingdings" panose="05000000000000000000" pitchFamily="2" charset="2"/>
            </a:endParaRPr>
          </a:p>
          <a:p>
            <a:pPr>
              <a:buClr>
                <a:srgbClr val="218317"/>
              </a:buClr>
            </a:pPr>
            <a:endParaRPr lang="es-ES" b="1" dirty="0">
              <a:latin typeface="Helvetica"/>
              <a:cs typeface="Helvetica"/>
            </a:endParaRPr>
          </a:p>
          <a:p>
            <a:pPr marL="0" indent="0">
              <a:buClr>
                <a:srgbClr val="218317"/>
              </a:buClr>
              <a:buNone/>
            </a:pPr>
            <a:endParaRPr lang="es-ES" b="1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lvl="1">
              <a:buClr>
                <a:srgbClr val="218317"/>
              </a:buClr>
              <a:buFont typeface="Calibri" panose="02070309020205020404" pitchFamily="49" charset="0"/>
              <a:buChar char="-"/>
            </a:pPr>
            <a:endParaRPr lang="es-ES" sz="2800" b="1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endParaRPr lang="es-ES" sz="3200" b="1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5" name="TextBox 16">
            <a:extLst>
              <a:ext uri="{FF2B5EF4-FFF2-40B4-BE49-F238E27FC236}">
                <a16:creationId xmlns:a16="http://schemas.microsoft.com/office/drawing/2014/main" id="{173F882E-1D7E-81C8-1C5A-FBDF6EF8991A}"/>
              </a:ext>
            </a:extLst>
          </p:cNvPr>
          <p:cNvSpPr txBox="1"/>
          <p:nvPr/>
        </p:nvSpPr>
        <p:spPr>
          <a:xfrm>
            <a:off x="700296" y="1786800"/>
            <a:ext cx="4854197" cy="83099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s-ES" sz="2400" b="1" dirty="0">
                <a:latin typeface="Helvetica"/>
                <a:cs typeface="Helvetica"/>
              </a:rPr>
              <a:t>Wilcoxon test + Bonferroni </a:t>
            </a:r>
            <a:r>
              <a:rPr lang="es-ES" sz="2400" b="1" dirty="0" err="1">
                <a:latin typeface="Helvetica"/>
                <a:cs typeface="Helvetica"/>
              </a:rPr>
              <a:t>correction</a:t>
            </a:r>
            <a:endParaRPr lang="es-ES" sz="2400" b="1" dirty="0">
              <a:latin typeface="Helvetica"/>
              <a:cs typeface="Helvetica"/>
            </a:endParaRPr>
          </a:p>
        </p:txBody>
      </p:sp>
      <p:sp>
        <p:nvSpPr>
          <p:cNvPr id="16" name="TextBox 2">
            <a:extLst>
              <a:ext uri="{FF2B5EF4-FFF2-40B4-BE49-F238E27FC236}">
                <a16:creationId xmlns:a16="http://schemas.microsoft.com/office/drawing/2014/main" id="{92AE25DE-EAE8-7A6A-2CE2-D21990375D8F}"/>
              </a:ext>
            </a:extLst>
          </p:cNvPr>
          <p:cNvSpPr txBox="1"/>
          <p:nvPr/>
        </p:nvSpPr>
        <p:spPr>
          <a:xfrm>
            <a:off x="700296" y="2782669"/>
            <a:ext cx="5476674" cy="369332"/>
          </a:xfrm>
          <a:prstGeom prst="rect">
            <a:avLst/>
          </a:prstGeom>
          <a:noFill/>
          <a:ln w="57150">
            <a:noFill/>
          </a:ln>
        </p:spPr>
        <p:txBody>
          <a:bodyPr wrap="square" rtlCol="0">
            <a:spAutoFit/>
          </a:bodyPr>
          <a:lstStyle/>
          <a:p>
            <a:pPr>
              <a:buClr>
                <a:srgbClr val="218317"/>
              </a:buClr>
            </a:pP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To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discard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variables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with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no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significant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differences</a:t>
            </a:r>
            <a:endParaRPr lang="es-ES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5" name="Título 1">
            <a:extLst>
              <a:ext uri="{FF2B5EF4-FFF2-40B4-BE49-F238E27FC236}">
                <a16:creationId xmlns:a16="http://schemas.microsoft.com/office/drawing/2014/main" id="{4C64B8D9-D540-D759-552C-98F1B876B913}"/>
              </a:ext>
            </a:extLst>
          </p:cNvPr>
          <p:cNvSpPr txBox="1">
            <a:spLocks/>
          </p:cNvSpPr>
          <p:nvPr/>
        </p:nvSpPr>
        <p:spPr>
          <a:xfrm>
            <a:off x="9690902" y="-1"/>
            <a:ext cx="2501098" cy="804157"/>
          </a:xfrm>
          <a:prstGeom prst="rect">
            <a:avLst/>
          </a:prstGeom>
          <a:solidFill>
            <a:srgbClr val="218317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ES" sz="2800" b="1" dirty="0">
                <a:solidFill>
                  <a:srgbClr val="218317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.</a:t>
            </a:r>
          </a:p>
        </p:txBody>
      </p:sp>
      <p:grpSp>
        <p:nvGrpSpPr>
          <p:cNvPr id="6" name="Grupo 19">
            <a:extLst>
              <a:ext uri="{FF2B5EF4-FFF2-40B4-BE49-F238E27FC236}">
                <a16:creationId xmlns:a16="http://schemas.microsoft.com/office/drawing/2014/main" id="{344DF1B0-4F10-0DEB-8789-6177C21F1E09}"/>
              </a:ext>
            </a:extLst>
          </p:cNvPr>
          <p:cNvGrpSpPr/>
          <p:nvPr/>
        </p:nvGrpSpPr>
        <p:grpSpPr>
          <a:xfrm>
            <a:off x="1787688" y="4264437"/>
            <a:ext cx="3301889" cy="1220763"/>
            <a:chOff x="6178013" y="5057218"/>
            <a:chExt cx="3301889" cy="1220763"/>
          </a:xfrm>
        </p:grpSpPr>
        <p:pic>
          <p:nvPicPr>
            <p:cNvPr id="7" name="Imagen 7">
              <a:extLst>
                <a:ext uri="{FF2B5EF4-FFF2-40B4-BE49-F238E27FC236}">
                  <a16:creationId xmlns:a16="http://schemas.microsoft.com/office/drawing/2014/main" id="{9705D816-F3A7-AC4E-5833-5B5AF7AFEB2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t="53835"/>
            <a:stretch/>
          </p:blipFill>
          <p:spPr>
            <a:xfrm>
              <a:off x="6364847" y="5057218"/>
              <a:ext cx="3115055" cy="1220763"/>
            </a:xfrm>
            <a:prstGeom prst="rect">
              <a:avLst/>
            </a:prstGeom>
          </p:spPr>
        </p:pic>
        <p:sp>
          <p:nvSpPr>
            <p:cNvPr id="8" name="CuadroTexto 6">
              <a:extLst>
                <a:ext uri="{FF2B5EF4-FFF2-40B4-BE49-F238E27FC236}">
                  <a16:creationId xmlns:a16="http://schemas.microsoft.com/office/drawing/2014/main" id="{554D3088-B2F2-367A-8478-D6A93EB7613C}"/>
                </a:ext>
              </a:extLst>
            </p:cNvPr>
            <p:cNvSpPr txBox="1"/>
            <p:nvPr/>
          </p:nvSpPr>
          <p:spPr>
            <a:xfrm>
              <a:off x="6178013" y="5989310"/>
              <a:ext cx="1217297" cy="26161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1100" dirty="0">
                  <a:solidFill>
                    <a:srgbClr val="2F5597"/>
                  </a:solidFill>
                </a:rPr>
                <a:t>Non-</a:t>
              </a:r>
              <a:r>
                <a:rPr lang="es-ES" sz="1100" dirty="0" err="1">
                  <a:solidFill>
                    <a:srgbClr val="2F5597"/>
                  </a:solidFill>
                </a:rPr>
                <a:t>declining</a:t>
              </a:r>
              <a:r>
                <a:rPr lang="es-ES" sz="1100" dirty="0">
                  <a:solidFill>
                    <a:srgbClr val="2F5597"/>
                  </a:solidFill>
                </a:rPr>
                <a:t> site</a:t>
              </a:r>
            </a:p>
          </p:txBody>
        </p:sp>
        <p:sp>
          <p:nvSpPr>
            <p:cNvPr id="10" name="CuadroTexto 16">
              <a:extLst>
                <a:ext uri="{FF2B5EF4-FFF2-40B4-BE49-F238E27FC236}">
                  <a16:creationId xmlns:a16="http://schemas.microsoft.com/office/drawing/2014/main" id="{F314BCF7-B7FC-F964-FE18-2F918DC1B0EF}"/>
                </a:ext>
              </a:extLst>
            </p:cNvPr>
            <p:cNvSpPr txBox="1"/>
            <p:nvPr/>
          </p:nvSpPr>
          <p:spPr>
            <a:xfrm>
              <a:off x="7313725" y="5989310"/>
              <a:ext cx="1217297" cy="26161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1100" dirty="0">
                  <a:solidFill>
                    <a:srgbClr val="7030A0"/>
                  </a:solidFill>
                  <a:cs typeface="Helvetica" panose="020B0604020202020204"/>
                </a:rPr>
                <a:t>Non-</a:t>
              </a:r>
              <a:r>
                <a:rPr lang="es-ES" sz="1100" dirty="0" err="1">
                  <a:solidFill>
                    <a:srgbClr val="7030A0"/>
                  </a:solidFill>
                  <a:cs typeface="Helvetica" panose="020B0604020202020204"/>
                </a:rPr>
                <a:t>declining</a:t>
              </a:r>
              <a:r>
                <a:rPr lang="es-ES" sz="1100" dirty="0">
                  <a:solidFill>
                    <a:srgbClr val="7030A0"/>
                  </a:solidFill>
                  <a:cs typeface="Helvetica" panose="020B0604020202020204"/>
                </a:rPr>
                <a:t> site</a:t>
              </a:r>
            </a:p>
          </p:txBody>
        </p:sp>
        <p:sp>
          <p:nvSpPr>
            <p:cNvPr id="11" name="CuadroTexto 18">
              <a:extLst>
                <a:ext uri="{FF2B5EF4-FFF2-40B4-BE49-F238E27FC236}">
                  <a16:creationId xmlns:a16="http://schemas.microsoft.com/office/drawing/2014/main" id="{1225590A-BDE2-B3EB-49FF-556A91CA8FB0}"/>
                </a:ext>
              </a:extLst>
            </p:cNvPr>
            <p:cNvSpPr txBox="1"/>
            <p:nvPr/>
          </p:nvSpPr>
          <p:spPr>
            <a:xfrm>
              <a:off x="8482962" y="6002841"/>
              <a:ext cx="946093" cy="261610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s-ES" sz="1100" dirty="0" err="1">
                  <a:solidFill>
                    <a:srgbClr val="C00000"/>
                  </a:solidFill>
                </a:rPr>
                <a:t>Declining</a:t>
              </a:r>
              <a:r>
                <a:rPr lang="es-ES" sz="1100" dirty="0">
                  <a:solidFill>
                    <a:srgbClr val="C00000"/>
                  </a:solidFill>
                </a:rPr>
                <a:t> site</a:t>
              </a:r>
            </a:p>
          </p:txBody>
        </p:sp>
      </p:grpSp>
      <p:pic>
        <p:nvPicPr>
          <p:cNvPr id="13" name="Picture 12">
            <a:extLst>
              <a:ext uri="{FF2B5EF4-FFF2-40B4-BE49-F238E27FC236}">
                <a16:creationId xmlns:a16="http://schemas.microsoft.com/office/drawing/2014/main" id="{3D3BE931-9173-1275-FF86-271ABF3708F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52558" y="927108"/>
            <a:ext cx="5717531" cy="5717531"/>
          </a:xfrm>
          <a:prstGeom prst="rect">
            <a:avLst/>
          </a:prstGeom>
        </p:spPr>
      </p:pic>
      <p:pic>
        <p:nvPicPr>
          <p:cNvPr id="18" name="Graphic 17" descr="Fir tree">
            <a:extLst>
              <a:ext uri="{FF2B5EF4-FFF2-40B4-BE49-F238E27FC236}">
                <a16:creationId xmlns:a16="http://schemas.microsoft.com/office/drawing/2014/main" id="{3BD0AD8F-8A05-2AA9-AE90-DE9F981F69A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135244" y="4287519"/>
            <a:ext cx="680674" cy="657591"/>
          </a:xfrm>
          <a:prstGeom prst="rect">
            <a:avLst/>
          </a:prstGeom>
        </p:spPr>
      </p:pic>
      <p:pic>
        <p:nvPicPr>
          <p:cNvPr id="19" name="Graphic 18" descr="Fir tree">
            <a:extLst>
              <a:ext uri="{FF2B5EF4-FFF2-40B4-BE49-F238E27FC236}">
                <a16:creationId xmlns:a16="http://schemas.microsoft.com/office/drawing/2014/main" id="{9A91B070-B98A-D005-9A5B-B67BAC539B3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187442" y="4287518"/>
            <a:ext cx="680674" cy="657591"/>
          </a:xfrm>
          <a:prstGeom prst="rect">
            <a:avLst/>
          </a:prstGeom>
        </p:spPr>
      </p:pic>
      <p:pic>
        <p:nvPicPr>
          <p:cNvPr id="20" name="Graphic 19" descr="Fir tree">
            <a:extLst>
              <a:ext uri="{FF2B5EF4-FFF2-40B4-BE49-F238E27FC236}">
                <a16:creationId xmlns:a16="http://schemas.microsoft.com/office/drawing/2014/main" id="{25FA7C44-F6FF-0AA2-10CE-070AF6353097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196771" y="4287517"/>
            <a:ext cx="680674" cy="657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303406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E25BF0-AAC4-BAA2-34F8-5223E67BDB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>
            <a:extLst>
              <a:ext uri="{FF2B5EF4-FFF2-40B4-BE49-F238E27FC236}">
                <a16:creationId xmlns:a16="http://schemas.microsoft.com/office/drawing/2014/main" id="{D6DA7092-659A-120E-A79A-AA805C2162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88915" y="1477262"/>
            <a:ext cx="9366245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kumimoji="0" lang="es-ES" altLang="es-E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altLang="es-E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2422068D-7E9A-B7A0-29F3-F14C9478CB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690902" cy="804155"/>
          </a:xfrm>
          <a:solidFill>
            <a:srgbClr val="218317"/>
          </a:solidFill>
        </p:spPr>
        <p:txBody>
          <a:bodyPr>
            <a:normAutofit/>
          </a:bodyPr>
          <a:lstStyle/>
          <a:p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	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Preliminary</a:t>
            </a:r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results</a:t>
            </a:r>
            <a:endParaRPr lang="es-ES" sz="3200" b="1" dirty="0">
              <a:solidFill>
                <a:schemeClr val="bg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7C665D94-480D-B95C-5DB1-51C1ABA1A90A}"/>
              </a:ext>
            </a:extLst>
          </p:cNvPr>
          <p:cNvSpPr txBox="1">
            <a:spLocks/>
          </p:cNvSpPr>
          <p:nvPr/>
        </p:nvSpPr>
        <p:spPr>
          <a:xfrm>
            <a:off x="9690902" y="-1"/>
            <a:ext cx="2501098" cy="804157"/>
          </a:xfrm>
          <a:prstGeom prst="rect">
            <a:avLst/>
          </a:prstGeom>
          <a:solidFill>
            <a:srgbClr val="218317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ES" sz="28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M&amp;M </a:t>
            </a:r>
            <a:r>
              <a:rPr lang="es-ES" sz="2800" b="1" dirty="0">
                <a:solidFill>
                  <a:srgbClr val="218317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.</a:t>
            </a:r>
          </a:p>
        </p:txBody>
      </p:sp>
      <p:sp>
        <p:nvSpPr>
          <p:cNvPr id="9" name="CuadroTexto 10">
            <a:extLst>
              <a:ext uri="{FF2B5EF4-FFF2-40B4-BE49-F238E27FC236}">
                <a16:creationId xmlns:a16="http://schemas.microsoft.com/office/drawing/2014/main" id="{FB5F455F-6727-EF16-BF4B-9987EC3F3FDA}"/>
              </a:ext>
            </a:extLst>
          </p:cNvPr>
          <p:cNvSpPr txBox="1"/>
          <p:nvPr/>
        </p:nvSpPr>
        <p:spPr>
          <a:xfrm>
            <a:off x="184392" y="815542"/>
            <a:ext cx="583007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 algn="ctr"/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Differences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between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Declining</a:t>
            </a:r>
            <a:r>
              <a:rPr lang="es-ES" sz="2000" b="1" dirty="0">
                <a:latin typeface="Helvetica" panose="020B0604020202020204" pitchFamily="34" charset="0"/>
                <a:cs typeface="Helvetica" panose="020B0604020202020204" pitchFamily="34" charset="0"/>
              </a:rPr>
              <a:t> (</a:t>
            </a:r>
            <a:r>
              <a:rPr lang="es-ES" sz="20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healthy</a:t>
            </a:r>
            <a:r>
              <a:rPr lang="es-ES" sz="2000" b="1" dirty="0">
                <a:latin typeface="Helvetica" panose="020B0604020202020204" pitchFamily="34" charset="0"/>
                <a:cs typeface="Helvetica" panose="020B0604020202020204" pitchFamily="34" charset="0"/>
              </a:rPr>
              <a:t>)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vs. </a:t>
            </a:r>
            <a:r>
              <a:rPr lang="es-ES" sz="20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Declining</a:t>
            </a:r>
            <a:r>
              <a:rPr lang="es-ES" sz="2000" b="1" dirty="0">
                <a:latin typeface="Helvetica" panose="020B0604020202020204" pitchFamily="34" charset="0"/>
                <a:cs typeface="Helvetica" panose="020B0604020202020204" pitchFamily="34" charset="0"/>
              </a:rPr>
              <a:t> (</a:t>
            </a:r>
            <a:r>
              <a:rPr lang="es-ES" sz="20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damaged</a:t>
            </a:r>
            <a:r>
              <a:rPr lang="es-ES" sz="2000" b="1" dirty="0">
                <a:latin typeface="Helvetica" panose="020B0604020202020204" pitchFamily="34" charset="0"/>
                <a:cs typeface="Helvetica" panose="020B0604020202020204" pitchFamily="34" charset="0"/>
              </a:rPr>
              <a:t>)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for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any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species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:</a:t>
            </a:r>
            <a:endParaRPr lang="es-ES" sz="2000" b="1" dirty="0">
              <a:solidFill>
                <a:srgbClr val="2F5597"/>
              </a:solidFill>
              <a:latin typeface="Helvetica" panose="020B0604020202020204" pitchFamily="34" charset="0"/>
              <a:cs typeface="Helvetica" panose="020B0604020202020204" pitchFamily="34" charset="0"/>
              <a:sym typeface="Wingdings" panose="05000000000000000000" pitchFamily="2" charset="2"/>
            </a:endParaRPr>
          </a:p>
          <a:p>
            <a:pPr lvl="1" algn="ctr"/>
            <a:endParaRPr lang="es-ES" sz="20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lvl="1" algn="ctr"/>
            <a:endParaRPr lang="es-ES" sz="20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3C203356-F9EB-E64A-AB3E-A8D4EAB687A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57494280"/>
              </p:ext>
            </p:extLst>
          </p:nvPr>
        </p:nvGraphicFramePr>
        <p:xfrm>
          <a:off x="6088828" y="990600"/>
          <a:ext cx="5598700" cy="518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0171">
                  <a:extLst>
                    <a:ext uri="{9D8B030D-6E8A-4147-A177-3AD203B41FA5}">
                      <a16:colId xmlns:a16="http://schemas.microsoft.com/office/drawing/2014/main" val="2369797555"/>
                    </a:ext>
                  </a:extLst>
                </a:gridCol>
                <a:gridCol w="1289186">
                  <a:extLst>
                    <a:ext uri="{9D8B030D-6E8A-4147-A177-3AD203B41FA5}">
                      <a16:colId xmlns:a16="http://schemas.microsoft.com/office/drawing/2014/main" val="1383095395"/>
                    </a:ext>
                  </a:extLst>
                </a:gridCol>
                <a:gridCol w="1530157">
                  <a:extLst>
                    <a:ext uri="{9D8B030D-6E8A-4147-A177-3AD203B41FA5}">
                      <a16:colId xmlns:a16="http://schemas.microsoft.com/office/drawing/2014/main" val="1475883454"/>
                    </a:ext>
                  </a:extLst>
                </a:gridCol>
                <a:gridCol w="1289186">
                  <a:extLst>
                    <a:ext uri="{9D8B030D-6E8A-4147-A177-3AD203B41FA5}">
                      <a16:colId xmlns:a16="http://schemas.microsoft.com/office/drawing/2014/main" val="1424229610"/>
                    </a:ext>
                  </a:extLst>
                </a:gridCol>
              </a:tblGrid>
              <a:tr h="301161">
                <a:tc>
                  <a:txBody>
                    <a:bodyPr/>
                    <a:lstStyle/>
                    <a:p>
                      <a:r>
                        <a:rPr lang="es-ES" sz="1400" i="0" dirty="0">
                          <a:latin typeface="Helvetica" panose="020B0604020202020204"/>
                          <a:cs typeface="Helvetica" panose="020B0604020202020204"/>
                        </a:rPr>
                        <a:t>Variable</a:t>
                      </a:r>
                    </a:p>
                  </a:txBody>
                  <a:tcPr>
                    <a:solidFill>
                      <a:srgbClr val="21831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400" b="1" i="0" dirty="0">
                          <a:latin typeface="Helvetica" panose="020B0604020202020204"/>
                          <a:cs typeface="Helvetica" panose="020B0604020202020204"/>
                        </a:rPr>
                        <a:t>ND - DH</a:t>
                      </a:r>
                    </a:p>
                  </a:txBody>
                  <a:tcPr>
                    <a:solidFill>
                      <a:srgbClr val="716CB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400" i="0" dirty="0">
                          <a:latin typeface="Helvetica" panose="020B0604020202020204"/>
                          <a:cs typeface="Helvetica" panose="020B0604020202020204"/>
                        </a:rPr>
                        <a:t>ND - DD</a:t>
                      </a:r>
                    </a:p>
                  </a:txBody>
                  <a:tcPr>
                    <a:solidFill>
                      <a:srgbClr val="37AD8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400" i="0" dirty="0">
                          <a:latin typeface="Helvetica" panose="020B0604020202020204"/>
                          <a:cs typeface="Helvetica" panose="020B0604020202020204"/>
                        </a:rPr>
                        <a:t>DH – DD</a:t>
                      </a:r>
                    </a:p>
                  </a:txBody>
                  <a:tcPr>
                    <a:solidFill>
                      <a:srgbClr val="DB5E0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5206264"/>
                  </a:ext>
                </a:extLst>
              </a:tr>
              <a:tr h="301161">
                <a:tc>
                  <a:txBody>
                    <a:bodyPr/>
                    <a:lstStyle/>
                    <a:p>
                      <a:r>
                        <a:rPr lang="es-ES" sz="1400" b="0" i="0" dirty="0" err="1">
                          <a:latin typeface="Helvetica" panose="020B0604020202020204"/>
                          <a:cs typeface="Helvetica" panose="020B0604020202020204"/>
                        </a:rPr>
                        <a:t>Height</a:t>
                      </a:r>
                      <a:endParaRPr lang="es-ES" sz="1400" b="0" i="0" dirty="0">
                        <a:latin typeface="Helvetica" panose="020B0604020202020204"/>
                        <a:cs typeface="Helvetica" panose="020B0604020202020204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b="0" i="0" dirty="0">
                          <a:latin typeface="Helvetica" panose="020B0604020202020204"/>
                          <a:cs typeface="Helvetica" panose="020B0604020202020204"/>
                        </a:rPr>
                        <a:t>****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b="0" i="0" dirty="0">
                          <a:latin typeface="Helvetica" panose="020B0604020202020204"/>
                          <a:cs typeface="Helvetica" panose="020B0604020202020204"/>
                        </a:rPr>
                        <a:t>****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b="0" i="0" dirty="0">
                          <a:latin typeface="Helvetica" panose="020B0604020202020204"/>
                          <a:cs typeface="Helvetica" panose="020B0604020202020204"/>
                        </a:rPr>
                        <a:t>-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9515897"/>
                  </a:ext>
                </a:extLst>
              </a:tr>
              <a:tr h="301161">
                <a:tc>
                  <a:txBody>
                    <a:bodyPr/>
                    <a:lstStyle/>
                    <a:p>
                      <a:r>
                        <a:rPr lang="es-ES" sz="1400" b="0" i="0" dirty="0" err="1">
                          <a:latin typeface="Helvetica" panose="020B0604020202020204"/>
                          <a:cs typeface="Helvetica" panose="020B0604020202020204"/>
                        </a:rPr>
                        <a:t>d.b.h</a:t>
                      </a:r>
                      <a:r>
                        <a:rPr lang="es-ES" sz="1400" b="0" i="0" dirty="0">
                          <a:latin typeface="Helvetica" panose="020B0604020202020204"/>
                          <a:cs typeface="Helvetica" panose="020B0604020202020204"/>
                        </a:rPr>
                        <a:t>.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b="0" i="0" dirty="0">
                          <a:latin typeface="Helvetica" panose="020B0604020202020204"/>
                          <a:cs typeface="Helvetica" panose="020B0604020202020204"/>
                        </a:rPr>
                        <a:t>**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b="0" i="0" dirty="0">
                          <a:latin typeface="Helvetica" panose="020B0604020202020204"/>
                          <a:cs typeface="Helvetica" panose="020B0604020202020204"/>
                        </a:rPr>
                        <a:t>****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b="0" i="0" dirty="0">
                          <a:latin typeface="Helvetica" panose="020B0604020202020204"/>
                          <a:cs typeface="Helvetica" panose="020B0604020202020204"/>
                        </a:rPr>
                        <a:t>-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5711599"/>
                  </a:ext>
                </a:extLst>
              </a:tr>
              <a:tr h="301161">
                <a:tc>
                  <a:txBody>
                    <a:bodyPr/>
                    <a:lstStyle/>
                    <a:p>
                      <a:r>
                        <a:rPr lang="es-ES" sz="1400" b="1" i="0" dirty="0">
                          <a:latin typeface="Helvetica" panose="020B0604020202020204"/>
                          <a:cs typeface="Helvetica" panose="020B0604020202020204"/>
                        </a:rPr>
                        <a:t>Age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b="1" i="0" dirty="0">
                          <a:latin typeface="Helvetica" panose="020B0604020202020204"/>
                          <a:cs typeface="Helvetica" panose="020B0604020202020204"/>
                        </a:rPr>
                        <a:t>**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b="1" i="0" dirty="0">
                          <a:latin typeface="Helvetica" panose="020B0604020202020204"/>
                          <a:cs typeface="Helvetica" panose="020B0604020202020204"/>
                        </a:rPr>
                        <a:t>****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b="1" i="0" dirty="0">
                          <a:latin typeface="Helvetica" panose="020B0604020202020204"/>
                          <a:cs typeface="Helvetica" panose="020B0604020202020204"/>
                        </a:rPr>
                        <a:t>****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4566533"/>
                  </a:ext>
                </a:extLst>
              </a:tr>
              <a:tr h="301161">
                <a:tc>
                  <a:txBody>
                    <a:bodyPr/>
                    <a:lstStyle/>
                    <a:p>
                      <a:r>
                        <a:rPr lang="es-ES" sz="1400" b="1" i="0" dirty="0" err="1">
                          <a:latin typeface="Helvetica" panose="020B0604020202020204"/>
                          <a:cs typeface="Helvetica" panose="020B0604020202020204"/>
                        </a:rPr>
                        <a:t>Hegyi</a:t>
                      </a:r>
                      <a:r>
                        <a:rPr lang="es-ES" sz="1400" b="1" i="0" dirty="0">
                          <a:latin typeface="Helvetica" panose="020B0604020202020204"/>
                          <a:cs typeface="Helvetica" panose="020B0604020202020204"/>
                        </a:rPr>
                        <a:t> </a:t>
                      </a:r>
                      <a:r>
                        <a:rPr lang="es-ES" sz="1400" b="1" i="0" dirty="0" err="1">
                          <a:latin typeface="Helvetica" panose="020B0604020202020204"/>
                          <a:cs typeface="Helvetica" panose="020B0604020202020204"/>
                        </a:rPr>
                        <a:t>Index</a:t>
                      </a:r>
                      <a:endParaRPr lang="es-ES" sz="1400" b="1" i="0" dirty="0">
                        <a:latin typeface="Helvetica" panose="020B0604020202020204"/>
                        <a:cs typeface="Helvetica" panose="020B0604020202020204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b="1" i="0" dirty="0">
                          <a:latin typeface="Helvetica" panose="020B0604020202020204"/>
                          <a:cs typeface="Helvetica" panose="020B0604020202020204"/>
                        </a:rPr>
                        <a:t>****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b="1" i="0" dirty="0">
                          <a:latin typeface="Helvetica" panose="020B0604020202020204"/>
                          <a:cs typeface="Helvetica" panose="020B0604020202020204"/>
                        </a:rPr>
                        <a:t>****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b="1" i="0" dirty="0">
                          <a:latin typeface="Helvetica" panose="020B0604020202020204"/>
                          <a:cs typeface="Helvetica" panose="020B0604020202020204"/>
                        </a:rPr>
                        <a:t>**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3861592"/>
                  </a:ext>
                </a:extLst>
              </a:tr>
              <a:tr h="301161">
                <a:tc>
                  <a:txBody>
                    <a:bodyPr/>
                    <a:lstStyle/>
                    <a:p>
                      <a:r>
                        <a:rPr lang="es-ES" sz="1400" b="1" i="0" dirty="0" err="1">
                          <a:latin typeface="Helvetica" panose="020B0604020202020204"/>
                          <a:cs typeface="Helvetica" panose="020B0604020202020204"/>
                        </a:rPr>
                        <a:t>Defoliation</a:t>
                      </a:r>
                      <a:endParaRPr lang="es-ES" sz="1400" b="1" i="0" dirty="0">
                        <a:latin typeface="Helvetica" panose="020B0604020202020204"/>
                        <a:cs typeface="Helvetica" panose="020B0604020202020204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b="1" i="0" dirty="0">
                          <a:latin typeface="Helvetica" panose="020B0604020202020204"/>
                          <a:cs typeface="Helvetica" panose="020B0604020202020204"/>
                        </a:rPr>
                        <a:t>****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b="1" i="0" dirty="0">
                          <a:latin typeface="Helvetica" panose="020B0604020202020204"/>
                          <a:cs typeface="Helvetica" panose="020B0604020202020204"/>
                        </a:rPr>
                        <a:t>****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b="1" i="0" dirty="0">
                          <a:latin typeface="Helvetica" panose="020B0604020202020204"/>
                          <a:cs typeface="Helvetica" panose="020B0604020202020204"/>
                        </a:rPr>
                        <a:t>****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7987248"/>
                  </a:ext>
                </a:extLst>
              </a:tr>
              <a:tr h="301161">
                <a:tc>
                  <a:txBody>
                    <a:bodyPr/>
                    <a:lstStyle/>
                    <a:p>
                      <a:r>
                        <a:rPr lang="es-ES" sz="1400" b="1" i="0" dirty="0">
                          <a:latin typeface="Helvetica" panose="020B0604020202020204"/>
                          <a:cs typeface="Helvetica" panose="020B0604020202020204"/>
                        </a:rPr>
                        <a:t>LWC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b="1" i="0" dirty="0">
                          <a:latin typeface="Helvetica" panose="020B0604020202020204"/>
                          <a:cs typeface="Helvetica" panose="020B0604020202020204"/>
                        </a:rPr>
                        <a:t>****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b="1" i="0" dirty="0">
                          <a:latin typeface="Helvetica" panose="020B0604020202020204"/>
                          <a:cs typeface="Helvetica" panose="020B0604020202020204"/>
                        </a:rPr>
                        <a:t>****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b="1" i="0" dirty="0">
                          <a:latin typeface="Helvetica" panose="020B0604020202020204"/>
                          <a:cs typeface="Helvetica" panose="020B0604020202020204"/>
                        </a:rPr>
                        <a:t>**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4847193"/>
                  </a:ext>
                </a:extLst>
              </a:tr>
              <a:tr h="301161">
                <a:tc>
                  <a:txBody>
                    <a:bodyPr/>
                    <a:lstStyle/>
                    <a:p>
                      <a:r>
                        <a:rPr lang="es-ES" sz="1400" b="0" i="0" dirty="0">
                          <a:latin typeface="Helvetica" panose="020B0604020202020204"/>
                          <a:cs typeface="Helvetica" panose="020B0604020202020204"/>
                        </a:rPr>
                        <a:t>SLA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b="0" i="0" dirty="0">
                          <a:latin typeface="Helvetica" panose="020B0604020202020204"/>
                          <a:cs typeface="Helvetica" panose="020B0604020202020204"/>
                        </a:rPr>
                        <a:t>****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b="0" i="0" dirty="0">
                          <a:latin typeface="Helvetica" panose="020B0604020202020204"/>
                          <a:cs typeface="Helvetica" panose="020B0604020202020204"/>
                        </a:rPr>
                        <a:t>**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b="0" i="0" dirty="0">
                          <a:latin typeface="Helvetica" panose="020B0604020202020204"/>
                          <a:cs typeface="Helvetica" panose="020B0604020202020204"/>
                        </a:rPr>
                        <a:t>-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393755"/>
                  </a:ext>
                </a:extLst>
              </a:tr>
              <a:tr h="301161">
                <a:tc>
                  <a:txBody>
                    <a:bodyPr/>
                    <a:lstStyle/>
                    <a:p>
                      <a:r>
                        <a:rPr lang="es-ES" sz="1400" b="0" i="0" dirty="0" err="1">
                          <a:latin typeface="Helvetica" panose="020B0604020202020204"/>
                          <a:cs typeface="Helvetica" panose="020B0604020202020204"/>
                        </a:rPr>
                        <a:t>Chl</a:t>
                      </a:r>
                      <a:r>
                        <a:rPr lang="es-ES" sz="1400" b="0" i="0" dirty="0">
                          <a:latin typeface="Helvetica" panose="020B0604020202020204"/>
                          <a:cs typeface="Helvetica" panose="020B0604020202020204"/>
                        </a:rPr>
                        <a:t>. Content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b="0" i="0" dirty="0">
                          <a:latin typeface="Helvetica" panose="020B0604020202020204"/>
                          <a:cs typeface="Helvetica" panose="020B0604020202020204"/>
                        </a:rPr>
                        <a:t>****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b="0" i="0" dirty="0">
                          <a:latin typeface="Helvetica" panose="020B0604020202020204"/>
                          <a:cs typeface="Helvetica" panose="020B0604020202020204"/>
                        </a:rPr>
                        <a:t>****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b="0" i="0" dirty="0">
                          <a:latin typeface="Helvetica" panose="020B0604020202020204"/>
                          <a:cs typeface="Helvetica" panose="020B0604020202020204"/>
                        </a:rPr>
                        <a:t>-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20346731"/>
                  </a:ext>
                </a:extLst>
              </a:tr>
              <a:tr h="301161">
                <a:tc>
                  <a:txBody>
                    <a:bodyPr/>
                    <a:lstStyle/>
                    <a:p>
                      <a:r>
                        <a:rPr lang="es-ES" sz="1400" b="0" i="0" dirty="0" err="1">
                          <a:latin typeface="Helvetica" panose="020B0604020202020204"/>
                          <a:cs typeface="Helvetica" panose="020B0604020202020204"/>
                        </a:rPr>
                        <a:t>Chl</a:t>
                      </a:r>
                      <a:r>
                        <a:rPr lang="es-ES" sz="1400" b="0" i="0" dirty="0">
                          <a:latin typeface="Helvetica" panose="020B0604020202020204"/>
                          <a:cs typeface="Helvetica" panose="020B0604020202020204"/>
                        </a:rPr>
                        <a:t>. a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b="0" i="0" dirty="0">
                          <a:latin typeface="Helvetica" panose="020B0604020202020204"/>
                          <a:cs typeface="Helvetica" panose="020B0604020202020204"/>
                        </a:rPr>
                        <a:t>****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b="0" i="0" dirty="0">
                          <a:latin typeface="Helvetica" panose="020B0604020202020204"/>
                          <a:cs typeface="Helvetica" panose="020B0604020202020204"/>
                        </a:rPr>
                        <a:t>****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b="0" i="0" dirty="0">
                          <a:latin typeface="Helvetica" panose="020B0604020202020204"/>
                          <a:cs typeface="Helvetica" panose="020B0604020202020204"/>
                        </a:rPr>
                        <a:t>-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9025832"/>
                  </a:ext>
                </a:extLst>
              </a:tr>
              <a:tr h="301161">
                <a:tc>
                  <a:txBody>
                    <a:bodyPr/>
                    <a:lstStyle/>
                    <a:p>
                      <a:r>
                        <a:rPr lang="es-ES" sz="1400" b="0" i="0" dirty="0" err="1">
                          <a:latin typeface="Helvetica" panose="020B0604020202020204"/>
                          <a:cs typeface="Helvetica" panose="020B0604020202020204"/>
                        </a:rPr>
                        <a:t>Chl</a:t>
                      </a:r>
                      <a:r>
                        <a:rPr lang="es-ES" sz="1400" b="0" i="0" dirty="0">
                          <a:latin typeface="Helvetica" panose="020B0604020202020204"/>
                          <a:cs typeface="Helvetica" panose="020B0604020202020204"/>
                        </a:rPr>
                        <a:t>. b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b="0" i="0" dirty="0">
                          <a:latin typeface="Helvetica" panose="020B0604020202020204"/>
                          <a:cs typeface="Helvetica" panose="020B0604020202020204"/>
                        </a:rPr>
                        <a:t>***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b="0" i="0" dirty="0">
                          <a:latin typeface="Helvetica" panose="020B0604020202020204"/>
                          <a:cs typeface="Helvetica" panose="020B0604020202020204"/>
                        </a:rPr>
                        <a:t>****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b="0" i="0" dirty="0">
                          <a:latin typeface="Helvetica" panose="020B0604020202020204"/>
                          <a:cs typeface="Helvetica" panose="020B0604020202020204"/>
                        </a:rPr>
                        <a:t>-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6305344"/>
                  </a:ext>
                </a:extLst>
              </a:tr>
              <a:tr h="301161">
                <a:tc>
                  <a:txBody>
                    <a:bodyPr/>
                    <a:lstStyle/>
                    <a:p>
                      <a:r>
                        <a:rPr lang="es-ES" sz="1400" b="0" i="0" dirty="0" err="1">
                          <a:latin typeface="Helvetica" panose="020B0604020202020204"/>
                          <a:cs typeface="Helvetica" panose="020B0604020202020204"/>
                        </a:rPr>
                        <a:t>Carotenoids</a:t>
                      </a:r>
                      <a:endParaRPr lang="es-ES" sz="1400" b="0" i="0" dirty="0">
                        <a:latin typeface="Helvetica" panose="020B0604020202020204"/>
                        <a:cs typeface="Helvetica" panose="020B0604020202020204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b="0" i="0" dirty="0">
                          <a:latin typeface="Helvetica" panose="020B0604020202020204"/>
                          <a:cs typeface="Helvetica" panose="020B0604020202020204"/>
                        </a:rPr>
                        <a:t>***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b="0" i="0" dirty="0">
                          <a:latin typeface="Helvetica" panose="020B0604020202020204"/>
                          <a:cs typeface="Helvetica" panose="020B0604020202020204"/>
                        </a:rPr>
                        <a:t>****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b="0" i="0" dirty="0">
                          <a:latin typeface="Helvetica" panose="020B0604020202020204"/>
                          <a:cs typeface="Helvetica" panose="020B0604020202020204"/>
                        </a:rPr>
                        <a:t>-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0001064"/>
                  </a:ext>
                </a:extLst>
              </a:tr>
              <a:tr h="301161">
                <a:tc>
                  <a:txBody>
                    <a:bodyPr/>
                    <a:lstStyle/>
                    <a:p>
                      <a:r>
                        <a:rPr lang="es-ES" sz="1400" b="0" i="0" dirty="0" err="1">
                          <a:latin typeface="Helvetica" panose="020B0604020202020204"/>
                          <a:cs typeface="Helvetica" panose="020B0604020202020204"/>
                        </a:rPr>
                        <a:t>Chl</a:t>
                      </a:r>
                      <a:r>
                        <a:rPr lang="es-ES" sz="1400" b="0" i="0" dirty="0">
                          <a:latin typeface="Helvetica" panose="020B0604020202020204"/>
                          <a:cs typeface="Helvetica" panose="020B0604020202020204"/>
                        </a:rPr>
                        <a:t>. a/b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b="0" i="0" dirty="0">
                          <a:latin typeface="Helvetica" panose="020B0604020202020204"/>
                          <a:cs typeface="Helvetica" panose="020B0604020202020204"/>
                        </a:rPr>
                        <a:t>****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b="0" i="0" dirty="0">
                          <a:latin typeface="Helvetica" panose="020B0604020202020204"/>
                          <a:cs typeface="Helvetica" panose="020B0604020202020204"/>
                        </a:rPr>
                        <a:t>****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b="0" i="0" dirty="0">
                          <a:latin typeface="Helvetica" panose="020B0604020202020204"/>
                          <a:cs typeface="Helvetica" panose="020B0604020202020204"/>
                        </a:rPr>
                        <a:t>-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9192225"/>
                  </a:ext>
                </a:extLst>
              </a:tr>
              <a:tr h="301161">
                <a:tc>
                  <a:txBody>
                    <a:bodyPr/>
                    <a:lstStyle/>
                    <a:p>
                      <a:r>
                        <a:rPr lang="es-ES" sz="1400" b="0" i="0" dirty="0" err="1">
                          <a:latin typeface="Helvetica" panose="020B0604020202020204"/>
                          <a:cs typeface="Helvetica" panose="020B0604020202020204"/>
                        </a:rPr>
                        <a:t>Chl</a:t>
                      </a:r>
                      <a:r>
                        <a:rPr lang="es-ES" sz="1400" b="0" i="0" dirty="0">
                          <a:latin typeface="Helvetica" panose="020B0604020202020204"/>
                          <a:cs typeface="Helvetica" panose="020B0604020202020204"/>
                        </a:rPr>
                        <a:t>. / </a:t>
                      </a:r>
                      <a:r>
                        <a:rPr lang="es-ES" sz="1400" b="0" i="0" dirty="0" err="1">
                          <a:latin typeface="Helvetica" panose="020B0604020202020204"/>
                          <a:cs typeface="Helvetica" panose="020B0604020202020204"/>
                        </a:rPr>
                        <a:t>xc</a:t>
                      </a:r>
                      <a:endParaRPr lang="es-ES" sz="1400" b="0" i="0" dirty="0">
                        <a:latin typeface="Helvetica" panose="020B0604020202020204"/>
                        <a:cs typeface="Helvetica" panose="020B0604020202020204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b="0" i="0" dirty="0">
                          <a:latin typeface="Helvetica" panose="020B0604020202020204"/>
                          <a:cs typeface="Helvetica" panose="020B0604020202020204"/>
                        </a:rPr>
                        <a:t>***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b="0" i="0" dirty="0">
                          <a:latin typeface="Helvetica" panose="020B0604020202020204"/>
                          <a:cs typeface="Helvetica" panose="020B0604020202020204"/>
                        </a:rPr>
                        <a:t>****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b="0" i="0" dirty="0">
                          <a:latin typeface="Helvetica" panose="020B0604020202020204"/>
                          <a:cs typeface="Helvetica" panose="020B0604020202020204"/>
                        </a:rPr>
                        <a:t>-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1006969"/>
                  </a:ext>
                </a:extLst>
              </a:tr>
              <a:tr h="301161">
                <a:tc>
                  <a:txBody>
                    <a:bodyPr/>
                    <a:lstStyle/>
                    <a:p>
                      <a:r>
                        <a:rPr lang="es-ES" sz="1400" b="0" i="0" dirty="0">
                          <a:latin typeface="Helvetica" panose="020B0604020202020204"/>
                          <a:cs typeface="Helvetica" panose="020B0604020202020204"/>
                        </a:rPr>
                        <a:t>C </a:t>
                      </a:r>
                      <a:r>
                        <a:rPr lang="es-ES" sz="1400" b="0" i="0" dirty="0" err="1">
                          <a:latin typeface="Helvetica" panose="020B0604020202020204"/>
                          <a:cs typeface="Helvetica" panose="020B0604020202020204"/>
                        </a:rPr>
                        <a:t>content</a:t>
                      </a:r>
                      <a:endParaRPr lang="es-ES" sz="1400" b="0" i="0" dirty="0">
                        <a:latin typeface="Helvetica" panose="020B0604020202020204"/>
                        <a:cs typeface="Helvetica" panose="020B0604020202020204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b="0" i="0" dirty="0">
                          <a:latin typeface="Helvetica" panose="020B0604020202020204"/>
                          <a:cs typeface="Helvetica" panose="020B0604020202020204"/>
                        </a:rPr>
                        <a:t>-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b="0" i="0" dirty="0">
                          <a:latin typeface="Helvetica" panose="020B0604020202020204"/>
                          <a:cs typeface="Helvetica" panose="020B0604020202020204"/>
                        </a:rPr>
                        <a:t>**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b="0" i="0" dirty="0">
                          <a:latin typeface="Helvetica" panose="020B0604020202020204"/>
                          <a:cs typeface="Helvetica" panose="020B0604020202020204"/>
                        </a:rPr>
                        <a:t>-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36717280"/>
                  </a:ext>
                </a:extLst>
              </a:tr>
              <a:tr h="301161">
                <a:tc>
                  <a:txBody>
                    <a:bodyPr/>
                    <a:lstStyle/>
                    <a:p>
                      <a:r>
                        <a:rPr lang="es-ES" sz="1400" b="1" i="0" dirty="0">
                          <a:latin typeface="Helvetica" panose="020B0604020202020204"/>
                          <a:cs typeface="Helvetica" panose="020B0604020202020204"/>
                        </a:rPr>
                        <a:t>N </a:t>
                      </a:r>
                      <a:r>
                        <a:rPr lang="es-ES" sz="1400" b="1" i="0" dirty="0" err="1">
                          <a:latin typeface="Helvetica" panose="020B0604020202020204"/>
                          <a:cs typeface="Helvetica" panose="020B0604020202020204"/>
                        </a:rPr>
                        <a:t>content</a:t>
                      </a:r>
                      <a:endParaRPr lang="es-ES" sz="1400" b="1" i="0" dirty="0">
                        <a:latin typeface="Helvetica" panose="020B0604020202020204"/>
                        <a:cs typeface="Helvetica" panose="020B0604020202020204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b="1" i="0" dirty="0">
                          <a:latin typeface="Helvetica" panose="020B0604020202020204"/>
                          <a:cs typeface="Helvetica" panose="020B0604020202020204"/>
                        </a:rPr>
                        <a:t>*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b="1" i="0" dirty="0">
                          <a:latin typeface="Helvetica" panose="020B0604020202020204"/>
                          <a:cs typeface="Helvetica" panose="020B0604020202020204"/>
                        </a:rPr>
                        <a:t>-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b="1" i="0" dirty="0">
                          <a:latin typeface="Helvetica" panose="020B0604020202020204"/>
                          <a:cs typeface="Helvetica" panose="020B0604020202020204"/>
                        </a:rPr>
                        <a:t>***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45650234"/>
                  </a:ext>
                </a:extLst>
              </a:tr>
              <a:tr h="301161">
                <a:tc>
                  <a:txBody>
                    <a:bodyPr/>
                    <a:lstStyle/>
                    <a:p>
                      <a:r>
                        <a:rPr lang="es-ES" sz="1400" b="0" i="0" dirty="0">
                          <a:latin typeface="Helvetica" panose="020B0604020202020204"/>
                          <a:cs typeface="Helvetica" panose="020B0604020202020204"/>
                        </a:rPr>
                        <a:t>C:N ratio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b="0" i="0" dirty="0">
                          <a:latin typeface="Helvetica" panose="020B0604020202020204"/>
                          <a:cs typeface="Helvetica" panose="020B0604020202020204"/>
                        </a:rPr>
                        <a:t>**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b="0" i="0" dirty="0">
                          <a:latin typeface="Helvetica" panose="020B0604020202020204"/>
                          <a:cs typeface="Helvetica" panose="020B0604020202020204"/>
                        </a:rPr>
                        <a:t>-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b="0" i="0" dirty="0">
                          <a:latin typeface="Helvetica" panose="020B0604020202020204"/>
                          <a:cs typeface="Helvetica" panose="020B0604020202020204"/>
                        </a:rPr>
                        <a:t>**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9449132"/>
                  </a:ext>
                </a:extLst>
              </a:tr>
            </a:tbl>
          </a:graphicData>
        </a:graphic>
      </p:graphicFrame>
      <p:pic>
        <p:nvPicPr>
          <p:cNvPr id="22" name="Picture 21">
            <a:extLst>
              <a:ext uri="{FF2B5EF4-FFF2-40B4-BE49-F238E27FC236}">
                <a16:creationId xmlns:a16="http://schemas.microsoft.com/office/drawing/2014/main" id="{C6C47103-D1B5-B778-56BE-B3D62BF808F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8830" y="1800426"/>
            <a:ext cx="5115560" cy="5115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747609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746401-1343-6489-0678-8A8EB5961F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>
            <a:extLst>
              <a:ext uri="{FF2B5EF4-FFF2-40B4-BE49-F238E27FC236}">
                <a16:creationId xmlns:a16="http://schemas.microsoft.com/office/drawing/2014/main" id="{52025A94-12B9-7279-CA7F-2E32BF6EDB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88915" y="1477262"/>
            <a:ext cx="9366245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kumimoji="0" lang="es-ES" altLang="es-E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altLang="es-E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67F07C43-FEEF-B6E3-98EA-2383322818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690902" cy="804155"/>
          </a:xfrm>
          <a:solidFill>
            <a:srgbClr val="218317"/>
          </a:solidFill>
        </p:spPr>
        <p:txBody>
          <a:bodyPr>
            <a:normAutofit/>
          </a:bodyPr>
          <a:lstStyle/>
          <a:p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	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Preliminary</a:t>
            </a:r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results</a:t>
            </a:r>
            <a:endParaRPr lang="es-ES" sz="3200" b="1" dirty="0">
              <a:solidFill>
                <a:schemeClr val="bg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E39D1441-2331-8F6E-4111-D49EA7ED885A}"/>
              </a:ext>
            </a:extLst>
          </p:cNvPr>
          <p:cNvSpPr txBox="1">
            <a:spLocks/>
          </p:cNvSpPr>
          <p:nvPr/>
        </p:nvSpPr>
        <p:spPr>
          <a:xfrm>
            <a:off x="9690902" y="-1"/>
            <a:ext cx="2501098" cy="804157"/>
          </a:xfrm>
          <a:prstGeom prst="rect">
            <a:avLst/>
          </a:prstGeom>
          <a:solidFill>
            <a:srgbClr val="218317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ES" sz="28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M&amp;M </a:t>
            </a:r>
            <a:r>
              <a:rPr lang="es-ES" sz="2800" b="1" dirty="0">
                <a:solidFill>
                  <a:srgbClr val="218317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.</a:t>
            </a:r>
          </a:p>
        </p:txBody>
      </p:sp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DB17863B-BF42-93C7-AC73-602A87D42F2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04062341"/>
              </p:ext>
            </p:extLst>
          </p:nvPr>
        </p:nvGraphicFramePr>
        <p:xfrm>
          <a:off x="6177532" y="938298"/>
          <a:ext cx="5517171" cy="518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8471">
                  <a:extLst>
                    <a:ext uri="{9D8B030D-6E8A-4147-A177-3AD203B41FA5}">
                      <a16:colId xmlns:a16="http://schemas.microsoft.com/office/drawing/2014/main" val="2369797555"/>
                    </a:ext>
                  </a:extLst>
                </a:gridCol>
                <a:gridCol w="1270413">
                  <a:extLst>
                    <a:ext uri="{9D8B030D-6E8A-4147-A177-3AD203B41FA5}">
                      <a16:colId xmlns:a16="http://schemas.microsoft.com/office/drawing/2014/main" val="1383095395"/>
                    </a:ext>
                  </a:extLst>
                </a:gridCol>
                <a:gridCol w="1507874">
                  <a:extLst>
                    <a:ext uri="{9D8B030D-6E8A-4147-A177-3AD203B41FA5}">
                      <a16:colId xmlns:a16="http://schemas.microsoft.com/office/drawing/2014/main" val="1475883454"/>
                    </a:ext>
                  </a:extLst>
                </a:gridCol>
                <a:gridCol w="1270413">
                  <a:extLst>
                    <a:ext uri="{9D8B030D-6E8A-4147-A177-3AD203B41FA5}">
                      <a16:colId xmlns:a16="http://schemas.microsoft.com/office/drawing/2014/main" val="1424229610"/>
                    </a:ext>
                  </a:extLst>
                </a:gridCol>
              </a:tblGrid>
              <a:tr h="300915">
                <a:tc>
                  <a:txBody>
                    <a:bodyPr/>
                    <a:lstStyle/>
                    <a:p>
                      <a:r>
                        <a:rPr lang="es-ES" sz="1400" dirty="0">
                          <a:latin typeface="Helvetica" panose="020B0604020202020204"/>
                          <a:cs typeface="Helvetica" panose="020B0604020202020204"/>
                        </a:rPr>
                        <a:t>Variable</a:t>
                      </a:r>
                    </a:p>
                  </a:txBody>
                  <a:tcPr>
                    <a:solidFill>
                      <a:srgbClr val="21831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400" b="1" i="0" dirty="0">
                          <a:latin typeface="Helvetica" panose="020B0604020202020204"/>
                          <a:cs typeface="Helvetica" panose="020B0604020202020204"/>
                        </a:rPr>
                        <a:t>ND - DH</a:t>
                      </a:r>
                    </a:p>
                  </a:txBody>
                  <a:tcPr>
                    <a:solidFill>
                      <a:srgbClr val="716CB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400" i="0" dirty="0">
                          <a:latin typeface="Helvetica" panose="020B0604020202020204"/>
                          <a:cs typeface="Helvetica" panose="020B0604020202020204"/>
                        </a:rPr>
                        <a:t>ND - DD</a:t>
                      </a:r>
                    </a:p>
                  </a:txBody>
                  <a:tcPr>
                    <a:solidFill>
                      <a:srgbClr val="37AD8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400" i="0" dirty="0">
                          <a:latin typeface="Helvetica" panose="020B0604020202020204"/>
                          <a:cs typeface="Helvetica" panose="020B0604020202020204"/>
                        </a:rPr>
                        <a:t>DH – DD</a:t>
                      </a:r>
                    </a:p>
                  </a:txBody>
                  <a:tcPr>
                    <a:solidFill>
                      <a:srgbClr val="DB5E0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5206264"/>
                  </a:ext>
                </a:extLst>
              </a:tr>
              <a:tr h="30091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400" b="1" i="0" dirty="0">
                          <a:latin typeface="Helvetica" panose="020B0604020202020204"/>
                          <a:cs typeface="Helvetica" panose="020B0604020202020204"/>
                        </a:rPr>
                        <a:t>δ</a:t>
                      </a:r>
                      <a:r>
                        <a:rPr lang="es-ES" sz="1400" b="1" i="0" baseline="30000" dirty="0">
                          <a:latin typeface="Helvetica" panose="020B0604020202020204"/>
                          <a:cs typeface="Helvetica" panose="020B0604020202020204"/>
                        </a:rPr>
                        <a:t>13</a:t>
                      </a:r>
                      <a:r>
                        <a:rPr lang="es-ES" sz="1400" b="1" i="0" dirty="0">
                          <a:latin typeface="Helvetica" panose="020B0604020202020204"/>
                          <a:cs typeface="Helvetica" panose="020B0604020202020204"/>
                        </a:rPr>
                        <a:t>C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b="1" i="0" dirty="0">
                          <a:latin typeface="Helvetica" panose="020B0604020202020204"/>
                          <a:cs typeface="Helvetica" panose="020B0604020202020204"/>
                        </a:rPr>
                        <a:t>****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b="1" i="0" dirty="0">
                          <a:latin typeface="Helvetica" panose="020B0604020202020204"/>
                          <a:cs typeface="Helvetica" panose="020B0604020202020204"/>
                        </a:rPr>
                        <a:t>***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b="1" i="0" dirty="0">
                          <a:latin typeface="Helvetica" panose="020B0604020202020204"/>
                          <a:cs typeface="Helvetica" panose="020B0604020202020204"/>
                        </a:rPr>
                        <a:t>-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2061370"/>
                  </a:ext>
                </a:extLst>
              </a:tr>
              <a:tr h="30091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400" b="0" i="0" dirty="0">
                          <a:latin typeface="Helvetica" panose="020B0604020202020204"/>
                          <a:cs typeface="Helvetica" panose="020B0604020202020204"/>
                        </a:rPr>
                        <a:t>δ</a:t>
                      </a:r>
                      <a:r>
                        <a:rPr lang="es-ES" sz="1400" b="0" i="0" baseline="30000" dirty="0">
                          <a:latin typeface="Helvetica" panose="020B0604020202020204"/>
                          <a:cs typeface="Helvetica" panose="020B0604020202020204"/>
                        </a:rPr>
                        <a:t>18</a:t>
                      </a:r>
                      <a:r>
                        <a:rPr lang="es-ES" sz="1400" b="0" i="0" dirty="0">
                          <a:latin typeface="Helvetica" panose="020B0604020202020204"/>
                          <a:cs typeface="Helvetica" panose="020B0604020202020204"/>
                        </a:rPr>
                        <a:t>O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b="0" i="0" dirty="0">
                          <a:latin typeface="Helvetica" panose="020B0604020202020204"/>
                          <a:cs typeface="Helvetica" panose="020B0604020202020204"/>
                        </a:rPr>
                        <a:t>-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b="0" i="0" dirty="0">
                          <a:latin typeface="Helvetica" panose="020B0604020202020204"/>
                          <a:cs typeface="Helvetica" panose="020B0604020202020204"/>
                        </a:rPr>
                        <a:t>**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b="0" i="0" dirty="0">
                          <a:latin typeface="Helvetica" panose="020B0604020202020204"/>
                          <a:cs typeface="Helvetica" panose="020B0604020202020204"/>
                        </a:rPr>
                        <a:t>-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3136442"/>
                  </a:ext>
                </a:extLst>
              </a:tr>
              <a:tr h="300915">
                <a:tc>
                  <a:txBody>
                    <a:bodyPr/>
                    <a:lstStyle/>
                    <a:p>
                      <a:r>
                        <a:rPr lang="es-ES" sz="1400" b="0" i="0" dirty="0">
                          <a:latin typeface="Helvetica" panose="020B0604020202020204"/>
                          <a:cs typeface="Helvetica" panose="020B0604020202020204"/>
                        </a:rPr>
                        <a:t>δ</a:t>
                      </a:r>
                      <a:r>
                        <a:rPr lang="es-ES" sz="1400" b="0" i="0" baseline="30000" dirty="0">
                          <a:latin typeface="Helvetica" panose="020B0604020202020204"/>
                          <a:cs typeface="Helvetica" panose="020B0604020202020204"/>
                        </a:rPr>
                        <a:t>15</a:t>
                      </a:r>
                      <a:r>
                        <a:rPr lang="es-ES" sz="1400" b="0" i="0" dirty="0">
                          <a:latin typeface="Helvetica" panose="020B0604020202020204"/>
                          <a:cs typeface="Helvetica" panose="020B0604020202020204"/>
                        </a:rPr>
                        <a:t>N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b="0" i="0" dirty="0">
                          <a:latin typeface="Helvetica" panose="020B0604020202020204"/>
                          <a:cs typeface="Helvetica" panose="020B0604020202020204"/>
                        </a:rPr>
                        <a:t>*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b="0" i="0" dirty="0">
                          <a:latin typeface="Helvetica" panose="020B0604020202020204"/>
                          <a:cs typeface="Helvetica" panose="020B0604020202020204"/>
                        </a:rPr>
                        <a:t>****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b="0" i="0" dirty="0">
                          <a:latin typeface="Helvetica" panose="020B0604020202020204"/>
                          <a:cs typeface="Helvetica" panose="020B0604020202020204"/>
                        </a:rPr>
                        <a:t>****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8927219"/>
                  </a:ext>
                </a:extLst>
              </a:tr>
              <a:tr h="300915">
                <a:tc>
                  <a:txBody>
                    <a:bodyPr/>
                    <a:lstStyle/>
                    <a:p>
                      <a:r>
                        <a:rPr lang="es-ES" sz="1400" b="0" dirty="0">
                          <a:latin typeface="Helvetica" panose="020B0604020202020204"/>
                          <a:cs typeface="Helvetica" panose="020B0604020202020204"/>
                        </a:rPr>
                        <a:t>Wood 17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b="1" dirty="0">
                          <a:latin typeface="Helvetica" panose="020B0604020202020204"/>
                          <a:cs typeface="Helvetica" panose="020B0604020202020204"/>
                        </a:rPr>
                        <a:t>**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b="1" dirty="0">
                          <a:latin typeface="Helvetica" panose="020B0604020202020204"/>
                          <a:cs typeface="Helvetica" panose="020B0604020202020204"/>
                        </a:rPr>
                        <a:t>*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b="1" dirty="0">
                          <a:latin typeface="Helvetica" panose="020B0604020202020204"/>
                          <a:cs typeface="Helvetica" panose="020B0604020202020204"/>
                        </a:rPr>
                        <a:t>-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3670308"/>
                  </a:ext>
                </a:extLst>
              </a:tr>
              <a:tr h="300915">
                <a:tc>
                  <a:txBody>
                    <a:bodyPr/>
                    <a:lstStyle/>
                    <a:p>
                      <a:r>
                        <a:rPr lang="es-ES" sz="1400" b="0" dirty="0">
                          <a:latin typeface="Helvetica" panose="020B0604020202020204"/>
                          <a:cs typeface="Helvetica" panose="020B0604020202020204"/>
                        </a:rPr>
                        <a:t>Wood 22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b="1" dirty="0">
                          <a:latin typeface="Helvetica" panose="020B0604020202020204"/>
                          <a:cs typeface="Helvetica" panose="020B0604020202020204"/>
                        </a:rPr>
                        <a:t>*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b="1" dirty="0">
                          <a:latin typeface="Helvetica" panose="020B0604020202020204"/>
                          <a:cs typeface="Helvetica" panose="020B0604020202020204"/>
                        </a:rPr>
                        <a:t>**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b="1" dirty="0">
                          <a:latin typeface="Helvetica" panose="020B0604020202020204"/>
                          <a:cs typeface="Helvetica" panose="020B0604020202020204"/>
                        </a:rPr>
                        <a:t>-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06191988"/>
                  </a:ext>
                </a:extLst>
              </a:tr>
              <a:tr h="300915">
                <a:tc>
                  <a:txBody>
                    <a:bodyPr/>
                    <a:lstStyle/>
                    <a:p>
                      <a:r>
                        <a:rPr lang="es-ES" sz="1400" b="0" dirty="0">
                          <a:latin typeface="Helvetica" panose="020B0604020202020204"/>
                          <a:cs typeface="Helvetica" panose="020B0604020202020204"/>
                        </a:rPr>
                        <a:t>BAI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b="1" dirty="0">
                          <a:latin typeface="Helvetica" panose="020B0604020202020204"/>
                          <a:cs typeface="Helvetica" panose="020B0604020202020204"/>
                        </a:rPr>
                        <a:t>****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b="1" dirty="0">
                          <a:latin typeface="Helvetica" panose="020B0604020202020204"/>
                          <a:cs typeface="Helvetica" panose="020B0604020202020204"/>
                        </a:rPr>
                        <a:t>****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b="1" dirty="0">
                          <a:latin typeface="Helvetica" panose="020B0604020202020204"/>
                          <a:cs typeface="Helvetica" panose="020B0604020202020204"/>
                        </a:rPr>
                        <a:t>***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9515897"/>
                  </a:ext>
                </a:extLst>
              </a:tr>
              <a:tr h="300915">
                <a:tc>
                  <a:txBody>
                    <a:bodyPr/>
                    <a:lstStyle/>
                    <a:p>
                      <a:r>
                        <a:rPr lang="es-ES" sz="1400" b="1" dirty="0">
                          <a:latin typeface="Helvetica" panose="020B0604020202020204"/>
                          <a:cs typeface="Helvetica" panose="020B0604020202020204"/>
                        </a:rPr>
                        <a:t>BAI 1980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b="1" dirty="0">
                          <a:latin typeface="Helvetica" panose="020B0604020202020204"/>
                          <a:cs typeface="Helvetica" panose="020B0604020202020204"/>
                        </a:rPr>
                        <a:t>****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b="1" dirty="0">
                          <a:latin typeface="Helvetica" panose="020B0604020202020204"/>
                          <a:cs typeface="Helvetica" panose="020B0604020202020204"/>
                        </a:rPr>
                        <a:t>****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b="1" dirty="0">
                          <a:latin typeface="Helvetica" panose="020B0604020202020204"/>
                          <a:cs typeface="Helvetica" panose="020B0604020202020204"/>
                        </a:rPr>
                        <a:t>****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5711599"/>
                  </a:ext>
                </a:extLst>
              </a:tr>
              <a:tr h="300915">
                <a:tc>
                  <a:txBody>
                    <a:bodyPr/>
                    <a:lstStyle/>
                    <a:p>
                      <a:r>
                        <a:rPr lang="es-ES" sz="1400" dirty="0">
                          <a:latin typeface="Helvetica" panose="020B0604020202020204"/>
                          <a:cs typeface="Helvetica" panose="020B0604020202020204"/>
                        </a:rPr>
                        <a:t>BAI 20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dirty="0">
                          <a:latin typeface="Helvetica" panose="020B0604020202020204"/>
                          <a:cs typeface="Helvetica" panose="020B0604020202020204"/>
                        </a:rPr>
                        <a:t>****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dirty="0">
                          <a:latin typeface="Helvetica" panose="020B0604020202020204"/>
                          <a:cs typeface="Helvetica" panose="020B0604020202020204"/>
                        </a:rPr>
                        <a:t>****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dirty="0">
                          <a:latin typeface="Helvetica" panose="020B0604020202020204"/>
                          <a:cs typeface="Helvetica" panose="020B0604020202020204"/>
                        </a:rPr>
                        <a:t>****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4566533"/>
                  </a:ext>
                </a:extLst>
              </a:tr>
              <a:tr h="300915">
                <a:tc>
                  <a:txBody>
                    <a:bodyPr/>
                    <a:lstStyle/>
                    <a:p>
                      <a:r>
                        <a:rPr lang="es-ES" sz="1400" dirty="0">
                          <a:latin typeface="Helvetica" panose="020B0604020202020204"/>
                          <a:cs typeface="Helvetica" panose="020B0604020202020204"/>
                        </a:rPr>
                        <a:t>BAI 15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dirty="0">
                          <a:latin typeface="Helvetica" panose="020B0604020202020204"/>
                          <a:cs typeface="Helvetica" panose="020B0604020202020204"/>
                        </a:rPr>
                        <a:t>****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dirty="0">
                          <a:latin typeface="Helvetica" panose="020B0604020202020204"/>
                          <a:cs typeface="Helvetica" panose="020B0604020202020204"/>
                        </a:rPr>
                        <a:t>****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dirty="0">
                          <a:latin typeface="Helvetica" panose="020B0604020202020204"/>
                          <a:cs typeface="Helvetica" panose="020B0604020202020204"/>
                        </a:rPr>
                        <a:t>****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7987248"/>
                  </a:ext>
                </a:extLst>
              </a:tr>
              <a:tr h="300915">
                <a:tc>
                  <a:txBody>
                    <a:bodyPr/>
                    <a:lstStyle/>
                    <a:p>
                      <a:r>
                        <a:rPr lang="es-ES" sz="1400" dirty="0">
                          <a:latin typeface="Helvetica" panose="020B0604020202020204"/>
                          <a:cs typeface="Helvetica" panose="020B0604020202020204"/>
                        </a:rPr>
                        <a:t>BAI 10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dirty="0">
                          <a:latin typeface="Helvetica" panose="020B0604020202020204"/>
                          <a:cs typeface="Helvetica" panose="020B0604020202020204"/>
                        </a:rPr>
                        <a:t>**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dirty="0">
                          <a:latin typeface="Helvetica" panose="020B0604020202020204"/>
                          <a:cs typeface="Helvetica" panose="020B0604020202020204"/>
                        </a:rPr>
                        <a:t>****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dirty="0">
                          <a:latin typeface="Helvetica" panose="020B0604020202020204"/>
                          <a:cs typeface="Helvetica" panose="020B0604020202020204"/>
                        </a:rPr>
                        <a:t>****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4847193"/>
                  </a:ext>
                </a:extLst>
              </a:tr>
              <a:tr h="300915">
                <a:tc>
                  <a:txBody>
                    <a:bodyPr/>
                    <a:lstStyle/>
                    <a:p>
                      <a:r>
                        <a:rPr lang="es-ES" sz="1400" b="1" dirty="0">
                          <a:latin typeface="Helvetica" panose="020B0604020202020204"/>
                          <a:cs typeface="Helvetica" panose="020B0604020202020204"/>
                        </a:rPr>
                        <a:t>BAI 05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b="1" dirty="0">
                          <a:latin typeface="Helvetica" panose="020B0604020202020204"/>
                          <a:cs typeface="Helvetica" panose="020B0604020202020204"/>
                        </a:rPr>
                        <a:t>**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b="1" dirty="0">
                          <a:latin typeface="Helvetica" panose="020B0604020202020204"/>
                          <a:cs typeface="Helvetica" panose="020B0604020202020204"/>
                        </a:rPr>
                        <a:t>*****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b="1" dirty="0">
                          <a:latin typeface="Helvetica" panose="020B0604020202020204"/>
                          <a:cs typeface="Helvetica" panose="020B0604020202020204"/>
                        </a:rPr>
                        <a:t>*****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9192225"/>
                  </a:ext>
                </a:extLst>
              </a:tr>
              <a:tr h="300915">
                <a:tc>
                  <a:txBody>
                    <a:bodyPr/>
                    <a:lstStyle/>
                    <a:p>
                      <a:r>
                        <a:rPr lang="es-ES" sz="1400" b="0" dirty="0">
                          <a:latin typeface="Helvetica" panose="020B0604020202020204"/>
                          <a:cs typeface="Helvetica" panose="020B0604020202020204"/>
                        </a:rPr>
                        <a:t>Rt12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b="1" dirty="0">
                          <a:latin typeface="Helvetica" panose="020B0604020202020204"/>
                          <a:cs typeface="Helvetica" panose="020B0604020202020204"/>
                        </a:rPr>
                        <a:t>****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b="1" dirty="0">
                          <a:latin typeface="Helvetica" panose="020B0604020202020204"/>
                          <a:cs typeface="Helvetica" panose="020B0604020202020204"/>
                        </a:rPr>
                        <a:t>****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b="1" dirty="0">
                          <a:latin typeface="Helvetica" panose="020B0604020202020204"/>
                          <a:cs typeface="Helvetica" panose="020B0604020202020204"/>
                        </a:rPr>
                        <a:t>*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1006969"/>
                  </a:ext>
                </a:extLst>
              </a:tr>
              <a:tr h="300915">
                <a:tc>
                  <a:txBody>
                    <a:bodyPr/>
                    <a:lstStyle/>
                    <a:p>
                      <a:r>
                        <a:rPr lang="es-ES" sz="1400" b="0" dirty="0">
                          <a:latin typeface="Helvetica" panose="020B0604020202020204"/>
                          <a:cs typeface="Helvetica" panose="020B0604020202020204"/>
                        </a:rPr>
                        <a:t>Rt17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b="0" dirty="0">
                          <a:latin typeface="Helvetica" panose="020B0604020202020204"/>
                          <a:cs typeface="Helvetica" panose="020B0604020202020204"/>
                        </a:rPr>
                        <a:t>-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b="0" dirty="0">
                          <a:latin typeface="Helvetica" panose="020B0604020202020204"/>
                          <a:cs typeface="Helvetica" panose="020B0604020202020204"/>
                        </a:rPr>
                        <a:t>-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b="0" dirty="0">
                          <a:latin typeface="Helvetica" panose="020B0604020202020204"/>
                          <a:cs typeface="Helvetica" panose="020B0604020202020204"/>
                        </a:rPr>
                        <a:t>-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9623645"/>
                  </a:ext>
                </a:extLst>
              </a:tr>
              <a:tr h="300915">
                <a:tc>
                  <a:txBody>
                    <a:bodyPr/>
                    <a:lstStyle/>
                    <a:p>
                      <a:r>
                        <a:rPr lang="es-ES" sz="1400" b="0" dirty="0">
                          <a:latin typeface="Helvetica" panose="020B0604020202020204"/>
                          <a:cs typeface="Helvetica" panose="020B0604020202020204"/>
                        </a:rPr>
                        <a:t>Rt22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b="0" dirty="0">
                          <a:latin typeface="Helvetica" panose="020B0604020202020204"/>
                          <a:cs typeface="Helvetica" panose="020B0604020202020204"/>
                        </a:rPr>
                        <a:t>****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b="0" dirty="0">
                          <a:latin typeface="Helvetica" panose="020B0604020202020204"/>
                          <a:cs typeface="Helvetica" panose="020B0604020202020204"/>
                        </a:rPr>
                        <a:t>-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b="0" dirty="0">
                          <a:latin typeface="Helvetica" panose="020B0604020202020204"/>
                          <a:cs typeface="Helvetica" panose="020B0604020202020204"/>
                        </a:rPr>
                        <a:t>-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9457248"/>
                  </a:ext>
                </a:extLst>
              </a:tr>
              <a:tr h="300915">
                <a:tc>
                  <a:txBody>
                    <a:bodyPr/>
                    <a:lstStyle/>
                    <a:p>
                      <a:r>
                        <a:rPr lang="es-ES" sz="1400" b="1" dirty="0">
                          <a:latin typeface="Helvetica" panose="020B0604020202020204"/>
                          <a:cs typeface="Helvetica" panose="020B0604020202020204"/>
                        </a:rPr>
                        <a:t>Rs12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b="1" dirty="0">
                          <a:latin typeface="Helvetica" panose="020B0604020202020204"/>
                          <a:cs typeface="Helvetica" panose="020B0604020202020204"/>
                        </a:rPr>
                        <a:t>-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b="1" dirty="0">
                          <a:latin typeface="Helvetica" panose="020B0604020202020204"/>
                          <a:cs typeface="Helvetica" panose="020B0604020202020204"/>
                        </a:rPr>
                        <a:t>****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b="1" dirty="0">
                          <a:latin typeface="Helvetica" panose="020B0604020202020204"/>
                          <a:cs typeface="Helvetica" panose="020B0604020202020204"/>
                        </a:rPr>
                        <a:t>****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4147773"/>
                  </a:ext>
                </a:extLst>
              </a:tr>
              <a:tr h="300915">
                <a:tc>
                  <a:txBody>
                    <a:bodyPr/>
                    <a:lstStyle/>
                    <a:p>
                      <a:r>
                        <a:rPr lang="es-ES" sz="1400" b="0" dirty="0">
                          <a:latin typeface="Helvetica" panose="020B0604020202020204"/>
                          <a:cs typeface="Helvetica" panose="020B0604020202020204"/>
                        </a:rPr>
                        <a:t>Rs17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b="0" dirty="0">
                          <a:latin typeface="Helvetica" panose="020B0604020202020204"/>
                          <a:cs typeface="Helvetica" panose="020B0604020202020204"/>
                        </a:rPr>
                        <a:t>-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b="0" dirty="0">
                          <a:latin typeface="Helvetica" panose="020B0604020202020204"/>
                          <a:cs typeface="Helvetica" panose="020B0604020202020204"/>
                        </a:rPr>
                        <a:t>****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b="0" dirty="0">
                          <a:latin typeface="Helvetica" panose="020B0604020202020204"/>
                          <a:cs typeface="Helvetica" panose="020B0604020202020204"/>
                        </a:rPr>
                        <a:t>*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74576428"/>
                  </a:ext>
                </a:extLst>
              </a:tr>
            </a:tbl>
          </a:graphicData>
        </a:graphic>
      </p:graphicFrame>
      <p:pic>
        <p:nvPicPr>
          <p:cNvPr id="21" name="Picture 20">
            <a:extLst>
              <a:ext uri="{FF2B5EF4-FFF2-40B4-BE49-F238E27FC236}">
                <a16:creationId xmlns:a16="http://schemas.microsoft.com/office/drawing/2014/main" id="{864DF6F4-1E35-C967-44FD-4C1F3298940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8830" y="1800426"/>
            <a:ext cx="5115560" cy="5115560"/>
          </a:xfrm>
          <a:prstGeom prst="rect">
            <a:avLst/>
          </a:prstGeom>
        </p:spPr>
      </p:pic>
      <p:sp>
        <p:nvSpPr>
          <p:cNvPr id="6" name="CuadroTexto 10">
            <a:extLst>
              <a:ext uri="{FF2B5EF4-FFF2-40B4-BE49-F238E27FC236}">
                <a16:creationId xmlns:a16="http://schemas.microsoft.com/office/drawing/2014/main" id="{8B2BCA8D-7E32-F085-A23F-5F547907D58A}"/>
              </a:ext>
            </a:extLst>
          </p:cNvPr>
          <p:cNvSpPr txBox="1"/>
          <p:nvPr/>
        </p:nvSpPr>
        <p:spPr>
          <a:xfrm>
            <a:off x="184392" y="815542"/>
            <a:ext cx="583007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 algn="ctr"/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Differences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between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Declining</a:t>
            </a:r>
            <a:r>
              <a:rPr lang="es-ES" sz="2000" b="1" dirty="0">
                <a:latin typeface="Helvetica" panose="020B0604020202020204" pitchFamily="34" charset="0"/>
                <a:cs typeface="Helvetica" panose="020B0604020202020204" pitchFamily="34" charset="0"/>
              </a:rPr>
              <a:t> (</a:t>
            </a:r>
            <a:r>
              <a:rPr lang="es-ES" sz="20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healthy</a:t>
            </a:r>
            <a:r>
              <a:rPr lang="es-ES" sz="2000" b="1" dirty="0">
                <a:latin typeface="Helvetica" panose="020B0604020202020204" pitchFamily="34" charset="0"/>
                <a:cs typeface="Helvetica" panose="020B0604020202020204" pitchFamily="34" charset="0"/>
              </a:rPr>
              <a:t>)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vs. </a:t>
            </a:r>
            <a:r>
              <a:rPr lang="es-ES" sz="20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Declining</a:t>
            </a:r>
            <a:r>
              <a:rPr lang="es-ES" sz="2000" b="1" dirty="0">
                <a:latin typeface="Helvetica" panose="020B0604020202020204" pitchFamily="34" charset="0"/>
                <a:cs typeface="Helvetica" panose="020B0604020202020204" pitchFamily="34" charset="0"/>
              </a:rPr>
              <a:t> (</a:t>
            </a:r>
            <a:r>
              <a:rPr lang="es-ES" sz="20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damaged</a:t>
            </a:r>
            <a:r>
              <a:rPr lang="es-ES" sz="2000" b="1" dirty="0">
                <a:latin typeface="Helvetica" panose="020B0604020202020204" pitchFamily="34" charset="0"/>
                <a:cs typeface="Helvetica" panose="020B0604020202020204" pitchFamily="34" charset="0"/>
              </a:rPr>
              <a:t>)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for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any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species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:</a:t>
            </a:r>
            <a:endParaRPr lang="es-ES" sz="2000" b="1" dirty="0">
              <a:solidFill>
                <a:srgbClr val="2F5597"/>
              </a:solidFill>
              <a:latin typeface="Helvetica" panose="020B0604020202020204" pitchFamily="34" charset="0"/>
              <a:cs typeface="Helvetica" panose="020B0604020202020204" pitchFamily="34" charset="0"/>
              <a:sym typeface="Wingdings" panose="05000000000000000000" pitchFamily="2" charset="2"/>
            </a:endParaRPr>
          </a:p>
          <a:p>
            <a:pPr lvl="1" algn="ctr"/>
            <a:endParaRPr lang="es-ES" sz="20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lvl="1" algn="ctr"/>
            <a:endParaRPr lang="es-ES" sz="20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2702392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FB420A-5EA1-4BD5-1E86-284E148BAF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>
            <a:extLst>
              <a:ext uri="{FF2B5EF4-FFF2-40B4-BE49-F238E27FC236}">
                <a16:creationId xmlns:a16="http://schemas.microsoft.com/office/drawing/2014/main" id="{FB71D2C2-329D-1614-D7BA-900CB0D85D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88915" y="1477262"/>
            <a:ext cx="9366245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kumimoji="0" lang="es-ES" altLang="es-E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altLang="es-E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593EDC3F-2319-25FF-729B-9ED79FDAA5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690902" cy="804155"/>
          </a:xfrm>
          <a:solidFill>
            <a:srgbClr val="218317"/>
          </a:solidFill>
        </p:spPr>
        <p:txBody>
          <a:bodyPr>
            <a:normAutofit/>
          </a:bodyPr>
          <a:lstStyle/>
          <a:p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	Data 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analysis</a:t>
            </a:r>
            <a:endParaRPr lang="es-ES" sz="3200" b="1" dirty="0">
              <a:solidFill>
                <a:schemeClr val="bg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4FF426EE-A749-CB91-7BC2-38EE4D00690F}"/>
              </a:ext>
            </a:extLst>
          </p:cNvPr>
          <p:cNvSpPr txBox="1">
            <a:spLocks/>
          </p:cNvSpPr>
          <p:nvPr/>
        </p:nvSpPr>
        <p:spPr>
          <a:xfrm>
            <a:off x="9690902" y="-1"/>
            <a:ext cx="2501098" cy="804157"/>
          </a:xfrm>
          <a:prstGeom prst="rect">
            <a:avLst/>
          </a:prstGeom>
          <a:solidFill>
            <a:srgbClr val="218317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ES" sz="2800" b="1" dirty="0">
                <a:solidFill>
                  <a:srgbClr val="218317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.</a:t>
            </a:r>
          </a:p>
        </p:txBody>
      </p:sp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E30CA758-209D-48F9-96AC-339AD52872F8}"/>
              </a:ext>
            </a:extLst>
          </p:cNvPr>
          <p:cNvSpPr txBox="1">
            <a:spLocks/>
          </p:cNvSpPr>
          <p:nvPr/>
        </p:nvSpPr>
        <p:spPr>
          <a:xfrm>
            <a:off x="418288" y="1140469"/>
            <a:ext cx="5136205" cy="64633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Clr>
                <a:srgbClr val="218317"/>
              </a:buClr>
              <a:buNone/>
            </a:pPr>
            <a:r>
              <a:rPr lang="es-ES" sz="3200" b="1" dirty="0">
                <a:solidFill>
                  <a:srgbClr val="218317"/>
                </a:solidFill>
                <a:latin typeface="Helvetica"/>
                <a:cs typeface="Helvetica"/>
              </a:rPr>
              <a:t>3.- </a:t>
            </a:r>
            <a:r>
              <a:rPr lang="es-ES" sz="3200" b="1" dirty="0">
                <a:latin typeface="Helvetica"/>
                <a:cs typeface="Helvetica"/>
              </a:rPr>
              <a:t>P-</a:t>
            </a:r>
            <a:r>
              <a:rPr lang="es-ES" sz="3200" b="1" dirty="0" err="1">
                <a:latin typeface="Helvetica"/>
                <a:cs typeface="Helvetica"/>
              </a:rPr>
              <a:t>values</a:t>
            </a:r>
            <a:endParaRPr lang="es-ES" dirty="0">
              <a:latin typeface="Helvetica"/>
              <a:cs typeface="Helvetica"/>
              <a:sym typeface="Wingdings" panose="05000000000000000000" pitchFamily="2" charset="2"/>
            </a:endParaRPr>
          </a:p>
          <a:p>
            <a:pPr algn="just">
              <a:buClr>
                <a:srgbClr val="218317"/>
              </a:buClr>
            </a:pPr>
            <a:endParaRPr lang="es-ES" b="1" dirty="0">
              <a:latin typeface="Helvetica"/>
              <a:cs typeface="Helvetica"/>
              <a:sym typeface="Wingdings" panose="05000000000000000000" pitchFamily="2" charset="2"/>
            </a:endParaRPr>
          </a:p>
          <a:p>
            <a:pPr algn="just">
              <a:buClr>
                <a:srgbClr val="218317"/>
              </a:buClr>
            </a:pPr>
            <a:endParaRPr lang="es-ES" b="1" dirty="0">
              <a:latin typeface="Helvetica"/>
              <a:cs typeface="Helvetica"/>
            </a:endParaRPr>
          </a:p>
          <a:p>
            <a:pPr marL="0" indent="0" algn="ctr">
              <a:buClr>
                <a:srgbClr val="218317"/>
              </a:buClr>
              <a:buNone/>
            </a:pPr>
            <a:endParaRPr lang="es-ES" b="1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lvl="1" algn="ctr">
              <a:buClr>
                <a:srgbClr val="218317"/>
              </a:buClr>
              <a:buFont typeface="Calibri" panose="02070309020205020404" pitchFamily="49" charset="0"/>
              <a:buChar char="-"/>
            </a:pPr>
            <a:endParaRPr lang="es-ES" sz="2800" b="1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algn="ctr"/>
            <a:endParaRPr lang="es-ES" sz="3200" b="1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7" name="TextBox 16">
            <a:extLst>
              <a:ext uri="{FF2B5EF4-FFF2-40B4-BE49-F238E27FC236}">
                <a16:creationId xmlns:a16="http://schemas.microsoft.com/office/drawing/2014/main" id="{BA265A50-62AC-32C1-C12C-CB7944D9F047}"/>
              </a:ext>
            </a:extLst>
          </p:cNvPr>
          <p:cNvSpPr txBox="1"/>
          <p:nvPr/>
        </p:nvSpPr>
        <p:spPr>
          <a:xfrm>
            <a:off x="-404782" y="2123114"/>
            <a:ext cx="709855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4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Vulnerability</a:t>
            </a:r>
            <a:r>
              <a:rPr lang="es-ES" sz="2800" b="1" dirty="0">
                <a:latin typeface="Helvetica" panose="020B0604020202020204" pitchFamily="34" charset="0"/>
                <a:cs typeface="Helvetica" panose="020B0604020202020204" pitchFamily="34" charset="0"/>
              </a:rPr>
              <a:t> =/= </a:t>
            </a:r>
            <a:r>
              <a:rPr lang="es-ES" sz="2400" b="1" dirty="0">
                <a:latin typeface="Helvetica" panose="020B0604020202020204" pitchFamily="34" charset="0"/>
                <a:cs typeface="Helvetica" panose="020B0604020202020204" pitchFamily="34" charset="0"/>
              </a:rPr>
              <a:t>response</a:t>
            </a:r>
            <a:endParaRPr lang="es-ES" sz="2800" b="1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pic>
        <p:nvPicPr>
          <p:cNvPr id="12" name="Picture 2" descr="Original “death spiral” from Manion (1991) describing biotic ...">
            <a:extLst>
              <a:ext uri="{FF2B5EF4-FFF2-40B4-BE49-F238E27FC236}">
                <a16:creationId xmlns:a16="http://schemas.microsoft.com/office/drawing/2014/main" id="{F741D58A-197D-F17A-55D4-C64F6C2330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33055" y="1226789"/>
            <a:ext cx="3643597" cy="4432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2">
            <a:extLst>
              <a:ext uri="{FF2B5EF4-FFF2-40B4-BE49-F238E27FC236}">
                <a16:creationId xmlns:a16="http://schemas.microsoft.com/office/drawing/2014/main" id="{97ABAC82-24D6-096A-4E15-993542F33694}"/>
              </a:ext>
            </a:extLst>
          </p:cNvPr>
          <p:cNvSpPr txBox="1"/>
          <p:nvPr/>
        </p:nvSpPr>
        <p:spPr>
          <a:xfrm>
            <a:off x="418288" y="2980082"/>
            <a:ext cx="3063789" cy="2585323"/>
          </a:xfrm>
          <a:prstGeom prst="rect">
            <a:avLst/>
          </a:prstGeom>
          <a:noFill/>
          <a:ln w="57150">
            <a:noFill/>
          </a:ln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218317"/>
              </a:buClr>
              <a:buFont typeface="Arial" panose="020B0604020202020204" pitchFamily="34" charset="0"/>
              <a:buChar char="•"/>
            </a:pP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Tree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size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(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dbh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,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height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)</a:t>
            </a:r>
          </a:p>
          <a:p>
            <a:pPr marL="342900" indent="-342900">
              <a:buClr>
                <a:srgbClr val="218317"/>
              </a:buClr>
              <a:buFont typeface="Arial" panose="020B0604020202020204" pitchFamily="34" charset="0"/>
              <a:buChar char="•"/>
            </a:pPr>
            <a:r>
              <a:rPr lang="es-ES" b="1" dirty="0">
                <a:latin typeface="Helvetica" panose="020B0604020202020204" pitchFamily="34" charset="0"/>
                <a:cs typeface="Helvetica" panose="020B0604020202020204" pitchFamily="34" charset="0"/>
              </a:rPr>
              <a:t>Age</a:t>
            </a:r>
          </a:p>
          <a:p>
            <a:pPr marL="342900" indent="-342900">
              <a:buClr>
                <a:srgbClr val="218317"/>
              </a:buClr>
              <a:buFont typeface="Arial" panose="020B0604020202020204" pitchFamily="34" charset="0"/>
              <a:buChar char="•"/>
            </a:pPr>
            <a:r>
              <a:rPr lang="es-ES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Competition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(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Hegyi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index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)</a:t>
            </a:r>
          </a:p>
          <a:p>
            <a:pPr marL="342900" indent="-342900">
              <a:buClr>
                <a:srgbClr val="218317"/>
              </a:buClr>
              <a:buFont typeface="Arial" panose="020B0604020202020204" pitchFamily="34" charset="0"/>
              <a:buChar char="•"/>
            </a:pPr>
            <a:r>
              <a:rPr lang="es-ES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Growth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(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all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, </a:t>
            </a:r>
            <a:r>
              <a:rPr lang="es-ES" b="1" dirty="0">
                <a:latin typeface="Helvetica" panose="020B0604020202020204" pitchFamily="34" charset="0"/>
                <a:cs typeface="Helvetica" panose="020B0604020202020204" pitchFamily="34" charset="0"/>
              </a:rPr>
              <a:t>1980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, 20, 15, 10)</a:t>
            </a:r>
          </a:p>
          <a:p>
            <a:pPr marL="342900" indent="-342900">
              <a:buClr>
                <a:srgbClr val="218317"/>
              </a:buClr>
              <a:buFont typeface="Arial" panose="020B0604020202020204" pitchFamily="34" charset="0"/>
              <a:buChar char="•"/>
            </a:pP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Lloret’s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Rt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(2012, 2017, 2022)</a:t>
            </a:r>
          </a:p>
          <a:p>
            <a:pPr marL="342900" indent="-342900">
              <a:buClr>
                <a:srgbClr val="218317"/>
              </a:buClr>
              <a:buFont typeface="Arial" panose="020B0604020202020204" pitchFamily="34" charset="0"/>
              <a:buChar char="•"/>
            </a:pP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Lloret’s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Rs</a:t>
            </a:r>
            <a:r>
              <a:rPr lang="es-ES" b="1" dirty="0">
                <a:latin typeface="Helvetica" panose="020B0604020202020204" pitchFamily="34" charset="0"/>
                <a:cs typeface="Helvetica" panose="020B0604020202020204" pitchFamily="34" charset="0"/>
              </a:rPr>
              <a:t> (2012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, 2017)</a:t>
            </a:r>
          </a:p>
        </p:txBody>
      </p:sp>
      <p:sp>
        <p:nvSpPr>
          <p:cNvPr id="14" name="TextBox 2">
            <a:extLst>
              <a:ext uri="{FF2B5EF4-FFF2-40B4-BE49-F238E27FC236}">
                <a16:creationId xmlns:a16="http://schemas.microsoft.com/office/drawing/2014/main" id="{44CC615B-6F40-C44F-FAC1-D72344E83D23}"/>
              </a:ext>
            </a:extLst>
          </p:cNvPr>
          <p:cNvSpPr txBox="1"/>
          <p:nvPr/>
        </p:nvSpPr>
        <p:spPr>
          <a:xfrm>
            <a:off x="4621358" y="2980082"/>
            <a:ext cx="2601245" cy="3139321"/>
          </a:xfrm>
          <a:prstGeom prst="rect">
            <a:avLst/>
          </a:prstGeom>
          <a:noFill/>
          <a:ln w="57150">
            <a:noFill/>
          </a:ln>
        </p:spPr>
        <p:txBody>
          <a:bodyPr wrap="square" rtlCol="0">
            <a:spAutoFit/>
          </a:bodyPr>
          <a:lstStyle/>
          <a:p>
            <a:pPr marL="285750" indent="-285750">
              <a:buClr>
                <a:srgbClr val="218317"/>
              </a:buClr>
              <a:buFont typeface="Arial" panose="020B0604020202020204" pitchFamily="34" charset="0"/>
              <a:buChar char="•"/>
            </a:pPr>
            <a:r>
              <a:rPr lang="es-ES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Defoliation</a:t>
            </a:r>
            <a:endParaRPr lang="es-ES" b="1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285750" indent="-285750">
              <a:buClr>
                <a:srgbClr val="218317"/>
              </a:buClr>
              <a:buFont typeface="Arial" panose="020B0604020202020204" pitchFamily="34" charset="0"/>
              <a:buChar char="•"/>
            </a:pP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Pigments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(</a:t>
            </a:r>
            <a:r>
              <a:rPr lang="es-ES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Chl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,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carotenoids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)</a:t>
            </a:r>
          </a:p>
          <a:p>
            <a:pPr marL="285750" indent="-285750">
              <a:buClr>
                <a:srgbClr val="218317"/>
              </a:buClr>
              <a:buFont typeface="Arial" panose="020B0604020202020204" pitchFamily="34" charset="0"/>
              <a:buChar char="•"/>
            </a:pP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Nutrients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(C, </a:t>
            </a:r>
            <a:r>
              <a:rPr lang="es-ES" b="1" dirty="0">
                <a:latin typeface="Helvetica" panose="020B0604020202020204" pitchFamily="34" charset="0"/>
                <a:cs typeface="Helvetica" panose="020B0604020202020204" pitchFamily="34" charset="0"/>
              </a:rPr>
              <a:t>N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, C:N)</a:t>
            </a:r>
          </a:p>
          <a:p>
            <a:pPr marL="285750" indent="-285750">
              <a:buClr>
                <a:srgbClr val="218317"/>
              </a:buClr>
              <a:buFont typeface="Arial" panose="020B0604020202020204" pitchFamily="34" charset="0"/>
              <a:buChar char="•"/>
            </a:pPr>
            <a:r>
              <a:rPr lang="es-ES" b="1" dirty="0">
                <a:latin typeface="Helvetica" panose="020B0604020202020204" pitchFamily="34" charset="0"/>
                <a:cs typeface="Helvetica" panose="020B0604020202020204" pitchFamily="34" charset="0"/>
              </a:rPr>
              <a:t>SLA</a:t>
            </a:r>
          </a:p>
          <a:p>
            <a:pPr marL="285750" indent="-285750">
              <a:buClr>
                <a:srgbClr val="218317"/>
              </a:buClr>
              <a:buFont typeface="Arial" panose="020B0604020202020204" pitchFamily="34" charset="0"/>
              <a:buChar char="•"/>
            </a:pPr>
            <a:r>
              <a:rPr lang="es-ES" b="1" dirty="0">
                <a:latin typeface="Helvetica" panose="020B0604020202020204" pitchFamily="34" charset="0"/>
                <a:cs typeface="Helvetica" panose="020B0604020202020204" pitchFamily="34" charset="0"/>
              </a:rPr>
              <a:t>RWC</a:t>
            </a:r>
          </a:p>
          <a:p>
            <a:pPr marL="285750" indent="-285750">
              <a:buClr>
                <a:srgbClr val="218317"/>
              </a:buClr>
              <a:buFont typeface="Arial" panose="020B0604020202020204" pitchFamily="34" charset="0"/>
              <a:buChar char="•"/>
            </a:pP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Leaf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isotopes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(</a:t>
            </a:r>
            <a:r>
              <a:rPr lang="el-GR" b="1" dirty="0">
                <a:latin typeface="Helvetica" panose="020B0604020202020204" pitchFamily="34" charset="0"/>
                <a:cs typeface="Helvetica" panose="020B0604020202020204" pitchFamily="34" charset="0"/>
              </a:rPr>
              <a:t>δ</a:t>
            </a:r>
            <a:r>
              <a:rPr lang="es-ES" b="1" baseline="30000" dirty="0">
                <a:latin typeface="Helvetica" panose="020B0604020202020204" pitchFamily="34" charset="0"/>
                <a:cs typeface="Helvetica" panose="020B0604020202020204" pitchFamily="34" charset="0"/>
              </a:rPr>
              <a:t>13</a:t>
            </a:r>
            <a:r>
              <a:rPr lang="es-ES" b="1" dirty="0">
                <a:latin typeface="Helvetica" panose="020B0604020202020204" pitchFamily="34" charset="0"/>
                <a:cs typeface="Helvetica" panose="020B0604020202020204" pitchFamily="34" charset="0"/>
              </a:rPr>
              <a:t>C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, </a:t>
            </a:r>
            <a:r>
              <a:rPr lang="el-GR" dirty="0">
                <a:latin typeface="Helvetica" panose="020B0604020202020204" pitchFamily="34" charset="0"/>
                <a:cs typeface="Helvetica" panose="020B0604020202020204" pitchFamily="34" charset="0"/>
              </a:rPr>
              <a:t>δ</a:t>
            </a:r>
            <a:r>
              <a:rPr lang="es-ES" baseline="30000" dirty="0">
                <a:latin typeface="Helvetica" panose="020B0604020202020204" pitchFamily="34" charset="0"/>
                <a:cs typeface="Helvetica" panose="020B0604020202020204" pitchFamily="34" charset="0"/>
              </a:rPr>
              <a:t>15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n, </a:t>
            </a:r>
            <a:r>
              <a:rPr lang="el-GR" dirty="0">
                <a:latin typeface="Helvetica" panose="020B0604020202020204" pitchFamily="34" charset="0"/>
                <a:cs typeface="Helvetica" panose="020B0604020202020204" pitchFamily="34" charset="0"/>
              </a:rPr>
              <a:t>δ</a:t>
            </a:r>
            <a:r>
              <a:rPr lang="es-ES" baseline="30000" dirty="0">
                <a:latin typeface="Helvetica" panose="020B0604020202020204" pitchFamily="34" charset="0"/>
                <a:cs typeface="Helvetica" panose="020B0604020202020204" pitchFamily="34" charset="0"/>
              </a:rPr>
              <a:t>18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O)</a:t>
            </a:r>
          </a:p>
          <a:p>
            <a:pPr marL="285750" indent="-285750">
              <a:buClr>
                <a:srgbClr val="218317"/>
              </a:buClr>
              <a:buFont typeface="Arial" panose="020B0604020202020204" pitchFamily="34" charset="0"/>
              <a:buChar char="•"/>
            </a:pP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Wood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isotopes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(</a:t>
            </a:r>
            <a:r>
              <a:rPr lang="el-GR" dirty="0">
                <a:latin typeface="Helvetica" panose="020B0604020202020204" pitchFamily="34" charset="0"/>
                <a:cs typeface="Helvetica" panose="020B0604020202020204" pitchFamily="34" charset="0"/>
              </a:rPr>
              <a:t>δ</a:t>
            </a:r>
            <a:r>
              <a:rPr lang="es-ES" baseline="30000" dirty="0">
                <a:latin typeface="Helvetica" panose="020B0604020202020204" pitchFamily="34" charset="0"/>
                <a:cs typeface="Helvetica" panose="020B0604020202020204" pitchFamily="34" charset="0"/>
              </a:rPr>
              <a:t>13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C, </a:t>
            </a:r>
            <a:r>
              <a:rPr lang="el-GR" dirty="0">
                <a:latin typeface="Helvetica" panose="020B0604020202020204" pitchFamily="34" charset="0"/>
                <a:cs typeface="Helvetica" panose="020B0604020202020204" pitchFamily="34" charset="0"/>
              </a:rPr>
              <a:t>δ</a:t>
            </a:r>
            <a:r>
              <a:rPr lang="es-ES" baseline="30000" dirty="0">
                <a:latin typeface="Helvetica" panose="020B0604020202020204" pitchFamily="34" charset="0"/>
                <a:cs typeface="Helvetica" panose="020B0604020202020204" pitchFamily="34" charset="0"/>
              </a:rPr>
              <a:t>15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n, </a:t>
            </a:r>
            <a:r>
              <a:rPr lang="el-GR" dirty="0">
                <a:latin typeface="Helvetica" panose="020B0604020202020204" pitchFamily="34" charset="0"/>
                <a:cs typeface="Helvetica" panose="020B0604020202020204" pitchFamily="34" charset="0"/>
              </a:rPr>
              <a:t>δ</a:t>
            </a:r>
            <a:r>
              <a:rPr lang="es-ES" baseline="30000" dirty="0">
                <a:latin typeface="Helvetica" panose="020B0604020202020204" pitchFamily="34" charset="0"/>
                <a:cs typeface="Helvetica" panose="020B0604020202020204" pitchFamily="34" charset="0"/>
              </a:rPr>
              <a:t>18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O)</a:t>
            </a:r>
          </a:p>
          <a:p>
            <a:pPr marL="285750" indent="-285750">
              <a:buClr>
                <a:srgbClr val="218317"/>
              </a:buClr>
              <a:buFont typeface="Arial" panose="020B0604020202020204" pitchFamily="34" charset="0"/>
              <a:buChar char="•"/>
            </a:pPr>
            <a:r>
              <a:rPr lang="es-ES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Growth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(5)</a:t>
            </a:r>
          </a:p>
        </p:txBody>
      </p:sp>
      <p:sp>
        <p:nvSpPr>
          <p:cNvPr id="15" name="TextBox 16">
            <a:extLst>
              <a:ext uri="{FF2B5EF4-FFF2-40B4-BE49-F238E27FC236}">
                <a16:creationId xmlns:a16="http://schemas.microsoft.com/office/drawing/2014/main" id="{17A9AA7D-C3B1-BF3A-5647-D5290B2CC2D7}"/>
              </a:ext>
            </a:extLst>
          </p:cNvPr>
          <p:cNvSpPr txBox="1"/>
          <p:nvPr/>
        </p:nvSpPr>
        <p:spPr>
          <a:xfrm>
            <a:off x="3022441" y="3443114"/>
            <a:ext cx="182301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3200" b="1" dirty="0">
                <a:latin typeface="Helvetica" panose="020B0604020202020204" pitchFamily="34" charset="0"/>
                <a:cs typeface="Helvetica" panose="020B0604020202020204" pitchFamily="34" charset="0"/>
              </a:rPr>
              <a:t>=/=</a:t>
            </a:r>
          </a:p>
        </p:txBody>
      </p:sp>
    </p:spTree>
    <p:extLst>
      <p:ext uri="{BB962C8B-B14F-4D97-AF65-F5344CB8AC3E}">
        <p14:creationId xmlns:p14="http://schemas.microsoft.com/office/powerpoint/2010/main" val="217837925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5D6748-91EB-32A9-FBE0-C64F0CDC54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>
            <a:extLst>
              <a:ext uri="{FF2B5EF4-FFF2-40B4-BE49-F238E27FC236}">
                <a16:creationId xmlns:a16="http://schemas.microsoft.com/office/drawing/2014/main" id="{5B4B61F5-3330-A8AA-38A9-466ACE9CC3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88915" y="1477262"/>
            <a:ext cx="9366245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kumimoji="0" lang="es-ES" altLang="es-E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altLang="es-E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BEFBFB1-99D0-C676-8018-46FF79B5D3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690902" cy="804155"/>
          </a:xfrm>
          <a:solidFill>
            <a:srgbClr val="218317"/>
          </a:solidFill>
        </p:spPr>
        <p:txBody>
          <a:bodyPr>
            <a:normAutofit/>
          </a:bodyPr>
          <a:lstStyle/>
          <a:p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	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Preliminary</a:t>
            </a:r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results</a:t>
            </a:r>
            <a:endParaRPr lang="es-ES" sz="3200" b="1" dirty="0">
              <a:solidFill>
                <a:schemeClr val="bg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FA2939B2-F3C8-A31A-E8B5-13ACDE0857AD}"/>
              </a:ext>
            </a:extLst>
          </p:cNvPr>
          <p:cNvSpPr txBox="1">
            <a:spLocks/>
          </p:cNvSpPr>
          <p:nvPr/>
        </p:nvSpPr>
        <p:spPr>
          <a:xfrm>
            <a:off x="9690902" y="-1"/>
            <a:ext cx="2501098" cy="804157"/>
          </a:xfrm>
          <a:prstGeom prst="rect">
            <a:avLst/>
          </a:prstGeom>
          <a:solidFill>
            <a:srgbClr val="218317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ES" sz="28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M&amp;M </a:t>
            </a:r>
            <a:r>
              <a:rPr lang="es-ES" sz="2800" b="1" dirty="0">
                <a:solidFill>
                  <a:srgbClr val="218317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.</a:t>
            </a:r>
          </a:p>
        </p:txBody>
      </p:sp>
      <p:sp>
        <p:nvSpPr>
          <p:cNvPr id="9" name="Marcador de contenido 2">
            <a:extLst>
              <a:ext uri="{FF2B5EF4-FFF2-40B4-BE49-F238E27FC236}">
                <a16:creationId xmlns:a16="http://schemas.microsoft.com/office/drawing/2014/main" id="{14CDFF00-B5C4-99C7-75FA-DBDC703114CD}"/>
              </a:ext>
            </a:extLst>
          </p:cNvPr>
          <p:cNvSpPr txBox="1">
            <a:spLocks/>
          </p:cNvSpPr>
          <p:nvPr/>
        </p:nvSpPr>
        <p:spPr>
          <a:xfrm>
            <a:off x="5704734" y="6350279"/>
            <a:ext cx="880379" cy="64633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rgbClr val="218317"/>
              </a:buClr>
              <a:buNone/>
            </a:pPr>
            <a:r>
              <a:rPr lang="es-ES" sz="1800" b="1" dirty="0">
                <a:latin typeface="Helvetica"/>
                <a:cs typeface="Helvetica"/>
              </a:rPr>
              <a:t>Fig. 2</a:t>
            </a:r>
            <a:endParaRPr lang="es-ES" sz="18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5" name="Marcador de contenido 2">
            <a:extLst>
              <a:ext uri="{FF2B5EF4-FFF2-40B4-BE49-F238E27FC236}">
                <a16:creationId xmlns:a16="http://schemas.microsoft.com/office/drawing/2014/main" id="{5F2D9288-CD85-756C-D464-FE6CF8F50116}"/>
              </a:ext>
            </a:extLst>
          </p:cNvPr>
          <p:cNvSpPr txBox="1">
            <a:spLocks/>
          </p:cNvSpPr>
          <p:nvPr/>
        </p:nvSpPr>
        <p:spPr>
          <a:xfrm>
            <a:off x="623546" y="972273"/>
            <a:ext cx="10465002" cy="1548993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Clr>
                <a:srgbClr val="218317"/>
              </a:buClr>
              <a:buNone/>
            </a:pPr>
            <a:r>
              <a:rPr lang="es-ES" sz="2400" b="1" dirty="0" err="1">
                <a:latin typeface="Helvetica"/>
                <a:cs typeface="Helvetica"/>
              </a:rPr>
              <a:t>Obj</a:t>
            </a:r>
            <a:r>
              <a:rPr lang="es-ES" sz="2400" b="1" dirty="0">
                <a:latin typeface="Helvetica" panose="020B0604020202020204"/>
                <a:cs typeface="Helvetica"/>
              </a:rPr>
              <a:t>. 1.- </a:t>
            </a:r>
            <a:r>
              <a:rPr lang="en-US" sz="2400" dirty="0">
                <a:latin typeface="Helvetica" panose="020B0604020202020204"/>
                <a:cs typeface="Helvetica" panose="020B0604020202020204"/>
              </a:rPr>
              <a:t>To assess the underlying processes behind tree dieback by </a:t>
            </a:r>
            <a:r>
              <a:rPr lang="en-US" sz="2400" dirty="0" err="1">
                <a:latin typeface="Helvetica" panose="020B0604020202020204"/>
                <a:cs typeface="Helvetica" panose="020B0604020202020204"/>
              </a:rPr>
              <a:t>characterising</a:t>
            </a:r>
            <a:r>
              <a:rPr lang="en-US" sz="2400" dirty="0">
                <a:latin typeface="Helvetica" panose="020B0604020202020204"/>
                <a:cs typeface="Helvetica" panose="020B0604020202020204"/>
              </a:rPr>
              <a:t> predisposing factors and the morphological and physiological responses to drought</a:t>
            </a:r>
            <a:endParaRPr lang="es-ES" sz="2400" dirty="0">
              <a:latin typeface="Helvetica" panose="020B0604020202020204"/>
              <a:cs typeface="Helvetica" panose="020B0604020202020204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8E5A0EF-A980-5571-827A-2670EEA68D7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0259" y="1746769"/>
            <a:ext cx="5138195" cy="5138195"/>
          </a:xfrm>
          <a:prstGeom prst="rect">
            <a:avLst/>
          </a:prstGeom>
        </p:spPr>
      </p:pic>
      <p:sp>
        <p:nvSpPr>
          <p:cNvPr id="11" name="CuadroTexto 10">
            <a:extLst>
              <a:ext uri="{FF2B5EF4-FFF2-40B4-BE49-F238E27FC236}">
                <a16:creationId xmlns:a16="http://schemas.microsoft.com/office/drawing/2014/main" id="{293EE323-DA89-CD22-DD27-394A73B7E917}"/>
              </a:ext>
            </a:extLst>
          </p:cNvPr>
          <p:cNvSpPr txBox="1"/>
          <p:nvPr/>
        </p:nvSpPr>
        <p:spPr>
          <a:xfrm>
            <a:off x="52874" y="2235239"/>
            <a:ext cx="5806713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742950" lvl="1" indent="-285750" algn="just">
              <a:buClr>
                <a:srgbClr val="218317"/>
              </a:buClr>
              <a:buFont typeface="Arial" panose="020B0604020202020204" pitchFamily="34" charset="0"/>
              <a:buChar char="•"/>
            </a:pPr>
            <a:r>
              <a:rPr lang="es-ES" b="1" dirty="0">
                <a:latin typeface="Helvetica" panose="020B0604020202020204" pitchFamily="34" charset="0"/>
                <a:cs typeface="Helvetica" panose="020B0604020202020204" pitchFamily="34" charset="0"/>
              </a:rPr>
              <a:t>Age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is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higher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in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declining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sites and more in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damaged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than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healthy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individuals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 </a:t>
            </a:r>
            <a:r>
              <a:rPr lang="es-ES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Older</a:t>
            </a:r>
            <a:r>
              <a:rPr lang="es-ES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trees</a:t>
            </a:r>
            <a:r>
              <a:rPr lang="es-ES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are </a:t>
            </a:r>
            <a:r>
              <a:rPr lang="es-ES" b="1" dirty="0">
                <a:latin typeface="Helvetica" panose="020B0604020202020204" pitchFamily="34" charset="0"/>
                <a:cs typeface="Helvetica" panose="020B0604020202020204" pitchFamily="34" charset="0"/>
              </a:rPr>
              <a:t>more vulnerable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due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to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hydraulic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limitations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and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reduced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photosynthetic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efficiency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.</a:t>
            </a:r>
          </a:p>
          <a:p>
            <a:pPr marL="742950" lvl="1" indent="-285750" algn="just">
              <a:buClr>
                <a:srgbClr val="218317"/>
              </a:buClr>
              <a:buFont typeface="Arial" panose="020B0604020202020204" pitchFamily="34" charset="0"/>
              <a:buChar char="•"/>
            </a:pPr>
            <a:r>
              <a:rPr lang="es-ES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Hegyi</a:t>
            </a:r>
            <a:r>
              <a:rPr lang="es-ES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Index</a:t>
            </a:r>
            <a:r>
              <a:rPr lang="es-ES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is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only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higher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for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damaged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than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healthy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individuals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in </a:t>
            </a:r>
            <a:r>
              <a:rPr lang="es-ES" i="1" dirty="0" err="1">
                <a:latin typeface="Helvetica" panose="020B0604020202020204" pitchFamily="34" charset="0"/>
                <a:cs typeface="Helvetica" panose="020B0604020202020204" pitchFamily="34" charset="0"/>
              </a:rPr>
              <a:t>Pinus</a:t>
            </a:r>
            <a:r>
              <a:rPr lang="es-ES" i="1" dirty="0">
                <a:latin typeface="Helvetica" panose="020B0604020202020204" pitchFamily="34" charset="0"/>
                <a:cs typeface="Helvetica" panose="020B0604020202020204" pitchFamily="34" charset="0"/>
              </a:rPr>
              <a:t> pinea 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 </a:t>
            </a:r>
            <a:r>
              <a:rPr lang="es-ES" b="1" dirty="0" err="1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Competition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gains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importance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 in </a:t>
            </a:r>
            <a:r>
              <a:rPr lang="es-ES" b="1" dirty="0" err="1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arid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environments</a:t>
            </a:r>
            <a:endParaRPr lang="es-ES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742950" lvl="1" indent="-285750" algn="just">
              <a:buClr>
                <a:srgbClr val="218317"/>
              </a:buClr>
              <a:buFont typeface="Arial" panose="020B0604020202020204" pitchFamily="34" charset="0"/>
              <a:buChar char="•"/>
            </a:pPr>
            <a:r>
              <a:rPr lang="es-ES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Growth</a:t>
            </a:r>
            <a:r>
              <a:rPr lang="es-ES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rates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are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lower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in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damaged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individuals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 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Trees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with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declining</a:t>
            </a:r>
            <a:r>
              <a:rPr lang="es-ES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growth</a:t>
            </a:r>
            <a:r>
              <a:rPr lang="es-ES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rates</a:t>
            </a:r>
            <a:r>
              <a:rPr lang="es-ES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are </a:t>
            </a:r>
            <a:r>
              <a:rPr lang="es-ES" b="1" dirty="0">
                <a:latin typeface="Helvetica" panose="020B0604020202020204" pitchFamily="34" charset="0"/>
                <a:cs typeface="Helvetica" panose="020B0604020202020204" pitchFamily="34" charset="0"/>
              </a:rPr>
              <a:t>more vulnerable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to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drought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.</a:t>
            </a:r>
          </a:p>
          <a:p>
            <a:pPr marL="742950" lvl="1" indent="-285750" algn="just">
              <a:buClr>
                <a:srgbClr val="218317"/>
              </a:buClr>
              <a:buFont typeface="Arial" panose="020B0604020202020204" pitchFamily="34" charset="0"/>
              <a:buChar char="•"/>
            </a:pPr>
            <a:r>
              <a:rPr lang="es-ES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Resilience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was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lower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for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damaged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trees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than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healthy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trees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.</a:t>
            </a:r>
          </a:p>
          <a:p>
            <a:pPr marL="742950" lvl="1" indent="-285750" algn="just">
              <a:buClr>
                <a:srgbClr val="218317"/>
              </a:buClr>
              <a:buFont typeface="Arial" panose="020B0604020202020204" pitchFamily="34" charset="0"/>
              <a:buChar char="•"/>
            </a:pPr>
            <a:endParaRPr lang="es-ES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742950" lvl="1" indent="-285750" algn="just">
              <a:buClr>
                <a:srgbClr val="218317"/>
              </a:buClr>
              <a:buFont typeface="Arial" panose="020B0604020202020204" pitchFamily="34" charset="0"/>
              <a:buChar char="•"/>
            </a:pPr>
            <a:endParaRPr lang="es-ES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7186608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BAEC58-0706-69CC-3EDA-D2277C2728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F568A51-95B5-2683-A620-969A22AA7A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690902" cy="804155"/>
          </a:xfrm>
          <a:solidFill>
            <a:srgbClr val="218317"/>
          </a:solidFill>
        </p:spPr>
        <p:txBody>
          <a:bodyPr>
            <a:normAutofit/>
          </a:bodyPr>
          <a:lstStyle/>
          <a:p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	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Preliminary</a:t>
            </a:r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results</a:t>
            </a:r>
            <a:endParaRPr lang="es-ES" sz="3200" b="1" dirty="0">
              <a:solidFill>
                <a:schemeClr val="bg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F8A1E26B-DF94-8827-3AD6-6175106F3191}"/>
              </a:ext>
            </a:extLst>
          </p:cNvPr>
          <p:cNvSpPr txBox="1">
            <a:spLocks/>
          </p:cNvSpPr>
          <p:nvPr/>
        </p:nvSpPr>
        <p:spPr>
          <a:xfrm>
            <a:off x="9690902" y="-1"/>
            <a:ext cx="2501098" cy="804157"/>
          </a:xfrm>
          <a:prstGeom prst="rect">
            <a:avLst/>
          </a:prstGeom>
          <a:solidFill>
            <a:srgbClr val="218317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ES" sz="28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M&amp;M </a:t>
            </a:r>
            <a:r>
              <a:rPr lang="es-ES" sz="2800" b="1" dirty="0">
                <a:solidFill>
                  <a:srgbClr val="218317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A4BE05C-9258-6EAF-2B03-08B0B96E52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442720"/>
            <a:ext cx="4404360" cy="440436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B63373C-1BC3-0C3A-1CEA-FECBDE85613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93820" y="1442720"/>
            <a:ext cx="4404360" cy="440436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CAF05878-F78A-F172-9B0C-46940CF427E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87640" y="1442720"/>
            <a:ext cx="4404360" cy="4404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563743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16F8F6-FCFA-ADC5-320A-E4C5CCBA0A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639F43A-4D02-77A1-C7D8-B80CCD7EB7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690902" cy="804155"/>
          </a:xfrm>
          <a:solidFill>
            <a:srgbClr val="218317"/>
          </a:solidFill>
        </p:spPr>
        <p:txBody>
          <a:bodyPr>
            <a:normAutofit/>
          </a:bodyPr>
          <a:lstStyle/>
          <a:p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	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Preliminary</a:t>
            </a:r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results</a:t>
            </a:r>
            <a:endParaRPr lang="es-ES" sz="3200" b="1" dirty="0">
              <a:solidFill>
                <a:schemeClr val="bg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F0ACD50A-2445-28CD-628C-631DCD78738F}"/>
              </a:ext>
            </a:extLst>
          </p:cNvPr>
          <p:cNvSpPr txBox="1">
            <a:spLocks/>
          </p:cNvSpPr>
          <p:nvPr/>
        </p:nvSpPr>
        <p:spPr>
          <a:xfrm>
            <a:off x="9690902" y="-1"/>
            <a:ext cx="2501098" cy="804157"/>
          </a:xfrm>
          <a:prstGeom prst="rect">
            <a:avLst/>
          </a:prstGeom>
          <a:solidFill>
            <a:srgbClr val="218317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ES" sz="28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M&amp;M </a:t>
            </a:r>
            <a:r>
              <a:rPr lang="es-ES" sz="2800" b="1" dirty="0">
                <a:solidFill>
                  <a:srgbClr val="218317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4725EDF-92C3-BED2-8BED-2B06FA466C6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442720"/>
            <a:ext cx="4404360" cy="440436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BBA5BD63-CA17-2CA7-A9DB-644B8E5B283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93820" y="1442720"/>
            <a:ext cx="4404360" cy="440436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9A26861B-A9E6-845A-07C5-A5616EC8D3B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87640" y="1442720"/>
            <a:ext cx="4404360" cy="4404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11164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F72B3E-E391-3855-6057-254C02E504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>
            <a:extLst>
              <a:ext uri="{FF2B5EF4-FFF2-40B4-BE49-F238E27FC236}">
                <a16:creationId xmlns:a16="http://schemas.microsoft.com/office/drawing/2014/main" id="{C1BEE753-EDA8-55C8-3FC9-CEA4A47C51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88915" y="1477262"/>
            <a:ext cx="9366245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kumimoji="0" lang="es-ES" altLang="es-E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altLang="es-E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11B7DD8-542E-121E-D569-A3D69EC749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690902" cy="804155"/>
          </a:xfrm>
          <a:solidFill>
            <a:srgbClr val="218317"/>
          </a:solidFill>
        </p:spPr>
        <p:txBody>
          <a:bodyPr>
            <a:normAutofit/>
          </a:bodyPr>
          <a:lstStyle/>
          <a:p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	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Preliminary</a:t>
            </a:r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results</a:t>
            </a:r>
            <a:endParaRPr lang="es-ES" sz="3200" b="1" dirty="0">
              <a:solidFill>
                <a:schemeClr val="bg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7C19AD50-4EA2-D707-0659-D0695216E040}"/>
              </a:ext>
            </a:extLst>
          </p:cNvPr>
          <p:cNvSpPr txBox="1">
            <a:spLocks/>
          </p:cNvSpPr>
          <p:nvPr/>
        </p:nvSpPr>
        <p:spPr>
          <a:xfrm>
            <a:off x="9690902" y="-1"/>
            <a:ext cx="2501098" cy="804157"/>
          </a:xfrm>
          <a:prstGeom prst="rect">
            <a:avLst/>
          </a:prstGeom>
          <a:solidFill>
            <a:srgbClr val="218317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ES" sz="28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M&amp;M </a:t>
            </a:r>
            <a:r>
              <a:rPr lang="es-ES" sz="2800" b="1" dirty="0">
                <a:solidFill>
                  <a:srgbClr val="218317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.</a:t>
            </a:r>
          </a:p>
        </p:txBody>
      </p:sp>
      <p:sp>
        <p:nvSpPr>
          <p:cNvPr id="9" name="Marcador de contenido 2">
            <a:extLst>
              <a:ext uri="{FF2B5EF4-FFF2-40B4-BE49-F238E27FC236}">
                <a16:creationId xmlns:a16="http://schemas.microsoft.com/office/drawing/2014/main" id="{524D53AC-3A64-A8E8-83D9-DCA3815F4DE9}"/>
              </a:ext>
            </a:extLst>
          </p:cNvPr>
          <p:cNvSpPr txBox="1">
            <a:spLocks/>
          </p:cNvSpPr>
          <p:nvPr/>
        </p:nvSpPr>
        <p:spPr>
          <a:xfrm>
            <a:off x="4405261" y="6368128"/>
            <a:ext cx="880379" cy="64633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rgbClr val="218317"/>
              </a:buClr>
              <a:buNone/>
            </a:pPr>
            <a:r>
              <a:rPr lang="es-ES" sz="1800" b="1" dirty="0">
                <a:latin typeface="Helvetica"/>
                <a:cs typeface="Helvetica"/>
              </a:rPr>
              <a:t>Fig. 3</a:t>
            </a:r>
            <a:endParaRPr lang="es-ES" sz="18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5" name="Marcador de contenido 2">
            <a:extLst>
              <a:ext uri="{FF2B5EF4-FFF2-40B4-BE49-F238E27FC236}">
                <a16:creationId xmlns:a16="http://schemas.microsoft.com/office/drawing/2014/main" id="{2816B903-2C67-CA1A-3C16-BB3A68E4FBDB}"/>
              </a:ext>
            </a:extLst>
          </p:cNvPr>
          <p:cNvSpPr txBox="1">
            <a:spLocks/>
          </p:cNvSpPr>
          <p:nvPr/>
        </p:nvSpPr>
        <p:spPr>
          <a:xfrm>
            <a:off x="623546" y="972273"/>
            <a:ext cx="10465002" cy="1548993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Clr>
                <a:srgbClr val="218317"/>
              </a:buClr>
              <a:buNone/>
            </a:pPr>
            <a:r>
              <a:rPr lang="es-ES" sz="2400" b="1" dirty="0" err="1">
                <a:latin typeface="Helvetica"/>
                <a:cs typeface="Helvetica"/>
              </a:rPr>
              <a:t>Obj</a:t>
            </a:r>
            <a:r>
              <a:rPr lang="es-ES" sz="2400" b="1" dirty="0">
                <a:latin typeface="Helvetica" panose="020B0604020202020204"/>
                <a:cs typeface="Helvetica"/>
              </a:rPr>
              <a:t>. 1.- </a:t>
            </a:r>
            <a:r>
              <a:rPr lang="en-US" sz="2400" dirty="0">
                <a:latin typeface="Helvetica" panose="020B0604020202020204"/>
                <a:cs typeface="Helvetica" panose="020B0604020202020204"/>
              </a:rPr>
              <a:t>To assess the underlying processes behind tree dieback by </a:t>
            </a:r>
            <a:r>
              <a:rPr lang="en-US" sz="2400" dirty="0" err="1">
                <a:latin typeface="Helvetica" panose="020B0604020202020204"/>
                <a:cs typeface="Helvetica" panose="020B0604020202020204"/>
              </a:rPr>
              <a:t>characterising</a:t>
            </a:r>
            <a:r>
              <a:rPr lang="en-US" sz="2400" dirty="0">
                <a:latin typeface="Helvetica" panose="020B0604020202020204"/>
                <a:cs typeface="Helvetica" panose="020B0604020202020204"/>
              </a:rPr>
              <a:t> predisposing factors and the morphological and physiological responses to drought</a:t>
            </a:r>
            <a:endParaRPr lang="es-ES" sz="2400" dirty="0">
              <a:latin typeface="Helvetica" panose="020B0604020202020204"/>
              <a:cs typeface="Helvetica" panose="020B0604020202020204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3589A80-24E8-0591-5134-47C58071915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88915" y="1800427"/>
            <a:ext cx="6522962" cy="4891963"/>
          </a:xfrm>
          <a:prstGeom prst="rect">
            <a:avLst/>
          </a:prstGeom>
        </p:spPr>
      </p:pic>
      <p:sp>
        <p:nvSpPr>
          <p:cNvPr id="7" name="CuadroTexto 10">
            <a:extLst>
              <a:ext uri="{FF2B5EF4-FFF2-40B4-BE49-F238E27FC236}">
                <a16:creationId xmlns:a16="http://schemas.microsoft.com/office/drawing/2014/main" id="{49AF0DBE-0958-31CA-8A1D-B5DC38A4CA49}"/>
              </a:ext>
            </a:extLst>
          </p:cNvPr>
          <p:cNvSpPr txBox="1"/>
          <p:nvPr/>
        </p:nvSpPr>
        <p:spPr>
          <a:xfrm>
            <a:off x="-25174" y="2353582"/>
            <a:ext cx="5310814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742950" lvl="1" indent="-285750" algn="just">
              <a:buClr>
                <a:srgbClr val="218317"/>
              </a:buClr>
              <a:buFont typeface="Arial" panose="020B0604020202020204" pitchFamily="34" charset="0"/>
              <a:buChar char="•"/>
            </a:pPr>
            <a:r>
              <a:rPr lang="es-ES" sz="16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Defoliation</a:t>
            </a:r>
            <a:r>
              <a:rPr lang="es-ES" sz="16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1600" dirty="0" err="1">
                <a:latin typeface="Helvetica" panose="020B0604020202020204" pitchFamily="34" charset="0"/>
                <a:cs typeface="Helvetica" panose="020B0604020202020204" pitchFamily="34" charset="0"/>
              </a:rPr>
              <a:t>is</a:t>
            </a:r>
            <a:r>
              <a:rPr lang="es-ES" sz="16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1600" dirty="0" err="1">
                <a:latin typeface="Helvetica" panose="020B0604020202020204" pitchFamily="34" charset="0"/>
                <a:cs typeface="Helvetica" panose="020B0604020202020204" pitchFamily="34" charset="0"/>
              </a:rPr>
              <a:t>higher</a:t>
            </a:r>
            <a:r>
              <a:rPr lang="es-ES" sz="16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1600" dirty="0" err="1">
                <a:latin typeface="Helvetica" panose="020B0604020202020204" pitchFamily="34" charset="0"/>
                <a:cs typeface="Helvetica" panose="020B0604020202020204" pitchFamily="34" charset="0"/>
              </a:rPr>
              <a:t>damaged</a:t>
            </a:r>
            <a:r>
              <a:rPr lang="es-ES" sz="16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1600" dirty="0" err="1">
                <a:latin typeface="Helvetica" panose="020B0604020202020204" pitchFamily="34" charset="0"/>
                <a:cs typeface="Helvetica" panose="020B0604020202020204" pitchFamily="34" charset="0"/>
              </a:rPr>
              <a:t>than</a:t>
            </a:r>
            <a:r>
              <a:rPr lang="es-ES" sz="16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1600" dirty="0" err="1">
                <a:latin typeface="Helvetica" panose="020B0604020202020204" pitchFamily="34" charset="0"/>
                <a:cs typeface="Helvetica" panose="020B0604020202020204" pitchFamily="34" charset="0"/>
              </a:rPr>
              <a:t>healthy</a:t>
            </a:r>
            <a:r>
              <a:rPr lang="es-ES" sz="16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1600" dirty="0" err="1">
                <a:latin typeface="Helvetica" panose="020B0604020202020204" pitchFamily="34" charset="0"/>
                <a:cs typeface="Helvetica" panose="020B0604020202020204" pitchFamily="34" charset="0"/>
              </a:rPr>
              <a:t>trees</a:t>
            </a:r>
            <a:r>
              <a:rPr lang="es-ES" sz="16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1600" dirty="0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 </a:t>
            </a:r>
            <a:r>
              <a:rPr lang="es-ES" sz="1600" dirty="0" err="1">
                <a:latin typeface="Helvetica" panose="020B0604020202020204" pitchFamily="34" charset="0"/>
                <a:cs typeface="Helvetica" panose="020B0604020202020204" pitchFamily="34" charset="0"/>
              </a:rPr>
              <a:t>Drought-induced</a:t>
            </a:r>
            <a:r>
              <a:rPr lang="es-ES" sz="16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1600" dirty="0" err="1">
                <a:latin typeface="Helvetica" panose="020B0604020202020204" pitchFamily="34" charset="0"/>
                <a:cs typeface="Helvetica" panose="020B0604020202020204" pitchFamily="34" charset="0"/>
              </a:rPr>
              <a:t>leaf</a:t>
            </a:r>
            <a:r>
              <a:rPr lang="es-ES" sz="16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16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senescence</a:t>
            </a:r>
            <a:r>
              <a:rPr lang="es-ES" sz="1600" dirty="0">
                <a:latin typeface="Helvetica" panose="020B0604020202020204" pitchFamily="34" charset="0"/>
                <a:cs typeface="Helvetica" panose="020B0604020202020204" pitchFamily="34" charset="0"/>
              </a:rPr>
              <a:t> and </a:t>
            </a:r>
            <a:r>
              <a:rPr lang="es-ES" sz="1600" dirty="0" err="1">
                <a:latin typeface="Helvetica" panose="020B0604020202020204" pitchFamily="34" charset="0"/>
                <a:cs typeface="Helvetica" panose="020B0604020202020204" pitchFamily="34" charset="0"/>
              </a:rPr>
              <a:t>loss</a:t>
            </a:r>
            <a:r>
              <a:rPr lang="es-ES" sz="16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1600" dirty="0" err="1">
                <a:latin typeface="Helvetica" panose="020B0604020202020204" pitchFamily="34" charset="0"/>
                <a:cs typeface="Helvetica" panose="020B0604020202020204" pitchFamily="34" charset="0"/>
              </a:rPr>
              <a:t>of</a:t>
            </a:r>
            <a:r>
              <a:rPr lang="es-ES" sz="16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1600" dirty="0" err="1">
                <a:latin typeface="Helvetica" panose="020B0604020202020204" pitchFamily="34" charset="0"/>
                <a:cs typeface="Helvetica" panose="020B0604020202020204" pitchFamily="34" charset="0"/>
              </a:rPr>
              <a:t>leaf</a:t>
            </a:r>
            <a:r>
              <a:rPr lang="es-ES" sz="16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1600" dirty="0" err="1">
                <a:latin typeface="Helvetica" panose="020B0604020202020204" pitchFamily="34" charset="0"/>
                <a:cs typeface="Helvetica" panose="020B0604020202020204" pitchFamily="34" charset="0"/>
              </a:rPr>
              <a:t>water</a:t>
            </a:r>
            <a:r>
              <a:rPr lang="es-ES" sz="16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16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turgor</a:t>
            </a:r>
            <a:r>
              <a:rPr lang="es-ES" sz="1600" dirty="0">
                <a:latin typeface="Helvetica" panose="020B0604020202020204" pitchFamily="34" charset="0"/>
                <a:cs typeface="Helvetica" panose="020B0604020202020204" pitchFamily="34" charset="0"/>
              </a:rPr>
              <a:t>. </a:t>
            </a:r>
          </a:p>
          <a:p>
            <a:pPr marL="742950" lvl="1" indent="-285750" algn="just">
              <a:buClr>
                <a:srgbClr val="218317"/>
              </a:buClr>
              <a:buFont typeface="Arial" panose="020B0604020202020204" pitchFamily="34" charset="0"/>
              <a:buChar char="•"/>
            </a:pPr>
            <a:r>
              <a:rPr lang="es-ES" sz="1600" b="1" dirty="0">
                <a:latin typeface="Helvetica" panose="020B0604020202020204" pitchFamily="34" charset="0"/>
                <a:cs typeface="Helvetica" panose="020B0604020202020204" pitchFamily="34" charset="0"/>
              </a:rPr>
              <a:t>LWC </a:t>
            </a:r>
            <a:r>
              <a:rPr lang="es-ES" sz="1600" dirty="0" err="1">
                <a:latin typeface="Helvetica" panose="020B0604020202020204" pitchFamily="34" charset="0"/>
                <a:cs typeface="Helvetica" panose="020B0604020202020204" pitchFamily="34" charset="0"/>
              </a:rPr>
              <a:t>was</a:t>
            </a:r>
            <a:r>
              <a:rPr lang="es-ES" sz="16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16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only</a:t>
            </a:r>
            <a:r>
              <a:rPr lang="es-ES" sz="1600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16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lower</a:t>
            </a:r>
            <a:r>
              <a:rPr lang="es-ES" sz="1600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1600" dirty="0" err="1">
                <a:latin typeface="Helvetica" panose="020B0604020202020204" pitchFamily="34" charset="0"/>
                <a:cs typeface="Helvetica" panose="020B0604020202020204" pitchFamily="34" charset="0"/>
              </a:rPr>
              <a:t>for</a:t>
            </a:r>
            <a:r>
              <a:rPr lang="es-ES" sz="16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1600" dirty="0" err="1">
                <a:latin typeface="Helvetica" panose="020B0604020202020204" pitchFamily="34" charset="0"/>
                <a:cs typeface="Helvetica" panose="020B0604020202020204" pitchFamily="34" charset="0"/>
              </a:rPr>
              <a:t>damaged</a:t>
            </a:r>
            <a:r>
              <a:rPr lang="es-ES" sz="16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1600" dirty="0" err="1">
                <a:latin typeface="Helvetica" panose="020B0604020202020204" pitchFamily="34" charset="0"/>
                <a:cs typeface="Helvetica" panose="020B0604020202020204" pitchFamily="34" charset="0"/>
              </a:rPr>
              <a:t>trees</a:t>
            </a:r>
            <a:r>
              <a:rPr lang="es-ES" sz="1600" dirty="0">
                <a:latin typeface="Helvetica" panose="020B0604020202020204" pitchFamily="34" charset="0"/>
                <a:cs typeface="Helvetica" panose="020B0604020202020204" pitchFamily="34" charset="0"/>
              </a:rPr>
              <a:t> in </a:t>
            </a:r>
            <a:r>
              <a:rPr lang="es-ES" sz="16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temperate</a:t>
            </a:r>
            <a:r>
              <a:rPr lang="es-ES" sz="1600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16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species</a:t>
            </a:r>
            <a:r>
              <a:rPr lang="es-ES" sz="1600" dirty="0">
                <a:latin typeface="Helvetica" panose="020B0604020202020204" pitchFamily="34" charset="0"/>
                <a:cs typeface="Helvetica" panose="020B0604020202020204" pitchFamily="34" charset="0"/>
              </a:rPr>
              <a:t>.</a:t>
            </a:r>
          </a:p>
          <a:p>
            <a:pPr marL="742950" lvl="1" indent="-285750" algn="just">
              <a:buClr>
                <a:srgbClr val="218317"/>
              </a:buClr>
              <a:buFont typeface="Arial" panose="020B0604020202020204" pitchFamily="34" charset="0"/>
              <a:buChar char="•"/>
            </a:pPr>
            <a:r>
              <a:rPr lang="es-ES" sz="1600" b="1" dirty="0">
                <a:latin typeface="Helvetica" panose="020B0604020202020204" pitchFamily="34" charset="0"/>
                <a:cs typeface="Helvetica" panose="020B0604020202020204" pitchFamily="34" charset="0"/>
              </a:rPr>
              <a:t>N </a:t>
            </a:r>
            <a:r>
              <a:rPr lang="es-ES" sz="16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content</a:t>
            </a:r>
            <a:r>
              <a:rPr lang="es-ES" sz="1600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1600" dirty="0" err="1">
                <a:latin typeface="Helvetica" panose="020B0604020202020204" pitchFamily="34" charset="0"/>
                <a:cs typeface="Helvetica" panose="020B0604020202020204" pitchFamily="34" charset="0"/>
              </a:rPr>
              <a:t>was</a:t>
            </a:r>
            <a:r>
              <a:rPr lang="es-ES" sz="16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1600" dirty="0" err="1">
                <a:latin typeface="Helvetica" panose="020B0604020202020204" pitchFamily="34" charset="0"/>
                <a:cs typeface="Helvetica" panose="020B0604020202020204" pitchFamily="34" charset="0"/>
              </a:rPr>
              <a:t>lower</a:t>
            </a:r>
            <a:r>
              <a:rPr lang="es-ES" sz="1600" dirty="0">
                <a:latin typeface="Helvetica" panose="020B0604020202020204" pitchFamily="34" charset="0"/>
                <a:cs typeface="Helvetica" panose="020B0604020202020204" pitchFamily="34" charset="0"/>
              </a:rPr>
              <a:t> in </a:t>
            </a:r>
            <a:r>
              <a:rPr lang="es-ES" sz="1600" dirty="0" err="1">
                <a:latin typeface="Helvetica" panose="020B0604020202020204" pitchFamily="34" charset="0"/>
                <a:cs typeface="Helvetica" panose="020B0604020202020204" pitchFamily="34" charset="0"/>
              </a:rPr>
              <a:t>damaged</a:t>
            </a:r>
            <a:r>
              <a:rPr lang="es-ES" sz="16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1600" i="1" dirty="0" err="1">
                <a:latin typeface="Helvetica" panose="020B0604020202020204" pitchFamily="34" charset="0"/>
                <a:cs typeface="Helvetica" panose="020B0604020202020204" pitchFamily="34" charset="0"/>
              </a:rPr>
              <a:t>Abies</a:t>
            </a:r>
            <a:r>
              <a:rPr lang="es-ES" sz="1600" i="1" dirty="0">
                <a:latin typeface="Helvetica" panose="020B0604020202020204" pitchFamily="34" charset="0"/>
                <a:cs typeface="Helvetica" panose="020B0604020202020204" pitchFamily="34" charset="0"/>
              </a:rPr>
              <a:t> alba</a:t>
            </a:r>
            <a:endParaRPr lang="es-ES" sz="1600" b="1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742950" lvl="1" indent="-285750" algn="just">
              <a:buClr>
                <a:srgbClr val="218317"/>
              </a:buClr>
              <a:buFont typeface="Arial" panose="020B0604020202020204" pitchFamily="34" charset="0"/>
              <a:buChar char="•"/>
            </a:pPr>
            <a:r>
              <a:rPr lang="es-ES" sz="16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Chl</a:t>
            </a:r>
            <a:r>
              <a:rPr lang="es-ES" sz="1600" b="1" dirty="0">
                <a:latin typeface="Helvetica" panose="020B0604020202020204" pitchFamily="34" charset="0"/>
                <a:cs typeface="Helvetica" panose="020B0604020202020204" pitchFamily="34" charset="0"/>
              </a:rPr>
              <a:t>. </a:t>
            </a:r>
            <a:r>
              <a:rPr lang="es-ES" sz="16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content</a:t>
            </a:r>
            <a:r>
              <a:rPr lang="es-ES" sz="1600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1600" dirty="0" err="1">
                <a:latin typeface="Helvetica" panose="020B0604020202020204" pitchFamily="34" charset="0"/>
                <a:cs typeface="Helvetica" panose="020B0604020202020204" pitchFamily="34" charset="0"/>
              </a:rPr>
              <a:t>is</a:t>
            </a:r>
            <a:r>
              <a:rPr lang="es-ES" sz="16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1600" dirty="0" err="1">
                <a:latin typeface="Helvetica" panose="020B0604020202020204" pitchFamily="34" charset="0"/>
                <a:cs typeface="Helvetica" panose="020B0604020202020204" pitchFamily="34" charset="0"/>
              </a:rPr>
              <a:t>lower</a:t>
            </a:r>
            <a:r>
              <a:rPr lang="es-ES" sz="1600" dirty="0">
                <a:latin typeface="Helvetica" panose="020B0604020202020204" pitchFamily="34" charset="0"/>
                <a:cs typeface="Helvetica" panose="020B0604020202020204" pitchFamily="34" charset="0"/>
              </a:rPr>
              <a:t> in </a:t>
            </a:r>
            <a:r>
              <a:rPr lang="es-ES" sz="1600" dirty="0" err="1">
                <a:latin typeface="Helvetica" panose="020B0604020202020204" pitchFamily="34" charset="0"/>
                <a:cs typeface="Helvetica" panose="020B0604020202020204" pitchFamily="34" charset="0"/>
              </a:rPr>
              <a:t>damaged</a:t>
            </a:r>
            <a:r>
              <a:rPr lang="es-ES" sz="1600" dirty="0">
                <a:latin typeface="Helvetica" panose="020B0604020202020204" pitchFamily="34" charset="0"/>
                <a:cs typeface="Helvetica" panose="020B0604020202020204" pitchFamily="34" charset="0"/>
              </a:rPr>
              <a:t> sites </a:t>
            </a:r>
            <a:r>
              <a:rPr lang="es-ES" sz="1600" dirty="0" err="1">
                <a:latin typeface="Helvetica" panose="020B0604020202020204" pitchFamily="34" charset="0"/>
                <a:cs typeface="Helvetica" panose="020B0604020202020204" pitchFamily="34" charset="0"/>
              </a:rPr>
              <a:t>only</a:t>
            </a:r>
            <a:r>
              <a:rPr lang="es-ES" sz="1600" dirty="0">
                <a:latin typeface="Helvetica" panose="020B0604020202020204" pitchFamily="34" charset="0"/>
                <a:cs typeface="Helvetica" panose="020B0604020202020204" pitchFamily="34" charset="0"/>
              </a:rPr>
              <a:t> in </a:t>
            </a:r>
            <a:r>
              <a:rPr lang="es-ES" sz="1600" i="1" dirty="0" err="1">
                <a:latin typeface="Helvetica" panose="020B0604020202020204" pitchFamily="34" charset="0"/>
                <a:cs typeface="Helvetica" panose="020B0604020202020204" pitchFamily="34" charset="0"/>
              </a:rPr>
              <a:t>Pinus</a:t>
            </a:r>
            <a:r>
              <a:rPr lang="es-ES" sz="1600" i="1" dirty="0">
                <a:latin typeface="Helvetica" panose="020B0604020202020204" pitchFamily="34" charset="0"/>
                <a:cs typeface="Helvetica" panose="020B0604020202020204" pitchFamily="34" charset="0"/>
              </a:rPr>
              <a:t> pinea </a:t>
            </a:r>
            <a:r>
              <a:rPr lang="es-ES" sz="1600" dirty="0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 </a:t>
            </a:r>
            <a:r>
              <a:rPr lang="es-ES" sz="1600" dirty="0" err="1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upregulated</a:t>
            </a:r>
            <a:r>
              <a:rPr lang="es-ES" sz="1600" dirty="0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 ROS </a:t>
            </a:r>
            <a:r>
              <a:rPr lang="es-ES" sz="1600" dirty="0" err="1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synthesis</a:t>
            </a:r>
            <a:r>
              <a:rPr lang="es-ES" sz="1600" dirty="0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s-ES" sz="1600" dirty="0" err="1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leading</a:t>
            </a:r>
            <a:r>
              <a:rPr lang="es-ES" sz="1600" dirty="0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s-ES" sz="1600" dirty="0" err="1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to</a:t>
            </a:r>
            <a:r>
              <a:rPr lang="es-ES" sz="1600" dirty="0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s-ES" sz="1600" b="1" dirty="0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oxidative </a:t>
            </a:r>
            <a:r>
              <a:rPr lang="es-ES" sz="1600" b="1" dirty="0" err="1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damage</a:t>
            </a:r>
            <a:r>
              <a:rPr lang="es-ES" sz="1600" b="1" dirty="0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s-ES" sz="1600" dirty="0" err="1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maybe</a:t>
            </a:r>
            <a:r>
              <a:rPr lang="es-ES" sz="1600" dirty="0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s-ES" sz="1600" dirty="0" err="1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due</a:t>
            </a:r>
            <a:r>
              <a:rPr lang="es-ES" sz="1600" dirty="0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s-ES" sz="1600" dirty="0" err="1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to</a:t>
            </a:r>
            <a:r>
              <a:rPr lang="es-ES" sz="1600" dirty="0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s-ES" sz="1600" dirty="0" err="1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high</a:t>
            </a:r>
            <a:r>
              <a:rPr lang="es-ES" sz="1600" dirty="0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s-ES" sz="1600" dirty="0" err="1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temperatures</a:t>
            </a:r>
            <a:r>
              <a:rPr lang="es-ES" sz="1600" dirty="0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. </a:t>
            </a:r>
          </a:p>
          <a:p>
            <a:pPr marL="742950" lvl="1" indent="-285750" algn="just">
              <a:buClr>
                <a:srgbClr val="218317"/>
              </a:buClr>
              <a:buFont typeface="Arial" panose="020B0604020202020204" pitchFamily="34" charset="0"/>
              <a:buChar char="•"/>
            </a:pPr>
            <a:r>
              <a:rPr lang="el-GR" sz="1600" b="1" dirty="0">
                <a:latin typeface="Helvetica" panose="020B0604020202020204" pitchFamily="34" charset="0"/>
                <a:cs typeface="Helvetica" panose="020B0604020202020204" pitchFamily="34" charset="0"/>
              </a:rPr>
              <a:t>δ</a:t>
            </a:r>
            <a:r>
              <a:rPr lang="es-ES" sz="1600" b="1" baseline="30000" dirty="0">
                <a:latin typeface="Helvetica" panose="020B0604020202020204" pitchFamily="34" charset="0"/>
                <a:cs typeface="Helvetica" panose="020B0604020202020204" pitchFamily="34" charset="0"/>
              </a:rPr>
              <a:t>13</a:t>
            </a:r>
            <a:r>
              <a:rPr lang="es-ES" sz="1600" b="1" dirty="0">
                <a:latin typeface="Helvetica" panose="020B0604020202020204" pitchFamily="34" charset="0"/>
                <a:cs typeface="Helvetica" panose="020B0604020202020204" pitchFamily="34" charset="0"/>
              </a:rPr>
              <a:t>C </a:t>
            </a:r>
            <a:r>
              <a:rPr lang="es-ES" sz="16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content</a:t>
            </a:r>
            <a:r>
              <a:rPr lang="es-ES" sz="1600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1600" dirty="0" err="1">
                <a:latin typeface="Helvetica" panose="020B0604020202020204" pitchFamily="34" charset="0"/>
                <a:cs typeface="Helvetica" panose="020B0604020202020204" pitchFamily="34" charset="0"/>
              </a:rPr>
              <a:t>is</a:t>
            </a:r>
            <a:r>
              <a:rPr lang="es-ES" sz="16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1600" dirty="0" err="1">
                <a:latin typeface="Helvetica" panose="020B0604020202020204" pitchFamily="34" charset="0"/>
                <a:cs typeface="Helvetica" panose="020B0604020202020204" pitchFamily="34" charset="0"/>
              </a:rPr>
              <a:t>higher</a:t>
            </a:r>
            <a:r>
              <a:rPr lang="es-ES" sz="1600" dirty="0">
                <a:latin typeface="Helvetica" panose="020B0604020202020204" pitchFamily="34" charset="0"/>
                <a:cs typeface="Helvetica" panose="020B0604020202020204" pitchFamily="34" charset="0"/>
              </a:rPr>
              <a:t> in </a:t>
            </a:r>
            <a:r>
              <a:rPr lang="es-ES" sz="1600" dirty="0" err="1">
                <a:latin typeface="Helvetica" panose="020B0604020202020204" pitchFamily="34" charset="0"/>
                <a:cs typeface="Helvetica" panose="020B0604020202020204" pitchFamily="34" charset="0"/>
              </a:rPr>
              <a:t>damaged</a:t>
            </a:r>
            <a:r>
              <a:rPr lang="es-ES" sz="16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1600" dirty="0" err="1">
                <a:latin typeface="Helvetica" panose="020B0604020202020204" pitchFamily="34" charset="0"/>
                <a:cs typeface="Helvetica" panose="020B0604020202020204" pitchFamily="34" charset="0"/>
              </a:rPr>
              <a:t>trees</a:t>
            </a:r>
            <a:r>
              <a:rPr lang="es-ES" sz="16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1600" dirty="0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 </a:t>
            </a:r>
            <a:r>
              <a:rPr lang="es-ES" sz="16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tight</a:t>
            </a:r>
            <a:r>
              <a:rPr lang="es-ES" sz="1600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16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stomatal</a:t>
            </a:r>
            <a:r>
              <a:rPr lang="es-ES" sz="1600" b="1" dirty="0">
                <a:latin typeface="Helvetica" panose="020B0604020202020204" pitchFamily="34" charset="0"/>
                <a:cs typeface="Helvetica" panose="020B0604020202020204" pitchFamily="34" charset="0"/>
              </a:rPr>
              <a:t> control </a:t>
            </a:r>
            <a:r>
              <a:rPr lang="es-ES" sz="1600" dirty="0">
                <a:latin typeface="Helvetica" panose="020B0604020202020204" pitchFamily="34" charset="0"/>
                <a:cs typeface="Helvetica" panose="020B0604020202020204" pitchFamily="34" charset="0"/>
              </a:rPr>
              <a:t>&amp; </a:t>
            </a:r>
            <a:r>
              <a:rPr lang="es-ES" sz="1600" b="1" dirty="0" err="1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increased</a:t>
            </a:r>
            <a:r>
              <a:rPr lang="es-ES" sz="1600" b="1" dirty="0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s-ES" sz="1600" b="1" dirty="0" err="1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iWUE</a:t>
            </a:r>
            <a:endParaRPr lang="es-ES" sz="16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742950" lvl="1" indent="-285750" algn="just">
              <a:buClr>
                <a:srgbClr val="218317"/>
              </a:buClr>
              <a:buFont typeface="Arial" panose="020B0604020202020204" pitchFamily="34" charset="0"/>
              <a:buChar char="•"/>
            </a:pPr>
            <a:r>
              <a:rPr lang="es-ES" sz="16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Recent</a:t>
            </a:r>
            <a:r>
              <a:rPr lang="es-ES" sz="1600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16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growth</a:t>
            </a:r>
            <a:r>
              <a:rPr lang="es-ES" sz="16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1600" dirty="0" err="1">
                <a:latin typeface="Helvetica" panose="020B0604020202020204" pitchFamily="34" charset="0"/>
                <a:cs typeface="Helvetica" panose="020B0604020202020204" pitchFamily="34" charset="0"/>
              </a:rPr>
              <a:t>is</a:t>
            </a:r>
            <a:r>
              <a:rPr lang="es-ES" sz="16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1600" dirty="0" err="1">
                <a:latin typeface="Helvetica" panose="020B0604020202020204" pitchFamily="34" charset="0"/>
                <a:cs typeface="Helvetica" panose="020B0604020202020204" pitchFamily="34" charset="0"/>
              </a:rPr>
              <a:t>lower</a:t>
            </a:r>
            <a:r>
              <a:rPr lang="es-ES" sz="1600" dirty="0">
                <a:latin typeface="Helvetica" panose="020B0604020202020204" pitchFamily="34" charset="0"/>
                <a:cs typeface="Helvetica" panose="020B0604020202020204" pitchFamily="34" charset="0"/>
              </a:rPr>
              <a:t> in </a:t>
            </a:r>
            <a:r>
              <a:rPr lang="es-ES" sz="1600" dirty="0" err="1">
                <a:latin typeface="Helvetica" panose="020B0604020202020204" pitchFamily="34" charset="0"/>
                <a:cs typeface="Helvetica" panose="020B0604020202020204" pitchFamily="34" charset="0"/>
              </a:rPr>
              <a:t>damaged</a:t>
            </a:r>
            <a:r>
              <a:rPr lang="es-ES" sz="16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1600" dirty="0" err="1">
                <a:latin typeface="Helvetica" panose="020B0604020202020204" pitchFamily="34" charset="0"/>
                <a:cs typeface="Helvetica" panose="020B0604020202020204" pitchFamily="34" charset="0"/>
              </a:rPr>
              <a:t>than</a:t>
            </a:r>
            <a:r>
              <a:rPr lang="es-ES" sz="16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1600" dirty="0" err="1">
                <a:latin typeface="Helvetica" panose="020B0604020202020204" pitchFamily="34" charset="0"/>
                <a:cs typeface="Helvetica" panose="020B0604020202020204" pitchFamily="34" charset="0"/>
              </a:rPr>
              <a:t>healthy</a:t>
            </a:r>
            <a:r>
              <a:rPr lang="es-ES" sz="16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1600" dirty="0" err="1">
                <a:latin typeface="Helvetica" panose="020B0604020202020204" pitchFamily="34" charset="0"/>
                <a:cs typeface="Helvetica" panose="020B0604020202020204" pitchFamily="34" charset="0"/>
              </a:rPr>
              <a:t>individuals</a:t>
            </a:r>
            <a:endParaRPr lang="es-ES" sz="16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742950" lvl="1" indent="-285750" algn="just">
              <a:buClr>
                <a:srgbClr val="218317"/>
              </a:buClr>
              <a:buFont typeface="Arial" panose="020B0604020202020204" pitchFamily="34" charset="0"/>
              <a:buChar char="•"/>
            </a:pPr>
            <a:endParaRPr lang="es-ES" sz="16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2015072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665F5F-8D62-C5FA-B53C-C8888E143D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>
            <a:extLst>
              <a:ext uri="{FF2B5EF4-FFF2-40B4-BE49-F238E27FC236}">
                <a16:creationId xmlns:a16="http://schemas.microsoft.com/office/drawing/2014/main" id="{E4860345-C2F9-9510-85FB-037DEC4C8F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88915" y="1477262"/>
            <a:ext cx="9366245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kumimoji="0" lang="es-ES" altLang="es-E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altLang="es-E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C3B0C2D-7A66-67E6-06C9-786658FE8A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690902" cy="804155"/>
          </a:xfrm>
          <a:solidFill>
            <a:srgbClr val="218317"/>
          </a:solidFill>
        </p:spPr>
        <p:txBody>
          <a:bodyPr>
            <a:normAutofit/>
          </a:bodyPr>
          <a:lstStyle/>
          <a:p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	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Preliminary</a:t>
            </a:r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results</a:t>
            </a:r>
            <a:endParaRPr lang="es-ES" sz="3200" b="1" dirty="0">
              <a:solidFill>
                <a:schemeClr val="bg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853CF077-E3D8-34D6-996D-5F36033DC226}"/>
              </a:ext>
            </a:extLst>
          </p:cNvPr>
          <p:cNvSpPr txBox="1">
            <a:spLocks/>
          </p:cNvSpPr>
          <p:nvPr/>
        </p:nvSpPr>
        <p:spPr>
          <a:xfrm>
            <a:off x="9690902" y="-1"/>
            <a:ext cx="2501098" cy="804157"/>
          </a:xfrm>
          <a:prstGeom prst="rect">
            <a:avLst/>
          </a:prstGeom>
          <a:solidFill>
            <a:srgbClr val="218317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ES" sz="28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M&amp;M </a:t>
            </a:r>
            <a:r>
              <a:rPr lang="es-ES" sz="2800" b="1" dirty="0">
                <a:solidFill>
                  <a:srgbClr val="218317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8A1FD53-63F5-DA2A-98D1-6761D62A1AD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85231"/>
            <a:ext cx="4383615" cy="328753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B7845F4E-7400-27DE-F164-0906590FF04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85525" y="1785231"/>
            <a:ext cx="4383615" cy="3287538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326501BC-0870-BE07-99D2-D4C64540E1D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71050" y="1785231"/>
            <a:ext cx="4383615" cy="3287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958320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009BC8-A803-6BAC-F668-5D94D6E825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>
            <a:extLst>
              <a:ext uri="{FF2B5EF4-FFF2-40B4-BE49-F238E27FC236}">
                <a16:creationId xmlns:a16="http://schemas.microsoft.com/office/drawing/2014/main" id="{577F85A7-1F17-3A54-BDA6-0E0C549856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88915" y="1477262"/>
            <a:ext cx="9366245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kumimoji="0" lang="es-ES" altLang="es-E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altLang="es-E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153240D-5765-7DCE-9786-A5A246946F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690902" cy="804155"/>
          </a:xfrm>
          <a:solidFill>
            <a:srgbClr val="218317"/>
          </a:solidFill>
        </p:spPr>
        <p:txBody>
          <a:bodyPr>
            <a:normAutofit/>
          </a:bodyPr>
          <a:lstStyle/>
          <a:p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	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Preliminary</a:t>
            </a:r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results</a:t>
            </a:r>
            <a:endParaRPr lang="es-ES" sz="3200" b="1" dirty="0">
              <a:solidFill>
                <a:schemeClr val="bg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30F8C04C-5447-1533-EF0D-F502EE79EEAB}"/>
              </a:ext>
            </a:extLst>
          </p:cNvPr>
          <p:cNvSpPr txBox="1">
            <a:spLocks/>
          </p:cNvSpPr>
          <p:nvPr/>
        </p:nvSpPr>
        <p:spPr>
          <a:xfrm>
            <a:off x="9690902" y="-1"/>
            <a:ext cx="2501098" cy="804157"/>
          </a:xfrm>
          <a:prstGeom prst="rect">
            <a:avLst/>
          </a:prstGeom>
          <a:solidFill>
            <a:srgbClr val="218317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ES" sz="28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M&amp;M </a:t>
            </a:r>
            <a:r>
              <a:rPr lang="es-ES" sz="2800" b="1" dirty="0">
                <a:solidFill>
                  <a:srgbClr val="218317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.</a:t>
            </a:r>
          </a:p>
        </p:txBody>
      </p:sp>
      <p:sp>
        <p:nvSpPr>
          <p:cNvPr id="9" name="Marcador de contenido 2">
            <a:extLst>
              <a:ext uri="{FF2B5EF4-FFF2-40B4-BE49-F238E27FC236}">
                <a16:creationId xmlns:a16="http://schemas.microsoft.com/office/drawing/2014/main" id="{1F238245-1957-06C9-F589-5B66927EED71}"/>
              </a:ext>
            </a:extLst>
          </p:cNvPr>
          <p:cNvSpPr txBox="1">
            <a:spLocks/>
          </p:cNvSpPr>
          <p:nvPr/>
        </p:nvSpPr>
        <p:spPr>
          <a:xfrm>
            <a:off x="4126560" y="6211669"/>
            <a:ext cx="880379" cy="64633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rgbClr val="218317"/>
              </a:buClr>
              <a:buNone/>
            </a:pPr>
            <a:r>
              <a:rPr lang="es-ES" sz="1800" b="1" dirty="0">
                <a:latin typeface="Helvetica"/>
                <a:cs typeface="Helvetica"/>
              </a:rPr>
              <a:t>Fig. 4</a:t>
            </a:r>
            <a:endParaRPr lang="es-ES" sz="18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F1FB67B6-FA0F-C59E-F249-3F674E59B610}"/>
              </a:ext>
            </a:extLst>
          </p:cNvPr>
          <p:cNvSpPr txBox="1">
            <a:spLocks/>
          </p:cNvSpPr>
          <p:nvPr/>
        </p:nvSpPr>
        <p:spPr>
          <a:xfrm>
            <a:off x="633459" y="1028714"/>
            <a:ext cx="10925077" cy="114682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ES" sz="2400" b="1" dirty="0" err="1">
                <a:latin typeface="Helvetica"/>
                <a:cs typeface="Helvetica"/>
              </a:rPr>
              <a:t>Obj</a:t>
            </a:r>
            <a:r>
              <a:rPr lang="es-ES" sz="2400" b="1" dirty="0">
                <a:latin typeface="Helvetica"/>
                <a:cs typeface="Helvetica"/>
              </a:rPr>
              <a:t>. 2.- </a:t>
            </a:r>
            <a:r>
              <a:rPr lang="es-ES" sz="2400" dirty="0" err="1">
                <a:latin typeface="Helvetica"/>
                <a:cs typeface="Helvetica"/>
              </a:rPr>
              <a:t>To</a:t>
            </a:r>
            <a:r>
              <a:rPr lang="es-ES" sz="2400" dirty="0">
                <a:latin typeface="Helvetica"/>
                <a:cs typeface="Helvetica"/>
              </a:rPr>
              <a:t> </a:t>
            </a:r>
            <a:r>
              <a:rPr lang="es-ES" sz="2400" dirty="0" err="1">
                <a:latin typeface="Helvetica"/>
                <a:cs typeface="Helvetica"/>
              </a:rPr>
              <a:t>assess</a:t>
            </a:r>
            <a:r>
              <a:rPr lang="es-ES" sz="2400" dirty="0">
                <a:latin typeface="Helvetica"/>
                <a:cs typeface="Helvetica"/>
              </a:rPr>
              <a:t> </a:t>
            </a:r>
            <a:r>
              <a:rPr lang="es-ES" sz="2400" dirty="0" err="1">
                <a:latin typeface="Helvetica"/>
                <a:cs typeface="Helvetica"/>
              </a:rPr>
              <a:t>what</a:t>
            </a:r>
            <a:r>
              <a:rPr lang="es-ES" sz="2400" dirty="0">
                <a:latin typeface="Helvetica"/>
                <a:cs typeface="Helvetica"/>
              </a:rPr>
              <a:t> </a:t>
            </a:r>
            <a:r>
              <a:rPr lang="es-ES" sz="2400" dirty="0" err="1">
                <a:latin typeface="Helvetica"/>
                <a:cs typeface="Helvetica"/>
              </a:rPr>
              <a:t>predisposing</a:t>
            </a:r>
            <a:r>
              <a:rPr lang="es-ES" sz="2400" dirty="0">
                <a:latin typeface="Helvetica"/>
                <a:cs typeface="Helvetica"/>
              </a:rPr>
              <a:t> </a:t>
            </a:r>
            <a:r>
              <a:rPr lang="es-ES" sz="2400" dirty="0" err="1">
                <a:latin typeface="Helvetica"/>
                <a:cs typeface="Helvetica"/>
              </a:rPr>
              <a:t>factors</a:t>
            </a:r>
            <a:r>
              <a:rPr lang="es-ES" sz="2400" dirty="0">
                <a:latin typeface="Helvetica"/>
                <a:cs typeface="Helvetica"/>
              </a:rPr>
              <a:t> </a:t>
            </a:r>
            <a:r>
              <a:rPr lang="es-ES" sz="2400" dirty="0" err="1">
                <a:latin typeface="Helvetica"/>
                <a:cs typeface="Helvetica"/>
              </a:rPr>
              <a:t>have</a:t>
            </a:r>
            <a:r>
              <a:rPr lang="es-ES" sz="2400" dirty="0">
                <a:latin typeface="Helvetica"/>
                <a:cs typeface="Helvetica"/>
              </a:rPr>
              <a:t> a </a:t>
            </a:r>
            <a:r>
              <a:rPr lang="es-ES" sz="2400" dirty="0" err="1">
                <a:latin typeface="Helvetica"/>
                <a:cs typeface="Helvetica"/>
              </a:rPr>
              <a:t>larger</a:t>
            </a:r>
            <a:r>
              <a:rPr lang="es-ES" sz="2400" dirty="0">
                <a:latin typeface="Helvetica"/>
                <a:cs typeface="Helvetica"/>
              </a:rPr>
              <a:t> </a:t>
            </a:r>
            <a:r>
              <a:rPr lang="es-ES" sz="2400" dirty="0" err="1">
                <a:latin typeface="Helvetica"/>
                <a:cs typeface="Helvetica"/>
              </a:rPr>
              <a:t>effect</a:t>
            </a:r>
            <a:r>
              <a:rPr lang="es-ES" sz="2400" dirty="0">
                <a:latin typeface="Helvetica"/>
                <a:cs typeface="Helvetica"/>
              </a:rPr>
              <a:t>, and </a:t>
            </a:r>
            <a:r>
              <a:rPr lang="es-ES" sz="2400" dirty="0" err="1">
                <a:latin typeface="Helvetica"/>
                <a:cs typeface="Helvetica"/>
              </a:rPr>
              <a:t>what</a:t>
            </a:r>
            <a:r>
              <a:rPr lang="es-ES" sz="2400" dirty="0">
                <a:latin typeface="Helvetica"/>
                <a:cs typeface="Helvetica"/>
              </a:rPr>
              <a:t>  </a:t>
            </a:r>
            <a:r>
              <a:rPr lang="es-ES" sz="2400" dirty="0" err="1">
                <a:latin typeface="Helvetica"/>
                <a:cs typeface="Helvetica"/>
              </a:rPr>
              <a:t>morphological</a:t>
            </a:r>
            <a:r>
              <a:rPr lang="es-ES" sz="2400" dirty="0">
                <a:latin typeface="Helvetica"/>
                <a:cs typeface="Helvetica"/>
              </a:rPr>
              <a:t> and </a:t>
            </a:r>
            <a:r>
              <a:rPr lang="es-ES" sz="2400" dirty="0" err="1">
                <a:latin typeface="Helvetica"/>
                <a:cs typeface="Helvetica"/>
              </a:rPr>
              <a:t>physiological</a:t>
            </a:r>
            <a:r>
              <a:rPr lang="es-ES" sz="2400" b="1" dirty="0">
                <a:latin typeface="Helvetica"/>
                <a:cs typeface="Helvetica"/>
              </a:rPr>
              <a:t> responses </a:t>
            </a:r>
            <a:r>
              <a:rPr lang="es-ES" sz="2400" b="1" dirty="0" err="1">
                <a:latin typeface="Helvetica"/>
                <a:cs typeface="Helvetica"/>
              </a:rPr>
              <a:t>to</a:t>
            </a:r>
            <a:r>
              <a:rPr lang="es-ES" sz="2400" b="1" dirty="0">
                <a:latin typeface="Helvetica"/>
                <a:cs typeface="Helvetica"/>
              </a:rPr>
              <a:t> </a:t>
            </a:r>
            <a:r>
              <a:rPr lang="es-ES" sz="2400" b="1" dirty="0" err="1">
                <a:latin typeface="Helvetica"/>
                <a:cs typeface="Helvetica"/>
              </a:rPr>
              <a:t>drought</a:t>
            </a:r>
            <a:r>
              <a:rPr lang="es-ES" sz="2400" b="1" dirty="0">
                <a:latin typeface="Helvetica"/>
                <a:cs typeface="Helvetica"/>
              </a:rPr>
              <a:t> </a:t>
            </a:r>
            <a:r>
              <a:rPr lang="es-ES" sz="2400" dirty="0">
                <a:latin typeface="Helvetica"/>
                <a:cs typeface="Helvetica"/>
              </a:rPr>
              <a:t>are more intense</a:t>
            </a:r>
            <a:endParaRPr lang="es-ES" sz="2400" b="1" dirty="0">
              <a:latin typeface="Helvetica"/>
              <a:cs typeface="Helvetica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605A1A4-9B05-87BD-B4D5-869DDBE5B03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1638" y="2021528"/>
            <a:ext cx="3092947" cy="4639701"/>
          </a:xfrm>
          <a:prstGeom prst="rect">
            <a:avLst/>
          </a:prstGeom>
        </p:spPr>
      </p:pic>
      <p:sp>
        <p:nvSpPr>
          <p:cNvPr id="15" name="TextBox 16">
            <a:extLst>
              <a:ext uri="{FF2B5EF4-FFF2-40B4-BE49-F238E27FC236}">
                <a16:creationId xmlns:a16="http://schemas.microsoft.com/office/drawing/2014/main" id="{DBF7742C-0035-3B84-E4A4-2F4E6B3F34B1}"/>
              </a:ext>
            </a:extLst>
          </p:cNvPr>
          <p:cNvSpPr txBox="1"/>
          <p:nvPr/>
        </p:nvSpPr>
        <p:spPr>
          <a:xfrm>
            <a:off x="6095997" y="2455095"/>
            <a:ext cx="4854197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s-ES" sz="2400" i="1" dirty="0" err="1">
                <a:latin typeface="Helvetica"/>
                <a:cs typeface="Helvetica"/>
              </a:rPr>
              <a:t>LogRR</a:t>
            </a:r>
            <a:r>
              <a:rPr lang="es-ES" sz="2400" i="1" dirty="0">
                <a:latin typeface="Helvetica"/>
                <a:cs typeface="Helvetica"/>
              </a:rPr>
              <a:t> = log(</a:t>
            </a:r>
            <a:r>
              <a:rPr lang="es-ES" sz="2400" i="1" dirty="0" err="1">
                <a:latin typeface="Helvetica"/>
                <a:cs typeface="Helvetica"/>
              </a:rPr>
              <a:t>X</a:t>
            </a:r>
            <a:r>
              <a:rPr lang="es-ES" sz="2400" i="1" baseline="-25000" dirty="0" err="1">
                <a:latin typeface="Helvetica"/>
                <a:cs typeface="Helvetica"/>
              </a:rPr>
              <a:t>damaged</a:t>
            </a:r>
            <a:r>
              <a:rPr lang="es-ES" sz="2400" i="1" dirty="0">
                <a:latin typeface="Helvetica"/>
                <a:cs typeface="Helvetica"/>
              </a:rPr>
              <a:t> / </a:t>
            </a:r>
            <a:r>
              <a:rPr lang="es-ES" sz="2400" i="1" dirty="0" err="1">
                <a:latin typeface="Helvetica"/>
                <a:cs typeface="Helvetica"/>
              </a:rPr>
              <a:t>X</a:t>
            </a:r>
            <a:r>
              <a:rPr lang="es-ES" sz="2400" i="1" baseline="-25000" dirty="0" err="1">
                <a:latin typeface="Helvetica"/>
                <a:cs typeface="Helvetica"/>
              </a:rPr>
              <a:t>healthy</a:t>
            </a:r>
            <a:r>
              <a:rPr lang="es-ES" sz="2400" i="1" dirty="0">
                <a:latin typeface="Helvetica"/>
                <a:cs typeface="Helvetica"/>
              </a:rPr>
              <a:t>)</a:t>
            </a:r>
          </a:p>
        </p:txBody>
      </p:sp>
      <p:sp>
        <p:nvSpPr>
          <p:cNvPr id="12" name="CuadroTexto 10">
            <a:extLst>
              <a:ext uri="{FF2B5EF4-FFF2-40B4-BE49-F238E27FC236}">
                <a16:creationId xmlns:a16="http://schemas.microsoft.com/office/drawing/2014/main" id="{D4A4977B-A7DD-5A63-0387-0E7370868A5F}"/>
              </a:ext>
            </a:extLst>
          </p:cNvPr>
          <p:cNvSpPr txBox="1"/>
          <p:nvPr/>
        </p:nvSpPr>
        <p:spPr>
          <a:xfrm>
            <a:off x="4845451" y="3429000"/>
            <a:ext cx="6755393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742950" lvl="1" indent="-285750" algn="just">
              <a:buClr>
                <a:srgbClr val="218317"/>
              </a:buClr>
              <a:buFont typeface="Arial" panose="020B0604020202020204" pitchFamily="34" charset="0"/>
              <a:buChar char="•"/>
            </a:pPr>
            <a:r>
              <a:rPr lang="es-ES" sz="2000" b="1" dirty="0">
                <a:latin typeface="Helvetica" panose="020B0604020202020204" pitchFamily="34" charset="0"/>
                <a:cs typeface="Helvetica" panose="020B0604020202020204" pitchFamily="34" charset="0"/>
              </a:rPr>
              <a:t>BAI, </a:t>
            </a:r>
            <a:r>
              <a:rPr lang="es-ES" sz="20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Rs</a:t>
            </a:r>
            <a:r>
              <a:rPr lang="es-ES" sz="2000" b="1" dirty="0">
                <a:latin typeface="Helvetica" panose="020B0604020202020204" pitchFamily="34" charset="0"/>
                <a:cs typeface="Helvetica" panose="020B0604020202020204" pitchFamily="34" charset="0"/>
              </a:rPr>
              <a:t>, </a:t>
            </a:r>
            <a:r>
              <a:rPr lang="es-ES" sz="20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Competition</a:t>
            </a:r>
            <a:r>
              <a:rPr lang="es-ES" sz="2000" b="1" dirty="0">
                <a:latin typeface="Helvetica" panose="020B0604020202020204" pitchFamily="34" charset="0"/>
                <a:cs typeface="Helvetica" panose="020B0604020202020204" pitchFamily="34" charset="0"/>
              </a:rPr>
              <a:t> and Age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were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the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variables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with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highest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RR</a:t>
            </a:r>
          </a:p>
          <a:p>
            <a:pPr marL="742950" lvl="1" indent="-285750" algn="just">
              <a:buClr>
                <a:srgbClr val="218317"/>
              </a:buClr>
              <a:buFont typeface="Arial" panose="020B0604020202020204" pitchFamily="34" charset="0"/>
              <a:buChar char="•"/>
            </a:pPr>
            <a:endParaRPr lang="es-ES" sz="20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742950" lvl="1" indent="-285750" algn="just">
              <a:buClr>
                <a:srgbClr val="218317"/>
              </a:buClr>
              <a:buFont typeface="Arial" panose="020B0604020202020204" pitchFamily="34" charset="0"/>
              <a:buChar char="•"/>
            </a:pPr>
            <a:r>
              <a:rPr lang="es-ES" sz="2000" b="1" dirty="0">
                <a:latin typeface="Helvetica" panose="020B0604020202020204" pitchFamily="34" charset="0"/>
                <a:cs typeface="Helvetica" panose="020B0604020202020204" pitchFamily="34" charset="0"/>
              </a:rPr>
              <a:t>C </a:t>
            </a:r>
            <a:r>
              <a:rPr lang="es-ES" sz="20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content</a:t>
            </a:r>
            <a:r>
              <a:rPr lang="es-ES" sz="2000" b="1" dirty="0">
                <a:latin typeface="Helvetica" panose="020B0604020202020204" pitchFamily="34" charset="0"/>
                <a:cs typeface="Helvetica" panose="020B0604020202020204" pitchFamily="34" charset="0"/>
              </a:rPr>
              <a:t>, </a:t>
            </a:r>
            <a:r>
              <a:rPr lang="es-ES" sz="20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Height</a:t>
            </a:r>
            <a:r>
              <a:rPr lang="es-ES" sz="2000" b="1" dirty="0">
                <a:latin typeface="Helvetica" panose="020B0604020202020204" pitchFamily="34" charset="0"/>
                <a:cs typeface="Helvetica" panose="020B0604020202020204" pitchFamily="34" charset="0"/>
              </a:rPr>
              <a:t> and Wood δ</a:t>
            </a:r>
            <a:r>
              <a:rPr lang="es-ES" sz="2000" b="1" baseline="30000" dirty="0">
                <a:latin typeface="Helvetica" panose="020B0604020202020204" pitchFamily="34" charset="0"/>
                <a:cs typeface="Helvetica" panose="020B0604020202020204" pitchFamily="34" charset="0"/>
              </a:rPr>
              <a:t>13</a:t>
            </a:r>
            <a:r>
              <a:rPr lang="es-ES" sz="2000" b="1" dirty="0">
                <a:latin typeface="Helvetica" panose="020B0604020202020204" pitchFamily="34" charset="0"/>
                <a:cs typeface="Helvetica" panose="020B0604020202020204" pitchFamily="34" charset="0"/>
              </a:rPr>
              <a:t>C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had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non-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significant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RRs</a:t>
            </a:r>
            <a:endParaRPr lang="es-ES" sz="20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1297149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E0A17A-75C7-4B1C-467E-746896C8E3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>
            <a:extLst>
              <a:ext uri="{FF2B5EF4-FFF2-40B4-BE49-F238E27FC236}">
                <a16:creationId xmlns:a16="http://schemas.microsoft.com/office/drawing/2014/main" id="{EFF53BF0-3EC8-55E9-955B-08CF894402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88915" y="1477262"/>
            <a:ext cx="9366245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kumimoji="0" lang="es-ES" altLang="es-E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altLang="es-E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5B945A35-79C4-3A74-523D-1C5741DDA3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690902" cy="804155"/>
          </a:xfrm>
          <a:solidFill>
            <a:srgbClr val="218317"/>
          </a:solidFill>
        </p:spPr>
        <p:txBody>
          <a:bodyPr>
            <a:normAutofit/>
          </a:bodyPr>
          <a:lstStyle/>
          <a:p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	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Preliminary</a:t>
            </a:r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results</a:t>
            </a:r>
            <a:endParaRPr lang="es-ES" sz="3200" b="1" dirty="0">
              <a:solidFill>
                <a:schemeClr val="bg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39A531DD-3F80-ABB1-D728-D5BDBA5DDBDF}"/>
              </a:ext>
            </a:extLst>
          </p:cNvPr>
          <p:cNvSpPr txBox="1">
            <a:spLocks/>
          </p:cNvSpPr>
          <p:nvPr/>
        </p:nvSpPr>
        <p:spPr>
          <a:xfrm>
            <a:off x="9690902" y="-1"/>
            <a:ext cx="2501098" cy="804157"/>
          </a:xfrm>
          <a:prstGeom prst="rect">
            <a:avLst/>
          </a:prstGeom>
          <a:solidFill>
            <a:srgbClr val="218317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ES" sz="28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M&amp;M </a:t>
            </a:r>
            <a:r>
              <a:rPr lang="es-ES" sz="2800" b="1" dirty="0">
                <a:solidFill>
                  <a:srgbClr val="218317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.</a:t>
            </a:r>
          </a:p>
        </p:txBody>
      </p:sp>
      <p:sp>
        <p:nvSpPr>
          <p:cNvPr id="9" name="Marcador de contenido 2">
            <a:extLst>
              <a:ext uri="{FF2B5EF4-FFF2-40B4-BE49-F238E27FC236}">
                <a16:creationId xmlns:a16="http://schemas.microsoft.com/office/drawing/2014/main" id="{7007B9DD-16E8-DFB5-2FDB-AAA106970DC8}"/>
              </a:ext>
            </a:extLst>
          </p:cNvPr>
          <p:cNvSpPr txBox="1">
            <a:spLocks/>
          </p:cNvSpPr>
          <p:nvPr/>
        </p:nvSpPr>
        <p:spPr>
          <a:xfrm>
            <a:off x="4126560" y="6211669"/>
            <a:ext cx="880379" cy="64633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rgbClr val="218317"/>
              </a:buClr>
              <a:buNone/>
            </a:pPr>
            <a:r>
              <a:rPr lang="es-ES" sz="1800" b="1" dirty="0">
                <a:latin typeface="Helvetica"/>
                <a:cs typeface="Helvetica"/>
              </a:rPr>
              <a:t>Fig. 4</a:t>
            </a:r>
            <a:endParaRPr lang="es-ES" sz="18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CF8DF62B-02D6-BC2F-586F-06019FDF2EC0}"/>
              </a:ext>
            </a:extLst>
          </p:cNvPr>
          <p:cNvSpPr txBox="1">
            <a:spLocks/>
          </p:cNvSpPr>
          <p:nvPr/>
        </p:nvSpPr>
        <p:spPr>
          <a:xfrm>
            <a:off x="633459" y="1028714"/>
            <a:ext cx="10925077" cy="114682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ES" sz="2400" b="1" dirty="0" err="1">
                <a:latin typeface="Helvetica"/>
                <a:cs typeface="Helvetica"/>
              </a:rPr>
              <a:t>Obj</a:t>
            </a:r>
            <a:r>
              <a:rPr lang="es-ES" sz="2400" b="1" dirty="0">
                <a:latin typeface="Helvetica"/>
                <a:cs typeface="Helvetica"/>
              </a:rPr>
              <a:t>. 2.- </a:t>
            </a:r>
            <a:r>
              <a:rPr lang="es-ES" sz="2400" dirty="0" err="1">
                <a:latin typeface="Helvetica"/>
                <a:cs typeface="Helvetica"/>
              </a:rPr>
              <a:t>To</a:t>
            </a:r>
            <a:r>
              <a:rPr lang="es-ES" sz="2400" dirty="0">
                <a:latin typeface="Helvetica"/>
                <a:cs typeface="Helvetica"/>
              </a:rPr>
              <a:t> </a:t>
            </a:r>
            <a:r>
              <a:rPr lang="es-ES" sz="2400" dirty="0" err="1">
                <a:latin typeface="Helvetica"/>
                <a:cs typeface="Helvetica"/>
              </a:rPr>
              <a:t>assess</a:t>
            </a:r>
            <a:r>
              <a:rPr lang="es-ES" sz="2400" dirty="0">
                <a:latin typeface="Helvetica"/>
                <a:cs typeface="Helvetica"/>
              </a:rPr>
              <a:t> </a:t>
            </a:r>
            <a:r>
              <a:rPr lang="es-ES" sz="2400" dirty="0" err="1">
                <a:latin typeface="Helvetica"/>
                <a:cs typeface="Helvetica"/>
              </a:rPr>
              <a:t>what</a:t>
            </a:r>
            <a:r>
              <a:rPr lang="es-ES" sz="2400" dirty="0">
                <a:latin typeface="Helvetica"/>
                <a:cs typeface="Helvetica"/>
              </a:rPr>
              <a:t> </a:t>
            </a:r>
            <a:r>
              <a:rPr lang="es-ES" sz="2400" dirty="0" err="1">
                <a:latin typeface="Helvetica"/>
                <a:cs typeface="Helvetica"/>
              </a:rPr>
              <a:t>predisposing</a:t>
            </a:r>
            <a:r>
              <a:rPr lang="es-ES" sz="2400" dirty="0">
                <a:latin typeface="Helvetica"/>
                <a:cs typeface="Helvetica"/>
              </a:rPr>
              <a:t> </a:t>
            </a:r>
            <a:r>
              <a:rPr lang="es-ES" sz="2400" dirty="0" err="1">
                <a:latin typeface="Helvetica"/>
                <a:cs typeface="Helvetica"/>
              </a:rPr>
              <a:t>factors</a:t>
            </a:r>
            <a:r>
              <a:rPr lang="es-ES" sz="2400" dirty="0">
                <a:latin typeface="Helvetica"/>
                <a:cs typeface="Helvetica"/>
              </a:rPr>
              <a:t> </a:t>
            </a:r>
            <a:r>
              <a:rPr lang="es-ES" sz="2400" dirty="0" err="1">
                <a:latin typeface="Helvetica"/>
                <a:cs typeface="Helvetica"/>
              </a:rPr>
              <a:t>have</a:t>
            </a:r>
            <a:r>
              <a:rPr lang="es-ES" sz="2400" dirty="0">
                <a:latin typeface="Helvetica"/>
                <a:cs typeface="Helvetica"/>
              </a:rPr>
              <a:t> a </a:t>
            </a:r>
            <a:r>
              <a:rPr lang="es-ES" sz="2400" dirty="0" err="1">
                <a:latin typeface="Helvetica"/>
                <a:cs typeface="Helvetica"/>
              </a:rPr>
              <a:t>larger</a:t>
            </a:r>
            <a:r>
              <a:rPr lang="es-ES" sz="2400" dirty="0">
                <a:latin typeface="Helvetica"/>
                <a:cs typeface="Helvetica"/>
              </a:rPr>
              <a:t> </a:t>
            </a:r>
            <a:r>
              <a:rPr lang="es-ES" sz="2400" dirty="0" err="1">
                <a:latin typeface="Helvetica"/>
                <a:cs typeface="Helvetica"/>
              </a:rPr>
              <a:t>effect</a:t>
            </a:r>
            <a:r>
              <a:rPr lang="es-ES" sz="2400" dirty="0">
                <a:latin typeface="Helvetica"/>
                <a:cs typeface="Helvetica"/>
              </a:rPr>
              <a:t>, and </a:t>
            </a:r>
            <a:r>
              <a:rPr lang="es-ES" sz="2400" dirty="0" err="1">
                <a:latin typeface="Helvetica"/>
                <a:cs typeface="Helvetica"/>
              </a:rPr>
              <a:t>what</a:t>
            </a:r>
            <a:r>
              <a:rPr lang="es-ES" sz="2400" dirty="0">
                <a:latin typeface="Helvetica"/>
                <a:cs typeface="Helvetica"/>
              </a:rPr>
              <a:t>  </a:t>
            </a:r>
            <a:r>
              <a:rPr lang="es-ES" sz="2400" dirty="0" err="1">
                <a:latin typeface="Helvetica"/>
                <a:cs typeface="Helvetica"/>
              </a:rPr>
              <a:t>morphological</a:t>
            </a:r>
            <a:r>
              <a:rPr lang="es-ES" sz="2400" dirty="0">
                <a:latin typeface="Helvetica"/>
                <a:cs typeface="Helvetica"/>
              </a:rPr>
              <a:t> and </a:t>
            </a:r>
            <a:r>
              <a:rPr lang="es-ES" sz="2400" dirty="0" err="1">
                <a:latin typeface="Helvetica"/>
                <a:cs typeface="Helvetica"/>
              </a:rPr>
              <a:t>physiological</a:t>
            </a:r>
            <a:r>
              <a:rPr lang="es-ES" sz="2400" b="1" dirty="0">
                <a:latin typeface="Helvetica"/>
                <a:cs typeface="Helvetica"/>
              </a:rPr>
              <a:t> responses </a:t>
            </a:r>
            <a:r>
              <a:rPr lang="es-ES" sz="2400" b="1" dirty="0" err="1">
                <a:latin typeface="Helvetica"/>
                <a:cs typeface="Helvetica"/>
              </a:rPr>
              <a:t>to</a:t>
            </a:r>
            <a:r>
              <a:rPr lang="es-ES" sz="2400" b="1" dirty="0">
                <a:latin typeface="Helvetica"/>
                <a:cs typeface="Helvetica"/>
              </a:rPr>
              <a:t> </a:t>
            </a:r>
            <a:r>
              <a:rPr lang="es-ES" sz="2400" b="1" dirty="0" err="1">
                <a:latin typeface="Helvetica"/>
                <a:cs typeface="Helvetica"/>
              </a:rPr>
              <a:t>drought</a:t>
            </a:r>
            <a:r>
              <a:rPr lang="es-ES" sz="2400" b="1" dirty="0">
                <a:latin typeface="Helvetica"/>
                <a:cs typeface="Helvetica"/>
              </a:rPr>
              <a:t> </a:t>
            </a:r>
            <a:r>
              <a:rPr lang="es-ES" sz="2400" dirty="0">
                <a:latin typeface="Helvetica"/>
                <a:cs typeface="Helvetica"/>
              </a:rPr>
              <a:t>are more intense</a:t>
            </a:r>
            <a:endParaRPr lang="es-ES" sz="2400" b="1" dirty="0">
              <a:latin typeface="Helvetica"/>
              <a:cs typeface="Helvetica"/>
            </a:endParaRPr>
          </a:p>
        </p:txBody>
      </p:sp>
      <p:sp>
        <p:nvSpPr>
          <p:cNvPr id="15" name="TextBox 16">
            <a:extLst>
              <a:ext uri="{FF2B5EF4-FFF2-40B4-BE49-F238E27FC236}">
                <a16:creationId xmlns:a16="http://schemas.microsoft.com/office/drawing/2014/main" id="{71D966E2-C050-943C-F732-8E8131224A17}"/>
              </a:ext>
            </a:extLst>
          </p:cNvPr>
          <p:cNvSpPr txBox="1"/>
          <p:nvPr/>
        </p:nvSpPr>
        <p:spPr>
          <a:xfrm>
            <a:off x="6095997" y="2455095"/>
            <a:ext cx="4854197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s-ES" sz="2400" i="1" dirty="0" err="1">
                <a:latin typeface="Helvetica"/>
                <a:cs typeface="Helvetica"/>
              </a:rPr>
              <a:t>LogRR</a:t>
            </a:r>
            <a:r>
              <a:rPr lang="es-ES" sz="2400" i="1" dirty="0">
                <a:latin typeface="Helvetica"/>
                <a:cs typeface="Helvetica"/>
              </a:rPr>
              <a:t> = log(</a:t>
            </a:r>
            <a:r>
              <a:rPr lang="es-ES" sz="2400" i="1" dirty="0" err="1">
                <a:latin typeface="Helvetica"/>
                <a:cs typeface="Helvetica"/>
              </a:rPr>
              <a:t>X</a:t>
            </a:r>
            <a:r>
              <a:rPr lang="es-ES" sz="2400" i="1" baseline="-25000" dirty="0" err="1">
                <a:latin typeface="Helvetica"/>
                <a:cs typeface="Helvetica"/>
              </a:rPr>
              <a:t>damaged</a:t>
            </a:r>
            <a:r>
              <a:rPr lang="es-ES" sz="2400" i="1" dirty="0">
                <a:latin typeface="Helvetica"/>
                <a:cs typeface="Helvetica"/>
              </a:rPr>
              <a:t> / </a:t>
            </a:r>
            <a:r>
              <a:rPr lang="es-ES" sz="2400" i="1" dirty="0" err="1">
                <a:latin typeface="Helvetica"/>
                <a:cs typeface="Helvetica"/>
              </a:rPr>
              <a:t>X</a:t>
            </a:r>
            <a:r>
              <a:rPr lang="es-ES" sz="2400" i="1" baseline="-25000" dirty="0" err="1">
                <a:latin typeface="Helvetica"/>
                <a:cs typeface="Helvetica"/>
              </a:rPr>
              <a:t>healthy</a:t>
            </a:r>
            <a:r>
              <a:rPr lang="es-ES" sz="2400" i="1" dirty="0">
                <a:latin typeface="Helvetica"/>
                <a:cs typeface="Helvetica"/>
              </a:rPr>
              <a:t>)</a:t>
            </a:r>
          </a:p>
        </p:txBody>
      </p:sp>
      <p:sp>
        <p:nvSpPr>
          <p:cNvPr id="12" name="CuadroTexto 10">
            <a:extLst>
              <a:ext uri="{FF2B5EF4-FFF2-40B4-BE49-F238E27FC236}">
                <a16:creationId xmlns:a16="http://schemas.microsoft.com/office/drawing/2014/main" id="{0ADAC6F9-978C-C475-6D36-EE0D609E3AC4}"/>
              </a:ext>
            </a:extLst>
          </p:cNvPr>
          <p:cNvSpPr txBox="1"/>
          <p:nvPr/>
        </p:nvSpPr>
        <p:spPr>
          <a:xfrm>
            <a:off x="4845451" y="3429000"/>
            <a:ext cx="675539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742950" lvl="1" indent="-285750" algn="just">
              <a:buClr>
                <a:srgbClr val="218317"/>
              </a:buClr>
              <a:buFont typeface="Arial" panose="020B0604020202020204" pitchFamily="34" charset="0"/>
              <a:buChar char="•"/>
            </a:pPr>
            <a:r>
              <a:rPr lang="es-ES" sz="2000" b="1" i="1" dirty="0" err="1">
                <a:latin typeface="Helvetica" panose="020B0604020202020204" pitchFamily="34" charset="0"/>
                <a:cs typeface="Helvetica" panose="020B0604020202020204" pitchFamily="34" charset="0"/>
              </a:rPr>
              <a:t>Pinus</a:t>
            </a:r>
            <a:r>
              <a:rPr lang="es-ES" sz="2000" b="1" i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b="1" i="1" dirty="0" err="1">
                <a:latin typeface="Helvetica" panose="020B0604020202020204" pitchFamily="34" charset="0"/>
                <a:cs typeface="Helvetica" panose="020B0604020202020204" pitchFamily="34" charset="0"/>
              </a:rPr>
              <a:t>sylvestris</a:t>
            </a:r>
            <a:r>
              <a:rPr lang="es-ES" sz="2000" b="1" i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muestra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RRs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mayores</a:t>
            </a:r>
            <a:endParaRPr lang="es-ES" sz="2000" i="1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5DB15C9-C61C-C0CE-5CCA-1A3B58B8D71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6051" y="2000150"/>
            <a:ext cx="3224120" cy="48364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478858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98D9A9-36F5-8D36-E39C-AC95B77081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>
            <a:extLst>
              <a:ext uri="{FF2B5EF4-FFF2-40B4-BE49-F238E27FC236}">
                <a16:creationId xmlns:a16="http://schemas.microsoft.com/office/drawing/2014/main" id="{9A007449-5732-E4F9-2FEE-B6EA8B9A83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88915" y="1477262"/>
            <a:ext cx="9366245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kumimoji="0" lang="es-ES" altLang="es-E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altLang="es-E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192CD2BB-70CD-55C4-35E0-1E952991DB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690902" cy="804155"/>
          </a:xfrm>
          <a:solidFill>
            <a:srgbClr val="218317"/>
          </a:solidFill>
        </p:spPr>
        <p:txBody>
          <a:bodyPr>
            <a:normAutofit/>
          </a:bodyPr>
          <a:lstStyle/>
          <a:p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	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Preliminary</a:t>
            </a:r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results</a:t>
            </a:r>
            <a:endParaRPr lang="es-ES" sz="3200" b="1" dirty="0">
              <a:solidFill>
                <a:schemeClr val="bg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B470A7A3-7715-2A2C-6F12-BDB7084F64E1}"/>
              </a:ext>
            </a:extLst>
          </p:cNvPr>
          <p:cNvSpPr txBox="1">
            <a:spLocks/>
          </p:cNvSpPr>
          <p:nvPr/>
        </p:nvSpPr>
        <p:spPr>
          <a:xfrm>
            <a:off x="9690902" y="-1"/>
            <a:ext cx="2501098" cy="804157"/>
          </a:xfrm>
          <a:prstGeom prst="rect">
            <a:avLst/>
          </a:prstGeom>
          <a:solidFill>
            <a:srgbClr val="218317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ES" sz="28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M&amp;M </a:t>
            </a:r>
            <a:r>
              <a:rPr lang="es-ES" sz="2800" b="1" dirty="0">
                <a:solidFill>
                  <a:srgbClr val="218317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79C8541-B4E5-1398-0C94-64D67ACDFE4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4996" y="914400"/>
            <a:ext cx="5701004" cy="570100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5988BD9-B66D-BFFC-2BB7-1C8272A3D32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689" t="71293" r="78495" b="7891"/>
          <a:stretch>
            <a:fillRect/>
          </a:stretch>
        </p:blipFill>
        <p:spPr>
          <a:xfrm>
            <a:off x="5840964" y="4870580"/>
            <a:ext cx="2537926" cy="1427584"/>
          </a:xfrm>
          <a:prstGeom prst="rect">
            <a:avLst/>
          </a:prstGeom>
        </p:spPr>
      </p:pic>
      <p:sp>
        <p:nvSpPr>
          <p:cNvPr id="13" name="CuadroTexto 10">
            <a:extLst>
              <a:ext uri="{FF2B5EF4-FFF2-40B4-BE49-F238E27FC236}">
                <a16:creationId xmlns:a16="http://schemas.microsoft.com/office/drawing/2014/main" id="{F2878B07-88B8-2709-1378-69DFDD64C7D6}"/>
              </a:ext>
            </a:extLst>
          </p:cNvPr>
          <p:cNvSpPr txBox="1"/>
          <p:nvPr/>
        </p:nvSpPr>
        <p:spPr>
          <a:xfrm>
            <a:off x="6096000" y="2011625"/>
            <a:ext cx="4497339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742950" lvl="1" indent="-285750" algn="just">
              <a:buClr>
                <a:srgbClr val="218317"/>
              </a:buClr>
              <a:buFont typeface="Arial" panose="020B0604020202020204" pitchFamily="34" charset="0"/>
              <a:buChar char="•"/>
            </a:pPr>
            <a:r>
              <a:rPr lang="es-ES" sz="2000" b="1" dirty="0">
                <a:latin typeface="Helvetica" panose="020B0604020202020204" pitchFamily="34" charset="0"/>
                <a:cs typeface="Helvetica" panose="020B0604020202020204" pitchFamily="34" charset="0"/>
              </a:rPr>
              <a:t>High </a:t>
            </a:r>
            <a:r>
              <a:rPr lang="es-ES" sz="20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orthogonality</a:t>
            </a:r>
            <a:endParaRPr lang="es-ES" sz="2000" b="1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742950" lvl="1" indent="-285750" algn="just">
              <a:buClr>
                <a:srgbClr val="218317"/>
              </a:buClr>
              <a:buFont typeface="Arial" panose="020B0604020202020204" pitchFamily="34" charset="0"/>
              <a:buChar char="•"/>
            </a:pPr>
            <a:endParaRPr lang="es-ES" sz="2000" b="1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742950" lvl="1" indent="-285750" algn="just">
              <a:buClr>
                <a:srgbClr val="218317"/>
              </a:buClr>
              <a:buFont typeface="Arial" panose="020B0604020202020204" pitchFamily="34" charset="0"/>
              <a:buChar char="•"/>
            </a:pPr>
            <a:endParaRPr lang="es-ES" sz="20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742950" lvl="1" indent="-285750" algn="just">
              <a:buClr>
                <a:srgbClr val="218317"/>
              </a:buClr>
              <a:buFont typeface="Arial" panose="020B0604020202020204" pitchFamily="34" charset="0"/>
              <a:buChar char="•"/>
            </a:pPr>
            <a:r>
              <a:rPr lang="es-ES" sz="2000" b="1" dirty="0">
                <a:latin typeface="Helvetica" panose="020B0604020202020204" pitchFamily="34" charset="0"/>
                <a:cs typeface="Helvetica" panose="020B0604020202020204" pitchFamily="34" charset="0"/>
              </a:rPr>
              <a:t>Comp. 1: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Chl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., N, BAI80, BAI05; </a:t>
            </a:r>
            <a:r>
              <a:rPr lang="el-GR" sz="2000" dirty="0">
                <a:latin typeface="Helvetica" panose="020B0604020202020204" pitchFamily="34" charset="0"/>
                <a:cs typeface="Helvetica" panose="020B0604020202020204" pitchFamily="34" charset="0"/>
              </a:rPr>
              <a:t>δ</a:t>
            </a:r>
            <a:r>
              <a:rPr lang="es-ES" sz="2000" baseline="30000" dirty="0">
                <a:latin typeface="Helvetica" panose="020B0604020202020204" pitchFamily="34" charset="0"/>
                <a:cs typeface="Helvetica" panose="020B0604020202020204" pitchFamily="34" charset="0"/>
              </a:rPr>
              <a:t>13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C,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age</a:t>
            </a:r>
            <a:endParaRPr lang="es-ES" sz="20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742950" lvl="1" indent="-285750" algn="just">
              <a:buClr>
                <a:srgbClr val="218317"/>
              </a:buClr>
              <a:buFont typeface="Arial" panose="020B0604020202020204" pitchFamily="34" charset="0"/>
              <a:buChar char="•"/>
            </a:pPr>
            <a:r>
              <a:rPr lang="es-ES" sz="2000" b="1" dirty="0">
                <a:latin typeface="Helvetica" panose="020B0604020202020204" pitchFamily="34" charset="0"/>
                <a:cs typeface="Helvetica" panose="020B0604020202020204" pitchFamily="34" charset="0"/>
              </a:rPr>
              <a:t>Comp. 2: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defoliation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,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Hegyi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, Rs12, WC</a:t>
            </a:r>
          </a:p>
        </p:txBody>
      </p:sp>
      <p:sp>
        <p:nvSpPr>
          <p:cNvPr id="14" name="Marcador de contenido 2">
            <a:extLst>
              <a:ext uri="{FF2B5EF4-FFF2-40B4-BE49-F238E27FC236}">
                <a16:creationId xmlns:a16="http://schemas.microsoft.com/office/drawing/2014/main" id="{6A2D9F04-6205-155F-0CE9-A87479AEEC12}"/>
              </a:ext>
            </a:extLst>
          </p:cNvPr>
          <p:cNvSpPr txBox="1">
            <a:spLocks/>
          </p:cNvSpPr>
          <p:nvPr/>
        </p:nvSpPr>
        <p:spPr>
          <a:xfrm>
            <a:off x="6096001" y="1083863"/>
            <a:ext cx="3594902" cy="64633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ES" sz="2400" b="1" dirty="0">
                <a:latin typeface="Helvetica"/>
                <a:cs typeface="Helvetica"/>
              </a:rPr>
              <a:t>PCA </a:t>
            </a:r>
            <a:r>
              <a:rPr lang="es-ES" sz="2400" b="1" dirty="0" err="1">
                <a:latin typeface="Helvetica"/>
                <a:cs typeface="Helvetica"/>
              </a:rPr>
              <a:t>Analysis</a:t>
            </a:r>
            <a:endParaRPr lang="es-ES" sz="2400" b="1" dirty="0">
              <a:latin typeface="Helvetica"/>
              <a:cs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220660294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25E3FE-ABF9-2983-F15A-1FEFAEA8CB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>
            <a:extLst>
              <a:ext uri="{FF2B5EF4-FFF2-40B4-BE49-F238E27FC236}">
                <a16:creationId xmlns:a16="http://schemas.microsoft.com/office/drawing/2014/main" id="{F6D41078-2730-8B0A-3CAF-BA787ABD87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88915" y="1477262"/>
            <a:ext cx="9366245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kumimoji="0" lang="es-ES" altLang="es-E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altLang="es-E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A841360-6F88-9716-453D-E664F853C2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690902" cy="804155"/>
          </a:xfrm>
          <a:solidFill>
            <a:srgbClr val="218317"/>
          </a:solidFill>
        </p:spPr>
        <p:txBody>
          <a:bodyPr>
            <a:normAutofit/>
          </a:bodyPr>
          <a:lstStyle/>
          <a:p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	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Preliminary</a:t>
            </a:r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results</a:t>
            </a:r>
            <a:endParaRPr lang="es-ES" sz="3200" b="1" dirty="0">
              <a:solidFill>
                <a:schemeClr val="bg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26128630-A9BC-495F-C621-7B7F7BF8181C}"/>
              </a:ext>
            </a:extLst>
          </p:cNvPr>
          <p:cNvSpPr txBox="1">
            <a:spLocks/>
          </p:cNvSpPr>
          <p:nvPr/>
        </p:nvSpPr>
        <p:spPr>
          <a:xfrm>
            <a:off x="9690902" y="-1"/>
            <a:ext cx="2501098" cy="804157"/>
          </a:xfrm>
          <a:prstGeom prst="rect">
            <a:avLst/>
          </a:prstGeom>
          <a:solidFill>
            <a:srgbClr val="218317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ES" sz="28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M&amp;M </a:t>
            </a:r>
            <a:r>
              <a:rPr lang="es-ES" sz="2800" b="1" dirty="0">
                <a:solidFill>
                  <a:srgbClr val="218317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.</a:t>
            </a:r>
          </a:p>
        </p:txBody>
      </p:sp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12F9CDB4-AD3C-397D-0942-8DF2D3E370B2}"/>
              </a:ext>
            </a:extLst>
          </p:cNvPr>
          <p:cNvSpPr txBox="1">
            <a:spLocks/>
          </p:cNvSpPr>
          <p:nvPr/>
        </p:nvSpPr>
        <p:spPr>
          <a:xfrm>
            <a:off x="633461" y="1130598"/>
            <a:ext cx="11162299" cy="64633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ES" sz="1800" b="1" dirty="0" err="1">
                <a:latin typeface="Helvetica"/>
                <a:cs typeface="Helvetica"/>
              </a:rPr>
              <a:t>Obj</a:t>
            </a:r>
            <a:r>
              <a:rPr lang="es-ES" sz="1800" b="1" dirty="0">
                <a:latin typeface="Helvetica"/>
                <a:cs typeface="Helvetica"/>
              </a:rPr>
              <a:t>. 3.- </a:t>
            </a:r>
            <a:r>
              <a:rPr lang="es-ES" sz="1800" dirty="0" err="1">
                <a:latin typeface="Helvetica"/>
                <a:cs typeface="Helvetica"/>
              </a:rPr>
              <a:t>To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dirty="0" err="1">
                <a:latin typeface="Helvetica"/>
                <a:cs typeface="Helvetica"/>
              </a:rPr>
              <a:t>assess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dirty="0" err="1">
                <a:latin typeface="Helvetica"/>
                <a:cs typeface="Helvetica"/>
              </a:rPr>
              <a:t>how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dirty="0" err="1">
                <a:latin typeface="Helvetica"/>
                <a:cs typeface="Helvetica"/>
              </a:rPr>
              <a:t>underlying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dirty="0" err="1">
                <a:latin typeface="Helvetica"/>
                <a:cs typeface="Helvetica"/>
              </a:rPr>
              <a:t>mechanisms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dirty="0" err="1">
                <a:latin typeface="Helvetica"/>
                <a:cs typeface="Helvetica"/>
              </a:rPr>
              <a:t>behind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dirty="0" err="1">
                <a:solidFill>
                  <a:srgbClr val="FF0000"/>
                </a:solidFill>
                <a:latin typeface="Helvetica"/>
                <a:cs typeface="Helvetica"/>
              </a:rPr>
              <a:t>drought</a:t>
            </a:r>
            <a:r>
              <a:rPr lang="es-ES" sz="1800" dirty="0">
                <a:solidFill>
                  <a:srgbClr val="FF0000"/>
                </a:solidFill>
                <a:latin typeface="Helvetica"/>
                <a:cs typeface="Helvetica"/>
              </a:rPr>
              <a:t> </a:t>
            </a:r>
            <a:r>
              <a:rPr lang="es-ES" sz="1800" dirty="0" err="1">
                <a:solidFill>
                  <a:srgbClr val="FF0000"/>
                </a:solidFill>
                <a:latin typeface="Helvetica"/>
                <a:cs typeface="Helvetica"/>
              </a:rPr>
              <a:t>vulnerability</a:t>
            </a:r>
            <a:r>
              <a:rPr lang="es-ES" sz="1800" dirty="0">
                <a:solidFill>
                  <a:srgbClr val="FF0000"/>
                </a:solidFill>
                <a:latin typeface="Helvetica"/>
                <a:cs typeface="Helvetica"/>
              </a:rPr>
              <a:t> </a:t>
            </a:r>
            <a:r>
              <a:rPr lang="es-ES" sz="1800" dirty="0" err="1">
                <a:latin typeface="Helvetica"/>
                <a:cs typeface="Helvetica"/>
              </a:rPr>
              <a:t>vary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dirty="0" err="1">
                <a:latin typeface="Helvetica"/>
                <a:cs typeface="Helvetica"/>
              </a:rPr>
              <a:t>due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dirty="0" err="1">
                <a:latin typeface="Helvetica"/>
                <a:cs typeface="Helvetica"/>
              </a:rPr>
              <a:t>to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dirty="0" err="1">
                <a:latin typeface="Helvetica"/>
                <a:cs typeface="Helvetica"/>
              </a:rPr>
              <a:t>long-term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dirty="0" err="1">
                <a:latin typeface="Helvetica"/>
                <a:cs typeface="Helvetica"/>
              </a:rPr>
              <a:t>adaptations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dirty="0" err="1">
                <a:latin typeface="Helvetica"/>
                <a:cs typeface="Helvetica"/>
              </a:rPr>
              <a:t>along</a:t>
            </a:r>
            <a:r>
              <a:rPr lang="es-ES" sz="1800" dirty="0">
                <a:latin typeface="Helvetica"/>
                <a:cs typeface="Helvetica"/>
              </a:rPr>
              <a:t> a </a:t>
            </a:r>
            <a:r>
              <a:rPr lang="es-ES" sz="1800" dirty="0" err="1">
                <a:latin typeface="Helvetica"/>
                <a:cs typeface="Helvetica"/>
              </a:rPr>
              <a:t>moisture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dirty="0" err="1">
                <a:latin typeface="Helvetica"/>
                <a:cs typeface="Helvetica"/>
              </a:rPr>
              <a:t>gradient</a:t>
            </a:r>
            <a:endParaRPr lang="es-ES" sz="1800" b="1" dirty="0">
              <a:latin typeface="Helvetica"/>
              <a:cs typeface="Helvetica"/>
            </a:endParaRPr>
          </a:p>
        </p:txBody>
      </p:sp>
      <p:sp>
        <p:nvSpPr>
          <p:cNvPr id="5" name="TextBox 2">
            <a:extLst>
              <a:ext uri="{FF2B5EF4-FFF2-40B4-BE49-F238E27FC236}">
                <a16:creationId xmlns:a16="http://schemas.microsoft.com/office/drawing/2014/main" id="{471F79EF-4DDD-D464-5E81-5DFC13BB7370}"/>
              </a:ext>
            </a:extLst>
          </p:cNvPr>
          <p:cNvSpPr txBox="1"/>
          <p:nvPr/>
        </p:nvSpPr>
        <p:spPr>
          <a:xfrm>
            <a:off x="633461" y="2598003"/>
            <a:ext cx="5670963" cy="707886"/>
          </a:xfrm>
          <a:prstGeom prst="rect">
            <a:avLst/>
          </a:prstGeom>
          <a:noFill/>
          <a:ln w="57150">
            <a:noFill/>
          </a:ln>
        </p:spPr>
        <p:txBody>
          <a:bodyPr wrap="square" rtlCol="0">
            <a:spAutoFit/>
          </a:bodyPr>
          <a:lstStyle/>
          <a:p>
            <a:pPr algn="ctr">
              <a:buClr>
                <a:srgbClr val="218317"/>
              </a:buClr>
            </a:pP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Is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it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worth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it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grouping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the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variables in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two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components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?</a:t>
            </a:r>
          </a:p>
        </p:txBody>
      </p:sp>
      <p:sp>
        <p:nvSpPr>
          <p:cNvPr id="7" name="TextBox 2">
            <a:extLst>
              <a:ext uri="{FF2B5EF4-FFF2-40B4-BE49-F238E27FC236}">
                <a16:creationId xmlns:a16="http://schemas.microsoft.com/office/drawing/2014/main" id="{1942CB3D-3C99-4195-732D-B90B71ECC0F6}"/>
              </a:ext>
            </a:extLst>
          </p:cNvPr>
          <p:cNvSpPr txBox="1"/>
          <p:nvPr/>
        </p:nvSpPr>
        <p:spPr>
          <a:xfrm>
            <a:off x="633463" y="3488989"/>
            <a:ext cx="5587119" cy="707886"/>
          </a:xfrm>
          <a:prstGeom prst="rect">
            <a:avLst/>
          </a:prstGeom>
          <a:noFill/>
          <a:ln w="57150">
            <a:noFill/>
          </a:ln>
        </p:spPr>
        <p:txBody>
          <a:bodyPr wrap="square" rtlCol="0">
            <a:spAutoFit/>
          </a:bodyPr>
          <a:lstStyle/>
          <a:p>
            <a:pPr algn="ctr">
              <a:buClr>
                <a:srgbClr val="218317"/>
              </a:buClr>
            </a:pPr>
            <a:r>
              <a:rPr lang="es-ES" sz="2000" b="1" dirty="0">
                <a:latin typeface="Helvetica" panose="020B0604020202020204" pitchFamily="34" charset="0"/>
                <a:cs typeface="Helvetica" panose="020B0604020202020204" pitchFamily="34" charset="0"/>
              </a:rPr>
              <a:t>Linear </a:t>
            </a:r>
            <a:r>
              <a:rPr lang="es-ES" sz="20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Mixed</a:t>
            </a:r>
            <a:r>
              <a:rPr lang="es-ES" sz="2000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Model</a:t>
            </a:r>
            <a:r>
              <a:rPr lang="es-ES" sz="2000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or</a:t>
            </a:r>
            <a:r>
              <a:rPr lang="es-ES" sz="2000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Structural</a:t>
            </a:r>
            <a:r>
              <a:rPr lang="es-ES" sz="2000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Equations</a:t>
            </a:r>
            <a:r>
              <a:rPr lang="es-ES" sz="2000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Model</a:t>
            </a:r>
            <a:r>
              <a:rPr lang="es-ES" sz="2000" b="1" dirty="0">
                <a:latin typeface="Helvetica" panose="020B0604020202020204" pitchFamily="34" charset="0"/>
                <a:cs typeface="Helvetica" panose="020B0604020202020204" pitchFamily="34" charset="0"/>
              </a:rPr>
              <a:t>?</a:t>
            </a:r>
          </a:p>
        </p:txBody>
      </p:sp>
      <p:sp>
        <p:nvSpPr>
          <p:cNvPr id="10" name="TextBox 2">
            <a:extLst>
              <a:ext uri="{FF2B5EF4-FFF2-40B4-BE49-F238E27FC236}">
                <a16:creationId xmlns:a16="http://schemas.microsoft.com/office/drawing/2014/main" id="{83AD2E54-7FD0-1ED6-7EA6-C43FA5109A18}"/>
              </a:ext>
            </a:extLst>
          </p:cNvPr>
          <p:cNvSpPr txBox="1"/>
          <p:nvPr/>
        </p:nvSpPr>
        <p:spPr>
          <a:xfrm>
            <a:off x="745077" y="4379975"/>
            <a:ext cx="5670963" cy="707886"/>
          </a:xfrm>
          <a:prstGeom prst="rect">
            <a:avLst/>
          </a:prstGeom>
          <a:noFill/>
          <a:ln w="57150">
            <a:noFill/>
          </a:ln>
        </p:spPr>
        <p:txBody>
          <a:bodyPr wrap="square" rtlCol="0">
            <a:spAutoFit/>
          </a:bodyPr>
          <a:lstStyle/>
          <a:p>
            <a:pPr algn="ctr">
              <a:buClr>
                <a:srgbClr val="218317"/>
              </a:buClr>
            </a:pP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Defoliation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= </a:t>
            </a:r>
            <a:r>
              <a:rPr lang="es-ES" sz="2000" b="1" dirty="0">
                <a:solidFill>
                  <a:srgbClr val="FF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SPEI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+ PCA1 + PCA2 + (1 | site /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plot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id /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tree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id) ¿?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608A062-5EAA-2C30-1BD7-BB668502F57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6040" y="1613511"/>
            <a:ext cx="4878729" cy="48787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595030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98C4FE-D540-58EA-C148-B08589E601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>
            <a:extLst>
              <a:ext uri="{FF2B5EF4-FFF2-40B4-BE49-F238E27FC236}">
                <a16:creationId xmlns:a16="http://schemas.microsoft.com/office/drawing/2014/main" id="{191F3314-AF75-E728-58A1-966BF899AA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88915" y="1477262"/>
            <a:ext cx="9366245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kumimoji="0" lang="es-ES" altLang="es-E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altLang="es-E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B04E661-DA61-B627-FBC9-AE09F0C459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690902" cy="804155"/>
          </a:xfrm>
          <a:solidFill>
            <a:srgbClr val="218317"/>
          </a:solidFill>
        </p:spPr>
        <p:txBody>
          <a:bodyPr>
            <a:normAutofit/>
          </a:bodyPr>
          <a:lstStyle/>
          <a:p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	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Preliminary</a:t>
            </a:r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results</a:t>
            </a:r>
            <a:endParaRPr lang="es-ES" sz="3200" b="1" dirty="0">
              <a:solidFill>
                <a:schemeClr val="bg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0392BBB0-7417-4E4E-DDE1-47A8F0C164B0}"/>
              </a:ext>
            </a:extLst>
          </p:cNvPr>
          <p:cNvSpPr txBox="1">
            <a:spLocks/>
          </p:cNvSpPr>
          <p:nvPr/>
        </p:nvSpPr>
        <p:spPr>
          <a:xfrm>
            <a:off x="9690902" y="-1"/>
            <a:ext cx="2501098" cy="804157"/>
          </a:xfrm>
          <a:prstGeom prst="rect">
            <a:avLst/>
          </a:prstGeom>
          <a:solidFill>
            <a:srgbClr val="218317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ES" sz="28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M&amp;M </a:t>
            </a:r>
            <a:r>
              <a:rPr lang="es-ES" sz="2800" b="1" dirty="0">
                <a:solidFill>
                  <a:srgbClr val="218317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.</a:t>
            </a:r>
          </a:p>
        </p:txBody>
      </p:sp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7B9DD9AE-F01B-0965-B781-7B9F3A7F2EC9}"/>
              </a:ext>
            </a:extLst>
          </p:cNvPr>
          <p:cNvSpPr txBox="1">
            <a:spLocks/>
          </p:cNvSpPr>
          <p:nvPr/>
        </p:nvSpPr>
        <p:spPr>
          <a:xfrm>
            <a:off x="633461" y="1130598"/>
            <a:ext cx="11162299" cy="64633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ES" sz="1800" b="1" dirty="0" err="1">
                <a:latin typeface="Helvetica"/>
                <a:cs typeface="Helvetica"/>
              </a:rPr>
              <a:t>Obj</a:t>
            </a:r>
            <a:r>
              <a:rPr lang="es-ES" sz="1800" b="1" dirty="0">
                <a:latin typeface="Helvetica"/>
                <a:cs typeface="Helvetica"/>
              </a:rPr>
              <a:t>. 3.- </a:t>
            </a:r>
            <a:r>
              <a:rPr lang="es-ES" sz="1800" dirty="0" err="1">
                <a:latin typeface="Helvetica"/>
                <a:cs typeface="Helvetica"/>
              </a:rPr>
              <a:t>To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dirty="0" err="1">
                <a:latin typeface="Helvetica"/>
                <a:cs typeface="Helvetica"/>
              </a:rPr>
              <a:t>assess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dirty="0" err="1">
                <a:latin typeface="Helvetica"/>
                <a:cs typeface="Helvetica"/>
              </a:rPr>
              <a:t>how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dirty="0" err="1">
                <a:latin typeface="Helvetica"/>
                <a:cs typeface="Helvetica"/>
              </a:rPr>
              <a:t>underlying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dirty="0" err="1">
                <a:latin typeface="Helvetica"/>
                <a:cs typeface="Helvetica"/>
              </a:rPr>
              <a:t>mechanisms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dirty="0" err="1">
                <a:latin typeface="Helvetica"/>
                <a:cs typeface="Helvetica"/>
              </a:rPr>
              <a:t>behind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dirty="0" err="1">
                <a:solidFill>
                  <a:srgbClr val="FF0000"/>
                </a:solidFill>
                <a:latin typeface="Helvetica"/>
                <a:cs typeface="Helvetica"/>
              </a:rPr>
              <a:t>drought</a:t>
            </a:r>
            <a:r>
              <a:rPr lang="es-ES" sz="1800" dirty="0">
                <a:solidFill>
                  <a:srgbClr val="FF0000"/>
                </a:solidFill>
                <a:latin typeface="Helvetica"/>
                <a:cs typeface="Helvetica"/>
              </a:rPr>
              <a:t> </a:t>
            </a:r>
            <a:r>
              <a:rPr lang="es-ES" sz="1800" dirty="0" err="1">
                <a:solidFill>
                  <a:srgbClr val="FF0000"/>
                </a:solidFill>
                <a:latin typeface="Helvetica"/>
                <a:cs typeface="Helvetica"/>
              </a:rPr>
              <a:t>vulnerability</a:t>
            </a:r>
            <a:r>
              <a:rPr lang="es-ES" sz="1800" dirty="0">
                <a:solidFill>
                  <a:srgbClr val="FF0000"/>
                </a:solidFill>
                <a:latin typeface="Helvetica"/>
                <a:cs typeface="Helvetica"/>
              </a:rPr>
              <a:t> </a:t>
            </a:r>
            <a:r>
              <a:rPr lang="es-ES" sz="1800" dirty="0" err="1">
                <a:latin typeface="Helvetica"/>
                <a:cs typeface="Helvetica"/>
              </a:rPr>
              <a:t>vary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dirty="0" err="1">
                <a:latin typeface="Helvetica"/>
                <a:cs typeface="Helvetica"/>
              </a:rPr>
              <a:t>due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dirty="0" err="1">
                <a:latin typeface="Helvetica"/>
                <a:cs typeface="Helvetica"/>
              </a:rPr>
              <a:t>to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dirty="0" err="1">
                <a:latin typeface="Helvetica"/>
                <a:cs typeface="Helvetica"/>
              </a:rPr>
              <a:t>long-term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dirty="0" err="1">
                <a:latin typeface="Helvetica"/>
                <a:cs typeface="Helvetica"/>
              </a:rPr>
              <a:t>adaptations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dirty="0" err="1">
                <a:latin typeface="Helvetica"/>
                <a:cs typeface="Helvetica"/>
              </a:rPr>
              <a:t>along</a:t>
            </a:r>
            <a:r>
              <a:rPr lang="es-ES" sz="1800" dirty="0">
                <a:latin typeface="Helvetica"/>
                <a:cs typeface="Helvetica"/>
              </a:rPr>
              <a:t> a </a:t>
            </a:r>
            <a:r>
              <a:rPr lang="es-ES" sz="1800" dirty="0" err="1">
                <a:latin typeface="Helvetica"/>
                <a:cs typeface="Helvetica"/>
              </a:rPr>
              <a:t>moisture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dirty="0" err="1">
                <a:latin typeface="Helvetica"/>
                <a:cs typeface="Helvetica"/>
              </a:rPr>
              <a:t>gradient</a:t>
            </a:r>
            <a:endParaRPr lang="es-ES" sz="1800" b="1" dirty="0">
              <a:latin typeface="Helvetica"/>
              <a:cs typeface="Helvetica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542D86B-F7ED-BFD0-9CB6-B028B92C917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3528"/>
          <a:stretch>
            <a:fillRect/>
          </a:stretch>
        </p:blipFill>
        <p:spPr>
          <a:xfrm>
            <a:off x="633461" y="1979271"/>
            <a:ext cx="6763019" cy="4269129"/>
          </a:xfrm>
          <a:prstGeom prst="rect">
            <a:avLst/>
          </a:prstGeom>
        </p:spPr>
      </p:pic>
      <p:sp>
        <p:nvSpPr>
          <p:cNvPr id="11" name="CuadroTexto 10">
            <a:extLst>
              <a:ext uri="{FF2B5EF4-FFF2-40B4-BE49-F238E27FC236}">
                <a16:creationId xmlns:a16="http://schemas.microsoft.com/office/drawing/2014/main" id="{612BDB73-026F-4EB4-C430-9729CEF92A3E}"/>
              </a:ext>
            </a:extLst>
          </p:cNvPr>
          <p:cNvSpPr txBox="1"/>
          <p:nvPr/>
        </p:nvSpPr>
        <p:spPr>
          <a:xfrm>
            <a:off x="7298421" y="2129176"/>
            <a:ext cx="4497339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742950" lvl="1" indent="-285750" algn="just">
              <a:buClr>
                <a:srgbClr val="218317"/>
              </a:buClr>
              <a:buFont typeface="Arial" panose="020B0604020202020204" pitchFamily="34" charset="0"/>
              <a:buChar char="•"/>
            </a:pPr>
            <a:r>
              <a:rPr lang="es-ES" sz="20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Very</a:t>
            </a:r>
            <a:r>
              <a:rPr lang="es-ES" sz="2000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high</a:t>
            </a:r>
            <a:r>
              <a:rPr lang="es-ES" sz="2000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orthogonality</a:t>
            </a:r>
            <a:endParaRPr lang="es-ES" sz="2000" b="1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742950" lvl="1" indent="-285750" algn="just">
              <a:buClr>
                <a:srgbClr val="218317"/>
              </a:buClr>
              <a:buFont typeface="Arial" panose="020B0604020202020204" pitchFamily="34" charset="0"/>
              <a:buChar char="•"/>
            </a:pPr>
            <a:endParaRPr lang="es-ES" sz="2000" b="1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742950" lvl="1" indent="-285750" algn="just">
              <a:buClr>
                <a:srgbClr val="218317"/>
              </a:buClr>
              <a:buFont typeface="Arial" panose="020B0604020202020204" pitchFamily="34" charset="0"/>
              <a:buChar char="•"/>
            </a:pPr>
            <a:endParaRPr lang="es-ES" sz="20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742950" lvl="1" indent="-285750" algn="just">
              <a:buClr>
                <a:srgbClr val="218317"/>
              </a:buClr>
              <a:buFont typeface="Arial" panose="020B0604020202020204" pitchFamily="34" charset="0"/>
              <a:buChar char="•"/>
            </a:pPr>
            <a:r>
              <a:rPr lang="es-ES" sz="2000" b="1" dirty="0">
                <a:latin typeface="Helvetica" panose="020B0604020202020204" pitchFamily="34" charset="0"/>
                <a:cs typeface="Helvetica" panose="020B0604020202020204" pitchFamily="34" charset="0"/>
              </a:rPr>
              <a:t>Comp. 1: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height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, </a:t>
            </a:r>
            <a:r>
              <a:rPr lang="el-GR" sz="2000" dirty="0">
                <a:latin typeface="Helvetica" panose="020B0604020202020204" pitchFamily="34" charset="0"/>
                <a:cs typeface="Helvetica" panose="020B0604020202020204" pitchFamily="34" charset="0"/>
              </a:rPr>
              <a:t>δ</a:t>
            </a:r>
            <a:r>
              <a:rPr lang="es-ES" sz="2000" baseline="30000" dirty="0">
                <a:latin typeface="Helvetica" panose="020B0604020202020204" pitchFamily="34" charset="0"/>
                <a:cs typeface="Helvetica" panose="020B0604020202020204" pitchFamily="34" charset="0"/>
              </a:rPr>
              <a:t>15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N, BAI, Rt12;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defoliation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,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age</a:t>
            </a:r>
            <a:endParaRPr lang="es-ES" sz="20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742950" lvl="1" indent="-285750" algn="just">
              <a:buClr>
                <a:srgbClr val="218317"/>
              </a:buClr>
              <a:buFont typeface="Arial" panose="020B0604020202020204" pitchFamily="34" charset="0"/>
              <a:buChar char="•"/>
            </a:pPr>
            <a:r>
              <a:rPr lang="es-ES" sz="2000" b="1" dirty="0">
                <a:latin typeface="Helvetica" panose="020B0604020202020204" pitchFamily="34" charset="0"/>
                <a:cs typeface="Helvetica" panose="020B0604020202020204" pitchFamily="34" charset="0"/>
              </a:rPr>
              <a:t>Comp. 2: </a:t>
            </a:r>
            <a:r>
              <a:rPr lang="el-GR" sz="2000" dirty="0">
                <a:latin typeface="Helvetica" panose="020B0604020202020204" pitchFamily="34" charset="0"/>
                <a:cs typeface="Helvetica" panose="020B0604020202020204" pitchFamily="34" charset="0"/>
              </a:rPr>
              <a:t>δ</a:t>
            </a:r>
            <a:r>
              <a:rPr lang="es-ES" sz="2000" baseline="30000" dirty="0">
                <a:latin typeface="Helvetica" panose="020B0604020202020204" pitchFamily="34" charset="0"/>
                <a:cs typeface="Helvetica" panose="020B0604020202020204" pitchFamily="34" charset="0"/>
              </a:rPr>
              <a:t>13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C, Rs12, LWC;</a:t>
            </a:r>
            <a:r>
              <a:rPr lang="es-ES" sz="2000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Chl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. /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carotenoids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, Rs17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4C6C3135-4F44-B03E-6B54-10D12149DB0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69630" r="78500" b="7259"/>
          <a:stretch>
            <a:fillRect/>
          </a:stretch>
        </p:blipFill>
        <p:spPr>
          <a:xfrm>
            <a:off x="5233824" y="4643120"/>
            <a:ext cx="2091536" cy="1264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722410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B196E3-8B72-C39D-0421-4BC1000530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>
            <a:extLst>
              <a:ext uri="{FF2B5EF4-FFF2-40B4-BE49-F238E27FC236}">
                <a16:creationId xmlns:a16="http://schemas.microsoft.com/office/drawing/2014/main" id="{F3186D16-E14C-59DB-BF5B-6BC5404D8E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88915" y="1477262"/>
            <a:ext cx="9366245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kumimoji="0" lang="es-ES" altLang="es-E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altLang="es-E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7DF9691-CCBB-C664-CD90-631959AEBF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690902" cy="804155"/>
          </a:xfrm>
          <a:solidFill>
            <a:srgbClr val="218317"/>
          </a:solidFill>
        </p:spPr>
        <p:txBody>
          <a:bodyPr>
            <a:normAutofit/>
          </a:bodyPr>
          <a:lstStyle/>
          <a:p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	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Preliminary</a:t>
            </a:r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results</a:t>
            </a:r>
            <a:endParaRPr lang="es-ES" sz="3200" b="1" dirty="0">
              <a:solidFill>
                <a:schemeClr val="bg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351DF5E3-F89C-345F-EE29-106FDF1BCD55}"/>
              </a:ext>
            </a:extLst>
          </p:cNvPr>
          <p:cNvSpPr txBox="1">
            <a:spLocks/>
          </p:cNvSpPr>
          <p:nvPr/>
        </p:nvSpPr>
        <p:spPr>
          <a:xfrm>
            <a:off x="9690902" y="-1"/>
            <a:ext cx="2501098" cy="804157"/>
          </a:xfrm>
          <a:prstGeom prst="rect">
            <a:avLst/>
          </a:prstGeom>
          <a:solidFill>
            <a:srgbClr val="218317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ES" sz="28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M&amp;M </a:t>
            </a:r>
            <a:r>
              <a:rPr lang="es-ES" sz="2800" b="1" dirty="0">
                <a:solidFill>
                  <a:srgbClr val="218317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.</a:t>
            </a:r>
          </a:p>
        </p:txBody>
      </p:sp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DD4B8B29-5AC3-B419-6980-33A710E5FBB0}"/>
              </a:ext>
            </a:extLst>
          </p:cNvPr>
          <p:cNvSpPr txBox="1">
            <a:spLocks/>
          </p:cNvSpPr>
          <p:nvPr/>
        </p:nvSpPr>
        <p:spPr>
          <a:xfrm>
            <a:off x="633461" y="1130598"/>
            <a:ext cx="11162299" cy="64633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ES" sz="1800" b="1" dirty="0" err="1">
                <a:latin typeface="Helvetica"/>
                <a:cs typeface="Helvetica"/>
              </a:rPr>
              <a:t>Obj</a:t>
            </a:r>
            <a:r>
              <a:rPr lang="es-ES" sz="1800" b="1" dirty="0">
                <a:latin typeface="Helvetica"/>
                <a:cs typeface="Helvetica"/>
              </a:rPr>
              <a:t>. 3.- </a:t>
            </a:r>
            <a:r>
              <a:rPr lang="es-ES" sz="1800" dirty="0" err="1">
                <a:latin typeface="Helvetica"/>
                <a:cs typeface="Helvetica"/>
              </a:rPr>
              <a:t>To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dirty="0" err="1">
                <a:latin typeface="Helvetica"/>
                <a:cs typeface="Helvetica"/>
              </a:rPr>
              <a:t>assess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dirty="0" err="1">
                <a:latin typeface="Helvetica"/>
                <a:cs typeface="Helvetica"/>
              </a:rPr>
              <a:t>how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dirty="0" err="1">
                <a:latin typeface="Helvetica"/>
                <a:cs typeface="Helvetica"/>
              </a:rPr>
              <a:t>underlying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dirty="0" err="1">
                <a:latin typeface="Helvetica"/>
                <a:cs typeface="Helvetica"/>
              </a:rPr>
              <a:t>mechanisms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dirty="0" err="1">
                <a:latin typeface="Helvetica"/>
                <a:cs typeface="Helvetica"/>
              </a:rPr>
              <a:t>behind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dirty="0" err="1">
                <a:solidFill>
                  <a:srgbClr val="FF0000"/>
                </a:solidFill>
                <a:latin typeface="Helvetica"/>
                <a:cs typeface="Helvetica"/>
              </a:rPr>
              <a:t>drought</a:t>
            </a:r>
            <a:r>
              <a:rPr lang="es-ES" sz="1800" dirty="0">
                <a:solidFill>
                  <a:srgbClr val="FF0000"/>
                </a:solidFill>
                <a:latin typeface="Helvetica"/>
                <a:cs typeface="Helvetica"/>
              </a:rPr>
              <a:t> </a:t>
            </a:r>
            <a:r>
              <a:rPr lang="es-ES" sz="1800" dirty="0" err="1">
                <a:solidFill>
                  <a:srgbClr val="FF0000"/>
                </a:solidFill>
                <a:latin typeface="Helvetica"/>
                <a:cs typeface="Helvetica"/>
              </a:rPr>
              <a:t>vulnerability</a:t>
            </a:r>
            <a:r>
              <a:rPr lang="es-ES" sz="1800" dirty="0">
                <a:solidFill>
                  <a:srgbClr val="FF0000"/>
                </a:solidFill>
                <a:latin typeface="Helvetica"/>
                <a:cs typeface="Helvetica"/>
              </a:rPr>
              <a:t> </a:t>
            </a:r>
            <a:r>
              <a:rPr lang="es-ES" sz="1800" dirty="0" err="1">
                <a:latin typeface="Helvetica"/>
                <a:cs typeface="Helvetica"/>
              </a:rPr>
              <a:t>vary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dirty="0" err="1">
                <a:latin typeface="Helvetica"/>
                <a:cs typeface="Helvetica"/>
              </a:rPr>
              <a:t>due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dirty="0" err="1">
                <a:latin typeface="Helvetica"/>
                <a:cs typeface="Helvetica"/>
              </a:rPr>
              <a:t>to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dirty="0" err="1">
                <a:latin typeface="Helvetica"/>
                <a:cs typeface="Helvetica"/>
              </a:rPr>
              <a:t>long-term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dirty="0" err="1">
                <a:latin typeface="Helvetica"/>
                <a:cs typeface="Helvetica"/>
              </a:rPr>
              <a:t>adaptations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dirty="0" err="1">
                <a:latin typeface="Helvetica"/>
                <a:cs typeface="Helvetica"/>
              </a:rPr>
              <a:t>along</a:t>
            </a:r>
            <a:r>
              <a:rPr lang="es-ES" sz="1800" dirty="0">
                <a:latin typeface="Helvetica"/>
                <a:cs typeface="Helvetica"/>
              </a:rPr>
              <a:t> a </a:t>
            </a:r>
            <a:r>
              <a:rPr lang="es-ES" sz="1800" dirty="0" err="1">
                <a:latin typeface="Helvetica"/>
                <a:cs typeface="Helvetica"/>
              </a:rPr>
              <a:t>moisture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dirty="0" err="1">
                <a:latin typeface="Helvetica"/>
                <a:cs typeface="Helvetica"/>
              </a:rPr>
              <a:t>gradient</a:t>
            </a:r>
            <a:endParaRPr lang="es-ES" sz="1800" b="1" dirty="0">
              <a:latin typeface="Helvetica"/>
              <a:cs typeface="Helvetica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CFFECE6-DE50-2565-AF8B-B54C1AE6826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6473"/>
          <a:stretch>
            <a:fillRect/>
          </a:stretch>
        </p:blipFill>
        <p:spPr>
          <a:xfrm>
            <a:off x="1524212" y="1776929"/>
            <a:ext cx="7529406" cy="327736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D8B9933-73B0-6F9C-F057-1FD131C0936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71730" r="78070" b="5485"/>
          <a:stretch>
            <a:fillRect/>
          </a:stretch>
        </p:blipFill>
        <p:spPr>
          <a:xfrm>
            <a:off x="2171699" y="5150733"/>
            <a:ext cx="2673752" cy="156258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A6D8BEF-2161-71BC-97EA-EE6E6E6545BE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69536" r="79114" b="7679"/>
          <a:stretch>
            <a:fillRect/>
          </a:stretch>
        </p:blipFill>
        <p:spPr>
          <a:xfrm>
            <a:off x="6096000" y="5104433"/>
            <a:ext cx="2546430" cy="1562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530896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79F5BA-1B83-F460-847D-0C3BB8B778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>
            <a:extLst>
              <a:ext uri="{FF2B5EF4-FFF2-40B4-BE49-F238E27FC236}">
                <a16:creationId xmlns:a16="http://schemas.microsoft.com/office/drawing/2014/main" id="{FF2464FC-5965-91B7-7F19-A93D655164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88915" y="1477262"/>
            <a:ext cx="9366245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kumimoji="0" lang="es-ES" altLang="es-E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altLang="es-E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80AADC97-1ACE-B518-0FB9-7AE3D69EF1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690902" cy="804155"/>
          </a:xfrm>
          <a:solidFill>
            <a:srgbClr val="218317"/>
          </a:solidFill>
        </p:spPr>
        <p:txBody>
          <a:bodyPr>
            <a:normAutofit/>
          </a:bodyPr>
          <a:lstStyle/>
          <a:p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	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Preliminary</a:t>
            </a:r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results</a:t>
            </a:r>
            <a:endParaRPr lang="es-ES" sz="3200" b="1" dirty="0">
              <a:solidFill>
                <a:schemeClr val="bg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A5EC93B4-F7AF-6284-EEAA-1292D35F803C}"/>
              </a:ext>
            </a:extLst>
          </p:cNvPr>
          <p:cNvSpPr txBox="1">
            <a:spLocks/>
          </p:cNvSpPr>
          <p:nvPr/>
        </p:nvSpPr>
        <p:spPr>
          <a:xfrm>
            <a:off x="9690902" y="-1"/>
            <a:ext cx="2501098" cy="804157"/>
          </a:xfrm>
          <a:prstGeom prst="rect">
            <a:avLst/>
          </a:prstGeom>
          <a:solidFill>
            <a:srgbClr val="218317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ES" sz="28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M&amp;M </a:t>
            </a:r>
            <a:r>
              <a:rPr lang="es-ES" sz="2800" b="1" dirty="0">
                <a:solidFill>
                  <a:srgbClr val="218317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.</a:t>
            </a:r>
          </a:p>
        </p:txBody>
      </p:sp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D764E94B-DB39-2D18-C576-6D0CBDC426E8}"/>
              </a:ext>
            </a:extLst>
          </p:cNvPr>
          <p:cNvSpPr txBox="1">
            <a:spLocks/>
          </p:cNvSpPr>
          <p:nvPr/>
        </p:nvSpPr>
        <p:spPr>
          <a:xfrm>
            <a:off x="633461" y="1130598"/>
            <a:ext cx="11162299" cy="64633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ES" sz="1800" b="1" dirty="0" err="1">
                <a:latin typeface="Helvetica"/>
                <a:cs typeface="Helvetica"/>
              </a:rPr>
              <a:t>Obj</a:t>
            </a:r>
            <a:r>
              <a:rPr lang="es-ES" sz="1800" b="1" dirty="0">
                <a:latin typeface="Helvetica"/>
                <a:cs typeface="Helvetica"/>
              </a:rPr>
              <a:t>. 3.- </a:t>
            </a:r>
            <a:r>
              <a:rPr lang="es-ES" sz="1800" dirty="0" err="1">
                <a:latin typeface="Helvetica"/>
                <a:cs typeface="Helvetica"/>
              </a:rPr>
              <a:t>To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dirty="0" err="1">
                <a:latin typeface="Helvetica"/>
                <a:cs typeface="Helvetica"/>
              </a:rPr>
              <a:t>assess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dirty="0" err="1">
                <a:latin typeface="Helvetica"/>
                <a:cs typeface="Helvetica"/>
              </a:rPr>
              <a:t>how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dirty="0" err="1">
                <a:latin typeface="Helvetica"/>
                <a:cs typeface="Helvetica"/>
              </a:rPr>
              <a:t>underlying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dirty="0" err="1">
                <a:latin typeface="Helvetica"/>
                <a:cs typeface="Helvetica"/>
              </a:rPr>
              <a:t>mechanisms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dirty="0" err="1">
                <a:latin typeface="Helvetica"/>
                <a:cs typeface="Helvetica"/>
              </a:rPr>
              <a:t>behind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dirty="0" err="1">
                <a:solidFill>
                  <a:srgbClr val="FF0000"/>
                </a:solidFill>
                <a:latin typeface="Helvetica"/>
                <a:cs typeface="Helvetica"/>
              </a:rPr>
              <a:t>drought</a:t>
            </a:r>
            <a:r>
              <a:rPr lang="es-ES" sz="1800" dirty="0">
                <a:solidFill>
                  <a:srgbClr val="FF0000"/>
                </a:solidFill>
                <a:latin typeface="Helvetica"/>
                <a:cs typeface="Helvetica"/>
              </a:rPr>
              <a:t> </a:t>
            </a:r>
            <a:r>
              <a:rPr lang="es-ES" sz="1800" dirty="0" err="1">
                <a:solidFill>
                  <a:srgbClr val="FF0000"/>
                </a:solidFill>
                <a:latin typeface="Helvetica"/>
                <a:cs typeface="Helvetica"/>
              </a:rPr>
              <a:t>vulnerability</a:t>
            </a:r>
            <a:r>
              <a:rPr lang="es-ES" sz="1800" dirty="0">
                <a:solidFill>
                  <a:srgbClr val="FF0000"/>
                </a:solidFill>
                <a:latin typeface="Helvetica"/>
                <a:cs typeface="Helvetica"/>
              </a:rPr>
              <a:t> </a:t>
            </a:r>
            <a:r>
              <a:rPr lang="es-ES" sz="1800" dirty="0" err="1">
                <a:latin typeface="Helvetica"/>
                <a:cs typeface="Helvetica"/>
              </a:rPr>
              <a:t>vary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dirty="0" err="1">
                <a:latin typeface="Helvetica"/>
                <a:cs typeface="Helvetica"/>
              </a:rPr>
              <a:t>due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dirty="0" err="1">
                <a:latin typeface="Helvetica"/>
                <a:cs typeface="Helvetica"/>
              </a:rPr>
              <a:t>to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dirty="0" err="1">
                <a:latin typeface="Helvetica"/>
                <a:cs typeface="Helvetica"/>
              </a:rPr>
              <a:t>long-term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dirty="0" err="1">
                <a:latin typeface="Helvetica"/>
                <a:cs typeface="Helvetica"/>
              </a:rPr>
              <a:t>adaptations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dirty="0" err="1">
                <a:latin typeface="Helvetica"/>
                <a:cs typeface="Helvetica"/>
              </a:rPr>
              <a:t>along</a:t>
            </a:r>
            <a:r>
              <a:rPr lang="es-ES" sz="1800" dirty="0">
                <a:latin typeface="Helvetica"/>
                <a:cs typeface="Helvetica"/>
              </a:rPr>
              <a:t> a </a:t>
            </a:r>
            <a:r>
              <a:rPr lang="es-ES" sz="1800" dirty="0" err="1">
                <a:latin typeface="Helvetica"/>
                <a:cs typeface="Helvetica"/>
              </a:rPr>
              <a:t>moisture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dirty="0" err="1">
                <a:latin typeface="Helvetica"/>
                <a:cs typeface="Helvetica"/>
              </a:rPr>
              <a:t>gradient</a:t>
            </a:r>
            <a:endParaRPr lang="es-ES" sz="1800" b="1" dirty="0">
              <a:latin typeface="Helvetica"/>
              <a:cs typeface="Helvetica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E974E99-1F0E-A5E3-45C4-D41C0A20AA7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6473"/>
          <a:stretch>
            <a:fillRect/>
          </a:stretch>
        </p:blipFill>
        <p:spPr>
          <a:xfrm>
            <a:off x="1524212" y="1776929"/>
            <a:ext cx="7529406" cy="3277367"/>
          </a:xfrm>
          <a:prstGeom prst="rect">
            <a:avLst/>
          </a:prstGeom>
        </p:spPr>
      </p:pic>
      <p:sp>
        <p:nvSpPr>
          <p:cNvPr id="5" name="CuadroTexto 10">
            <a:extLst>
              <a:ext uri="{FF2B5EF4-FFF2-40B4-BE49-F238E27FC236}">
                <a16:creationId xmlns:a16="http://schemas.microsoft.com/office/drawing/2014/main" id="{C39E252F-F3F3-99FB-0061-B54E73F554C0}"/>
              </a:ext>
            </a:extLst>
          </p:cNvPr>
          <p:cNvSpPr txBox="1"/>
          <p:nvPr/>
        </p:nvSpPr>
        <p:spPr>
          <a:xfrm>
            <a:off x="1082793" y="5054296"/>
            <a:ext cx="958499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742950" lvl="1" indent="-285750" algn="just">
              <a:buClr>
                <a:srgbClr val="218317"/>
              </a:buClr>
              <a:buFont typeface="Arial" panose="020B0604020202020204" pitchFamily="34" charset="0"/>
              <a:buChar char="•"/>
            </a:pPr>
            <a:r>
              <a:rPr lang="es-ES" sz="20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Higher</a:t>
            </a:r>
            <a:r>
              <a:rPr lang="es-ES" sz="2000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orthogonality</a:t>
            </a:r>
            <a:r>
              <a:rPr lang="es-ES" sz="2000" b="1" dirty="0">
                <a:latin typeface="Helvetica" panose="020B0604020202020204" pitchFamily="34" charset="0"/>
                <a:cs typeface="Helvetica" panose="020B0604020202020204" pitchFamily="34" charset="0"/>
              </a:rPr>
              <a:t> in non-</a:t>
            </a:r>
            <a:r>
              <a:rPr lang="es-ES" sz="20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declining</a:t>
            </a:r>
            <a:r>
              <a:rPr lang="es-ES" sz="2000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than</a:t>
            </a:r>
            <a:r>
              <a:rPr lang="es-ES" sz="2000" b="1" dirty="0">
                <a:latin typeface="Helvetica" panose="020B0604020202020204" pitchFamily="34" charset="0"/>
                <a:cs typeface="Helvetica" panose="020B0604020202020204" pitchFamily="34" charset="0"/>
              </a:rPr>
              <a:t> in </a:t>
            </a:r>
            <a:r>
              <a:rPr lang="es-ES" sz="20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declining</a:t>
            </a:r>
            <a:r>
              <a:rPr lang="es-ES" sz="2000" b="1" dirty="0">
                <a:latin typeface="Helvetica" panose="020B0604020202020204" pitchFamily="34" charset="0"/>
                <a:cs typeface="Helvetica" panose="020B0604020202020204" pitchFamily="34" charset="0"/>
              </a:rPr>
              <a:t> sites</a:t>
            </a:r>
          </a:p>
          <a:p>
            <a:pPr marL="742950" lvl="1" indent="-285750" algn="just">
              <a:buClr>
                <a:srgbClr val="218317"/>
              </a:buClr>
              <a:buFont typeface="Arial" panose="020B0604020202020204" pitchFamily="34" charset="0"/>
              <a:buChar char="•"/>
            </a:pPr>
            <a:r>
              <a:rPr lang="es-ES" sz="2000" b="1" dirty="0">
                <a:latin typeface="Helvetica" panose="020B0604020202020204" pitchFamily="34" charset="0"/>
                <a:cs typeface="Helvetica" panose="020B0604020202020204" pitchFamily="34" charset="0"/>
              </a:rPr>
              <a:t>Non-</a:t>
            </a:r>
            <a:r>
              <a:rPr lang="es-ES" sz="20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declining</a:t>
            </a:r>
            <a:r>
              <a:rPr lang="es-ES" sz="2000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more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concentrated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around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PC2 negative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values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, </a:t>
            </a:r>
            <a:r>
              <a:rPr lang="es-ES" sz="20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declining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around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positive PC1</a:t>
            </a:r>
            <a:endParaRPr lang="es-ES" sz="2000" dirty="0">
              <a:solidFill>
                <a:srgbClr val="2F5597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742950" lvl="1" indent="-285750" algn="just">
              <a:buClr>
                <a:srgbClr val="218317"/>
              </a:buClr>
              <a:buFont typeface="Arial" panose="020B0604020202020204" pitchFamily="34" charset="0"/>
              <a:buChar char="•"/>
            </a:pPr>
            <a:r>
              <a:rPr lang="es-ES" sz="2000" dirty="0">
                <a:solidFill>
                  <a:srgbClr val="2F5597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BAI 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/ </a:t>
            </a:r>
            <a:r>
              <a:rPr lang="el-GR" sz="2000" dirty="0">
                <a:solidFill>
                  <a:srgbClr val="C0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δ</a:t>
            </a:r>
            <a:r>
              <a:rPr lang="es-ES" sz="2000" baseline="30000" dirty="0">
                <a:solidFill>
                  <a:srgbClr val="C0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13</a:t>
            </a:r>
            <a:r>
              <a:rPr lang="es-ES" sz="2000" dirty="0">
                <a:solidFill>
                  <a:srgbClr val="C0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C, Rt12</a:t>
            </a:r>
          </a:p>
        </p:txBody>
      </p:sp>
    </p:spTree>
    <p:extLst>
      <p:ext uri="{BB962C8B-B14F-4D97-AF65-F5344CB8AC3E}">
        <p14:creationId xmlns:p14="http://schemas.microsoft.com/office/powerpoint/2010/main" val="396626924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F65259-178B-0DEA-4FFB-41A3B0FC81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>
            <a:extLst>
              <a:ext uri="{FF2B5EF4-FFF2-40B4-BE49-F238E27FC236}">
                <a16:creationId xmlns:a16="http://schemas.microsoft.com/office/drawing/2014/main" id="{53BF7C92-9F56-A55B-29D2-2825D4A466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88915" y="1477262"/>
            <a:ext cx="9366245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kumimoji="0" lang="es-ES" altLang="es-E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altLang="es-E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CA3AF12-B690-A7D6-A9FD-B790821183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690902" cy="804155"/>
          </a:xfrm>
          <a:solidFill>
            <a:srgbClr val="218317"/>
          </a:solidFill>
        </p:spPr>
        <p:txBody>
          <a:bodyPr>
            <a:normAutofit/>
          </a:bodyPr>
          <a:lstStyle/>
          <a:p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	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Preliminary</a:t>
            </a:r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results</a:t>
            </a:r>
            <a:endParaRPr lang="es-ES" sz="3200" b="1" dirty="0">
              <a:solidFill>
                <a:schemeClr val="bg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7BF416D5-592C-9B1C-CFE3-D83452035561}"/>
              </a:ext>
            </a:extLst>
          </p:cNvPr>
          <p:cNvSpPr txBox="1">
            <a:spLocks/>
          </p:cNvSpPr>
          <p:nvPr/>
        </p:nvSpPr>
        <p:spPr>
          <a:xfrm>
            <a:off x="9690902" y="-1"/>
            <a:ext cx="2501098" cy="804157"/>
          </a:xfrm>
          <a:prstGeom prst="rect">
            <a:avLst/>
          </a:prstGeom>
          <a:solidFill>
            <a:srgbClr val="218317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ES" sz="28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M&amp;M </a:t>
            </a:r>
            <a:r>
              <a:rPr lang="es-ES" sz="2800" b="1" dirty="0">
                <a:solidFill>
                  <a:srgbClr val="218317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.</a:t>
            </a:r>
          </a:p>
        </p:txBody>
      </p:sp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150AE5DD-0CB7-C762-5243-BBCA80BB48FB}"/>
              </a:ext>
            </a:extLst>
          </p:cNvPr>
          <p:cNvSpPr txBox="1">
            <a:spLocks/>
          </p:cNvSpPr>
          <p:nvPr/>
        </p:nvSpPr>
        <p:spPr>
          <a:xfrm>
            <a:off x="633461" y="1130598"/>
            <a:ext cx="11162299" cy="64633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ES" sz="1800" b="1" dirty="0" err="1">
                <a:latin typeface="Helvetica"/>
                <a:cs typeface="Helvetica"/>
              </a:rPr>
              <a:t>Obj</a:t>
            </a:r>
            <a:r>
              <a:rPr lang="es-ES" sz="1800" b="1" dirty="0">
                <a:latin typeface="Helvetica"/>
                <a:cs typeface="Helvetica"/>
              </a:rPr>
              <a:t>. 3.- </a:t>
            </a:r>
            <a:r>
              <a:rPr lang="es-ES" sz="1800" dirty="0" err="1">
                <a:latin typeface="Helvetica"/>
                <a:cs typeface="Helvetica"/>
              </a:rPr>
              <a:t>To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dirty="0" err="1">
                <a:latin typeface="Helvetica"/>
                <a:cs typeface="Helvetica"/>
              </a:rPr>
              <a:t>assess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dirty="0" err="1">
                <a:latin typeface="Helvetica"/>
                <a:cs typeface="Helvetica"/>
              </a:rPr>
              <a:t>how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dirty="0" err="1">
                <a:latin typeface="Helvetica"/>
                <a:cs typeface="Helvetica"/>
              </a:rPr>
              <a:t>underlying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dirty="0" err="1">
                <a:latin typeface="Helvetica"/>
                <a:cs typeface="Helvetica"/>
              </a:rPr>
              <a:t>mechanisms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dirty="0" err="1">
                <a:latin typeface="Helvetica"/>
                <a:cs typeface="Helvetica"/>
              </a:rPr>
              <a:t>behind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dirty="0" err="1">
                <a:solidFill>
                  <a:srgbClr val="FF0000"/>
                </a:solidFill>
                <a:latin typeface="Helvetica"/>
                <a:cs typeface="Helvetica"/>
              </a:rPr>
              <a:t>drought</a:t>
            </a:r>
            <a:r>
              <a:rPr lang="es-ES" sz="1800" dirty="0">
                <a:solidFill>
                  <a:srgbClr val="FF0000"/>
                </a:solidFill>
                <a:latin typeface="Helvetica"/>
                <a:cs typeface="Helvetica"/>
              </a:rPr>
              <a:t> </a:t>
            </a:r>
            <a:r>
              <a:rPr lang="es-ES" sz="1800" dirty="0" err="1">
                <a:solidFill>
                  <a:srgbClr val="FF0000"/>
                </a:solidFill>
                <a:latin typeface="Helvetica"/>
                <a:cs typeface="Helvetica"/>
              </a:rPr>
              <a:t>vulnerability</a:t>
            </a:r>
            <a:r>
              <a:rPr lang="es-ES" sz="1800" dirty="0">
                <a:solidFill>
                  <a:srgbClr val="FF0000"/>
                </a:solidFill>
                <a:latin typeface="Helvetica"/>
                <a:cs typeface="Helvetica"/>
              </a:rPr>
              <a:t> </a:t>
            </a:r>
            <a:r>
              <a:rPr lang="es-ES" sz="1800" dirty="0" err="1">
                <a:latin typeface="Helvetica"/>
                <a:cs typeface="Helvetica"/>
              </a:rPr>
              <a:t>vary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dirty="0" err="1">
                <a:latin typeface="Helvetica"/>
                <a:cs typeface="Helvetica"/>
              </a:rPr>
              <a:t>due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dirty="0" err="1">
                <a:latin typeface="Helvetica"/>
                <a:cs typeface="Helvetica"/>
              </a:rPr>
              <a:t>to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dirty="0" err="1">
                <a:latin typeface="Helvetica"/>
                <a:cs typeface="Helvetica"/>
              </a:rPr>
              <a:t>long-term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dirty="0" err="1">
                <a:latin typeface="Helvetica"/>
                <a:cs typeface="Helvetica"/>
              </a:rPr>
              <a:t>adaptations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dirty="0" err="1">
                <a:latin typeface="Helvetica"/>
                <a:cs typeface="Helvetica"/>
              </a:rPr>
              <a:t>along</a:t>
            </a:r>
            <a:r>
              <a:rPr lang="es-ES" sz="1800" dirty="0">
                <a:latin typeface="Helvetica"/>
                <a:cs typeface="Helvetica"/>
              </a:rPr>
              <a:t> a </a:t>
            </a:r>
            <a:r>
              <a:rPr lang="es-ES" sz="1800" dirty="0" err="1">
                <a:latin typeface="Helvetica"/>
                <a:cs typeface="Helvetica"/>
              </a:rPr>
              <a:t>moisture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dirty="0" err="1">
                <a:latin typeface="Helvetica"/>
                <a:cs typeface="Helvetica"/>
              </a:rPr>
              <a:t>gradient</a:t>
            </a:r>
            <a:endParaRPr lang="es-ES" sz="1800" b="1" dirty="0">
              <a:latin typeface="Helvetica"/>
              <a:cs typeface="Helvetica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ED0749B-C324-8962-0DD1-17872AB02BD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7592" y="1823925"/>
            <a:ext cx="3960316" cy="444990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480EA64-AF73-35F1-A9A0-6D1BBBA5A39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1253" y="1823925"/>
            <a:ext cx="3960316" cy="444990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4D748782-9BAD-B727-C1D1-0B87CB12FF1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34914" y="1800427"/>
            <a:ext cx="3960316" cy="44331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007768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5F4F8B-1BEE-52D9-EB06-A7BBD3FE2E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>
            <a:extLst>
              <a:ext uri="{FF2B5EF4-FFF2-40B4-BE49-F238E27FC236}">
                <a16:creationId xmlns:a16="http://schemas.microsoft.com/office/drawing/2014/main" id="{E91109CD-FA4E-9AF7-B972-E38B190FC7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88915" y="1477262"/>
            <a:ext cx="9366245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kumimoji="0" lang="es-ES" altLang="es-E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altLang="es-E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843F75E7-9067-958C-69F4-00C1AF6D92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690902" cy="804155"/>
          </a:xfrm>
          <a:solidFill>
            <a:srgbClr val="218317"/>
          </a:solidFill>
        </p:spPr>
        <p:txBody>
          <a:bodyPr>
            <a:normAutofit/>
          </a:bodyPr>
          <a:lstStyle/>
          <a:p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	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Preliminary</a:t>
            </a:r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results</a:t>
            </a:r>
            <a:endParaRPr lang="es-ES" sz="3200" b="1" dirty="0">
              <a:solidFill>
                <a:schemeClr val="bg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E8BD0FA7-1F33-65E2-7533-1E67EC687985}"/>
              </a:ext>
            </a:extLst>
          </p:cNvPr>
          <p:cNvSpPr txBox="1">
            <a:spLocks/>
          </p:cNvSpPr>
          <p:nvPr/>
        </p:nvSpPr>
        <p:spPr>
          <a:xfrm>
            <a:off x="9690902" y="-1"/>
            <a:ext cx="2501098" cy="804157"/>
          </a:xfrm>
          <a:prstGeom prst="rect">
            <a:avLst/>
          </a:prstGeom>
          <a:solidFill>
            <a:srgbClr val="218317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ES" sz="28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M&amp;M </a:t>
            </a:r>
            <a:r>
              <a:rPr lang="es-ES" sz="2800" b="1" dirty="0">
                <a:solidFill>
                  <a:srgbClr val="218317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.</a:t>
            </a:r>
          </a:p>
        </p:txBody>
      </p:sp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7CEEF58D-3933-A6B1-BBE1-08613DEFE4DF}"/>
              </a:ext>
            </a:extLst>
          </p:cNvPr>
          <p:cNvSpPr txBox="1">
            <a:spLocks/>
          </p:cNvSpPr>
          <p:nvPr/>
        </p:nvSpPr>
        <p:spPr>
          <a:xfrm>
            <a:off x="633461" y="1130598"/>
            <a:ext cx="11162299" cy="64633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ES" sz="1800" b="1" dirty="0" err="1">
                <a:latin typeface="Helvetica"/>
                <a:cs typeface="Helvetica"/>
              </a:rPr>
              <a:t>Obj</a:t>
            </a:r>
            <a:r>
              <a:rPr lang="es-ES" sz="1800" b="1" dirty="0">
                <a:latin typeface="Helvetica"/>
                <a:cs typeface="Helvetica"/>
              </a:rPr>
              <a:t>. 3.- </a:t>
            </a:r>
            <a:r>
              <a:rPr lang="es-ES" sz="1800" dirty="0" err="1">
                <a:latin typeface="Helvetica"/>
                <a:cs typeface="Helvetica"/>
              </a:rPr>
              <a:t>To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dirty="0" err="1">
                <a:latin typeface="Helvetica"/>
                <a:cs typeface="Helvetica"/>
              </a:rPr>
              <a:t>assess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dirty="0" err="1">
                <a:latin typeface="Helvetica"/>
                <a:cs typeface="Helvetica"/>
              </a:rPr>
              <a:t>how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dirty="0" err="1">
                <a:latin typeface="Helvetica"/>
                <a:cs typeface="Helvetica"/>
              </a:rPr>
              <a:t>underlying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dirty="0" err="1">
                <a:latin typeface="Helvetica"/>
                <a:cs typeface="Helvetica"/>
              </a:rPr>
              <a:t>mechanisms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dirty="0" err="1">
                <a:latin typeface="Helvetica"/>
                <a:cs typeface="Helvetica"/>
              </a:rPr>
              <a:t>behind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dirty="0" err="1">
                <a:solidFill>
                  <a:srgbClr val="FF0000"/>
                </a:solidFill>
                <a:latin typeface="Helvetica"/>
                <a:cs typeface="Helvetica"/>
              </a:rPr>
              <a:t>drought</a:t>
            </a:r>
            <a:r>
              <a:rPr lang="es-ES" sz="1800" dirty="0">
                <a:solidFill>
                  <a:srgbClr val="FF0000"/>
                </a:solidFill>
                <a:latin typeface="Helvetica"/>
                <a:cs typeface="Helvetica"/>
              </a:rPr>
              <a:t> </a:t>
            </a:r>
            <a:r>
              <a:rPr lang="es-ES" sz="1800" dirty="0" err="1">
                <a:solidFill>
                  <a:srgbClr val="FF0000"/>
                </a:solidFill>
                <a:latin typeface="Helvetica"/>
                <a:cs typeface="Helvetica"/>
              </a:rPr>
              <a:t>vulnerability</a:t>
            </a:r>
            <a:r>
              <a:rPr lang="es-ES" sz="1800" dirty="0">
                <a:solidFill>
                  <a:srgbClr val="FF0000"/>
                </a:solidFill>
                <a:latin typeface="Helvetica"/>
                <a:cs typeface="Helvetica"/>
              </a:rPr>
              <a:t> </a:t>
            </a:r>
            <a:r>
              <a:rPr lang="es-ES" sz="1800" dirty="0" err="1">
                <a:latin typeface="Helvetica"/>
                <a:cs typeface="Helvetica"/>
              </a:rPr>
              <a:t>vary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dirty="0" err="1">
                <a:latin typeface="Helvetica"/>
                <a:cs typeface="Helvetica"/>
              </a:rPr>
              <a:t>due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dirty="0" err="1">
                <a:latin typeface="Helvetica"/>
                <a:cs typeface="Helvetica"/>
              </a:rPr>
              <a:t>to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dirty="0" err="1">
                <a:latin typeface="Helvetica"/>
                <a:cs typeface="Helvetica"/>
              </a:rPr>
              <a:t>long-term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dirty="0" err="1">
                <a:latin typeface="Helvetica"/>
                <a:cs typeface="Helvetica"/>
              </a:rPr>
              <a:t>adaptations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dirty="0" err="1">
                <a:latin typeface="Helvetica"/>
                <a:cs typeface="Helvetica"/>
              </a:rPr>
              <a:t>along</a:t>
            </a:r>
            <a:r>
              <a:rPr lang="es-ES" sz="1800" dirty="0">
                <a:latin typeface="Helvetica"/>
                <a:cs typeface="Helvetica"/>
              </a:rPr>
              <a:t> a </a:t>
            </a:r>
            <a:r>
              <a:rPr lang="es-ES" sz="1800" dirty="0" err="1">
                <a:latin typeface="Helvetica"/>
                <a:cs typeface="Helvetica"/>
              </a:rPr>
              <a:t>moisture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dirty="0" err="1">
                <a:latin typeface="Helvetica"/>
                <a:cs typeface="Helvetica"/>
              </a:rPr>
              <a:t>gradient</a:t>
            </a:r>
            <a:endParaRPr lang="es-ES" sz="1800" b="1" dirty="0">
              <a:latin typeface="Helvetica"/>
              <a:cs typeface="Helvetica"/>
            </a:endParaRPr>
          </a:p>
        </p:txBody>
      </p:sp>
      <p:sp>
        <p:nvSpPr>
          <p:cNvPr id="101" name="Marcador de contenido 2">
            <a:extLst>
              <a:ext uri="{FF2B5EF4-FFF2-40B4-BE49-F238E27FC236}">
                <a16:creationId xmlns:a16="http://schemas.microsoft.com/office/drawing/2014/main" id="{3AC7793B-6346-909E-0D70-DE6E141A4D2E}"/>
              </a:ext>
            </a:extLst>
          </p:cNvPr>
          <p:cNvSpPr txBox="1">
            <a:spLocks/>
          </p:cNvSpPr>
          <p:nvPr/>
        </p:nvSpPr>
        <p:spPr>
          <a:xfrm>
            <a:off x="2407860" y="2643576"/>
            <a:ext cx="2179380" cy="49586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Clr>
                <a:srgbClr val="218317"/>
              </a:buClr>
              <a:buNone/>
            </a:pPr>
            <a:r>
              <a:rPr lang="es-ES" sz="2400" dirty="0">
                <a:latin typeface="Helvetica"/>
                <a:cs typeface="Helvetica"/>
              </a:rPr>
              <a:t>GLM?</a:t>
            </a:r>
            <a:endParaRPr lang="es-ES" sz="20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lvl="1" algn="ctr">
              <a:buClr>
                <a:srgbClr val="218317"/>
              </a:buClr>
              <a:buFont typeface="Calibri" panose="02070309020205020404" pitchFamily="49" charset="0"/>
              <a:buChar char="-"/>
            </a:pPr>
            <a:endParaRPr lang="es-ES" sz="20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algn="ctr"/>
            <a:endParaRPr lang="es-ES" sz="24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02" name="Marcador de contenido 2">
            <a:extLst>
              <a:ext uri="{FF2B5EF4-FFF2-40B4-BE49-F238E27FC236}">
                <a16:creationId xmlns:a16="http://schemas.microsoft.com/office/drawing/2014/main" id="{1D220480-4BFC-1D9B-5029-4284165E7AD0}"/>
              </a:ext>
            </a:extLst>
          </p:cNvPr>
          <p:cNvSpPr txBox="1">
            <a:spLocks/>
          </p:cNvSpPr>
          <p:nvPr/>
        </p:nvSpPr>
        <p:spPr>
          <a:xfrm>
            <a:off x="7924740" y="2643576"/>
            <a:ext cx="2179380" cy="49586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Clr>
                <a:srgbClr val="218317"/>
              </a:buClr>
              <a:buNone/>
            </a:pPr>
            <a:r>
              <a:rPr lang="es-ES" sz="2400" b="1" dirty="0">
                <a:latin typeface="Helvetica"/>
                <a:cs typeface="Helvetica"/>
              </a:rPr>
              <a:t>SEM?</a:t>
            </a:r>
            <a:endParaRPr lang="es-ES" sz="20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lvl="1" algn="ctr">
              <a:buClr>
                <a:srgbClr val="218317"/>
              </a:buClr>
              <a:buFont typeface="Calibri" panose="02070309020205020404" pitchFamily="49" charset="0"/>
              <a:buChar char="-"/>
            </a:pPr>
            <a:endParaRPr lang="es-ES" sz="20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algn="ctr"/>
            <a:endParaRPr lang="es-ES" sz="24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grpSp>
        <p:nvGrpSpPr>
          <p:cNvPr id="103" name="Grupo 2">
            <a:extLst>
              <a:ext uri="{FF2B5EF4-FFF2-40B4-BE49-F238E27FC236}">
                <a16:creationId xmlns:a16="http://schemas.microsoft.com/office/drawing/2014/main" id="{A71C39C2-B922-EC60-37B8-4197DDDEB311}"/>
              </a:ext>
            </a:extLst>
          </p:cNvPr>
          <p:cNvGrpSpPr/>
          <p:nvPr/>
        </p:nvGrpSpPr>
        <p:grpSpPr>
          <a:xfrm>
            <a:off x="7275553" y="3429000"/>
            <a:ext cx="3477754" cy="1250117"/>
            <a:chOff x="1139560" y="5095351"/>
            <a:chExt cx="3477754" cy="1250117"/>
          </a:xfrm>
        </p:grpSpPr>
        <p:pic>
          <p:nvPicPr>
            <p:cNvPr id="104" name="Imagen 4">
              <a:extLst>
                <a:ext uri="{FF2B5EF4-FFF2-40B4-BE49-F238E27FC236}">
                  <a16:creationId xmlns:a16="http://schemas.microsoft.com/office/drawing/2014/main" id="{5E44B980-6F3A-E7AD-9E03-28074ADE35C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b="57655"/>
            <a:stretch/>
          </p:blipFill>
          <p:spPr>
            <a:xfrm>
              <a:off x="1139560" y="5095351"/>
              <a:ext cx="3477754" cy="1250117"/>
            </a:xfrm>
            <a:prstGeom prst="rect">
              <a:avLst/>
            </a:prstGeom>
          </p:spPr>
        </p:pic>
        <p:sp>
          <p:nvSpPr>
            <p:cNvPr id="105" name="CuadroTexto 5">
              <a:extLst>
                <a:ext uri="{FF2B5EF4-FFF2-40B4-BE49-F238E27FC236}">
                  <a16:creationId xmlns:a16="http://schemas.microsoft.com/office/drawing/2014/main" id="{B7F97F80-303C-AE69-190F-953E36464FD7}"/>
                </a:ext>
              </a:extLst>
            </p:cNvPr>
            <p:cNvSpPr txBox="1"/>
            <p:nvPr/>
          </p:nvSpPr>
          <p:spPr>
            <a:xfrm>
              <a:off x="1609302" y="5843116"/>
              <a:ext cx="1132041" cy="292388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s-ES" sz="1300" dirty="0">
                  <a:solidFill>
                    <a:srgbClr val="2F5597"/>
                  </a:solidFill>
                </a:rPr>
                <a:t>Non-</a:t>
              </a:r>
              <a:r>
                <a:rPr lang="es-ES" sz="1300" dirty="0" err="1">
                  <a:solidFill>
                    <a:srgbClr val="2F5597"/>
                  </a:solidFill>
                </a:rPr>
                <a:t>declining</a:t>
              </a:r>
              <a:endParaRPr lang="es-ES" sz="1300" dirty="0">
                <a:solidFill>
                  <a:srgbClr val="2F5597"/>
                </a:solidFill>
              </a:endParaRPr>
            </a:p>
          </p:txBody>
        </p:sp>
        <p:sp>
          <p:nvSpPr>
            <p:cNvPr id="106" name="CuadroTexto 6">
              <a:extLst>
                <a:ext uri="{FF2B5EF4-FFF2-40B4-BE49-F238E27FC236}">
                  <a16:creationId xmlns:a16="http://schemas.microsoft.com/office/drawing/2014/main" id="{C581EE06-F26E-0237-FBB8-ACC8A8C097B1}"/>
                </a:ext>
              </a:extLst>
            </p:cNvPr>
            <p:cNvSpPr txBox="1"/>
            <p:nvPr/>
          </p:nvSpPr>
          <p:spPr>
            <a:xfrm>
              <a:off x="3151746" y="5843116"/>
              <a:ext cx="811441" cy="292388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s-ES" sz="1300" dirty="0" err="1">
                  <a:solidFill>
                    <a:srgbClr val="C00000"/>
                  </a:solidFill>
                </a:rPr>
                <a:t>Declining</a:t>
              </a:r>
              <a:endParaRPr lang="es-ES" sz="1300" dirty="0">
                <a:solidFill>
                  <a:srgbClr val="C00000"/>
                </a:solidFill>
              </a:endParaRPr>
            </a:p>
          </p:txBody>
        </p:sp>
      </p:grpSp>
      <p:sp>
        <p:nvSpPr>
          <p:cNvPr id="107" name="Marcador de contenido 2">
            <a:extLst>
              <a:ext uri="{FF2B5EF4-FFF2-40B4-BE49-F238E27FC236}">
                <a16:creationId xmlns:a16="http://schemas.microsoft.com/office/drawing/2014/main" id="{4FE96E70-0C70-8FFB-2D33-B4DA52F8AB87}"/>
              </a:ext>
            </a:extLst>
          </p:cNvPr>
          <p:cNvSpPr txBox="1">
            <a:spLocks/>
          </p:cNvSpPr>
          <p:nvPr/>
        </p:nvSpPr>
        <p:spPr>
          <a:xfrm>
            <a:off x="633460" y="4221220"/>
            <a:ext cx="6231690" cy="150618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buClr>
                <a:srgbClr val="218317"/>
              </a:buClr>
            </a:pPr>
            <a:r>
              <a:rPr lang="es-ES" sz="2400" dirty="0" err="1">
                <a:latin typeface="Helvetica"/>
                <a:cs typeface="Helvetica"/>
              </a:rPr>
              <a:t>Changes</a:t>
            </a:r>
            <a:r>
              <a:rPr lang="es-ES" sz="2400" dirty="0">
                <a:latin typeface="Helvetica"/>
                <a:cs typeface="Helvetica"/>
              </a:rPr>
              <a:t> in SEM </a:t>
            </a:r>
            <a:r>
              <a:rPr lang="es-ES" sz="2400" b="1" dirty="0" err="1">
                <a:latin typeface="Helvetica"/>
                <a:cs typeface="Helvetica"/>
              </a:rPr>
              <a:t>pathways</a:t>
            </a:r>
            <a:r>
              <a:rPr lang="es-ES" sz="2400" dirty="0">
                <a:latin typeface="Helvetica"/>
                <a:cs typeface="Helvetica"/>
              </a:rPr>
              <a:t> </a:t>
            </a:r>
            <a:r>
              <a:rPr lang="es-ES" sz="2400" dirty="0">
                <a:latin typeface="Helvetica"/>
                <a:cs typeface="Helvetica"/>
                <a:sym typeface="Wingdings" panose="05000000000000000000" pitchFamily="2" charset="2"/>
              </a:rPr>
              <a:t> </a:t>
            </a:r>
            <a:r>
              <a:rPr lang="es-ES" sz="2400" dirty="0" err="1">
                <a:latin typeface="Helvetica"/>
                <a:cs typeface="Helvetica"/>
                <a:sym typeface="Wingdings" panose="05000000000000000000" pitchFamily="2" charset="2"/>
              </a:rPr>
              <a:t>different</a:t>
            </a:r>
            <a:r>
              <a:rPr lang="es-ES" sz="2400" dirty="0">
                <a:latin typeface="Helvetica"/>
                <a:cs typeface="Helvetica"/>
                <a:sym typeface="Wingdings" panose="05000000000000000000" pitchFamily="2" charset="2"/>
              </a:rPr>
              <a:t> </a:t>
            </a:r>
            <a:r>
              <a:rPr lang="es-ES" sz="2400" dirty="0" err="1">
                <a:latin typeface="Helvetica"/>
                <a:cs typeface="Helvetica"/>
                <a:sym typeface="Wingdings" panose="05000000000000000000" pitchFamily="2" charset="2"/>
              </a:rPr>
              <a:t>physiological</a:t>
            </a:r>
            <a:r>
              <a:rPr lang="es-ES" sz="2400" dirty="0">
                <a:latin typeface="Helvetica"/>
                <a:cs typeface="Helvetica"/>
                <a:sym typeface="Wingdings" panose="05000000000000000000" pitchFamily="2" charset="2"/>
              </a:rPr>
              <a:t> </a:t>
            </a:r>
            <a:r>
              <a:rPr lang="es-ES" sz="2400" b="1" dirty="0" err="1">
                <a:latin typeface="Helvetica"/>
                <a:cs typeface="Helvetica"/>
                <a:sym typeface="Wingdings" panose="05000000000000000000" pitchFamily="2" charset="2"/>
              </a:rPr>
              <a:t>processes</a:t>
            </a:r>
            <a:r>
              <a:rPr lang="es-ES" sz="2400" dirty="0">
                <a:latin typeface="Helvetica"/>
                <a:cs typeface="Helvetica"/>
                <a:sym typeface="Wingdings" panose="05000000000000000000" pitchFamily="2" charset="2"/>
              </a:rPr>
              <a:t> in D vs. ND</a:t>
            </a:r>
          </a:p>
          <a:p>
            <a:pPr algn="just">
              <a:buClr>
                <a:srgbClr val="218317"/>
              </a:buClr>
            </a:pPr>
            <a:r>
              <a:rPr lang="es-ES" sz="2400" dirty="0">
                <a:latin typeface="Helvetica"/>
                <a:cs typeface="Helvetica"/>
                <a:sym typeface="Wingdings" panose="05000000000000000000" pitchFamily="2" charset="2"/>
              </a:rPr>
              <a:t>Variables </a:t>
            </a:r>
            <a:r>
              <a:rPr lang="es-ES" sz="2400" b="1" dirty="0" err="1">
                <a:latin typeface="Helvetica"/>
                <a:cs typeface="Helvetica"/>
                <a:sym typeface="Wingdings" panose="05000000000000000000" pitchFamily="2" charset="2"/>
              </a:rPr>
              <a:t>relationships</a:t>
            </a:r>
            <a:endParaRPr lang="es-ES" sz="2000" b="1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lvl="1" algn="just">
              <a:buClr>
                <a:srgbClr val="218317"/>
              </a:buClr>
              <a:buFont typeface="Calibri" panose="02070309020205020404" pitchFamily="49" charset="0"/>
              <a:buChar char="-"/>
            </a:pPr>
            <a:endParaRPr lang="es-ES" sz="20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algn="just"/>
            <a:endParaRPr lang="es-ES" sz="24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08" name="Signo de multiplicación 18">
            <a:extLst>
              <a:ext uri="{FF2B5EF4-FFF2-40B4-BE49-F238E27FC236}">
                <a16:creationId xmlns:a16="http://schemas.microsoft.com/office/drawing/2014/main" id="{B367929E-6404-DD1F-DEF1-7CA4B457D36C}"/>
              </a:ext>
            </a:extLst>
          </p:cNvPr>
          <p:cNvSpPr/>
          <p:nvPr/>
        </p:nvSpPr>
        <p:spPr>
          <a:xfrm>
            <a:off x="2918816" y="2196989"/>
            <a:ext cx="1157468" cy="1323439"/>
          </a:xfrm>
          <a:prstGeom prst="mathMultiply">
            <a:avLst>
              <a:gd name="adj1" fmla="val 9390"/>
            </a:avLst>
          </a:prstGeom>
          <a:solidFill>
            <a:srgbClr val="21831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82254223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598CAA-7B73-8A37-6716-C48ABCAA6E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>
            <a:extLst>
              <a:ext uri="{FF2B5EF4-FFF2-40B4-BE49-F238E27FC236}">
                <a16:creationId xmlns:a16="http://schemas.microsoft.com/office/drawing/2014/main" id="{C7867981-5F76-23DC-E606-5CDED27EE6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88915" y="1477262"/>
            <a:ext cx="9366245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kumimoji="0" lang="es-ES" altLang="es-E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altLang="es-E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108ADC9-7EBB-50F1-1929-F5909017EB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690902" cy="804155"/>
          </a:xfrm>
          <a:solidFill>
            <a:srgbClr val="218317"/>
          </a:solidFill>
        </p:spPr>
        <p:txBody>
          <a:bodyPr>
            <a:normAutofit/>
          </a:bodyPr>
          <a:lstStyle/>
          <a:p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	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Preliminary</a:t>
            </a:r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results</a:t>
            </a:r>
            <a:endParaRPr lang="es-ES" sz="3200" b="1" dirty="0">
              <a:solidFill>
                <a:schemeClr val="bg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4BA85501-43CA-EFCD-123C-307D807A6467}"/>
              </a:ext>
            </a:extLst>
          </p:cNvPr>
          <p:cNvSpPr txBox="1">
            <a:spLocks/>
          </p:cNvSpPr>
          <p:nvPr/>
        </p:nvSpPr>
        <p:spPr>
          <a:xfrm>
            <a:off x="9690902" y="-1"/>
            <a:ext cx="2501098" cy="804157"/>
          </a:xfrm>
          <a:prstGeom prst="rect">
            <a:avLst/>
          </a:prstGeom>
          <a:solidFill>
            <a:srgbClr val="218317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ES" sz="28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M&amp;M </a:t>
            </a:r>
            <a:r>
              <a:rPr lang="es-ES" sz="2800" b="1" dirty="0">
                <a:solidFill>
                  <a:srgbClr val="218317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.</a:t>
            </a:r>
          </a:p>
        </p:txBody>
      </p:sp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AB11F9D0-E8AD-CA46-9122-ED6DDF76FA2E}"/>
              </a:ext>
            </a:extLst>
          </p:cNvPr>
          <p:cNvSpPr txBox="1">
            <a:spLocks/>
          </p:cNvSpPr>
          <p:nvPr/>
        </p:nvSpPr>
        <p:spPr>
          <a:xfrm>
            <a:off x="633461" y="1130598"/>
            <a:ext cx="11162299" cy="64633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ES" sz="1800" b="1" dirty="0" err="1">
                <a:latin typeface="Helvetica"/>
                <a:cs typeface="Helvetica"/>
              </a:rPr>
              <a:t>Obj</a:t>
            </a:r>
            <a:r>
              <a:rPr lang="es-ES" sz="1800" b="1" dirty="0">
                <a:latin typeface="Helvetica"/>
                <a:cs typeface="Helvetica"/>
              </a:rPr>
              <a:t>. 3.- </a:t>
            </a:r>
            <a:r>
              <a:rPr lang="es-ES" sz="1800" dirty="0" err="1">
                <a:latin typeface="Helvetica"/>
                <a:cs typeface="Helvetica"/>
              </a:rPr>
              <a:t>To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dirty="0" err="1">
                <a:latin typeface="Helvetica"/>
                <a:cs typeface="Helvetica"/>
              </a:rPr>
              <a:t>assess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dirty="0" err="1">
                <a:latin typeface="Helvetica"/>
                <a:cs typeface="Helvetica"/>
              </a:rPr>
              <a:t>how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dirty="0" err="1">
                <a:latin typeface="Helvetica"/>
                <a:cs typeface="Helvetica"/>
              </a:rPr>
              <a:t>underlying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dirty="0" err="1">
                <a:latin typeface="Helvetica"/>
                <a:cs typeface="Helvetica"/>
              </a:rPr>
              <a:t>mechanisms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dirty="0" err="1">
                <a:latin typeface="Helvetica"/>
                <a:cs typeface="Helvetica"/>
              </a:rPr>
              <a:t>behind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dirty="0" err="1">
                <a:solidFill>
                  <a:srgbClr val="FF0000"/>
                </a:solidFill>
                <a:latin typeface="Helvetica"/>
                <a:cs typeface="Helvetica"/>
              </a:rPr>
              <a:t>drought</a:t>
            </a:r>
            <a:r>
              <a:rPr lang="es-ES" sz="1800" dirty="0">
                <a:solidFill>
                  <a:srgbClr val="FF0000"/>
                </a:solidFill>
                <a:latin typeface="Helvetica"/>
                <a:cs typeface="Helvetica"/>
              </a:rPr>
              <a:t> </a:t>
            </a:r>
            <a:r>
              <a:rPr lang="es-ES" sz="1800" dirty="0" err="1">
                <a:solidFill>
                  <a:srgbClr val="FF0000"/>
                </a:solidFill>
                <a:latin typeface="Helvetica"/>
                <a:cs typeface="Helvetica"/>
              </a:rPr>
              <a:t>vulnerability</a:t>
            </a:r>
            <a:r>
              <a:rPr lang="es-ES" sz="1800" dirty="0">
                <a:solidFill>
                  <a:srgbClr val="FF0000"/>
                </a:solidFill>
                <a:latin typeface="Helvetica"/>
                <a:cs typeface="Helvetica"/>
              </a:rPr>
              <a:t> </a:t>
            </a:r>
            <a:r>
              <a:rPr lang="es-ES" sz="1800" dirty="0" err="1">
                <a:latin typeface="Helvetica"/>
                <a:cs typeface="Helvetica"/>
              </a:rPr>
              <a:t>vary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dirty="0" err="1">
                <a:latin typeface="Helvetica"/>
                <a:cs typeface="Helvetica"/>
              </a:rPr>
              <a:t>due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dirty="0" err="1">
                <a:latin typeface="Helvetica"/>
                <a:cs typeface="Helvetica"/>
              </a:rPr>
              <a:t>to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dirty="0" err="1">
                <a:latin typeface="Helvetica"/>
                <a:cs typeface="Helvetica"/>
              </a:rPr>
              <a:t>long-term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dirty="0" err="1">
                <a:latin typeface="Helvetica"/>
                <a:cs typeface="Helvetica"/>
              </a:rPr>
              <a:t>adaptations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dirty="0" err="1">
                <a:latin typeface="Helvetica"/>
                <a:cs typeface="Helvetica"/>
              </a:rPr>
              <a:t>along</a:t>
            </a:r>
            <a:r>
              <a:rPr lang="es-ES" sz="1800" dirty="0">
                <a:latin typeface="Helvetica"/>
                <a:cs typeface="Helvetica"/>
              </a:rPr>
              <a:t> a </a:t>
            </a:r>
            <a:r>
              <a:rPr lang="es-ES" sz="1800" dirty="0" err="1">
                <a:latin typeface="Helvetica"/>
                <a:cs typeface="Helvetica"/>
              </a:rPr>
              <a:t>moisture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dirty="0" err="1">
                <a:latin typeface="Helvetica"/>
                <a:cs typeface="Helvetica"/>
              </a:rPr>
              <a:t>gradient</a:t>
            </a:r>
            <a:endParaRPr lang="es-ES" sz="1800" b="1" dirty="0">
              <a:latin typeface="Helvetica"/>
              <a:cs typeface="Helvetica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F7F8412-D90C-5294-E6D4-AB5BBAEA6D55}"/>
              </a:ext>
            </a:extLst>
          </p:cNvPr>
          <p:cNvSpPr/>
          <p:nvPr/>
        </p:nvSpPr>
        <p:spPr>
          <a:xfrm>
            <a:off x="2823881" y="1947643"/>
            <a:ext cx="6106110" cy="476172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b="1" dirty="0">
                <a:latin typeface="Helvetica" panose="020B0604020202020204"/>
                <a:cs typeface="Helvetica" panose="020B0604020202020204"/>
              </a:rPr>
              <a:t>SPEI, TEMP.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6AF0A82-E298-C6BA-D660-6A75F845B2F1}"/>
              </a:ext>
            </a:extLst>
          </p:cNvPr>
          <p:cNvSpPr/>
          <p:nvPr/>
        </p:nvSpPr>
        <p:spPr>
          <a:xfrm>
            <a:off x="5411438" y="3316958"/>
            <a:ext cx="930996" cy="476172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l-GR" b="1" dirty="0">
                <a:latin typeface="Helvetica" panose="020B0604020202020204"/>
                <a:cs typeface="Helvetica" panose="020B0604020202020204"/>
              </a:rPr>
              <a:t>δ</a:t>
            </a:r>
            <a:r>
              <a:rPr lang="es-ES" b="1" baseline="30000" dirty="0">
                <a:latin typeface="Helvetica" panose="020B0604020202020204"/>
                <a:cs typeface="Helvetica" panose="020B0604020202020204"/>
              </a:rPr>
              <a:t>13</a:t>
            </a:r>
            <a:r>
              <a:rPr lang="es-ES" b="1" dirty="0">
                <a:latin typeface="Helvetica" panose="020B0604020202020204"/>
                <a:cs typeface="Helvetica" panose="020B0604020202020204"/>
              </a:rPr>
              <a:t>C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4641A9A-AB93-703A-3F2F-A00A04AF3607}"/>
              </a:ext>
            </a:extLst>
          </p:cNvPr>
          <p:cNvSpPr/>
          <p:nvPr/>
        </p:nvSpPr>
        <p:spPr>
          <a:xfrm>
            <a:off x="7998995" y="3288916"/>
            <a:ext cx="930996" cy="476172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l-GR" b="1" dirty="0">
                <a:latin typeface="Helvetica" panose="020B0604020202020204"/>
                <a:cs typeface="Helvetica" panose="020B0604020202020204"/>
              </a:rPr>
              <a:t>δ</a:t>
            </a:r>
            <a:r>
              <a:rPr lang="es-ES" b="1" baseline="30000" dirty="0">
                <a:latin typeface="Helvetica" panose="020B0604020202020204"/>
                <a:cs typeface="Helvetica" panose="020B0604020202020204"/>
              </a:rPr>
              <a:t>15</a:t>
            </a:r>
            <a:r>
              <a:rPr lang="es-ES" b="1" dirty="0">
                <a:latin typeface="Helvetica" panose="020B0604020202020204"/>
                <a:cs typeface="Helvetica" panose="020B0604020202020204"/>
              </a:rPr>
              <a:t>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7B3C5FE-2D5F-A191-35C9-8E2EAD6CF2C5}"/>
              </a:ext>
            </a:extLst>
          </p:cNvPr>
          <p:cNvSpPr/>
          <p:nvPr/>
        </p:nvSpPr>
        <p:spPr>
          <a:xfrm>
            <a:off x="3072328" y="4403137"/>
            <a:ext cx="930996" cy="476172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b="1" dirty="0">
                <a:latin typeface="Helvetica" panose="020B0604020202020204"/>
                <a:cs typeface="Helvetica" panose="020B0604020202020204"/>
              </a:rPr>
              <a:t>Age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BF5FF3E-8CAC-F9F0-55BB-9243931BF307}"/>
              </a:ext>
            </a:extLst>
          </p:cNvPr>
          <p:cNvSpPr/>
          <p:nvPr/>
        </p:nvSpPr>
        <p:spPr>
          <a:xfrm>
            <a:off x="1193492" y="4403137"/>
            <a:ext cx="930996" cy="476172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b="1" dirty="0" err="1">
                <a:latin typeface="Helvetica" panose="020B0604020202020204"/>
                <a:cs typeface="Helvetica" panose="020B0604020202020204"/>
              </a:rPr>
              <a:t>Height</a:t>
            </a:r>
            <a:endParaRPr lang="es-ES" b="1" dirty="0">
              <a:latin typeface="Helvetica" panose="020B0604020202020204"/>
              <a:cs typeface="Helvetica" panose="020B0604020202020204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3364021-A0EA-94C1-F57E-91F3ADE25ADB}"/>
              </a:ext>
            </a:extLst>
          </p:cNvPr>
          <p:cNvSpPr/>
          <p:nvPr/>
        </p:nvSpPr>
        <p:spPr>
          <a:xfrm>
            <a:off x="2746915" y="3316958"/>
            <a:ext cx="930996" cy="476172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b="1" dirty="0">
                <a:latin typeface="Helvetica" panose="020B0604020202020204"/>
                <a:cs typeface="Helvetica" panose="020B0604020202020204"/>
              </a:rPr>
              <a:t>RWC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64D3892-4914-33F1-531A-B80FB9E49D5D}"/>
              </a:ext>
            </a:extLst>
          </p:cNvPr>
          <p:cNvSpPr/>
          <p:nvPr/>
        </p:nvSpPr>
        <p:spPr>
          <a:xfrm>
            <a:off x="5411438" y="4478685"/>
            <a:ext cx="930996" cy="476172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b="1" dirty="0" err="1">
                <a:latin typeface="Helvetica" panose="020B0604020202020204"/>
                <a:cs typeface="Helvetica" panose="020B0604020202020204"/>
              </a:rPr>
              <a:t>Chl</a:t>
            </a:r>
            <a:r>
              <a:rPr lang="es-ES" b="1" dirty="0">
                <a:latin typeface="Helvetica" panose="020B0604020202020204"/>
                <a:cs typeface="Helvetica" panose="020B0604020202020204"/>
              </a:rPr>
              <a:t>/</a:t>
            </a:r>
            <a:r>
              <a:rPr lang="es-ES" b="1" dirty="0" err="1">
                <a:latin typeface="Helvetica" panose="020B0604020202020204"/>
                <a:cs typeface="Helvetica" panose="020B0604020202020204"/>
              </a:rPr>
              <a:t>xc</a:t>
            </a:r>
            <a:endParaRPr lang="es-ES" b="1" dirty="0">
              <a:latin typeface="Helvetica" panose="020B0604020202020204"/>
              <a:cs typeface="Helvetica" panose="020B0604020202020204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3FDA849-6A0B-E94C-9A97-047675BFA308}"/>
              </a:ext>
            </a:extLst>
          </p:cNvPr>
          <p:cNvSpPr/>
          <p:nvPr/>
        </p:nvSpPr>
        <p:spPr>
          <a:xfrm>
            <a:off x="3072328" y="5727402"/>
            <a:ext cx="930996" cy="476172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b="1" dirty="0">
                <a:latin typeface="Helvetica" panose="020B0604020202020204"/>
                <a:cs typeface="Helvetica" panose="020B0604020202020204"/>
              </a:rPr>
              <a:t>BAI80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C375F59-5C32-265B-889E-520B7763DD6C}"/>
              </a:ext>
            </a:extLst>
          </p:cNvPr>
          <p:cNvSpPr/>
          <p:nvPr/>
        </p:nvSpPr>
        <p:spPr>
          <a:xfrm>
            <a:off x="7170714" y="5727402"/>
            <a:ext cx="1368358" cy="476172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b="1" dirty="0" err="1">
                <a:latin typeface="Helvetica" panose="020B0604020202020204"/>
                <a:cs typeface="Helvetica" panose="020B0604020202020204"/>
              </a:rPr>
              <a:t>Defoliation</a:t>
            </a:r>
            <a:endParaRPr lang="es-ES" b="1" dirty="0">
              <a:latin typeface="Helvetica" panose="020B0604020202020204"/>
              <a:cs typeface="Helvetica" panose="020B0604020202020204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87AE41B-9024-37F4-8B61-4107D42EC552}"/>
              </a:ext>
            </a:extLst>
          </p:cNvPr>
          <p:cNvSpPr/>
          <p:nvPr/>
        </p:nvSpPr>
        <p:spPr>
          <a:xfrm>
            <a:off x="5411438" y="5727402"/>
            <a:ext cx="930996" cy="476172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b="1" dirty="0" err="1">
                <a:latin typeface="Helvetica" panose="020B0604020202020204"/>
                <a:cs typeface="Helvetica" panose="020B0604020202020204"/>
              </a:rPr>
              <a:t>Rt</a:t>
            </a:r>
            <a:r>
              <a:rPr lang="es-ES" b="1" dirty="0">
                <a:latin typeface="Helvetica" panose="020B0604020202020204"/>
                <a:cs typeface="Helvetica" panose="020B0604020202020204"/>
              </a:rPr>
              <a:t>, </a:t>
            </a:r>
            <a:r>
              <a:rPr lang="es-ES" b="1" dirty="0" err="1">
                <a:latin typeface="Helvetica" panose="020B0604020202020204"/>
                <a:cs typeface="Helvetica" panose="020B0604020202020204"/>
              </a:rPr>
              <a:t>Rs</a:t>
            </a:r>
            <a:endParaRPr lang="es-ES" b="1" dirty="0">
              <a:latin typeface="Helvetica" panose="020B0604020202020204"/>
              <a:cs typeface="Helvetica" panose="020B0604020202020204"/>
            </a:endParaRP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22A19E89-F2F4-E939-609B-CF8711894A64}"/>
              </a:ext>
            </a:extLst>
          </p:cNvPr>
          <p:cNvCxnSpPr>
            <a:cxnSpLocks/>
            <a:stCxn id="5" idx="2"/>
            <a:endCxn id="6" idx="0"/>
          </p:cNvCxnSpPr>
          <p:nvPr/>
        </p:nvCxnSpPr>
        <p:spPr>
          <a:xfrm>
            <a:off x="5876936" y="2423815"/>
            <a:ext cx="0" cy="893143"/>
          </a:xfrm>
          <a:prstGeom prst="straightConnector1">
            <a:avLst/>
          </a:prstGeom>
          <a:ln w="57150">
            <a:solidFill>
              <a:srgbClr val="21831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Marcador de contenido 2">
            <a:extLst>
              <a:ext uri="{FF2B5EF4-FFF2-40B4-BE49-F238E27FC236}">
                <a16:creationId xmlns:a16="http://schemas.microsoft.com/office/drawing/2014/main" id="{6D03CD97-2BC2-E7C3-88B3-18AF72A98795}"/>
              </a:ext>
            </a:extLst>
          </p:cNvPr>
          <p:cNvSpPr txBox="1">
            <a:spLocks/>
          </p:cNvSpPr>
          <p:nvPr/>
        </p:nvSpPr>
        <p:spPr>
          <a:xfrm>
            <a:off x="5876935" y="2633198"/>
            <a:ext cx="757328" cy="47617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ES" sz="1100" dirty="0" err="1">
                <a:latin typeface="Helvetica"/>
                <a:cs typeface="Helvetica"/>
              </a:rPr>
              <a:t>Stomatal</a:t>
            </a:r>
            <a:r>
              <a:rPr lang="es-ES" sz="1100" dirty="0">
                <a:latin typeface="Helvetica"/>
                <a:cs typeface="Helvetica"/>
              </a:rPr>
              <a:t> </a:t>
            </a:r>
            <a:r>
              <a:rPr lang="es-ES" sz="1100" dirty="0" err="1">
                <a:latin typeface="Helvetica"/>
                <a:cs typeface="Helvetica"/>
              </a:rPr>
              <a:t>closure</a:t>
            </a:r>
            <a:endParaRPr lang="es-ES" sz="1100" dirty="0">
              <a:latin typeface="Helvetica"/>
              <a:cs typeface="Helvetica"/>
            </a:endParaRP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5AE11DCB-1467-9A8C-B42F-C9A98BE38DA1}"/>
              </a:ext>
            </a:extLst>
          </p:cNvPr>
          <p:cNvCxnSpPr>
            <a:cxnSpLocks/>
            <a:stCxn id="5" idx="2"/>
            <a:endCxn id="9" idx="0"/>
          </p:cNvCxnSpPr>
          <p:nvPr/>
        </p:nvCxnSpPr>
        <p:spPr>
          <a:xfrm>
            <a:off x="5876936" y="2423815"/>
            <a:ext cx="2587557" cy="865101"/>
          </a:xfrm>
          <a:prstGeom prst="straightConnector1">
            <a:avLst/>
          </a:prstGeom>
          <a:ln w="57150">
            <a:solidFill>
              <a:srgbClr val="21831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Marcador de contenido 2">
            <a:extLst>
              <a:ext uri="{FF2B5EF4-FFF2-40B4-BE49-F238E27FC236}">
                <a16:creationId xmlns:a16="http://schemas.microsoft.com/office/drawing/2014/main" id="{9C59B448-4D5A-4D4E-EC63-F005EBCBE54E}"/>
              </a:ext>
            </a:extLst>
          </p:cNvPr>
          <p:cNvSpPr txBox="1">
            <a:spLocks/>
          </p:cNvSpPr>
          <p:nvPr/>
        </p:nvSpPr>
        <p:spPr>
          <a:xfrm>
            <a:off x="7834725" y="2522057"/>
            <a:ext cx="757328" cy="47617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ES" sz="1100" dirty="0" err="1">
                <a:latin typeface="Helvetica"/>
                <a:cs typeface="Helvetica"/>
              </a:rPr>
              <a:t>Limitted</a:t>
            </a:r>
            <a:r>
              <a:rPr lang="es-ES" sz="1100" dirty="0">
                <a:latin typeface="Helvetica"/>
                <a:cs typeface="Helvetica"/>
              </a:rPr>
              <a:t> </a:t>
            </a:r>
            <a:r>
              <a:rPr lang="es-ES" sz="1100" dirty="0" err="1">
                <a:latin typeface="Helvetica"/>
                <a:cs typeface="Helvetica"/>
              </a:rPr>
              <a:t>uptake</a:t>
            </a:r>
            <a:endParaRPr lang="es-ES" sz="1100" dirty="0">
              <a:latin typeface="Helvetica"/>
              <a:cs typeface="Helvetica"/>
            </a:endParaRP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D53948D9-032E-9D41-D6E7-F49890C9C9F4}"/>
              </a:ext>
            </a:extLst>
          </p:cNvPr>
          <p:cNvCxnSpPr>
            <a:cxnSpLocks/>
            <a:stCxn id="5" idx="2"/>
            <a:endCxn id="14" idx="0"/>
          </p:cNvCxnSpPr>
          <p:nvPr/>
        </p:nvCxnSpPr>
        <p:spPr>
          <a:xfrm flipH="1">
            <a:off x="3212413" y="2423815"/>
            <a:ext cx="2664523" cy="893143"/>
          </a:xfrm>
          <a:prstGeom prst="straightConnector1">
            <a:avLst/>
          </a:prstGeom>
          <a:ln w="57150">
            <a:solidFill>
              <a:srgbClr val="21831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Marcador de contenido 2">
            <a:extLst>
              <a:ext uri="{FF2B5EF4-FFF2-40B4-BE49-F238E27FC236}">
                <a16:creationId xmlns:a16="http://schemas.microsoft.com/office/drawing/2014/main" id="{7443CDB0-2D90-C022-A0FF-8A2BF129CEEF}"/>
              </a:ext>
            </a:extLst>
          </p:cNvPr>
          <p:cNvSpPr txBox="1">
            <a:spLocks/>
          </p:cNvSpPr>
          <p:nvPr/>
        </p:nvSpPr>
        <p:spPr>
          <a:xfrm>
            <a:off x="4047259" y="2522297"/>
            <a:ext cx="757328" cy="47617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ES" sz="1100" dirty="0" err="1">
                <a:latin typeface="Helvetica"/>
                <a:cs typeface="Helvetica"/>
              </a:rPr>
              <a:t>Turgor</a:t>
            </a:r>
            <a:r>
              <a:rPr lang="es-ES" sz="1100" dirty="0">
                <a:latin typeface="Helvetica"/>
                <a:cs typeface="Helvetica"/>
              </a:rPr>
              <a:t> </a:t>
            </a:r>
            <a:r>
              <a:rPr lang="es-ES" sz="1100" dirty="0" err="1">
                <a:latin typeface="Helvetica"/>
                <a:cs typeface="Helvetica"/>
              </a:rPr>
              <a:t>loss</a:t>
            </a:r>
            <a:endParaRPr lang="es-ES" sz="1100" dirty="0">
              <a:latin typeface="Helvetica"/>
              <a:cs typeface="Helvetica"/>
            </a:endParaRP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7AE48C19-1773-629D-8FBD-8FFC3B4FBFBE}"/>
              </a:ext>
            </a:extLst>
          </p:cNvPr>
          <p:cNvCxnSpPr>
            <a:cxnSpLocks/>
            <a:stCxn id="6" idx="1"/>
            <a:endCxn id="14" idx="3"/>
          </p:cNvCxnSpPr>
          <p:nvPr/>
        </p:nvCxnSpPr>
        <p:spPr>
          <a:xfrm flipH="1">
            <a:off x="3677911" y="3555044"/>
            <a:ext cx="1733527" cy="0"/>
          </a:xfrm>
          <a:prstGeom prst="straightConnector1">
            <a:avLst/>
          </a:prstGeom>
          <a:ln w="57150">
            <a:solidFill>
              <a:srgbClr val="21831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Marcador de contenido 2">
            <a:extLst>
              <a:ext uri="{FF2B5EF4-FFF2-40B4-BE49-F238E27FC236}">
                <a16:creationId xmlns:a16="http://schemas.microsoft.com/office/drawing/2014/main" id="{37BA9148-B754-E992-0BBB-096D6F435085}"/>
              </a:ext>
            </a:extLst>
          </p:cNvPr>
          <p:cNvSpPr txBox="1">
            <a:spLocks/>
          </p:cNvSpPr>
          <p:nvPr/>
        </p:nvSpPr>
        <p:spPr>
          <a:xfrm>
            <a:off x="4003324" y="3236555"/>
            <a:ext cx="1005735" cy="26612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ES" sz="1100" dirty="0" err="1">
                <a:latin typeface="Helvetica"/>
                <a:cs typeface="Helvetica"/>
              </a:rPr>
              <a:t>Transpiration</a:t>
            </a:r>
            <a:endParaRPr lang="es-ES" sz="1100" dirty="0">
              <a:latin typeface="Helvetica"/>
              <a:cs typeface="Helvetica"/>
            </a:endParaRPr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8FC4F89A-95EC-171B-B868-7D156E5A839A}"/>
              </a:ext>
            </a:extLst>
          </p:cNvPr>
          <p:cNvCxnSpPr>
            <a:cxnSpLocks/>
            <a:stCxn id="9" idx="2"/>
            <a:endCxn id="17" idx="0"/>
          </p:cNvCxnSpPr>
          <p:nvPr/>
        </p:nvCxnSpPr>
        <p:spPr>
          <a:xfrm flipH="1">
            <a:off x="7854893" y="3765088"/>
            <a:ext cx="609600" cy="1962314"/>
          </a:xfrm>
          <a:prstGeom prst="straightConnector1">
            <a:avLst/>
          </a:prstGeom>
          <a:ln w="57150">
            <a:solidFill>
              <a:srgbClr val="21831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Marcador de contenido 2">
            <a:extLst>
              <a:ext uri="{FF2B5EF4-FFF2-40B4-BE49-F238E27FC236}">
                <a16:creationId xmlns:a16="http://schemas.microsoft.com/office/drawing/2014/main" id="{24C41916-A79D-12D1-1660-15536A4B33B0}"/>
              </a:ext>
            </a:extLst>
          </p:cNvPr>
          <p:cNvSpPr txBox="1">
            <a:spLocks/>
          </p:cNvSpPr>
          <p:nvPr/>
        </p:nvSpPr>
        <p:spPr>
          <a:xfrm>
            <a:off x="8195363" y="4496322"/>
            <a:ext cx="930996" cy="47617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ES" sz="1050" dirty="0" err="1">
                <a:latin typeface="Helvetica"/>
                <a:cs typeface="Helvetica"/>
              </a:rPr>
              <a:t>Leaf</a:t>
            </a:r>
            <a:r>
              <a:rPr lang="es-ES" sz="1050" dirty="0">
                <a:latin typeface="Helvetica"/>
                <a:cs typeface="Helvetica"/>
              </a:rPr>
              <a:t> </a:t>
            </a:r>
            <a:r>
              <a:rPr lang="es-ES" sz="1050" dirty="0" err="1">
                <a:latin typeface="Helvetica"/>
                <a:cs typeface="Helvetica"/>
              </a:rPr>
              <a:t>senescence</a:t>
            </a:r>
            <a:endParaRPr lang="es-ES" sz="1050" dirty="0">
              <a:latin typeface="Helvetica"/>
              <a:cs typeface="Helvetica"/>
            </a:endParaRPr>
          </a:p>
        </p:txBody>
      </p: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31161069-BC9D-857B-2AA5-67E47DAE7AA2}"/>
              </a:ext>
            </a:extLst>
          </p:cNvPr>
          <p:cNvCxnSpPr>
            <a:cxnSpLocks/>
            <a:stCxn id="6" idx="3"/>
            <a:endCxn id="9" idx="1"/>
          </p:cNvCxnSpPr>
          <p:nvPr/>
        </p:nvCxnSpPr>
        <p:spPr>
          <a:xfrm flipV="1">
            <a:off x="6342434" y="3527002"/>
            <a:ext cx="1656561" cy="28042"/>
          </a:xfrm>
          <a:prstGeom prst="straightConnector1">
            <a:avLst/>
          </a:prstGeom>
          <a:ln w="57150">
            <a:solidFill>
              <a:schemeClr val="accent6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Marcador de contenido 2">
            <a:extLst>
              <a:ext uri="{FF2B5EF4-FFF2-40B4-BE49-F238E27FC236}">
                <a16:creationId xmlns:a16="http://schemas.microsoft.com/office/drawing/2014/main" id="{58B5D179-818E-1C65-AC85-3F0FBD5CF1C5}"/>
              </a:ext>
            </a:extLst>
          </p:cNvPr>
          <p:cNvSpPr txBox="1">
            <a:spLocks/>
          </p:cNvSpPr>
          <p:nvPr/>
        </p:nvSpPr>
        <p:spPr>
          <a:xfrm>
            <a:off x="6661280" y="3261736"/>
            <a:ext cx="1005735" cy="26612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ES" sz="1100" dirty="0" err="1">
                <a:latin typeface="Helvetica"/>
                <a:cs typeface="Helvetica"/>
              </a:rPr>
              <a:t>Transpiration</a:t>
            </a:r>
            <a:endParaRPr lang="es-ES" sz="1100" dirty="0">
              <a:latin typeface="Helvetica"/>
              <a:cs typeface="Helvetica"/>
            </a:endParaRPr>
          </a:p>
        </p:txBody>
      </p: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5661FD95-5CE8-BB71-220A-01A5B8AF8C57}"/>
              </a:ext>
            </a:extLst>
          </p:cNvPr>
          <p:cNvCxnSpPr>
            <a:cxnSpLocks/>
            <a:stCxn id="14" idx="2"/>
            <a:endCxn id="15" idx="1"/>
          </p:cNvCxnSpPr>
          <p:nvPr/>
        </p:nvCxnSpPr>
        <p:spPr>
          <a:xfrm>
            <a:off x="3212413" y="3793130"/>
            <a:ext cx="2199025" cy="923641"/>
          </a:xfrm>
          <a:prstGeom prst="straightConnector1">
            <a:avLst/>
          </a:prstGeom>
          <a:ln w="57150">
            <a:solidFill>
              <a:srgbClr val="21831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D692EA1A-906F-5C77-80EA-DC372CE4D24D}"/>
              </a:ext>
            </a:extLst>
          </p:cNvPr>
          <p:cNvCxnSpPr>
            <a:cxnSpLocks/>
            <a:stCxn id="6" idx="2"/>
            <a:endCxn id="15" idx="0"/>
          </p:cNvCxnSpPr>
          <p:nvPr/>
        </p:nvCxnSpPr>
        <p:spPr>
          <a:xfrm>
            <a:off x="5876936" y="3793130"/>
            <a:ext cx="0" cy="685555"/>
          </a:xfrm>
          <a:prstGeom prst="straightConnector1">
            <a:avLst/>
          </a:prstGeom>
          <a:ln w="57150">
            <a:solidFill>
              <a:srgbClr val="21831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24251960-B8B5-2A7C-D593-EF450A942942}"/>
              </a:ext>
            </a:extLst>
          </p:cNvPr>
          <p:cNvCxnSpPr>
            <a:cxnSpLocks/>
            <a:stCxn id="15" idx="2"/>
            <a:endCxn id="16" idx="0"/>
          </p:cNvCxnSpPr>
          <p:nvPr/>
        </p:nvCxnSpPr>
        <p:spPr>
          <a:xfrm flipH="1">
            <a:off x="3537826" y="4954857"/>
            <a:ext cx="2339110" cy="772545"/>
          </a:xfrm>
          <a:prstGeom prst="straightConnector1">
            <a:avLst/>
          </a:prstGeom>
          <a:ln w="57150">
            <a:solidFill>
              <a:srgbClr val="21831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AD7F616B-5FB8-2811-D2CB-451D9285BBFA}"/>
              </a:ext>
            </a:extLst>
          </p:cNvPr>
          <p:cNvCxnSpPr>
            <a:cxnSpLocks/>
            <a:stCxn id="16" idx="3"/>
            <a:endCxn id="19" idx="1"/>
          </p:cNvCxnSpPr>
          <p:nvPr/>
        </p:nvCxnSpPr>
        <p:spPr>
          <a:xfrm>
            <a:off x="4003324" y="5965488"/>
            <a:ext cx="1408114" cy="0"/>
          </a:xfrm>
          <a:prstGeom prst="straightConnector1">
            <a:avLst/>
          </a:prstGeom>
          <a:ln w="57150">
            <a:solidFill>
              <a:srgbClr val="21831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FCC416C5-3F03-83F6-4B72-F0FD5C7046CB}"/>
              </a:ext>
            </a:extLst>
          </p:cNvPr>
          <p:cNvCxnSpPr>
            <a:cxnSpLocks/>
            <a:stCxn id="15" idx="2"/>
            <a:endCxn id="17" idx="0"/>
          </p:cNvCxnSpPr>
          <p:nvPr/>
        </p:nvCxnSpPr>
        <p:spPr>
          <a:xfrm>
            <a:off x="5876936" y="4954857"/>
            <a:ext cx="1977957" cy="772545"/>
          </a:xfrm>
          <a:prstGeom prst="straightConnector1">
            <a:avLst/>
          </a:prstGeom>
          <a:ln w="57150">
            <a:solidFill>
              <a:srgbClr val="21831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B71E384D-699E-0026-706C-F09418BE0962}"/>
              </a:ext>
            </a:extLst>
          </p:cNvPr>
          <p:cNvCxnSpPr>
            <a:cxnSpLocks/>
            <a:stCxn id="10" idx="2"/>
            <a:endCxn id="16" idx="0"/>
          </p:cNvCxnSpPr>
          <p:nvPr/>
        </p:nvCxnSpPr>
        <p:spPr>
          <a:xfrm>
            <a:off x="3537826" y="4879309"/>
            <a:ext cx="0" cy="848093"/>
          </a:xfrm>
          <a:prstGeom prst="straightConnector1">
            <a:avLst/>
          </a:prstGeom>
          <a:ln w="57150">
            <a:solidFill>
              <a:srgbClr val="21831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0F31375A-0BCB-CE53-8077-4217AF30C23C}"/>
              </a:ext>
            </a:extLst>
          </p:cNvPr>
          <p:cNvCxnSpPr>
            <a:cxnSpLocks/>
            <a:stCxn id="10" idx="1"/>
            <a:endCxn id="12" idx="3"/>
          </p:cNvCxnSpPr>
          <p:nvPr/>
        </p:nvCxnSpPr>
        <p:spPr>
          <a:xfrm flipH="1">
            <a:off x="2124488" y="4641223"/>
            <a:ext cx="947840" cy="0"/>
          </a:xfrm>
          <a:prstGeom prst="straightConnector1">
            <a:avLst/>
          </a:prstGeom>
          <a:ln w="57150">
            <a:solidFill>
              <a:srgbClr val="21831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3DB0311E-95A2-730A-4E51-520DE649C299}"/>
              </a:ext>
            </a:extLst>
          </p:cNvPr>
          <p:cNvCxnSpPr>
            <a:cxnSpLocks/>
            <a:stCxn id="12" idx="2"/>
            <a:endCxn id="16" idx="0"/>
          </p:cNvCxnSpPr>
          <p:nvPr/>
        </p:nvCxnSpPr>
        <p:spPr>
          <a:xfrm>
            <a:off x="1658990" y="4879309"/>
            <a:ext cx="1878836" cy="848093"/>
          </a:xfrm>
          <a:prstGeom prst="straightConnector1">
            <a:avLst/>
          </a:prstGeom>
          <a:ln w="57150">
            <a:solidFill>
              <a:srgbClr val="21831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5D686F3D-2E00-3945-11E1-6AD7DB5AAEDF}"/>
              </a:ext>
            </a:extLst>
          </p:cNvPr>
          <p:cNvCxnSpPr>
            <a:cxnSpLocks/>
            <a:stCxn id="12" idx="0"/>
            <a:endCxn id="6" idx="2"/>
          </p:cNvCxnSpPr>
          <p:nvPr/>
        </p:nvCxnSpPr>
        <p:spPr>
          <a:xfrm flipV="1">
            <a:off x="1658990" y="3793130"/>
            <a:ext cx="4217946" cy="610007"/>
          </a:xfrm>
          <a:prstGeom prst="straightConnector1">
            <a:avLst/>
          </a:prstGeom>
          <a:ln w="57150">
            <a:solidFill>
              <a:schemeClr val="accent6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Arrow Connector 80">
            <a:extLst>
              <a:ext uri="{FF2B5EF4-FFF2-40B4-BE49-F238E27FC236}">
                <a16:creationId xmlns:a16="http://schemas.microsoft.com/office/drawing/2014/main" id="{505EE4D6-48A7-291A-EDCC-E93F0D35FEC1}"/>
              </a:ext>
            </a:extLst>
          </p:cNvPr>
          <p:cNvCxnSpPr>
            <a:cxnSpLocks/>
            <a:endCxn id="6" idx="2"/>
          </p:cNvCxnSpPr>
          <p:nvPr/>
        </p:nvCxnSpPr>
        <p:spPr>
          <a:xfrm flipV="1">
            <a:off x="3677911" y="3793130"/>
            <a:ext cx="2199025" cy="585933"/>
          </a:xfrm>
          <a:prstGeom prst="straightConnector1">
            <a:avLst/>
          </a:prstGeom>
          <a:ln w="57150">
            <a:solidFill>
              <a:schemeClr val="accent6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Arrow Connector 83">
            <a:extLst>
              <a:ext uri="{FF2B5EF4-FFF2-40B4-BE49-F238E27FC236}">
                <a16:creationId xmlns:a16="http://schemas.microsoft.com/office/drawing/2014/main" id="{38BC9647-A478-0ED0-A895-993D28FF4014}"/>
              </a:ext>
            </a:extLst>
          </p:cNvPr>
          <p:cNvCxnSpPr>
            <a:cxnSpLocks/>
            <a:stCxn id="19" idx="3"/>
            <a:endCxn id="17" idx="1"/>
          </p:cNvCxnSpPr>
          <p:nvPr/>
        </p:nvCxnSpPr>
        <p:spPr>
          <a:xfrm>
            <a:off x="6342434" y="5965488"/>
            <a:ext cx="828280" cy="0"/>
          </a:xfrm>
          <a:prstGeom prst="straightConnector1">
            <a:avLst/>
          </a:prstGeom>
          <a:ln w="57150">
            <a:solidFill>
              <a:srgbClr val="21831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1004498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B8E399-BD7F-5906-4771-D944572E16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>
            <a:extLst>
              <a:ext uri="{FF2B5EF4-FFF2-40B4-BE49-F238E27FC236}">
                <a16:creationId xmlns:a16="http://schemas.microsoft.com/office/drawing/2014/main" id="{F94D7494-4F9D-7116-BC10-966B78A5CE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88915" y="1477262"/>
            <a:ext cx="9366245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kumimoji="0" lang="es-ES" altLang="es-E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altLang="es-E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61D8ECD7-47CA-35AE-41CB-0EE1D9A23122}"/>
              </a:ext>
            </a:extLst>
          </p:cNvPr>
          <p:cNvSpPr txBox="1">
            <a:spLocks/>
          </p:cNvSpPr>
          <p:nvPr/>
        </p:nvSpPr>
        <p:spPr>
          <a:xfrm>
            <a:off x="9690902" y="-1"/>
            <a:ext cx="2501098" cy="804157"/>
          </a:xfrm>
          <a:prstGeom prst="rect">
            <a:avLst/>
          </a:prstGeom>
          <a:solidFill>
            <a:srgbClr val="218317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ES" sz="28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M&amp;M </a:t>
            </a:r>
            <a:r>
              <a:rPr lang="es-ES" sz="2800" b="1" dirty="0">
                <a:solidFill>
                  <a:srgbClr val="218317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.</a:t>
            </a:r>
          </a:p>
        </p:txBody>
      </p:sp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472501A8-8A07-03EC-0D75-8F9BE8EF13A0}"/>
              </a:ext>
            </a:extLst>
          </p:cNvPr>
          <p:cNvSpPr txBox="1">
            <a:spLocks/>
          </p:cNvSpPr>
          <p:nvPr/>
        </p:nvSpPr>
        <p:spPr>
          <a:xfrm>
            <a:off x="418288" y="1140469"/>
            <a:ext cx="5136205" cy="64633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rgbClr val="218317"/>
              </a:buClr>
              <a:buNone/>
            </a:pPr>
            <a:r>
              <a:rPr lang="es-ES" sz="3200" b="1" dirty="0">
                <a:solidFill>
                  <a:srgbClr val="218317"/>
                </a:solidFill>
                <a:latin typeface="Helvetica"/>
                <a:cs typeface="Helvetica"/>
              </a:rPr>
              <a:t>3.- </a:t>
            </a:r>
            <a:r>
              <a:rPr lang="es-ES" sz="3200" b="1" dirty="0">
                <a:latin typeface="Helvetica"/>
                <a:cs typeface="Helvetica"/>
              </a:rPr>
              <a:t>Response ratios</a:t>
            </a:r>
            <a:endParaRPr lang="es-ES" dirty="0">
              <a:latin typeface="Helvetica"/>
              <a:cs typeface="Helvetica"/>
              <a:sym typeface="Wingdings" panose="05000000000000000000" pitchFamily="2" charset="2"/>
            </a:endParaRPr>
          </a:p>
          <a:p>
            <a:pPr>
              <a:buClr>
                <a:srgbClr val="218317"/>
              </a:buClr>
            </a:pPr>
            <a:endParaRPr lang="es-ES" b="1" dirty="0">
              <a:latin typeface="Helvetica"/>
              <a:cs typeface="Helvetica"/>
              <a:sym typeface="Wingdings" panose="05000000000000000000" pitchFamily="2" charset="2"/>
            </a:endParaRPr>
          </a:p>
          <a:p>
            <a:pPr>
              <a:buClr>
                <a:srgbClr val="218317"/>
              </a:buClr>
            </a:pPr>
            <a:endParaRPr lang="es-ES" b="1" dirty="0">
              <a:latin typeface="Helvetica"/>
              <a:cs typeface="Helvetica"/>
            </a:endParaRPr>
          </a:p>
          <a:p>
            <a:pPr marL="0" indent="0">
              <a:buClr>
                <a:srgbClr val="218317"/>
              </a:buClr>
              <a:buNone/>
            </a:pPr>
            <a:endParaRPr lang="es-ES" b="1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lvl="1">
              <a:buClr>
                <a:srgbClr val="218317"/>
              </a:buClr>
              <a:buFont typeface="Calibri" panose="02070309020205020404" pitchFamily="49" charset="0"/>
              <a:buChar char="-"/>
            </a:pPr>
            <a:endParaRPr lang="es-ES" sz="2800" b="1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endParaRPr lang="es-ES" sz="3200" b="1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9" name="Título 1">
            <a:extLst>
              <a:ext uri="{FF2B5EF4-FFF2-40B4-BE49-F238E27FC236}">
                <a16:creationId xmlns:a16="http://schemas.microsoft.com/office/drawing/2014/main" id="{6412D189-F44F-63E1-9B0C-08ECEC3C393D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9690902" cy="804155"/>
          </a:xfrm>
          <a:prstGeom prst="rect">
            <a:avLst/>
          </a:prstGeom>
          <a:solidFill>
            <a:srgbClr val="218317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3200" b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	Data analysis – Physiological responses</a:t>
            </a:r>
            <a:endParaRPr lang="es-ES" sz="3200" b="1" dirty="0">
              <a:solidFill>
                <a:schemeClr val="bg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9C5994F4-2763-6EBB-1E7E-137F1437DAF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37509" y="2381829"/>
            <a:ext cx="3961851" cy="3961851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0AC25151-B4AA-40E3-26C7-FDEAB34DF50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0167" y="2559355"/>
            <a:ext cx="3784326" cy="3784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506839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4519</TotalTime>
  <Words>2616</Words>
  <Application>Microsoft Office PowerPoint</Application>
  <PresentationFormat>Widescreen</PresentationFormat>
  <Paragraphs>642</Paragraphs>
  <Slides>43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49" baseType="lpstr">
      <vt:lpstr>Arial</vt:lpstr>
      <vt:lpstr>Calibri</vt:lpstr>
      <vt:lpstr>Calibri Light</vt:lpstr>
      <vt:lpstr>Helvetica</vt:lpstr>
      <vt:lpstr>Times New Roman</vt:lpstr>
      <vt:lpstr>Tema de Office</vt:lpstr>
      <vt:lpstr>Preliminar analyses  -  Figures</vt:lpstr>
      <vt:lpstr> Drought-induced tree mortality</vt:lpstr>
      <vt:lpstr>PowerPoint Presentation</vt:lpstr>
      <vt:lpstr>PowerPoint Presentation</vt:lpstr>
      <vt:lpstr> Complementary strategies to cope with drought</vt:lpstr>
      <vt:lpstr> Responses to drought</vt:lpstr>
      <vt:lpstr>PowerPoint Presentation</vt:lpstr>
      <vt:lpstr> Complementary strategies to cope with drought</vt:lpstr>
      <vt:lpstr> Complementary strategies to cope with drought</vt:lpstr>
      <vt:lpstr> Complementary strategies to cope with drought</vt:lpstr>
      <vt:lpstr> Complementary strategies to cope with drought</vt:lpstr>
      <vt:lpstr> Study area</vt:lpstr>
      <vt:lpstr> Sampling design</vt:lpstr>
      <vt:lpstr> Sampling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 Data analysis</vt:lpstr>
      <vt:lpstr> Data analysis</vt:lpstr>
      <vt:lpstr> Data analysis</vt:lpstr>
      <vt:lpstr> Data analysis</vt:lpstr>
      <vt:lpstr> Preliminary results</vt:lpstr>
      <vt:lpstr> Preliminary results</vt:lpstr>
      <vt:lpstr> Data analysis</vt:lpstr>
      <vt:lpstr> Preliminary results</vt:lpstr>
      <vt:lpstr> Preliminary results</vt:lpstr>
      <vt:lpstr> Preliminary results</vt:lpstr>
      <vt:lpstr> Preliminary results</vt:lpstr>
      <vt:lpstr> Preliminary results</vt:lpstr>
      <vt:lpstr> Preliminary results</vt:lpstr>
      <vt:lpstr> Preliminary results</vt:lpstr>
      <vt:lpstr> Preliminary results</vt:lpstr>
      <vt:lpstr> Preliminary results</vt:lpstr>
      <vt:lpstr> Preliminary results</vt:lpstr>
      <vt:lpstr> Preliminary results</vt:lpstr>
      <vt:lpstr> Preliminary results</vt:lpstr>
      <vt:lpstr> Preliminary results</vt:lpstr>
      <vt:lpstr> Preliminary results</vt:lpstr>
      <vt:lpstr> Preliminary results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Cristopher Fernández de Blas</dc:creator>
  <cp:lastModifiedBy>Cristopher Fernández de Blas</cp:lastModifiedBy>
  <cp:revision>50</cp:revision>
  <dcterms:created xsi:type="dcterms:W3CDTF">2025-04-25T13:52:31Z</dcterms:created>
  <dcterms:modified xsi:type="dcterms:W3CDTF">2025-07-17T09:09:06Z</dcterms:modified>
</cp:coreProperties>
</file>