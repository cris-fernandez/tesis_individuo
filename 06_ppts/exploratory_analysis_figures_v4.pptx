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95_4CD3AFA7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306" r:id="rId3"/>
    <p:sldId id="379" r:id="rId4"/>
    <p:sldId id="335" r:id="rId5"/>
    <p:sldId id="282" r:id="rId6"/>
    <p:sldId id="404" r:id="rId7"/>
    <p:sldId id="405" r:id="rId8"/>
    <p:sldId id="406" r:id="rId9"/>
    <p:sldId id="342" r:id="rId10"/>
    <p:sldId id="337" r:id="rId11"/>
    <p:sldId id="407" r:id="rId12"/>
    <p:sldId id="408" r:id="rId13"/>
    <p:sldId id="409" r:id="rId14"/>
    <p:sldId id="410" r:id="rId15"/>
    <p:sldId id="411" r:id="rId16"/>
    <p:sldId id="412" r:id="rId17"/>
    <p:sldId id="413" r:id="rId18"/>
    <p:sldId id="417" r:id="rId19"/>
    <p:sldId id="418" r:id="rId20"/>
    <p:sldId id="420" r:id="rId21"/>
    <p:sldId id="422" r:id="rId22"/>
    <p:sldId id="423" r:id="rId23"/>
    <p:sldId id="424" r:id="rId24"/>
    <p:sldId id="425" r:id="rId25"/>
    <p:sldId id="427" r:id="rId26"/>
    <p:sldId id="426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7030A0"/>
    <a:srgbClr val="2F5597"/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1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195_4CD3AFA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04E7475-72AC-EF41-8DCE-78170E424C1C}" authorId="{9B18557D-7187-C966-2E91-CE8B6CF86FC3}" status="resolved" created="2025-05-29T06:12:45.195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288941479" sldId="405"/>
      <ac:spMk id="2" creationId="{0EDCCFA2-7421-E9F8-432B-5107BCD8FD10}"/>
      <ac:txMk cp="51" len="20">
        <ac:context len="107" hash="2339119931"/>
      </ac:txMk>
    </ac:txMkLst>
    <p188:pos x="10253995" y="471991"/>
    <p188:replyLst>
      <p188:reply id="{2E4515F3-7C3C-49BD-BF5F-5F31525025FA}" authorId="{DB4BCF0B-13A8-F3D9-5213-32840108FAB3}" created="2025-06-02T13:15:51.918">
        <p188:txBody>
          <a:bodyPr/>
          <a:lstStyle/>
          <a:p>
            <a:r>
              <a:rPr lang="es-ES"/>
              <a:t>I think I’d rather keep them separate for now ☺️</a:t>
            </a:r>
          </a:p>
        </p188:txBody>
      </p188:reply>
    </p188:replyLst>
    <p188:txBody>
      <a:bodyPr/>
      <a:lstStyle/>
      <a:p>
        <a:r>
          <a:rPr lang="en-US"/>
          <a:t>why not merge Obj 1 and Obj2 by saying that you investigate the intrinsik risk factors (size, competition...) and the observable responses (mentionned here)?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status="resolved" created="2025-05-28T08:19:30.286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9" len="65">
        <ac:context len="134" hash="2670110537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  <p188:cm id="{979B1C66-BD76-5E49-94EF-A5F4129955E8}" authorId="{9B18557D-7187-C966-2E91-CE8B6CF86FC3}" status="resolved" created="2025-05-29T06:04:44.200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4" creationId="{C713888D-F036-1927-F7A3-7FD8FFA4D2BD}"/>
    </ac:deMkLst>
    <p188:replyLst>
      <p188:reply id="{66253953-0CD7-4F1A-90B7-DC168D679E88}" authorId="{DB4BCF0B-13A8-F3D9-5213-32840108FAB3}" created="2025-06-02T09:14:13.426">
        <p188:txBody>
          <a:bodyPr/>
          <a:lstStyle/>
          <a:p>
            <a:r>
              <a:rPr lang="es-ES"/>
              <a:t>True, no real time measurements, I was refering to d13C, so maybe it is better to talk about iWUE?</a:t>
            </a:r>
          </a:p>
        </p188:txBody>
      </p188:reply>
    </p188:replyLst>
    <p188:txBody>
      <a:bodyPr/>
      <a:lstStyle/>
      <a:p>
        <a:r>
          <a:rPr lang="en-US"/>
          <a:t>do you have transpiration data? It did not seem to be the case. Same for photosynthesis and senescence</a:t>
        </a:r>
      </a:p>
    </p188:txBody>
  </p188:cm>
  <p188:cm id="{171165BB-20F0-0949-8D10-18E5B72839ED}" authorId="{9B18557D-7187-C966-2E91-CE8B6CF86FC3}" status="resolved" created="2025-05-29T06:06:15.498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</ac:deMkLst>
    <p188:replyLst>
      <p188:reply id="{995D1786-E8E9-4D82-BFDA-8A49B5B4D026}" authorId="{DB4BCF0B-13A8-F3D9-5213-32840108FAB3}" created="2025-06-02T09:12:26.623">
        <p188:txBody>
          <a:bodyPr/>
          <a:lstStyle/>
          <a:p>
            <a:r>
              <a:rPr lang="es-ES"/>
              <a:t>Great! I love it ☺️</a:t>
            </a:r>
          </a:p>
        </p188:txBody>
      </p188:reply>
    </p188:replyLst>
    <p188:txBody>
      <a:bodyPr/>
      <a:lstStyle/>
      <a:p>
        <a:r>
          <a:rPr lang="en-US"/>
          <a:t>here you could even say the same as O1: to look at how the mechanisms that affect drought vulnerability are mofidied by long-term adaptations to varying moisture</a:t>
        </a:r>
      </a:p>
    </p188:txBody>
  </p188:cm>
  <p188:cm id="{ECBB49CA-5B9C-4142-9EEF-BB6A61789287}" authorId="{9B18557D-7187-C966-2E91-CE8B6CF86FC3}" status="resolved" created="2025-05-29T06:07:08.431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7" creationId="{7C371B6A-D08A-2959-5BDA-6D76133D6F74}"/>
      <ac:txMk cp="60" len="18">
        <ac:context len="105" hash="992420240"/>
      </ac:txMk>
    </ac:txMkLst>
    <p188:pos x="10948940" y="470172"/>
    <p188:replyLst>
      <p188:reply id="{71E06F36-1105-435C-AA22-95BDD759A145}" authorId="{DB4BCF0B-13A8-F3D9-5213-32840108FAB3}" created="2025-06-02T09:30:24.178">
        <p188:txBody>
          <a:bodyPr/>
          <a:lstStyle/>
          <a:p>
            <a:r>
              <a:rPr lang="es-ES"/>
              <a:t>We are considering modelling the niche of the species to calculate “how far from the optimal” the species are at a given place. That way, we wouldn’t really need the species identity...</a:t>
            </a:r>
          </a:p>
        </p188:txBody>
      </p188:reply>
    </p188:replyLst>
    <p188:txBody>
      <a:bodyPr/>
      <a:lstStyle/>
      <a:p>
        <a:r>
          <a:rPr lang="en-US"/>
          <a:t>I though you said you can only do this in Pinus synvesltris? Then this hypotheses should rather be formulated like H1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2C936-5A85-D26D-A1A2-3995F25E4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41241-C527-0269-5349-925DD9211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F304C16-9142-9471-FF44-7379A6191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9249B6E-84D0-BAF7-0235-37077C7C20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40169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0A726-8B60-9081-AB22-2ACFF82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0546EF-CD9D-6AF5-42AA-6256E4E21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78122E8-E439-6B82-DA47-AC465F3A72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915EA7E-2854-2B8E-0B30-689552412D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8219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D12A7-754F-69ED-C301-C8F0FF5D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C54C21-DCE2-17C8-02CF-7CAD514CC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D4B9F8-CBA8-BEA7-8330-C452C157F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608BCF-D0E4-76D1-A3BD-9D411B2B9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42060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AA5DD-4E09-B91F-8E5F-562F45D2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728FF2-68BF-DFFD-E2E7-A26B60866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4A6B10F-3922-ADDD-1A6E-3BF195F37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89864A-C6E7-67C6-59F4-4E05C96535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0714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EA540-2665-6B03-3052-2BB8D81B4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D978BF3-B6E3-461D-2BF7-FDAA8DD3A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071E02-587E-C717-F100-27DD23CE8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F2BE83-BBD6-038E-4EAD-EDF7C3FCA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2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11/06/2025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95_4CD3AFA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if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09A2C19-2DBA-1AE2-F8CF-9C15B2272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34" b="4493"/>
          <a:stretch>
            <a:fillRect/>
          </a:stretch>
        </p:blipFill>
        <p:spPr>
          <a:xfrm>
            <a:off x="3949147" y="811105"/>
            <a:ext cx="6858000" cy="6046895"/>
          </a:xfrm>
          <a:prstGeom prst="rect">
            <a:avLst/>
          </a:prstGeom>
        </p:spPr>
      </p:pic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3669229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52126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359019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, and </a:t>
            </a:r>
            <a:r>
              <a:rPr lang="es-ES" sz="2400" b="1" dirty="0" err="1">
                <a:latin typeface="Helvetica"/>
                <a:cs typeface="Helvetica"/>
              </a:rPr>
              <a:t>resilience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8172611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Pigments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4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iWUE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D59DB51-5D88-D4EB-E8F6-3F6BAA5E1023}"/>
              </a:ext>
            </a:extLst>
          </p:cNvPr>
          <p:cNvGrpSpPr/>
          <p:nvPr/>
        </p:nvGrpSpPr>
        <p:grpSpPr>
          <a:xfrm>
            <a:off x="8752732" y="3174880"/>
            <a:ext cx="3477754" cy="1250117"/>
            <a:chOff x="1139560" y="5095351"/>
            <a:chExt cx="3477754" cy="1250117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9E1E93E6-363C-013D-E9E5-1C1424287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2FEF6D0F-A69C-A522-AA0F-98D0F4174B64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0A30C1B7-6EB8-97DA-72BA-71484368860C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B082686E-8BB0-F750-B3B1-7FCB2D135B37}"/>
              </a:ext>
            </a:extLst>
          </p:cNvPr>
          <p:cNvGrpSpPr/>
          <p:nvPr/>
        </p:nvGrpSpPr>
        <p:grpSpPr>
          <a:xfrm>
            <a:off x="8752732" y="443852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AAFF188B-F49B-5A75-5066-5D26817E2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C166D1FD-614B-8988-6A96-F2B8CE294316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18957225-F35F-94AB-9237-9E568624460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09A0E59A-4CBE-0538-942B-88DBCFAD2FB7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41914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long-term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adaptations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238156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only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keep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determine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Response Ratio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might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vulnerability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PCA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group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behave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similarly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17C19A51-F188-59BA-4108-637918195FE2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0E0D77AC-F967-D971-1006-80B714535C88}"/>
              </a:ext>
            </a:extLst>
          </p:cNvPr>
          <p:cNvSpPr txBox="1"/>
          <p:nvPr/>
        </p:nvSpPr>
        <p:spPr>
          <a:xfrm>
            <a:off x="4621358" y="2980082"/>
            <a:ext cx="2502655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8CB5A7B-EC11-2D94-75D6-F6A191475E3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927C99-CCCB-5273-FA53-EC80D137CAA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17D1132-083A-CC1A-CC74-66C003384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580" y="1091353"/>
            <a:ext cx="5603132" cy="5603132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 ratios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2A643-BE6C-0338-E77E-BAA9113B1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A30266-9485-1E3E-BBC8-436246AD8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FAF84D2-7FE0-072E-6CC0-EE338120E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F8CAB59-0867-9E54-DC47-D2389843A7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59A3EBF-97E0-3CC4-7682-AAC6864AE01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5871265-7BAD-1ABF-CE2C-2CC4BE1C7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577" y="1140469"/>
            <a:ext cx="5476674" cy="5476674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BDBF880D-B5B9-3D71-6DE0-BE7283F24D84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FB4355E-240E-0B20-D240-4E812CE669C3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9910108-9A0A-3042-1387-F40F22476110}"/>
              </a:ext>
            </a:extLst>
          </p:cNvPr>
          <p:cNvSpPr txBox="1"/>
          <p:nvPr/>
        </p:nvSpPr>
        <p:spPr>
          <a:xfrm>
            <a:off x="700296" y="3748881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forecast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88AD00D1-63A5-13A0-8E80-972D8563CEFE}"/>
              </a:ext>
            </a:extLst>
          </p:cNvPr>
          <p:cNvSpPr txBox="1"/>
          <p:nvPr/>
        </p:nvSpPr>
        <p:spPr>
          <a:xfrm>
            <a:off x="588749" y="4767513"/>
            <a:ext cx="5476674" cy="1200329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1980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in general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among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great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worse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Signo de multiplicación 18">
            <a:extLst>
              <a:ext uri="{FF2B5EF4-FFF2-40B4-BE49-F238E27FC236}">
                <a16:creationId xmlns:a16="http://schemas.microsoft.com/office/drawing/2014/main" id="{7C92E061-E857-ECBB-F7FF-4F6CC76A6E11}"/>
              </a:ext>
            </a:extLst>
          </p:cNvPr>
          <p:cNvSpPr/>
          <p:nvPr/>
        </p:nvSpPr>
        <p:spPr>
          <a:xfrm>
            <a:off x="6363536" y="992089"/>
            <a:ext cx="1157468" cy="2639751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igno de multiplicación 19">
            <a:extLst>
              <a:ext uri="{FF2B5EF4-FFF2-40B4-BE49-F238E27FC236}">
                <a16:creationId xmlns:a16="http://schemas.microsoft.com/office/drawing/2014/main" id="{045E807F-60D8-E14D-D2E3-132D29C663B2}"/>
              </a:ext>
            </a:extLst>
          </p:cNvPr>
          <p:cNvSpPr/>
          <p:nvPr/>
        </p:nvSpPr>
        <p:spPr>
          <a:xfrm>
            <a:off x="6637507" y="4886449"/>
            <a:ext cx="1074544" cy="476084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8810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44A59B-3927-6BB8-9C72-AA37379346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AEE7E184-71CA-424C-9FA0-349E5B5C77F7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6F1BE57-11EB-8EB7-6CA5-6499AED53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33" y="1128894"/>
            <a:ext cx="5476675" cy="5476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967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0FC2-1CD4-4FFD-8920-878816F1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722047E-0A4A-6EC0-CF05-CB47F5250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C47ACDC-4679-69D1-EB3E-AE7561B9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07ECDD-DCD4-7855-71F8-4C7AA388E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8D5E62-E2E2-E9F4-8A17-7D19CC9954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E93997D-8BA6-1904-C03E-555B80ACD29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4.- </a:t>
            </a:r>
            <a:r>
              <a:rPr lang="es-ES" sz="3200" b="1" dirty="0">
                <a:latin typeface="Helvetica"/>
                <a:cs typeface="Helvetica"/>
              </a:rPr>
              <a:t>PCA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FCD2D5C5-7F5E-981A-632B-BB3CD5089C2D}"/>
              </a:ext>
            </a:extLst>
          </p:cNvPr>
          <p:cNvSpPr txBox="1"/>
          <p:nvPr/>
        </p:nvSpPr>
        <p:spPr>
          <a:xfrm>
            <a:off x="700296" y="2137904"/>
            <a:ext cx="5476674" cy="101566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axes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explain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45.60%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too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little</a:t>
            </a:r>
            <a:r>
              <a:rPr lang="es-ES" sz="20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?)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60.00%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35AB7045-AFEB-5F08-5D02-B82619128AA9}"/>
              </a:ext>
            </a:extLst>
          </p:cNvPr>
          <p:cNvSpPr txBox="1"/>
          <p:nvPr/>
        </p:nvSpPr>
        <p:spPr>
          <a:xfrm>
            <a:off x="700296" y="3061908"/>
            <a:ext cx="5476674" cy="40011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10F77E45-E13A-2102-5988-800EBB9689F5}"/>
              </a:ext>
            </a:extLst>
          </p:cNvPr>
          <p:cNvSpPr txBox="1"/>
          <p:nvPr/>
        </p:nvSpPr>
        <p:spPr>
          <a:xfrm>
            <a:off x="700295" y="4044553"/>
            <a:ext cx="3099545" cy="193899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BAI,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2022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3: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2012 6 2017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6A0A3BF-A9E8-540C-BB7A-9BB285103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2" t="80408" r="76123" b="7866"/>
          <a:stretch>
            <a:fillRect/>
          </a:stretch>
        </p:blipFill>
        <p:spPr>
          <a:xfrm>
            <a:off x="4480395" y="4005879"/>
            <a:ext cx="2572064" cy="72852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122B920-EFD5-B026-E599-865DC26271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8" t="73945" r="72678" b="7348"/>
          <a:stretch>
            <a:fillRect/>
          </a:stretch>
        </p:blipFill>
        <p:spPr>
          <a:xfrm>
            <a:off x="4142901" y="4905044"/>
            <a:ext cx="3247053" cy="1282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08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8C75D9D6-068E-5AB5-7D40-E18D97D39A9C}"/>
              </a:ext>
            </a:extLst>
          </p:cNvPr>
          <p:cNvSpPr txBox="1"/>
          <p:nvPr/>
        </p:nvSpPr>
        <p:spPr>
          <a:xfrm>
            <a:off x="1739812" y="3596455"/>
            <a:ext cx="61114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Bigger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might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having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deeper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sources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F4AE059-A7ED-D75B-E429-A7620F5D87A3}"/>
              </a:ext>
            </a:extLst>
          </p:cNvPr>
          <p:cNvSpPr txBox="1"/>
          <p:nvPr/>
        </p:nvSpPr>
        <p:spPr>
          <a:xfrm>
            <a:off x="7851232" y="3677920"/>
            <a:ext cx="3131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2E633A39-40F1-30D6-3237-581F377DAAB8}"/>
              </a:ext>
            </a:extLst>
          </p:cNvPr>
          <p:cNvSpPr txBox="1"/>
          <p:nvPr/>
        </p:nvSpPr>
        <p:spPr>
          <a:xfrm>
            <a:off x="1963422" y="4837516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A3090E5-3344-7682-8401-8E6E1FBDF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514"/>
          <a:stretch>
            <a:fillRect/>
          </a:stretch>
        </p:blipFill>
        <p:spPr>
          <a:xfrm>
            <a:off x="1489310" y="1125916"/>
            <a:ext cx="9568983" cy="243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B3F3-3AA3-1A33-1327-48FE2BC9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D7B8CA-CD6C-C18E-3E03-319F19470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3F8DC2-F439-732C-6ABC-DF331931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9FFA1FA-24B2-07BA-7DCC-6DA1633359E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7E0C2BF-7E7C-0CAB-43B1-B4D031CD3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40"/>
          <a:stretch>
            <a:fillRect/>
          </a:stretch>
        </p:blipFill>
        <p:spPr>
          <a:xfrm>
            <a:off x="1536612" y="1058155"/>
            <a:ext cx="8712376" cy="3047516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D83437F7-F8D1-4EBF-37B6-07B5C8A7D181}"/>
              </a:ext>
            </a:extLst>
          </p:cNvPr>
          <p:cNvSpPr txBox="1"/>
          <p:nvPr/>
        </p:nvSpPr>
        <p:spPr>
          <a:xfrm>
            <a:off x="5288915" y="4105671"/>
            <a:ext cx="29565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decreased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can reduce SLA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prevent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losses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C82EAB7D-F378-7BA4-9A88-AC54DB8D51F1}"/>
              </a:ext>
            </a:extLst>
          </p:cNvPr>
          <p:cNvSpPr txBox="1"/>
          <p:nvPr/>
        </p:nvSpPr>
        <p:spPr>
          <a:xfrm>
            <a:off x="4026703" y="5903083"/>
            <a:ext cx="566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Contrary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expected</a:t>
            </a:r>
            <a:r>
              <a:rPr lang="es-ES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CuadroTexto 10">
            <a:extLst>
              <a:ext uri="{FF2B5EF4-FFF2-40B4-BE49-F238E27FC236}">
                <a16:creationId xmlns:a16="http://schemas.microsoft.com/office/drawing/2014/main" id="{4AFD5ADB-7309-9E31-754C-662A52E6DE59}"/>
              </a:ext>
            </a:extLst>
          </p:cNvPr>
          <p:cNvSpPr txBox="1"/>
          <p:nvPr/>
        </p:nvSpPr>
        <p:spPr>
          <a:xfrm>
            <a:off x="8661397" y="4542712"/>
            <a:ext cx="2621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response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factor!</a:t>
            </a: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5E222CD1-A427-DC37-54F3-C3C02023523C}"/>
              </a:ext>
            </a:extLst>
          </p:cNvPr>
          <p:cNvSpPr txBox="1"/>
          <p:nvPr/>
        </p:nvSpPr>
        <p:spPr>
          <a:xfrm>
            <a:off x="1807122" y="4105671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Denser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stands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limitting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availability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per individual</a:t>
            </a:r>
          </a:p>
        </p:txBody>
      </p:sp>
    </p:spTree>
    <p:extLst>
      <p:ext uri="{BB962C8B-B14F-4D97-AF65-F5344CB8AC3E}">
        <p14:creationId xmlns:p14="http://schemas.microsoft.com/office/powerpoint/2010/main" val="4188263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817C-A3F6-4CDF-EA36-D5DB876C3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1887738-5FA3-398F-5A45-8D1BE143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FDAEAB4-983A-5310-50BA-5A0D50CD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549C90F-45ED-B3B2-EB45-508D405899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E13DBB13-C45D-3BA8-A0AF-F4460C6C7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935" y="1006150"/>
            <a:ext cx="8957388" cy="4478695"/>
          </a:xfrm>
          <a:prstGeom prst="rect">
            <a:avLst/>
          </a:prstGeom>
        </p:spPr>
      </p:pic>
      <p:sp>
        <p:nvSpPr>
          <p:cNvPr id="15" name="CuadroTexto 10">
            <a:extLst>
              <a:ext uri="{FF2B5EF4-FFF2-40B4-BE49-F238E27FC236}">
                <a16:creationId xmlns:a16="http://schemas.microsoft.com/office/drawing/2014/main" id="{376850FD-E880-7FF4-61E7-9A526E0ED34C}"/>
              </a:ext>
            </a:extLst>
          </p:cNvPr>
          <p:cNvSpPr txBox="1"/>
          <p:nvPr/>
        </p:nvSpPr>
        <p:spPr>
          <a:xfrm>
            <a:off x="6224763" y="3375849"/>
            <a:ext cx="29565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more intense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CuadroTexto 10">
            <a:extLst>
              <a:ext uri="{FF2B5EF4-FFF2-40B4-BE49-F238E27FC236}">
                <a16:creationId xmlns:a16="http://schemas.microsoft.com/office/drawing/2014/main" id="{57FE396C-A654-0C38-F2C3-23BF5822CCB3}"/>
              </a:ext>
            </a:extLst>
          </p:cNvPr>
          <p:cNvSpPr txBox="1"/>
          <p:nvPr/>
        </p:nvSpPr>
        <p:spPr>
          <a:xfrm>
            <a:off x="8907625" y="1477261"/>
            <a:ext cx="30604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according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418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D9215-EB31-DF63-C38A-A4031EB8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46ECFE9-CA61-DA29-F4A1-F83D32F391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AA09DFA-3AA8-50F9-CA49-1906B5FC4A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149B6E-EE2F-4B2A-12FA-35A8CAAF3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B7D8BA-B34B-1605-56A3-748DA799743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5FE2BFF-9518-F701-075E-7274D535AFA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7B0781B3-94BC-26CA-05FE-CA59368F9BCF}"/>
              </a:ext>
            </a:extLst>
          </p:cNvPr>
          <p:cNvSpPr txBox="1"/>
          <p:nvPr/>
        </p:nvSpPr>
        <p:spPr>
          <a:xfrm>
            <a:off x="700296" y="2137904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DBF2628-7A46-711C-92FF-807472752A01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FD781F76-57AC-B21D-527A-CEE8DE92CA17}"/>
              </a:ext>
            </a:extLst>
          </p:cNvPr>
          <p:cNvSpPr txBox="1"/>
          <p:nvPr/>
        </p:nvSpPr>
        <p:spPr>
          <a:xfrm>
            <a:off x="811912" y="3919876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PCA3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8C9A36D7-CECB-FD61-7B30-4CCB1616C213}"/>
              </a:ext>
            </a:extLst>
          </p:cNvPr>
          <p:cNvSpPr txBox="1"/>
          <p:nvPr/>
        </p:nvSpPr>
        <p:spPr>
          <a:xfrm>
            <a:off x="811912" y="5009645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1BA07AEB-7DF7-5E5A-7E00-74691E0E4428}"/>
              </a:ext>
            </a:extLst>
          </p:cNvPr>
          <p:cNvSpPr txBox="1"/>
          <p:nvPr/>
        </p:nvSpPr>
        <p:spPr>
          <a:xfrm>
            <a:off x="767265" y="5765665"/>
            <a:ext cx="5717530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 try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AICc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instead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them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PCA’s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282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AEE3E-1A5F-B746-3593-05CDEC892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BD43907-7EF2-2577-51A2-8194E3B588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939" y="804155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9FF5E4A9-B8A5-6A58-27BA-3B3B9F24C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2E9D4EA-F385-9C55-C6E6-32EDB69FF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7F7689-66D3-C505-806F-6965F977976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8C299A2-EC31-C530-9422-5D519AC746F4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5.- </a:t>
            </a:r>
            <a:r>
              <a:rPr lang="es-ES" sz="3200" b="1" dirty="0" err="1">
                <a:latin typeface="Helvetica"/>
                <a:cs typeface="Helvetica"/>
              </a:rPr>
              <a:t>Model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A47C4BE-EB36-0D50-70D7-084E039DB484}"/>
              </a:ext>
            </a:extLst>
          </p:cNvPr>
          <p:cNvSpPr txBox="1"/>
          <p:nvPr/>
        </p:nvSpPr>
        <p:spPr>
          <a:xfrm>
            <a:off x="700297" y="3028890"/>
            <a:ext cx="539570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start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 LMM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just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5ABD145B-1947-A770-FB87-BC23E00FD711}"/>
              </a:ext>
            </a:extLst>
          </p:cNvPr>
          <p:cNvSpPr txBox="1"/>
          <p:nvPr/>
        </p:nvSpPr>
        <p:spPr>
          <a:xfrm>
            <a:off x="733781" y="1941372"/>
            <a:ext cx="5476674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variability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P.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climatic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niche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first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767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DEC1B-C816-A57E-F65A-D08DE59F6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3CA2F80B-F538-0DD1-F945-434820C7A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798" y="946210"/>
            <a:ext cx="5717531" cy="571753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5120CDB9-C77C-047D-466A-73D2DEDC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1DBD8F-74D5-1E9A-46A2-AF609C270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responses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09C40D-0CB6-13D8-BF96-9CD59C138D5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E4C07CB-3769-55EC-1BD2-78DD9801897A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ED400FBE-20DD-0CEA-2E97-11CD59212993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3DF3B6F-2958-A51A-BDEB-16107F1FE967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9035D241-233B-D1E5-D4F6-E0F11B9282B1}"/>
              </a:ext>
            </a:extLst>
          </p:cNvPr>
          <p:cNvSpPr txBox="1"/>
          <p:nvPr/>
        </p:nvSpPr>
        <p:spPr>
          <a:xfrm>
            <a:off x="700296" y="3748881"/>
            <a:ext cx="5476674" cy="923330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ratios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be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useful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characterise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TextBox 2">
            <a:extLst>
              <a:ext uri="{FF2B5EF4-FFF2-40B4-BE49-F238E27FC236}">
                <a16:creationId xmlns:a16="http://schemas.microsoft.com/office/drawing/2014/main" id="{55DD12C0-C013-BFB9-51E8-7A8FB2FE4AE9}"/>
              </a:ext>
            </a:extLst>
          </p:cNvPr>
          <p:cNvSpPr txBox="1"/>
          <p:nvPr/>
        </p:nvSpPr>
        <p:spPr>
          <a:xfrm>
            <a:off x="588749" y="4767513"/>
            <a:ext cx="5476674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predictors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wood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predictor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Signo de multiplicación 8">
            <a:extLst>
              <a:ext uri="{FF2B5EF4-FFF2-40B4-BE49-F238E27FC236}">
                <a16:creationId xmlns:a16="http://schemas.microsoft.com/office/drawing/2014/main" id="{5CAC42E4-996C-6A5B-BA06-1FBEC39E7530}"/>
              </a:ext>
            </a:extLst>
          </p:cNvPr>
          <p:cNvSpPr/>
          <p:nvPr/>
        </p:nvSpPr>
        <p:spPr>
          <a:xfrm>
            <a:off x="6096000" y="4885144"/>
            <a:ext cx="2095013" cy="782831"/>
          </a:xfrm>
          <a:prstGeom prst="mathMultiply">
            <a:avLst>
              <a:gd name="adj1" fmla="val 125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Signo de multiplicación 9">
            <a:extLst>
              <a:ext uri="{FF2B5EF4-FFF2-40B4-BE49-F238E27FC236}">
                <a16:creationId xmlns:a16="http://schemas.microsoft.com/office/drawing/2014/main" id="{3059FD5B-7B84-E2FB-85A3-C03C92EBF85D}"/>
              </a:ext>
            </a:extLst>
          </p:cNvPr>
          <p:cNvSpPr/>
          <p:nvPr/>
        </p:nvSpPr>
        <p:spPr>
          <a:xfrm>
            <a:off x="6126579" y="2277216"/>
            <a:ext cx="2095013" cy="2576980"/>
          </a:xfrm>
          <a:prstGeom prst="mathMultiply">
            <a:avLst>
              <a:gd name="adj1" fmla="val 5317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Signo de multiplicación 10">
            <a:extLst>
              <a:ext uri="{FF2B5EF4-FFF2-40B4-BE49-F238E27FC236}">
                <a16:creationId xmlns:a16="http://schemas.microsoft.com/office/drawing/2014/main" id="{2C6F5839-30B0-A428-6A49-C0BF697B8073}"/>
              </a:ext>
            </a:extLst>
          </p:cNvPr>
          <p:cNvSpPr/>
          <p:nvPr/>
        </p:nvSpPr>
        <p:spPr>
          <a:xfrm>
            <a:off x="6126579" y="1522390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Signo de multiplicación 12">
            <a:extLst>
              <a:ext uri="{FF2B5EF4-FFF2-40B4-BE49-F238E27FC236}">
                <a16:creationId xmlns:a16="http://schemas.microsoft.com/office/drawing/2014/main" id="{D026C8A0-E1C2-C8D1-C099-1D5F4EAC167B}"/>
              </a:ext>
            </a:extLst>
          </p:cNvPr>
          <p:cNvSpPr/>
          <p:nvPr/>
        </p:nvSpPr>
        <p:spPr>
          <a:xfrm>
            <a:off x="6126578" y="5852197"/>
            <a:ext cx="2095013" cy="556073"/>
          </a:xfrm>
          <a:prstGeom prst="mathMultiply">
            <a:avLst>
              <a:gd name="adj1" fmla="val 12391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9151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700296" y="1786800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non-declining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6B0F2A83-214E-80AD-E835-17CE136718D5}"/>
              </a:ext>
            </a:extLst>
          </p:cNvPr>
          <p:cNvSpPr txBox="1"/>
          <p:nvPr/>
        </p:nvSpPr>
        <p:spPr>
          <a:xfrm>
            <a:off x="700296" y="2556247"/>
            <a:ext cx="547667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much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do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change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6305C09F-6A08-70E0-25B8-8B8FCCF54089}"/>
              </a:ext>
            </a:extLst>
          </p:cNvPr>
          <p:cNvSpPr txBox="1"/>
          <p:nvPr/>
        </p:nvSpPr>
        <p:spPr>
          <a:xfrm>
            <a:off x="700296" y="4350764"/>
            <a:ext cx="4253669" cy="46166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final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0966" y="1140469"/>
            <a:ext cx="5380738" cy="538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0AF57-F7CD-3929-F859-083DE6DC3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C65E357-B8C5-038A-779B-6B240327D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51B7E5-5709-010A-BBD1-924A12829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EAB1ED0-F85C-1B9F-1435-9C2E383C73C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38D5660F-6CD8-84E6-5DD6-AE05D9DC749C}"/>
              </a:ext>
            </a:extLst>
          </p:cNvPr>
          <p:cNvSpPr txBox="1"/>
          <p:nvPr/>
        </p:nvSpPr>
        <p:spPr>
          <a:xfrm>
            <a:off x="6615566" y="2123593"/>
            <a:ext cx="47855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upregulates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expression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senescence-associated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genes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sythesis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ROS,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apparatus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follow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Mediterranean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gradient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B1537FF-25B6-EC73-9FD8-D09E0429C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660802"/>
            <a:ext cx="5305154" cy="3536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41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FC8D9-A85B-70C2-A486-B1B3F2FCA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715A64E-5519-650C-52D4-F0846918A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40044C-AE59-01C1-9D47-1E6972E1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040C455-656A-3889-B9F5-A8B5D94DA5B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F6269942-6A2B-031E-5216-3D20D7D30CD7}"/>
              </a:ext>
            </a:extLst>
          </p:cNvPr>
          <p:cNvSpPr txBox="1"/>
          <p:nvPr/>
        </p:nvSpPr>
        <p:spPr>
          <a:xfrm>
            <a:off x="2195966" y="4816764"/>
            <a:ext cx="47855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tan non-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allocation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impaired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.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pattern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however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clear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site-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36A4187-2BD6-25D4-A4DB-239D2A7B00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851" y="886512"/>
            <a:ext cx="10261600" cy="38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6454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BF33-B668-C835-5A5F-72C386031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A0419BA-23D0-2E79-4996-991C69B2FF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BBBB154-EDBE-07FA-3AA6-E9E85259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643BCE-9D80-8F56-14F4-5A9B6311E7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4C6D4FEC-C6A9-C2ED-D7B8-5647394BAC2E}"/>
              </a:ext>
            </a:extLst>
          </p:cNvPr>
          <p:cNvSpPr txBox="1"/>
          <p:nvPr/>
        </p:nvSpPr>
        <p:spPr>
          <a:xfrm>
            <a:off x="7298108" y="1477261"/>
            <a:ext cx="47855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sites show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SLA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which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reflects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shift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towards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 more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cell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show a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particularly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F313A1-2755-7F07-BBAB-56E601BD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46" y="1143000"/>
            <a:ext cx="6949682" cy="521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9913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2985</TotalTime>
  <Words>1635</Words>
  <Application>Microsoft Office PowerPoint</Application>
  <PresentationFormat>Panorámica</PresentationFormat>
  <Paragraphs>322</Paragraphs>
  <Slides>26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Data analysis</vt:lpstr>
      <vt:lpstr> Data analysis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Preliminary results</vt:lpstr>
      <vt:lpstr> Data analysis</vt:lpstr>
      <vt:lpstr> Data analysis</vt:lpstr>
      <vt:lpstr> Data analysis – Physiological responses</vt:lpstr>
      <vt:lpstr>Presentación de PowerPoint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23</cp:revision>
  <dcterms:created xsi:type="dcterms:W3CDTF">2025-04-25T13:52:31Z</dcterms:created>
  <dcterms:modified xsi:type="dcterms:W3CDTF">2025-06-11T13:09:35Z</dcterms:modified>
</cp:coreProperties>
</file>