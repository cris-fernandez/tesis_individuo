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95_4CD3AFA7.xml" ContentType="application/vnd.ms-powerpoint.comments+xml"/>
  <Override PartName="/ppt/notesSlides/notesSlide1.xml" ContentType="application/vnd.openxmlformats-officedocument.presentationml.notesSlide+xml"/>
  <Override PartName="/ppt/comments/modernComment_196_9A4652F4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306" r:id="rId3"/>
    <p:sldId id="379" r:id="rId4"/>
    <p:sldId id="335" r:id="rId5"/>
    <p:sldId id="282" r:id="rId6"/>
    <p:sldId id="404" r:id="rId7"/>
    <p:sldId id="405" r:id="rId8"/>
    <p:sldId id="406" r:id="rId9"/>
    <p:sldId id="342" r:id="rId10"/>
    <p:sldId id="337" r:id="rId11"/>
    <p:sldId id="407" r:id="rId12"/>
    <p:sldId id="408" r:id="rId13"/>
    <p:sldId id="409" r:id="rId14"/>
    <p:sldId id="410" r:id="rId15"/>
    <p:sldId id="411" r:id="rId16"/>
    <p:sldId id="412" r:id="rId17"/>
    <p:sldId id="413" r:id="rId18"/>
    <p:sldId id="417" r:id="rId19"/>
    <p:sldId id="418" r:id="rId20"/>
    <p:sldId id="429" r:id="rId21"/>
    <p:sldId id="430" r:id="rId22"/>
    <p:sldId id="420" r:id="rId23"/>
    <p:sldId id="422" r:id="rId24"/>
    <p:sldId id="423" r:id="rId25"/>
    <p:sldId id="424" r:id="rId26"/>
    <p:sldId id="425" r:id="rId27"/>
    <p:sldId id="427" r:id="rId28"/>
    <p:sldId id="426" r:id="rId29"/>
    <p:sldId id="428" r:id="rId3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4BCF0B-13A8-F3D9-5213-32840108FAB3}" name="Cristopher Fernández de Blas" initials="CF" userId="13a2925ceb8d18c3" providerId="Windows Live"/>
  <p188:author id="{9B18557D-7187-C966-2E91-CE8B6CF86FC3}" name="Charlotte Grossiord" initials="" userId="S::charlotte.grossiord@wsl.ch::81d5e498-a7ae-4007-b872-c94d21631f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317"/>
    <a:srgbClr val="7030A0"/>
    <a:srgbClr val="2F5597"/>
    <a:srgbClr val="7873B4"/>
    <a:srgbClr val="37AD88"/>
    <a:srgbClr val="DB5E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/>
  </p:normalViewPr>
  <p:slideViewPr>
    <p:cSldViewPr snapToGrid="0">
      <p:cViewPr varScale="1">
        <p:scale>
          <a:sx n="82" d="100"/>
          <a:sy n="82" d="100"/>
        </p:scale>
        <p:origin x="1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omments/modernComment_195_4CD3AF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4E7475-72AC-EF41-8DCE-78170E424C1C}" authorId="{9B18557D-7187-C966-2E91-CE8B6CF86FC3}" status="resolved" created="2025-05-29T06:12:45.19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88941479" sldId="405"/>
      <ac:spMk id="2" creationId="{0EDCCFA2-7421-E9F8-432B-5107BCD8FD10}"/>
      <ac:txMk cp="51" len="20">
        <ac:context len="107" hash="2339119931"/>
      </ac:txMk>
    </ac:txMkLst>
    <p188:pos x="10253995" y="471991"/>
    <p188:replyLst>
      <p188:reply id="{2E4515F3-7C3C-49BD-BF5F-5F31525025FA}" authorId="{DB4BCF0B-13A8-F3D9-5213-32840108FAB3}" created="2025-06-02T13:15:51.918">
        <p188:txBody>
          <a:bodyPr/>
          <a:lstStyle/>
          <a:p>
            <a:r>
              <a:rPr lang="es-ES"/>
              <a:t>I think I’d rather keep them separate for now ☺️</a:t>
            </a:r>
          </a:p>
        </p188:txBody>
      </p188:reply>
    </p188:replyLst>
    <p188:txBody>
      <a:bodyPr/>
      <a:lstStyle/>
      <a:p>
        <a:r>
          <a:rPr lang="en-US"/>
          <a:t>why not merge Obj 1 and Obj2 by saying that you investigate the intrinsik risk factors (size, competition...) and the observable responses (mentionned here)?</a:t>
        </a:r>
      </a:p>
    </p188:txBody>
  </p188:cm>
</p188:cmLst>
</file>

<file path=ppt/comments/modernComment_196_9A4652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FC64F5-D2B2-46FE-9306-A6DE9DD7124B}" authorId="{DB4BCF0B-13A8-F3D9-5213-32840108FAB3}" status="resolved" created="2025-05-28T08:19:30.28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88300020" sldId="406"/>
      <ac:spMk id="5" creationId="{B4C51AA4-52F0-151B-7375-C783F89B7860}"/>
      <ac:txMk cp="9" len="65">
        <ac:context len="134" hash="2670110537"/>
      </ac:txMk>
    </ac:txMkLst>
    <p188:pos x="5210748" y="608441"/>
    <p188:txBody>
      <a:bodyPr/>
      <a:lstStyle/>
      <a:p>
        <a:r>
          <a:rPr lang="es-ES"/>
          <a:t>Only in Pinus sylvestris because it’s the only one for which we have enough variability of climatic conditions...</a:t>
        </a:r>
      </a:p>
    </p188:txBody>
  </p188:cm>
  <p188:cm id="{979B1C66-BD76-5E49-94EF-A5F4129955E8}" authorId="{9B18557D-7187-C966-2E91-CE8B6CF86FC3}" status="resolved" created="2025-05-29T06:04:44.200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8300020" sldId="406"/>
      <ac:spMk id="4" creationId="{C713888D-F036-1927-F7A3-7FD8FFA4D2BD}"/>
    </ac:deMkLst>
    <p188:replyLst>
      <p188:reply id="{66253953-0CD7-4F1A-90B7-DC168D679E88}" authorId="{DB4BCF0B-13A8-F3D9-5213-32840108FAB3}" created="2025-06-02T09:14:13.426">
        <p188:txBody>
          <a:bodyPr/>
          <a:lstStyle/>
          <a:p>
            <a:r>
              <a:rPr lang="es-ES"/>
              <a:t>True, no real time measurements, I was refering to d13C, so maybe it is better to talk about iWUE?</a:t>
            </a:r>
          </a:p>
        </p188:txBody>
      </p188:reply>
    </p188:replyLst>
    <p188:txBody>
      <a:bodyPr/>
      <a:lstStyle/>
      <a:p>
        <a:r>
          <a:rPr lang="en-US"/>
          <a:t>do you have transpiration data? It did not seem to be the case. Same for photosynthesis and senescence</a:t>
        </a:r>
      </a:p>
    </p188:txBody>
  </p188:cm>
  <p188:cm id="{171165BB-20F0-0949-8D10-18E5B72839ED}" authorId="{9B18557D-7187-C966-2E91-CE8B6CF86FC3}" status="resolved" created="2025-05-29T06:06:15.49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8300020" sldId="406"/>
      <ac:spMk id="5" creationId="{B4C51AA4-52F0-151B-7375-C783F89B7860}"/>
    </ac:deMkLst>
    <p188:replyLst>
      <p188:reply id="{995D1786-E8E9-4D82-BFDA-8A49B5B4D026}" authorId="{DB4BCF0B-13A8-F3D9-5213-32840108FAB3}" created="2025-06-02T09:12:26.623">
        <p188:txBody>
          <a:bodyPr/>
          <a:lstStyle/>
          <a:p>
            <a:r>
              <a:rPr lang="es-ES"/>
              <a:t>Great! I love it ☺️</a:t>
            </a:r>
          </a:p>
        </p188:txBody>
      </p188:reply>
    </p188:replyLst>
    <p188:txBody>
      <a:bodyPr/>
      <a:lstStyle/>
      <a:p>
        <a:r>
          <a:rPr lang="en-US"/>
          <a:t>here you could even say the same as O1: to look at how the mechanisms that affect drought vulnerability are mofidied by long-term adaptations to varying moisture</a:t>
        </a:r>
      </a:p>
    </p188:txBody>
  </p188:cm>
  <p188:cm id="{ECBB49CA-5B9C-4142-9EEF-BB6A61789287}" authorId="{9B18557D-7187-C966-2E91-CE8B6CF86FC3}" status="resolved" created="2025-05-29T06:07:08.43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88300020" sldId="406"/>
      <ac:spMk id="7" creationId="{7C371B6A-D08A-2959-5BDA-6D76133D6F74}"/>
      <ac:txMk cp="60" len="18">
        <ac:context len="105" hash="992420240"/>
      </ac:txMk>
    </ac:txMkLst>
    <p188:pos x="10948940" y="470172"/>
    <p188:replyLst>
      <p188:reply id="{71E06F36-1105-435C-AA22-95BDD759A145}" authorId="{DB4BCF0B-13A8-F3D9-5213-32840108FAB3}" created="2025-06-02T09:30:24.178">
        <p188:txBody>
          <a:bodyPr/>
          <a:lstStyle/>
          <a:p>
            <a:r>
              <a:rPr lang="es-ES"/>
              <a:t>We are considering modelling the niche of the species to calculate “how far from the optimal” the species are at a given place. That way, we wouldn’t really need the species identity...</a:t>
            </a:r>
          </a:p>
        </p188:txBody>
      </p188:reply>
    </p188:replyLst>
    <p188:txBody>
      <a:bodyPr/>
      <a:lstStyle/>
      <a:p>
        <a:r>
          <a:rPr lang="en-US"/>
          <a:t>I though you said you can only do this in Pinus synvesltris? Then this hypotheses should rather be formulated like H1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983DD-E218-4F5B-97E6-73372FCDFB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FFF-AA8A-422F-901E-D94C39C8B22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0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473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661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735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2C936-5A85-D26D-A1A2-3995F25E4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DF41241-C527-0269-5349-925DD9211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304C16-9142-9471-FF44-7379A6191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249B6E-84D0-BAF7-0235-37077C7C2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4016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0A726-8B60-9081-AB22-2ACFF82A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50546EF-CD9D-6AF5-42AA-6256E4E21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78122E8-E439-6B82-DA47-AC465F3A7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15EA7E-2854-2B8E-0B30-689552412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8219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6BAD8-FE93-307E-B168-D5077AC36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3B19B96-C661-E472-BF55-0C2C554AD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6A02FA-A2B9-3472-1EC8-92C98BE62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D6C001-1D80-4D5D-72E1-B828FEDBB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3399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91346-0477-2D64-1758-CD4290240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B4B1B5-E6B1-73FF-560C-C5733EF8F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4166E5-DB63-F5A0-2DC1-0F3089833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EE112C-2BC6-CCB1-B12F-827234CF9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6031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D12A7-754F-69ED-C301-C8F0FF5D6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AC54C21-DCE2-17C8-02CF-7CAD514CC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D4B9F8-CBA8-BEA7-8330-C452C157F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608BCF-D0E4-76D1-A3BD-9D411B2B9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4206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AA5DD-4E09-B91F-8E5F-562F45D2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728FF2-68BF-DFFD-E2E7-A26B60866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A6B10F-3922-ADDD-1A6E-3BF195F37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89864A-C6E7-67C6-59F4-4E05C9653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0714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EA540-2665-6B03-3052-2BB8D81B4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978BF3-B6E3-461D-2BF7-FDAA8DD3A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F071E02-587E-C717-F100-27DD23CE8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F2BE83-BBD6-038E-4EAD-EDF7C3FCA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0682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BBB7C-6398-B57B-43B6-3B99CBC57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13C096-5AEE-AB4D-7D95-259825E83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0CD0B7-22AB-B730-EB92-6B7A66661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AE346A-E292-7789-868E-859CA00DB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2666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640DE-EF5A-BF63-2E51-3F00BBC82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BF010-56F3-6C41-3ED4-6C6CD7B86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884DF-EF45-3ED4-7FED-EDBF9117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C811A-9D34-4AB3-450F-9DA4CF3A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F95F7-3C7B-946C-366A-49B04093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009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9DE6E-BF0C-E652-3C51-49F5B25C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BD04C-625F-583F-FC5B-0B03DB01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C05C8-58D0-6801-9E5F-F0B2E40C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3DC1A-F7D9-17B6-DD6B-F8340D3E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0615A-9ABF-3407-3DD7-7F2A4626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49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D798C-EF3C-75D7-DF34-7D4C4274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D251F-D0F0-354A-F45F-27D2789A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C9AAB-A900-C82B-BE85-C8F40230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CAC175-7E84-92B8-4A79-9CBAFDBD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2F1AF-BA78-B1B5-EC60-FA0ADA41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3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D3BAE-9F26-0518-54AF-3E926C2C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A59CD-AFDE-1619-A608-CDEC2CDC6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CCD51C-A4E4-C6A4-BBD0-93E4CAEB7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F563BB-C9D2-279E-8859-0E318201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4AD24-34FC-A14B-6E80-F6F63915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1E899-44E6-3273-3EE1-32945AC3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A15D-25C4-382E-22A7-81D0B791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AE567-062B-49F4-8619-63F87A39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20789-F3FF-21AF-9D54-CD59B675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1177D8-E0EE-7BD1-068F-C81B122CD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8A0FCD-E226-F963-4F76-8996CB9B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CDC16D-2FED-2D12-3D08-D6F077A7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CFB62D-A51A-2454-4405-88CE76E5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74924C-DB70-2D03-5E1D-0C3DDF4C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06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4F3FD-BF5F-164B-AAF7-98EC5A3E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37ECC9-AC2F-85D7-F049-98C88DF4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C12025-51E5-6BB4-4D99-1EAD8C36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2ADA6-2C6B-24C3-2868-EF4353B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4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6E515E-F511-61BB-3E91-0942651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4634D0-27C9-95EF-3E84-BE4C1A27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4E3C35-4075-3D27-0B82-3A6CC319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94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0776-5E34-0607-D69E-3EF7EC6E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EC768-6F4D-C19A-89E0-6A794544B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35944C-60F6-AF2F-105B-501D4254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41D29-352F-5057-8D57-E152E682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0DC31-00EB-A127-3B45-71998447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EF0AB-281F-DE3B-5B75-1EBA359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26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A6A52-845E-5021-3313-F13CB32E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3D278-CC78-61F0-4FC8-993DFC68C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83A53A-9C6B-26A9-6123-57B769CD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633E21-3097-61E0-8610-BEF2D3E5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A8BFE-DEEE-886A-DD29-0927196B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1C076B-F3BC-8A46-DF79-E64A3019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01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63C6-B53F-825E-64CB-3015916A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3F1A8-F0E5-5999-2539-3162C3A5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1299C-664F-B1DC-502B-AACAA5B1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E2D33-E41C-7A2D-954D-B7377B44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44EEB-61E8-1F17-C276-395DCEB3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82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72534-2A4D-909F-7175-F0B6627FC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2AD40B-7F62-DB1B-BC75-257EF759F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3092A-D1B6-2D0C-7F7C-F9B47D51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F58730-2AEA-FFBD-4EB1-6446AC44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B5FE-8900-CDE3-A45F-9CE5E24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114144-76B6-9D89-6BFE-9EA6B510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F20E2-1DD1-B589-89E2-410C47E2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1B9EB-6037-B051-58F5-0FB73F7BA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2A3C-7F5D-464A-B794-A5CF9734955A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72BF2-7511-AB6D-DE0B-5A6923A82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6153C-F5E0-E3A2-16A0-F50E14478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6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95_4CD3AFA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6_9A4652F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D1276C-2F08-785C-87EC-6B990140D14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735636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99B278-9C5A-620C-C671-715C2AA7A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404"/>
            <a:ext cx="9144000" cy="3188380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analyses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1217E08-3399-DFA2-1E05-836FE1C2F420}"/>
              </a:ext>
            </a:extLst>
          </p:cNvPr>
          <p:cNvSpPr txBox="1">
            <a:spLocks/>
          </p:cNvSpPr>
          <p:nvPr/>
        </p:nvSpPr>
        <p:spPr>
          <a:xfrm>
            <a:off x="1" y="5735636"/>
            <a:ext cx="12192000" cy="1122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>
                <a:latin typeface="Helvetica"/>
                <a:cs typeface="Helvetica"/>
              </a:rPr>
              <a:t>Chapter</a:t>
            </a:r>
            <a:r>
              <a:rPr lang="es-ES" sz="3200" dirty="0">
                <a:latin typeface="Helvetica"/>
                <a:cs typeface="Helvetica"/>
              </a:rPr>
              <a:t> 2: </a:t>
            </a:r>
            <a:r>
              <a:rPr lang="es-ES" sz="3200" dirty="0" err="1">
                <a:latin typeface="Helvetica"/>
                <a:cs typeface="Helvetica"/>
              </a:rPr>
              <a:t>assessing</a:t>
            </a:r>
            <a:r>
              <a:rPr lang="es-ES" sz="3200" dirty="0">
                <a:latin typeface="Helvetica"/>
                <a:cs typeface="Helvetica"/>
              </a:rPr>
              <a:t> individual </a:t>
            </a:r>
            <a:r>
              <a:rPr lang="es-ES" sz="3200" dirty="0" err="1">
                <a:latin typeface="Helvetica"/>
                <a:cs typeface="Helvetica"/>
              </a:rPr>
              <a:t>factors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determining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drought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vulnerability</a:t>
            </a: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42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44D2-92AB-56BE-5401-B5857B4B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F0E37F81-4996-ACF1-D504-516BF4508F0D}"/>
              </a:ext>
            </a:extLst>
          </p:cNvPr>
          <p:cNvSpPr txBox="1">
            <a:spLocks/>
          </p:cNvSpPr>
          <p:nvPr/>
        </p:nvSpPr>
        <p:spPr>
          <a:xfrm>
            <a:off x="873964" y="999063"/>
            <a:ext cx="10733318" cy="577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 err="1">
                <a:latin typeface="Helvetica"/>
                <a:cs typeface="Helvetica"/>
              </a:rPr>
              <a:t>Morphological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endParaRPr lang="es-ES" dirty="0"/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0317BCC4-3F71-57F6-B195-00F0C0F72EB3}"/>
              </a:ext>
            </a:extLst>
          </p:cNvPr>
          <p:cNvSpPr txBox="1">
            <a:spLocks/>
          </p:cNvSpPr>
          <p:nvPr/>
        </p:nvSpPr>
        <p:spPr>
          <a:xfrm>
            <a:off x="873964" y="1771781"/>
            <a:ext cx="940058" cy="2552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244384-3004-6C6E-7451-A7238A5D0302}"/>
              </a:ext>
            </a:extLst>
          </p:cNvPr>
          <p:cNvSpPr txBox="1">
            <a:spLocks/>
          </p:cNvSpPr>
          <p:nvPr/>
        </p:nvSpPr>
        <p:spPr>
          <a:xfrm>
            <a:off x="4282027" y="1771781"/>
            <a:ext cx="940058" cy="2552401"/>
          </a:xfrm>
          <a:prstGeom prst="rect">
            <a:avLst/>
          </a:prstGeom>
          <a:solidFill>
            <a:srgbClr val="2F5597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ED42503-2FD0-622B-25DC-67609D2A8C2B}"/>
              </a:ext>
            </a:extLst>
          </p:cNvPr>
          <p:cNvSpPr txBox="1">
            <a:spLocks/>
          </p:cNvSpPr>
          <p:nvPr/>
        </p:nvSpPr>
        <p:spPr>
          <a:xfrm>
            <a:off x="2151683" y="1838732"/>
            <a:ext cx="1789618" cy="987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Tree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growth</a:t>
            </a:r>
            <a:endParaRPr lang="es-ES" sz="2400" b="1" dirty="0"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2400" dirty="0">
                <a:latin typeface="Helvetica" panose="020B0604020202020204"/>
                <a:cs typeface="Helvetica" panose="020B0604020202020204"/>
              </a:rPr>
              <a:t>BAI, </a:t>
            </a:r>
            <a:r>
              <a:rPr lang="es-ES" sz="2400" dirty="0" err="1">
                <a:latin typeface="Helvetica" panose="020B0604020202020204"/>
                <a:cs typeface="Helvetica" panose="020B0604020202020204"/>
              </a:rPr>
              <a:t>height</a:t>
            </a:r>
            <a:r>
              <a:rPr lang="es-ES" sz="2400" dirty="0">
                <a:latin typeface="Helvetica" panose="020B0604020202020204"/>
                <a:cs typeface="Helvetica" panose="020B0604020202020204"/>
              </a:rPr>
              <a:t>, </a:t>
            </a:r>
            <a:r>
              <a:rPr lang="es-ES" sz="2400" dirty="0" err="1">
                <a:latin typeface="Helvetica" panose="020B0604020202020204"/>
                <a:cs typeface="Helvetica" panose="020B0604020202020204"/>
              </a:rPr>
              <a:t>dbh</a:t>
            </a:r>
            <a:endParaRPr lang="es-ES" sz="2400" b="1" dirty="0"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20DB9558-B2BF-6BD6-E1CC-3565899D0CB3}"/>
              </a:ext>
            </a:extLst>
          </p:cNvPr>
          <p:cNvSpPr txBox="1">
            <a:spLocks/>
          </p:cNvSpPr>
          <p:nvPr/>
        </p:nvSpPr>
        <p:spPr>
          <a:xfrm>
            <a:off x="2313887" y="2886569"/>
            <a:ext cx="1462158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latin typeface="Helvetica"/>
                <a:cs typeface="Helvetica"/>
              </a:rPr>
              <a:t>SLA</a:t>
            </a:r>
            <a:endParaRPr lang="es-ES" sz="240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C12320A-0D50-B954-DBB2-1EB8131F8B5E}"/>
              </a:ext>
            </a:extLst>
          </p:cNvPr>
          <p:cNvSpPr txBox="1">
            <a:spLocks/>
          </p:cNvSpPr>
          <p:nvPr/>
        </p:nvSpPr>
        <p:spPr>
          <a:xfrm>
            <a:off x="2160035" y="3669011"/>
            <a:ext cx="17698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err="1">
                <a:latin typeface="Helvetica"/>
                <a:cs typeface="Helvetica"/>
              </a:rPr>
              <a:t>defoliation</a:t>
            </a:r>
            <a:endParaRPr lang="es-ES" sz="240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BF010CEC-27C0-43E8-F13F-4CD98F2A970C}"/>
              </a:ext>
            </a:extLst>
          </p:cNvPr>
          <p:cNvSpPr txBox="1">
            <a:spLocks/>
          </p:cNvSpPr>
          <p:nvPr/>
        </p:nvSpPr>
        <p:spPr>
          <a:xfrm>
            <a:off x="873963" y="1977572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69F6C2EF-A2B4-CADC-72E6-1ED344B9E1A7}"/>
              </a:ext>
            </a:extLst>
          </p:cNvPr>
          <p:cNvSpPr txBox="1">
            <a:spLocks/>
          </p:cNvSpPr>
          <p:nvPr/>
        </p:nvSpPr>
        <p:spPr>
          <a:xfrm>
            <a:off x="5986468" y="1933916"/>
            <a:ext cx="5331566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Photosynthesis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root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system</a:t>
            </a:r>
            <a:r>
              <a:rPr lang="es-ES" sz="2400" dirty="0">
                <a:latin typeface="Helvetica"/>
                <a:cs typeface="Helvetica"/>
              </a:rPr>
              <a:t>, reserves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785E35DF-EB1B-CC2D-77A0-8849F5A8E907}"/>
              </a:ext>
            </a:extLst>
          </p:cNvPr>
          <p:cNvSpPr txBox="1">
            <a:spLocks/>
          </p:cNvSpPr>
          <p:nvPr/>
        </p:nvSpPr>
        <p:spPr>
          <a:xfrm>
            <a:off x="4282028" y="1977572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8BE86B80-B33B-526D-DC67-62819F92DADC}"/>
              </a:ext>
            </a:extLst>
          </p:cNvPr>
          <p:cNvSpPr txBox="1">
            <a:spLocks/>
          </p:cNvSpPr>
          <p:nvPr/>
        </p:nvSpPr>
        <p:spPr>
          <a:xfrm>
            <a:off x="873962" y="2809267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C6519D60-4367-FE7F-E866-77BB4CC375F6}"/>
              </a:ext>
            </a:extLst>
          </p:cNvPr>
          <p:cNvSpPr txBox="1">
            <a:spLocks/>
          </p:cNvSpPr>
          <p:nvPr/>
        </p:nvSpPr>
        <p:spPr>
          <a:xfrm>
            <a:off x="873962" y="3672541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8476C887-83B4-0CA1-ED02-27A7FBBFAC2A}"/>
              </a:ext>
            </a:extLst>
          </p:cNvPr>
          <p:cNvSpPr txBox="1">
            <a:spLocks/>
          </p:cNvSpPr>
          <p:nvPr/>
        </p:nvSpPr>
        <p:spPr>
          <a:xfrm>
            <a:off x="4278968" y="280995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0E22DB08-9A70-46F7-386A-B2D485C5FF5A}"/>
              </a:ext>
            </a:extLst>
          </p:cNvPr>
          <p:cNvSpPr txBox="1">
            <a:spLocks/>
          </p:cNvSpPr>
          <p:nvPr/>
        </p:nvSpPr>
        <p:spPr>
          <a:xfrm>
            <a:off x="4278967" y="3669011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411AD154-DC3D-C24C-2F95-DD8D08C7B984}"/>
              </a:ext>
            </a:extLst>
          </p:cNvPr>
          <p:cNvSpPr txBox="1">
            <a:spLocks/>
          </p:cNvSpPr>
          <p:nvPr/>
        </p:nvSpPr>
        <p:spPr>
          <a:xfrm>
            <a:off x="870903" y="4533220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A7732EB-AC92-D301-1C71-C0F3EA3A8C5B}"/>
              </a:ext>
            </a:extLst>
          </p:cNvPr>
          <p:cNvSpPr txBox="1">
            <a:spLocks/>
          </p:cNvSpPr>
          <p:nvPr/>
        </p:nvSpPr>
        <p:spPr>
          <a:xfrm>
            <a:off x="5986468" y="2649744"/>
            <a:ext cx="4855701" cy="8721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Cell </a:t>
            </a:r>
            <a:r>
              <a:rPr lang="es-ES" sz="2400" dirty="0" err="1">
                <a:latin typeface="Helvetica"/>
                <a:cs typeface="Helvetica"/>
              </a:rPr>
              <a:t>turgor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photosynthesis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C3B40292-1AF1-2640-EC87-6CC71A2C465D}"/>
              </a:ext>
            </a:extLst>
          </p:cNvPr>
          <p:cNvSpPr txBox="1">
            <a:spLocks/>
          </p:cNvSpPr>
          <p:nvPr/>
        </p:nvSpPr>
        <p:spPr>
          <a:xfrm>
            <a:off x="5982999" y="3608276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ABA, ROS</a:t>
            </a:r>
            <a:endParaRPr lang="es-ES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56DACEA6-21E5-9D40-24FB-EC379237380F}"/>
              </a:ext>
            </a:extLst>
          </p:cNvPr>
          <p:cNvSpPr txBox="1">
            <a:spLocks/>
          </p:cNvSpPr>
          <p:nvPr/>
        </p:nvSpPr>
        <p:spPr>
          <a:xfrm>
            <a:off x="708632" y="4598254"/>
            <a:ext cx="1264601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endParaRPr lang="es-ES" sz="18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CDC21DF1-4AEF-AD13-6C74-3B4CEA35CAA6}"/>
              </a:ext>
            </a:extLst>
          </p:cNvPr>
          <p:cNvSpPr txBox="1">
            <a:spLocks/>
          </p:cNvSpPr>
          <p:nvPr/>
        </p:nvSpPr>
        <p:spPr>
          <a:xfrm>
            <a:off x="4213149" y="4598255"/>
            <a:ext cx="1264601" cy="8041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/>
                <a:cs typeface="Helvetica"/>
              </a:rPr>
              <a:t>Non-</a:t>
            </a:r>
            <a:r>
              <a:rPr lang="es-ES" sz="1800" dirty="0" err="1">
                <a:solidFill>
                  <a:srgbClr val="2F5597"/>
                </a:solidFill>
                <a:latin typeface="Helvetica"/>
                <a:cs typeface="Helvetica"/>
              </a:rPr>
              <a:t>declining</a:t>
            </a:r>
            <a:endParaRPr lang="es-ES" sz="1800" dirty="0">
              <a:solidFill>
                <a:srgbClr val="2F5597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9EE9E40-6950-4753-742B-41B77D6E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D6C056-DBDC-9051-F928-683EDD58594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604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73EF-7B15-F991-0F51-AB7AB29C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69BF10B0-3121-99E5-815A-1C06E91AFCD7}"/>
              </a:ext>
            </a:extLst>
          </p:cNvPr>
          <p:cNvSpPr txBox="1">
            <a:spLocks/>
          </p:cNvSpPr>
          <p:nvPr/>
        </p:nvSpPr>
        <p:spPr>
          <a:xfrm>
            <a:off x="873964" y="999063"/>
            <a:ext cx="10733318" cy="577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 err="1">
                <a:latin typeface="Helvetica"/>
                <a:cs typeface="Helvetica"/>
              </a:rPr>
              <a:t>Physiological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endParaRPr lang="es-ES" dirty="0"/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A631800C-35AA-3E52-2E97-DBC89B49B27C}"/>
              </a:ext>
            </a:extLst>
          </p:cNvPr>
          <p:cNvSpPr txBox="1">
            <a:spLocks/>
          </p:cNvSpPr>
          <p:nvPr/>
        </p:nvSpPr>
        <p:spPr>
          <a:xfrm>
            <a:off x="873964" y="1766109"/>
            <a:ext cx="940058" cy="4092828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BEB9F0-FAF6-9C8D-E5AA-1B0C26144440}"/>
              </a:ext>
            </a:extLst>
          </p:cNvPr>
          <p:cNvSpPr txBox="1">
            <a:spLocks/>
          </p:cNvSpPr>
          <p:nvPr/>
        </p:nvSpPr>
        <p:spPr>
          <a:xfrm>
            <a:off x="4282027" y="1766109"/>
            <a:ext cx="940058" cy="4092828"/>
          </a:xfrm>
          <a:prstGeom prst="rect">
            <a:avLst/>
          </a:prstGeom>
          <a:solidFill>
            <a:srgbClr val="2F5597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4FB3DCF9-52CA-B7EF-7848-E7A37B38A908}"/>
              </a:ext>
            </a:extLst>
          </p:cNvPr>
          <p:cNvSpPr txBox="1">
            <a:spLocks/>
          </p:cNvSpPr>
          <p:nvPr/>
        </p:nvSpPr>
        <p:spPr>
          <a:xfrm>
            <a:off x="2041437" y="1928244"/>
            <a:ext cx="2061466" cy="987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Chlorophylls</a:t>
            </a:r>
            <a:endParaRPr lang="es-ES" sz="2400" b="1" dirty="0"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95DAA7E-9761-75A8-6F4F-8AEBC6C097D3}"/>
              </a:ext>
            </a:extLst>
          </p:cNvPr>
          <p:cNvSpPr txBox="1">
            <a:spLocks/>
          </p:cNvSpPr>
          <p:nvPr/>
        </p:nvSpPr>
        <p:spPr>
          <a:xfrm>
            <a:off x="2122539" y="2785616"/>
            <a:ext cx="18992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Carotenoids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40D9016-DF94-2920-15C7-B6DAF9346E8A}"/>
              </a:ext>
            </a:extLst>
          </p:cNvPr>
          <p:cNvSpPr txBox="1">
            <a:spLocks/>
          </p:cNvSpPr>
          <p:nvPr/>
        </p:nvSpPr>
        <p:spPr>
          <a:xfrm>
            <a:off x="2160035" y="3663339"/>
            <a:ext cx="17698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/>
                <a:cs typeface="Helvetica"/>
              </a:rPr>
              <a:t>LWC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F597052C-6720-35C2-9334-749391532AC8}"/>
              </a:ext>
            </a:extLst>
          </p:cNvPr>
          <p:cNvSpPr txBox="1">
            <a:spLocks/>
          </p:cNvSpPr>
          <p:nvPr/>
        </p:nvSpPr>
        <p:spPr>
          <a:xfrm>
            <a:off x="873963" y="197190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1B6F6CD-EEF8-AAB6-2FD3-B80317C88413}"/>
              </a:ext>
            </a:extLst>
          </p:cNvPr>
          <p:cNvSpPr txBox="1">
            <a:spLocks/>
          </p:cNvSpPr>
          <p:nvPr/>
        </p:nvSpPr>
        <p:spPr>
          <a:xfrm>
            <a:off x="5986468" y="1928244"/>
            <a:ext cx="5331566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Synthesis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downregulation</a:t>
            </a:r>
            <a:r>
              <a:rPr lang="es-ES" sz="2400" dirty="0">
                <a:latin typeface="Helvetica"/>
                <a:cs typeface="Helvetica"/>
              </a:rPr>
              <a:t>, ROS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9CAEA58C-9201-03E7-3446-13B1B0B0534A}"/>
              </a:ext>
            </a:extLst>
          </p:cNvPr>
          <p:cNvSpPr txBox="1">
            <a:spLocks/>
          </p:cNvSpPr>
          <p:nvPr/>
        </p:nvSpPr>
        <p:spPr>
          <a:xfrm>
            <a:off x="4282028" y="197190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D847C064-1863-310D-57E5-8740E8338115}"/>
              </a:ext>
            </a:extLst>
          </p:cNvPr>
          <p:cNvSpPr txBox="1">
            <a:spLocks/>
          </p:cNvSpPr>
          <p:nvPr/>
        </p:nvSpPr>
        <p:spPr>
          <a:xfrm>
            <a:off x="873962" y="2803595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A054AE69-A430-DCA1-1271-E3C76BFAFFBE}"/>
              </a:ext>
            </a:extLst>
          </p:cNvPr>
          <p:cNvSpPr txBox="1">
            <a:spLocks/>
          </p:cNvSpPr>
          <p:nvPr/>
        </p:nvSpPr>
        <p:spPr>
          <a:xfrm>
            <a:off x="873962" y="36668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62DBD870-7D82-F95E-8E48-CF1B3A28BFAA}"/>
              </a:ext>
            </a:extLst>
          </p:cNvPr>
          <p:cNvSpPr txBox="1">
            <a:spLocks/>
          </p:cNvSpPr>
          <p:nvPr/>
        </p:nvSpPr>
        <p:spPr>
          <a:xfrm>
            <a:off x="4278968" y="2804278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6B6AD282-56F2-C16E-8A86-31C17E962A34}"/>
              </a:ext>
            </a:extLst>
          </p:cNvPr>
          <p:cNvSpPr txBox="1">
            <a:spLocks/>
          </p:cNvSpPr>
          <p:nvPr/>
        </p:nvSpPr>
        <p:spPr>
          <a:xfrm>
            <a:off x="4278967" y="366333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B0896316-86B6-BC4A-4EAE-D653B4EC80FD}"/>
              </a:ext>
            </a:extLst>
          </p:cNvPr>
          <p:cNvSpPr txBox="1">
            <a:spLocks/>
          </p:cNvSpPr>
          <p:nvPr/>
        </p:nvSpPr>
        <p:spPr>
          <a:xfrm>
            <a:off x="870903" y="4527548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77F0FC36-3F47-9F8B-A741-057F9E7F9F01}"/>
              </a:ext>
            </a:extLst>
          </p:cNvPr>
          <p:cNvSpPr txBox="1">
            <a:spLocks/>
          </p:cNvSpPr>
          <p:nvPr/>
        </p:nvSpPr>
        <p:spPr>
          <a:xfrm>
            <a:off x="5982998" y="2802389"/>
            <a:ext cx="4855701" cy="611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Photoprotection</a:t>
            </a:r>
            <a:endParaRPr lang="es-ES" sz="2400" dirty="0"/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5DD16AE-215B-780B-3EC4-D73EB5EDBE76}"/>
              </a:ext>
            </a:extLst>
          </p:cNvPr>
          <p:cNvSpPr txBox="1">
            <a:spLocks/>
          </p:cNvSpPr>
          <p:nvPr/>
        </p:nvSpPr>
        <p:spPr>
          <a:xfrm>
            <a:off x="5982999" y="3602604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Osmoregulation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permeability</a:t>
            </a:r>
            <a:endParaRPr lang="es-ES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49443649-11F5-2423-5F48-0E230F9D37B9}"/>
              </a:ext>
            </a:extLst>
          </p:cNvPr>
          <p:cNvSpPr txBox="1">
            <a:spLocks/>
          </p:cNvSpPr>
          <p:nvPr/>
        </p:nvSpPr>
        <p:spPr>
          <a:xfrm>
            <a:off x="708633" y="5888028"/>
            <a:ext cx="1264601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endParaRPr lang="es-ES" sz="18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B2984DA5-EF84-5834-5BF9-C6E7D1B8DA01}"/>
              </a:ext>
            </a:extLst>
          </p:cNvPr>
          <p:cNvSpPr txBox="1">
            <a:spLocks/>
          </p:cNvSpPr>
          <p:nvPr/>
        </p:nvSpPr>
        <p:spPr>
          <a:xfrm>
            <a:off x="4213150" y="5888029"/>
            <a:ext cx="1264601" cy="8041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/>
                <a:cs typeface="Helvetica"/>
              </a:rPr>
              <a:t>Non-</a:t>
            </a:r>
            <a:r>
              <a:rPr lang="es-ES" sz="1800" dirty="0" err="1">
                <a:solidFill>
                  <a:srgbClr val="2F5597"/>
                </a:solidFill>
                <a:latin typeface="Helvetica"/>
                <a:cs typeface="Helvetica"/>
              </a:rPr>
              <a:t>declining</a:t>
            </a:r>
            <a:endParaRPr lang="es-ES" sz="1800" dirty="0">
              <a:solidFill>
                <a:srgbClr val="2F5597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0853AFE-AD18-4D26-B7CF-A3357A42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ED99FAD5-D3A5-BA29-3ADA-AF5865541F99}"/>
              </a:ext>
            </a:extLst>
          </p:cNvPr>
          <p:cNvSpPr txBox="1">
            <a:spLocks/>
          </p:cNvSpPr>
          <p:nvPr/>
        </p:nvSpPr>
        <p:spPr>
          <a:xfrm>
            <a:off x="2041437" y="4541062"/>
            <a:ext cx="1958963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400" b="1" dirty="0">
                <a:latin typeface="Helvetica"/>
                <a:cs typeface="Helvetica"/>
              </a:rPr>
              <a:t>δ</a:t>
            </a:r>
            <a:r>
              <a:rPr lang="es-ES" sz="2400" b="1" baseline="30000" dirty="0">
                <a:latin typeface="Helvetica"/>
                <a:cs typeface="Helvetica"/>
              </a:rPr>
              <a:t>13</a:t>
            </a:r>
            <a:r>
              <a:rPr lang="es-ES" sz="2400" b="1" dirty="0">
                <a:latin typeface="Helvetica"/>
                <a:cs typeface="Helvetica"/>
              </a:rPr>
              <a:t>C, </a:t>
            </a:r>
            <a:r>
              <a:rPr lang="el-GR" sz="2400" b="1" dirty="0">
                <a:latin typeface="Helvetica"/>
                <a:cs typeface="Helvetica"/>
              </a:rPr>
              <a:t>δ</a:t>
            </a:r>
            <a:r>
              <a:rPr lang="es-ES" sz="2400" b="1" baseline="30000" dirty="0">
                <a:latin typeface="Helvetica"/>
                <a:cs typeface="Helvetica"/>
              </a:rPr>
              <a:t>18</a:t>
            </a:r>
            <a:r>
              <a:rPr lang="es-ES" sz="2400" b="1" dirty="0">
                <a:latin typeface="Helvetica"/>
                <a:cs typeface="Helvetica"/>
              </a:rPr>
              <a:t>O</a:t>
            </a:r>
            <a:endParaRPr lang="es-ES" sz="2400" dirty="0"/>
          </a:p>
          <a:p>
            <a:pPr marL="0" indent="0" algn="ctr">
              <a:buNone/>
            </a:pP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E6848E7-A7B8-6FDA-CFD6-3CF339C5E9BC}"/>
              </a:ext>
            </a:extLst>
          </p:cNvPr>
          <p:cNvSpPr txBox="1">
            <a:spLocks/>
          </p:cNvSpPr>
          <p:nvPr/>
        </p:nvSpPr>
        <p:spPr>
          <a:xfrm>
            <a:off x="2196008" y="5331535"/>
            <a:ext cx="170097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/>
                <a:cs typeface="Helvetica"/>
              </a:rPr>
              <a:t>N </a:t>
            </a:r>
            <a:r>
              <a:rPr lang="es-ES" sz="2400" b="1" dirty="0" err="1">
                <a:latin typeface="Helvetica"/>
                <a:cs typeface="Helvetica"/>
              </a:rPr>
              <a:t>content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1258C87-8ACE-9B49-5E5F-B13BD5234101}"/>
              </a:ext>
            </a:extLst>
          </p:cNvPr>
          <p:cNvSpPr txBox="1">
            <a:spLocks/>
          </p:cNvSpPr>
          <p:nvPr/>
        </p:nvSpPr>
        <p:spPr>
          <a:xfrm>
            <a:off x="5983000" y="4460053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Photosynthesis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transpiration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5B89CA3D-8252-2207-EA83-52DC580746C9}"/>
              </a:ext>
            </a:extLst>
          </p:cNvPr>
          <p:cNvSpPr txBox="1">
            <a:spLocks/>
          </p:cNvSpPr>
          <p:nvPr/>
        </p:nvSpPr>
        <p:spPr>
          <a:xfrm>
            <a:off x="5982998" y="5343166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N </a:t>
            </a:r>
            <a:r>
              <a:rPr lang="es-ES" sz="2400" dirty="0" err="1">
                <a:latin typeface="Helvetica"/>
                <a:cs typeface="Helvetica"/>
              </a:rPr>
              <a:t>uptake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BB040C6-5CA6-1B1A-B9B4-CC8C03B8C199}"/>
              </a:ext>
            </a:extLst>
          </p:cNvPr>
          <p:cNvSpPr txBox="1">
            <a:spLocks/>
          </p:cNvSpPr>
          <p:nvPr/>
        </p:nvSpPr>
        <p:spPr>
          <a:xfrm>
            <a:off x="870906" y="4493208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09A6B9B2-EA2C-0B8F-A2E5-93E240421E47}"/>
              </a:ext>
            </a:extLst>
          </p:cNvPr>
          <p:cNvSpPr txBox="1">
            <a:spLocks/>
          </p:cNvSpPr>
          <p:nvPr/>
        </p:nvSpPr>
        <p:spPr>
          <a:xfrm>
            <a:off x="861609" y="52892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374E0B43-8556-07F1-7A2F-C057939BEDC8}"/>
              </a:ext>
            </a:extLst>
          </p:cNvPr>
          <p:cNvSpPr txBox="1">
            <a:spLocks/>
          </p:cNvSpPr>
          <p:nvPr/>
        </p:nvSpPr>
        <p:spPr>
          <a:xfrm>
            <a:off x="4282026" y="52892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0CA874FA-BF2B-5E28-2378-32BB72FBE513}"/>
              </a:ext>
            </a:extLst>
          </p:cNvPr>
          <p:cNvSpPr txBox="1">
            <a:spLocks/>
          </p:cNvSpPr>
          <p:nvPr/>
        </p:nvSpPr>
        <p:spPr>
          <a:xfrm>
            <a:off x="4278966" y="4496456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4918E1D1-7CF5-51A0-A794-9DB5E785F52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113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7F21-1BC3-58B7-C745-2A6CDB76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D2A7F3A-5D92-B637-7E53-8726C79BA350}"/>
              </a:ext>
            </a:extLst>
          </p:cNvPr>
          <p:cNvSpPr txBox="1">
            <a:spLocks/>
          </p:cNvSpPr>
          <p:nvPr/>
        </p:nvSpPr>
        <p:spPr>
          <a:xfrm>
            <a:off x="127519" y="3400507"/>
            <a:ext cx="3242000" cy="2223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Field data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02/2023 – 09/2023</a:t>
            </a: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999C6EA-7AE8-D840-9E31-A752303D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AA2A6D-DB68-AD63-0A06-EA976E24DC0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D7DC10-0A24-5913-467C-1DEA0F80E6D2}"/>
              </a:ext>
            </a:extLst>
          </p:cNvPr>
          <p:cNvSpPr txBox="1">
            <a:spLocks/>
          </p:cNvSpPr>
          <p:nvPr/>
        </p:nvSpPr>
        <p:spPr>
          <a:xfrm>
            <a:off x="127519" y="5550853"/>
            <a:ext cx="10925077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latin typeface="Helvetica"/>
                <a:cs typeface="Helvetica"/>
              </a:rPr>
              <a:t>14 sites, 91 </a:t>
            </a:r>
            <a:r>
              <a:rPr lang="es-ES" b="1" dirty="0" err="1">
                <a:latin typeface="Helvetica"/>
                <a:cs typeface="Helvetica"/>
              </a:rPr>
              <a:t>plots</a:t>
            </a:r>
            <a:r>
              <a:rPr lang="es-ES" b="1" dirty="0">
                <a:latin typeface="Helvetica"/>
                <a:cs typeface="Helvetica"/>
              </a:rPr>
              <a:t> 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solidFill>
                  <a:srgbClr val="FF0000"/>
                </a:solidFill>
                <a:latin typeface="Helvetica"/>
                <a:cs typeface="Helvetica"/>
              </a:rPr>
              <a:t>462 target </a:t>
            </a:r>
            <a:r>
              <a:rPr lang="es-ES" b="1" dirty="0" err="1">
                <a:solidFill>
                  <a:srgbClr val="FF0000"/>
                </a:solidFill>
                <a:latin typeface="Helvetica"/>
                <a:cs typeface="Helvetica"/>
              </a:rPr>
              <a:t>trees</a:t>
            </a:r>
            <a:endParaRPr lang="es-ES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09A2C19-2DBA-1AE2-F8CF-9C15B2272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4" b="4493"/>
          <a:stretch>
            <a:fillRect/>
          </a:stretch>
        </p:blipFill>
        <p:spPr>
          <a:xfrm>
            <a:off x="3949147" y="811105"/>
            <a:ext cx="6858000" cy="6046895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90B8ACB-5314-6A10-2AB3-9ECB817D1B6C}"/>
              </a:ext>
            </a:extLst>
          </p:cNvPr>
          <p:cNvSpPr txBox="1">
            <a:spLocks/>
          </p:cNvSpPr>
          <p:nvPr/>
        </p:nvSpPr>
        <p:spPr>
          <a:xfrm>
            <a:off x="127518" y="990543"/>
            <a:ext cx="3669229" cy="13550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Fig. 1.: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 in Iberia.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Coloured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distribution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algn="just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F2859508-218F-C191-3C74-ABD62487DB27}"/>
              </a:ext>
            </a:extLst>
          </p:cNvPr>
          <p:cNvSpPr txBox="1"/>
          <p:nvPr/>
        </p:nvSpPr>
        <p:spPr>
          <a:xfrm>
            <a:off x="2203594" y="6403284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1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574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204C-F11E-9B27-13A1-D01D21F6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34324-CEFD-1EFD-2467-7B61612321A3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C414708-B8E9-19C2-E949-7CED186D0D11}"/>
              </a:ext>
            </a:extLst>
          </p:cNvPr>
          <p:cNvSpPr txBox="1">
            <a:spLocks/>
          </p:cNvSpPr>
          <p:nvPr/>
        </p:nvSpPr>
        <p:spPr>
          <a:xfrm>
            <a:off x="623546" y="2776552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A9F656-B91B-8B88-37C0-78549A7B18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8EBD559-FF21-01E8-287A-D770A4F85C2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ED41255-ED85-C941-16C7-80273695DD5E}"/>
              </a:ext>
            </a:extLst>
          </p:cNvPr>
          <p:cNvGrpSpPr/>
          <p:nvPr/>
        </p:nvGrpSpPr>
        <p:grpSpPr>
          <a:xfrm>
            <a:off x="1246240" y="4487957"/>
            <a:ext cx="3477754" cy="1250117"/>
            <a:chOff x="1139560" y="5095351"/>
            <a:chExt cx="3477754" cy="1250117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5D17402-96E9-A56B-30C4-8061982E6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7FF3BC9-79A4-4A97-EB19-18CB43D3097D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AD85D67-8A8A-77BB-35F9-E448677F08EF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B5518D9-AD43-C2DD-9D23-79EF776CC173}"/>
              </a:ext>
            </a:extLst>
          </p:cNvPr>
          <p:cNvGrpSpPr/>
          <p:nvPr/>
        </p:nvGrpSpPr>
        <p:grpSpPr>
          <a:xfrm>
            <a:off x="6389013" y="4487957"/>
            <a:ext cx="3301889" cy="1220763"/>
            <a:chOff x="6178013" y="5057218"/>
            <a:chExt cx="3301889" cy="122076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87B21BD-A6B5-1787-C2FE-38F3E226D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0AAB96E-6C5C-AA9D-9E37-537A9CDC0700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E41E0CA6-A5D7-F12C-31D8-D135866D6D26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C3C26AC-8D50-CAE9-0DD5-970E82CAF65D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4222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D7E4-D331-675E-633E-A5F0F37A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7AC64E-6013-908B-301B-6ABF5F510488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B95DEED-31A7-D314-C668-90CD69061438}"/>
              </a:ext>
            </a:extLst>
          </p:cNvPr>
          <p:cNvSpPr txBox="1">
            <a:spLocks/>
          </p:cNvSpPr>
          <p:nvPr/>
        </p:nvSpPr>
        <p:spPr>
          <a:xfrm>
            <a:off x="623545" y="2521266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resilience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991C1F3-927E-0A5B-823D-083C690381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2B30C19-F59E-C526-9CA2-5F4EEDCFA1C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EC3B70F2-E30A-36DE-F606-69C112A48A9A}"/>
              </a:ext>
            </a:extLst>
          </p:cNvPr>
          <p:cNvSpPr txBox="1">
            <a:spLocks/>
          </p:cNvSpPr>
          <p:nvPr/>
        </p:nvSpPr>
        <p:spPr>
          <a:xfrm>
            <a:off x="643378" y="3359019"/>
            <a:ext cx="11206500" cy="32937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Size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b="1" dirty="0" err="1">
                <a:latin typeface="Helvetica"/>
                <a:cs typeface="Helvetica"/>
              </a:rPr>
              <a:t>bigger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trees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will</a:t>
            </a:r>
            <a:r>
              <a:rPr lang="es-ES" sz="2400" dirty="0">
                <a:latin typeface="Helvetica"/>
                <a:cs typeface="Helvetica"/>
              </a:rPr>
              <a:t> be more vulnerable </a:t>
            </a:r>
            <a:r>
              <a:rPr lang="es-ES" sz="2400" dirty="0" err="1">
                <a:latin typeface="Helvetica"/>
                <a:cs typeface="Helvetica"/>
              </a:rPr>
              <a:t>due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hydraulic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limitations</a:t>
            </a:r>
            <a:r>
              <a:rPr lang="es-ES" sz="2400" dirty="0">
                <a:latin typeface="Helvetica"/>
                <a:cs typeface="Helvetica"/>
              </a:rPr>
              <a:t> (</a:t>
            </a:r>
            <a:r>
              <a:rPr lang="es-ES" sz="2400" dirty="0" err="1">
                <a:latin typeface="Helvetica"/>
                <a:cs typeface="Helvetica"/>
              </a:rPr>
              <a:t>increased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hydraulic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resistance</a:t>
            </a:r>
            <a:r>
              <a:rPr lang="es-ES" sz="2400" dirty="0">
                <a:latin typeface="Helvetica"/>
                <a:cs typeface="Helvetica"/>
              </a:rPr>
              <a:t>)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height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,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age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dbh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Growth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we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expect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</a:rPr>
              <a:t>a </a:t>
            </a:r>
            <a:r>
              <a:rPr lang="es-ES" sz="2400" b="1" dirty="0" err="1">
                <a:latin typeface="Helvetica"/>
                <a:cs typeface="Helvetica"/>
              </a:rPr>
              <a:t>reduced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growth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trend</a:t>
            </a:r>
            <a:r>
              <a:rPr lang="es-ES" sz="2400" b="1" dirty="0">
                <a:latin typeface="Helvetica"/>
                <a:cs typeface="Helvetica"/>
              </a:rPr>
              <a:t>, and </a:t>
            </a:r>
            <a:r>
              <a:rPr lang="es-ES" sz="2400" b="1" dirty="0" err="1">
                <a:latin typeface="Helvetica"/>
                <a:cs typeface="Helvetica"/>
              </a:rPr>
              <a:t>resilience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 BAI,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Rt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Rs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a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higher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SLA leads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faster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loss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SLA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Competition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competition</a:t>
            </a:r>
            <a:r>
              <a:rPr lang="es-ES" sz="2400" dirty="0">
                <a:latin typeface="Helvetica"/>
                <a:cs typeface="Helvetica"/>
              </a:rPr>
              <a:t> reduces </a:t>
            </a:r>
            <a:r>
              <a:rPr lang="es-ES" sz="2400" dirty="0" err="1">
                <a:latin typeface="Helvetica"/>
                <a:cs typeface="Helvetica"/>
              </a:rPr>
              <a:t>water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availability</a:t>
            </a:r>
            <a:r>
              <a:rPr lang="es-ES" sz="2400" dirty="0">
                <a:latin typeface="Helvetica"/>
                <a:cs typeface="Helvetica"/>
              </a:rPr>
              <a:t> per </a:t>
            </a:r>
            <a:r>
              <a:rPr lang="es-ES" sz="2400" dirty="0" err="1">
                <a:latin typeface="Helvetica"/>
                <a:cs typeface="Helvetica"/>
              </a:rPr>
              <a:t>tree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increases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water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interception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Hegyi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index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  <a:endParaRPr lang="es-ES" sz="24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96339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5942-0646-1F75-3FD6-FB877A4F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EDCCFA2-7421-E9F8-432B-5107BCD8FD10}"/>
              </a:ext>
            </a:extLst>
          </p:cNvPr>
          <p:cNvSpPr txBox="1">
            <a:spLocks/>
          </p:cNvSpPr>
          <p:nvPr/>
        </p:nvSpPr>
        <p:spPr>
          <a:xfrm>
            <a:off x="633461" y="119831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, </a:t>
            </a:r>
            <a:r>
              <a:rPr lang="es-ES" sz="2400" dirty="0">
                <a:latin typeface="Helvetica"/>
                <a:cs typeface="Helvetica"/>
              </a:rPr>
              <a:t>and </a:t>
            </a:r>
            <a:r>
              <a:rPr lang="es-ES" sz="2400" b="1" dirty="0" err="1">
                <a:latin typeface="Helvetica"/>
                <a:cs typeface="Helvetica"/>
              </a:rPr>
              <a:t>what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are more </a:t>
            </a:r>
            <a:r>
              <a:rPr lang="es-ES" sz="2400" b="1" dirty="0" err="1">
                <a:latin typeface="Helvetica"/>
                <a:cs typeface="Helvetica"/>
              </a:rPr>
              <a:t>affected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CD6406B-5875-AE5D-371F-5AE2CA33EA3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D0E8E0D-4EC8-AF06-2C84-F69377E87B0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7176B63-C01E-6AD5-661C-4C9D8D28D38C}"/>
              </a:ext>
            </a:extLst>
          </p:cNvPr>
          <p:cNvSpPr txBox="1">
            <a:spLocks/>
          </p:cNvSpPr>
          <p:nvPr/>
        </p:nvSpPr>
        <p:spPr>
          <a:xfrm>
            <a:off x="633459" y="204158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H2.-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drought-induced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reduced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photosynthetic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pigments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concentrations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iWUE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nutrients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allocation</a:t>
            </a:r>
            <a:endParaRPr lang="es-ES" sz="2400" i="1" dirty="0">
              <a:latin typeface="Helvetica"/>
              <a:cs typeface="Helvetica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5D2A598E-3271-64EB-5DA8-A70DDDCC8E1C}"/>
              </a:ext>
            </a:extLst>
          </p:cNvPr>
          <p:cNvSpPr txBox="1">
            <a:spLocks/>
          </p:cNvSpPr>
          <p:nvPr/>
        </p:nvSpPr>
        <p:spPr>
          <a:xfrm>
            <a:off x="633459" y="2951923"/>
            <a:ext cx="8172611" cy="33991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Pigments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n-US" sz="2400" dirty="0">
                <a:latin typeface="Helvetica"/>
                <a:cs typeface="Helvetica"/>
              </a:rPr>
              <a:t>water stress-induced increased ABA and ROS trigger upregulation of senescence-associated genes (SAG), and to damages to photosynthetic apparatus </a:t>
            </a:r>
            <a:r>
              <a:rPr lang="en-U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Pigments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endParaRPr lang="es-ES" sz="2400" b="1" dirty="0">
              <a:solidFill>
                <a:srgbClr val="C00000"/>
              </a:solidFill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iWUE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we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isohydric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behaviour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leading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stomatal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closure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l-GR" sz="24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400" b="1" baseline="30000" dirty="0">
                <a:latin typeface="Helvetica"/>
                <a:cs typeface="Helvetica"/>
                <a:sym typeface="Wingdings" panose="05000000000000000000" pitchFamily="2" charset="2"/>
              </a:rPr>
              <a:t>13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C and </a:t>
            </a:r>
            <a:r>
              <a:rPr lang="el-GR" sz="24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400" b="1" baseline="30000" dirty="0">
                <a:latin typeface="Helvetica"/>
                <a:cs typeface="Helvetica"/>
                <a:sym typeface="Wingdings" panose="05000000000000000000" pitchFamily="2" charset="2"/>
              </a:rPr>
              <a:t>18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O in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and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wood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tissue</a:t>
            </a:r>
            <a:endParaRPr lang="es-ES" sz="24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we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nutrient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allocation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due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drought-induced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reduced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uptake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 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↓N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and ↑ C:N ratio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endParaRPr lang="es-ES" sz="24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D59DB51-5D88-D4EB-E8F6-3F6BAA5E1023}"/>
              </a:ext>
            </a:extLst>
          </p:cNvPr>
          <p:cNvGrpSpPr/>
          <p:nvPr/>
        </p:nvGrpSpPr>
        <p:grpSpPr>
          <a:xfrm>
            <a:off x="8752732" y="3174880"/>
            <a:ext cx="3477754" cy="1250117"/>
            <a:chOff x="1139560" y="5095351"/>
            <a:chExt cx="3477754" cy="1250117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E1E93E6-363C-013D-E9E5-1C1424287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FEF6D0F-A69C-A522-AA0F-98D0F4174B64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0A30C1B7-6EB8-97DA-72BA-71484368860C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B082686E-8BB0-F750-B3B1-7FCB2D135B37}"/>
              </a:ext>
            </a:extLst>
          </p:cNvPr>
          <p:cNvGrpSpPr/>
          <p:nvPr/>
        </p:nvGrpSpPr>
        <p:grpSpPr>
          <a:xfrm>
            <a:off x="8752732" y="4438528"/>
            <a:ext cx="3301889" cy="1220763"/>
            <a:chOff x="6178013" y="5057218"/>
            <a:chExt cx="3301889" cy="1220763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AAFF188B-F49B-5A75-5066-5D26817E2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C166D1FD-614B-8988-6A96-F2B8CE294316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18957225-F35F-94AB-9237-9E5686244606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09A0E59A-4CBE-0538-942B-88DBCFAD2FB7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89414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D948-86BD-7218-880B-80096F80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5ABC543-C68D-55DD-197B-359CA9BABF5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61FBC3C-017C-E532-87EF-270CA7195D0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4C51AA4-52F0-151B-7375-C783F89B7860}"/>
              </a:ext>
            </a:extLst>
          </p:cNvPr>
          <p:cNvSpPr txBox="1">
            <a:spLocks/>
          </p:cNvSpPr>
          <p:nvPr/>
        </p:nvSpPr>
        <p:spPr>
          <a:xfrm>
            <a:off x="633461" y="1419141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how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vary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due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long-term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adaptations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along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moisture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gradient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C371B6A-D08A-2959-5BDA-6D76133D6F74}"/>
              </a:ext>
            </a:extLst>
          </p:cNvPr>
          <p:cNvSpPr txBox="1">
            <a:spLocks/>
          </p:cNvSpPr>
          <p:nvPr/>
        </p:nvSpPr>
        <p:spPr>
          <a:xfrm>
            <a:off x="633460" y="238156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H3</a:t>
            </a:r>
            <a:r>
              <a:rPr lang="es-ES" sz="2400" i="1" dirty="0">
                <a:latin typeface="Helvetica"/>
                <a:cs typeface="Helvetica"/>
              </a:rPr>
              <a:t>.-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higher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aridity</a:t>
            </a:r>
            <a:r>
              <a:rPr lang="es-ES" sz="2400" i="1" dirty="0">
                <a:latin typeface="Helvetica"/>
                <a:cs typeface="Helvetica"/>
              </a:rPr>
              <a:t> in </a:t>
            </a:r>
            <a:r>
              <a:rPr lang="es-ES" sz="2400" b="1" i="1" dirty="0" err="1">
                <a:latin typeface="Helvetica"/>
                <a:cs typeface="Helvetica"/>
              </a:rPr>
              <a:t>temperate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species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than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Mediterranean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species</a:t>
            </a:r>
            <a:endParaRPr lang="es-ES" sz="2400" i="1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883000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B4EC-E283-5677-91B8-01AB140D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7D8E0453-8B4A-B20C-AB68-7B3F1859961B}"/>
              </a:ext>
            </a:extLst>
          </p:cNvPr>
          <p:cNvGrpSpPr/>
          <p:nvPr/>
        </p:nvGrpSpPr>
        <p:grpSpPr>
          <a:xfrm>
            <a:off x="8527188" y="5371533"/>
            <a:ext cx="3301889" cy="1220763"/>
            <a:chOff x="6178013" y="5057218"/>
            <a:chExt cx="3301889" cy="1220763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20EF1E68-78BF-4F46-EC92-7C9B7DC71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E7EE9C73-8D0E-B84F-FBE1-CB7E50FBFF03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6E1F4340-629D-1579-80CB-121769E85279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AD6DA4FE-3CC6-6D36-6ECB-E616FD3C3825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557B1E9-74A8-C0C5-AD5B-AA26E6A91D29}"/>
              </a:ext>
            </a:extLst>
          </p:cNvPr>
          <p:cNvGrpSpPr/>
          <p:nvPr/>
        </p:nvGrpSpPr>
        <p:grpSpPr>
          <a:xfrm>
            <a:off x="8527188" y="3944761"/>
            <a:ext cx="3477754" cy="1250117"/>
            <a:chOff x="1139560" y="5095351"/>
            <a:chExt cx="3477754" cy="1250117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5D803EB-ABFC-2B48-4BBB-B4D3D82F3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2EDC70A-6C9F-A939-3CEC-DA2DEB707299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C373739-D140-0D69-94A9-07D1DDD39ACD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D4A7DB54-4178-5298-6B51-7E7A57B25860}"/>
              </a:ext>
            </a:extLst>
          </p:cNvPr>
          <p:cNvGrpSpPr/>
          <p:nvPr/>
        </p:nvGrpSpPr>
        <p:grpSpPr>
          <a:xfrm>
            <a:off x="635710" y="1091933"/>
            <a:ext cx="3761427" cy="5167267"/>
            <a:chOff x="6872115" y="927995"/>
            <a:chExt cx="4007741" cy="5167267"/>
          </a:xfrm>
        </p:grpSpPr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1786FCCD-55EC-DFC5-277E-AF1DDBF94257}"/>
                </a:ext>
              </a:extLst>
            </p:cNvPr>
            <p:cNvCxnSpPr>
              <a:cxnSpLocks/>
            </p:cNvCxnSpPr>
            <p:nvPr/>
          </p:nvCxnSpPr>
          <p:spPr>
            <a:xfrm>
              <a:off x="7208697" y="1279802"/>
              <a:ext cx="32926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E88B7465-25BC-FAB4-8CFF-2E7A84028AB2}"/>
                </a:ext>
              </a:extLst>
            </p:cNvPr>
            <p:cNvSpPr txBox="1"/>
            <p:nvPr/>
          </p:nvSpPr>
          <p:spPr>
            <a:xfrm>
              <a:off x="8456917" y="927995"/>
              <a:ext cx="911247" cy="37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829">
                  <a:latin typeface="Arial" panose="020B0604020202020204" pitchFamily="34" charset="0"/>
                  <a:cs typeface="Arial" panose="020B0604020202020204" pitchFamily="34" charset="0"/>
                </a:rPr>
                <a:t>34 m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0E7678A-7A50-7275-0F35-F468D9323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2115" y="1563478"/>
              <a:ext cx="4007741" cy="4531784"/>
            </a:xfrm>
            <a:prstGeom prst="rect">
              <a:avLst/>
            </a:prstGeom>
          </p:spPr>
        </p:pic>
      </p:grpSp>
      <p:sp>
        <p:nvSpPr>
          <p:cNvPr id="9" name="CuadroTexto 10">
            <a:extLst>
              <a:ext uri="{FF2B5EF4-FFF2-40B4-BE49-F238E27FC236}">
                <a16:creationId xmlns:a16="http://schemas.microsoft.com/office/drawing/2014/main" id="{BFC4E210-0B8F-7818-4DEA-F8337C5EB8D4}"/>
              </a:ext>
            </a:extLst>
          </p:cNvPr>
          <p:cNvSpPr txBox="1"/>
          <p:nvPr/>
        </p:nvSpPr>
        <p:spPr>
          <a:xfrm>
            <a:off x="4843220" y="1091933"/>
            <a:ext cx="580929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Mature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Regeneration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Shrub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cover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4.- Target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(C, N, O)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545A1811-C8ED-7AF6-9FB7-C0AAABC35A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6902" y="2389013"/>
            <a:ext cx="914400" cy="914400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89ECA156-2E40-F0AE-D17C-B2DCEA841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183" y="2746686"/>
            <a:ext cx="914400" cy="914400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B199FEF-6E3B-64F7-ABE6-499676A58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3867" y="3030361"/>
            <a:ext cx="914400" cy="914400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F1C2D211-15A5-69E5-AA50-E3C085ECC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7058" y="4127146"/>
            <a:ext cx="914400" cy="914400"/>
          </a:xfrm>
          <a:prstGeom prst="rect">
            <a:avLst/>
          </a:prstGeom>
        </p:spPr>
      </p:pic>
      <p:pic>
        <p:nvPicPr>
          <p:cNvPr id="16" name="Gráfico 15" descr="Abeto">
            <a:extLst>
              <a:ext uri="{FF2B5EF4-FFF2-40B4-BE49-F238E27FC236}">
                <a16:creationId xmlns:a16="http://schemas.microsoft.com/office/drawing/2014/main" id="{7A90B577-9218-845B-73D1-20C0BB8C1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8353" y="4224808"/>
            <a:ext cx="914400" cy="9144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DB7A46D-91B8-F459-9835-65013F61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5782E1E-BC36-63F5-4AA7-2039232E13E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87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B835-B71E-2989-E7E7-A496A149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9B54AFA-0DF0-CB85-F678-98071C00F4C0}"/>
              </a:ext>
            </a:extLst>
          </p:cNvPr>
          <p:cNvSpPr txBox="1">
            <a:spLocks/>
          </p:cNvSpPr>
          <p:nvPr/>
        </p:nvSpPr>
        <p:spPr>
          <a:xfrm>
            <a:off x="883112" y="1248960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6A97FF-FF6A-EEE9-1CC0-AB48DB19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2FF20BA-0C7E-1C22-7F45-4CE624AEDEB1}"/>
              </a:ext>
            </a:extLst>
          </p:cNvPr>
          <p:cNvSpPr txBox="1">
            <a:spLocks/>
          </p:cNvSpPr>
          <p:nvPr/>
        </p:nvSpPr>
        <p:spPr>
          <a:xfrm>
            <a:off x="6683951" y="2123594"/>
            <a:ext cx="2563083" cy="1694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746FB2"/>
                </a:solidFill>
                <a:latin typeface="Helvetica"/>
                <a:cs typeface="Helvetica"/>
              </a:rPr>
              <a:t>Abies</a:t>
            </a:r>
            <a:r>
              <a:rPr lang="es-ES" sz="2400" i="1" dirty="0">
                <a:solidFill>
                  <a:srgbClr val="746FB2"/>
                </a:solidFill>
                <a:latin typeface="Helvetica"/>
                <a:cs typeface="Helvetica"/>
              </a:rPr>
              <a:t> alba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400" i="1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4AEED58-709F-898C-12A6-99AB65DAD3F8}"/>
              </a:ext>
            </a:extLst>
          </p:cNvPr>
          <p:cNvSpPr txBox="1">
            <a:spLocks/>
          </p:cNvSpPr>
          <p:nvPr/>
        </p:nvSpPr>
        <p:spPr>
          <a:xfrm>
            <a:off x="7965492" y="4578350"/>
            <a:ext cx="3672037" cy="19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endParaRPr lang="es-ES" sz="2400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462 target </a:t>
            </a:r>
            <a:r>
              <a:rPr lang="es-ES" b="1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C85E287-2566-DBE7-BD26-B22072E8579A}"/>
              </a:ext>
            </a:extLst>
          </p:cNvPr>
          <p:cNvSpPr txBox="1">
            <a:spLocks/>
          </p:cNvSpPr>
          <p:nvPr/>
        </p:nvSpPr>
        <p:spPr>
          <a:xfrm>
            <a:off x="7908218" y="2052059"/>
            <a:ext cx="3672037" cy="2526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746FB2"/>
                </a:solidFill>
                <a:latin typeface="Helvetica"/>
                <a:cs typeface="Helvetica"/>
              </a:rPr>
              <a:t>23 </a:t>
            </a:r>
            <a:r>
              <a:rPr lang="es-ES" sz="2400" dirty="0" err="1">
                <a:solidFill>
                  <a:srgbClr val="746FB2"/>
                </a:solidFill>
                <a:latin typeface="Helvetica"/>
                <a:cs typeface="Helvetica"/>
              </a:rPr>
              <a:t>plots</a:t>
            </a:r>
            <a:endParaRPr lang="es-ES" sz="2400" dirty="0">
              <a:solidFill>
                <a:srgbClr val="746FB2"/>
              </a:solidFill>
              <a:latin typeface="Helvetica"/>
              <a:cs typeface="Helvetica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 </a:t>
            </a:r>
            <a:r>
              <a:rPr lang="es-ES" sz="2400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17 </a:t>
            </a:r>
            <a:r>
              <a:rPr lang="es-ES" sz="2400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DB5F0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5 targets  x  91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D84DF4-2490-EB95-168F-DB742423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0EED7EC-8E57-6D07-021B-D020ECFE0CE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5363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FAEA-39D9-CE78-4D46-CC5CAC7C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326C9ED-643F-A6B7-434D-002D898ED626}"/>
              </a:ext>
            </a:extLst>
          </p:cNvPr>
          <p:cNvSpPr txBox="1">
            <a:spLocks/>
          </p:cNvSpPr>
          <p:nvPr/>
        </p:nvSpPr>
        <p:spPr>
          <a:xfrm>
            <a:off x="792364" y="1836789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D6A544-5F40-3D5E-66D4-7B99D847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3E09C6-91E8-1DC0-89E8-E7308280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7649084-6CBA-7A2D-F875-444EAE79B41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525B887-CEB0-B06C-898B-E1F894B39932}"/>
              </a:ext>
            </a:extLst>
          </p:cNvPr>
          <p:cNvSpPr txBox="1">
            <a:spLocks/>
          </p:cNvSpPr>
          <p:nvPr/>
        </p:nvSpPr>
        <p:spPr>
          <a:xfrm>
            <a:off x="6301273" y="1836789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We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have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way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too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many</a:t>
            </a:r>
            <a:r>
              <a:rPr lang="es-ES" sz="2400" b="1" dirty="0">
                <a:latin typeface="Helvetica"/>
                <a:cs typeface="Helvetica"/>
              </a:rPr>
              <a:t> variables!</a:t>
            </a:r>
          </a:p>
          <a:p>
            <a:pPr marL="0" indent="0" algn="ctr">
              <a:buClr>
                <a:srgbClr val="218317"/>
              </a:buClr>
              <a:buNone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9979CE87-9231-3F4C-545A-EF4ADAAA0ACE}"/>
              </a:ext>
            </a:extLst>
          </p:cNvPr>
          <p:cNvSpPr txBox="1">
            <a:spLocks/>
          </p:cNvSpPr>
          <p:nvPr/>
        </p:nvSpPr>
        <p:spPr>
          <a:xfrm>
            <a:off x="6301273" y="2670689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Variable </a:t>
            </a:r>
            <a:r>
              <a:rPr lang="es-ES" sz="2400" b="1" dirty="0" err="1">
                <a:latin typeface="Helvetica"/>
                <a:cs typeface="Helvetica"/>
              </a:rPr>
              <a:t>selection</a:t>
            </a:r>
            <a:r>
              <a:rPr lang="es-ES" sz="2400" b="1" dirty="0">
                <a:latin typeface="Helvetica"/>
                <a:cs typeface="Helvetica"/>
              </a:rPr>
              <a:t>:</a:t>
            </a: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</a:rPr>
              <a:t>Bibliographic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revision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only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keep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determine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vulnerability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Correlogram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are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redundant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Response Ratio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select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might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best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forecast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vulnerability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PCA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group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behave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similarly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5086CF27-36BF-EF34-D789-41942CCBB32D}"/>
              </a:ext>
            </a:extLst>
          </p:cNvPr>
          <p:cNvSpPr/>
          <p:nvPr/>
        </p:nvSpPr>
        <p:spPr>
          <a:xfrm>
            <a:off x="5927497" y="1836789"/>
            <a:ext cx="271140" cy="3369693"/>
          </a:xfrm>
          <a:prstGeom prst="rightBrace">
            <a:avLst/>
          </a:prstGeom>
          <a:noFill/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385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14FA-3D28-8403-81B6-B4480777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85FE511-F26E-1A66-6941-39A9082AE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7AE742-6EA7-F8B5-3595-9F111578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132A3D2-0918-C180-A3AF-66B4E681884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D0A892C-550D-6C20-3244-E4006C28BAC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1.- </a:t>
            </a:r>
            <a:r>
              <a:rPr lang="es-ES" sz="3200" b="1" dirty="0" err="1">
                <a:latin typeface="Helvetica"/>
                <a:cs typeface="Helvetica"/>
              </a:rPr>
              <a:t>Bibliographic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revision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D8CA4C81-E87C-509B-D127-B005EEC6CA49}"/>
              </a:ext>
            </a:extLst>
          </p:cNvPr>
          <p:cNvSpPr txBox="1"/>
          <p:nvPr/>
        </p:nvSpPr>
        <p:spPr>
          <a:xfrm>
            <a:off x="-404782" y="2123114"/>
            <a:ext cx="709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=/=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E645AC0B-7EB5-ED28-D344-04A8A75BE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17C19A51-F188-59BA-4108-637918195FE2}"/>
              </a:ext>
            </a:extLst>
          </p:cNvPr>
          <p:cNvSpPr txBox="1"/>
          <p:nvPr/>
        </p:nvSpPr>
        <p:spPr>
          <a:xfrm>
            <a:off x="418288" y="2980082"/>
            <a:ext cx="3063789" cy="203132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altura)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(SLA, EWT)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indices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0E0D77AC-F967-D971-1006-80B714535C88}"/>
              </a:ext>
            </a:extLst>
          </p:cNvPr>
          <p:cNvSpPr txBox="1"/>
          <p:nvPr/>
        </p:nvSpPr>
        <p:spPr>
          <a:xfrm>
            <a:off x="4621358" y="2980082"/>
            <a:ext cx="2502655" cy="203132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E8CB5A7B-EC11-2D94-75D6-F6A191475E37}"/>
              </a:ext>
            </a:extLst>
          </p:cNvPr>
          <p:cNvSpPr txBox="1"/>
          <p:nvPr/>
        </p:nvSpPr>
        <p:spPr>
          <a:xfrm>
            <a:off x="3022441" y="3443114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</p:spTree>
    <p:extLst>
      <p:ext uri="{BB962C8B-B14F-4D97-AF65-F5344CB8AC3E}">
        <p14:creationId xmlns:p14="http://schemas.microsoft.com/office/powerpoint/2010/main" val="373627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7DEA-18C0-7E70-0100-6D2B240D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5E2DDB8-80B8-532F-A330-AC9EAE826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423080-27E9-47A0-7D69-91B38222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8927C99-CCCB-5273-FA53-EC80D137CAA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E93ADEC-2EAE-FCB5-FEDA-2BA7ADF5766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2.- </a:t>
            </a:r>
            <a:r>
              <a:rPr lang="es-ES" sz="3200" b="1" dirty="0" err="1">
                <a:latin typeface="Helvetica"/>
                <a:cs typeface="Helvetica"/>
              </a:rPr>
              <a:t>Correlogram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6F64AE07-A1AB-4337-F25A-AB4433D8E2FB}"/>
              </a:ext>
            </a:extLst>
          </p:cNvPr>
          <p:cNvSpPr txBox="1"/>
          <p:nvPr/>
        </p:nvSpPr>
        <p:spPr>
          <a:xfrm>
            <a:off x="-404782" y="2123114"/>
            <a:ext cx="709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Redundant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variables: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6D925E0D-4A9B-5CFB-3FBF-EDE3D40F1472}"/>
              </a:ext>
            </a:extLst>
          </p:cNvPr>
          <p:cNvSpPr txBox="1"/>
          <p:nvPr/>
        </p:nvSpPr>
        <p:spPr>
          <a:xfrm>
            <a:off x="418288" y="2980082"/>
            <a:ext cx="5476674" cy="1477328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BAI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time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scales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should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just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pick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one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Age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surprisingly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7D1132-083A-CC1A-CC74-66C003384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580" y="1091353"/>
            <a:ext cx="5603132" cy="5603132"/>
          </a:xfrm>
          <a:prstGeom prst="rect">
            <a:avLst/>
          </a:prstGeom>
        </p:spPr>
      </p:pic>
      <p:sp>
        <p:nvSpPr>
          <p:cNvPr id="9" name="TextBox 16">
            <a:extLst>
              <a:ext uri="{FF2B5EF4-FFF2-40B4-BE49-F238E27FC236}">
                <a16:creationId xmlns:a16="http://schemas.microsoft.com/office/drawing/2014/main" id="{5581CC34-16F7-0132-77D5-E94156FFF00D}"/>
              </a:ext>
            </a:extLst>
          </p:cNvPr>
          <p:cNvSpPr txBox="1"/>
          <p:nvPr/>
        </p:nvSpPr>
        <p:spPr>
          <a:xfrm>
            <a:off x="-392653" y="510836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choose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7FD12479-C05F-D19B-52C4-D10AA8CF02D5}"/>
              </a:ext>
            </a:extLst>
          </p:cNvPr>
          <p:cNvSpPr txBox="1"/>
          <p:nvPr/>
        </p:nvSpPr>
        <p:spPr>
          <a:xfrm>
            <a:off x="-404782" y="590142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 ratios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1C01611E-7E3A-BF07-144B-AE74BD9B30CC}"/>
              </a:ext>
            </a:extLst>
          </p:cNvPr>
          <p:cNvSpPr/>
          <p:nvPr/>
        </p:nvSpPr>
        <p:spPr>
          <a:xfrm>
            <a:off x="3064213" y="5518922"/>
            <a:ext cx="107004" cy="400110"/>
          </a:xfrm>
          <a:prstGeom prst="downArrow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4052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2A643-BE6C-0338-E77E-BAA9113B1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BA30266-9485-1E3E-BBC8-436246AD8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AF84D2-7FE0-072E-6CC0-EE338120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F8CAB59-0867-9E54-DC47-D2389843A71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59A3EBF-97E0-3CC4-7682-AAC6864AE01F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5871265-7BAD-1ABF-CE2C-2CC4BE1C7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577" y="1140469"/>
            <a:ext cx="5476674" cy="5476674"/>
          </a:xfrm>
          <a:prstGeom prst="rect">
            <a:avLst/>
          </a:prstGeom>
        </p:spPr>
      </p:pic>
      <p:sp>
        <p:nvSpPr>
          <p:cNvPr id="15" name="TextBox 16">
            <a:extLst>
              <a:ext uri="{FF2B5EF4-FFF2-40B4-BE49-F238E27FC236}">
                <a16:creationId xmlns:a16="http://schemas.microsoft.com/office/drawing/2014/main" id="{BDBF880D-B5B9-3D71-6DE0-BE7283F24D84}"/>
              </a:ext>
            </a:extLst>
          </p:cNvPr>
          <p:cNvSpPr txBox="1"/>
          <p:nvPr/>
        </p:nvSpPr>
        <p:spPr>
          <a:xfrm>
            <a:off x="700296" y="178680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non-declining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6FB4355E-240E-0B20-D240-4E812CE669C3}"/>
              </a:ext>
            </a:extLst>
          </p:cNvPr>
          <p:cNvSpPr txBox="1"/>
          <p:nvPr/>
        </p:nvSpPr>
        <p:spPr>
          <a:xfrm>
            <a:off x="700296" y="2556247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do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change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79910108-9A0A-3042-1387-F40F22476110}"/>
              </a:ext>
            </a:extLst>
          </p:cNvPr>
          <p:cNvSpPr txBox="1"/>
          <p:nvPr/>
        </p:nvSpPr>
        <p:spPr>
          <a:xfrm>
            <a:off x="700296" y="3748881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ratios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be more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useful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forecast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88AD00D1-63A5-13A0-8E80-972D8563CEFE}"/>
              </a:ext>
            </a:extLst>
          </p:cNvPr>
          <p:cNvSpPr txBox="1"/>
          <p:nvPr/>
        </p:nvSpPr>
        <p:spPr>
          <a:xfrm>
            <a:off x="588749" y="4767513"/>
            <a:ext cx="5476674" cy="1200329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BAI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1980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predictor in general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among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great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too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worse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predictor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Signo de multiplicación 18">
            <a:extLst>
              <a:ext uri="{FF2B5EF4-FFF2-40B4-BE49-F238E27FC236}">
                <a16:creationId xmlns:a16="http://schemas.microsoft.com/office/drawing/2014/main" id="{7C92E061-E857-ECBB-F7FF-4F6CC76A6E11}"/>
              </a:ext>
            </a:extLst>
          </p:cNvPr>
          <p:cNvSpPr/>
          <p:nvPr/>
        </p:nvSpPr>
        <p:spPr>
          <a:xfrm>
            <a:off x="6363536" y="992089"/>
            <a:ext cx="1157468" cy="2639751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Signo de multiplicación 19">
            <a:extLst>
              <a:ext uri="{FF2B5EF4-FFF2-40B4-BE49-F238E27FC236}">
                <a16:creationId xmlns:a16="http://schemas.microsoft.com/office/drawing/2014/main" id="{045E807F-60D8-E14D-D2E3-132D29C663B2}"/>
              </a:ext>
            </a:extLst>
          </p:cNvPr>
          <p:cNvSpPr/>
          <p:nvPr/>
        </p:nvSpPr>
        <p:spPr>
          <a:xfrm>
            <a:off x="6637507" y="4886449"/>
            <a:ext cx="1074544" cy="476084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8810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E03B6-A4BF-DADE-1A72-7B36ED80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2512801-7A7B-CA2D-AC0B-35EF8CC3F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B49E79-E5A9-8191-4465-1A98A526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B44A59B-3927-6BB8-9C72-AA37379346F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8C9DE0E-B19A-C40A-4DC3-571AD3B8C54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173F882E-1D7E-81C8-1C5A-FBDF6EF8991A}"/>
              </a:ext>
            </a:extLst>
          </p:cNvPr>
          <p:cNvSpPr txBox="1"/>
          <p:nvPr/>
        </p:nvSpPr>
        <p:spPr>
          <a:xfrm>
            <a:off x="700296" y="178680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non-declining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92AE25DE-EAE8-7A6A-2CE2-D21990375D8F}"/>
              </a:ext>
            </a:extLst>
          </p:cNvPr>
          <p:cNvSpPr txBox="1"/>
          <p:nvPr/>
        </p:nvSpPr>
        <p:spPr>
          <a:xfrm>
            <a:off x="700296" y="2556247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do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change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AEE7E184-71CA-424C-9FA0-349E5B5C77F7}"/>
              </a:ext>
            </a:extLst>
          </p:cNvPr>
          <p:cNvSpPr txBox="1"/>
          <p:nvPr/>
        </p:nvSpPr>
        <p:spPr>
          <a:xfrm>
            <a:off x="700296" y="4350764"/>
            <a:ext cx="425366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final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selection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6F1BE57-11EB-8EB7-6CA5-6499AED53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33" y="1128894"/>
            <a:ext cx="5476675" cy="547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67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C0FC2-1CD4-4FFD-8920-878816F1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722047E-0A4A-6EC0-CF05-CB47F5250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939" y="804155"/>
            <a:ext cx="5717531" cy="571753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C47ACDC-4679-69D1-EB3E-AE7561B9F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07ECDD-DCD4-7855-71F8-4C7AA388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78D5E62-E2E2-E9F4-8A17-7D19CC9954C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E93997D-8BA6-1904-C03E-555B80ACD29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4.- </a:t>
            </a:r>
            <a:r>
              <a:rPr lang="es-ES" sz="3200" b="1" dirty="0">
                <a:latin typeface="Helvetica"/>
                <a:cs typeface="Helvetica"/>
              </a:rPr>
              <a:t>PCA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FCD2D5C5-7F5E-981A-632B-BB3CD5089C2D}"/>
              </a:ext>
            </a:extLst>
          </p:cNvPr>
          <p:cNvSpPr txBox="1"/>
          <p:nvPr/>
        </p:nvSpPr>
        <p:spPr>
          <a:xfrm>
            <a:off x="700296" y="2137904"/>
            <a:ext cx="5476674" cy="1015663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first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two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axes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explain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 45.60%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variance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s-ES" sz="20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too</a:t>
            </a:r>
            <a:r>
              <a:rPr lang="es-E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little</a:t>
            </a:r>
            <a:r>
              <a:rPr lang="es-E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?)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first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 60.00%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5AB7045-AFEB-5F08-5D02-B82619128AA9}"/>
              </a:ext>
            </a:extLst>
          </p:cNvPr>
          <p:cNvSpPr txBox="1"/>
          <p:nvPr/>
        </p:nvSpPr>
        <p:spPr>
          <a:xfrm>
            <a:off x="700296" y="3061908"/>
            <a:ext cx="5476674" cy="40011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High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10F77E45-E13A-2102-5988-800EBB9689F5}"/>
              </a:ext>
            </a:extLst>
          </p:cNvPr>
          <p:cNvSpPr txBox="1"/>
          <p:nvPr/>
        </p:nvSpPr>
        <p:spPr>
          <a:xfrm>
            <a:off x="700295" y="4044553"/>
            <a:ext cx="3099545" cy="193899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1: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BAI,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2: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2022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3: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2012 6 2017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6A0A3BF-A9E8-540C-BB7A-9BB2851030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2" t="80408" r="76123" b="7866"/>
          <a:stretch>
            <a:fillRect/>
          </a:stretch>
        </p:blipFill>
        <p:spPr>
          <a:xfrm>
            <a:off x="4480395" y="4005879"/>
            <a:ext cx="2572064" cy="72852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122B920-EFD5-B026-E599-865DC26271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8" t="73945" r="72678" b="7348"/>
          <a:stretch>
            <a:fillRect/>
          </a:stretch>
        </p:blipFill>
        <p:spPr>
          <a:xfrm>
            <a:off x="4142901" y="4905044"/>
            <a:ext cx="3247053" cy="128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08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6748-91EB-32A9-FBE0-C64F0CDC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B4B61F5-3330-A8AA-38A9-466ACE9CC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EFBFB1-99D0-C676-8018-46FF79B5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A2939B2-F3C8-A31A-E8B5-13ACDE0857A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8C75D9D6-068E-5AB5-7D40-E18D97D39A9C}"/>
              </a:ext>
            </a:extLst>
          </p:cNvPr>
          <p:cNvSpPr txBox="1"/>
          <p:nvPr/>
        </p:nvSpPr>
        <p:spPr>
          <a:xfrm>
            <a:off x="1739812" y="3596455"/>
            <a:ext cx="6111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lvl="1" algn="ctr"/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Bigger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might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be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vulnerable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them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having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access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deeper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sources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3F4AE059-A7ED-D75B-E429-A7620F5D87A3}"/>
              </a:ext>
            </a:extLst>
          </p:cNvPr>
          <p:cNvSpPr txBox="1"/>
          <p:nvPr/>
        </p:nvSpPr>
        <p:spPr>
          <a:xfrm>
            <a:off x="7851232" y="3677920"/>
            <a:ext cx="31317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). </a:t>
            </a:r>
          </a:p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Older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limitations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efficiency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CuadroTexto 10">
            <a:extLst>
              <a:ext uri="{FF2B5EF4-FFF2-40B4-BE49-F238E27FC236}">
                <a16:creationId xmlns:a16="http://schemas.microsoft.com/office/drawing/2014/main" id="{2E633A39-40F1-30D6-3237-581F377DAAB8}"/>
              </a:ext>
            </a:extLst>
          </p:cNvPr>
          <p:cNvSpPr txBox="1"/>
          <p:nvPr/>
        </p:nvSpPr>
        <p:spPr>
          <a:xfrm>
            <a:off x="1963422" y="4837516"/>
            <a:ext cx="566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Contrary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expected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A3090E5-3344-7682-8401-8E6E1FBDF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4"/>
          <a:stretch>
            <a:fillRect/>
          </a:stretch>
        </p:blipFill>
        <p:spPr>
          <a:xfrm>
            <a:off x="1489310" y="1125916"/>
            <a:ext cx="9568983" cy="243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866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BB3F3-3AA3-1A33-1327-48FE2BC9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9D7B8CA-CD6C-C18E-3E03-319F19470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3F8DC2-F439-732C-6ABC-DF331931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9FFA1FA-24B2-07BA-7DCC-6DA1633359E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7E0C2BF-7E7C-0CAB-43B1-B4D031CD3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40"/>
          <a:stretch>
            <a:fillRect/>
          </a:stretch>
        </p:blipFill>
        <p:spPr>
          <a:xfrm>
            <a:off x="1536612" y="1058155"/>
            <a:ext cx="8712376" cy="3047516"/>
          </a:xfrm>
          <a:prstGeom prst="rect">
            <a:avLst/>
          </a:prstGeom>
        </p:spPr>
      </p:pic>
      <p:sp>
        <p:nvSpPr>
          <p:cNvPr id="6" name="CuadroTexto 10">
            <a:extLst>
              <a:ext uri="{FF2B5EF4-FFF2-40B4-BE49-F238E27FC236}">
                <a16:creationId xmlns:a16="http://schemas.microsoft.com/office/drawing/2014/main" id="{D83437F7-F8D1-4EBF-37B6-07B5C8A7D181}"/>
              </a:ext>
            </a:extLst>
          </p:cNvPr>
          <p:cNvSpPr txBox="1"/>
          <p:nvPr/>
        </p:nvSpPr>
        <p:spPr>
          <a:xfrm>
            <a:off x="5288915" y="4105671"/>
            <a:ext cx="2956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sites.</a:t>
            </a:r>
          </a:p>
          <a:p>
            <a:pPr lvl="1" algn="ctr"/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decreased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availability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can reduce SLA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prevent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further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losses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C82EAB7D-F378-7BA4-9A88-AC54DB8D51F1}"/>
              </a:ext>
            </a:extLst>
          </p:cNvPr>
          <p:cNvSpPr txBox="1"/>
          <p:nvPr/>
        </p:nvSpPr>
        <p:spPr>
          <a:xfrm>
            <a:off x="4026703" y="5903083"/>
            <a:ext cx="566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Contrary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expected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4AFD5ADB-7309-9E31-754C-662A52E6DE59}"/>
              </a:ext>
            </a:extLst>
          </p:cNvPr>
          <p:cNvSpPr txBox="1"/>
          <p:nvPr/>
        </p:nvSpPr>
        <p:spPr>
          <a:xfrm>
            <a:off x="8661397" y="4542712"/>
            <a:ext cx="2621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SLA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 response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instead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factor!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5E222CD1-A427-DC37-54F3-C3C02023523C}"/>
              </a:ext>
            </a:extLst>
          </p:cNvPr>
          <p:cNvSpPr txBox="1"/>
          <p:nvPr/>
        </p:nvSpPr>
        <p:spPr>
          <a:xfrm>
            <a:off x="1807122" y="4105671"/>
            <a:ext cx="2956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more intense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sites.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Denser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stands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limitting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nutrients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availability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per individual</a:t>
            </a:r>
          </a:p>
        </p:txBody>
      </p:sp>
    </p:spTree>
    <p:extLst>
      <p:ext uri="{BB962C8B-B14F-4D97-AF65-F5344CB8AC3E}">
        <p14:creationId xmlns:p14="http://schemas.microsoft.com/office/powerpoint/2010/main" val="4188263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7817C-A3F6-4CDF-EA36-D5DB876C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1887738-5FA3-398F-5A45-8D1BE1438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DAEAB4-983A-5310-50BA-5A0D50CD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549C90F-45ED-B3B2-EB45-508D4058995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13DBB13-C45D-3BA8-A0AF-F4460C6C7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35" y="1006150"/>
            <a:ext cx="8957388" cy="4478695"/>
          </a:xfrm>
          <a:prstGeom prst="rect">
            <a:avLst/>
          </a:prstGeom>
        </p:spPr>
      </p:pic>
      <p:sp>
        <p:nvSpPr>
          <p:cNvPr id="15" name="CuadroTexto 10">
            <a:extLst>
              <a:ext uri="{FF2B5EF4-FFF2-40B4-BE49-F238E27FC236}">
                <a16:creationId xmlns:a16="http://schemas.microsoft.com/office/drawing/2014/main" id="{376850FD-E880-7FF4-61E7-9A526E0ED34C}"/>
              </a:ext>
            </a:extLst>
          </p:cNvPr>
          <p:cNvSpPr txBox="1"/>
          <p:nvPr/>
        </p:nvSpPr>
        <p:spPr>
          <a:xfrm>
            <a:off x="6224763" y="3375849"/>
            <a:ext cx="2956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more intense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sites.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more vulnerable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CuadroTexto 10">
            <a:extLst>
              <a:ext uri="{FF2B5EF4-FFF2-40B4-BE49-F238E27FC236}">
                <a16:creationId xmlns:a16="http://schemas.microsoft.com/office/drawing/2014/main" id="{57FE396C-A654-0C38-F2C3-23BF5822CCB3}"/>
              </a:ext>
            </a:extLst>
          </p:cNvPr>
          <p:cNvSpPr txBox="1"/>
          <p:nvPr/>
        </p:nvSpPr>
        <p:spPr>
          <a:xfrm>
            <a:off x="8907625" y="1477261"/>
            <a:ext cx="3060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according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year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418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01510-EB0F-FA8C-BA99-6DB243308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4101A4A-1E8E-AAB8-6132-5FCCC9373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9AF608-5633-34BB-0443-0DB7EBB6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38F77E0-96F8-D564-1F84-36A43390C26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EB5B85AA-4FBB-3FF3-4511-BF3B725F672A}"/>
              </a:ext>
            </a:extLst>
          </p:cNvPr>
          <p:cNvSpPr txBox="1"/>
          <p:nvPr/>
        </p:nvSpPr>
        <p:spPr>
          <a:xfrm>
            <a:off x="262827" y="5924292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2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984637-38EB-C13C-1F85-10BC462E0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985" y="887921"/>
            <a:ext cx="6776569" cy="508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37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E3B6-0046-431F-C37E-EFC4124C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A1CF20F-BB4F-EB16-DE3E-FAECBBE2F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690025-8CC0-E386-10F6-2C795AB2F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53936C3-5A7C-CECB-A6EE-14C1E56DA92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D7529AD2-EBC6-A566-49BE-79A45F56F0A6}"/>
              </a:ext>
            </a:extLst>
          </p:cNvPr>
          <p:cNvSpPr txBox="1"/>
          <p:nvPr/>
        </p:nvSpPr>
        <p:spPr>
          <a:xfrm>
            <a:off x="-558267" y="4707451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3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DAEB6-987A-1F7E-8B4D-2CFF806B3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549" y="1800427"/>
            <a:ext cx="9690902" cy="290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70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D9215-EB31-DF63-C38A-A4031EB8B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46ECFE9-CA61-DA29-F4A1-F83D32F39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939" y="804155"/>
            <a:ext cx="5717531" cy="571753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AA09DFA-3AA8-50F9-CA49-1906B5FC4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149B6E-EE2F-4B2A-12FA-35A8CAAF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FB7D8BA-B34B-1605-56A3-748DA799743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5FE2BFF-9518-F701-075E-7274D535AFA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5.- </a:t>
            </a:r>
            <a:r>
              <a:rPr lang="es-ES" sz="3200" b="1" dirty="0" err="1">
                <a:latin typeface="Helvetica"/>
                <a:cs typeface="Helvetica"/>
              </a:rPr>
              <a:t>Model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7B0781B3-94BC-26CA-05FE-CA59368F9BCF}"/>
              </a:ext>
            </a:extLst>
          </p:cNvPr>
          <p:cNvSpPr txBox="1"/>
          <p:nvPr/>
        </p:nvSpPr>
        <p:spPr>
          <a:xfrm>
            <a:off x="700296" y="2137904"/>
            <a:ext cx="5476674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worth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variables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components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7DBF2628-7A46-711C-92FF-807472752A01}"/>
              </a:ext>
            </a:extLst>
          </p:cNvPr>
          <p:cNvSpPr txBox="1"/>
          <p:nvPr/>
        </p:nvSpPr>
        <p:spPr>
          <a:xfrm>
            <a:off x="700297" y="3028890"/>
            <a:ext cx="539570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Linear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Mixed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Structural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Equations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D781F76-57AC-B21D-527A-CEE8DE92CA17}"/>
              </a:ext>
            </a:extLst>
          </p:cNvPr>
          <p:cNvSpPr txBox="1"/>
          <p:nvPr/>
        </p:nvSpPr>
        <p:spPr>
          <a:xfrm>
            <a:off x="811912" y="3919876"/>
            <a:ext cx="5476674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s-ES" sz="20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+ PCA1 + PCA2 + PCA3 + (1 | site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id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id) ¿?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8C9A36D7-CECB-FD61-7B30-4CCB1616C213}"/>
              </a:ext>
            </a:extLst>
          </p:cNvPr>
          <p:cNvSpPr txBox="1"/>
          <p:nvPr/>
        </p:nvSpPr>
        <p:spPr>
          <a:xfrm>
            <a:off x="811912" y="5009645"/>
            <a:ext cx="5476674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no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variability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A. alba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and P. pinea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climatic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niche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first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1BA07AEB-7DF7-5E5A-7E00-74691E0E4428}"/>
              </a:ext>
            </a:extLst>
          </p:cNvPr>
          <p:cNvSpPr txBox="1"/>
          <p:nvPr/>
        </p:nvSpPr>
        <p:spPr>
          <a:xfrm>
            <a:off x="767265" y="5765665"/>
            <a:ext cx="5717530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 try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selecting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AICc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instead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them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PCA’s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components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282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EE3E-1A5F-B746-3593-05CDEC89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BD43907-7EF2-2577-51A2-8194E3B58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939" y="804155"/>
            <a:ext cx="5717531" cy="571753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FF5E4A9-B8A5-6A58-27BA-3B3B9F24C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E9D4EA-F385-9C55-C6E6-32EDB69FF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7F7689-66D3-C505-806F-6965F977976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8C299A2-EC31-C530-9422-5D519AC746F4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5.- </a:t>
            </a:r>
            <a:r>
              <a:rPr lang="es-ES" sz="3200" b="1" dirty="0" err="1">
                <a:latin typeface="Helvetica"/>
                <a:cs typeface="Helvetica"/>
              </a:rPr>
              <a:t>Model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7A47C4BE-EB36-0D50-70D7-084E039DB484}"/>
              </a:ext>
            </a:extLst>
          </p:cNvPr>
          <p:cNvSpPr txBox="1"/>
          <p:nvPr/>
        </p:nvSpPr>
        <p:spPr>
          <a:xfrm>
            <a:off x="700297" y="3028890"/>
            <a:ext cx="539570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could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start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a LMM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just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20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first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5ABD145B-1947-A770-FB87-BC23E00FD711}"/>
              </a:ext>
            </a:extLst>
          </p:cNvPr>
          <p:cNvSpPr txBox="1"/>
          <p:nvPr/>
        </p:nvSpPr>
        <p:spPr>
          <a:xfrm>
            <a:off x="733781" y="1941372"/>
            <a:ext cx="5476674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no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variability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A. alba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and P. pinea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climatic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niche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first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767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DEC1B-C816-A57E-F65A-D08DE59F6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CA2F80B-F538-0DD1-F945-434820C7A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798" y="946210"/>
            <a:ext cx="5717531" cy="571753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120CDB9-C77C-047D-466A-73D2DEDC4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1DBD8F-74D5-1E9A-46A2-AF609C27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–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responses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009C40D-0CB6-13D8-BF96-9CD59C138D5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E4C07CB-3769-55EC-1BD2-78DD9801897A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ED400FBE-20DD-0CEA-2E97-11CD59212993}"/>
              </a:ext>
            </a:extLst>
          </p:cNvPr>
          <p:cNvSpPr txBox="1"/>
          <p:nvPr/>
        </p:nvSpPr>
        <p:spPr>
          <a:xfrm>
            <a:off x="700296" y="178680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non-declining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13DF3B6F-2958-A51A-BDEB-16107F1FE967}"/>
              </a:ext>
            </a:extLst>
          </p:cNvPr>
          <p:cNvSpPr txBox="1"/>
          <p:nvPr/>
        </p:nvSpPr>
        <p:spPr>
          <a:xfrm>
            <a:off x="700296" y="2556247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do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change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9035D241-233B-D1E5-D4F6-E0F11B9282B1}"/>
              </a:ext>
            </a:extLst>
          </p:cNvPr>
          <p:cNvSpPr txBox="1"/>
          <p:nvPr/>
        </p:nvSpPr>
        <p:spPr>
          <a:xfrm>
            <a:off x="700296" y="3748881"/>
            <a:ext cx="5476674" cy="92333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ratios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be more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useful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55DD12C0-C013-BFB9-51E8-7A8FB2FE4AE9}"/>
              </a:ext>
            </a:extLst>
          </p:cNvPr>
          <p:cNvSpPr txBox="1"/>
          <p:nvPr/>
        </p:nvSpPr>
        <p:spPr>
          <a:xfrm>
            <a:off x="588749" y="4767513"/>
            <a:ext cx="5476674" cy="175432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predictors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wood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Chlorophyll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best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predictor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regarding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concentration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best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predictor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regarding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nutrients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Signo de multiplicación 8">
            <a:extLst>
              <a:ext uri="{FF2B5EF4-FFF2-40B4-BE49-F238E27FC236}">
                <a16:creationId xmlns:a16="http://schemas.microsoft.com/office/drawing/2014/main" id="{5CAC42E4-996C-6A5B-BA06-1FBEC39E7530}"/>
              </a:ext>
            </a:extLst>
          </p:cNvPr>
          <p:cNvSpPr/>
          <p:nvPr/>
        </p:nvSpPr>
        <p:spPr>
          <a:xfrm>
            <a:off x="6096000" y="4885144"/>
            <a:ext cx="2095013" cy="782831"/>
          </a:xfrm>
          <a:prstGeom prst="mathMultiply">
            <a:avLst>
              <a:gd name="adj1" fmla="val 12591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Signo de multiplicación 9">
            <a:extLst>
              <a:ext uri="{FF2B5EF4-FFF2-40B4-BE49-F238E27FC236}">
                <a16:creationId xmlns:a16="http://schemas.microsoft.com/office/drawing/2014/main" id="{3059FD5B-7B84-E2FB-85A3-C03C92EBF85D}"/>
              </a:ext>
            </a:extLst>
          </p:cNvPr>
          <p:cNvSpPr/>
          <p:nvPr/>
        </p:nvSpPr>
        <p:spPr>
          <a:xfrm>
            <a:off x="6126579" y="2277216"/>
            <a:ext cx="2095013" cy="2576980"/>
          </a:xfrm>
          <a:prstGeom prst="mathMultiply">
            <a:avLst>
              <a:gd name="adj1" fmla="val 5317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Signo de multiplicación 10">
            <a:extLst>
              <a:ext uri="{FF2B5EF4-FFF2-40B4-BE49-F238E27FC236}">
                <a16:creationId xmlns:a16="http://schemas.microsoft.com/office/drawing/2014/main" id="{2C6F5839-30B0-A428-6A49-C0BF697B8073}"/>
              </a:ext>
            </a:extLst>
          </p:cNvPr>
          <p:cNvSpPr/>
          <p:nvPr/>
        </p:nvSpPr>
        <p:spPr>
          <a:xfrm>
            <a:off x="6126579" y="1522390"/>
            <a:ext cx="2095013" cy="556073"/>
          </a:xfrm>
          <a:prstGeom prst="mathMultiply">
            <a:avLst>
              <a:gd name="adj1" fmla="val 12391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Signo de multiplicación 12">
            <a:extLst>
              <a:ext uri="{FF2B5EF4-FFF2-40B4-BE49-F238E27FC236}">
                <a16:creationId xmlns:a16="http://schemas.microsoft.com/office/drawing/2014/main" id="{D026C8A0-E1C2-C8D1-C099-1D5F4EAC167B}"/>
              </a:ext>
            </a:extLst>
          </p:cNvPr>
          <p:cNvSpPr/>
          <p:nvPr/>
        </p:nvSpPr>
        <p:spPr>
          <a:xfrm>
            <a:off x="6126578" y="5852197"/>
            <a:ext cx="2095013" cy="556073"/>
          </a:xfrm>
          <a:prstGeom prst="mathMultiply">
            <a:avLst>
              <a:gd name="adj1" fmla="val 12391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9151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E399-BD7F-5906-4771-D944572E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94D7494-4F9D-7116-BC10-966B78A5C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1D8ECD7-47CA-35AE-41CB-0EE1D9A23122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72501A8-8A07-03EC-0D75-8F9BE8EF13A0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DBF7742C-0035-3B84-E4A4-2F4E6B3F34B1}"/>
              </a:ext>
            </a:extLst>
          </p:cNvPr>
          <p:cNvSpPr txBox="1"/>
          <p:nvPr/>
        </p:nvSpPr>
        <p:spPr>
          <a:xfrm>
            <a:off x="700296" y="178680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non-declining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6B0F2A83-214E-80AD-E835-17CE136718D5}"/>
              </a:ext>
            </a:extLst>
          </p:cNvPr>
          <p:cNvSpPr txBox="1"/>
          <p:nvPr/>
        </p:nvSpPr>
        <p:spPr>
          <a:xfrm>
            <a:off x="700296" y="2556247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do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change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6305C09F-6A08-70E0-25B8-8B8FCCF54089}"/>
              </a:ext>
            </a:extLst>
          </p:cNvPr>
          <p:cNvSpPr txBox="1"/>
          <p:nvPr/>
        </p:nvSpPr>
        <p:spPr>
          <a:xfrm>
            <a:off x="700296" y="4350764"/>
            <a:ext cx="425366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final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selection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412D189-F44F-63E1-9B0C-08ECEC3C39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analysis – Physiological responses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C5994F4-2763-6EBB-1E7E-137F1437D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966" y="1140469"/>
            <a:ext cx="5380738" cy="538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68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0AF57-F7CD-3929-F859-083DE6DC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C65E357-B8C5-038A-779B-6B240327D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51B7E5-5709-010A-BBD1-924A1282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EAB1ED0-F85C-1B9F-1435-9C2E383C73C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38D5660F-6CD8-84E6-5DD6-AE05D9DC749C}"/>
              </a:ext>
            </a:extLst>
          </p:cNvPr>
          <p:cNvSpPr txBox="1"/>
          <p:nvPr/>
        </p:nvSpPr>
        <p:spPr>
          <a:xfrm>
            <a:off x="6615566" y="2123593"/>
            <a:ext cx="47855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Chlorophyll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sites.</a:t>
            </a:r>
          </a:p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stress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upregulates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expression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senescence-associated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genes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sythesis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ROS,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damaging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apparatus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lvl="1" algn="ctr"/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follow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temperate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–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Mediterranean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gradient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1537FF-25B6-EC73-9FD8-D09E0429C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46" y="1660802"/>
            <a:ext cx="5305154" cy="353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1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FC8D9-A85B-70C2-A486-B1B3F2FC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715A64E-5519-650C-52D4-F0846918A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40044C-AE59-01C1-9D47-1E6972E1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40C455-656A-3889-B9F5-A8B5D94DA5B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F6269942-6A2B-031E-5216-3D20D7D30CD7}"/>
              </a:ext>
            </a:extLst>
          </p:cNvPr>
          <p:cNvSpPr txBox="1"/>
          <p:nvPr/>
        </p:nvSpPr>
        <p:spPr>
          <a:xfrm>
            <a:off x="2195966" y="4816764"/>
            <a:ext cx="47855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shows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tan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allocation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impaired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uptake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.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pattern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however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more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clear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at site-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36A4187-2BD6-25D4-A4DB-239D2A7B0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51" y="886512"/>
            <a:ext cx="10261600" cy="38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645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BBF33-B668-C835-5A5F-72C386031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A0419BA-23D0-2E79-4996-991C69B2F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BBB154-EDBE-07FA-3AA6-E9E85259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A643BCE-9D80-8F56-14F4-5A9B6311E78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4C6D4FEC-C6A9-C2ED-D7B8-5647394BAC2E}"/>
              </a:ext>
            </a:extLst>
          </p:cNvPr>
          <p:cNvSpPr txBox="1"/>
          <p:nvPr/>
        </p:nvSpPr>
        <p:spPr>
          <a:xfrm>
            <a:off x="7298108" y="1477261"/>
            <a:ext cx="47855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sites show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SLA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particularly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alba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which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reflects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 shift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towards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 more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conservative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show 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loss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cell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turgor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particularly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temperate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show a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tighter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control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sites,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particularly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temperate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increased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iWUE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9F313A1-2755-7F07-BBAB-56E601BD0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46" y="1143000"/>
            <a:ext cx="6949682" cy="521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91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C5C5-EF5A-768B-A652-90509C60D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F5F8FB8-8D0A-FA0F-35A5-886238A43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B4CD11-59B9-F351-1BD6-25EAD5209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499C957-AC6A-9B78-5D1E-5A51CB895A8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31D4A-8B99-124C-171D-7F527D59B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326" y="1227853"/>
            <a:ext cx="7891347" cy="4734407"/>
          </a:xfrm>
          <a:prstGeom prst="rect">
            <a:avLst/>
          </a:prstGeom>
        </p:spPr>
      </p:pic>
      <p:sp>
        <p:nvSpPr>
          <p:cNvPr id="6" name="CuadroTexto 10">
            <a:extLst>
              <a:ext uri="{FF2B5EF4-FFF2-40B4-BE49-F238E27FC236}">
                <a16:creationId xmlns:a16="http://schemas.microsoft.com/office/drawing/2014/main" id="{D38787AB-8C83-4F38-2E00-87E981047F5C}"/>
              </a:ext>
            </a:extLst>
          </p:cNvPr>
          <p:cNvSpPr txBox="1"/>
          <p:nvPr/>
        </p:nvSpPr>
        <p:spPr>
          <a:xfrm>
            <a:off x="262827" y="5924292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4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1900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2991</TotalTime>
  <Words>1674</Words>
  <Application>Microsoft Office PowerPoint</Application>
  <PresentationFormat>Widescreen</PresentationFormat>
  <Paragraphs>338</Paragraphs>
  <Slides>29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Helvetica</vt:lpstr>
      <vt:lpstr>Times New Roman</vt:lpstr>
      <vt:lpstr>Tema de Office</vt:lpstr>
      <vt:lpstr>Preliminar analyses  -  Figures</vt:lpstr>
      <vt:lpstr> Complementary strategies to cope with drought</vt:lpstr>
      <vt:lpstr> Complementary strategies to cope with drought</vt:lpstr>
      <vt:lpstr> Study area</vt:lpstr>
      <vt:lpstr>PowerPoint Presentation</vt:lpstr>
      <vt:lpstr>PowerPoint Presentation</vt:lpstr>
      <vt:lpstr>PowerPoint Presentation</vt:lpstr>
      <vt:lpstr>PowerPoint Presentation</vt:lpstr>
      <vt:lpstr> Sampling design</vt:lpstr>
      <vt:lpstr> Sampling design</vt:lpstr>
      <vt:lpstr> Data analysis</vt:lpstr>
      <vt:lpstr> Data analysis</vt:lpstr>
      <vt:lpstr> Data analysis</vt:lpstr>
      <vt:lpstr> Data analysis</vt:lpstr>
      <vt:lpstr> Data analysis</vt:lpstr>
      <vt:lpstr> Data analysis</vt:lpstr>
      <vt:lpstr> Preliminary results</vt:lpstr>
      <vt:lpstr> Preliminary results</vt:lpstr>
      <vt:lpstr> Preliminary results</vt:lpstr>
      <vt:lpstr> Preliminary results</vt:lpstr>
      <vt:lpstr> Preliminary results</vt:lpstr>
      <vt:lpstr> Data analysis</vt:lpstr>
      <vt:lpstr> Data analysis</vt:lpstr>
      <vt:lpstr> Data analysis – Physiological responses</vt:lpstr>
      <vt:lpstr>PowerPoint Presentation</vt:lpstr>
      <vt:lpstr> Preliminary results</vt:lpstr>
      <vt:lpstr> Preliminary results</vt:lpstr>
      <vt:lpstr> Preliminary results</vt:lpstr>
      <vt:lpstr> Preliminary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24</cp:revision>
  <dcterms:created xsi:type="dcterms:W3CDTF">2025-04-25T13:52:31Z</dcterms:created>
  <dcterms:modified xsi:type="dcterms:W3CDTF">2025-06-26T10:32:27Z</dcterms:modified>
</cp:coreProperties>
</file>