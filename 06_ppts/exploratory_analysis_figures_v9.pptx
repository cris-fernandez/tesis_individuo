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7" r:id="rId2"/>
    <p:sldId id="341" r:id="rId3"/>
    <p:sldId id="454" r:id="rId4"/>
    <p:sldId id="304" r:id="rId5"/>
    <p:sldId id="302" r:id="rId6"/>
    <p:sldId id="468" r:id="rId7"/>
    <p:sldId id="469" r:id="rId8"/>
    <p:sldId id="457" r:id="rId9"/>
    <p:sldId id="456" r:id="rId10"/>
    <p:sldId id="470" r:id="rId11"/>
    <p:sldId id="471" r:id="rId12"/>
    <p:sldId id="447" r:id="rId13"/>
    <p:sldId id="473" r:id="rId14"/>
    <p:sldId id="474" r:id="rId15"/>
    <p:sldId id="335" r:id="rId16"/>
    <p:sldId id="342" r:id="rId17"/>
    <p:sldId id="337" r:id="rId18"/>
    <p:sldId id="282" r:id="rId19"/>
    <p:sldId id="404" r:id="rId20"/>
    <p:sldId id="459" r:id="rId21"/>
    <p:sldId id="460" r:id="rId22"/>
    <p:sldId id="406" r:id="rId23"/>
    <p:sldId id="407" r:id="rId24"/>
    <p:sldId id="408" r:id="rId25"/>
    <p:sldId id="409" r:id="rId26"/>
    <p:sldId id="411" r:id="rId27"/>
    <p:sldId id="433" r:id="rId28"/>
    <p:sldId id="435" r:id="rId29"/>
    <p:sldId id="458" r:id="rId30"/>
    <p:sldId id="413" r:id="rId31"/>
    <p:sldId id="461" r:id="rId32"/>
    <p:sldId id="464" r:id="rId33"/>
    <p:sldId id="462" r:id="rId34"/>
    <p:sldId id="441" r:id="rId35"/>
    <p:sldId id="463" r:id="rId36"/>
    <p:sldId id="465" r:id="rId37"/>
    <p:sldId id="466" r:id="rId38"/>
    <p:sldId id="442" r:id="rId39"/>
    <p:sldId id="443" r:id="rId40"/>
    <p:sldId id="445" r:id="rId41"/>
    <p:sldId id="444" r:id="rId42"/>
    <p:sldId id="446" r:id="rId43"/>
    <p:sldId id="452" r:id="rId44"/>
    <p:sldId id="453" r:id="rId45"/>
    <p:sldId id="424" r:id="rId4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4BCF0B-13A8-F3D9-5213-32840108FAB3}" name="Cristopher Fernández de Blas" initials="CF" userId="13a2925ceb8d18c3" providerId="Windows Live"/>
  <p188:author id="{9B18557D-7187-C966-2E91-CE8B6CF86FC3}" name="Charlotte Grossiord" initials="" userId="S::charlotte.grossiord@wsl.ch::81d5e498-a7ae-4007-b872-c94d21631f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5EF0"/>
    <a:srgbClr val="DC267F"/>
    <a:srgbClr val="FFB000"/>
    <a:srgbClr val="650304"/>
    <a:srgbClr val="D71515"/>
    <a:srgbClr val="2274A5"/>
    <a:srgbClr val="218317"/>
    <a:srgbClr val="B75EBE"/>
    <a:srgbClr val="50C317"/>
    <a:srgbClr val="DB5E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983DD-E218-4F5B-97E6-73372FCDFB94}" type="datetimeFigureOut">
              <a:rPr lang="es-ES" smtClean="0"/>
              <a:t>22/07/2025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FFF-AA8A-422F-901E-D94C39C8B22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0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244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0985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0363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4738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0863-D448-E9C8-3713-0B5CFCB6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7FB442-828C-AE76-F148-980D2AEE6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AE7446-4695-93DD-A912-31F01CD75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914FCB-90AD-2E02-7705-F40B6080B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9014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DAD94-0158-8CAB-91D9-52BDAFE79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E8ECE-EA24-3954-FB25-C21295961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03F959-63CD-34AE-1B2E-0A7FCA605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C8D4EB-2427-3376-5589-AB4DE910C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9382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7735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D8B23-A54B-9135-E980-999D7BAE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033E05-D6E9-BF95-E726-E64CBFAA4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086062-BC85-60E3-0AE8-CD9B07313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9E413E-0514-DE85-CDCB-934854438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2862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E6042-EE08-341E-8F3C-8423A9AE1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4CE9DD-C62B-34A9-8332-4D25265DE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AA4BEC5-40BD-4508-E6C0-866154BEF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4C658F-B04D-B882-7DE6-DAA0F449C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09780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DFE64-8AE2-3B87-7546-152F3541D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CC6695C-A171-FD10-306F-D62444C37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CBF29B5-31C5-DB27-6B02-05365060D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C9848E-7D36-7513-5EAC-5B4F41A23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0142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FEF00-6B82-8F5A-C945-A09E5C5F9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3148436-55A8-DDB5-3509-2F79579B6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A29234-E70F-FE86-0886-BCD5229F5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4EF42A-E447-B9D4-722A-F0E5E2C74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2487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89FB9-4200-807F-339E-5D641189B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4C0785-2B1C-8C71-FEDE-2A8431143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18D6763-F416-5CCF-ACA4-7636BF535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5BE7A7-58D3-D3CF-5341-CEACDA4A0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1799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956D4-9570-0DAD-1187-A2E072C2B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DA9BA2-7363-D687-7216-A2344181F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4016FC8-BA46-C3FA-D495-7F0C4E5BF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AE3E7D-73EF-E53C-5FD1-660AF787A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036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90250-3A64-0E66-1733-F313D9D4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987B14-8E35-4C59-AAEC-0AE7DACB8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71D3F1B-AFD4-A5E7-B650-513DBD6F6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F611E2-FDA4-FA72-9154-D9433F6D0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8187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1E000-4D3E-497D-4267-2AA8B787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03AFD5-61ED-2CE6-EBA8-C92EAE66E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925A137-A7AC-ED90-C8ED-20285F256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25625B-E6B7-9436-31E8-56E08BAB1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0359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FD959-9B52-85EE-548F-E5967552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3B80D5-C571-8F99-AB8F-57B1511FC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5868661-B462-C3EB-2D5F-38B427513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6F0060-1A90-EF5A-5E66-F14377B74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4293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ACC0-3F97-3DF7-79A8-B0FBC69A2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9138D8-384E-68C7-2A8B-A2B7A4588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4EADFE-4B01-CF78-86CA-DBBB7F5A2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DABD3C-6AF3-F8A0-8439-86B407146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07817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4670D-B66E-CD2D-C675-B1E66445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FA68332-AF43-E0CE-3526-7DF316543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EB7C56-4434-69BF-326D-C968D4968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B4D3AD-25AE-76B9-DDE2-C61E216DC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05316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D6093-4778-8DEE-52A3-DDEF1E05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6276539-5D5C-C6C6-2238-D3A7DE827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5C5D938-0591-BA05-7040-78AB12A3B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DC18B9-5FE2-50C5-5B65-D0946DC7C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42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71543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AEE78-A7C1-8933-E9C6-EEED35176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D78DE3-ED76-79B3-EDCF-307E7E9830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B13050C-4B5C-8980-E28D-F1AAFB0ED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FBEB3B-AC04-F0E0-A86E-A74F32C21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43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40371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30405-03BC-BA28-9A0D-24AA5947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21C0C6-807E-938D-9905-0C1D7A0C8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777784F-F6F9-4AC8-D9DC-7076A2EEF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81741B-F274-FAAC-53C1-3EDF5CC22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44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558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640DE-EF5A-BF63-2E51-3F00BBC82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6BF010-56F3-6C41-3ED4-6C6CD7B86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884DF-EF45-3ED4-7FED-EDBF9117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4C811A-9D34-4AB3-450F-9DA4CF3A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5F95F7-3C7B-946C-366A-49B04093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009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9DE6E-BF0C-E652-3C51-49F5B25C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9BD04C-625F-583F-FC5B-0B03DB01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C05C8-58D0-6801-9E5F-F0B2E40C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3DC1A-F7D9-17B6-DD6B-F8340D3E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60615A-9ABF-3407-3DD7-7F2A4626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49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D798C-EF3C-75D7-DF34-7D4C4274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5D251F-D0F0-354A-F45F-27D2789A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C9AAB-A900-C82B-BE85-C8F40230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CAC175-7E84-92B8-4A79-9CBAFDBD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2F1AF-BA78-B1B5-EC60-FA0ADA41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03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D3BAE-9F26-0518-54AF-3E926C2C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A59CD-AFDE-1619-A608-CDEC2CDC6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CCD51C-A4E4-C6A4-BBD0-93E4CAEB7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F563BB-C9D2-279E-8859-0E318201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22/07/2025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14AD24-34FC-A14B-6E80-F6F63915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1E899-44E6-3273-3EE1-32945AC3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DA15D-25C4-382E-22A7-81D0B791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8AE567-062B-49F4-8619-63F87A397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420789-F3FF-21AF-9D54-CD59B6751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1177D8-E0EE-7BD1-068F-C81B122CD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8A0FCD-E226-F963-4F76-8996CB9B8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CDC16D-2FED-2D12-3D08-D6F077A7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22/07/2025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CFB62D-A51A-2454-4405-88CE76E5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74924C-DB70-2D03-5E1D-0C3DDF4C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406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4F3FD-BF5F-164B-AAF7-98EC5A3E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37ECC9-AC2F-85D7-F049-98C88DF4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22/07/2025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C12025-51E5-6BB4-4D99-1EAD8C36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2ADA6-2C6B-24C3-2868-EF4353B0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04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6E515E-F511-61BB-3E91-09426519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22/07/2025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4634D0-27C9-95EF-3E84-BE4C1A27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4E3C35-4075-3D27-0B82-3A6CC319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94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0776-5E34-0607-D69E-3EF7EC6E4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EC768-6F4D-C19A-89E0-6A794544B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35944C-60F6-AF2F-105B-501D4254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F41D29-352F-5057-8D57-E152E682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22/07/2025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0DC31-00EB-A127-3B45-71998447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EF0AB-281F-DE3B-5B75-1EBA3593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526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A6A52-845E-5021-3313-F13CB32E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93D278-CC78-61F0-4FC8-993DFC68C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83A53A-9C6B-26A9-6123-57B769CDC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633E21-3097-61E0-8610-BEF2D3E5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22/07/2025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0A8BFE-DEEE-886A-DD29-0927196B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1C076B-F3BC-8A46-DF79-E64A3019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01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063C6-B53F-825E-64CB-3015916A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F3F1A8-F0E5-5999-2539-3162C3A5E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91299C-664F-B1DC-502B-AACAA5B1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FE2D33-E41C-7A2D-954D-B7377B44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44EEB-61E8-1F17-C276-395DCEB3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82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C72534-2A4D-909F-7175-F0B6627FC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2AD40B-7F62-DB1B-BC75-257EF759F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93092A-D1B6-2D0C-7F7C-F9B47D51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22/07/2025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F58730-2AEA-FFBD-4EB1-6446AC44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9B5FE-8900-CDE3-A45F-9CE5E24B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114144-76B6-9D89-6BFE-9EA6B510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FF20E2-1DD1-B589-89E2-410C47E23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F1B9EB-6037-B051-58F5-0FB73F7BA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2A3C-7F5D-464A-B794-A5CF9734955A}" type="datetimeFigureOut">
              <a:rPr lang="es-ES" smtClean="0"/>
              <a:t>22/07/2025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C72BF2-7511-AB6D-DE0B-5A6923A82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6153C-F5E0-E3A2-16A0-F50E14478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68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13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11" Type="http://schemas.openxmlformats.org/officeDocument/2006/relationships/image" Target="../media/image11.png"/><Relationship Id="rId5" Type="http://schemas.openxmlformats.org/officeDocument/2006/relationships/image" Target="../media/image23.png"/><Relationship Id="rId10" Type="http://schemas.openxmlformats.org/officeDocument/2006/relationships/image" Target="../media/image10.svg"/><Relationship Id="rId4" Type="http://schemas.openxmlformats.org/officeDocument/2006/relationships/image" Target="../media/image22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tiff"/><Relationship Id="rId4" Type="http://schemas.openxmlformats.org/officeDocument/2006/relationships/image" Target="../media/image32.tif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tiff"/><Relationship Id="rId4" Type="http://schemas.openxmlformats.org/officeDocument/2006/relationships/image" Target="../media/image32.tif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tiff"/><Relationship Id="rId4" Type="http://schemas.openxmlformats.org/officeDocument/2006/relationships/image" Target="../media/image36.tif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tiff"/><Relationship Id="rId4" Type="http://schemas.openxmlformats.org/officeDocument/2006/relationships/image" Target="../media/image48.tif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tiff"/><Relationship Id="rId2" Type="http://schemas.openxmlformats.org/officeDocument/2006/relationships/image" Target="../media/image50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7D1276C-2F08-785C-87EC-6B990140D14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735636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99B278-9C5A-620C-C671-715C2AA7A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2404"/>
            <a:ext cx="9144000" cy="3188380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analyses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1217E08-3399-DFA2-1E05-836FE1C2F420}"/>
              </a:ext>
            </a:extLst>
          </p:cNvPr>
          <p:cNvSpPr txBox="1">
            <a:spLocks/>
          </p:cNvSpPr>
          <p:nvPr/>
        </p:nvSpPr>
        <p:spPr>
          <a:xfrm>
            <a:off x="1" y="5735636"/>
            <a:ext cx="12192000" cy="1122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 err="1">
                <a:latin typeface="Helvetica"/>
                <a:cs typeface="Helvetica"/>
              </a:rPr>
              <a:t>Chapter</a:t>
            </a:r>
            <a:r>
              <a:rPr lang="es-ES" sz="3200" dirty="0">
                <a:latin typeface="Helvetica"/>
                <a:cs typeface="Helvetica"/>
              </a:rPr>
              <a:t> 2: </a:t>
            </a:r>
            <a:r>
              <a:rPr lang="es-ES" sz="3200" dirty="0" err="1">
                <a:latin typeface="Helvetica"/>
                <a:cs typeface="Helvetica"/>
              </a:rPr>
              <a:t>assessing</a:t>
            </a:r>
            <a:r>
              <a:rPr lang="es-ES" sz="3200" dirty="0">
                <a:latin typeface="Helvetica"/>
                <a:cs typeface="Helvetica"/>
              </a:rPr>
              <a:t> individual </a:t>
            </a:r>
            <a:r>
              <a:rPr lang="es-ES" sz="3200" dirty="0" err="1">
                <a:latin typeface="Helvetica"/>
                <a:cs typeface="Helvetica"/>
              </a:rPr>
              <a:t>factors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determining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drought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vulnerability</a:t>
            </a:r>
            <a:endParaRPr lang="es-ES" sz="32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6421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4A987-8E48-280D-E7CC-510D650B5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Trees on the Edge: Understanding Douglas-fir Decline and Mortality in  Southwest Oregon | OSU Extension Service">
            <a:extLst>
              <a:ext uri="{FF2B5EF4-FFF2-40B4-BE49-F238E27FC236}">
                <a16:creationId xmlns:a16="http://schemas.microsoft.com/office/drawing/2014/main" id="{10367549-1026-C488-5876-09B6139F50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51" b="15946"/>
          <a:stretch/>
        </p:blipFill>
        <p:spPr bwMode="auto">
          <a:xfrm>
            <a:off x="3054763" y="1749582"/>
            <a:ext cx="6082473" cy="335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79781540-947F-806E-0694-E726A1E765ED}"/>
              </a:ext>
            </a:extLst>
          </p:cNvPr>
          <p:cNvSpPr txBox="1">
            <a:spLocks/>
          </p:cNvSpPr>
          <p:nvPr/>
        </p:nvSpPr>
        <p:spPr>
          <a:xfrm>
            <a:off x="153017" y="1019998"/>
            <a:ext cx="11709532" cy="13372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sz="3200" err="1">
                <a:latin typeface="Helvetica"/>
                <a:cs typeface="Helvetica"/>
              </a:rPr>
              <a:t>It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is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hard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to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forecast</a:t>
            </a:r>
            <a:r>
              <a:rPr lang="es-ES" sz="3200">
                <a:latin typeface="Helvetica"/>
                <a:cs typeface="Helvetica"/>
              </a:rPr>
              <a:t> </a:t>
            </a:r>
            <a:r>
              <a:rPr lang="es-ES" sz="3200" err="1">
                <a:latin typeface="Helvetica"/>
                <a:cs typeface="Helvetica"/>
              </a:rPr>
              <a:t>drought-induced</a:t>
            </a:r>
            <a:r>
              <a:rPr lang="es-ES" sz="3200">
                <a:latin typeface="Helvetica"/>
                <a:cs typeface="Helvetica"/>
              </a:rPr>
              <a:t> die-back </a:t>
            </a:r>
            <a:r>
              <a:rPr lang="es-ES" sz="3200" err="1">
                <a:latin typeface="Helvetica"/>
                <a:cs typeface="Helvetica"/>
              </a:rPr>
              <a:t>events</a:t>
            </a:r>
            <a:endParaRPr lang="es-ES" sz="3200">
              <a:latin typeface="Helvetica"/>
              <a:cs typeface="Helvetica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B7F0C8A6-D36B-E2BB-A94E-FA9002271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29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29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Drought-induced</a:t>
            </a:r>
            <a:r>
              <a:rPr lang="es-ES" sz="29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9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9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9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mortality</a:t>
            </a:r>
            <a:endParaRPr lang="es-ES" sz="29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Original “death spiral” from Manion (1991) describing biotic and... |  Download Scientific Diagram">
            <a:extLst>
              <a:ext uri="{FF2B5EF4-FFF2-40B4-BE49-F238E27FC236}">
                <a16:creationId xmlns:a16="http://schemas.microsoft.com/office/drawing/2014/main" id="{ADD07D04-7217-3275-1F63-0E6BE590A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20" y="1858090"/>
            <a:ext cx="2672740" cy="325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Dead Pine Tree – Photos Public Domain">
            <a:extLst>
              <a:ext uri="{FF2B5EF4-FFF2-40B4-BE49-F238E27FC236}">
                <a16:creationId xmlns:a16="http://schemas.microsoft.com/office/drawing/2014/main" id="{541BA644-CF11-0384-ABC7-D2AD6FE4C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930" y="3807466"/>
            <a:ext cx="1710612" cy="256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36884B-99ED-D5AD-864C-98C470AA9185}"/>
              </a:ext>
            </a:extLst>
          </p:cNvPr>
          <p:cNvSpPr txBox="1">
            <a:spLocks/>
          </p:cNvSpPr>
          <p:nvPr/>
        </p:nvSpPr>
        <p:spPr>
          <a:xfrm>
            <a:off x="10121175" y="3807466"/>
            <a:ext cx="2459409" cy="1051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b="1">
                <a:latin typeface="Helvetica" panose="020B0604020202020204" pitchFamily="34" charset="0"/>
                <a:cs typeface="Helvetica" panose="020B0604020202020204" pitchFamily="34" charset="0"/>
              </a:rPr>
              <a:t>Individual </a:t>
            </a: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812A7CE1-B498-71BA-ACAB-F8AB56577FAD}"/>
              </a:ext>
            </a:extLst>
          </p:cNvPr>
          <p:cNvGrpSpPr/>
          <p:nvPr/>
        </p:nvGrpSpPr>
        <p:grpSpPr>
          <a:xfrm>
            <a:off x="6848359" y="4089754"/>
            <a:ext cx="1156529" cy="1538950"/>
            <a:chOff x="6527591" y="4904433"/>
            <a:chExt cx="1156529" cy="1538950"/>
          </a:xfrm>
        </p:grpSpPr>
        <p:sp>
          <p:nvSpPr>
            <p:cNvPr id="6" name="Triángulo isósceles 5">
              <a:extLst>
                <a:ext uri="{FF2B5EF4-FFF2-40B4-BE49-F238E27FC236}">
                  <a16:creationId xmlns:a16="http://schemas.microsoft.com/office/drawing/2014/main" id="{B01FFFBC-D897-9971-1EDB-E838FBF81A2A}"/>
                </a:ext>
              </a:extLst>
            </p:cNvPr>
            <p:cNvSpPr/>
            <p:nvPr/>
          </p:nvSpPr>
          <p:spPr>
            <a:xfrm rot="8499904">
              <a:off x="7235961" y="4996921"/>
              <a:ext cx="448159" cy="1446462"/>
            </a:xfrm>
            <a:prstGeom prst="triangle">
              <a:avLst/>
            </a:prstGeom>
            <a:solidFill>
              <a:srgbClr val="2183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Triángulo isósceles 7">
              <a:extLst>
                <a:ext uri="{FF2B5EF4-FFF2-40B4-BE49-F238E27FC236}">
                  <a16:creationId xmlns:a16="http://schemas.microsoft.com/office/drawing/2014/main" id="{C8B95656-D402-A8F4-31C2-DBEA3C25C88A}"/>
                </a:ext>
              </a:extLst>
            </p:cNvPr>
            <p:cNvSpPr/>
            <p:nvPr/>
          </p:nvSpPr>
          <p:spPr>
            <a:xfrm rot="19291684">
              <a:off x="6527591" y="4904433"/>
              <a:ext cx="878698" cy="371984"/>
            </a:xfrm>
            <a:prstGeom prst="triangle">
              <a:avLst/>
            </a:prstGeom>
            <a:solidFill>
              <a:srgbClr val="2183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6DDD3D6A-02B8-AC23-3DE9-25BF6BF2B355}"/>
              </a:ext>
            </a:extLst>
          </p:cNvPr>
          <p:cNvSpPr txBox="1">
            <a:spLocks/>
          </p:cNvSpPr>
          <p:nvPr/>
        </p:nvSpPr>
        <p:spPr>
          <a:xfrm>
            <a:off x="3054763" y="5509923"/>
            <a:ext cx="6027576" cy="684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Early-warning</a:t>
            </a:r>
            <a:r>
              <a:rPr lang="es-ES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signals</a:t>
            </a:r>
            <a:r>
              <a:rPr lang="es-ES" b="1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  <a:p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62230E7-0412-0DD2-A63D-F97F4A5F360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9101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B4A0-35BD-216E-20B8-00F98CCD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9DE75C5-D846-9CB9-4570-565DEB5FD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068E0E6-B03E-37E1-938B-1E01F441BECF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6089516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 err="1">
                <a:latin typeface="Helvetica"/>
                <a:cs typeface="Helvetica"/>
              </a:rPr>
              <a:t>Mortality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rates</a:t>
            </a:r>
            <a:r>
              <a:rPr lang="es-ES" sz="3200" b="1" dirty="0">
                <a:latin typeface="Helvetica"/>
                <a:cs typeface="Helvetica"/>
              </a:rPr>
              <a:t> are </a:t>
            </a:r>
            <a:r>
              <a:rPr lang="es-ES" sz="3200" b="1" dirty="0" err="1">
                <a:latin typeface="Helvetica"/>
                <a:cs typeface="Helvetica"/>
              </a:rPr>
              <a:t>highly</a:t>
            </a:r>
            <a:r>
              <a:rPr lang="es-ES" sz="3200" b="1" dirty="0">
                <a:latin typeface="Helvetica"/>
                <a:cs typeface="Helvetica"/>
              </a:rPr>
              <a:t> variable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7E7F35B5-4E0E-15FE-694B-D1B8681A02A3}"/>
              </a:ext>
            </a:extLst>
          </p:cNvPr>
          <p:cNvSpPr txBox="1"/>
          <p:nvPr/>
        </p:nvSpPr>
        <p:spPr>
          <a:xfrm>
            <a:off x="418288" y="2598018"/>
            <a:ext cx="709855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extrinsic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conditions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intrinsic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traits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increase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chances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undergo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die-off (i.e.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climate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Inciting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single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events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trigger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mortality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(i.e.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outbreaks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, etc.)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Contributing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lethal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agents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further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contribute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mortality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(i.e.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parasitic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fungi</a:t>
            </a:r>
            <a:r>
              <a:rPr lang="es-ES" sz="2400" dirty="0">
                <a:latin typeface="Helvetica" panose="020B0604020202020204" pitchFamily="34" charset="0"/>
                <a:cs typeface="Helvetica" panose="020B0604020202020204" pitchFamily="34" charset="0"/>
              </a:rPr>
              <a:t>).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CA1CA5A4-9864-80A9-A20B-0A47A8F76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8A74FF43-BF03-F0CD-F5D9-41F5B265DAA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Complementary strategies to cope with 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C3F98B51-8B48-9C7B-21F1-01DBA31BDCE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7623F2-A5CB-27A8-DF3B-CA8CB960913E}"/>
              </a:ext>
            </a:extLst>
          </p:cNvPr>
          <p:cNvSpPr txBox="1"/>
          <p:nvPr/>
        </p:nvSpPr>
        <p:spPr>
          <a:xfrm>
            <a:off x="-1068420" y="1951687"/>
            <a:ext cx="73297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Dieoff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triggered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inciting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C881A9-EF0E-7E72-F789-712FC55248F5}"/>
              </a:ext>
            </a:extLst>
          </p:cNvPr>
          <p:cNvSpPr/>
          <p:nvPr/>
        </p:nvSpPr>
        <p:spPr>
          <a:xfrm>
            <a:off x="418288" y="2529191"/>
            <a:ext cx="7098556" cy="1429966"/>
          </a:xfrm>
          <a:prstGeom prst="rect">
            <a:avLst/>
          </a:prstGeom>
          <a:noFill/>
          <a:ln w="57150"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FE030A-29F9-B95B-F3B5-87902873A368}"/>
              </a:ext>
            </a:extLst>
          </p:cNvPr>
          <p:cNvSpPr txBox="1"/>
          <p:nvPr/>
        </p:nvSpPr>
        <p:spPr>
          <a:xfrm>
            <a:off x="5087566" y="2061170"/>
            <a:ext cx="28189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b="1" dirty="0" err="1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Forecasting</a:t>
            </a:r>
            <a:r>
              <a:rPr lang="es-ES" sz="20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tool</a:t>
            </a:r>
            <a:r>
              <a:rPr lang="es-ES" sz="20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  <a:endParaRPr lang="es-ES" sz="2400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B1ED97-7258-BF65-60C7-1F129DE866F4}"/>
              </a:ext>
            </a:extLst>
          </p:cNvPr>
          <p:cNvSpPr txBox="1"/>
          <p:nvPr/>
        </p:nvSpPr>
        <p:spPr>
          <a:xfrm>
            <a:off x="8016934" y="5826955"/>
            <a:ext cx="33479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Manion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et al.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1991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076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F1E34-A69D-DADA-E287-034C7886D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654471-27AA-762D-935F-08C20B449A45}"/>
              </a:ext>
            </a:extLst>
          </p:cNvPr>
          <p:cNvSpPr txBox="1">
            <a:spLocks/>
          </p:cNvSpPr>
          <p:nvPr/>
        </p:nvSpPr>
        <p:spPr>
          <a:xfrm>
            <a:off x="1407983" y="1968471"/>
            <a:ext cx="2722485" cy="1273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Isohydric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dirty="0">
                <a:solidFill>
                  <a:srgbClr val="218317"/>
                </a:solidFill>
                <a:latin typeface="Helvetica"/>
                <a:cs typeface="Helvetica"/>
              </a:rPr>
              <a:t>"Conservative"</a:t>
            </a:r>
            <a:endParaRPr lang="es-ES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b="1" dirty="0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7776ACF-C2D5-1F5A-B3CB-7C6DEC9834AB}"/>
              </a:ext>
            </a:extLst>
          </p:cNvPr>
          <p:cNvSpPr txBox="1">
            <a:spLocks/>
          </p:cNvSpPr>
          <p:nvPr/>
        </p:nvSpPr>
        <p:spPr>
          <a:xfrm>
            <a:off x="7368825" y="1968471"/>
            <a:ext cx="2756263" cy="1101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Anisohydric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</a:t>
            </a:r>
            <a:r>
              <a:rPr lang="es-ES" err="1">
                <a:solidFill>
                  <a:srgbClr val="218317"/>
                </a:solidFill>
                <a:latin typeface="Helvetica"/>
                <a:cs typeface="Helvetica"/>
              </a:rPr>
              <a:t>Acquisitive</a:t>
            </a: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</a:t>
            </a:r>
            <a:endParaRPr lang="es-ES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E7DC63F-7F98-F3D6-5905-8CA4CA583E04}"/>
              </a:ext>
            </a:extLst>
          </p:cNvPr>
          <p:cNvCxnSpPr>
            <a:cxnSpLocks/>
          </p:cNvCxnSpPr>
          <p:nvPr/>
        </p:nvCxnSpPr>
        <p:spPr>
          <a:xfrm>
            <a:off x="5021865" y="2245870"/>
            <a:ext cx="1872507" cy="0"/>
          </a:xfrm>
          <a:prstGeom prst="straightConnector1">
            <a:avLst/>
          </a:prstGeom>
          <a:ln>
            <a:solidFill>
              <a:srgbClr val="218317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678D6811-F8C9-009C-246A-8A7EC64FCF0A}"/>
              </a:ext>
            </a:extLst>
          </p:cNvPr>
          <p:cNvSpPr txBox="1">
            <a:spLocks/>
          </p:cNvSpPr>
          <p:nvPr/>
        </p:nvSpPr>
        <p:spPr>
          <a:xfrm>
            <a:off x="4579617" y="1364622"/>
            <a:ext cx="2770640" cy="8279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err="1">
                <a:latin typeface="Helvetica"/>
                <a:cs typeface="Helvetica"/>
              </a:rPr>
              <a:t>Leaf</a:t>
            </a:r>
            <a:r>
              <a:rPr lang="es-ES" sz="2400">
                <a:latin typeface="Helvetica"/>
                <a:cs typeface="Helvetica"/>
              </a:rPr>
              <a:t> </a:t>
            </a:r>
            <a:r>
              <a:rPr lang="es-ES" sz="2400" err="1">
                <a:latin typeface="Helvetica"/>
                <a:cs typeface="Helvetica"/>
              </a:rPr>
              <a:t>Economics</a:t>
            </a:r>
            <a:r>
              <a:rPr lang="es-ES" sz="2400">
                <a:latin typeface="Helvetica"/>
                <a:cs typeface="Helvetica"/>
              </a:rPr>
              <a:t> </a:t>
            </a:r>
            <a:r>
              <a:rPr lang="es-ES" sz="2400" err="1">
                <a:latin typeface="Helvetica"/>
                <a:cs typeface="Helvetica"/>
              </a:rPr>
              <a:t>Spectrum</a:t>
            </a:r>
            <a:endParaRPr lang="es-ES" sz="2400">
              <a:ea typeface="Calibri"/>
              <a:cs typeface="Calibri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F105CAE0-BBA3-51E4-1609-E516C7404CE6}"/>
              </a:ext>
            </a:extLst>
          </p:cNvPr>
          <p:cNvSpPr txBox="1">
            <a:spLocks/>
          </p:cNvSpPr>
          <p:nvPr/>
        </p:nvSpPr>
        <p:spPr>
          <a:xfrm>
            <a:off x="1526346" y="3295417"/>
            <a:ext cx="3495519" cy="24108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↑</a:t>
            </a:r>
            <a:r>
              <a:rPr lang="es-ES" sz="2400" dirty="0" err="1">
                <a:latin typeface="Helvetica"/>
                <a:cs typeface="Helvetica"/>
              </a:rPr>
              <a:t>iWUE</a:t>
            </a:r>
            <a:endParaRPr lang="es-ES" sz="24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dirty="0" err="1">
                <a:latin typeface="Helvetica"/>
                <a:cs typeface="Helvetica"/>
              </a:rPr>
              <a:t>Stomatal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closure</a:t>
            </a:r>
            <a:endParaRPr lang="es-ES" sz="24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↓ </a:t>
            </a:r>
            <a:r>
              <a:rPr lang="es-ES" sz="2400" dirty="0" err="1">
                <a:latin typeface="Helvetica"/>
                <a:cs typeface="Helvetica"/>
              </a:rPr>
              <a:t>Growth</a:t>
            </a:r>
            <a:endParaRPr lang="es-ES" sz="24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↓ </a:t>
            </a:r>
            <a:r>
              <a:rPr lang="es-ES" sz="2400" dirty="0" err="1">
                <a:latin typeface="Helvetica"/>
                <a:cs typeface="Helvetica"/>
              </a:rPr>
              <a:t>Photosynthetic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rates</a:t>
            </a:r>
            <a:endParaRPr lang="es-ES" sz="2400" dirty="0">
              <a:latin typeface="Helvetica"/>
              <a:cs typeface="Helvetica"/>
            </a:endParaRPr>
          </a:p>
          <a:p>
            <a:pPr>
              <a:buFont typeface="Calibri"/>
              <a:buChar char="-"/>
            </a:pPr>
            <a:r>
              <a:rPr lang="es-ES" sz="2400" dirty="0">
                <a:latin typeface="Helvetica"/>
                <a:cs typeface="Helvetica"/>
              </a:rPr>
              <a:t>↓ SLA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buFont typeface="Calibri" panose="020B0604020202020204" pitchFamily="34" charset="0"/>
              <a:buChar char="-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1660BAB1-4C20-961E-81F7-512FFC819A56}"/>
              </a:ext>
            </a:extLst>
          </p:cNvPr>
          <p:cNvSpPr txBox="1">
            <a:spLocks/>
          </p:cNvSpPr>
          <p:nvPr/>
        </p:nvSpPr>
        <p:spPr>
          <a:xfrm>
            <a:off x="7517838" y="3290539"/>
            <a:ext cx="3495519" cy="24108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s-ES" sz="2400">
                <a:latin typeface="Helvetica"/>
                <a:cs typeface="Helvetica"/>
              </a:rPr>
              <a:t>↓ </a:t>
            </a:r>
            <a:r>
              <a:rPr lang="es-ES" sz="2400" err="1">
                <a:latin typeface="Helvetica"/>
                <a:cs typeface="Helvetica"/>
              </a:rPr>
              <a:t>iWUE</a:t>
            </a:r>
            <a:endParaRPr lang="es-ES" sz="2400">
              <a:ea typeface="Calibri" panose="020F0502020204030204"/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 err="1">
                <a:latin typeface="Helvetica"/>
                <a:cs typeface="Helvetica"/>
              </a:rPr>
              <a:t>Leaf</a:t>
            </a:r>
            <a:r>
              <a:rPr lang="es-ES" sz="2400">
                <a:latin typeface="Helvetica"/>
                <a:cs typeface="Helvetica"/>
              </a:rPr>
              <a:t> ↓Ψ</a:t>
            </a:r>
            <a:endParaRPr lang="es-ES" sz="2400"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>
                <a:latin typeface="Helvetica"/>
                <a:cs typeface="Helvetica"/>
              </a:rPr>
              <a:t>↑ </a:t>
            </a:r>
            <a:r>
              <a:rPr lang="es-ES" sz="2400" err="1">
                <a:latin typeface="Helvetica" panose="020B0604020202020204" pitchFamily="34" charset="0"/>
                <a:cs typeface="Calibri" panose="020F0502020204030204"/>
              </a:rPr>
              <a:t>Growth</a:t>
            </a:r>
            <a:endParaRPr lang="es-ES" sz="2400">
              <a:latin typeface="Helvetica" panose="020B0604020202020204" pitchFamily="34" charset="0"/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>
                <a:latin typeface="Helvetica"/>
                <a:cs typeface="Helvetica"/>
              </a:rPr>
              <a:t>↑ </a:t>
            </a:r>
            <a:r>
              <a:rPr lang="es-ES" sz="2400" err="1">
                <a:latin typeface="Helvetica" panose="020B0604020202020204" pitchFamily="34" charset="0"/>
                <a:cs typeface="Calibri" panose="020F0502020204030204"/>
              </a:rPr>
              <a:t>Photosynthetic</a:t>
            </a:r>
            <a:r>
              <a:rPr lang="es-ES" sz="2400">
                <a:latin typeface="Helvetica" panose="020B0604020202020204" pitchFamily="34" charset="0"/>
                <a:cs typeface="Calibri" panose="020F0502020204030204"/>
              </a:rPr>
              <a:t> </a:t>
            </a:r>
            <a:r>
              <a:rPr lang="es-ES" sz="2400" err="1">
                <a:latin typeface="Helvetica" panose="020B0604020202020204" pitchFamily="34" charset="0"/>
                <a:cs typeface="Calibri" panose="020F0502020204030204"/>
              </a:rPr>
              <a:t>rates</a:t>
            </a:r>
            <a:endParaRPr lang="es-ES" sz="2400">
              <a:latin typeface="Helvetica" panose="020B0604020202020204" pitchFamily="34" charset="0"/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s-ES" sz="2400">
                <a:latin typeface="Helvetica"/>
                <a:cs typeface="Helvetica"/>
              </a:rPr>
              <a:t>↑ </a:t>
            </a:r>
            <a:r>
              <a:rPr lang="es-ES" sz="2400">
                <a:latin typeface="Helvetica" panose="020B0604020202020204" pitchFamily="34" charset="0"/>
                <a:cs typeface="Calibri" panose="020F0502020204030204"/>
              </a:rPr>
              <a:t>SLA</a:t>
            </a:r>
            <a:endParaRPr lang="es-ES" sz="240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9E3FEF1-F294-3810-DDC5-43B7C278F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73834-FE5A-03E2-F5BC-C18E44196CD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5878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4F081-A088-30DB-3883-FCDEC464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D60CFF-15AC-6167-1BFE-B868A03B0D66}"/>
              </a:ext>
            </a:extLst>
          </p:cNvPr>
          <p:cNvSpPr txBox="1">
            <a:spLocks/>
          </p:cNvSpPr>
          <p:nvPr/>
        </p:nvSpPr>
        <p:spPr>
          <a:xfrm>
            <a:off x="1407983" y="1968471"/>
            <a:ext cx="2722485" cy="12736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Isohydric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"Conservative"</a:t>
            </a:r>
            <a:endParaRPr lang="es-ES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b="1">
              <a:solidFill>
                <a:srgbClr val="21831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C301A0A8-C680-A0B9-0230-69336DE66F5C}"/>
              </a:ext>
            </a:extLst>
          </p:cNvPr>
          <p:cNvSpPr txBox="1">
            <a:spLocks/>
          </p:cNvSpPr>
          <p:nvPr/>
        </p:nvSpPr>
        <p:spPr>
          <a:xfrm>
            <a:off x="7368825" y="1968471"/>
            <a:ext cx="2756263" cy="1101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s-ES" b="1" err="1">
                <a:latin typeface="Helvetica" panose="020B0604020202020204" pitchFamily="34" charset="0"/>
                <a:cs typeface="Helvetica" panose="020B0604020202020204" pitchFamily="34" charset="0"/>
              </a:rPr>
              <a:t>Anisohydric</a:t>
            </a:r>
            <a:endParaRPr lang="es-ES" b="1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</a:t>
            </a:r>
            <a:r>
              <a:rPr lang="es-ES" err="1">
                <a:solidFill>
                  <a:srgbClr val="218317"/>
                </a:solidFill>
                <a:latin typeface="Helvetica"/>
                <a:cs typeface="Helvetica"/>
              </a:rPr>
              <a:t>Acquisitive</a:t>
            </a:r>
            <a:r>
              <a:rPr lang="es-ES">
                <a:solidFill>
                  <a:srgbClr val="218317"/>
                </a:solidFill>
                <a:latin typeface="Helvetica"/>
                <a:cs typeface="Helvetica"/>
              </a:rPr>
              <a:t>"</a:t>
            </a:r>
            <a:endParaRPr lang="es-ES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57A09E0D-8002-1C48-7BE0-E5328339783A}"/>
              </a:ext>
            </a:extLst>
          </p:cNvPr>
          <p:cNvCxnSpPr>
            <a:cxnSpLocks/>
          </p:cNvCxnSpPr>
          <p:nvPr/>
        </p:nvCxnSpPr>
        <p:spPr>
          <a:xfrm flipH="1">
            <a:off x="2708814" y="3069608"/>
            <a:ext cx="7363" cy="569526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DD6EBB49-2FF0-EA11-DD35-E79B74B70DD8}"/>
              </a:ext>
            </a:extLst>
          </p:cNvPr>
          <p:cNvSpPr txBox="1">
            <a:spLocks/>
          </p:cNvSpPr>
          <p:nvPr/>
        </p:nvSpPr>
        <p:spPr>
          <a:xfrm>
            <a:off x="961054" y="3745826"/>
            <a:ext cx="3495519" cy="686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2400" b="1" err="1">
                <a:latin typeface="Helvetica" panose="020B0604020202020204" pitchFamily="34" charset="0"/>
                <a:cs typeface="Helvetica" panose="020B0604020202020204" pitchFamily="34" charset="0"/>
              </a:rPr>
              <a:t>starvation</a:t>
            </a: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235F29CB-D416-8088-46C1-61AD3E5F34DD}"/>
              </a:ext>
            </a:extLst>
          </p:cNvPr>
          <p:cNvSpPr txBox="1">
            <a:spLocks/>
          </p:cNvSpPr>
          <p:nvPr/>
        </p:nvSpPr>
        <p:spPr>
          <a:xfrm>
            <a:off x="6955713" y="3745826"/>
            <a:ext cx="3495519" cy="686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2400" b="1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err="1">
                <a:latin typeface="Helvetica" panose="020B0604020202020204" pitchFamily="34" charset="0"/>
                <a:cs typeface="Helvetica" panose="020B0604020202020204" pitchFamily="34" charset="0"/>
              </a:rPr>
              <a:t>failure</a:t>
            </a: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5B42447E-4AD3-B544-F694-EDB332DCE9EC}"/>
              </a:ext>
            </a:extLst>
          </p:cNvPr>
          <p:cNvCxnSpPr/>
          <p:nvPr/>
        </p:nvCxnSpPr>
        <p:spPr>
          <a:xfrm flipH="1">
            <a:off x="8696110" y="3069608"/>
            <a:ext cx="7363" cy="569526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F79CFE7-C6B7-7114-7FED-F6435CFE4821}"/>
              </a:ext>
            </a:extLst>
          </p:cNvPr>
          <p:cNvSpPr/>
          <p:nvPr/>
        </p:nvSpPr>
        <p:spPr>
          <a:xfrm>
            <a:off x="1407983" y="1834769"/>
            <a:ext cx="2722484" cy="248634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C2D66EB-D7D7-8063-DB8C-354C0B383754}"/>
              </a:ext>
            </a:extLst>
          </p:cNvPr>
          <p:cNvSpPr/>
          <p:nvPr/>
        </p:nvSpPr>
        <p:spPr>
          <a:xfrm>
            <a:off x="7342230" y="1834769"/>
            <a:ext cx="2722484" cy="2486340"/>
          </a:xfrm>
          <a:prstGeom prst="rect">
            <a:avLst/>
          </a:prstGeom>
          <a:noFill/>
          <a:ln w="57150"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7677E2A1-6A78-23DF-4BBB-9381DCF75D4B}"/>
              </a:ext>
            </a:extLst>
          </p:cNvPr>
          <p:cNvSpPr txBox="1">
            <a:spLocks/>
          </p:cNvSpPr>
          <p:nvPr/>
        </p:nvSpPr>
        <p:spPr>
          <a:xfrm>
            <a:off x="1351252" y="1432774"/>
            <a:ext cx="2729849" cy="4542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dirty="0" err="1">
                <a:solidFill>
                  <a:srgbClr val="C00000"/>
                </a:solidFill>
                <a:latin typeface="Helvetica"/>
                <a:cs typeface="Helvetica"/>
              </a:rPr>
              <a:t>Declining</a:t>
            </a:r>
            <a:r>
              <a:rPr lang="es-ES" sz="2400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C00000"/>
                </a:solidFill>
                <a:latin typeface="Helvetica"/>
                <a:cs typeface="Helvetica"/>
              </a:rPr>
              <a:t>trees</a:t>
            </a:r>
            <a:endParaRPr lang="es-ES" sz="24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E01C7BDA-85BD-6E82-C818-62BC02AB56AE}"/>
              </a:ext>
            </a:extLst>
          </p:cNvPr>
          <p:cNvSpPr txBox="1">
            <a:spLocks/>
          </p:cNvSpPr>
          <p:nvPr/>
        </p:nvSpPr>
        <p:spPr>
          <a:xfrm>
            <a:off x="7368824" y="1432774"/>
            <a:ext cx="2729849" cy="45420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dirty="0">
                <a:solidFill>
                  <a:srgbClr val="2F5597"/>
                </a:solidFill>
                <a:latin typeface="Helvetica"/>
                <a:cs typeface="Helvetica"/>
              </a:rPr>
              <a:t>Non-</a:t>
            </a:r>
            <a:r>
              <a:rPr lang="es-ES" sz="2400" dirty="0" err="1">
                <a:solidFill>
                  <a:srgbClr val="2F5597"/>
                </a:solidFill>
                <a:latin typeface="Helvetica"/>
                <a:cs typeface="Helvetica"/>
              </a:rPr>
              <a:t>declining</a:t>
            </a:r>
            <a:r>
              <a:rPr lang="es-ES" sz="2400" dirty="0">
                <a:solidFill>
                  <a:srgbClr val="2F5597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2F5597"/>
                </a:solidFill>
                <a:latin typeface="Helvetica"/>
                <a:cs typeface="Helvetica"/>
              </a:rPr>
              <a:t>trees</a:t>
            </a:r>
            <a:endParaRPr lang="es-ES" sz="2400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42A54D1-2ECF-7C61-83B9-4AD86563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42B1F0-F3D3-57E6-4914-BA213DCF864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4237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A7753-B5D5-14CF-DA45-21CD41F8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31364477-9BE4-A846-4BF3-08CD05779886}"/>
              </a:ext>
            </a:extLst>
          </p:cNvPr>
          <p:cNvCxnSpPr>
            <a:cxnSpLocks/>
          </p:cNvCxnSpPr>
          <p:nvPr/>
        </p:nvCxnSpPr>
        <p:spPr>
          <a:xfrm>
            <a:off x="1468910" y="2061436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9DADE83F-5FD9-3C81-F98F-DFC9300B4B5B}"/>
              </a:ext>
            </a:extLst>
          </p:cNvPr>
          <p:cNvSpPr txBox="1">
            <a:spLocks/>
          </p:cNvSpPr>
          <p:nvPr/>
        </p:nvSpPr>
        <p:spPr>
          <a:xfrm>
            <a:off x="-339777" y="943334"/>
            <a:ext cx="3495519" cy="686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starvation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61AC41D1-4651-0583-E902-D03AC3ACB7FE}"/>
              </a:ext>
            </a:extLst>
          </p:cNvPr>
          <p:cNvSpPr txBox="1">
            <a:spLocks/>
          </p:cNvSpPr>
          <p:nvPr/>
        </p:nvSpPr>
        <p:spPr>
          <a:xfrm>
            <a:off x="8696481" y="943334"/>
            <a:ext cx="3495519" cy="686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failure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81B84C1-4D85-ED42-D574-5BF805EE2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C848C4-D70A-FBB9-B36D-CFC00C76963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2A37AE-E242-FBE5-337E-3D5CB844A16C}"/>
              </a:ext>
            </a:extLst>
          </p:cNvPr>
          <p:cNvSpPr txBox="1"/>
          <p:nvPr/>
        </p:nvSpPr>
        <p:spPr>
          <a:xfrm>
            <a:off x="4252144" y="831922"/>
            <a:ext cx="33479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McDowell 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et al.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, 2008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562AFE-6CB2-FE42-EAFA-7B8DC08F5D63}"/>
              </a:ext>
            </a:extLst>
          </p:cNvPr>
          <p:cNvSpPr/>
          <p:nvPr/>
        </p:nvSpPr>
        <p:spPr>
          <a:xfrm>
            <a:off x="871751" y="1536798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Drought</a:t>
            </a:r>
            <a:endParaRPr lang="es-E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6DA635-2AF3-EFD2-914B-84DA8336344D}"/>
              </a:ext>
            </a:extLst>
          </p:cNvPr>
          <p:cNvSpPr/>
          <p:nvPr/>
        </p:nvSpPr>
        <p:spPr>
          <a:xfrm>
            <a:off x="2978767" y="1536798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↑ </a:t>
            </a:r>
            <a:r>
              <a:rPr lang="es-ES" b="1" dirty="0" err="1"/>
              <a:t>Temp</a:t>
            </a:r>
            <a:r>
              <a:rPr lang="es-ES" b="1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7AAA9B-934F-42D8-64AF-47F8F94D3C50}"/>
              </a:ext>
            </a:extLst>
          </p:cNvPr>
          <p:cNvSpPr txBox="1"/>
          <p:nvPr/>
        </p:nvSpPr>
        <p:spPr>
          <a:xfrm>
            <a:off x="673791" y="2654901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l-GR" sz="1600" dirty="0">
                <a:latin typeface="Helvetica" panose="020B0604020202020204" pitchFamily="34" charset="0"/>
                <a:cs typeface="Helvetica" panose="020B0604020202020204" pitchFamily="34" charset="0"/>
              </a:rPr>
              <a:t>Ψ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B4875C-C6C5-9D4A-38F3-43CFB3547432}"/>
              </a:ext>
            </a:extLst>
          </p:cNvPr>
          <p:cNvSpPr txBox="1"/>
          <p:nvPr/>
        </p:nvSpPr>
        <p:spPr>
          <a:xfrm>
            <a:off x="2066069" y="2651996"/>
            <a:ext cx="3019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Evapotranspirative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demand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3" name="Conector recto de flecha 3">
            <a:extLst>
              <a:ext uri="{FF2B5EF4-FFF2-40B4-BE49-F238E27FC236}">
                <a16:creationId xmlns:a16="http://schemas.microsoft.com/office/drawing/2014/main" id="{522187B4-07AE-1558-7BCC-F8E49832A643}"/>
              </a:ext>
            </a:extLst>
          </p:cNvPr>
          <p:cNvCxnSpPr>
            <a:cxnSpLocks/>
          </p:cNvCxnSpPr>
          <p:nvPr/>
        </p:nvCxnSpPr>
        <p:spPr>
          <a:xfrm>
            <a:off x="3580420" y="2061437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3">
            <a:extLst>
              <a:ext uri="{FF2B5EF4-FFF2-40B4-BE49-F238E27FC236}">
                <a16:creationId xmlns:a16="http://schemas.microsoft.com/office/drawing/2014/main" id="{0472CBE4-7E50-3A1D-715F-FFD09CA5E73E}"/>
              </a:ext>
            </a:extLst>
          </p:cNvPr>
          <p:cNvCxnSpPr>
            <a:cxnSpLocks/>
          </p:cNvCxnSpPr>
          <p:nvPr/>
        </p:nvCxnSpPr>
        <p:spPr>
          <a:xfrm>
            <a:off x="3575925" y="3137647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3">
            <a:extLst>
              <a:ext uri="{FF2B5EF4-FFF2-40B4-BE49-F238E27FC236}">
                <a16:creationId xmlns:a16="http://schemas.microsoft.com/office/drawing/2014/main" id="{C51F248F-3A65-99FD-E4CD-0C7C9497881B}"/>
              </a:ext>
            </a:extLst>
          </p:cNvPr>
          <p:cNvCxnSpPr>
            <a:cxnSpLocks/>
          </p:cNvCxnSpPr>
          <p:nvPr/>
        </p:nvCxnSpPr>
        <p:spPr>
          <a:xfrm>
            <a:off x="1468910" y="313255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2DF1573-3294-C037-7E73-27D031E9F10F}"/>
              </a:ext>
            </a:extLst>
          </p:cNvPr>
          <p:cNvSpPr txBox="1"/>
          <p:nvPr/>
        </p:nvSpPr>
        <p:spPr>
          <a:xfrm>
            <a:off x="612863" y="3723035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Transpiration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1E0B1A-0FD6-BFEB-8592-7347FAF7E5E0}"/>
              </a:ext>
            </a:extLst>
          </p:cNvPr>
          <p:cNvSpPr txBox="1"/>
          <p:nvPr/>
        </p:nvSpPr>
        <p:spPr>
          <a:xfrm>
            <a:off x="2780806" y="3698174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lang="es-ES" sz="1600" b="1" baseline="-25000" dirty="0" err="1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endParaRPr lang="es-ES" b="1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8" name="Conector recto de flecha 3">
            <a:extLst>
              <a:ext uri="{FF2B5EF4-FFF2-40B4-BE49-F238E27FC236}">
                <a16:creationId xmlns:a16="http://schemas.microsoft.com/office/drawing/2014/main" id="{D0FF7B76-47DB-92C4-BB60-F0D36B9A4529}"/>
              </a:ext>
            </a:extLst>
          </p:cNvPr>
          <p:cNvCxnSpPr>
            <a:cxnSpLocks/>
          </p:cNvCxnSpPr>
          <p:nvPr/>
        </p:nvCxnSpPr>
        <p:spPr>
          <a:xfrm flipH="1">
            <a:off x="2385000" y="3892312"/>
            <a:ext cx="642719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3">
            <a:extLst>
              <a:ext uri="{FF2B5EF4-FFF2-40B4-BE49-F238E27FC236}">
                <a16:creationId xmlns:a16="http://schemas.microsoft.com/office/drawing/2014/main" id="{9F18AA62-85AF-ABD7-4978-44E5C48D70A1}"/>
              </a:ext>
            </a:extLst>
          </p:cNvPr>
          <p:cNvCxnSpPr>
            <a:cxnSpLocks/>
          </p:cNvCxnSpPr>
          <p:nvPr/>
        </p:nvCxnSpPr>
        <p:spPr>
          <a:xfrm>
            <a:off x="1468910" y="4227346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D37F04A-B160-D004-8BA6-D3E93D581389}"/>
              </a:ext>
            </a:extLst>
          </p:cNvPr>
          <p:cNvSpPr txBox="1"/>
          <p:nvPr/>
        </p:nvSpPr>
        <p:spPr>
          <a:xfrm>
            <a:off x="543702" y="4791169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Photosynthesis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2" name="Conector recto de flecha 3">
            <a:extLst>
              <a:ext uri="{FF2B5EF4-FFF2-40B4-BE49-F238E27FC236}">
                <a16:creationId xmlns:a16="http://schemas.microsoft.com/office/drawing/2014/main" id="{8F147705-9389-5970-0E85-542DA9842FDA}"/>
              </a:ext>
            </a:extLst>
          </p:cNvPr>
          <p:cNvCxnSpPr>
            <a:cxnSpLocks/>
          </p:cNvCxnSpPr>
          <p:nvPr/>
        </p:nvCxnSpPr>
        <p:spPr>
          <a:xfrm>
            <a:off x="1466693" y="524749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E8CB7C0-C36A-E20A-0E2A-F9A648B6E830}"/>
              </a:ext>
            </a:extLst>
          </p:cNvPr>
          <p:cNvSpPr txBox="1"/>
          <p:nvPr/>
        </p:nvSpPr>
        <p:spPr>
          <a:xfrm>
            <a:off x="534585" y="5813507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5" name="Conector recto de flecha 3">
            <a:extLst>
              <a:ext uri="{FF2B5EF4-FFF2-40B4-BE49-F238E27FC236}">
                <a16:creationId xmlns:a16="http://schemas.microsoft.com/office/drawing/2014/main" id="{BAAB73B8-4137-2645-CDF1-A32BD342AD89}"/>
              </a:ext>
            </a:extLst>
          </p:cNvPr>
          <p:cNvCxnSpPr>
            <a:cxnSpLocks/>
          </p:cNvCxnSpPr>
          <p:nvPr/>
        </p:nvCxnSpPr>
        <p:spPr>
          <a:xfrm>
            <a:off x="2501098" y="4960446"/>
            <a:ext cx="633602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EAFA422-0B4E-A2F0-E7DB-D3C7D0508518}"/>
              </a:ext>
            </a:extLst>
          </p:cNvPr>
          <p:cNvSpPr txBox="1"/>
          <p:nvPr/>
        </p:nvSpPr>
        <p:spPr>
          <a:xfrm>
            <a:off x="2995036" y="4791169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tradeoffs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9" name="Conector recto de flecha 3">
            <a:extLst>
              <a:ext uri="{FF2B5EF4-FFF2-40B4-BE49-F238E27FC236}">
                <a16:creationId xmlns:a16="http://schemas.microsoft.com/office/drawing/2014/main" id="{410D0CF3-2E16-9BAD-3C17-0413F2553076}"/>
              </a:ext>
            </a:extLst>
          </p:cNvPr>
          <p:cNvCxnSpPr>
            <a:cxnSpLocks/>
          </p:cNvCxnSpPr>
          <p:nvPr/>
        </p:nvCxnSpPr>
        <p:spPr>
          <a:xfrm flipH="1">
            <a:off x="2002245" y="5172333"/>
            <a:ext cx="1254139" cy="673723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3">
            <a:extLst>
              <a:ext uri="{FF2B5EF4-FFF2-40B4-BE49-F238E27FC236}">
                <a16:creationId xmlns:a16="http://schemas.microsoft.com/office/drawing/2014/main" id="{92EBD7A6-AEB9-7EC4-AAF6-5CFADFD08256}"/>
              </a:ext>
            </a:extLst>
          </p:cNvPr>
          <p:cNvCxnSpPr>
            <a:cxnSpLocks/>
          </p:cNvCxnSpPr>
          <p:nvPr/>
        </p:nvCxnSpPr>
        <p:spPr>
          <a:xfrm>
            <a:off x="3905606" y="524749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B501D3C-E8B8-9922-0890-64D78035426F}"/>
              </a:ext>
            </a:extLst>
          </p:cNvPr>
          <p:cNvSpPr txBox="1"/>
          <p:nvPr/>
        </p:nvSpPr>
        <p:spPr>
          <a:xfrm>
            <a:off x="3110487" y="5738126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↓Defenses</a:t>
            </a:r>
            <a:endParaRPr lang="es-ES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5" name="Conector recto de flecha 3">
            <a:extLst>
              <a:ext uri="{FF2B5EF4-FFF2-40B4-BE49-F238E27FC236}">
                <a16:creationId xmlns:a16="http://schemas.microsoft.com/office/drawing/2014/main" id="{47ECB8DA-6A9E-FFEA-C995-3BB3FC8D1725}"/>
              </a:ext>
            </a:extLst>
          </p:cNvPr>
          <p:cNvCxnSpPr>
            <a:cxnSpLocks/>
          </p:cNvCxnSpPr>
          <p:nvPr/>
        </p:nvCxnSpPr>
        <p:spPr>
          <a:xfrm>
            <a:off x="4554829" y="5129723"/>
            <a:ext cx="955842" cy="488774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0198703-F469-A562-60AA-77B715C08E48}"/>
              </a:ext>
            </a:extLst>
          </p:cNvPr>
          <p:cNvSpPr txBox="1"/>
          <p:nvPr/>
        </p:nvSpPr>
        <p:spPr>
          <a:xfrm>
            <a:off x="4734865" y="5738126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endParaRPr lang="es-ES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8" name="Conector recto de flecha 3">
            <a:extLst>
              <a:ext uri="{FF2B5EF4-FFF2-40B4-BE49-F238E27FC236}">
                <a16:creationId xmlns:a16="http://schemas.microsoft.com/office/drawing/2014/main" id="{91425695-7990-DF2D-9F12-71F52C17EA27}"/>
              </a:ext>
            </a:extLst>
          </p:cNvPr>
          <p:cNvCxnSpPr>
            <a:cxnSpLocks/>
          </p:cNvCxnSpPr>
          <p:nvPr/>
        </p:nvCxnSpPr>
        <p:spPr>
          <a:xfrm>
            <a:off x="8474257" y="206044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C346DF53-E281-A4A8-55A4-0F708836A13B}"/>
              </a:ext>
            </a:extLst>
          </p:cNvPr>
          <p:cNvSpPr/>
          <p:nvPr/>
        </p:nvSpPr>
        <p:spPr>
          <a:xfrm>
            <a:off x="7877098" y="1535805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Drought</a:t>
            </a:r>
            <a:endParaRPr lang="es-ES" b="1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F7B9E6B-6EA0-3137-95F1-61F81A444641}"/>
              </a:ext>
            </a:extLst>
          </p:cNvPr>
          <p:cNvSpPr/>
          <p:nvPr/>
        </p:nvSpPr>
        <p:spPr>
          <a:xfrm>
            <a:off x="9984114" y="1535805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↑ </a:t>
            </a:r>
            <a:r>
              <a:rPr lang="es-ES" b="1" dirty="0" err="1"/>
              <a:t>Temp</a:t>
            </a:r>
            <a:r>
              <a:rPr lang="es-ES" b="1" dirty="0"/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6D4BB9-7ABC-039E-8127-FDAB66EE8FA2}"/>
              </a:ext>
            </a:extLst>
          </p:cNvPr>
          <p:cNvSpPr txBox="1"/>
          <p:nvPr/>
        </p:nvSpPr>
        <p:spPr>
          <a:xfrm>
            <a:off x="7679138" y="2653908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l-GR" sz="1600" dirty="0">
                <a:latin typeface="Helvetica" panose="020B0604020202020204" pitchFamily="34" charset="0"/>
                <a:cs typeface="Helvetica" panose="020B0604020202020204" pitchFamily="34" charset="0"/>
              </a:rPr>
              <a:t>Ψ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945532-EF9B-E82C-9E36-57275A3BE558}"/>
              </a:ext>
            </a:extLst>
          </p:cNvPr>
          <p:cNvSpPr txBox="1"/>
          <p:nvPr/>
        </p:nvSpPr>
        <p:spPr>
          <a:xfrm>
            <a:off x="9071416" y="2651003"/>
            <a:ext cx="3019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Evapotranspirative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demand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53" name="Conector recto de flecha 3">
            <a:extLst>
              <a:ext uri="{FF2B5EF4-FFF2-40B4-BE49-F238E27FC236}">
                <a16:creationId xmlns:a16="http://schemas.microsoft.com/office/drawing/2014/main" id="{5517A01B-315F-5388-A7D2-8F20325AB7AC}"/>
              </a:ext>
            </a:extLst>
          </p:cNvPr>
          <p:cNvCxnSpPr>
            <a:cxnSpLocks/>
          </p:cNvCxnSpPr>
          <p:nvPr/>
        </p:nvCxnSpPr>
        <p:spPr>
          <a:xfrm>
            <a:off x="10585767" y="206044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3">
            <a:extLst>
              <a:ext uri="{FF2B5EF4-FFF2-40B4-BE49-F238E27FC236}">
                <a16:creationId xmlns:a16="http://schemas.microsoft.com/office/drawing/2014/main" id="{AC484AE8-ACF8-89FE-D6A5-1CEF681CA2F5}"/>
              </a:ext>
            </a:extLst>
          </p:cNvPr>
          <p:cNvCxnSpPr>
            <a:cxnSpLocks/>
          </p:cNvCxnSpPr>
          <p:nvPr/>
        </p:nvCxnSpPr>
        <p:spPr>
          <a:xfrm>
            <a:off x="10563141" y="3135735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3">
            <a:extLst>
              <a:ext uri="{FF2B5EF4-FFF2-40B4-BE49-F238E27FC236}">
                <a16:creationId xmlns:a16="http://schemas.microsoft.com/office/drawing/2014/main" id="{9046DCD0-CCD5-ADE1-8B7C-965CC65D5F7A}"/>
              </a:ext>
            </a:extLst>
          </p:cNvPr>
          <p:cNvCxnSpPr>
            <a:cxnSpLocks/>
          </p:cNvCxnSpPr>
          <p:nvPr/>
        </p:nvCxnSpPr>
        <p:spPr>
          <a:xfrm>
            <a:off x="8456126" y="3130642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646BD5C-2D3E-21A6-225B-06AD02769F05}"/>
              </a:ext>
            </a:extLst>
          </p:cNvPr>
          <p:cNvSpPr txBox="1"/>
          <p:nvPr/>
        </p:nvSpPr>
        <p:spPr>
          <a:xfrm>
            <a:off x="7661007" y="3598012"/>
            <a:ext cx="1590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Tension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buClr>
                <a:srgbClr val="218317"/>
              </a:buClr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xylem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58" name="Conector recto de flecha 3">
            <a:extLst>
              <a:ext uri="{FF2B5EF4-FFF2-40B4-BE49-F238E27FC236}">
                <a16:creationId xmlns:a16="http://schemas.microsoft.com/office/drawing/2014/main" id="{BDA0C371-0C9A-9D5C-5210-E3512D9FABCA}"/>
              </a:ext>
            </a:extLst>
          </p:cNvPr>
          <p:cNvCxnSpPr>
            <a:cxnSpLocks/>
          </p:cNvCxnSpPr>
          <p:nvPr/>
        </p:nvCxnSpPr>
        <p:spPr>
          <a:xfrm flipH="1">
            <a:off x="9071416" y="3890400"/>
            <a:ext cx="514155" cy="191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3">
            <a:extLst>
              <a:ext uri="{FF2B5EF4-FFF2-40B4-BE49-F238E27FC236}">
                <a16:creationId xmlns:a16="http://schemas.microsoft.com/office/drawing/2014/main" id="{88F7075F-14FA-3D8E-5297-F7858DFB4FFE}"/>
              </a:ext>
            </a:extLst>
          </p:cNvPr>
          <p:cNvCxnSpPr>
            <a:cxnSpLocks/>
          </p:cNvCxnSpPr>
          <p:nvPr/>
        </p:nvCxnSpPr>
        <p:spPr>
          <a:xfrm>
            <a:off x="8456126" y="422543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A09C74C-4DA5-65AC-D6D3-799CF433D0AB}"/>
              </a:ext>
            </a:extLst>
          </p:cNvPr>
          <p:cNvSpPr txBox="1"/>
          <p:nvPr/>
        </p:nvSpPr>
        <p:spPr>
          <a:xfrm>
            <a:off x="9362975" y="3696262"/>
            <a:ext cx="2400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Transpiration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53866C4-D870-820D-669D-4D280436DEDA}"/>
              </a:ext>
            </a:extLst>
          </p:cNvPr>
          <p:cNvSpPr txBox="1"/>
          <p:nvPr/>
        </p:nvSpPr>
        <p:spPr>
          <a:xfrm>
            <a:off x="7536182" y="4791169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Embolism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8AA4912-1B5B-60B4-2C02-86F7CF60DE0B}"/>
              </a:ext>
            </a:extLst>
          </p:cNvPr>
          <p:cNvSpPr txBox="1"/>
          <p:nvPr/>
        </p:nvSpPr>
        <p:spPr>
          <a:xfrm>
            <a:off x="7478078" y="5963241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76" name="Conector recto de flecha 3">
            <a:extLst>
              <a:ext uri="{FF2B5EF4-FFF2-40B4-BE49-F238E27FC236}">
                <a16:creationId xmlns:a16="http://schemas.microsoft.com/office/drawing/2014/main" id="{20D9370D-5BFD-EEF1-16E8-716BE14847C9}"/>
              </a:ext>
            </a:extLst>
          </p:cNvPr>
          <p:cNvCxnSpPr>
            <a:cxnSpLocks/>
          </p:cNvCxnSpPr>
          <p:nvPr/>
        </p:nvCxnSpPr>
        <p:spPr>
          <a:xfrm>
            <a:off x="9140231" y="4931501"/>
            <a:ext cx="633602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643C73AC-DC31-4406-8974-83653360B6C5}"/>
              </a:ext>
            </a:extLst>
          </p:cNvPr>
          <p:cNvSpPr txBox="1"/>
          <p:nvPr/>
        </p:nvSpPr>
        <p:spPr>
          <a:xfrm>
            <a:off x="9734331" y="4622080"/>
            <a:ext cx="1590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conductance</a:t>
            </a:r>
            <a:endParaRPr lang="es-ES" b="1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9" name="Conector recto de flecha 3">
            <a:extLst>
              <a:ext uri="{FF2B5EF4-FFF2-40B4-BE49-F238E27FC236}">
                <a16:creationId xmlns:a16="http://schemas.microsoft.com/office/drawing/2014/main" id="{10761385-C6CB-3C10-7300-A59A4928CEF2}"/>
              </a:ext>
            </a:extLst>
          </p:cNvPr>
          <p:cNvCxnSpPr>
            <a:cxnSpLocks/>
          </p:cNvCxnSpPr>
          <p:nvPr/>
        </p:nvCxnSpPr>
        <p:spPr>
          <a:xfrm>
            <a:off x="10514783" y="536911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570FEEC-D3EF-A336-3A86-46E8CF41C4EA}"/>
              </a:ext>
            </a:extLst>
          </p:cNvPr>
          <p:cNvSpPr txBox="1"/>
          <p:nvPr/>
        </p:nvSpPr>
        <p:spPr>
          <a:xfrm>
            <a:off x="9589575" y="5932937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Photosynthesis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91" name="Conector recto de flecha 3">
            <a:extLst>
              <a:ext uri="{FF2B5EF4-FFF2-40B4-BE49-F238E27FC236}">
                <a16:creationId xmlns:a16="http://schemas.microsoft.com/office/drawing/2014/main" id="{AE73362B-F71A-E61B-580F-59B247C008EE}"/>
              </a:ext>
            </a:extLst>
          </p:cNvPr>
          <p:cNvCxnSpPr>
            <a:cxnSpLocks/>
          </p:cNvCxnSpPr>
          <p:nvPr/>
        </p:nvCxnSpPr>
        <p:spPr>
          <a:xfrm flipH="1">
            <a:off x="8775143" y="5270055"/>
            <a:ext cx="1254139" cy="673723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Marcador de contenido 2">
            <a:extLst>
              <a:ext uri="{FF2B5EF4-FFF2-40B4-BE49-F238E27FC236}">
                <a16:creationId xmlns:a16="http://schemas.microsoft.com/office/drawing/2014/main" id="{F7EAE8BC-CC61-F411-2D06-CB2C8B55BADA}"/>
              </a:ext>
            </a:extLst>
          </p:cNvPr>
          <p:cNvSpPr txBox="1">
            <a:spLocks/>
          </p:cNvSpPr>
          <p:nvPr/>
        </p:nvSpPr>
        <p:spPr>
          <a:xfrm>
            <a:off x="4766850" y="3478383"/>
            <a:ext cx="2895010" cy="68632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sz="24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mutually</a:t>
            </a:r>
            <a:r>
              <a:rPr lang="es-ES" sz="24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exclusive!</a:t>
            </a:r>
          </a:p>
        </p:txBody>
      </p:sp>
    </p:spTree>
    <p:extLst>
      <p:ext uri="{BB962C8B-B14F-4D97-AF65-F5344CB8AC3E}">
        <p14:creationId xmlns:p14="http://schemas.microsoft.com/office/powerpoint/2010/main" val="3340346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1E2CD-1C19-7E65-C112-F6A5133C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3DEDBC0D-3A1C-583D-E05E-3A725F5D3325}"/>
              </a:ext>
            </a:extLst>
          </p:cNvPr>
          <p:cNvCxnSpPr>
            <a:cxnSpLocks/>
          </p:cNvCxnSpPr>
          <p:nvPr/>
        </p:nvCxnSpPr>
        <p:spPr>
          <a:xfrm>
            <a:off x="1468910" y="2061436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1CB46EA8-D3F7-AA1D-FECA-094EF868243E}"/>
              </a:ext>
            </a:extLst>
          </p:cNvPr>
          <p:cNvSpPr txBox="1">
            <a:spLocks/>
          </p:cNvSpPr>
          <p:nvPr/>
        </p:nvSpPr>
        <p:spPr>
          <a:xfrm>
            <a:off x="-339777" y="943334"/>
            <a:ext cx="8634691" cy="686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affect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these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mechanisms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5D52192-2809-8E60-3A32-F3D5B8F0C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5DB8F2-2453-963D-28E7-6F4E3245C73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0D9D5F-43EA-DA80-EC52-3D6BE7ECEDB1}"/>
              </a:ext>
            </a:extLst>
          </p:cNvPr>
          <p:cNvSpPr/>
          <p:nvPr/>
        </p:nvSpPr>
        <p:spPr>
          <a:xfrm>
            <a:off x="871751" y="1536798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Drought</a:t>
            </a:r>
            <a:endParaRPr lang="es-E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EA4DA0-8292-957D-32F1-790B98CBC27C}"/>
              </a:ext>
            </a:extLst>
          </p:cNvPr>
          <p:cNvSpPr/>
          <p:nvPr/>
        </p:nvSpPr>
        <p:spPr>
          <a:xfrm>
            <a:off x="2978767" y="1536798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↑ </a:t>
            </a:r>
            <a:r>
              <a:rPr lang="es-ES" b="1" dirty="0" err="1"/>
              <a:t>Temp</a:t>
            </a:r>
            <a:r>
              <a:rPr lang="es-ES" b="1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9D8602-9F7C-AF80-1361-5FB28D678265}"/>
              </a:ext>
            </a:extLst>
          </p:cNvPr>
          <p:cNvSpPr txBox="1"/>
          <p:nvPr/>
        </p:nvSpPr>
        <p:spPr>
          <a:xfrm>
            <a:off x="673791" y="2654901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l-GR" sz="1600" dirty="0">
                <a:latin typeface="Helvetica" panose="020B0604020202020204" pitchFamily="34" charset="0"/>
                <a:cs typeface="Helvetica" panose="020B0604020202020204" pitchFamily="34" charset="0"/>
              </a:rPr>
              <a:t>Ψ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8630E2-EC55-A4B4-0D8E-8E42E5B98CD4}"/>
              </a:ext>
            </a:extLst>
          </p:cNvPr>
          <p:cNvSpPr txBox="1"/>
          <p:nvPr/>
        </p:nvSpPr>
        <p:spPr>
          <a:xfrm>
            <a:off x="2066069" y="2651996"/>
            <a:ext cx="3019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Evapotranspirative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demand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3" name="Conector recto de flecha 3">
            <a:extLst>
              <a:ext uri="{FF2B5EF4-FFF2-40B4-BE49-F238E27FC236}">
                <a16:creationId xmlns:a16="http://schemas.microsoft.com/office/drawing/2014/main" id="{C51D0403-6029-1ABE-144C-4AC7A423ADF1}"/>
              </a:ext>
            </a:extLst>
          </p:cNvPr>
          <p:cNvCxnSpPr>
            <a:cxnSpLocks/>
          </p:cNvCxnSpPr>
          <p:nvPr/>
        </p:nvCxnSpPr>
        <p:spPr>
          <a:xfrm>
            <a:off x="3580420" y="2061437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3">
            <a:extLst>
              <a:ext uri="{FF2B5EF4-FFF2-40B4-BE49-F238E27FC236}">
                <a16:creationId xmlns:a16="http://schemas.microsoft.com/office/drawing/2014/main" id="{9C25558E-58F2-C567-0AE2-6C23F40A8046}"/>
              </a:ext>
            </a:extLst>
          </p:cNvPr>
          <p:cNvCxnSpPr>
            <a:cxnSpLocks/>
          </p:cNvCxnSpPr>
          <p:nvPr/>
        </p:nvCxnSpPr>
        <p:spPr>
          <a:xfrm>
            <a:off x="3575925" y="3137647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3">
            <a:extLst>
              <a:ext uri="{FF2B5EF4-FFF2-40B4-BE49-F238E27FC236}">
                <a16:creationId xmlns:a16="http://schemas.microsoft.com/office/drawing/2014/main" id="{786091D5-9265-D393-8A09-4AD5045FE7F7}"/>
              </a:ext>
            </a:extLst>
          </p:cNvPr>
          <p:cNvCxnSpPr>
            <a:cxnSpLocks/>
          </p:cNvCxnSpPr>
          <p:nvPr/>
        </p:nvCxnSpPr>
        <p:spPr>
          <a:xfrm>
            <a:off x="1468910" y="313255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68DB367-0A4F-9F85-386A-B95016189251}"/>
              </a:ext>
            </a:extLst>
          </p:cNvPr>
          <p:cNvSpPr txBox="1"/>
          <p:nvPr/>
        </p:nvSpPr>
        <p:spPr>
          <a:xfrm>
            <a:off x="612863" y="3723035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Transpiration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F63780-D05C-D51B-B222-EEFEF5B190B0}"/>
              </a:ext>
            </a:extLst>
          </p:cNvPr>
          <p:cNvSpPr txBox="1"/>
          <p:nvPr/>
        </p:nvSpPr>
        <p:spPr>
          <a:xfrm>
            <a:off x="2780806" y="3698174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</a:t>
            </a:r>
            <a:r>
              <a:rPr lang="es-ES" sz="1600" b="1" baseline="-25000" dirty="0" err="1">
                <a:latin typeface="Helvetica" panose="020B0604020202020204" pitchFamily="34" charset="0"/>
                <a:cs typeface="Helvetica" panose="020B0604020202020204" pitchFamily="34" charset="0"/>
              </a:rPr>
              <a:t>s</a:t>
            </a:r>
            <a:endParaRPr lang="es-ES" b="1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8" name="Conector recto de flecha 3">
            <a:extLst>
              <a:ext uri="{FF2B5EF4-FFF2-40B4-BE49-F238E27FC236}">
                <a16:creationId xmlns:a16="http://schemas.microsoft.com/office/drawing/2014/main" id="{F454C607-550A-6A23-2211-C8832EE40C90}"/>
              </a:ext>
            </a:extLst>
          </p:cNvPr>
          <p:cNvCxnSpPr>
            <a:cxnSpLocks/>
          </p:cNvCxnSpPr>
          <p:nvPr/>
        </p:nvCxnSpPr>
        <p:spPr>
          <a:xfrm flipH="1">
            <a:off x="2385000" y="3892312"/>
            <a:ext cx="642719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3">
            <a:extLst>
              <a:ext uri="{FF2B5EF4-FFF2-40B4-BE49-F238E27FC236}">
                <a16:creationId xmlns:a16="http://schemas.microsoft.com/office/drawing/2014/main" id="{FB38AF68-CC41-C6A8-80B5-0B024A965EB7}"/>
              </a:ext>
            </a:extLst>
          </p:cNvPr>
          <p:cNvCxnSpPr>
            <a:cxnSpLocks/>
          </p:cNvCxnSpPr>
          <p:nvPr/>
        </p:nvCxnSpPr>
        <p:spPr>
          <a:xfrm>
            <a:off x="1468910" y="4227346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AB79119-7257-D2AD-8A6F-57B6717807A6}"/>
              </a:ext>
            </a:extLst>
          </p:cNvPr>
          <p:cNvSpPr txBox="1"/>
          <p:nvPr/>
        </p:nvSpPr>
        <p:spPr>
          <a:xfrm>
            <a:off x="543702" y="4791169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Photosynthesis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2" name="Conector recto de flecha 3">
            <a:extLst>
              <a:ext uri="{FF2B5EF4-FFF2-40B4-BE49-F238E27FC236}">
                <a16:creationId xmlns:a16="http://schemas.microsoft.com/office/drawing/2014/main" id="{738052AD-3043-6321-02A4-9ADE61971963}"/>
              </a:ext>
            </a:extLst>
          </p:cNvPr>
          <p:cNvCxnSpPr>
            <a:cxnSpLocks/>
          </p:cNvCxnSpPr>
          <p:nvPr/>
        </p:nvCxnSpPr>
        <p:spPr>
          <a:xfrm>
            <a:off x="1466693" y="524749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363BF88-99C8-B1B0-8FED-4C16465623A7}"/>
              </a:ext>
            </a:extLst>
          </p:cNvPr>
          <p:cNvSpPr txBox="1"/>
          <p:nvPr/>
        </p:nvSpPr>
        <p:spPr>
          <a:xfrm>
            <a:off x="534585" y="5813507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5" name="Conector recto de flecha 3">
            <a:extLst>
              <a:ext uri="{FF2B5EF4-FFF2-40B4-BE49-F238E27FC236}">
                <a16:creationId xmlns:a16="http://schemas.microsoft.com/office/drawing/2014/main" id="{2850818A-367B-D5D2-CAC3-1935F60532F7}"/>
              </a:ext>
            </a:extLst>
          </p:cNvPr>
          <p:cNvCxnSpPr>
            <a:cxnSpLocks/>
          </p:cNvCxnSpPr>
          <p:nvPr/>
        </p:nvCxnSpPr>
        <p:spPr>
          <a:xfrm>
            <a:off x="2501098" y="4960446"/>
            <a:ext cx="633602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A918C69-95FE-03F7-AFBA-DC2165450A10}"/>
              </a:ext>
            </a:extLst>
          </p:cNvPr>
          <p:cNvSpPr txBox="1"/>
          <p:nvPr/>
        </p:nvSpPr>
        <p:spPr>
          <a:xfrm>
            <a:off x="2995036" y="4791169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tradeoffs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9" name="Conector recto de flecha 3">
            <a:extLst>
              <a:ext uri="{FF2B5EF4-FFF2-40B4-BE49-F238E27FC236}">
                <a16:creationId xmlns:a16="http://schemas.microsoft.com/office/drawing/2014/main" id="{66A26E90-D249-E84C-1125-575254810CEF}"/>
              </a:ext>
            </a:extLst>
          </p:cNvPr>
          <p:cNvCxnSpPr>
            <a:cxnSpLocks/>
          </p:cNvCxnSpPr>
          <p:nvPr/>
        </p:nvCxnSpPr>
        <p:spPr>
          <a:xfrm flipH="1">
            <a:off x="2002245" y="5172333"/>
            <a:ext cx="1254139" cy="673723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3">
            <a:extLst>
              <a:ext uri="{FF2B5EF4-FFF2-40B4-BE49-F238E27FC236}">
                <a16:creationId xmlns:a16="http://schemas.microsoft.com/office/drawing/2014/main" id="{4DB1CE15-5194-1E46-4C54-E9276F0C21C7}"/>
              </a:ext>
            </a:extLst>
          </p:cNvPr>
          <p:cNvCxnSpPr>
            <a:cxnSpLocks/>
          </p:cNvCxnSpPr>
          <p:nvPr/>
        </p:nvCxnSpPr>
        <p:spPr>
          <a:xfrm>
            <a:off x="3905606" y="524749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0DE9CBB-CCF6-9434-1B57-983C4D931E5B}"/>
              </a:ext>
            </a:extLst>
          </p:cNvPr>
          <p:cNvSpPr txBox="1"/>
          <p:nvPr/>
        </p:nvSpPr>
        <p:spPr>
          <a:xfrm>
            <a:off x="3110487" y="5738126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↓Defenses</a:t>
            </a:r>
            <a:endParaRPr lang="es-ES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5" name="Conector recto de flecha 3">
            <a:extLst>
              <a:ext uri="{FF2B5EF4-FFF2-40B4-BE49-F238E27FC236}">
                <a16:creationId xmlns:a16="http://schemas.microsoft.com/office/drawing/2014/main" id="{76B24518-548B-67BB-5480-CF4457D20D97}"/>
              </a:ext>
            </a:extLst>
          </p:cNvPr>
          <p:cNvCxnSpPr>
            <a:cxnSpLocks/>
          </p:cNvCxnSpPr>
          <p:nvPr/>
        </p:nvCxnSpPr>
        <p:spPr>
          <a:xfrm>
            <a:off x="4554829" y="5129723"/>
            <a:ext cx="955842" cy="488774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4445A3F-8B04-B55C-F316-0555D6E8E7C6}"/>
              </a:ext>
            </a:extLst>
          </p:cNvPr>
          <p:cNvSpPr txBox="1"/>
          <p:nvPr/>
        </p:nvSpPr>
        <p:spPr>
          <a:xfrm>
            <a:off x="4734865" y="5738126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endParaRPr lang="es-ES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8" name="Conector recto de flecha 3">
            <a:extLst>
              <a:ext uri="{FF2B5EF4-FFF2-40B4-BE49-F238E27FC236}">
                <a16:creationId xmlns:a16="http://schemas.microsoft.com/office/drawing/2014/main" id="{DB33BDAB-5741-BCC2-0FA1-F4E5A13FF835}"/>
              </a:ext>
            </a:extLst>
          </p:cNvPr>
          <p:cNvCxnSpPr>
            <a:cxnSpLocks/>
          </p:cNvCxnSpPr>
          <p:nvPr/>
        </p:nvCxnSpPr>
        <p:spPr>
          <a:xfrm>
            <a:off x="8474257" y="206044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66D826F2-9E9C-DEF8-0AC9-686A9E05C619}"/>
              </a:ext>
            </a:extLst>
          </p:cNvPr>
          <p:cNvSpPr/>
          <p:nvPr/>
        </p:nvSpPr>
        <p:spPr>
          <a:xfrm>
            <a:off x="7877098" y="1535805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Drought</a:t>
            </a:r>
            <a:endParaRPr lang="es-ES" b="1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BF2F0AC-3F56-FCA2-BC32-B9101AA103C5}"/>
              </a:ext>
            </a:extLst>
          </p:cNvPr>
          <p:cNvSpPr/>
          <p:nvPr/>
        </p:nvSpPr>
        <p:spPr>
          <a:xfrm>
            <a:off x="9984114" y="1535805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↑ </a:t>
            </a:r>
            <a:r>
              <a:rPr lang="es-ES" b="1" dirty="0" err="1"/>
              <a:t>Temp</a:t>
            </a:r>
            <a:r>
              <a:rPr lang="es-ES" b="1" dirty="0"/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1D16A0-866F-CC75-9509-707F96844A68}"/>
              </a:ext>
            </a:extLst>
          </p:cNvPr>
          <p:cNvSpPr txBox="1"/>
          <p:nvPr/>
        </p:nvSpPr>
        <p:spPr>
          <a:xfrm>
            <a:off x="7679138" y="2653908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l-GR" sz="1600" dirty="0">
                <a:latin typeface="Helvetica" panose="020B0604020202020204" pitchFamily="34" charset="0"/>
                <a:cs typeface="Helvetica" panose="020B0604020202020204" pitchFamily="34" charset="0"/>
              </a:rPr>
              <a:t>Ψ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05853A-FDB2-D06C-EAB0-0AD47AC57A53}"/>
              </a:ext>
            </a:extLst>
          </p:cNvPr>
          <p:cNvSpPr txBox="1"/>
          <p:nvPr/>
        </p:nvSpPr>
        <p:spPr>
          <a:xfrm>
            <a:off x="9071416" y="2651003"/>
            <a:ext cx="3019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Evapotranspirative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demand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53" name="Conector recto de flecha 3">
            <a:extLst>
              <a:ext uri="{FF2B5EF4-FFF2-40B4-BE49-F238E27FC236}">
                <a16:creationId xmlns:a16="http://schemas.microsoft.com/office/drawing/2014/main" id="{71C8CD16-D2AE-CAE8-0730-AD3A0E749D8E}"/>
              </a:ext>
            </a:extLst>
          </p:cNvPr>
          <p:cNvCxnSpPr>
            <a:cxnSpLocks/>
          </p:cNvCxnSpPr>
          <p:nvPr/>
        </p:nvCxnSpPr>
        <p:spPr>
          <a:xfrm>
            <a:off x="10585767" y="206044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3">
            <a:extLst>
              <a:ext uri="{FF2B5EF4-FFF2-40B4-BE49-F238E27FC236}">
                <a16:creationId xmlns:a16="http://schemas.microsoft.com/office/drawing/2014/main" id="{8770AE80-9C0F-9CCB-DE01-0F58FC6B830B}"/>
              </a:ext>
            </a:extLst>
          </p:cNvPr>
          <p:cNvCxnSpPr>
            <a:cxnSpLocks/>
          </p:cNvCxnSpPr>
          <p:nvPr/>
        </p:nvCxnSpPr>
        <p:spPr>
          <a:xfrm>
            <a:off x="10563141" y="3135735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3">
            <a:extLst>
              <a:ext uri="{FF2B5EF4-FFF2-40B4-BE49-F238E27FC236}">
                <a16:creationId xmlns:a16="http://schemas.microsoft.com/office/drawing/2014/main" id="{19D01A5C-B711-DC39-0F29-D5CDE915B1D9}"/>
              </a:ext>
            </a:extLst>
          </p:cNvPr>
          <p:cNvCxnSpPr>
            <a:cxnSpLocks/>
          </p:cNvCxnSpPr>
          <p:nvPr/>
        </p:nvCxnSpPr>
        <p:spPr>
          <a:xfrm>
            <a:off x="8456126" y="3130642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BEDA4F2-FFD0-840A-F883-2BA84FF2A12C}"/>
              </a:ext>
            </a:extLst>
          </p:cNvPr>
          <p:cNvSpPr txBox="1"/>
          <p:nvPr/>
        </p:nvSpPr>
        <p:spPr>
          <a:xfrm>
            <a:off x="7661007" y="3598012"/>
            <a:ext cx="1590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Tension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>
              <a:buClr>
                <a:srgbClr val="218317"/>
              </a:buClr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xylem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58" name="Conector recto de flecha 3">
            <a:extLst>
              <a:ext uri="{FF2B5EF4-FFF2-40B4-BE49-F238E27FC236}">
                <a16:creationId xmlns:a16="http://schemas.microsoft.com/office/drawing/2014/main" id="{D8C73F3E-2FAF-0FBF-0302-A20571152D59}"/>
              </a:ext>
            </a:extLst>
          </p:cNvPr>
          <p:cNvCxnSpPr>
            <a:cxnSpLocks/>
          </p:cNvCxnSpPr>
          <p:nvPr/>
        </p:nvCxnSpPr>
        <p:spPr>
          <a:xfrm flipH="1">
            <a:off x="9071416" y="3890400"/>
            <a:ext cx="514155" cy="191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3">
            <a:extLst>
              <a:ext uri="{FF2B5EF4-FFF2-40B4-BE49-F238E27FC236}">
                <a16:creationId xmlns:a16="http://schemas.microsoft.com/office/drawing/2014/main" id="{36644395-63C5-0427-4C07-0DC7748DED49}"/>
              </a:ext>
            </a:extLst>
          </p:cNvPr>
          <p:cNvCxnSpPr>
            <a:cxnSpLocks/>
          </p:cNvCxnSpPr>
          <p:nvPr/>
        </p:nvCxnSpPr>
        <p:spPr>
          <a:xfrm>
            <a:off x="8456126" y="422543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F23BFCC-52D3-8999-554D-470A49865B20}"/>
              </a:ext>
            </a:extLst>
          </p:cNvPr>
          <p:cNvSpPr txBox="1"/>
          <p:nvPr/>
        </p:nvSpPr>
        <p:spPr>
          <a:xfrm>
            <a:off x="9362975" y="3696262"/>
            <a:ext cx="2400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Transpiration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E528F02-294A-D978-9AC3-6940B7E47AEA}"/>
              </a:ext>
            </a:extLst>
          </p:cNvPr>
          <p:cNvSpPr txBox="1"/>
          <p:nvPr/>
        </p:nvSpPr>
        <p:spPr>
          <a:xfrm>
            <a:off x="7536182" y="4791169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Embolism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27084FE-B930-8334-F1C8-5FAA733C3CC8}"/>
              </a:ext>
            </a:extLst>
          </p:cNvPr>
          <p:cNvSpPr txBox="1"/>
          <p:nvPr/>
        </p:nvSpPr>
        <p:spPr>
          <a:xfrm>
            <a:off x="7478078" y="5963241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76" name="Conector recto de flecha 3">
            <a:extLst>
              <a:ext uri="{FF2B5EF4-FFF2-40B4-BE49-F238E27FC236}">
                <a16:creationId xmlns:a16="http://schemas.microsoft.com/office/drawing/2014/main" id="{959BC0B8-C3FA-FC2B-1436-048FF6DEEA40}"/>
              </a:ext>
            </a:extLst>
          </p:cNvPr>
          <p:cNvCxnSpPr>
            <a:cxnSpLocks/>
          </p:cNvCxnSpPr>
          <p:nvPr/>
        </p:nvCxnSpPr>
        <p:spPr>
          <a:xfrm>
            <a:off x="9140231" y="4931501"/>
            <a:ext cx="633602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64F1F0E8-8218-1A28-943C-A5AEEB751175}"/>
              </a:ext>
            </a:extLst>
          </p:cNvPr>
          <p:cNvSpPr txBox="1"/>
          <p:nvPr/>
        </p:nvSpPr>
        <p:spPr>
          <a:xfrm>
            <a:off x="9734331" y="4622080"/>
            <a:ext cx="1590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conductance</a:t>
            </a:r>
            <a:endParaRPr lang="es-ES" b="1" baseline="-25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9" name="Conector recto de flecha 3">
            <a:extLst>
              <a:ext uri="{FF2B5EF4-FFF2-40B4-BE49-F238E27FC236}">
                <a16:creationId xmlns:a16="http://schemas.microsoft.com/office/drawing/2014/main" id="{036FD0F3-FFBF-A7CB-7E75-168164367B0C}"/>
              </a:ext>
            </a:extLst>
          </p:cNvPr>
          <p:cNvCxnSpPr>
            <a:cxnSpLocks/>
          </p:cNvCxnSpPr>
          <p:nvPr/>
        </p:nvCxnSpPr>
        <p:spPr>
          <a:xfrm>
            <a:off x="10514783" y="536911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8E44FF6-553A-1CCB-9D9C-4E6A26751901}"/>
              </a:ext>
            </a:extLst>
          </p:cNvPr>
          <p:cNvSpPr txBox="1"/>
          <p:nvPr/>
        </p:nvSpPr>
        <p:spPr>
          <a:xfrm>
            <a:off x="9589575" y="5932937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Photosynthesis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91" name="Conector recto de flecha 3">
            <a:extLst>
              <a:ext uri="{FF2B5EF4-FFF2-40B4-BE49-F238E27FC236}">
                <a16:creationId xmlns:a16="http://schemas.microsoft.com/office/drawing/2014/main" id="{B0AC50EF-1FE0-333C-D58C-016D9AF28F58}"/>
              </a:ext>
            </a:extLst>
          </p:cNvPr>
          <p:cNvCxnSpPr>
            <a:cxnSpLocks/>
          </p:cNvCxnSpPr>
          <p:nvPr/>
        </p:nvCxnSpPr>
        <p:spPr>
          <a:xfrm flipH="1">
            <a:off x="8775143" y="5270055"/>
            <a:ext cx="1254139" cy="673723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D0A443C-399D-7381-7F57-F70C42EAC02B}"/>
              </a:ext>
            </a:extLst>
          </p:cNvPr>
          <p:cNvSpPr txBox="1"/>
          <p:nvPr/>
        </p:nvSpPr>
        <p:spPr>
          <a:xfrm>
            <a:off x="6678824" y="3176061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75314-9D79-3B4E-6099-2FDB301D051C}"/>
              </a:ext>
            </a:extLst>
          </p:cNvPr>
          <p:cNvSpPr txBox="1"/>
          <p:nvPr/>
        </p:nvSpPr>
        <p:spPr>
          <a:xfrm>
            <a:off x="-339777" y="4201398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31521E-3018-45A8-15BC-08308E069ECB}"/>
              </a:ext>
            </a:extLst>
          </p:cNvPr>
          <p:cNvSpPr txBox="1"/>
          <p:nvPr/>
        </p:nvSpPr>
        <p:spPr>
          <a:xfrm>
            <a:off x="1666146" y="2007437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4" name="Conector recto de flecha 3">
            <a:extLst>
              <a:ext uri="{FF2B5EF4-FFF2-40B4-BE49-F238E27FC236}">
                <a16:creationId xmlns:a16="http://schemas.microsoft.com/office/drawing/2014/main" id="{0156CFDC-42BE-F991-61DA-5AB4BC4A2945}"/>
              </a:ext>
            </a:extLst>
          </p:cNvPr>
          <p:cNvCxnSpPr>
            <a:cxnSpLocks/>
          </p:cNvCxnSpPr>
          <p:nvPr/>
        </p:nvCxnSpPr>
        <p:spPr>
          <a:xfrm>
            <a:off x="7564986" y="3622268"/>
            <a:ext cx="357824" cy="24327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3">
            <a:extLst>
              <a:ext uri="{FF2B5EF4-FFF2-40B4-BE49-F238E27FC236}">
                <a16:creationId xmlns:a16="http://schemas.microsoft.com/office/drawing/2014/main" id="{B761C48C-2820-A598-40DA-3C8CE8B080D4}"/>
              </a:ext>
            </a:extLst>
          </p:cNvPr>
          <p:cNvCxnSpPr>
            <a:cxnSpLocks/>
          </p:cNvCxnSpPr>
          <p:nvPr/>
        </p:nvCxnSpPr>
        <p:spPr>
          <a:xfrm>
            <a:off x="673791" y="3477012"/>
            <a:ext cx="327355" cy="29221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B2EBC63-0079-477E-177F-D95FA7252DAC}"/>
              </a:ext>
            </a:extLst>
          </p:cNvPr>
          <p:cNvSpPr txBox="1"/>
          <p:nvPr/>
        </p:nvSpPr>
        <p:spPr>
          <a:xfrm>
            <a:off x="6623384" y="2059401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4" name="Conector recto de flecha 3">
            <a:extLst>
              <a:ext uri="{FF2B5EF4-FFF2-40B4-BE49-F238E27FC236}">
                <a16:creationId xmlns:a16="http://schemas.microsoft.com/office/drawing/2014/main" id="{E8F4CA4F-BF96-8A70-C40C-554EC0D6E66D}"/>
              </a:ext>
            </a:extLst>
          </p:cNvPr>
          <p:cNvCxnSpPr>
            <a:cxnSpLocks/>
          </p:cNvCxnSpPr>
          <p:nvPr/>
        </p:nvCxnSpPr>
        <p:spPr>
          <a:xfrm>
            <a:off x="7670928" y="2489064"/>
            <a:ext cx="357824" cy="24327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">
            <a:extLst>
              <a:ext uri="{FF2B5EF4-FFF2-40B4-BE49-F238E27FC236}">
                <a16:creationId xmlns:a16="http://schemas.microsoft.com/office/drawing/2014/main" id="{32C07D0C-140A-EBED-8B98-815C7BBCDF72}"/>
              </a:ext>
            </a:extLst>
          </p:cNvPr>
          <p:cNvCxnSpPr>
            <a:cxnSpLocks/>
          </p:cNvCxnSpPr>
          <p:nvPr/>
        </p:nvCxnSpPr>
        <p:spPr>
          <a:xfrm flipH="1">
            <a:off x="1931789" y="2367530"/>
            <a:ext cx="243443" cy="38599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E5BAC2A-3AE4-78F0-7BA4-98F65781EDF0}"/>
              </a:ext>
            </a:extLst>
          </p:cNvPr>
          <p:cNvSpPr txBox="1"/>
          <p:nvPr/>
        </p:nvSpPr>
        <p:spPr>
          <a:xfrm>
            <a:off x="4270999" y="4133118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Rs</a:t>
            </a:r>
            <a:r>
              <a:rPr lang="es-ES" sz="16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Rt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1" name="Conector recto de flecha 3">
            <a:extLst>
              <a:ext uri="{FF2B5EF4-FFF2-40B4-BE49-F238E27FC236}">
                <a16:creationId xmlns:a16="http://schemas.microsoft.com/office/drawing/2014/main" id="{49214A7C-6C3B-B97C-C019-97D5CAA89722}"/>
              </a:ext>
            </a:extLst>
          </p:cNvPr>
          <p:cNvCxnSpPr>
            <a:cxnSpLocks/>
          </p:cNvCxnSpPr>
          <p:nvPr/>
        </p:nvCxnSpPr>
        <p:spPr>
          <a:xfrm flipH="1">
            <a:off x="4613143" y="4545507"/>
            <a:ext cx="243443" cy="38599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BF9C23B-F4DB-1B76-2A69-AB7C357CEDCB}"/>
              </a:ext>
            </a:extLst>
          </p:cNvPr>
          <p:cNvSpPr txBox="1"/>
          <p:nvPr/>
        </p:nvSpPr>
        <p:spPr>
          <a:xfrm>
            <a:off x="-260534" y="3042434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6" name="Conector recto de flecha 3">
            <a:extLst>
              <a:ext uri="{FF2B5EF4-FFF2-40B4-BE49-F238E27FC236}">
                <a16:creationId xmlns:a16="http://schemas.microsoft.com/office/drawing/2014/main" id="{4DF5EA35-F677-488F-2376-66F73AE5E774}"/>
              </a:ext>
            </a:extLst>
          </p:cNvPr>
          <p:cNvCxnSpPr>
            <a:cxnSpLocks/>
          </p:cNvCxnSpPr>
          <p:nvPr/>
        </p:nvCxnSpPr>
        <p:spPr>
          <a:xfrm>
            <a:off x="662287" y="4556646"/>
            <a:ext cx="327355" cy="29221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8B64D9D-F657-0239-7F13-07587C003FC9}"/>
              </a:ext>
            </a:extLst>
          </p:cNvPr>
          <p:cNvSpPr txBox="1"/>
          <p:nvPr/>
        </p:nvSpPr>
        <p:spPr>
          <a:xfrm>
            <a:off x="3687655" y="3475067"/>
            <a:ext cx="1590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Former</a:t>
            </a:r>
            <a:r>
              <a:rPr lang="es-ES" sz="16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b="1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60" name="Conector recto de flecha 3">
            <a:extLst>
              <a:ext uri="{FF2B5EF4-FFF2-40B4-BE49-F238E27FC236}">
                <a16:creationId xmlns:a16="http://schemas.microsoft.com/office/drawing/2014/main" id="{86455880-5C66-06E5-CEDF-A7FDAD393E52}"/>
              </a:ext>
            </a:extLst>
          </p:cNvPr>
          <p:cNvCxnSpPr>
            <a:cxnSpLocks/>
          </p:cNvCxnSpPr>
          <p:nvPr/>
        </p:nvCxnSpPr>
        <p:spPr>
          <a:xfrm flipH="1">
            <a:off x="4025655" y="4156357"/>
            <a:ext cx="394668" cy="527255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03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1E6B-54C0-D0A4-BB44-5F6FDCE67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19C8DA7-E3A5-977A-0D1A-BE8222F4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Responses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A74F66-6E00-84D8-CEFF-9E73E9771BF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8930BB8C-DF26-3C55-5D1D-7015719258F6}"/>
              </a:ext>
            </a:extLst>
          </p:cNvPr>
          <p:cNvSpPr txBox="1">
            <a:spLocks/>
          </p:cNvSpPr>
          <p:nvPr/>
        </p:nvSpPr>
        <p:spPr>
          <a:xfrm>
            <a:off x="2173279" y="4662117"/>
            <a:ext cx="2255203" cy="3751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600" dirty="0">
                <a:latin typeface="Helvetica"/>
                <a:ea typeface="Calibri"/>
                <a:cs typeface="Helvetica"/>
              </a:rPr>
              <a:t>N </a:t>
            </a:r>
            <a:r>
              <a:rPr lang="es-ES" sz="1600" dirty="0" err="1">
                <a:latin typeface="Helvetica"/>
                <a:ea typeface="Calibri"/>
                <a:cs typeface="Helvetica"/>
              </a:rPr>
              <a:t>reabsorption</a:t>
            </a:r>
            <a:endParaRPr lang="es-ES" sz="1600" dirty="0">
              <a:ea typeface="Calibri"/>
              <a:cs typeface="Calibri"/>
            </a:endParaRPr>
          </a:p>
        </p:txBody>
      </p:sp>
      <p:cxnSp>
        <p:nvCxnSpPr>
          <p:cNvPr id="3" name="Conector recto de flecha 3">
            <a:extLst>
              <a:ext uri="{FF2B5EF4-FFF2-40B4-BE49-F238E27FC236}">
                <a16:creationId xmlns:a16="http://schemas.microsoft.com/office/drawing/2014/main" id="{847BC9D7-DC51-4A41-A386-8C047AD53445}"/>
              </a:ext>
            </a:extLst>
          </p:cNvPr>
          <p:cNvCxnSpPr>
            <a:cxnSpLocks/>
          </p:cNvCxnSpPr>
          <p:nvPr/>
        </p:nvCxnSpPr>
        <p:spPr>
          <a:xfrm flipH="1">
            <a:off x="8895783" y="1773491"/>
            <a:ext cx="6958" cy="464113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1BB06E3-E7D0-ED37-C1C1-84E7C15A98BF}"/>
              </a:ext>
            </a:extLst>
          </p:cNvPr>
          <p:cNvSpPr/>
          <p:nvPr/>
        </p:nvSpPr>
        <p:spPr>
          <a:xfrm>
            <a:off x="8305582" y="1248853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/>
              <a:t>Drought</a:t>
            </a:r>
            <a:endParaRPr lang="es-E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967DF2-AEEC-573A-B5D2-64D8AF83EC72}"/>
              </a:ext>
            </a:extLst>
          </p:cNvPr>
          <p:cNvSpPr/>
          <p:nvPr/>
        </p:nvSpPr>
        <p:spPr>
          <a:xfrm>
            <a:off x="10412598" y="1248853"/>
            <a:ext cx="1194318" cy="382555"/>
          </a:xfrm>
          <a:prstGeom prst="rect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↑ </a:t>
            </a:r>
            <a:r>
              <a:rPr lang="es-ES" b="1" dirty="0" err="1"/>
              <a:t>Temp</a:t>
            </a:r>
            <a:r>
              <a:rPr lang="es-ES" b="1" dirty="0"/>
              <a:t>.</a:t>
            </a:r>
          </a:p>
        </p:txBody>
      </p:sp>
      <p:cxnSp>
        <p:nvCxnSpPr>
          <p:cNvPr id="10" name="Conector recto de flecha 3">
            <a:extLst>
              <a:ext uri="{FF2B5EF4-FFF2-40B4-BE49-F238E27FC236}">
                <a16:creationId xmlns:a16="http://schemas.microsoft.com/office/drawing/2014/main" id="{34B3038F-7DB5-EAE3-436F-34338921ADFB}"/>
              </a:ext>
            </a:extLst>
          </p:cNvPr>
          <p:cNvCxnSpPr>
            <a:cxnSpLocks/>
          </p:cNvCxnSpPr>
          <p:nvPr/>
        </p:nvCxnSpPr>
        <p:spPr>
          <a:xfrm>
            <a:off x="11014251" y="1773492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5D3789F-371C-7CBC-917D-06DB4C123C7A}"/>
              </a:ext>
            </a:extLst>
          </p:cNvPr>
          <p:cNvSpPr txBox="1"/>
          <p:nvPr/>
        </p:nvSpPr>
        <p:spPr>
          <a:xfrm>
            <a:off x="8107622" y="2449699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l-GR" sz="1600" dirty="0">
                <a:latin typeface="Helvetica" panose="020B0604020202020204" pitchFamily="34" charset="0"/>
                <a:cs typeface="Helvetica" panose="020B0604020202020204" pitchFamily="34" charset="0"/>
              </a:rPr>
              <a:t>Ψ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plant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24B894-8328-594C-4A73-B89F141A199F}"/>
              </a:ext>
            </a:extLst>
          </p:cNvPr>
          <p:cNvSpPr txBox="1"/>
          <p:nvPr/>
        </p:nvSpPr>
        <p:spPr>
          <a:xfrm>
            <a:off x="10214638" y="2449699"/>
            <a:ext cx="1590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↑Oxidative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11D0B0-152F-BD0D-BC14-DFB1EAA1EA0A}"/>
              </a:ext>
            </a:extLst>
          </p:cNvPr>
          <p:cNvSpPr txBox="1"/>
          <p:nvPr/>
        </p:nvSpPr>
        <p:spPr>
          <a:xfrm>
            <a:off x="8100664" y="3429000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↓LWC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4" name="Conector recto de flecha 3">
            <a:extLst>
              <a:ext uri="{FF2B5EF4-FFF2-40B4-BE49-F238E27FC236}">
                <a16:creationId xmlns:a16="http://schemas.microsoft.com/office/drawing/2014/main" id="{394D36ED-9FA6-F1BE-8734-5AFFFB54DCBE}"/>
              </a:ext>
            </a:extLst>
          </p:cNvPr>
          <p:cNvCxnSpPr>
            <a:cxnSpLocks/>
          </p:cNvCxnSpPr>
          <p:nvPr/>
        </p:nvCxnSpPr>
        <p:spPr>
          <a:xfrm>
            <a:off x="8895783" y="291146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3">
            <a:extLst>
              <a:ext uri="{FF2B5EF4-FFF2-40B4-BE49-F238E27FC236}">
                <a16:creationId xmlns:a16="http://schemas.microsoft.com/office/drawing/2014/main" id="{FC5F43CB-27BB-F63C-051A-01EA9EE9AEC8}"/>
              </a:ext>
            </a:extLst>
          </p:cNvPr>
          <p:cNvCxnSpPr>
            <a:cxnSpLocks/>
          </p:cNvCxnSpPr>
          <p:nvPr/>
        </p:nvCxnSpPr>
        <p:spPr>
          <a:xfrm flipV="1">
            <a:off x="9690902" y="2964541"/>
            <a:ext cx="633602" cy="384497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3">
            <a:extLst>
              <a:ext uri="{FF2B5EF4-FFF2-40B4-BE49-F238E27FC236}">
                <a16:creationId xmlns:a16="http://schemas.microsoft.com/office/drawing/2014/main" id="{2221D2E3-6F70-EE73-C8C8-85A5EF8263DB}"/>
              </a:ext>
            </a:extLst>
          </p:cNvPr>
          <p:cNvCxnSpPr>
            <a:cxnSpLocks/>
          </p:cNvCxnSpPr>
          <p:nvPr/>
        </p:nvCxnSpPr>
        <p:spPr>
          <a:xfrm>
            <a:off x="10966932" y="3236479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89D4E43-5D9B-07D9-AF6D-AB40D374B9E4}"/>
              </a:ext>
            </a:extLst>
          </p:cNvPr>
          <p:cNvSpPr txBox="1"/>
          <p:nvPr/>
        </p:nvSpPr>
        <p:spPr>
          <a:xfrm>
            <a:off x="10171813" y="3889866"/>
            <a:ext cx="15902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., ↑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9" name="Conector recto de flecha 3">
            <a:extLst>
              <a:ext uri="{FF2B5EF4-FFF2-40B4-BE49-F238E27FC236}">
                <a16:creationId xmlns:a16="http://schemas.microsoft.com/office/drawing/2014/main" id="{4380F0C5-59DC-8448-446E-D9539D1A6569}"/>
              </a:ext>
            </a:extLst>
          </p:cNvPr>
          <p:cNvCxnSpPr>
            <a:cxnSpLocks/>
          </p:cNvCxnSpPr>
          <p:nvPr/>
        </p:nvCxnSpPr>
        <p:spPr>
          <a:xfrm flipH="1">
            <a:off x="7448193" y="1773491"/>
            <a:ext cx="930697" cy="592363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635D40A-9AE6-02D7-C4D0-C972FCD4FD4B}"/>
              </a:ext>
            </a:extLst>
          </p:cNvPr>
          <p:cNvSpPr txBox="1"/>
          <p:nvPr/>
        </p:nvSpPr>
        <p:spPr>
          <a:xfrm>
            <a:off x="4428482" y="2449699"/>
            <a:ext cx="3019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Evapotranspirative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demand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3" name="Conector recto de flecha 3">
            <a:extLst>
              <a:ext uri="{FF2B5EF4-FFF2-40B4-BE49-F238E27FC236}">
                <a16:creationId xmlns:a16="http://schemas.microsoft.com/office/drawing/2014/main" id="{CBA7957B-B83F-B357-BE33-0ED5758DDCB0}"/>
              </a:ext>
            </a:extLst>
          </p:cNvPr>
          <p:cNvCxnSpPr>
            <a:cxnSpLocks/>
          </p:cNvCxnSpPr>
          <p:nvPr/>
        </p:nvCxnSpPr>
        <p:spPr>
          <a:xfrm flipH="1">
            <a:off x="7448194" y="1856234"/>
            <a:ext cx="3375316" cy="762741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">
            <a:extLst>
              <a:ext uri="{FF2B5EF4-FFF2-40B4-BE49-F238E27FC236}">
                <a16:creationId xmlns:a16="http://schemas.microsoft.com/office/drawing/2014/main" id="{7762E936-EAFC-C6BB-28CE-672D663411D1}"/>
              </a:ext>
            </a:extLst>
          </p:cNvPr>
          <p:cNvCxnSpPr>
            <a:cxnSpLocks/>
          </p:cNvCxnSpPr>
          <p:nvPr/>
        </p:nvCxnSpPr>
        <p:spPr>
          <a:xfrm>
            <a:off x="6016333" y="4096450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B30A758-F6DA-DC92-C6E7-B8E36EB7285E}"/>
              </a:ext>
            </a:extLst>
          </p:cNvPr>
          <p:cNvSpPr txBox="1"/>
          <p:nvPr/>
        </p:nvSpPr>
        <p:spPr>
          <a:xfrm>
            <a:off x="4943919" y="4662118"/>
            <a:ext cx="19888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Photosynthesis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9" name="Conector recto de flecha 3">
            <a:extLst>
              <a:ext uri="{FF2B5EF4-FFF2-40B4-BE49-F238E27FC236}">
                <a16:creationId xmlns:a16="http://schemas.microsoft.com/office/drawing/2014/main" id="{15BE66BB-A868-D8A7-FADA-1F0BA57DE865}"/>
              </a:ext>
            </a:extLst>
          </p:cNvPr>
          <p:cNvCxnSpPr>
            <a:cxnSpLocks/>
          </p:cNvCxnSpPr>
          <p:nvPr/>
        </p:nvCxnSpPr>
        <p:spPr>
          <a:xfrm>
            <a:off x="5990852" y="3063863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CC8E19A-F296-42F0-B118-FC34B0C64049}"/>
              </a:ext>
            </a:extLst>
          </p:cNvPr>
          <p:cNvSpPr txBox="1"/>
          <p:nvPr/>
        </p:nvSpPr>
        <p:spPr>
          <a:xfrm>
            <a:off x="5195733" y="3635820"/>
            <a:ext cx="15902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Transpiration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1" name="Conector recto de flecha 3">
            <a:extLst>
              <a:ext uri="{FF2B5EF4-FFF2-40B4-BE49-F238E27FC236}">
                <a16:creationId xmlns:a16="http://schemas.microsoft.com/office/drawing/2014/main" id="{AA13D460-56C0-1988-2E68-68CE4768C20D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6840505" y="3797215"/>
            <a:ext cx="3331308" cy="385039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3">
            <a:extLst>
              <a:ext uri="{FF2B5EF4-FFF2-40B4-BE49-F238E27FC236}">
                <a16:creationId xmlns:a16="http://schemas.microsoft.com/office/drawing/2014/main" id="{52C431A7-1588-693B-BF8E-51EDD76166DA}"/>
              </a:ext>
            </a:extLst>
          </p:cNvPr>
          <p:cNvCxnSpPr>
            <a:cxnSpLocks/>
          </p:cNvCxnSpPr>
          <p:nvPr/>
        </p:nvCxnSpPr>
        <p:spPr>
          <a:xfrm flipH="1">
            <a:off x="4183320" y="4774909"/>
            <a:ext cx="642719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BA66314-37BC-88D9-A7FE-0756C2BF643C}"/>
              </a:ext>
            </a:extLst>
          </p:cNvPr>
          <p:cNvSpPr txBox="1"/>
          <p:nvPr/>
        </p:nvSpPr>
        <p:spPr>
          <a:xfrm>
            <a:off x="1368490" y="2449699"/>
            <a:ext cx="3019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↓Cell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turgor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901736-FECB-5575-7B93-EAB6C30B011A}"/>
              </a:ext>
            </a:extLst>
          </p:cNvPr>
          <p:cNvSpPr txBox="1"/>
          <p:nvPr/>
        </p:nvSpPr>
        <p:spPr>
          <a:xfrm>
            <a:off x="1254445" y="3684472"/>
            <a:ext cx="30197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 SLA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6" name="Conector recto de flecha 3">
            <a:extLst>
              <a:ext uri="{FF2B5EF4-FFF2-40B4-BE49-F238E27FC236}">
                <a16:creationId xmlns:a16="http://schemas.microsoft.com/office/drawing/2014/main" id="{C4381787-34E2-A145-71CA-98E6423C310D}"/>
              </a:ext>
            </a:extLst>
          </p:cNvPr>
          <p:cNvCxnSpPr>
            <a:cxnSpLocks/>
          </p:cNvCxnSpPr>
          <p:nvPr/>
        </p:nvCxnSpPr>
        <p:spPr>
          <a:xfrm flipH="1">
            <a:off x="3622339" y="2636041"/>
            <a:ext cx="806143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3">
            <a:extLst>
              <a:ext uri="{FF2B5EF4-FFF2-40B4-BE49-F238E27FC236}">
                <a16:creationId xmlns:a16="http://schemas.microsoft.com/office/drawing/2014/main" id="{C7F83479-8AAF-E933-072C-EA4152440C64}"/>
              </a:ext>
            </a:extLst>
          </p:cNvPr>
          <p:cNvCxnSpPr>
            <a:cxnSpLocks/>
          </p:cNvCxnSpPr>
          <p:nvPr/>
        </p:nvCxnSpPr>
        <p:spPr>
          <a:xfrm>
            <a:off x="2878346" y="3010788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3">
            <a:extLst>
              <a:ext uri="{FF2B5EF4-FFF2-40B4-BE49-F238E27FC236}">
                <a16:creationId xmlns:a16="http://schemas.microsoft.com/office/drawing/2014/main" id="{284B761D-FF63-163C-5884-628B146E2CC3}"/>
              </a:ext>
            </a:extLst>
          </p:cNvPr>
          <p:cNvCxnSpPr>
            <a:cxnSpLocks/>
          </p:cNvCxnSpPr>
          <p:nvPr/>
        </p:nvCxnSpPr>
        <p:spPr>
          <a:xfrm>
            <a:off x="6522098" y="4023026"/>
            <a:ext cx="1856792" cy="1129588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EF638E1-7AF4-FFB3-2B50-D89922102317}"/>
              </a:ext>
            </a:extLst>
          </p:cNvPr>
          <p:cNvSpPr txBox="1"/>
          <p:nvPr/>
        </p:nvSpPr>
        <p:spPr>
          <a:xfrm>
            <a:off x="8215817" y="5124639"/>
            <a:ext cx="1590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↑</a:t>
            </a:r>
            <a:r>
              <a:rPr lang="el-GR" sz="1600" dirty="0">
                <a:latin typeface="Helvetica" panose="020B0604020202020204" pitchFamily="34" charset="0"/>
                <a:cs typeface="Helvetica" panose="020B0604020202020204" pitchFamily="34" charset="0"/>
              </a:rPr>
              <a:t> δ</a:t>
            </a:r>
            <a:r>
              <a:rPr lang="es-ES" sz="16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</a:p>
        </p:txBody>
      </p:sp>
      <p:cxnSp>
        <p:nvCxnSpPr>
          <p:cNvPr id="22" name="Conector recto de flecha 3">
            <a:extLst>
              <a:ext uri="{FF2B5EF4-FFF2-40B4-BE49-F238E27FC236}">
                <a16:creationId xmlns:a16="http://schemas.microsoft.com/office/drawing/2014/main" id="{00C4E838-4247-F642-C118-7E7B0FF5AF47}"/>
              </a:ext>
            </a:extLst>
          </p:cNvPr>
          <p:cNvCxnSpPr>
            <a:cxnSpLocks/>
          </p:cNvCxnSpPr>
          <p:nvPr/>
        </p:nvCxnSpPr>
        <p:spPr>
          <a:xfrm>
            <a:off x="6014449" y="5225692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E802D9F-3E3C-E1D6-35AF-4614008CD30A}"/>
              </a:ext>
            </a:extLst>
          </p:cNvPr>
          <p:cNvSpPr txBox="1"/>
          <p:nvPr/>
        </p:nvSpPr>
        <p:spPr>
          <a:xfrm>
            <a:off x="5082341" y="5791706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↓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0" name="Conector recto de flecha 3">
            <a:extLst>
              <a:ext uri="{FF2B5EF4-FFF2-40B4-BE49-F238E27FC236}">
                <a16:creationId xmlns:a16="http://schemas.microsoft.com/office/drawing/2014/main" id="{E72354C9-1103-FEAE-38FD-5563401180B6}"/>
              </a:ext>
            </a:extLst>
          </p:cNvPr>
          <p:cNvCxnSpPr>
            <a:cxnSpLocks/>
          </p:cNvCxnSpPr>
          <p:nvPr/>
        </p:nvCxnSpPr>
        <p:spPr>
          <a:xfrm>
            <a:off x="3283689" y="5152614"/>
            <a:ext cx="0" cy="451382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C8BA431-470A-A059-7B80-9F777F93919A}"/>
              </a:ext>
            </a:extLst>
          </p:cNvPr>
          <p:cNvSpPr txBox="1"/>
          <p:nvPr/>
        </p:nvSpPr>
        <p:spPr>
          <a:xfrm>
            <a:off x="2332905" y="5719366"/>
            <a:ext cx="1850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↓C:N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A93625-76BF-E53A-EFB8-61E7EA519732}"/>
              </a:ext>
            </a:extLst>
          </p:cNvPr>
          <p:cNvSpPr txBox="1"/>
          <p:nvPr/>
        </p:nvSpPr>
        <p:spPr>
          <a:xfrm>
            <a:off x="322864" y="5719366"/>
            <a:ext cx="1850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5" name="Conector recto de flecha 3">
            <a:extLst>
              <a:ext uri="{FF2B5EF4-FFF2-40B4-BE49-F238E27FC236}">
                <a16:creationId xmlns:a16="http://schemas.microsoft.com/office/drawing/2014/main" id="{DCB12E71-F889-0B11-A0D7-04FB80A7AA82}"/>
              </a:ext>
            </a:extLst>
          </p:cNvPr>
          <p:cNvCxnSpPr>
            <a:cxnSpLocks/>
          </p:cNvCxnSpPr>
          <p:nvPr/>
        </p:nvCxnSpPr>
        <p:spPr>
          <a:xfrm flipH="1">
            <a:off x="2121582" y="5904032"/>
            <a:ext cx="642719" cy="0"/>
          </a:xfrm>
          <a:prstGeom prst="straightConnector1">
            <a:avLst/>
          </a:prstGeom>
          <a:ln w="7620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767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CE067-61C9-BECA-174F-73EDF5AD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AA79378-1D21-8DD6-E347-4CA11BB06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AA1F4F3-C189-F447-F1A0-C1A463700C6F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6253100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 err="1">
                <a:latin typeface="Helvetica"/>
                <a:cs typeface="Helvetica"/>
              </a:rPr>
              <a:t>Mortality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solidFill>
                  <a:srgbClr val="FF0000"/>
                </a:solidFill>
                <a:latin typeface="Helvetica"/>
                <a:cs typeface="Helvetica"/>
              </a:rPr>
              <a:t>may</a:t>
            </a:r>
            <a:r>
              <a:rPr lang="es-ES" sz="3200" b="1" dirty="0">
                <a:solidFill>
                  <a:srgbClr val="FF0000"/>
                </a:solidFill>
                <a:latin typeface="Helvetica"/>
                <a:cs typeface="Helvetica"/>
              </a:rPr>
              <a:t> be</a:t>
            </a:r>
            <a:r>
              <a:rPr lang="es-ES" sz="3200" b="1" dirty="0">
                <a:latin typeface="Helvetica"/>
                <a:cs typeface="Helvetica"/>
              </a:rPr>
              <a:t> a </a:t>
            </a:r>
            <a:r>
              <a:rPr lang="es-ES" sz="3200" b="1" dirty="0" err="1">
                <a:latin typeface="Helvetica"/>
                <a:cs typeface="Helvetica"/>
              </a:rPr>
              <a:t>fast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or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slow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process</a:t>
            </a:r>
            <a:r>
              <a:rPr lang="es-ES" sz="3200" b="1" dirty="0">
                <a:latin typeface="Helvetica"/>
                <a:cs typeface="Helvetica"/>
              </a:rPr>
              <a:t> /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Mortality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rates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are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highly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variable  look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into</a:t>
            </a:r>
            <a:r>
              <a:rPr lang="es-ES" sz="32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3200" b="1" dirty="0" err="1">
                <a:latin typeface="Helvetica"/>
                <a:cs typeface="Helvetica"/>
                <a:sym typeface="Wingdings" panose="05000000000000000000" pitchFamily="2" charset="2"/>
              </a:rPr>
              <a:t>predisposing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2C4DB050-BF9F-8D7C-7B9A-F4BFAFCDCEA1}"/>
              </a:ext>
            </a:extLst>
          </p:cNvPr>
          <p:cNvSpPr txBox="1"/>
          <p:nvPr/>
        </p:nvSpPr>
        <p:spPr>
          <a:xfrm>
            <a:off x="0" y="2056069"/>
            <a:ext cx="709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Dieoff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triggered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A329C9DD-39A8-2780-92CC-F20F2D307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C4296D98-52D8-4F0E-57DE-1B35FF21AD25}"/>
              </a:ext>
            </a:extLst>
          </p:cNvPr>
          <p:cNvSpPr txBox="1"/>
          <p:nvPr/>
        </p:nvSpPr>
        <p:spPr>
          <a:xfrm>
            <a:off x="418288" y="2980082"/>
            <a:ext cx="3063789" cy="175432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dbh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altura)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indices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59EEBEAA-39B3-2FC9-08C6-A9F1868495FC}"/>
              </a:ext>
            </a:extLst>
          </p:cNvPr>
          <p:cNvSpPr txBox="1"/>
          <p:nvPr/>
        </p:nvSpPr>
        <p:spPr>
          <a:xfrm>
            <a:off x="4621358" y="2980082"/>
            <a:ext cx="2314463" cy="286232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RWC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Wood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 2012-2017,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 2017-2022)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8A238F18-8604-62D5-10C6-A34053331094}"/>
              </a:ext>
            </a:extLst>
          </p:cNvPr>
          <p:cNvSpPr txBox="1"/>
          <p:nvPr/>
        </p:nvSpPr>
        <p:spPr>
          <a:xfrm>
            <a:off x="3022441" y="3443114"/>
            <a:ext cx="1823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=/=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8272FBD-5FB8-8D01-73D5-F83A4E4C860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Complementary strategies to cope with 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74E3658E-0D43-A41C-F23B-1C210F54DC9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0872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CA25A-EB69-E181-88B5-7B843C15B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A1D29C1-9498-6356-2CD1-279FB93B9D1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Complementary strategies to cope with 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0CB3B6F-E421-6D28-2282-E80A7FD65A1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F22D11-01A9-B1CD-190F-8EED6AD502CF}"/>
              </a:ext>
            </a:extLst>
          </p:cNvPr>
          <p:cNvSpPr/>
          <p:nvPr/>
        </p:nvSpPr>
        <p:spPr>
          <a:xfrm>
            <a:off x="485192" y="2318657"/>
            <a:ext cx="2957804" cy="111034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Extrinsic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sz="2000" b="1" dirty="0"/>
          </a:p>
          <a:p>
            <a:pPr marL="342900" indent="-342900">
              <a:buFontTx/>
              <a:buChar char="-"/>
            </a:pPr>
            <a:r>
              <a:rPr lang="es-ES" sz="2000" dirty="0" err="1"/>
              <a:t>Abiotic</a:t>
            </a:r>
            <a:r>
              <a:rPr lang="es-ES" sz="2000" dirty="0"/>
              <a:t> (</a:t>
            </a:r>
            <a:r>
              <a:rPr lang="es-ES" sz="2000" dirty="0" err="1"/>
              <a:t>climate</a:t>
            </a:r>
            <a:r>
              <a:rPr lang="es-ES" sz="2000" dirty="0"/>
              <a:t>, </a:t>
            </a:r>
            <a:r>
              <a:rPr lang="es-ES" sz="2000" dirty="0" err="1"/>
              <a:t>soil</a:t>
            </a:r>
            <a:r>
              <a:rPr lang="es-ES" sz="2000" dirty="0"/>
              <a:t>)</a:t>
            </a:r>
          </a:p>
          <a:p>
            <a:pPr marL="285750" indent="-285750">
              <a:buFontTx/>
              <a:buChar char="-"/>
            </a:pPr>
            <a:r>
              <a:rPr lang="es-ES" sz="2000" dirty="0" err="1"/>
              <a:t>Biotic</a:t>
            </a:r>
            <a:r>
              <a:rPr lang="es-ES" sz="2000" dirty="0"/>
              <a:t> (</a:t>
            </a:r>
            <a:r>
              <a:rPr lang="es-ES" dirty="0" err="1"/>
              <a:t>competition</a:t>
            </a:r>
            <a:r>
              <a:rPr lang="es-ES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5ADC5F-559A-C71D-ABD1-6124D863EE65}"/>
              </a:ext>
            </a:extLst>
          </p:cNvPr>
          <p:cNvSpPr/>
          <p:nvPr/>
        </p:nvSpPr>
        <p:spPr>
          <a:xfrm>
            <a:off x="485192" y="4707875"/>
            <a:ext cx="2957804" cy="158347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Intrinsic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sz="2000" b="1" dirty="0"/>
          </a:p>
          <a:p>
            <a:pPr marL="342900" indent="-342900">
              <a:buFontTx/>
              <a:buChar char="-"/>
            </a:pPr>
            <a:r>
              <a:rPr lang="es-ES" sz="2000" dirty="0" err="1"/>
              <a:t>Hydraulic</a:t>
            </a:r>
            <a:r>
              <a:rPr lang="es-ES" sz="2000" dirty="0"/>
              <a:t> </a:t>
            </a:r>
            <a:r>
              <a:rPr lang="es-ES" sz="2000" dirty="0" err="1"/>
              <a:t>traits</a:t>
            </a:r>
            <a:r>
              <a:rPr lang="es-ES" sz="2000" dirty="0"/>
              <a:t> </a:t>
            </a:r>
          </a:p>
          <a:p>
            <a:pPr marL="342900" indent="-342900">
              <a:buFontTx/>
              <a:buChar char="-"/>
            </a:pPr>
            <a:r>
              <a:rPr lang="es-ES" sz="2000" dirty="0" err="1"/>
              <a:t>Tree</a:t>
            </a:r>
            <a:r>
              <a:rPr lang="es-ES" sz="2000" dirty="0"/>
              <a:t> </a:t>
            </a:r>
            <a:r>
              <a:rPr lang="es-ES" sz="2000" dirty="0" err="1"/>
              <a:t>size</a:t>
            </a:r>
            <a:r>
              <a:rPr lang="es-ES" sz="2000" dirty="0"/>
              <a:t> (</a:t>
            </a:r>
            <a:r>
              <a:rPr lang="es-ES" sz="2000" dirty="0" err="1"/>
              <a:t>height</a:t>
            </a:r>
            <a:r>
              <a:rPr lang="es-ES" sz="2000" dirty="0"/>
              <a:t>, </a:t>
            </a:r>
            <a:r>
              <a:rPr lang="es-ES" sz="2000" dirty="0" err="1"/>
              <a:t>dbh</a:t>
            </a:r>
            <a:r>
              <a:rPr lang="es-ES" sz="2000" dirty="0"/>
              <a:t>)</a:t>
            </a:r>
          </a:p>
          <a:p>
            <a:pPr marL="342900" indent="-342900">
              <a:buFontTx/>
              <a:buChar char="-"/>
            </a:pPr>
            <a:r>
              <a:rPr lang="es-ES" sz="2000" dirty="0" err="1"/>
              <a:t>Tree</a:t>
            </a:r>
            <a:r>
              <a:rPr lang="es-ES" sz="2000" dirty="0"/>
              <a:t> </a:t>
            </a:r>
            <a:r>
              <a:rPr lang="es-ES" sz="2000" dirty="0" err="1"/>
              <a:t>age</a:t>
            </a:r>
            <a:endParaRPr lang="es-ES" sz="2000" dirty="0"/>
          </a:p>
          <a:p>
            <a:pPr marL="342900" indent="-342900">
              <a:buFontTx/>
              <a:buChar char="-"/>
            </a:pPr>
            <a:r>
              <a:rPr lang="es-ES" sz="2000" dirty="0"/>
              <a:t>Long-</a:t>
            </a:r>
            <a:r>
              <a:rPr lang="es-ES" sz="2000" dirty="0" err="1"/>
              <a:t>term</a:t>
            </a:r>
            <a:r>
              <a:rPr lang="es-ES" sz="2000" dirty="0"/>
              <a:t> </a:t>
            </a:r>
            <a:r>
              <a:rPr lang="es-ES" sz="2000" dirty="0" err="1"/>
              <a:t>growth</a:t>
            </a:r>
            <a:endParaRPr lang="es-E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143386-377C-7F42-9C03-96D9C1CE29F9}"/>
              </a:ext>
            </a:extLst>
          </p:cNvPr>
          <p:cNvCxnSpPr>
            <a:cxnSpLocks/>
          </p:cNvCxnSpPr>
          <p:nvPr/>
        </p:nvCxnSpPr>
        <p:spPr>
          <a:xfrm>
            <a:off x="1969692" y="3743086"/>
            <a:ext cx="0" cy="724677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08D3359C-507E-46EE-3715-773696F85444}"/>
              </a:ext>
            </a:extLst>
          </p:cNvPr>
          <p:cNvSpPr txBox="1">
            <a:spLocks/>
          </p:cNvSpPr>
          <p:nvPr/>
        </p:nvSpPr>
        <p:spPr>
          <a:xfrm>
            <a:off x="0" y="920470"/>
            <a:ext cx="4021043" cy="111664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endParaRPr lang="es-E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(Sánchez-Salguero et al. 2012, Allen et al. 2015)</a:t>
            </a:r>
          </a:p>
          <a:p>
            <a:pPr marL="0" indent="0" algn="ctr">
              <a:buNone/>
            </a:pP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(De Soto et al. 2020, Serra-Maluquer et al. 2021, Valeriano et al. 2021)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C3A725-24F1-4AAB-FFC5-9D3ACD08C531}"/>
              </a:ext>
            </a:extLst>
          </p:cNvPr>
          <p:cNvSpPr/>
          <p:nvPr/>
        </p:nvSpPr>
        <p:spPr>
          <a:xfrm>
            <a:off x="4775731" y="2452055"/>
            <a:ext cx="3416546" cy="111034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Morphological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SLA</a:t>
            </a:r>
          </a:p>
          <a:p>
            <a:pPr marL="285750" indent="-285750">
              <a:buFontTx/>
              <a:buChar char="-"/>
            </a:pPr>
            <a:r>
              <a:rPr lang="es-ES" sz="2000" dirty="0" err="1"/>
              <a:t>Leaves</a:t>
            </a:r>
            <a:r>
              <a:rPr lang="es-ES" sz="2000" dirty="0"/>
              <a:t> </a:t>
            </a:r>
            <a:r>
              <a:rPr lang="es-ES" sz="2000" dirty="0" err="1"/>
              <a:t>nutrients</a:t>
            </a:r>
            <a:r>
              <a:rPr lang="es-ES" sz="2000" dirty="0"/>
              <a:t> (C, N, C:N)</a:t>
            </a:r>
            <a:endParaRPr lang="es-E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7078A2-FC22-2D26-95EC-94BA9927373C}"/>
              </a:ext>
            </a:extLst>
          </p:cNvPr>
          <p:cNvSpPr/>
          <p:nvPr/>
        </p:nvSpPr>
        <p:spPr>
          <a:xfrm>
            <a:off x="4775731" y="3637043"/>
            <a:ext cx="3416546" cy="245836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Physiological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Pigments</a:t>
            </a:r>
            <a:r>
              <a:rPr lang="es-ES" sz="2000" dirty="0"/>
              <a:t> (</a:t>
            </a:r>
            <a:r>
              <a:rPr lang="es-ES" sz="2000" dirty="0" err="1"/>
              <a:t>Chl</a:t>
            </a:r>
            <a:r>
              <a:rPr lang="es-ES" sz="2000" dirty="0"/>
              <a:t>., </a:t>
            </a:r>
            <a:r>
              <a:rPr lang="es-ES" sz="2000" dirty="0" err="1"/>
              <a:t>carotenoids</a:t>
            </a:r>
            <a:r>
              <a:rPr lang="es-ES" sz="2000" dirty="0"/>
              <a:t>)</a:t>
            </a:r>
          </a:p>
          <a:p>
            <a:pPr marL="285750" indent="-285750">
              <a:buFontTx/>
              <a:buChar char="-"/>
            </a:pPr>
            <a:r>
              <a:rPr lang="es-ES" sz="2000" dirty="0"/>
              <a:t>LWC</a:t>
            </a:r>
          </a:p>
          <a:p>
            <a:pPr marL="285750" indent="-285750">
              <a:buFontTx/>
              <a:buChar char="-"/>
            </a:pPr>
            <a:r>
              <a:rPr lang="es-ES" sz="2000" dirty="0" err="1"/>
              <a:t>Leaves</a:t>
            </a:r>
            <a:r>
              <a:rPr lang="es-ES" sz="2000" dirty="0"/>
              <a:t> </a:t>
            </a:r>
            <a:r>
              <a:rPr lang="es-ES" sz="2000" dirty="0" err="1"/>
              <a:t>isotopes</a:t>
            </a:r>
            <a:r>
              <a:rPr lang="es-ES" sz="2000" dirty="0"/>
              <a:t> (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C,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 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Wood </a:t>
            </a:r>
            <a:r>
              <a:rPr lang="es-ES" sz="2000" dirty="0" err="1"/>
              <a:t>isotopes</a:t>
            </a:r>
            <a:endParaRPr lang="es-E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120593-D96D-F2AB-B01D-DD861B241B93}"/>
              </a:ext>
            </a:extLst>
          </p:cNvPr>
          <p:cNvCxnSpPr>
            <a:cxnSpLocks/>
          </p:cNvCxnSpPr>
          <p:nvPr/>
        </p:nvCxnSpPr>
        <p:spPr>
          <a:xfrm>
            <a:off x="3820264" y="2752486"/>
            <a:ext cx="751736" cy="25474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58614A8-065D-E4B2-5288-3E2210764734}"/>
              </a:ext>
            </a:extLst>
          </p:cNvPr>
          <p:cNvCxnSpPr>
            <a:cxnSpLocks/>
          </p:cNvCxnSpPr>
          <p:nvPr/>
        </p:nvCxnSpPr>
        <p:spPr>
          <a:xfrm flipV="1">
            <a:off x="3820264" y="5198661"/>
            <a:ext cx="651963" cy="300951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042D06-A9DF-502E-BA51-C67162E67AF5}"/>
              </a:ext>
            </a:extLst>
          </p:cNvPr>
          <p:cNvCxnSpPr>
            <a:cxnSpLocks/>
          </p:cNvCxnSpPr>
          <p:nvPr/>
        </p:nvCxnSpPr>
        <p:spPr>
          <a:xfrm flipV="1">
            <a:off x="3695062" y="3238148"/>
            <a:ext cx="876938" cy="1770678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6A3C57F-A662-470B-7AE5-8C4CE36F04B0}"/>
              </a:ext>
            </a:extLst>
          </p:cNvPr>
          <p:cNvCxnSpPr>
            <a:cxnSpLocks/>
          </p:cNvCxnSpPr>
          <p:nvPr/>
        </p:nvCxnSpPr>
        <p:spPr>
          <a:xfrm>
            <a:off x="3712190" y="3238148"/>
            <a:ext cx="943786" cy="1628076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0A5C1A5-65AF-6746-5B47-7D5075DB2A66}"/>
              </a:ext>
            </a:extLst>
          </p:cNvPr>
          <p:cNvSpPr/>
          <p:nvPr/>
        </p:nvSpPr>
        <p:spPr>
          <a:xfrm>
            <a:off x="9120931" y="3514235"/>
            <a:ext cx="2831583" cy="1220173"/>
          </a:xfrm>
          <a:prstGeom prst="rect">
            <a:avLst/>
          </a:prstGeom>
          <a:solidFill>
            <a:srgbClr val="B75EBE"/>
          </a:solidFill>
          <a:ln>
            <a:solidFill>
              <a:srgbClr val="B75E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Whole-plant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Short-</a:t>
            </a:r>
            <a:r>
              <a:rPr lang="es-ES" sz="2000" dirty="0" err="1"/>
              <a:t>term</a:t>
            </a:r>
            <a:r>
              <a:rPr lang="es-ES" sz="2000" dirty="0"/>
              <a:t> </a:t>
            </a:r>
            <a:r>
              <a:rPr lang="es-ES" sz="2000" dirty="0" err="1"/>
              <a:t>growth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Defoliation</a:t>
            </a:r>
            <a:endParaRPr lang="es-E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2ABE69-57A5-2476-DC5E-D774FFBE91E9}"/>
              </a:ext>
            </a:extLst>
          </p:cNvPr>
          <p:cNvCxnSpPr>
            <a:cxnSpLocks/>
          </p:cNvCxnSpPr>
          <p:nvPr/>
        </p:nvCxnSpPr>
        <p:spPr>
          <a:xfrm>
            <a:off x="8280736" y="3110778"/>
            <a:ext cx="697894" cy="79001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0E4A91F-1B14-4CD5-D4DC-0833E34CFFA9}"/>
              </a:ext>
            </a:extLst>
          </p:cNvPr>
          <p:cNvCxnSpPr>
            <a:cxnSpLocks/>
          </p:cNvCxnSpPr>
          <p:nvPr/>
        </p:nvCxnSpPr>
        <p:spPr>
          <a:xfrm flipV="1">
            <a:off x="8280736" y="4221804"/>
            <a:ext cx="697894" cy="666172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B74B4637-2573-0882-9A5A-C617A90FD5D2}"/>
              </a:ext>
            </a:extLst>
          </p:cNvPr>
          <p:cNvSpPr txBox="1">
            <a:spLocks/>
          </p:cNvSpPr>
          <p:nvPr/>
        </p:nvSpPr>
        <p:spPr>
          <a:xfrm>
            <a:off x="7319691" y="955424"/>
            <a:ext cx="2619983" cy="10020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Responses</a:t>
            </a:r>
          </a:p>
          <a:p>
            <a:pPr marL="0" indent="0" algn="ctr">
              <a:buNone/>
            </a:pP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(Liu et al. 2017,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Jaleel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et al. 2018)</a:t>
            </a:r>
          </a:p>
        </p:txBody>
      </p:sp>
    </p:spTree>
    <p:extLst>
      <p:ext uri="{BB962C8B-B14F-4D97-AF65-F5344CB8AC3E}">
        <p14:creationId xmlns:p14="http://schemas.microsoft.com/office/powerpoint/2010/main" val="937359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CE1DA-4763-73EA-08A9-66EC22793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04B6278A-86A2-9C8D-5059-18C708091E0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Complementary strategies to cope with 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7001985-FC47-1BD5-13FB-8F851E7AE4F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21A98-1FA5-64FA-AFE8-47844E72A77B}"/>
              </a:ext>
            </a:extLst>
          </p:cNvPr>
          <p:cNvSpPr/>
          <p:nvPr/>
        </p:nvSpPr>
        <p:spPr>
          <a:xfrm>
            <a:off x="485192" y="2318657"/>
            <a:ext cx="2957804" cy="111034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Extrinsic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sz="2000" b="1" dirty="0"/>
          </a:p>
          <a:p>
            <a:pPr marL="342900" indent="-342900">
              <a:buFontTx/>
              <a:buChar char="-"/>
            </a:pPr>
            <a:r>
              <a:rPr lang="es-ES" sz="2000" dirty="0" err="1"/>
              <a:t>Abiotic</a:t>
            </a:r>
            <a:r>
              <a:rPr lang="es-ES" sz="2000" dirty="0"/>
              <a:t> (</a:t>
            </a:r>
            <a:r>
              <a:rPr lang="es-ES" sz="2000" dirty="0" err="1"/>
              <a:t>climate</a:t>
            </a:r>
            <a:r>
              <a:rPr lang="es-ES" sz="2000" dirty="0"/>
              <a:t>, </a:t>
            </a:r>
            <a:r>
              <a:rPr lang="es-ES" sz="2000" dirty="0" err="1"/>
              <a:t>soil</a:t>
            </a:r>
            <a:r>
              <a:rPr lang="es-ES" sz="2000" dirty="0"/>
              <a:t>)</a:t>
            </a:r>
          </a:p>
          <a:p>
            <a:pPr marL="285750" indent="-285750">
              <a:buFontTx/>
              <a:buChar char="-"/>
            </a:pPr>
            <a:r>
              <a:rPr lang="es-ES" sz="2000" dirty="0" err="1"/>
              <a:t>Biotic</a:t>
            </a:r>
            <a:r>
              <a:rPr lang="es-ES" sz="2000" dirty="0"/>
              <a:t> (</a:t>
            </a:r>
            <a:r>
              <a:rPr lang="es-ES" dirty="0" err="1"/>
              <a:t>competition</a:t>
            </a:r>
            <a:r>
              <a:rPr lang="es-ES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272E18-6003-92A2-6B1E-A85D87D3F447}"/>
              </a:ext>
            </a:extLst>
          </p:cNvPr>
          <p:cNvSpPr/>
          <p:nvPr/>
        </p:nvSpPr>
        <p:spPr>
          <a:xfrm>
            <a:off x="485192" y="4707875"/>
            <a:ext cx="2957804" cy="1583475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Intrinsic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sz="2000" b="1" dirty="0"/>
          </a:p>
          <a:p>
            <a:pPr marL="342900" indent="-342900">
              <a:buFontTx/>
              <a:buChar char="-"/>
            </a:pPr>
            <a:r>
              <a:rPr lang="es-ES" sz="2000" dirty="0" err="1"/>
              <a:t>Hydraulic</a:t>
            </a:r>
            <a:r>
              <a:rPr lang="es-ES" sz="2000" dirty="0"/>
              <a:t> </a:t>
            </a:r>
            <a:r>
              <a:rPr lang="es-ES" sz="2000" dirty="0" err="1"/>
              <a:t>traits</a:t>
            </a:r>
            <a:r>
              <a:rPr lang="es-ES" sz="2000" dirty="0"/>
              <a:t> </a:t>
            </a:r>
          </a:p>
          <a:p>
            <a:pPr marL="342900" indent="-342900">
              <a:buFontTx/>
              <a:buChar char="-"/>
            </a:pPr>
            <a:r>
              <a:rPr lang="es-ES" sz="2000" dirty="0" err="1"/>
              <a:t>Tree</a:t>
            </a:r>
            <a:r>
              <a:rPr lang="es-ES" sz="2000" dirty="0"/>
              <a:t> </a:t>
            </a:r>
            <a:r>
              <a:rPr lang="es-ES" sz="2000" dirty="0" err="1"/>
              <a:t>size</a:t>
            </a:r>
            <a:r>
              <a:rPr lang="es-ES" sz="2000" dirty="0"/>
              <a:t> (</a:t>
            </a:r>
            <a:r>
              <a:rPr lang="es-ES" sz="2000" dirty="0" err="1"/>
              <a:t>height</a:t>
            </a:r>
            <a:r>
              <a:rPr lang="es-ES" sz="2000" dirty="0"/>
              <a:t>, </a:t>
            </a:r>
            <a:r>
              <a:rPr lang="es-ES" sz="2000" dirty="0" err="1"/>
              <a:t>dbh</a:t>
            </a:r>
            <a:r>
              <a:rPr lang="es-ES" sz="2000" dirty="0"/>
              <a:t>)</a:t>
            </a:r>
          </a:p>
          <a:p>
            <a:pPr marL="342900" indent="-342900">
              <a:buFontTx/>
              <a:buChar char="-"/>
            </a:pPr>
            <a:r>
              <a:rPr lang="es-ES" sz="2000" dirty="0" err="1"/>
              <a:t>Tree</a:t>
            </a:r>
            <a:r>
              <a:rPr lang="es-ES" sz="2000" dirty="0"/>
              <a:t> </a:t>
            </a:r>
            <a:r>
              <a:rPr lang="es-ES" sz="2000" dirty="0" err="1"/>
              <a:t>age</a:t>
            </a:r>
            <a:endParaRPr lang="es-ES" sz="2000" dirty="0"/>
          </a:p>
          <a:p>
            <a:pPr marL="342900" indent="-342900">
              <a:buFontTx/>
              <a:buChar char="-"/>
            </a:pPr>
            <a:r>
              <a:rPr lang="es-ES" sz="2000" dirty="0"/>
              <a:t>Long-</a:t>
            </a:r>
            <a:r>
              <a:rPr lang="es-ES" sz="2000" dirty="0" err="1"/>
              <a:t>term</a:t>
            </a:r>
            <a:r>
              <a:rPr lang="es-ES" sz="2000" dirty="0"/>
              <a:t> </a:t>
            </a:r>
            <a:r>
              <a:rPr lang="es-ES" sz="2000" dirty="0" err="1"/>
              <a:t>growth</a:t>
            </a:r>
            <a:endParaRPr lang="es-E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AC865F-34A9-6F32-AC72-F019E6D7EF20}"/>
              </a:ext>
            </a:extLst>
          </p:cNvPr>
          <p:cNvCxnSpPr>
            <a:cxnSpLocks/>
          </p:cNvCxnSpPr>
          <p:nvPr/>
        </p:nvCxnSpPr>
        <p:spPr>
          <a:xfrm>
            <a:off x="1969692" y="3743086"/>
            <a:ext cx="0" cy="724677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690A6FBD-80D7-67FE-1DC6-4E63CF9BDC7A}"/>
              </a:ext>
            </a:extLst>
          </p:cNvPr>
          <p:cNvSpPr txBox="1">
            <a:spLocks/>
          </p:cNvSpPr>
          <p:nvPr/>
        </p:nvSpPr>
        <p:spPr>
          <a:xfrm>
            <a:off x="0" y="920470"/>
            <a:ext cx="4021043" cy="111664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8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endParaRPr lang="es-E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(Sánchez-Salguero et al. 2012, Allen et al. 2015)</a:t>
            </a:r>
          </a:p>
          <a:p>
            <a:pPr marL="0" indent="0" algn="ctr">
              <a:buNone/>
            </a:pP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(De Soto et al. 2020, Serra-Maluquer et al. 2021, Valeriano et al. 2021)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5DC7B6-554B-1F89-6EC5-E94136B3153A}"/>
              </a:ext>
            </a:extLst>
          </p:cNvPr>
          <p:cNvSpPr/>
          <p:nvPr/>
        </p:nvSpPr>
        <p:spPr>
          <a:xfrm>
            <a:off x="4775731" y="2452055"/>
            <a:ext cx="3416546" cy="111034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Morphological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SLA</a:t>
            </a:r>
          </a:p>
          <a:p>
            <a:pPr marL="285750" indent="-285750">
              <a:buFontTx/>
              <a:buChar char="-"/>
            </a:pPr>
            <a:r>
              <a:rPr lang="es-ES" sz="2000" dirty="0" err="1"/>
              <a:t>Leaves</a:t>
            </a:r>
            <a:r>
              <a:rPr lang="es-ES" sz="2000" dirty="0"/>
              <a:t> </a:t>
            </a:r>
            <a:r>
              <a:rPr lang="es-ES" sz="2000" dirty="0" err="1"/>
              <a:t>nutrients</a:t>
            </a:r>
            <a:r>
              <a:rPr lang="es-ES" sz="2000" dirty="0"/>
              <a:t> (C, N, C:N)</a:t>
            </a:r>
            <a:endParaRPr lang="es-E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73D92E-E7D9-A747-4EEC-7FBFBB83DAD0}"/>
              </a:ext>
            </a:extLst>
          </p:cNvPr>
          <p:cNvSpPr/>
          <p:nvPr/>
        </p:nvSpPr>
        <p:spPr>
          <a:xfrm>
            <a:off x="4775731" y="3637043"/>
            <a:ext cx="3416546" cy="245836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Physiological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Pigments</a:t>
            </a:r>
            <a:r>
              <a:rPr lang="es-ES" sz="2000" dirty="0"/>
              <a:t> (</a:t>
            </a:r>
            <a:r>
              <a:rPr lang="es-ES" sz="2000" dirty="0" err="1"/>
              <a:t>Chl</a:t>
            </a:r>
            <a:r>
              <a:rPr lang="es-ES" sz="2000" dirty="0"/>
              <a:t>., </a:t>
            </a:r>
            <a:r>
              <a:rPr lang="es-ES" sz="2000" dirty="0" err="1"/>
              <a:t>carotenoids</a:t>
            </a:r>
            <a:r>
              <a:rPr lang="es-ES" sz="2000" dirty="0"/>
              <a:t>)</a:t>
            </a:r>
          </a:p>
          <a:p>
            <a:pPr marL="285750" indent="-285750">
              <a:buFontTx/>
              <a:buChar char="-"/>
            </a:pPr>
            <a:r>
              <a:rPr lang="es-ES" sz="2000" dirty="0"/>
              <a:t>LWC</a:t>
            </a:r>
          </a:p>
          <a:p>
            <a:pPr marL="285750" indent="-285750">
              <a:buFontTx/>
              <a:buChar char="-"/>
            </a:pPr>
            <a:r>
              <a:rPr lang="es-ES" sz="2000" dirty="0" err="1"/>
              <a:t>Leaves</a:t>
            </a:r>
            <a:r>
              <a:rPr lang="es-ES" sz="2000" dirty="0"/>
              <a:t> </a:t>
            </a:r>
            <a:r>
              <a:rPr lang="es-ES" sz="2000" dirty="0" err="1"/>
              <a:t>isotopes</a:t>
            </a:r>
            <a:r>
              <a:rPr lang="es-ES" sz="2000" dirty="0"/>
              <a:t> (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C,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 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Wood </a:t>
            </a:r>
            <a:r>
              <a:rPr lang="es-ES" sz="2000" dirty="0" err="1"/>
              <a:t>isotopes</a:t>
            </a:r>
            <a:endParaRPr lang="es-E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8BF27A6-0B6D-DBCA-8436-BD9B3B0439FC}"/>
              </a:ext>
            </a:extLst>
          </p:cNvPr>
          <p:cNvCxnSpPr>
            <a:cxnSpLocks/>
          </p:cNvCxnSpPr>
          <p:nvPr/>
        </p:nvCxnSpPr>
        <p:spPr>
          <a:xfrm>
            <a:off x="3820264" y="2752486"/>
            <a:ext cx="751736" cy="25474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E52A376-60A6-EA55-AE18-E89025470C62}"/>
              </a:ext>
            </a:extLst>
          </p:cNvPr>
          <p:cNvCxnSpPr>
            <a:cxnSpLocks/>
          </p:cNvCxnSpPr>
          <p:nvPr/>
        </p:nvCxnSpPr>
        <p:spPr>
          <a:xfrm flipV="1">
            <a:off x="3820264" y="5198661"/>
            <a:ext cx="651963" cy="300951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715D4F8-736D-5BB3-59C8-66532FED40FF}"/>
              </a:ext>
            </a:extLst>
          </p:cNvPr>
          <p:cNvCxnSpPr>
            <a:cxnSpLocks/>
          </p:cNvCxnSpPr>
          <p:nvPr/>
        </p:nvCxnSpPr>
        <p:spPr>
          <a:xfrm flipV="1">
            <a:off x="3695062" y="3238148"/>
            <a:ext cx="876938" cy="1770678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594D5AA-935C-8FD1-6FE5-447451B08BD5}"/>
              </a:ext>
            </a:extLst>
          </p:cNvPr>
          <p:cNvCxnSpPr>
            <a:cxnSpLocks/>
          </p:cNvCxnSpPr>
          <p:nvPr/>
        </p:nvCxnSpPr>
        <p:spPr>
          <a:xfrm>
            <a:off x="3712190" y="3238148"/>
            <a:ext cx="943786" cy="1628076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C90770D-E532-3213-9E56-BB3785E6DA6D}"/>
              </a:ext>
            </a:extLst>
          </p:cNvPr>
          <p:cNvSpPr/>
          <p:nvPr/>
        </p:nvSpPr>
        <p:spPr>
          <a:xfrm>
            <a:off x="9120931" y="3514235"/>
            <a:ext cx="2831583" cy="1220173"/>
          </a:xfrm>
          <a:prstGeom prst="rect">
            <a:avLst/>
          </a:prstGeom>
          <a:solidFill>
            <a:srgbClr val="B75EBE"/>
          </a:solidFill>
          <a:ln>
            <a:solidFill>
              <a:srgbClr val="B75E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Whole-plant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Short-</a:t>
            </a:r>
            <a:r>
              <a:rPr lang="es-ES" sz="2000" dirty="0" err="1"/>
              <a:t>term</a:t>
            </a:r>
            <a:r>
              <a:rPr lang="es-ES" sz="2000" dirty="0"/>
              <a:t> </a:t>
            </a:r>
            <a:r>
              <a:rPr lang="es-ES" sz="2000" dirty="0" err="1"/>
              <a:t>growth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Defoliation</a:t>
            </a:r>
            <a:endParaRPr lang="es-E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59E5D76-4488-EA0A-20C1-E3FC310364D0}"/>
              </a:ext>
            </a:extLst>
          </p:cNvPr>
          <p:cNvCxnSpPr>
            <a:cxnSpLocks/>
          </p:cNvCxnSpPr>
          <p:nvPr/>
        </p:nvCxnSpPr>
        <p:spPr>
          <a:xfrm>
            <a:off x="8280736" y="3110778"/>
            <a:ext cx="697894" cy="79001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25BEB1C-CA5B-3F8D-0D8A-0B7FC4B1AA92}"/>
              </a:ext>
            </a:extLst>
          </p:cNvPr>
          <p:cNvCxnSpPr>
            <a:cxnSpLocks/>
          </p:cNvCxnSpPr>
          <p:nvPr/>
        </p:nvCxnSpPr>
        <p:spPr>
          <a:xfrm flipV="1">
            <a:off x="8280736" y="4221804"/>
            <a:ext cx="697894" cy="666172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23E0A0AC-5A73-2742-E8B0-82D0188DEECC}"/>
              </a:ext>
            </a:extLst>
          </p:cNvPr>
          <p:cNvSpPr txBox="1">
            <a:spLocks/>
          </p:cNvSpPr>
          <p:nvPr/>
        </p:nvSpPr>
        <p:spPr>
          <a:xfrm>
            <a:off x="7319691" y="955424"/>
            <a:ext cx="2619983" cy="10020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Responses</a:t>
            </a:r>
          </a:p>
          <a:p>
            <a:pPr marL="0" indent="0" algn="ctr">
              <a:buNone/>
            </a:pP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(Liu et al. 2017, </a:t>
            </a:r>
            <a:r>
              <a:rPr lang="es-E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Jaleel</a:t>
            </a:r>
            <a:r>
              <a:rPr lang="es-ES" sz="1400" dirty="0">
                <a:latin typeface="Helvetica" panose="020B0604020202020204" pitchFamily="34" charset="0"/>
                <a:cs typeface="Helvetica" panose="020B0604020202020204" pitchFamily="34" charset="0"/>
              </a:rPr>
              <a:t> et al. 2018)</a:t>
            </a:r>
          </a:p>
        </p:txBody>
      </p:sp>
    </p:spTree>
    <p:extLst>
      <p:ext uri="{BB962C8B-B14F-4D97-AF65-F5344CB8AC3E}">
        <p14:creationId xmlns:p14="http://schemas.microsoft.com/office/powerpoint/2010/main" val="1734042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2E30-AD87-86BE-4697-EDAD03852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E17D39A2-FAE0-31EB-CFF5-788F2DC84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782DD7-1C64-8620-07CF-0495CE0C473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G.I.K.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79C39D0-3013-0B8C-D452-0FAF13469743}"/>
              </a:ext>
            </a:extLst>
          </p:cNvPr>
          <p:cNvSpPr txBox="1">
            <a:spLocks/>
          </p:cNvSpPr>
          <p:nvPr/>
        </p:nvSpPr>
        <p:spPr>
          <a:xfrm>
            <a:off x="9147571" y="5472862"/>
            <a:ext cx="2957804" cy="8041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latin typeface="Helvetica"/>
                <a:cs typeface="Helvetica"/>
              </a:rPr>
              <a:t>We</a:t>
            </a:r>
            <a:r>
              <a:rPr lang="es-ES" sz="2000" b="1" dirty="0">
                <a:latin typeface="Helvetica"/>
                <a:cs typeface="Helvetica"/>
              </a:rPr>
              <a:t> are </a:t>
            </a:r>
            <a:r>
              <a:rPr lang="es-ES" sz="2000" b="1" dirty="0" err="1">
                <a:latin typeface="Helvetica"/>
                <a:cs typeface="Helvetica"/>
              </a:rPr>
              <a:t>still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unable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to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forecast</a:t>
            </a:r>
            <a:r>
              <a:rPr lang="es-ES" sz="2000" b="1" dirty="0">
                <a:latin typeface="Helvetica"/>
                <a:cs typeface="Helvetica"/>
              </a:rPr>
              <a:t> die-off!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A106F7-42BE-8F2B-F4D9-AADB4BB53B3B}"/>
              </a:ext>
            </a:extLst>
          </p:cNvPr>
          <p:cNvSpPr/>
          <p:nvPr/>
        </p:nvSpPr>
        <p:spPr>
          <a:xfrm>
            <a:off x="511832" y="3524029"/>
            <a:ext cx="2957804" cy="48985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Extrinsic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A4C3A1-8FB0-52B4-3CF9-055E7B9A73A2}"/>
              </a:ext>
            </a:extLst>
          </p:cNvPr>
          <p:cNvSpPr/>
          <p:nvPr/>
        </p:nvSpPr>
        <p:spPr>
          <a:xfrm>
            <a:off x="511832" y="5292761"/>
            <a:ext cx="2957804" cy="48985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Intrinsic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8EB5CB-3F0A-1BF4-B6B0-FC104F8A1E69}"/>
              </a:ext>
            </a:extLst>
          </p:cNvPr>
          <p:cNvCxnSpPr>
            <a:cxnSpLocks/>
          </p:cNvCxnSpPr>
          <p:nvPr/>
        </p:nvCxnSpPr>
        <p:spPr>
          <a:xfrm>
            <a:off x="1996332" y="4327972"/>
            <a:ext cx="0" cy="724677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B443C4A-3E7E-DECC-734C-1EB447C2EE7E}"/>
              </a:ext>
            </a:extLst>
          </p:cNvPr>
          <p:cNvSpPr/>
          <p:nvPr/>
        </p:nvSpPr>
        <p:spPr>
          <a:xfrm>
            <a:off x="4802371" y="3524029"/>
            <a:ext cx="3416546" cy="42177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Morphological</a:t>
            </a:r>
            <a:r>
              <a:rPr lang="es-ES" sz="2000" b="1" dirty="0"/>
              <a:t> responses</a:t>
            </a:r>
            <a:endParaRPr lang="es-ES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D83E1A-DF81-80DD-9FBF-1182710CE584}"/>
              </a:ext>
            </a:extLst>
          </p:cNvPr>
          <p:cNvSpPr/>
          <p:nvPr/>
        </p:nvSpPr>
        <p:spPr>
          <a:xfrm>
            <a:off x="4819680" y="5292761"/>
            <a:ext cx="3416546" cy="48985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Physiological</a:t>
            </a:r>
            <a:r>
              <a:rPr lang="es-ES" sz="2000" b="1" dirty="0"/>
              <a:t> responses</a:t>
            </a:r>
            <a:endParaRPr lang="es-E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D201D6-E3F4-AD0D-2B1A-F1902BB47769}"/>
              </a:ext>
            </a:extLst>
          </p:cNvPr>
          <p:cNvCxnSpPr>
            <a:cxnSpLocks/>
          </p:cNvCxnSpPr>
          <p:nvPr/>
        </p:nvCxnSpPr>
        <p:spPr>
          <a:xfrm>
            <a:off x="3908335" y="5593712"/>
            <a:ext cx="690305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C6F785-6944-791C-C796-E2F2888B10A9}"/>
              </a:ext>
            </a:extLst>
          </p:cNvPr>
          <p:cNvCxnSpPr>
            <a:cxnSpLocks/>
          </p:cNvCxnSpPr>
          <p:nvPr/>
        </p:nvCxnSpPr>
        <p:spPr>
          <a:xfrm flipV="1">
            <a:off x="3738830" y="3823034"/>
            <a:ext cx="859810" cy="149626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12B8E2B-0F8C-27AF-2CD9-A6DBFA02B65C}"/>
              </a:ext>
            </a:extLst>
          </p:cNvPr>
          <p:cNvCxnSpPr>
            <a:cxnSpLocks/>
          </p:cNvCxnSpPr>
          <p:nvPr/>
        </p:nvCxnSpPr>
        <p:spPr>
          <a:xfrm>
            <a:off x="3738830" y="3823034"/>
            <a:ext cx="943786" cy="1628076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870ADF7-7BD3-CA72-7805-62371D93A717}"/>
              </a:ext>
            </a:extLst>
          </p:cNvPr>
          <p:cNvSpPr/>
          <p:nvPr/>
        </p:nvSpPr>
        <p:spPr>
          <a:xfrm>
            <a:off x="9147571" y="4099121"/>
            <a:ext cx="2831583" cy="1220173"/>
          </a:xfrm>
          <a:prstGeom prst="rect">
            <a:avLst/>
          </a:prstGeom>
          <a:solidFill>
            <a:srgbClr val="B75EBE"/>
          </a:solidFill>
          <a:ln>
            <a:solidFill>
              <a:srgbClr val="B75E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Whole-plant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Short-</a:t>
            </a:r>
            <a:r>
              <a:rPr lang="es-ES" sz="2000" dirty="0" err="1"/>
              <a:t>term</a:t>
            </a:r>
            <a:r>
              <a:rPr lang="es-ES" sz="2000" dirty="0"/>
              <a:t> </a:t>
            </a:r>
            <a:r>
              <a:rPr lang="es-ES" sz="2000" dirty="0" err="1"/>
              <a:t>growth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Defoliation</a:t>
            </a:r>
            <a:endParaRPr lang="es-E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E5EBEE-B8F1-43A0-3F5D-0B7316E63141}"/>
              </a:ext>
            </a:extLst>
          </p:cNvPr>
          <p:cNvCxnSpPr>
            <a:cxnSpLocks/>
          </p:cNvCxnSpPr>
          <p:nvPr/>
        </p:nvCxnSpPr>
        <p:spPr>
          <a:xfrm>
            <a:off x="8307376" y="3695664"/>
            <a:ext cx="697894" cy="79001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152DBB-32CF-A57A-7939-F941A8146E8F}"/>
              </a:ext>
            </a:extLst>
          </p:cNvPr>
          <p:cNvCxnSpPr>
            <a:cxnSpLocks/>
          </p:cNvCxnSpPr>
          <p:nvPr/>
        </p:nvCxnSpPr>
        <p:spPr>
          <a:xfrm flipV="1">
            <a:off x="8307376" y="4806690"/>
            <a:ext cx="697894" cy="666172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17D36AD0-2775-57FF-339B-98B8FFC7CC4F}"/>
              </a:ext>
            </a:extLst>
          </p:cNvPr>
          <p:cNvSpPr txBox="1">
            <a:spLocks/>
          </p:cNvSpPr>
          <p:nvPr/>
        </p:nvSpPr>
        <p:spPr>
          <a:xfrm>
            <a:off x="511832" y="2396579"/>
            <a:ext cx="2753882" cy="8849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Lack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regional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scale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studies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25542C4-9986-B7B4-1CD4-7E24E4E18A2C}"/>
              </a:ext>
            </a:extLst>
          </p:cNvPr>
          <p:cNvCxnSpPr>
            <a:cxnSpLocks/>
          </p:cNvCxnSpPr>
          <p:nvPr/>
        </p:nvCxnSpPr>
        <p:spPr>
          <a:xfrm>
            <a:off x="3865570" y="3726034"/>
            <a:ext cx="690305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5C3C0F1E-B623-965D-F5A8-95B1F537E233}"/>
              </a:ext>
            </a:extLst>
          </p:cNvPr>
          <p:cNvSpPr txBox="1">
            <a:spLocks/>
          </p:cNvSpPr>
          <p:nvPr/>
        </p:nvSpPr>
        <p:spPr>
          <a:xfrm>
            <a:off x="5133703" y="2347441"/>
            <a:ext cx="2753882" cy="10979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Understudied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species-specific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responses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B82CE26E-47B1-FF8D-985A-8CDA49BE6514}"/>
              </a:ext>
            </a:extLst>
          </p:cNvPr>
          <p:cNvSpPr txBox="1">
            <a:spLocks/>
          </p:cNvSpPr>
          <p:nvPr/>
        </p:nvSpPr>
        <p:spPr>
          <a:xfrm>
            <a:off x="3874495" y="2573095"/>
            <a:ext cx="647881" cy="4217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F3AE037A-0D18-6B48-03EA-5F474C9B500E}"/>
              </a:ext>
            </a:extLst>
          </p:cNvPr>
          <p:cNvSpPr txBox="1">
            <a:spLocks/>
          </p:cNvSpPr>
          <p:nvPr/>
        </p:nvSpPr>
        <p:spPr>
          <a:xfrm>
            <a:off x="1343214" y="1085255"/>
            <a:ext cx="5820543" cy="8849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Difficult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generalize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influence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responses 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E4D87BA0-D8BE-F90E-7582-DEFE35C507CE}"/>
              </a:ext>
            </a:extLst>
          </p:cNvPr>
          <p:cNvSpPr txBox="1">
            <a:spLocks/>
          </p:cNvSpPr>
          <p:nvPr/>
        </p:nvSpPr>
        <p:spPr>
          <a:xfrm>
            <a:off x="8374268" y="1564103"/>
            <a:ext cx="3472006" cy="1430766"/>
          </a:xfrm>
          <a:prstGeom prst="rect">
            <a:avLst/>
          </a:prstGeom>
          <a:ln w="57150">
            <a:solidFill>
              <a:srgbClr val="218317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1.: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what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predisposing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determine </a:t>
            </a:r>
            <a:r>
              <a:rPr lang="es-ES" sz="1800" dirty="0" err="1">
                <a:latin typeface="Helvetica"/>
                <a:cs typeface="Helvetica"/>
              </a:rPr>
              <a:t>tree</a:t>
            </a:r>
            <a:r>
              <a:rPr lang="es-ES" sz="1800" dirty="0">
                <a:latin typeface="Helvetica"/>
                <a:cs typeface="Helvetica"/>
              </a:rPr>
              <a:t> die-off and </a:t>
            </a:r>
            <a:r>
              <a:rPr lang="es-ES" sz="1800" dirty="0" err="1">
                <a:latin typeface="Helvetica"/>
                <a:cs typeface="Helvetica"/>
              </a:rPr>
              <a:t>what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physiological</a:t>
            </a:r>
            <a:r>
              <a:rPr lang="es-ES" sz="1800" dirty="0">
                <a:latin typeface="Helvetica"/>
                <a:cs typeface="Helvetica"/>
              </a:rPr>
              <a:t> responses </a:t>
            </a:r>
            <a:r>
              <a:rPr lang="es-ES" sz="1800" dirty="0" err="1">
                <a:latin typeface="Helvetica"/>
                <a:cs typeface="Helvetica"/>
              </a:rPr>
              <a:t>they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trigger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343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E0673-3AFD-6451-5751-BDE7FECE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66B90921-7706-A127-48CC-5C41D3C36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0E842B-CD1E-625D-4746-8C406B00604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G.I.K.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ED98A4B-6C97-5B20-73CC-7ADC662A8084}"/>
              </a:ext>
            </a:extLst>
          </p:cNvPr>
          <p:cNvSpPr txBox="1">
            <a:spLocks/>
          </p:cNvSpPr>
          <p:nvPr/>
        </p:nvSpPr>
        <p:spPr>
          <a:xfrm>
            <a:off x="9147571" y="5472862"/>
            <a:ext cx="2957804" cy="8041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latin typeface="Helvetica"/>
                <a:cs typeface="Helvetica"/>
              </a:rPr>
              <a:t>We</a:t>
            </a:r>
            <a:r>
              <a:rPr lang="es-ES" sz="2000" b="1" dirty="0">
                <a:latin typeface="Helvetica"/>
                <a:cs typeface="Helvetica"/>
              </a:rPr>
              <a:t> are </a:t>
            </a:r>
            <a:r>
              <a:rPr lang="es-ES" sz="2000" b="1" dirty="0" err="1">
                <a:latin typeface="Helvetica"/>
                <a:cs typeface="Helvetica"/>
              </a:rPr>
              <a:t>still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unable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to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forecast</a:t>
            </a:r>
            <a:r>
              <a:rPr lang="es-ES" sz="2000" b="1" dirty="0">
                <a:latin typeface="Helvetica"/>
                <a:cs typeface="Helvetica"/>
              </a:rPr>
              <a:t> die-off!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AE6573-447C-D134-508D-8552BE1D1D62}"/>
              </a:ext>
            </a:extLst>
          </p:cNvPr>
          <p:cNvSpPr/>
          <p:nvPr/>
        </p:nvSpPr>
        <p:spPr>
          <a:xfrm>
            <a:off x="511832" y="3524029"/>
            <a:ext cx="2957804" cy="48985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Extrinsic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B1886A-7CAB-498E-8193-87FD461D2537}"/>
              </a:ext>
            </a:extLst>
          </p:cNvPr>
          <p:cNvSpPr/>
          <p:nvPr/>
        </p:nvSpPr>
        <p:spPr>
          <a:xfrm>
            <a:off x="511832" y="5292761"/>
            <a:ext cx="2957804" cy="48985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Intrinsic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854B80-40BB-2156-21BF-C25AE22E0C69}"/>
              </a:ext>
            </a:extLst>
          </p:cNvPr>
          <p:cNvCxnSpPr>
            <a:cxnSpLocks/>
          </p:cNvCxnSpPr>
          <p:nvPr/>
        </p:nvCxnSpPr>
        <p:spPr>
          <a:xfrm>
            <a:off x="1996332" y="4327972"/>
            <a:ext cx="0" cy="724677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9C7A506-0B20-57B2-C1C7-8200EA11A25C}"/>
              </a:ext>
            </a:extLst>
          </p:cNvPr>
          <p:cNvSpPr/>
          <p:nvPr/>
        </p:nvSpPr>
        <p:spPr>
          <a:xfrm>
            <a:off x="4802371" y="3524029"/>
            <a:ext cx="3416546" cy="42177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Morphological</a:t>
            </a:r>
            <a:r>
              <a:rPr lang="es-ES" sz="2000" b="1" dirty="0"/>
              <a:t> responses</a:t>
            </a:r>
            <a:endParaRPr lang="es-ES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FA3316-FFF9-246C-4D98-42E5E7855571}"/>
              </a:ext>
            </a:extLst>
          </p:cNvPr>
          <p:cNvSpPr/>
          <p:nvPr/>
        </p:nvSpPr>
        <p:spPr>
          <a:xfrm>
            <a:off x="4819680" y="5292761"/>
            <a:ext cx="3416546" cy="48985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Physiological</a:t>
            </a:r>
            <a:r>
              <a:rPr lang="es-ES" sz="2000" b="1" dirty="0"/>
              <a:t> responses</a:t>
            </a:r>
            <a:endParaRPr lang="es-E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5C05F2-97B3-2607-1106-81622A5CCAD0}"/>
              </a:ext>
            </a:extLst>
          </p:cNvPr>
          <p:cNvCxnSpPr>
            <a:cxnSpLocks/>
          </p:cNvCxnSpPr>
          <p:nvPr/>
        </p:nvCxnSpPr>
        <p:spPr>
          <a:xfrm>
            <a:off x="3908335" y="5593712"/>
            <a:ext cx="690305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C308E3-A44C-8536-06F2-61879A3E6B46}"/>
              </a:ext>
            </a:extLst>
          </p:cNvPr>
          <p:cNvCxnSpPr>
            <a:cxnSpLocks/>
          </p:cNvCxnSpPr>
          <p:nvPr/>
        </p:nvCxnSpPr>
        <p:spPr>
          <a:xfrm flipV="1">
            <a:off x="3738830" y="3823034"/>
            <a:ext cx="859810" cy="149626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FAFC236-77A0-3BBA-0D8D-7B51F929527A}"/>
              </a:ext>
            </a:extLst>
          </p:cNvPr>
          <p:cNvCxnSpPr>
            <a:cxnSpLocks/>
          </p:cNvCxnSpPr>
          <p:nvPr/>
        </p:nvCxnSpPr>
        <p:spPr>
          <a:xfrm>
            <a:off x="3738830" y="3823034"/>
            <a:ext cx="943786" cy="1628076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DFF8318-E84E-9D19-11AF-890E3DB6C5E7}"/>
              </a:ext>
            </a:extLst>
          </p:cNvPr>
          <p:cNvSpPr/>
          <p:nvPr/>
        </p:nvSpPr>
        <p:spPr>
          <a:xfrm>
            <a:off x="9147571" y="4099121"/>
            <a:ext cx="2831583" cy="1220173"/>
          </a:xfrm>
          <a:prstGeom prst="rect">
            <a:avLst/>
          </a:prstGeom>
          <a:solidFill>
            <a:srgbClr val="B75EBE"/>
          </a:solidFill>
          <a:ln>
            <a:solidFill>
              <a:srgbClr val="B75E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Whole-plant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Short-</a:t>
            </a:r>
            <a:r>
              <a:rPr lang="es-ES" sz="2000" dirty="0" err="1"/>
              <a:t>term</a:t>
            </a:r>
            <a:r>
              <a:rPr lang="es-ES" sz="2000" dirty="0"/>
              <a:t> </a:t>
            </a:r>
            <a:r>
              <a:rPr lang="es-ES" sz="2000" dirty="0" err="1"/>
              <a:t>growth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Defoliation</a:t>
            </a:r>
            <a:endParaRPr lang="es-E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C3D218-B3D6-925C-74FE-BB046028236B}"/>
              </a:ext>
            </a:extLst>
          </p:cNvPr>
          <p:cNvCxnSpPr>
            <a:cxnSpLocks/>
          </p:cNvCxnSpPr>
          <p:nvPr/>
        </p:nvCxnSpPr>
        <p:spPr>
          <a:xfrm>
            <a:off x="8307376" y="3695664"/>
            <a:ext cx="697894" cy="79001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97B6C38-E3FA-8C83-3FC6-14DC0795C6A2}"/>
              </a:ext>
            </a:extLst>
          </p:cNvPr>
          <p:cNvCxnSpPr>
            <a:cxnSpLocks/>
          </p:cNvCxnSpPr>
          <p:nvPr/>
        </p:nvCxnSpPr>
        <p:spPr>
          <a:xfrm flipV="1">
            <a:off x="8307376" y="4806690"/>
            <a:ext cx="697894" cy="666172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988E6E-A20A-80DE-0154-29DE30FACEE5}"/>
              </a:ext>
            </a:extLst>
          </p:cNvPr>
          <p:cNvCxnSpPr>
            <a:cxnSpLocks/>
          </p:cNvCxnSpPr>
          <p:nvPr/>
        </p:nvCxnSpPr>
        <p:spPr>
          <a:xfrm>
            <a:off x="3865570" y="3726034"/>
            <a:ext cx="690305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E7F46D9F-EED3-AE63-9F87-D5AA3C2AAD65}"/>
              </a:ext>
            </a:extLst>
          </p:cNvPr>
          <p:cNvSpPr txBox="1">
            <a:spLocks/>
          </p:cNvSpPr>
          <p:nvPr/>
        </p:nvSpPr>
        <p:spPr>
          <a:xfrm>
            <a:off x="1343215" y="1588133"/>
            <a:ext cx="5820543" cy="88490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still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do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know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relative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importance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factors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at regional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scale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across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FFA42FF2-EAD0-842A-FF45-E514C2AD56E8}"/>
              </a:ext>
            </a:extLst>
          </p:cNvPr>
          <p:cNvSpPr txBox="1">
            <a:spLocks/>
          </p:cNvSpPr>
          <p:nvPr/>
        </p:nvSpPr>
        <p:spPr>
          <a:xfrm>
            <a:off x="8374268" y="1564103"/>
            <a:ext cx="3472006" cy="1430766"/>
          </a:xfrm>
          <a:prstGeom prst="rect">
            <a:avLst/>
          </a:prstGeom>
          <a:ln w="57150">
            <a:solidFill>
              <a:srgbClr val="218317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2.: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what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predisposing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factors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have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highest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influence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morphological</a:t>
            </a:r>
            <a:r>
              <a:rPr lang="es-ES" sz="1800" dirty="0">
                <a:latin typeface="Helvetica"/>
                <a:cs typeface="Helvetica"/>
              </a:rPr>
              <a:t> and </a:t>
            </a:r>
            <a:r>
              <a:rPr lang="es-ES" sz="1800" dirty="0" err="1">
                <a:latin typeface="Helvetica"/>
                <a:cs typeface="Helvetica"/>
              </a:rPr>
              <a:t>physiological</a:t>
            </a:r>
            <a:r>
              <a:rPr lang="es-ES" sz="1800" dirty="0">
                <a:latin typeface="Helvetica"/>
                <a:cs typeface="Helvetica"/>
              </a:rPr>
              <a:t> responses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101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AE075-2F38-2E77-61F2-35B891209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69965196-9E28-B63F-9879-18A842A89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C598D9-5745-01AB-4352-372547428FD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G.I.K.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E09CEFD-9A9C-20B0-CE87-7172379F3C34}"/>
              </a:ext>
            </a:extLst>
          </p:cNvPr>
          <p:cNvSpPr txBox="1">
            <a:spLocks/>
          </p:cNvSpPr>
          <p:nvPr/>
        </p:nvSpPr>
        <p:spPr>
          <a:xfrm>
            <a:off x="9147571" y="5472862"/>
            <a:ext cx="2957804" cy="8041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000" b="1" dirty="0" err="1">
                <a:latin typeface="Helvetica"/>
                <a:cs typeface="Helvetica"/>
              </a:rPr>
              <a:t>We</a:t>
            </a:r>
            <a:r>
              <a:rPr lang="es-ES" sz="2000" b="1" dirty="0">
                <a:latin typeface="Helvetica"/>
                <a:cs typeface="Helvetica"/>
              </a:rPr>
              <a:t> are </a:t>
            </a:r>
            <a:r>
              <a:rPr lang="es-ES" sz="2000" b="1" dirty="0" err="1">
                <a:latin typeface="Helvetica"/>
                <a:cs typeface="Helvetica"/>
              </a:rPr>
              <a:t>still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unable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to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forecast</a:t>
            </a:r>
            <a:r>
              <a:rPr lang="es-ES" sz="2000" b="1" dirty="0">
                <a:latin typeface="Helvetica"/>
                <a:cs typeface="Helvetica"/>
              </a:rPr>
              <a:t> die-off!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9DD6B0-C28B-6DF4-F245-479513D2F849}"/>
              </a:ext>
            </a:extLst>
          </p:cNvPr>
          <p:cNvSpPr/>
          <p:nvPr/>
        </p:nvSpPr>
        <p:spPr>
          <a:xfrm>
            <a:off x="511832" y="3524029"/>
            <a:ext cx="2957804" cy="48985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Extrinsic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3C968-E57C-1E17-C340-99461A8E6760}"/>
              </a:ext>
            </a:extLst>
          </p:cNvPr>
          <p:cNvSpPr/>
          <p:nvPr/>
        </p:nvSpPr>
        <p:spPr>
          <a:xfrm>
            <a:off x="511832" y="5292761"/>
            <a:ext cx="2957804" cy="48985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Intrinsic</a:t>
            </a:r>
            <a:r>
              <a:rPr lang="es-ES" sz="2000" b="1" dirty="0"/>
              <a:t> </a:t>
            </a:r>
            <a:r>
              <a:rPr lang="es-ES" sz="2000" b="1" dirty="0" err="1"/>
              <a:t>factors</a:t>
            </a:r>
            <a:endParaRPr lang="es-E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CEE853-B9F2-B4C5-22C0-966EC446ACDC}"/>
              </a:ext>
            </a:extLst>
          </p:cNvPr>
          <p:cNvCxnSpPr>
            <a:cxnSpLocks/>
          </p:cNvCxnSpPr>
          <p:nvPr/>
        </p:nvCxnSpPr>
        <p:spPr>
          <a:xfrm>
            <a:off x="1996332" y="4327972"/>
            <a:ext cx="0" cy="724677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88B9E3E-1007-6468-D7E6-368CD00BF853}"/>
              </a:ext>
            </a:extLst>
          </p:cNvPr>
          <p:cNvSpPr/>
          <p:nvPr/>
        </p:nvSpPr>
        <p:spPr>
          <a:xfrm>
            <a:off x="4802371" y="3524029"/>
            <a:ext cx="3416546" cy="421774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Morphological</a:t>
            </a:r>
            <a:r>
              <a:rPr lang="es-ES" sz="2000" b="1" dirty="0"/>
              <a:t> responses</a:t>
            </a:r>
            <a:endParaRPr lang="es-ES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E856CB-EE30-20F1-132B-70B04262B0B7}"/>
              </a:ext>
            </a:extLst>
          </p:cNvPr>
          <p:cNvSpPr/>
          <p:nvPr/>
        </p:nvSpPr>
        <p:spPr>
          <a:xfrm>
            <a:off x="4819680" y="5292761"/>
            <a:ext cx="3416546" cy="48985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Physiological</a:t>
            </a:r>
            <a:r>
              <a:rPr lang="es-ES" sz="2000" b="1" dirty="0"/>
              <a:t> responses</a:t>
            </a:r>
            <a:endParaRPr lang="es-E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68ED63-9A0D-AC30-353A-F54989BBF601}"/>
              </a:ext>
            </a:extLst>
          </p:cNvPr>
          <p:cNvCxnSpPr>
            <a:cxnSpLocks/>
          </p:cNvCxnSpPr>
          <p:nvPr/>
        </p:nvCxnSpPr>
        <p:spPr>
          <a:xfrm>
            <a:off x="3908335" y="5593712"/>
            <a:ext cx="690305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7A2E64-627F-A89E-2050-12BC9C8CA99E}"/>
              </a:ext>
            </a:extLst>
          </p:cNvPr>
          <p:cNvCxnSpPr>
            <a:cxnSpLocks/>
          </p:cNvCxnSpPr>
          <p:nvPr/>
        </p:nvCxnSpPr>
        <p:spPr>
          <a:xfrm flipV="1">
            <a:off x="3738830" y="3823034"/>
            <a:ext cx="859810" cy="149626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DDC105-D705-24F2-1D4A-C3EBB417A3BD}"/>
              </a:ext>
            </a:extLst>
          </p:cNvPr>
          <p:cNvCxnSpPr>
            <a:cxnSpLocks/>
          </p:cNvCxnSpPr>
          <p:nvPr/>
        </p:nvCxnSpPr>
        <p:spPr>
          <a:xfrm>
            <a:off x="3738830" y="3823034"/>
            <a:ext cx="943786" cy="1628076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2A7C942-0CAD-F28D-43D5-3B0579AA0BB3}"/>
              </a:ext>
            </a:extLst>
          </p:cNvPr>
          <p:cNvSpPr/>
          <p:nvPr/>
        </p:nvSpPr>
        <p:spPr>
          <a:xfrm>
            <a:off x="9147571" y="4099121"/>
            <a:ext cx="2831583" cy="1220173"/>
          </a:xfrm>
          <a:prstGeom prst="rect">
            <a:avLst/>
          </a:prstGeom>
          <a:solidFill>
            <a:srgbClr val="B75EBE"/>
          </a:solidFill>
          <a:ln>
            <a:solidFill>
              <a:srgbClr val="B75E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 err="1"/>
              <a:t>Whole-plant</a:t>
            </a:r>
            <a:r>
              <a:rPr lang="es-ES" sz="2000" b="1" dirty="0"/>
              <a:t> responses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/>
              <a:t>Short-</a:t>
            </a:r>
            <a:r>
              <a:rPr lang="es-ES" sz="2000" dirty="0" err="1"/>
              <a:t>term</a:t>
            </a:r>
            <a:r>
              <a:rPr lang="es-ES" sz="2000" dirty="0"/>
              <a:t> </a:t>
            </a:r>
            <a:r>
              <a:rPr lang="es-ES" sz="2000" dirty="0" err="1"/>
              <a:t>growth</a:t>
            </a:r>
            <a:endParaRPr lang="es-ES" sz="2000" dirty="0"/>
          </a:p>
          <a:p>
            <a:pPr marL="285750" indent="-285750">
              <a:buFontTx/>
              <a:buChar char="-"/>
            </a:pPr>
            <a:r>
              <a:rPr lang="es-ES" sz="2000" dirty="0" err="1"/>
              <a:t>Defoliation</a:t>
            </a:r>
            <a:endParaRPr lang="es-E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CCC88A-FEB0-5C54-111E-8432CA07CAED}"/>
              </a:ext>
            </a:extLst>
          </p:cNvPr>
          <p:cNvCxnSpPr>
            <a:cxnSpLocks/>
          </p:cNvCxnSpPr>
          <p:nvPr/>
        </p:nvCxnSpPr>
        <p:spPr>
          <a:xfrm>
            <a:off x="8307376" y="3695664"/>
            <a:ext cx="697894" cy="79001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C9E49CF-F5F1-4BEB-5CFD-B4728D572094}"/>
              </a:ext>
            </a:extLst>
          </p:cNvPr>
          <p:cNvCxnSpPr>
            <a:cxnSpLocks/>
          </p:cNvCxnSpPr>
          <p:nvPr/>
        </p:nvCxnSpPr>
        <p:spPr>
          <a:xfrm flipV="1">
            <a:off x="8307376" y="4806690"/>
            <a:ext cx="697894" cy="666172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272A74-940C-F284-5E14-42D435F0064C}"/>
              </a:ext>
            </a:extLst>
          </p:cNvPr>
          <p:cNvCxnSpPr>
            <a:cxnSpLocks/>
          </p:cNvCxnSpPr>
          <p:nvPr/>
        </p:nvCxnSpPr>
        <p:spPr>
          <a:xfrm>
            <a:off x="3865570" y="3726034"/>
            <a:ext cx="690305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6381E57D-456B-C94B-F549-0CFB3D7C0D94}"/>
              </a:ext>
            </a:extLst>
          </p:cNvPr>
          <p:cNvSpPr txBox="1">
            <a:spLocks/>
          </p:cNvSpPr>
          <p:nvPr/>
        </p:nvSpPr>
        <p:spPr>
          <a:xfrm>
            <a:off x="1147665" y="1461725"/>
            <a:ext cx="6016093" cy="14307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prevalence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carbon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starvation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failure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remains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obscure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still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difficult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forecast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how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individuals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will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decay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Underlooked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interactions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responses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C55BEFE7-0544-F180-86C6-98BCB4B7BCC6}"/>
              </a:ext>
            </a:extLst>
          </p:cNvPr>
          <p:cNvSpPr txBox="1">
            <a:spLocks/>
          </p:cNvSpPr>
          <p:nvPr/>
        </p:nvSpPr>
        <p:spPr>
          <a:xfrm>
            <a:off x="8374268" y="1564103"/>
            <a:ext cx="3472006" cy="1430766"/>
          </a:xfrm>
          <a:prstGeom prst="rect">
            <a:avLst/>
          </a:prstGeom>
          <a:ln w="57150">
            <a:solidFill>
              <a:srgbClr val="218317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3.: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the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convergence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of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traits</a:t>
            </a:r>
            <a:r>
              <a:rPr lang="es-ES" sz="1800" dirty="0">
                <a:latin typeface="Helvetica"/>
                <a:cs typeface="Helvetica"/>
              </a:rPr>
              <a:t> and </a:t>
            </a:r>
            <a:r>
              <a:rPr lang="es-ES" sz="1800" dirty="0" err="1">
                <a:latin typeface="Helvetica"/>
                <a:cs typeface="Helvetica"/>
              </a:rPr>
              <a:t>the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coordination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between</a:t>
            </a:r>
            <a:r>
              <a:rPr lang="es-ES" sz="1800" dirty="0">
                <a:latin typeface="Helvetica"/>
                <a:cs typeface="Helvetica"/>
              </a:rPr>
              <a:t> responses in </a:t>
            </a:r>
            <a:r>
              <a:rPr lang="es-ES" sz="1800" dirty="0" err="1">
                <a:latin typeface="Helvetica"/>
                <a:cs typeface="Helvetica"/>
              </a:rPr>
              <a:t>healthy</a:t>
            </a:r>
            <a:r>
              <a:rPr lang="es-ES" sz="1800" dirty="0">
                <a:latin typeface="Helvetica"/>
                <a:cs typeface="Helvetica"/>
              </a:rPr>
              <a:t> vs. </a:t>
            </a:r>
            <a:r>
              <a:rPr lang="es-ES" sz="1800" dirty="0" err="1">
                <a:latin typeface="Helvetica"/>
                <a:cs typeface="Helvetica"/>
              </a:rPr>
              <a:t>damaged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trees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696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7F21-1BC3-58B7-C745-2A6CDB76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D2A7F3A-5D92-B637-7E53-8726C79BA350}"/>
              </a:ext>
            </a:extLst>
          </p:cNvPr>
          <p:cNvSpPr txBox="1">
            <a:spLocks/>
          </p:cNvSpPr>
          <p:nvPr/>
        </p:nvSpPr>
        <p:spPr>
          <a:xfrm>
            <a:off x="1354388" y="2694491"/>
            <a:ext cx="3242000" cy="2223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Field data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02/2023 – 09/2023</a:t>
            </a: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999C6EA-7AE8-D840-9E31-A752303D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AA2A6D-DB68-AD63-0A06-EA976E24DC0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D7DC10-0A24-5913-467C-1DEA0F80E6D2}"/>
              </a:ext>
            </a:extLst>
          </p:cNvPr>
          <p:cNvSpPr txBox="1">
            <a:spLocks/>
          </p:cNvSpPr>
          <p:nvPr/>
        </p:nvSpPr>
        <p:spPr>
          <a:xfrm>
            <a:off x="1354388" y="5382902"/>
            <a:ext cx="3927650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b="1" dirty="0">
                <a:latin typeface="Helvetica"/>
                <a:cs typeface="Helvetica"/>
              </a:rPr>
              <a:t>14 sites, 91 </a:t>
            </a:r>
            <a:r>
              <a:rPr lang="es-ES" b="1" dirty="0" err="1">
                <a:latin typeface="Helvetica"/>
                <a:cs typeface="Helvetica"/>
              </a:rPr>
              <a:t>plots</a:t>
            </a:r>
            <a:r>
              <a:rPr lang="es-ES" b="1" dirty="0">
                <a:latin typeface="Helvetica"/>
                <a:cs typeface="Helvetica"/>
              </a:rPr>
              <a:t> </a:t>
            </a:r>
          </a:p>
          <a:p>
            <a:pPr marL="0" indent="0" algn="ctr">
              <a:buClr>
                <a:srgbClr val="218317"/>
              </a:buClr>
              <a:buNone/>
            </a:pPr>
            <a:r>
              <a:rPr lang="es-ES" b="1" dirty="0">
                <a:solidFill>
                  <a:srgbClr val="FF0000"/>
                </a:solidFill>
                <a:latin typeface="Helvetica"/>
                <a:cs typeface="Helvetica"/>
              </a:rPr>
              <a:t>462 target </a:t>
            </a:r>
            <a:r>
              <a:rPr lang="es-ES" b="1" dirty="0" err="1">
                <a:solidFill>
                  <a:srgbClr val="FF0000"/>
                </a:solidFill>
                <a:latin typeface="Helvetica"/>
                <a:cs typeface="Helvetica"/>
              </a:rPr>
              <a:t>trees</a:t>
            </a:r>
            <a:endParaRPr lang="es-ES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890B8ACB-5314-6A10-2AB3-9ECB817D1B6C}"/>
              </a:ext>
            </a:extLst>
          </p:cNvPr>
          <p:cNvSpPr txBox="1">
            <a:spLocks/>
          </p:cNvSpPr>
          <p:nvPr/>
        </p:nvSpPr>
        <p:spPr>
          <a:xfrm>
            <a:off x="127518" y="990543"/>
            <a:ext cx="4976327" cy="13550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buClr>
                <a:srgbClr val="218317"/>
              </a:buClr>
              <a:buNone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Fig. 1.: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sites in Iberia.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Coloured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distribution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each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algn="just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F2859508-218F-C191-3C74-ABD62487DB27}"/>
              </a:ext>
            </a:extLst>
          </p:cNvPr>
          <p:cNvSpPr txBox="1"/>
          <p:nvPr/>
        </p:nvSpPr>
        <p:spPr>
          <a:xfrm>
            <a:off x="7961077" y="6346740"/>
            <a:ext cx="47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Fig. 1 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53CA13-1B33-9875-B0D0-8E108C0BC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3"/>
          <a:stretch>
            <a:fillRect/>
          </a:stretch>
        </p:blipFill>
        <p:spPr>
          <a:xfrm>
            <a:off x="6298701" y="804155"/>
            <a:ext cx="3927649" cy="600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74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B4EC-E283-5677-91B8-01AB140D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0557B1E9-74A8-C0C5-AD5B-AA26E6A91D29}"/>
              </a:ext>
            </a:extLst>
          </p:cNvPr>
          <p:cNvGrpSpPr/>
          <p:nvPr/>
        </p:nvGrpSpPr>
        <p:grpSpPr>
          <a:xfrm>
            <a:off x="8527188" y="3944761"/>
            <a:ext cx="3477754" cy="1250117"/>
            <a:chOff x="1139560" y="5095351"/>
            <a:chExt cx="3477754" cy="1250117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95D803EB-ABFC-2B48-4BBB-B4D3D82F3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62EDC70A-6C9F-A939-3CEC-DA2DEB707299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C373739-D140-0D69-94A9-07D1DDD39ACD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D4A7DB54-4178-5298-6B51-7E7A57B25860}"/>
              </a:ext>
            </a:extLst>
          </p:cNvPr>
          <p:cNvGrpSpPr/>
          <p:nvPr/>
        </p:nvGrpSpPr>
        <p:grpSpPr>
          <a:xfrm>
            <a:off x="635710" y="1091933"/>
            <a:ext cx="3761427" cy="5167267"/>
            <a:chOff x="6872115" y="927995"/>
            <a:chExt cx="4007741" cy="5167267"/>
          </a:xfrm>
        </p:grpSpPr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1786FCCD-55EC-DFC5-277E-AF1DDBF94257}"/>
                </a:ext>
              </a:extLst>
            </p:cNvPr>
            <p:cNvCxnSpPr>
              <a:cxnSpLocks/>
            </p:cNvCxnSpPr>
            <p:nvPr/>
          </p:nvCxnSpPr>
          <p:spPr>
            <a:xfrm>
              <a:off x="7208697" y="1279802"/>
              <a:ext cx="32926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uadroTexto 18">
              <a:extLst>
                <a:ext uri="{FF2B5EF4-FFF2-40B4-BE49-F238E27FC236}">
                  <a16:creationId xmlns:a16="http://schemas.microsoft.com/office/drawing/2014/main" id="{E88B7465-25BC-FAB4-8CFF-2E7A84028AB2}"/>
                </a:ext>
              </a:extLst>
            </p:cNvPr>
            <p:cNvSpPr txBox="1"/>
            <p:nvPr/>
          </p:nvSpPr>
          <p:spPr>
            <a:xfrm>
              <a:off x="8456917" y="927995"/>
              <a:ext cx="911247" cy="373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829" dirty="0">
                  <a:latin typeface="Arial" panose="020B0604020202020204" pitchFamily="34" charset="0"/>
                  <a:cs typeface="Arial" panose="020B0604020202020204" pitchFamily="34" charset="0"/>
                </a:rPr>
                <a:t>34 m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0E7678A-7A50-7275-0F35-F468D9323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2115" y="1563478"/>
              <a:ext cx="4007741" cy="4531784"/>
            </a:xfrm>
            <a:prstGeom prst="rect">
              <a:avLst/>
            </a:prstGeom>
          </p:spPr>
        </p:pic>
      </p:grpSp>
      <p:sp>
        <p:nvSpPr>
          <p:cNvPr id="9" name="CuadroTexto 10">
            <a:extLst>
              <a:ext uri="{FF2B5EF4-FFF2-40B4-BE49-F238E27FC236}">
                <a16:creationId xmlns:a16="http://schemas.microsoft.com/office/drawing/2014/main" id="{BFC4E210-0B8F-7818-4DEA-F8337C5EB8D4}"/>
              </a:ext>
            </a:extLst>
          </p:cNvPr>
          <p:cNvSpPr txBox="1"/>
          <p:nvPr/>
        </p:nvSpPr>
        <p:spPr>
          <a:xfrm>
            <a:off x="4843220" y="1091933"/>
            <a:ext cx="522566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Mature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0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Regeneration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0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Shrub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0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cover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4.- Target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sz="20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LWC 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(C, N, O)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data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Gráfico 11" descr="Abeto">
            <a:extLst>
              <a:ext uri="{FF2B5EF4-FFF2-40B4-BE49-F238E27FC236}">
                <a16:creationId xmlns:a16="http://schemas.microsoft.com/office/drawing/2014/main" id="{545A1811-C8ED-7AF6-9FB7-C0AAABC35A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26902" y="2389013"/>
            <a:ext cx="914400" cy="914400"/>
          </a:xfrm>
          <a:prstGeom prst="rect">
            <a:avLst/>
          </a:prstGeom>
        </p:spPr>
      </p:pic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89ECA156-2E40-F0AE-D17C-B2DCEA8419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183" y="2746686"/>
            <a:ext cx="914400" cy="914400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3B199FEF-6E3B-64F7-ABE6-499676A58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3867" y="3030361"/>
            <a:ext cx="914400" cy="914400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F1C2D211-15A5-69E5-AA50-E3C085ECC3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7058" y="4127146"/>
            <a:ext cx="914400" cy="914400"/>
          </a:xfrm>
          <a:prstGeom prst="rect">
            <a:avLst/>
          </a:prstGeom>
        </p:spPr>
      </p:pic>
      <p:pic>
        <p:nvPicPr>
          <p:cNvPr id="16" name="Gráfico 15" descr="Abeto">
            <a:extLst>
              <a:ext uri="{FF2B5EF4-FFF2-40B4-BE49-F238E27FC236}">
                <a16:creationId xmlns:a16="http://schemas.microsoft.com/office/drawing/2014/main" id="{7A90B577-9218-845B-73D1-20C0BB8C1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8353" y="4224808"/>
            <a:ext cx="914400" cy="91440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DB7A46D-91B8-F459-9835-65013F61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5782E1E-BC36-63F5-4AA7-2039232E13E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76D248D-9F25-84D8-B8A3-89EC232E95B6}"/>
              </a:ext>
            </a:extLst>
          </p:cNvPr>
          <p:cNvGrpSpPr/>
          <p:nvPr/>
        </p:nvGrpSpPr>
        <p:grpSpPr>
          <a:xfrm>
            <a:off x="8825518" y="5542858"/>
            <a:ext cx="2875680" cy="1152743"/>
            <a:chOff x="8825518" y="5542858"/>
            <a:chExt cx="2875680" cy="115274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D201203-071A-C2E3-5D3A-0A6CF5D36CF3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10" name="Graphic 9" descr="Fir tree">
                <a:extLst>
                  <a:ext uri="{FF2B5EF4-FFF2-40B4-BE49-F238E27FC236}">
                    <a16:creationId xmlns:a16="http://schemas.microsoft.com/office/drawing/2014/main" id="{32BA7E07-3B75-13D4-921B-EB0C959B4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5" name="Graphic 24" descr="Fir tree">
                <a:extLst>
                  <a:ext uri="{FF2B5EF4-FFF2-40B4-BE49-F238E27FC236}">
                    <a16:creationId xmlns:a16="http://schemas.microsoft.com/office/drawing/2014/main" id="{BEA5B649-231C-975C-973F-2D558FDB9A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6" name="Graphic 25" descr="Fir tree">
                <a:extLst>
                  <a:ext uri="{FF2B5EF4-FFF2-40B4-BE49-F238E27FC236}">
                    <a16:creationId xmlns:a16="http://schemas.microsoft.com/office/drawing/2014/main" id="{E38727BE-E930-9D33-1A62-99C9B4274C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27" name="CuadroTexto 18">
                <a:extLst>
                  <a:ext uri="{FF2B5EF4-FFF2-40B4-BE49-F238E27FC236}">
                    <a16:creationId xmlns:a16="http://schemas.microsoft.com/office/drawing/2014/main" id="{9EBBD99B-82E8-0014-69DF-9CC5F097DA04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8" name="CuadroTexto 18">
                <a:extLst>
                  <a:ext uri="{FF2B5EF4-FFF2-40B4-BE49-F238E27FC236}">
                    <a16:creationId xmlns:a16="http://schemas.microsoft.com/office/drawing/2014/main" id="{E8F3BEC9-AD73-7586-E030-1F7ECF043F35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31" name="CuadroTexto 18">
                <a:extLst>
                  <a:ext uri="{FF2B5EF4-FFF2-40B4-BE49-F238E27FC236}">
                    <a16:creationId xmlns:a16="http://schemas.microsoft.com/office/drawing/2014/main" id="{E68192D4-2BFF-1639-2C26-2DD453F1F17F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33" name="CuadroTexto 18">
              <a:extLst>
                <a:ext uri="{FF2B5EF4-FFF2-40B4-BE49-F238E27FC236}">
                  <a16:creationId xmlns:a16="http://schemas.microsoft.com/office/drawing/2014/main" id="{9E607D12-CE56-34FB-87B4-457A2A3A7DF4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34" name="CuadroTexto 18">
              <a:extLst>
                <a:ext uri="{FF2B5EF4-FFF2-40B4-BE49-F238E27FC236}">
                  <a16:creationId xmlns:a16="http://schemas.microsoft.com/office/drawing/2014/main" id="{37FA4B31-69C9-5E34-5C84-ED7884A4B977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1561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B835-B71E-2989-E7E7-A496A149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9B54AFA-0DF0-CB85-F678-98071C00F4C0}"/>
              </a:ext>
            </a:extLst>
          </p:cNvPr>
          <p:cNvSpPr txBox="1">
            <a:spLocks/>
          </p:cNvSpPr>
          <p:nvPr/>
        </p:nvSpPr>
        <p:spPr>
          <a:xfrm>
            <a:off x="883112" y="1248960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solidFill>
                  <a:srgbClr val="FF0000"/>
                </a:solidFill>
                <a:latin typeface="Helvetica"/>
                <a:cs typeface="Helvetica"/>
                <a:sym typeface="Wingdings" panose="05000000000000000000" pitchFamily="2" charset="2"/>
              </a:rPr>
              <a:t>growth</a:t>
            </a:r>
            <a:endParaRPr lang="es-ES" sz="2000" dirty="0">
              <a:solidFill>
                <a:srgbClr val="FF0000"/>
              </a:solidFill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solidFill>
                  <a:srgbClr val="FF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6A97FF-FF6A-EEE9-1CC0-AB48DB192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2FF20BA-0C7E-1C22-7F45-4CE624AEDEB1}"/>
              </a:ext>
            </a:extLst>
          </p:cNvPr>
          <p:cNvSpPr txBox="1">
            <a:spLocks/>
          </p:cNvSpPr>
          <p:nvPr/>
        </p:nvSpPr>
        <p:spPr>
          <a:xfrm>
            <a:off x="6683951" y="2123594"/>
            <a:ext cx="2563083" cy="16945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785EF0"/>
                </a:solidFill>
                <a:latin typeface="Helvetica"/>
                <a:cs typeface="Helvetica"/>
              </a:rPr>
              <a:t>Abies</a:t>
            </a:r>
            <a:r>
              <a:rPr lang="es-ES" sz="2400" i="1" dirty="0">
                <a:solidFill>
                  <a:srgbClr val="785EF0"/>
                </a:solidFill>
                <a:latin typeface="Helvetica"/>
                <a:cs typeface="Helvetica"/>
              </a:rPr>
              <a:t> alba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FFB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FFB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 err="1">
                <a:solidFill>
                  <a:srgbClr val="FFB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400" i="1" dirty="0">
              <a:solidFill>
                <a:srgbClr val="FFB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DC267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DC267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4AEED58-709F-898C-12A6-99AB65DAD3F8}"/>
              </a:ext>
            </a:extLst>
          </p:cNvPr>
          <p:cNvSpPr txBox="1">
            <a:spLocks/>
          </p:cNvSpPr>
          <p:nvPr/>
        </p:nvSpPr>
        <p:spPr>
          <a:xfrm>
            <a:off x="7965492" y="4578350"/>
            <a:ext cx="3672037" cy="1971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endParaRPr lang="es-ES" sz="2400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462 target </a:t>
            </a:r>
            <a:r>
              <a:rPr lang="es-ES" b="1" u="sng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C85E287-2566-DBE7-BD26-B22072E8579A}"/>
              </a:ext>
            </a:extLst>
          </p:cNvPr>
          <p:cNvSpPr txBox="1">
            <a:spLocks/>
          </p:cNvSpPr>
          <p:nvPr/>
        </p:nvSpPr>
        <p:spPr>
          <a:xfrm>
            <a:off x="7908218" y="2052059"/>
            <a:ext cx="3672037" cy="25262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785EF0"/>
                </a:solidFill>
                <a:latin typeface="Helvetica"/>
                <a:cs typeface="Helvetica"/>
              </a:rPr>
              <a:t>23 </a:t>
            </a:r>
            <a:r>
              <a:rPr lang="es-ES" sz="2400" dirty="0" err="1">
                <a:solidFill>
                  <a:srgbClr val="785EF0"/>
                </a:solidFill>
                <a:latin typeface="Helvetica"/>
                <a:cs typeface="Helvetica"/>
              </a:rPr>
              <a:t>plots</a:t>
            </a:r>
            <a:endParaRPr lang="es-ES" sz="2400" dirty="0">
              <a:solidFill>
                <a:srgbClr val="785EF0"/>
              </a:solidFill>
              <a:latin typeface="Helvetica"/>
              <a:cs typeface="Helvetica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FFB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51 </a:t>
            </a:r>
            <a:r>
              <a:rPr lang="es-ES" sz="2400" dirty="0" err="1">
                <a:solidFill>
                  <a:srgbClr val="FFB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FFB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DC267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17 </a:t>
            </a:r>
            <a:r>
              <a:rPr lang="es-ES" sz="2400" dirty="0" err="1">
                <a:solidFill>
                  <a:srgbClr val="DC267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DC267F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5 targets  x  91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D84DF4-2490-EB95-168F-DB742423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0EED7EC-8E57-6D07-021B-D020ECFE0CE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9495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204C-F11E-9B27-13A1-D01D21F6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34324-CEFD-1EFD-2467-7B61612321A3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vulnerability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factors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determining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through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C414708-B8E9-19C2-E949-7CED186D0D11}"/>
              </a:ext>
            </a:extLst>
          </p:cNvPr>
          <p:cNvSpPr txBox="1">
            <a:spLocks/>
          </p:cNvSpPr>
          <p:nvPr/>
        </p:nvSpPr>
        <p:spPr>
          <a:xfrm>
            <a:off x="623546" y="2776552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determine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A9F656-B91B-8B88-37C0-78549A7B183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8EBD559-FF21-01E8-287A-D770A4F85C2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ED41255-ED85-C941-16C7-80273695DD5E}"/>
              </a:ext>
            </a:extLst>
          </p:cNvPr>
          <p:cNvGrpSpPr/>
          <p:nvPr/>
        </p:nvGrpSpPr>
        <p:grpSpPr>
          <a:xfrm>
            <a:off x="443946" y="4487957"/>
            <a:ext cx="3477754" cy="1250117"/>
            <a:chOff x="1139560" y="5095351"/>
            <a:chExt cx="3477754" cy="1250117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5D17402-96E9-A56B-30C4-8061982E6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7FF3BC9-79A4-4A97-EB19-18CB43D3097D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FAD85D67-8A8A-77BB-35F9-E448677F08EF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65870FF-B459-DCA3-41CF-63F2ABE21636}"/>
              </a:ext>
            </a:extLst>
          </p:cNvPr>
          <p:cNvGrpSpPr/>
          <p:nvPr/>
        </p:nvGrpSpPr>
        <p:grpSpPr>
          <a:xfrm>
            <a:off x="8672943" y="4487957"/>
            <a:ext cx="2875680" cy="1152743"/>
            <a:chOff x="8825518" y="5542858"/>
            <a:chExt cx="2875680" cy="115274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443AA4B-A644-130F-74CE-1DFDBA65E27A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26" name="Graphic 25" descr="Fir tree">
                <a:extLst>
                  <a:ext uri="{FF2B5EF4-FFF2-40B4-BE49-F238E27FC236}">
                    <a16:creationId xmlns:a16="http://schemas.microsoft.com/office/drawing/2014/main" id="{8D9BF976-B439-4C14-B63A-3E6FE79A4B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7" name="Graphic 26" descr="Fir tree">
                <a:extLst>
                  <a:ext uri="{FF2B5EF4-FFF2-40B4-BE49-F238E27FC236}">
                    <a16:creationId xmlns:a16="http://schemas.microsoft.com/office/drawing/2014/main" id="{E3C40F78-0751-D86A-B3EA-33C418452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8" name="Graphic 27" descr="Fir tree">
                <a:extLst>
                  <a:ext uri="{FF2B5EF4-FFF2-40B4-BE49-F238E27FC236}">
                    <a16:creationId xmlns:a16="http://schemas.microsoft.com/office/drawing/2014/main" id="{2FDAB93C-D12C-A416-ED63-5B0810EE0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29" name="CuadroTexto 18">
                <a:extLst>
                  <a:ext uri="{FF2B5EF4-FFF2-40B4-BE49-F238E27FC236}">
                    <a16:creationId xmlns:a16="http://schemas.microsoft.com/office/drawing/2014/main" id="{C457AAD2-2E55-7C9E-293A-B9EC31FE529B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30" name="CuadroTexto 18">
                <a:extLst>
                  <a:ext uri="{FF2B5EF4-FFF2-40B4-BE49-F238E27FC236}">
                    <a16:creationId xmlns:a16="http://schemas.microsoft.com/office/drawing/2014/main" id="{B225D429-BB24-52D2-45DC-5C26B9FDD0AD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31" name="CuadroTexto 18">
                <a:extLst>
                  <a:ext uri="{FF2B5EF4-FFF2-40B4-BE49-F238E27FC236}">
                    <a16:creationId xmlns:a16="http://schemas.microsoft.com/office/drawing/2014/main" id="{760922C4-CEEA-D90E-F54E-6EF8B90B5850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24" name="CuadroTexto 18">
              <a:extLst>
                <a:ext uri="{FF2B5EF4-FFF2-40B4-BE49-F238E27FC236}">
                  <a16:creationId xmlns:a16="http://schemas.microsoft.com/office/drawing/2014/main" id="{BAFA57A6-8B01-1E71-72FF-ADB91C164976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25" name="CuadroTexto 18">
              <a:extLst>
                <a:ext uri="{FF2B5EF4-FFF2-40B4-BE49-F238E27FC236}">
                  <a16:creationId xmlns:a16="http://schemas.microsoft.com/office/drawing/2014/main" id="{0C367D32-14C0-0BA2-768B-7F3EFB9005D0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9F8E907-7A83-FE6B-9B43-609DC0943302}"/>
              </a:ext>
            </a:extLst>
          </p:cNvPr>
          <p:cNvGrpSpPr/>
          <p:nvPr/>
        </p:nvGrpSpPr>
        <p:grpSpPr>
          <a:xfrm>
            <a:off x="4286220" y="4466362"/>
            <a:ext cx="3619560" cy="1271459"/>
            <a:chOff x="3495617" y="5492674"/>
            <a:chExt cx="3619560" cy="1271459"/>
          </a:xfrm>
        </p:grpSpPr>
        <p:pic>
          <p:nvPicPr>
            <p:cNvPr id="33" name="Gráfico 12" descr="Abeto">
              <a:extLst>
                <a:ext uri="{FF2B5EF4-FFF2-40B4-BE49-F238E27FC236}">
                  <a16:creationId xmlns:a16="http://schemas.microsoft.com/office/drawing/2014/main" id="{3BC31B9D-171B-E347-CDD4-F3BD4A9D2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39430" y="5492675"/>
              <a:ext cx="618077" cy="618077"/>
            </a:xfrm>
            <a:prstGeom prst="rect">
              <a:avLst/>
            </a:prstGeom>
          </p:spPr>
        </p:pic>
        <p:pic>
          <p:nvPicPr>
            <p:cNvPr id="34" name="Gráfico 13" descr="Abeto">
              <a:extLst>
                <a:ext uri="{FF2B5EF4-FFF2-40B4-BE49-F238E27FC236}">
                  <a16:creationId xmlns:a16="http://schemas.microsoft.com/office/drawing/2014/main" id="{5C9F6577-8734-19F6-6EFA-862CAA1C0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954479" y="5497846"/>
              <a:ext cx="618077" cy="618077"/>
            </a:xfrm>
            <a:prstGeom prst="rect">
              <a:avLst/>
            </a:prstGeom>
          </p:spPr>
        </p:pic>
        <p:pic>
          <p:nvPicPr>
            <p:cNvPr id="35" name="Gráfico 14" descr="Abeto">
              <a:extLst>
                <a:ext uri="{FF2B5EF4-FFF2-40B4-BE49-F238E27FC236}">
                  <a16:creationId xmlns:a16="http://schemas.microsoft.com/office/drawing/2014/main" id="{4CB8096A-9AC8-59C1-F082-4254863F5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019396" y="5492674"/>
              <a:ext cx="618077" cy="618077"/>
            </a:xfrm>
            <a:prstGeom prst="rect">
              <a:avLst/>
            </a:prstGeom>
          </p:spPr>
        </p:pic>
        <p:sp>
          <p:nvSpPr>
            <p:cNvPr id="36" name="Marcador de contenido 2">
              <a:extLst>
                <a:ext uri="{FF2B5EF4-FFF2-40B4-BE49-F238E27FC236}">
                  <a16:creationId xmlns:a16="http://schemas.microsoft.com/office/drawing/2014/main" id="{38120DF7-1494-7262-30A2-E86C28F458C9}"/>
                </a:ext>
              </a:extLst>
            </p:cNvPr>
            <p:cNvSpPr txBox="1">
              <a:spLocks/>
            </p:cNvSpPr>
            <p:nvPr/>
          </p:nvSpPr>
          <p:spPr>
            <a:xfrm>
              <a:off x="3495617" y="6211458"/>
              <a:ext cx="1305702" cy="5502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Abies</a:t>
              </a:r>
              <a:r>
                <a:rPr lang="es-ES" sz="1200" i="1" dirty="0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 alba </a:t>
              </a:r>
              <a:r>
                <a:rPr lang="es-ES" sz="1200" dirty="0" err="1">
                  <a:solidFill>
                    <a:srgbClr val="785EF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7" name="Marcador de contenido 2">
              <a:extLst>
                <a:ext uri="{FF2B5EF4-FFF2-40B4-BE49-F238E27FC236}">
                  <a16:creationId xmlns:a16="http://schemas.microsoft.com/office/drawing/2014/main" id="{BAA3C433-81D8-7CA6-D0E1-B340ADD1D030}"/>
                </a:ext>
              </a:extLst>
            </p:cNvPr>
            <p:cNvSpPr txBox="1">
              <a:spLocks/>
            </p:cNvSpPr>
            <p:nvPr/>
          </p:nvSpPr>
          <p:spPr>
            <a:xfrm>
              <a:off x="4488565" y="6215039"/>
              <a:ext cx="1549903" cy="5490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sylvestris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dirty="0" err="1">
                  <a:solidFill>
                    <a:srgbClr val="FFB00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8" name="Marcador de contenido 2">
              <a:extLst>
                <a:ext uri="{FF2B5EF4-FFF2-40B4-BE49-F238E27FC236}">
                  <a16:creationId xmlns:a16="http://schemas.microsoft.com/office/drawing/2014/main" id="{2B45DB06-7506-F58B-0040-D76EA09F2AC8}"/>
                </a:ext>
              </a:extLst>
            </p:cNvPr>
            <p:cNvSpPr txBox="1">
              <a:spLocks/>
            </p:cNvSpPr>
            <p:nvPr/>
          </p:nvSpPr>
          <p:spPr>
            <a:xfrm>
              <a:off x="5541690" y="6209867"/>
              <a:ext cx="1573487" cy="545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s-ES" sz="1100" i="1" dirty="0" err="1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100" i="1" dirty="0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 pinea </a:t>
              </a:r>
              <a:r>
                <a:rPr lang="es-ES" sz="1100" dirty="0" err="1">
                  <a:solidFill>
                    <a:srgbClr val="DC267F"/>
                  </a:solidFill>
                  <a:latin typeface="Helvetica" panose="020B0604020202020204"/>
                  <a:cs typeface="Helvetica" panose="020B0604020202020204"/>
                </a:rPr>
                <a:t>Mediterranean</a:t>
              </a:r>
              <a:endParaRPr lang="es-ES" sz="1100" dirty="0">
                <a:solidFill>
                  <a:srgbClr val="DC267F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9" name="CuadroTexto 18">
              <a:extLst>
                <a:ext uri="{FF2B5EF4-FFF2-40B4-BE49-F238E27FC236}">
                  <a16:creationId xmlns:a16="http://schemas.microsoft.com/office/drawing/2014/main" id="{22FB198E-053B-E705-AE4F-C2CB980F0A38}"/>
                </a:ext>
              </a:extLst>
            </p:cNvPr>
            <p:cNvSpPr txBox="1"/>
            <p:nvPr/>
          </p:nvSpPr>
          <p:spPr>
            <a:xfrm>
              <a:off x="4296135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40" name="CuadroTexto 18">
              <a:extLst>
                <a:ext uri="{FF2B5EF4-FFF2-40B4-BE49-F238E27FC236}">
                  <a16:creationId xmlns:a16="http://schemas.microsoft.com/office/drawing/2014/main" id="{077E74DB-829B-E229-5FA7-B4EA4667CB1D}"/>
                </a:ext>
              </a:extLst>
            </p:cNvPr>
            <p:cNvSpPr txBox="1"/>
            <p:nvPr/>
          </p:nvSpPr>
          <p:spPr>
            <a:xfrm>
              <a:off x="5391386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4222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D7E4-D331-675E-633E-A5F0F37A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7AC64E-6013-908B-301B-6ABF5F510488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10465002" cy="15489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 panose="020B0604020202020204"/>
                <a:cs typeface="Helvetica"/>
              </a:rPr>
              <a:t>. 1.- 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To assess the underlying processes behind tree dieback by </a:t>
            </a:r>
            <a:r>
              <a:rPr lang="en-US" sz="2400" dirty="0" err="1">
                <a:latin typeface="Helvetica" panose="020B0604020202020204"/>
                <a:cs typeface="Helvetica" panose="020B0604020202020204"/>
              </a:rPr>
              <a:t>characterising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 predisposing factors and the morphological and physiological responses to drought</a:t>
            </a:r>
            <a:endParaRPr lang="es-ES" sz="2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B95DEED-31A7-D314-C668-90CD69061438}"/>
              </a:ext>
            </a:extLst>
          </p:cNvPr>
          <p:cNvSpPr txBox="1">
            <a:spLocks/>
          </p:cNvSpPr>
          <p:nvPr/>
        </p:nvSpPr>
        <p:spPr>
          <a:xfrm>
            <a:off x="623545" y="2050140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resilience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be </a:t>
            </a:r>
            <a:r>
              <a:rPr lang="es-ES" sz="2400" i="1" dirty="0" err="1">
                <a:latin typeface="Helvetica"/>
                <a:cs typeface="Helvetica"/>
              </a:rPr>
              <a:t>main</a:t>
            </a:r>
            <a:r>
              <a:rPr lang="es-ES" sz="2400" i="1" dirty="0">
                <a:latin typeface="Helvetica"/>
                <a:cs typeface="Helvetica"/>
              </a:rPr>
              <a:t> drivers </a:t>
            </a:r>
            <a:r>
              <a:rPr lang="es-ES" sz="2400" i="1" dirty="0" err="1">
                <a:latin typeface="Helvetica"/>
                <a:cs typeface="Helvetica"/>
              </a:rPr>
              <a:t>for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mortality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991C1F3-927E-0A5B-823D-083C690381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2B30C19-F59E-C526-9CA2-5F4EEDCFA1C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EC3B70F2-E30A-36DE-F606-69C112A48A9A}"/>
              </a:ext>
            </a:extLst>
          </p:cNvPr>
          <p:cNvSpPr txBox="1">
            <a:spLocks/>
          </p:cNvSpPr>
          <p:nvPr/>
        </p:nvSpPr>
        <p:spPr>
          <a:xfrm>
            <a:off x="643378" y="2969723"/>
            <a:ext cx="11206500" cy="32937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</a:rPr>
              <a:t>Size</a:t>
            </a:r>
            <a:r>
              <a:rPr lang="es-ES" sz="2000" b="1" dirty="0">
                <a:latin typeface="Helvetica"/>
                <a:cs typeface="Helvetica"/>
              </a:rPr>
              <a:t>: </a:t>
            </a:r>
            <a:r>
              <a:rPr lang="es-ES" sz="2000" b="1" dirty="0" err="1">
                <a:latin typeface="Helvetica"/>
                <a:cs typeface="Helvetica"/>
              </a:rPr>
              <a:t>bigger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trees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will</a:t>
            </a:r>
            <a:r>
              <a:rPr lang="es-ES" sz="2000" dirty="0">
                <a:latin typeface="Helvetica"/>
                <a:cs typeface="Helvetica"/>
              </a:rPr>
              <a:t> be more vulnerable </a:t>
            </a:r>
            <a:r>
              <a:rPr lang="es-ES" sz="2000" dirty="0" err="1">
                <a:latin typeface="Helvetica"/>
                <a:cs typeface="Helvetica"/>
              </a:rPr>
              <a:t>due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to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hydraulic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limitations</a:t>
            </a:r>
            <a:r>
              <a:rPr lang="es-ES" sz="2000" dirty="0">
                <a:latin typeface="Helvetica"/>
                <a:cs typeface="Helvetica"/>
              </a:rPr>
              <a:t> (</a:t>
            </a:r>
            <a:r>
              <a:rPr lang="es-ES" sz="2000" dirty="0" err="1">
                <a:latin typeface="Helvetica"/>
                <a:cs typeface="Helvetica"/>
              </a:rPr>
              <a:t>increased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hydraulic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resistance</a:t>
            </a:r>
            <a:r>
              <a:rPr lang="es-ES" sz="2000" dirty="0">
                <a:latin typeface="Helvetica"/>
                <a:cs typeface="Helvetica"/>
              </a:rPr>
              <a:t>)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height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,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age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dbh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0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</a:rPr>
              <a:t>Growth</a:t>
            </a:r>
            <a:r>
              <a:rPr lang="es-ES" sz="2000" b="1" dirty="0">
                <a:latin typeface="Helvetica"/>
                <a:cs typeface="Helvetica"/>
              </a:rPr>
              <a:t>: </a:t>
            </a:r>
            <a:r>
              <a:rPr lang="es-ES" sz="2000" dirty="0" err="1">
                <a:latin typeface="Helvetica"/>
                <a:cs typeface="Helvetica"/>
              </a:rPr>
              <a:t>we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expect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b="1" dirty="0">
                <a:latin typeface="Helvetica"/>
                <a:cs typeface="Helvetica"/>
              </a:rPr>
              <a:t>a </a:t>
            </a:r>
            <a:r>
              <a:rPr lang="es-ES" sz="2000" b="1" dirty="0" err="1">
                <a:latin typeface="Helvetica"/>
                <a:cs typeface="Helvetica"/>
              </a:rPr>
              <a:t>reduced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growth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trend</a:t>
            </a:r>
            <a:r>
              <a:rPr lang="es-ES" sz="2000" b="1" dirty="0">
                <a:latin typeface="Helvetica"/>
                <a:cs typeface="Helvetica"/>
              </a:rPr>
              <a:t>, and </a:t>
            </a:r>
            <a:r>
              <a:rPr lang="es-ES" sz="2000" b="1" dirty="0" err="1">
                <a:latin typeface="Helvetica"/>
                <a:cs typeface="Helvetica"/>
              </a:rPr>
              <a:t>resilience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↓ BAI,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Rt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Rs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0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</a:p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traits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a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higher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SLA leads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faster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loss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↑ SLA in </a:t>
            </a:r>
            <a:r>
              <a:rPr lang="es-ES" sz="20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</a:rPr>
              <a:t>Competition</a:t>
            </a:r>
            <a:r>
              <a:rPr lang="es-ES" sz="2000" b="1" dirty="0">
                <a:latin typeface="Helvetica"/>
                <a:cs typeface="Helvetica"/>
              </a:rPr>
              <a:t>: </a:t>
            </a:r>
            <a:r>
              <a:rPr lang="es-ES" sz="2000" dirty="0" err="1">
                <a:latin typeface="Helvetica"/>
                <a:cs typeface="Helvetica"/>
              </a:rPr>
              <a:t>competition</a:t>
            </a:r>
            <a:r>
              <a:rPr lang="es-ES" sz="2000" dirty="0">
                <a:latin typeface="Helvetica"/>
                <a:cs typeface="Helvetica"/>
              </a:rPr>
              <a:t> reduces </a:t>
            </a: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availability</a:t>
            </a:r>
            <a:r>
              <a:rPr lang="es-ES" sz="2000" dirty="0">
                <a:latin typeface="Helvetica"/>
                <a:cs typeface="Helvetica"/>
              </a:rPr>
              <a:t> per </a:t>
            </a: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and </a:t>
            </a:r>
            <a:r>
              <a:rPr lang="es-ES" sz="2000" dirty="0" err="1">
                <a:latin typeface="Helvetica"/>
                <a:cs typeface="Helvetica"/>
              </a:rPr>
              <a:t>increases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interception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Hegyi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index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0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  <a:endParaRPr lang="es-ES" sz="20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0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56084E07-2C04-CD6D-31F4-50F1D21AE7B1}"/>
              </a:ext>
            </a:extLst>
          </p:cNvPr>
          <p:cNvSpPr txBox="1">
            <a:spLocks/>
          </p:cNvSpPr>
          <p:nvPr/>
        </p:nvSpPr>
        <p:spPr>
          <a:xfrm>
            <a:off x="694186" y="5806884"/>
            <a:ext cx="2198835" cy="1006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Figs. 2 &amp; 3.: </a:t>
            </a:r>
            <a:r>
              <a:rPr lang="es-ES" sz="2400" b="1" dirty="0" err="1">
                <a:latin typeface="Helvetica"/>
                <a:cs typeface="Helvetica"/>
              </a:rPr>
              <a:t>boxplots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525B71-26A7-E6DB-EB13-8694451E3C09}"/>
              </a:ext>
            </a:extLst>
          </p:cNvPr>
          <p:cNvGrpSpPr/>
          <p:nvPr/>
        </p:nvGrpSpPr>
        <p:grpSpPr>
          <a:xfrm>
            <a:off x="8622134" y="5385532"/>
            <a:ext cx="2875680" cy="1152743"/>
            <a:chOff x="8825518" y="5542858"/>
            <a:chExt cx="2875680" cy="115274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26722D9-E55D-6DCA-3AB5-17F57443F645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8" name="Graphic 7" descr="Fir tree">
                <a:extLst>
                  <a:ext uri="{FF2B5EF4-FFF2-40B4-BE49-F238E27FC236}">
                    <a16:creationId xmlns:a16="http://schemas.microsoft.com/office/drawing/2014/main" id="{F8BFA88E-736F-3A39-C292-59D530B1C3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1" name="Graphic 10" descr="Fir tree">
                <a:extLst>
                  <a:ext uri="{FF2B5EF4-FFF2-40B4-BE49-F238E27FC236}">
                    <a16:creationId xmlns:a16="http://schemas.microsoft.com/office/drawing/2014/main" id="{F7D03F6B-D7BE-493D-409F-9E28D3F876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2" name="Graphic 11" descr="Fir tree">
                <a:extLst>
                  <a:ext uri="{FF2B5EF4-FFF2-40B4-BE49-F238E27FC236}">
                    <a16:creationId xmlns:a16="http://schemas.microsoft.com/office/drawing/2014/main" id="{527162CA-F1EC-7265-8138-B4CB41A270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13" name="CuadroTexto 18">
                <a:extLst>
                  <a:ext uri="{FF2B5EF4-FFF2-40B4-BE49-F238E27FC236}">
                    <a16:creationId xmlns:a16="http://schemas.microsoft.com/office/drawing/2014/main" id="{6674A91C-0D5D-3B3E-1031-586526062C84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14" name="CuadroTexto 18">
                <a:extLst>
                  <a:ext uri="{FF2B5EF4-FFF2-40B4-BE49-F238E27FC236}">
                    <a16:creationId xmlns:a16="http://schemas.microsoft.com/office/drawing/2014/main" id="{4CBB9EAE-C1C3-8D95-9687-15470F2CAD66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15" name="CuadroTexto 18">
                <a:extLst>
                  <a:ext uri="{FF2B5EF4-FFF2-40B4-BE49-F238E27FC236}">
                    <a16:creationId xmlns:a16="http://schemas.microsoft.com/office/drawing/2014/main" id="{E652009E-A4AD-45E6-B172-0D80A4D3DC92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6" name="CuadroTexto 18">
              <a:extLst>
                <a:ext uri="{FF2B5EF4-FFF2-40B4-BE49-F238E27FC236}">
                  <a16:creationId xmlns:a16="http://schemas.microsoft.com/office/drawing/2014/main" id="{31BDD20F-B170-75FA-818C-29FAAEB68E11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7" name="CuadroTexto 18">
              <a:extLst>
                <a:ext uri="{FF2B5EF4-FFF2-40B4-BE49-F238E27FC236}">
                  <a16:creationId xmlns:a16="http://schemas.microsoft.com/office/drawing/2014/main" id="{E2E68C5B-FA29-8871-F126-2205319681B2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AB4415D-E508-B44C-517B-B995B9D8A17A}"/>
              </a:ext>
            </a:extLst>
          </p:cNvPr>
          <p:cNvGrpSpPr/>
          <p:nvPr/>
        </p:nvGrpSpPr>
        <p:grpSpPr>
          <a:xfrm>
            <a:off x="3495617" y="5492674"/>
            <a:ext cx="3619560" cy="1271459"/>
            <a:chOff x="3495617" y="5492674"/>
            <a:chExt cx="3619560" cy="1271459"/>
          </a:xfrm>
        </p:grpSpPr>
        <p:pic>
          <p:nvPicPr>
            <p:cNvPr id="22" name="Gráfico 12" descr="Abeto">
              <a:extLst>
                <a:ext uri="{FF2B5EF4-FFF2-40B4-BE49-F238E27FC236}">
                  <a16:creationId xmlns:a16="http://schemas.microsoft.com/office/drawing/2014/main" id="{AC02F84F-0C3B-51BE-4EC6-5C74C6637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39430" y="5492675"/>
              <a:ext cx="618077" cy="618077"/>
            </a:xfrm>
            <a:prstGeom prst="rect">
              <a:avLst/>
            </a:prstGeom>
          </p:spPr>
        </p:pic>
        <p:pic>
          <p:nvPicPr>
            <p:cNvPr id="23" name="Gráfico 13" descr="Abeto">
              <a:extLst>
                <a:ext uri="{FF2B5EF4-FFF2-40B4-BE49-F238E27FC236}">
                  <a16:creationId xmlns:a16="http://schemas.microsoft.com/office/drawing/2014/main" id="{2CED8C8A-412E-A858-C64A-AA4C828FC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954479" y="5497846"/>
              <a:ext cx="618077" cy="618077"/>
            </a:xfrm>
            <a:prstGeom prst="rect">
              <a:avLst/>
            </a:prstGeom>
          </p:spPr>
        </p:pic>
        <p:pic>
          <p:nvPicPr>
            <p:cNvPr id="24" name="Gráfico 14" descr="Abeto">
              <a:extLst>
                <a:ext uri="{FF2B5EF4-FFF2-40B4-BE49-F238E27FC236}">
                  <a16:creationId xmlns:a16="http://schemas.microsoft.com/office/drawing/2014/main" id="{D0E371E1-FF0C-2897-27EC-DAAE068B6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019396" y="5492674"/>
              <a:ext cx="618077" cy="618077"/>
            </a:xfrm>
            <a:prstGeom prst="rect">
              <a:avLst/>
            </a:prstGeom>
          </p:spPr>
        </p:pic>
        <p:sp>
          <p:nvSpPr>
            <p:cNvPr id="25" name="Marcador de contenido 2">
              <a:extLst>
                <a:ext uri="{FF2B5EF4-FFF2-40B4-BE49-F238E27FC236}">
                  <a16:creationId xmlns:a16="http://schemas.microsoft.com/office/drawing/2014/main" id="{E97A57E8-CFBD-F5AE-FC1A-518E6F114990}"/>
                </a:ext>
              </a:extLst>
            </p:cNvPr>
            <p:cNvSpPr txBox="1">
              <a:spLocks/>
            </p:cNvSpPr>
            <p:nvPr/>
          </p:nvSpPr>
          <p:spPr>
            <a:xfrm>
              <a:off x="3495617" y="6211458"/>
              <a:ext cx="1305702" cy="5502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Abies</a:t>
              </a:r>
              <a:r>
                <a:rPr lang="es-ES" sz="1200" i="1" dirty="0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 alba </a:t>
              </a:r>
              <a:r>
                <a:rPr lang="es-ES" sz="1200" dirty="0" err="1">
                  <a:solidFill>
                    <a:srgbClr val="785EF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26" name="Marcador de contenido 2">
              <a:extLst>
                <a:ext uri="{FF2B5EF4-FFF2-40B4-BE49-F238E27FC236}">
                  <a16:creationId xmlns:a16="http://schemas.microsoft.com/office/drawing/2014/main" id="{4610296F-889E-2FEA-7AFA-095562B99E94}"/>
                </a:ext>
              </a:extLst>
            </p:cNvPr>
            <p:cNvSpPr txBox="1">
              <a:spLocks/>
            </p:cNvSpPr>
            <p:nvPr/>
          </p:nvSpPr>
          <p:spPr>
            <a:xfrm>
              <a:off x="4488565" y="6215039"/>
              <a:ext cx="1549903" cy="5490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sylvestris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dirty="0" err="1">
                  <a:solidFill>
                    <a:srgbClr val="FFB00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27" name="Marcador de contenido 2">
              <a:extLst>
                <a:ext uri="{FF2B5EF4-FFF2-40B4-BE49-F238E27FC236}">
                  <a16:creationId xmlns:a16="http://schemas.microsoft.com/office/drawing/2014/main" id="{E5D78DD7-DADA-BF19-EF42-3C987C584762}"/>
                </a:ext>
              </a:extLst>
            </p:cNvPr>
            <p:cNvSpPr txBox="1">
              <a:spLocks/>
            </p:cNvSpPr>
            <p:nvPr/>
          </p:nvSpPr>
          <p:spPr>
            <a:xfrm>
              <a:off x="5541690" y="6209867"/>
              <a:ext cx="1573487" cy="545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s-ES" sz="1100" i="1" dirty="0" err="1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100" i="1" dirty="0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 pinea </a:t>
              </a:r>
              <a:r>
                <a:rPr lang="es-ES" sz="1100" dirty="0" err="1">
                  <a:solidFill>
                    <a:srgbClr val="DC267F"/>
                  </a:solidFill>
                  <a:latin typeface="Helvetica" panose="020B0604020202020204"/>
                  <a:cs typeface="Helvetica" panose="020B0604020202020204"/>
                </a:rPr>
                <a:t>Mediterranean</a:t>
              </a:r>
              <a:endParaRPr lang="es-ES" sz="1100" dirty="0">
                <a:solidFill>
                  <a:srgbClr val="DC267F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16" name="CuadroTexto 18">
              <a:extLst>
                <a:ext uri="{FF2B5EF4-FFF2-40B4-BE49-F238E27FC236}">
                  <a16:creationId xmlns:a16="http://schemas.microsoft.com/office/drawing/2014/main" id="{3518C806-9C9A-13B9-C080-B495F5078F77}"/>
                </a:ext>
              </a:extLst>
            </p:cNvPr>
            <p:cNvSpPr txBox="1"/>
            <p:nvPr/>
          </p:nvSpPr>
          <p:spPr>
            <a:xfrm>
              <a:off x="4296135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30" name="CuadroTexto 18">
              <a:extLst>
                <a:ext uri="{FF2B5EF4-FFF2-40B4-BE49-F238E27FC236}">
                  <a16:creationId xmlns:a16="http://schemas.microsoft.com/office/drawing/2014/main" id="{91FC8266-4AAC-F8B5-6525-3100475137A1}"/>
                </a:ext>
              </a:extLst>
            </p:cNvPr>
            <p:cNvSpPr txBox="1"/>
            <p:nvPr/>
          </p:nvSpPr>
          <p:spPr>
            <a:xfrm>
              <a:off x="5391386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6339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73334-2C83-86EA-F971-0B9265642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1531D4ED-68A9-CECB-ED15-4387DD59AD3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D1A1BFE-DC92-E0F0-8D46-80BECDF3116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3CA477B-6568-71AB-FBD0-613CC0134996}"/>
              </a:ext>
            </a:extLst>
          </p:cNvPr>
          <p:cNvSpPr txBox="1">
            <a:spLocks/>
          </p:cNvSpPr>
          <p:nvPr/>
        </p:nvSpPr>
        <p:spPr>
          <a:xfrm>
            <a:off x="633459" y="204158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H1.2.-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drought-induced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reduced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photosynthetic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pigments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concentrations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increased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iWUE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nutrients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allocation</a:t>
            </a:r>
            <a:endParaRPr lang="es-ES" sz="2400" i="1" dirty="0">
              <a:latin typeface="Helvetica"/>
              <a:cs typeface="Helvetica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8C25AC63-98C6-64BF-F6DD-B75119648688}"/>
              </a:ext>
            </a:extLst>
          </p:cNvPr>
          <p:cNvSpPr txBox="1">
            <a:spLocks/>
          </p:cNvSpPr>
          <p:nvPr/>
        </p:nvSpPr>
        <p:spPr>
          <a:xfrm>
            <a:off x="633459" y="2951923"/>
            <a:ext cx="10925077" cy="33991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</a:rPr>
              <a:t>Pigments</a:t>
            </a:r>
            <a:r>
              <a:rPr lang="es-ES" sz="2000" b="1" dirty="0">
                <a:latin typeface="Helvetica"/>
                <a:cs typeface="Helvetica"/>
              </a:rPr>
              <a:t>: </a:t>
            </a:r>
            <a:r>
              <a:rPr lang="en-US" sz="2000" dirty="0">
                <a:latin typeface="Helvetica"/>
                <a:cs typeface="Helvetica"/>
              </a:rPr>
              <a:t>water stress-induced increased ABA and ROS trigger upregulation of senescence-associated genes (SAG), and to damages to photosynthetic apparatus </a:t>
            </a:r>
            <a:r>
              <a:rPr lang="en-US" sz="20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↓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Pigments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endParaRPr lang="es-ES" sz="2000" b="1" dirty="0">
              <a:solidFill>
                <a:srgbClr val="C00000"/>
              </a:solidFill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</a:rPr>
              <a:t>iWUE</a:t>
            </a:r>
            <a:r>
              <a:rPr lang="es-ES" sz="2000" b="1" dirty="0">
                <a:latin typeface="Helvetica"/>
                <a:cs typeface="Helvetica"/>
              </a:rPr>
              <a:t>: </a:t>
            </a:r>
            <a:r>
              <a:rPr lang="es-ES" sz="2000" dirty="0" err="1">
                <a:latin typeface="Helvetica"/>
                <a:cs typeface="Helvetica"/>
              </a:rPr>
              <a:t>we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an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isohydric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behaviour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leading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to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stomatal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closure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l-GR" sz="20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000" b="1" baseline="30000" dirty="0">
                <a:latin typeface="Helvetica"/>
                <a:cs typeface="Helvetica"/>
                <a:sym typeface="Wingdings" panose="05000000000000000000" pitchFamily="2" charset="2"/>
              </a:rPr>
              <a:t>13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C and </a:t>
            </a:r>
            <a:r>
              <a:rPr lang="el-GR" sz="20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000" b="1" baseline="30000" dirty="0">
                <a:latin typeface="Helvetica"/>
                <a:cs typeface="Helvetica"/>
                <a:sym typeface="Wingdings" panose="05000000000000000000" pitchFamily="2" charset="2"/>
              </a:rPr>
              <a:t>18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O in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and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wood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tissue</a:t>
            </a:r>
            <a:endParaRPr lang="es-ES" sz="20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Nutrients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nutrient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allocation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due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drought-induced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reduced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nutrients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uptake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 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↓N </a:t>
            </a: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and ↑ C:N ratio in </a:t>
            </a:r>
            <a:r>
              <a:rPr lang="es-ES" sz="20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0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endParaRPr lang="es-ES" sz="20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0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7E0554-C1E2-14A8-189C-36E143C46AFE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10465002" cy="15489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 panose="020B0604020202020204"/>
                <a:cs typeface="Helvetica"/>
              </a:rPr>
              <a:t>. 1.- 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To assess the underlying processes behind tree dieback by </a:t>
            </a:r>
            <a:r>
              <a:rPr lang="en-US" sz="2400" dirty="0" err="1">
                <a:latin typeface="Helvetica" panose="020B0604020202020204"/>
                <a:cs typeface="Helvetica" panose="020B0604020202020204"/>
              </a:rPr>
              <a:t>characterising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 predisposing factors and the morphological and physiological responses to drought</a:t>
            </a:r>
            <a:endParaRPr lang="es-ES" sz="2400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571A3638-3094-E842-1213-49608A81FC26}"/>
              </a:ext>
            </a:extLst>
          </p:cNvPr>
          <p:cNvSpPr txBox="1">
            <a:spLocks/>
          </p:cNvSpPr>
          <p:nvPr/>
        </p:nvSpPr>
        <p:spPr>
          <a:xfrm>
            <a:off x="694186" y="5806884"/>
            <a:ext cx="2198835" cy="1006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Figs. 2 &amp; 3.: </a:t>
            </a:r>
            <a:r>
              <a:rPr lang="es-ES" sz="2400" b="1" dirty="0" err="1">
                <a:latin typeface="Helvetica"/>
                <a:cs typeface="Helvetica"/>
              </a:rPr>
              <a:t>boxplots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9FB03BC-80E2-AD8E-E0F9-1926B55CB7D9}"/>
              </a:ext>
            </a:extLst>
          </p:cNvPr>
          <p:cNvGrpSpPr/>
          <p:nvPr/>
        </p:nvGrpSpPr>
        <p:grpSpPr>
          <a:xfrm>
            <a:off x="8622134" y="5385532"/>
            <a:ext cx="2875680" cy="1152743"/>
            <a:chOff x="8825518" y="5542858"/>
            <a:chExt cx="2875680" cy="1152743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C1FFA8F-3BB8-5EF1-ECEB-DEC1E458BD29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33" name="Graphic 32" descr="Fir tree">
                <a:extLst>
                  <a:ext uri="{FF2B5EF4-FFF2-40B4-BE49-F238E27FC236}">
                    <a16:creationId xmlns:a16="http://schemas.microsoft.com/office/drawing/2014/main" id="{BB8B9CAD-3E0C-01D2-9152-06F015AE56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34" name="Graphic 33" descr="Fir tree">
                <a:extLst>
                  <a:ext uri="{FF2B5EF4-FFF2-40B4-BE49-F238E27FC236}">
                    <a16:creationId xmlns:a16="http://schemas.microsoft.com/office/drawing/2014/main" id="{3D3F961A-D5B3-1320-595D-074C87CFB5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35" name="Graphic 34" descr="Fir tree">
                <a:extLst>
                  <a:ext uri="{FF2B5EF4-FFF2-40B4-BE49-F238E27FC236}">
                    <a16:creationId xmlns:a16="http://schemas.microsoft.com/office/drawing/2014/main" id="{8DCFB6A1-7452-7C87-2B90-59E54E7416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36" name="CuadroTexto 18">
                <a:extLst>
                  <a:ext uri="{FF2B5EF4-FFF2-40B4-BE49-F238E27FC236}">
                    <a16:creationId xmlns:a16="http://schemas.microsoft.com/office/drawing/2014/main" id="{98F6CFB1-B5BC-A99F-2899-B4BEE2FB4C4F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37" name="CuadroTexto 18">
                <a:extLst>
                  <a:ext uri="{FF2B5EF4-FFF2-40B4-BE49-F238E27FC236}">
                    <a16:creationId xmlns:a16="http://schemas.microsoft.com/office/drawing/2014/main" id="{21390A24-3888-64F8-A843-4D1C427BBAAB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38" name="CuadroTexto 18">
                <a:extLst>
                  <a:ext uri="{FF2B5EF4-FFF2-40B4-BE49-F238E27FC236}">
                    <a16:creationId xmlns:a16="http://schemas.microsoft.com/office/drawing/2014/main" id="{204AA659-965A-D8FA-C83F-EF5A89240F21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31" name="CuadroTexto 18">
              <a:extLst>
                <a:ext uri="{FF2B5EF4-FFF2-40B4-BE49-F238E27FC236}">
                  <a16:creationId xmlns:a16="http://schemas.microsoft.com/office/drawing/2014/main" id="{4A1B1553-B574-B3AA-58D8-1A7454B51E54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32" name="CuadroTexto 18">
              <a:extLst>
                <a:ext uri="{FF2B5EF4-FFF2-40B4-BE49-F238E27FC236}">
                  <a16:creationId xmlns:a16="http://schemas.microsoft.com/office/drawing/2014/main" id="{BB1D0515-2076-49F3-BD63-FD46E4BC8EB0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DC06579-601D-BC08-C423-61DCE851E5EA}"/>
              </a:ext>
            </a:extLst>
          </p:cNvPr>
          <p:cNvGrpSpPr/>
          <p:nvPr/>
        </p:nvGrpSpPr>
        <p:grpSpPr>
          <a:xfrm>
            <a:off x="3495617" y="5492674"/>
            <a:ext cx="3619560" cy="1271459"/>
            <a:chOff x="3495617" y="5492674"/>
            <a:chExt cx="3619560" cy="1271459"/>
          </a:xfrm>
        </p:grpSpPr>
        <p:pic>
          <p:nvPicPr>
            <p:cNvPr id="40" name="Gráfico 12" descr="Abeto">
              <a:extLst>
                <a:ext uri="{FF2B5EF4-FFF2-40B4-BE49-F238E27FC236}">
                  <a16:creationId xmlns:a16="http://schemas.microsoft.com/office/drawing/2014/main" id="{ABAF2CD7-02B0-2A65-CB1A-90D051EFC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839430" y="5492675"/>
              <a:ext cx="618077" cy="618077"/>
            </a:xfrm>
            <a:prstGeom prst="rect">
              <a:avLst/>
            </a:prstGeom>
          </p:spPr>
        </p:pic>
        <p:pic>
          <p:nvPicPr>
            <p:cNvPr id="41" name="Gráfico 13" descr="Abeto">
              <a:extLst>
                <a:ext uri="{FF2B5EF4-FFF2-40B4-BE49-F238E27FC236}">
                  <a16:creationId xmlns:a16="http://schemas.microsoft.com/office/drawing/2014/main" id="{8D62CDEA-54DE-51CA-EE2E-3A249E337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954479" y="5497846"/>
              <a:ext cx="618077" cy="618077"/>
            </a:xfrm>
            <a:prstGeom prst="rect">
              <a:avLst/>
            </a:prstGeom>
          </p:spPr>
        </p:pic>
        <p:pic>
          <p:nvPicPr>
            <p:cNvPr id="42" name="Gráfico 14" descr="Abeto">
              <a:extLst>
                <a:ext uri="{FF2B5EF4-FFF2-40B4-BE49-F238E27FC236}">
                  <a16:creationId xmlns:a16="http://schemas.microsoft.com/office/drawing/2014/main" id="{633293F9-731B-FF05-95E6-FCE7C29B7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019396" y="5492674"/>
              <a:ext cx="618077" cy="618077"/>
            </a:xfrm>
            <a:prstGeom prst="rect">
              <a:avLst/>
            </a:prstGeom>
          </p:spPr>
        </p:pic>
        <p:sp>
          <p:nvSpPr>
            <p:cNvPr id="43" name="Marcador de contenido 2">
              <a:extLst>
                <a:ext uri="{FF2B5EF4-FFF2-40B4-BE49-F238E27FC236}">
                  <a16:creationId xmlns:a16="http://schemas.microsoft.com/office/drawing/2014/main" id="{F24C988F-1A47-2343-11B3-4E05FCFC84C3}"/>
                </a:ext>
              </a:extLst>
            </p:cNvPr>
            <p:cNvSpPr txBox="1">
              <a:spLocks/>
            </p:cNvSpPr>
            <p:nvPr/>
          </p:nvSpPr>
          <p:spPr>
            <a:xfrm>
              <a:off x="3495617" y="6211458"/>
              <a:ext cx="1305702" cy="5502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Abies</a:t>
              </a:r>
              <a:r>
                <a:rPr lang="es-ES" sz="1200" i="1" dirty="0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 alba </a:t>
              </a:r>
              <a:r>
                <a:rPr lang="es-ES" sz="1200" dirty="0" err="1">
                  <a:solidFill>
                    <a:srgbClr val="785EF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44" name="Marcador de contenido 2">
              <a:extLst>
                <a:ext uri="{FF2B5EF4-FFF2-40B4-BE49-F238E27FC236}">
                  <a16:creationId xmlns:a16="http://schemas.microsoft.com/office/drawing/2014/main" id="{BE10BCF2-A324-8BF4-F89E-72B4590EB683}"/>
                </a:ext>
              </a:extLst>
            </p:cNvPr>
            <p:cNvSpPr txBox="1">
              <a:spLocks/>
            </p:cNvSpPr>
            <p:nvPr/>
          </p:nvSpPr>
          <p:spPr>
            <a:xfrm>
              <a:off x="4488565" y="6215039"/>
              <a:ext cx="1549903" cy="5490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sylvestris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dirty="0" err="1">
                  <a:solidFill>
                    <a:srgbClr val="FFB00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45" name="Marcador de contenido 2">
              <a:extLst>
                <a:ext uri="{FF2B5EF4-FFF2-40B4-BE49-F238E27FC236}">
                  <a16:creationId xmlns:a16="http://schemas.microsoft.com/office/drawing/2014/main" id="{77DA9514-DAA0-469F-B34D-E324E333C7E6}"/>
                </a:ext>
              </a:extLst>
            </p:cNvPr>
            <p:cNvSpPr txBox="1">
              <a:spLocks/>
            </p:cNvSpPr>
            <p:nvPr/>
          </p:nvSpPr>
          <p:spPr>
            <a:xfrm>
              <a:off x="5541690" y="6209867"/>
              <a:ext cx="1573487" cy="545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s-ES" sz="1100" i="1" dirty="0" err="1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100" i="1" dirty="0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 pinea </a:t>
              </a:r>
              <a:r>
                <a:rPr lang="es-ES" sz="1100" dirty="0" err="1">
                  <a:solidFill>
                    <a:srgbClr val="DC267F"/>
                  </a:solidFill>
                  <a:latin typeface="Helvetica" panose="020B0604020202020204"/>
                  <a:cs typeface="Helvetica" panose="020B0604020202020204"/>
                </a:rPr>
                <a:t>Mediterranean</a:t>
              </a:r>
              <a:endParaRPr lang="es-ES" sz="1100" dirty="0">
                <a:solidFill>
                  <a:srgbClr val="DC267F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46" name="CuadroTexto 18">
              <a:extLst>
                <a:ext uri="{FF2B5EF4-FFF2-40B4-BE49-F238E27FC236}">
                  <a16:creationId xmlns:a16="http://schemas.microsoft.com/office/drawing/2014/main" id="{5875A177-374D-0E0E-1CA8-61F9CFE6A07A}"/>
                </a:ext>
              </a:extLst>
            </p:cNvPr>
            <p:cNvSpPr txBox="1"/>
            <p:nvPr/>
          </p:nvSpPr>
          <p:spPr>
            <a:xfrm>
              <a:off x="4296135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47" name="CuadroTexto 18">
              <a:extLst>
                <a:ext uri="{FF2B5EF4-FFF2-40B4-BE49-F238E27FC236}">
                  <a16:creationId xmlns:a16="http://schemas.microsoft.com/office/drawing/2014/main" id="{A965AD35-419F-22CA-9505-4F688A2BEFB4}"/>
                </a:ext>
              </a:extLst>
            </p:cNvPr>
            <p:cNvSpPr txBox="1"/>
            <p:nvPr/>
          </p:nvSpPr>
          <p:spPr>
            <a:xfrm>
              <a:off x="5391386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0886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41F2B-2CE6-3B6E-5A7A-0F513B4E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88811F14-2E6D-453F-4848-4BDD5429DE7D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what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predisposing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factors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have</a:t>
            </a:r>
            <a:r>
              <a:rPr lang="es-ES" sz="2400" dirty="0">
                <a:latin typeface="Helvetica"/>
                <a:cs typeface="Helvetica"/>
              </a:rPr>
              <a:t> a </a:t>
            </a:r>
            <a:r>
              <a:rPr lang="es-ES" sz="2400" dirty="0" err="1">
                <a:latin typeface="Helvetica"/>
                <a:cs typeface="Helvetica"/>
              </a:rPr>
              <a:t>larger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effect</a:t>
            </a:r>
            <a:r>
              <a:rPr lang="es-ES" sz="2400" dirty="0">
                <a:latin typeface="Helvetica"/>
                <a:cs typeface="Helvetica"/>
              </a:rPr>
              <a:t>, and </a:t>
            </a:r>
            <a:r>
              <a:rPr lang="es-ES" sz="2400" dirty="0" err="1">
                <a:latin typeface="Helvetica"/>
                <a:cs typeface="Helvetica"/>
              </a:rPr>
              <a:t>what</a:t>
            </a:r>
            <a:r>
              <a:rPr lang="es-ES" sz="2400" dirty="0">
                <a:latin typeface="Helvetica"/>
                <a:cs typeface="Helvetica"/>
              </a:rPr>
              <a:t> 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responses </a:t>
            </a:r>
            <a:r>
              <a:rPr lang="es-ES" sz="2400" b="1" dirty="0" err="1">
                <a:latin typeface="Helvetica"/>
                <a:cs typeface="Helvetica"/>
              </a:rPr>
              <a:t>to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drought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are more intense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FA807DE-486F-E2FD-C605-76D98365CA6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27D2CA0-A97D-4306-2E61-01913089995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EC2A8C6D-6E1F-17F8-99F0-2176763D971C}"/>
              </a:ext>
            </a:extLst>
          </p:cNvPr>
          <p:cNvSpPr txBox="1">
            <a:spLocks/>
          </p:cNvSpPr>
          <p:nvPr/>
        </p:nvSpPr>
        <p:spPr>
          <a:xfrm>
            <a:off x="3488956" y="5413345"/>
            <a:ext cx="4838513" cy="1006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Fig. 4.: Response Ratios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D5CA342-B397-B41B-C882-390BAD2A955F}"/>
              </a:ext>
            </a:extLst>
          </p:cNvPr>
          <p:cNvGrpSpPr/>
          <p:nvPr/>
        </p:nvGrpSpPr>
        <p:grpSpPr>
          <a:xfrm>
            <a:off x="4470372" y="3750367"/>
            <a:ext cx="2875680" cy="1152743"/>
            <a:chOff x="8825518" y="5542858"/>
            <a:chExt cx="2875680" cy="115274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80B51BC-5844-47E1-4DE2-3E14B40B5F14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7" name="Graphic 6" descr="Fir tree">
                <a:extLst>
                  <a:ext uri="{FF2B5EF4-FFF2-40B4-BE49-F238E27FC236}">
                    <a16:creationId xmlns:a16="http://schemas.microsoft.com/office/drawing/2014/main" id="{B04B77C5-32BD-533F-AC20-8A145DD9B1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8" name="Graphic 7" descr="Fir tree">
                <a:extLst>
                  <a:ext uri="{FF2B5EF4-FFF2-40B4-BE49-F238E27FC236}">
                    <a16:creationId xmlns:a16="http://schemas.microsoft.com/office/drawing/2014/main" id="{C44081DE-6C8E-61FE-3232-B98B735379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22" name="Graphic 21" descr="Fir tree">
                <a:extLst>
                  <a:ext uri="{FF2B5EF4-FFF2-40B4-BE49-F238E27FC236}">
                    <a16:creationId xmlns:a16="http://schemas.microsoft.com/office/drawing/2014/main" id="{37ABAA06-A13B-2FBA-383A-39567AC359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23" name="CuadroTexto 18">
                <a:extLst>
                  <a:ext uri="{FF2B5EF4-FFF2-40B4-BE49-F238E27FC236}">
                    <a16:creationId xmlns:a16="http://schemas.microsoft.com/office/drawing/2014/main" id="{645A9C59-985D-DE99-6A2D-6AA6591F9875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4" name="CuadroTexto 18">
                <a:extLst>
                  <a:ext uri="{FF2B5EF4-FFF2-40B4-BE49-F238E27FC236}">
                    <a16:creationId xmlns:a16="http://schemas.microsoft.com/office/drawing/2014/main" id="{71FAF904-4A20-4833-B37F-FCB65EB273DE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25" name="CuadroTexto 18">
                <a:extLst>
                  <a:ext uri="{FF2B5EF4-FFF2-40B4-BE49-F238E27FC236}">
                    <a16:creationId xmlns:a16="http://schemas.microsoft.com/office/drawing/2014/main" id="{394C9F9E-9EB3-8859-E39A-48128B68849B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5" name="CuadroTexto 18">
              <a:extLst>
                <a:ext uri="{FF2B5EF4-FFF2-40B4-BE49-F238E27FC236}">
                  <a16:creationId xmlns:a16="http://schemas.microsoft.com/office/drawing/2014/main" id="{EE643A7F-3607-EA14-0025-0A229FB9329E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6" name="CuadroTexto 18">
              <a:extLst>
                <a:ext uri="{FF2B5EF4-FFF2-40B4-BE49-F238E27FC236}">
                  <a16:creationId xmlns:a16="http://schemas.microsoft.com/office/drawing/2014/main" id="{D1890365-64BA-7342-BB09-A7530020DE3E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39EB076-9368-DF2D-3747-4B8286D69CC8}"/>
              </a:ext>
            </a:extLst>
          </p:cNvPr>
          <p:cNvGrpSpPr/>
          <p:nvPr/>
        </p:nvGrpSpPr>
        <p:grpSpPr>
          <a:xfrm>
            <a:off x="4085471" y="2092658"/>
            <a:ext cx="3619560" cy="1271459"/>
            <a:chOff x="3495617" y="5492674"/>
            <a:chExt cx="3619560" cy="1271459"/>
          </a:xfrm>
        </p:grpSpPr>
        <p:pic>
          <p:nvPicPr>
            <p:cNvPr id="27" name="Gráfico 12" descr="Abeto">
              <a:extLst>
                <a:ext uri="{FF2B5EF4-FFF2-40B4-BE49-F238E27FC236}">
                  <a16:creationId xmlns:a16="http://schemas.microsoft.com/office/drawing/2014/main" id="{DD64B3C8-30CF-2D09-2055-A909DB722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839430" y="5492675"/>
              <a:ext cx="618077" cy="618077"/>
            </a:xfrm>
            <a:prstGeom prst="rect">
              <a:avLst/>
            </a:prstGeom>
          </p:spPr>
        </p:pic>
        <p:pic>
          <p:nvPicPr>
            <p:cNvPr id="28" name="Gráfico 13" descr="Abeto">
              <a:extLst>
                <a:ext uri="{FF2B5EF4-FFF2-40B4-BE49-F238E27FC236}">
                  <a16:creationId xmlns:a16="http://schemas.microsoft.com/office/drawing/2014/main" id="{80042851-4253-2726-68F1-09D4E87F4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954479" y="5497846"/>
              <a:ext cx="618077" cy="618077"/>
            </a:xfrm>
            <a:prstGeom prst="rect">
              <a:avLst/>
            </a:prstGeom>
          </p:spPr>
        </p:pic>
        <p:pic>
          <p:nvPicPr>
            <p:cNvPr id="30" name="Gráfico 14" descr="Abeto">
              <a:extLst>
                <a:ext uri="{FF2B5EF4-FFF2-40B4-BE49-F238E27FC236}">
                  <a16:creationId xmlns:a16="http://schemas.microsoft.com/office/drawing/2014/main" id="{6955E735-3569-F15D-1D9C-66EA756B0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019396" y="5492674"/>
              <a:ext cx="618077" cy="618077"/>
            </a:xfrm>
            <a:prstGeom prst="rect">
              <a:avLst/>
            </a:prstGeom>
          </p:spPr>
        </p:pic>
        <p:sp>
          <p:nvSpPr>
            <p:cNvPr id="31" name="Marcador de contenido 2">
              <a:extLst>
                <a:ext uri="{FF2B5EF4-FFF2-40B4-BE49-F238E27FC236}">
                  <a16:creationId xmlns:a16="http://schemas.microsoft.com/office/drawing/2014/main" id="{79CF1E9D-D799-A5FB-1292-76149BA2BA93}"/>
                </a:ext>
              </a:extLst>
            </p:cNvPr>
            <p:cNvSpPr txBox="1">
              <a:spLocks/>
            </p:cNvSpPr>
            <p:nvPr/>
          </p:nvSpPr>
          <p:spPr>
            <a:xfrm>
              <a:off x="3495617" y="6211458"/>
              <a:ext cx="1305702" cy="550290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Abies</a:t>
              </a:r>
              <a:r>
                <a:rPr lang="es-ES" sz="1200" i="1" dirty="0">
                  <a:solidFill>
                    <a:srgbClr val="785EF0"/>
                  </a:solidFill>
                  <a:latin typeface="Helvetica" panose="020B0604020202020204"/>
                  <a:cs typeface="Helvetica"/>
                </a:rPr>
                <a:t> alba </a:t>
              </a:r>
              <a:r>
                <a:rPr lang="es-ES" sz="1200" dirty="0" err="1">
                  <a:solidFill>
                    <a:srgbClr val="785EF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785EF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2" name="Marcador de contenido 2">
              <a:extLst>
                <a:ext uri="{FF2B5EF4-FFF2-40B4-BE49-F238E27FC236}">
                  <a16:creationId xmlns:a16="http://schemas.microsoft.com/office/drawing/2014/main" id="{D27DC773-C0B8-1BAF-CC8A-FBD7BBA5FCC9}"/>
                </a:ext>
              </a:extLst>
            </p:cNvPr>
            <p:cNvSpPr txBox="1">
              <a:spLocks/>
            </p:cNvSpPr>
            <p:nvPr/>
          </p:nvSpPr>
          <p:spPr>
            <a:xfrm>
              <a:off x="4488565" y="6215039"/>
              <a:ext cx="1549903" cy="5490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i="1" dirty="0" err="1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sylvestris</a:t>
              </a:r>
              <a:r>
                <a:rPr lang="es-ES" sz="1200" i="1" dirty="0">
                  <a:solidFill>
                    <a:srgbClr val="FFB000"/>
                  </a:solidFill>
                  <a:latin typeface="Helvetica" panose="020B0604020202020204"/>
                  <a:cs typeface="Helvetica"/>
                </a:rPr>
                <a:t> </a:t>
              </a:r>
              <a:r>
                <a:rPr lang="es-ES" sz="1200" dirty="0" err="1">
                  <a:solidFill>
                    <a:srgbClr val="FFB000"/>
                  </a:solidFill>
                  <a:latin typeface="Helvetica" panose="020B0604020202020204"/>
                  <a:cs typeface="Helvetica" panose="020B0604020202020204"/>
                </a:rPr>
                <a:t>Temperate</a:t>
              </a:r>
              <a:endParaRPr lang="es-ES" sz="1200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  <a:p>
              <a:pPr marL="0" indent="0" algn="ctr">
                <a:buClr>
                  <a:srgbClr val="218317"/>
                </a:buClr>
                <a:buNone/>
              </a:pPr>
              <a:endParaRPr lang="es-ES" sz="1200" i="1" dirty="0">
                <a:solidFill>
                  <a:srgbClr val="FFB000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3" name="Marcador de contenido 2">
              <a:extLst>
                <a:ext uri="{FF2B5EF4-FFF2-40B4-BE49-F238E27FC236}">
                  <a16:creationId xmlns:a16="http://schemas.microsoft.com/office/drawing/2014/main" id="{CD6FC87B-4682-B979-354E-2C02C3502C08}"/>
                </a:ext>
              </a:extLst>
            </p:cNvPr>
            <p:cNvSpPr txBox="1">
              <a:spLocks/>
            </p:cNvSpPr>
            <p:nvPr/>
          </p:nvSpPr>
          <p:spPr>
            <a:xfrm>
              <a:off x="5541690" y="6209867"/>
              <a:ext cx="1573487" cy="54554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es-ES" sz="1100" i="1" dirty="0" err="1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Pinus</a:t>
              </a:r>
              <a:r>
                <a:rPr lang="es-ES" sz="1100" i="1" dirty="0">
                  <a:solidFill>
                    <a:srgbClr val="DC267F"/>
                  </a:solidFill>
                  <a:latin typeface="Helvetica" panose="020B0604020202020204"/>
                  <a:cs typeface="Helvetica"/>
                </a:rPr>
                <a:t> pinea </a:t>
              </a:r>
              <a:r>
                <a:rPr lang="es-ES" sz="1100" dirty="0" err="1">
                  <a:solidFill>
                    <a:srgbClr val="DC267F"/>
                  </a:solidFill>
                  <a:latin typeface="Helvetica" panose="020B0604020202020204"/>
                  <a:cs typeface="Helvetica" panose="020B0604020202020204"/>
                </a:rPr>
                <a:t>Mediterranean</a:t>
              </a:r>
              <a:endParaRPr lang="es-ES" sz="1100" dirty="0">
                <a:solidFill>
                  <a:srgbClr val="DC267F"/>
                </a:solidFill>
                <a:latin typeface="Helvetica" panose="020B0604020202020204"/>
                <a:cs typeface="Helvetica" panose="020B0604020202020204"/>
              </a:endParaRPr>
            </a:p>
          </p:txBody>
        </p:sp>
        <p:sp>
          <p:nvSpPr>
            <p:cNvPr id="34" name="CuadroTexto 18">
              <a:extLst>
                <a:ext uri="{FF2B5EF4-FFF2-40B4-BE49-F238E27FC236}">
                  <a16:creationId xmlns:a16="http://schemas.microsoft.com/office/drawing/2014/main" id="{C6A55727-3624-48FD-3002-54F2CB1C7C1D}"/>
                </a:ext>
              </a:extLst>
            </p:cNvPr>
            <p:cNvSpPr txBox="1"/>
            <p:nvPr/>
          </p:nvSpPr>
          <p:spPr>
            <a:xfrm>
              <a:off x="4296135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35" name="CuadroTexto 18">
              <a:extLst>
                <a:ext uri="{FF2B5EF4-FFF2-40B4-BE49-F238E27FC236}">
                  <a16:creationId xmlns:a16="http://schemas.microsoft.com/office/drawing/2014/main" id="{3A4812EE-F8D9-F5DE-6184-EB3C5352DA09}"/>
                </a:ext>
              </a:extLst>
            </p:cNvPr>
            <p:cNvSpPr txBox="1"/>
            <p:nvPr/>
          </p:nvSpPr>
          <p:spPr>
            <a:xfrm>
              <a:off x="5391386" y="5661767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4075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7D948-86BD-7218-880B-80096F80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5ABC543-C68D-55DD-197B-359CA9BABF5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61FBC3C-017C-E532-87EF-270CA7195D0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4C51AA4-52F0-151B-7375-C783F89B7860}"/>
              </a:ext>
            </a:extLst>
          </p:cNvPr>
          <p:cNvSpPr txBox="1">
            <a:spLocks/>
          </p:cNvSpPr>
          <p:nvPr/>
        </p:nvSpPr>
        <p:spPr>
          <a:xfrm>
            <a:off x="633461" y="1025596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3.-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how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tree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mortality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vary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along</a:t>
            </a:r>
            <a:r>
              <a:rPr lang="es-ES" sz="2400" dirty="0">
                <a:latin typeface="Helvetica"/>
                <a:cs typeface="Helvetica"/>
              </a:rPr>
              <a:t> a </a:t>
            </a:r>
            <a:r>
              <a:rPr lang="es-ES" sz="2400" dirty="0" err="1">
                <a:latin typeface="Helvetica"/>
                <a:cs typeface="Helvetica"/>
              </a:rPr>
              <a:t>moisture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gradient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between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species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7C371B6A-D08A-2959-5BDA-6D76133D6F74}"/>
              </a:ext>
            </a:extLst>
          </p:cNvPr>
          <p:cNvSpPr txBox="1">
            <a:spLocks/>
          </p:cNvSpPr>
          <p:nvPr/>
        </p:nvSpPr>
        <p:spPr>
          <a:xfrm>
            <a:off x="633460" y="198801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H3</a:t>
            </a:r>
            <a:r>
              <a:rPr lang="es-ES" sz="2400" i="1" dirty="0">
                <a:latin typeface="Helvetica"/>
                <a:cs typeface="Helvetica"/>
              </a:rPr>
              <a:t>.-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variations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i="1" dirty="0">
                <a:latin typeface="Helvetica"/>
                <a:cs typeface="Helvetica"/>
              </a:rPr>
              <a:t>in </a:t>
            </a:r>
            <a:r>
              <a:rPr lang="es-ES" sz="2400" i="1" dirty="0" err="1">
                <a:latin typeface="Helvetica"/>
                <a:cs typeface="Helvetica"/>
              </a:rPr>
              <a:t>each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species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path</a:t>
            </a:r>
            <a:endParaRPr lang="es-ES" sz="2400" i="1" dirty="0">
              <a:latin typeface="Helvetica"/>
              <a:cs typeface="Helvetica"/>
            </a:endParaRPr>
          </a:p>
        </p:txBody>
      </p:sp>
      <p:pic>
        <p:nvPicPr>
          <p:cNvPr id="21" name="Gráfico 12" descr="Abeto">
            <a:extLst>
              <a:ext uri="{FF2B5EF4-FFF2-40B4-BE49-F238E27FC236}">
                <a16:creationId xmlns:a16="http://schemas.microsoft.com/office/drawing/2014/main" id="{E34F903F-65E2-EAA2-2453-742FE218C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2214" y="2845897"/>
            <a:ext cx="709463" cy="709463"/>
          </a:xfrm>
          <a:prstGeom prst="rect">
            <a:avLst/>
          </a:prstGeom>
        </p:spPr>
      </p:pic>
      <p:pic>
        <p:nvPicPr>
          <p:cNvPr id="22" name="Gráfico 13" descr="Abeto">
            <a:extLst>
              <a:ext uri="{FF2B5EF4-FFF2-40B4-BE49-F238E27FC236}">
                <a16:creationId xmlns:a16="http://schemas.microsoft.com/office/drawing/2014/main" id="{7954ACF9-EB30-5FA2-5D04-29E087E7A9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3353" y="2845896"/>
            <a:ext cx="709463" cy="709463"/>
          </a:xfrm>
          <a:prstGeom prst="rect">
            <a:avLst/>
          </a:prstGeom>
        </p:spPr>
      </p:pic>
      <p:pic>
        <p:nvPicPr>
          <p:cNvPr id="23" name="Gráfico 14" descr="Abeto">
            <a:extLst>
              <a:ext uri="{FF2B5EF4-FFF2-40B4-BE49-F238E27FC236}">
                <a16:creationId xmlns:a16="http://schemas.microsoft.com/office/drawing/2014/main" id="{AAD6ACC8-7E24-64AA-E8CF-F1F46BBD0D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92719" y="2898046"/>
            <a:ext cx="709463" cy="709463"/>
          </a:xfrm>
          <a:prstGeom prst="rect">
            <a:avLst/>
          </a:prstGeom>
        </p:spPr>
      </p:pic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1603EEB4-3B48-B092-D20A-77A7158A1E56}"/>
              </a:ext>
            </a:extLst>
          </p:cNvPr>
          <p:cNvSpPr txBox="1">
            <a:spLocks/>
          </p:cNvSpPr>
          <p:nvPr/>
        </p:nvSpPr>
        <p:spPr>
          <a:xfrm>
            <a:off x="3511002" y="3066631"/>
            <a:ext cx="1305702" cy="55029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746FB2"/>
                </a:solidFill>
                <a:latin typeface="Helvetica" panose="020B0604020202020204"/>
                <a:cs typeface="Helvetica"/>
              </a:rPr>
              <a:t>Abies</a:t>
            </a:r>
            <a:r>
              <a:rPr lang="es-ES" sz="1800" i="1" dirty="0">
                <a:solidFill>
                  <a:srgbClr val="746FB2"/>
                </a:solidFill>
                <a:latin typeface="Helvetica" panose="020B0604020202020204"/>
                <a:cs typeface="Helvetica"/>
              </a:rPr>
              <a:t> alba</a:t>
            </a:r>
          </a:p>
          <a:p>
            <a:pPr marL="0" indent="0">
              <a:buNone/>
            </a:pPr>
            <a:r>
              <a:rPr lang="es-ES" sz="1800" dirty="0" err="1">
                <a:solidFill>
                  <a:srgbClr val="746FB2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746FB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76839350-3B71-6A7F-CDD0-3F80D442B6E2}"/>
              </a:ext>
            </a:extLst>
          </p:cNvPr>
          <p:cNvSpPr txBox="1">
            <a:spLocks/>
          </p:cNvSpPr>
          <p:nvPr/>
        </p:nvSpPr>
        <p:spPr>
          <a:xfrm>
            <a:off x="5342816" y="3066631"/>
            <a:ext cx="1549903" cy="54909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1B9E77"/>
                </a:solidFill>
                <a:latin typeface="Helvetica" panose="020B0604020202020204"/>
                <a:cs typeface="Helvetica"/>
              </a:rPr>
              <a:t> </a:t>
            </a:r>
            <a:r>
              <a:rPr lang="es-ES" sz="1800" i="1" dirty="0" err="1">
                <a:solidFill>
                  <a:srgbClr val="1B9E77"/>
                </a:solidFill>
                <a:latin typeface="Helvetica" panose="020B0604020202020204"/>
                <a:cs typeface="Helvetica"/>
              </a:rPr>
              <a:t>sylvestris</a:t>
            </a: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/>
            </a:endParaRPr>
          </a:p>
          <a:p>
            <a:pPr marL="0" indent="0">
              <a:buNone/>
            </a:pPr>
            <a:r>
              <a:rPr lang="es-ES" sz="1800" dirty="0" err="1">
                <a:solidFill>
                  <a:srgbClr val="1B9E77"/>
                </a:solidFill>
                <a:latin typeface="Helvetica" panose="020B0604020202020204"/>
                <a:cs typeface="Helvetica" panose="020B0604020202020204"/>
              </a:rPr>
              <a:t>Temperate</a:t>
            </a:r>
            <a:endParaRPr lang="es-ES" sz="1800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sz="1800" i="1" dirty="0">
              <a:solidFill>
                <a:srgbClr val="1B9E77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48CB1843-2F1A-1DA9-8591-69B235E61C2B}"/>
              </a:ext>
            </a:extLst>
          </p:cNvPr>
          <p:cNvSpPr txBox="1">
            <a:spLocks/>
          </p:cNvSpPr>
          <p:nvPr/>
        </p:nvSpPr>
        <p:spPr>
          <a:xfrm>
            <a:off x="7602182" y="3061967"/>
            <a:ext cx="1573487" cy="54554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i="1" dirty="0" err="1">
                <a:solidFill>
                  <a:srgbClr val="DB5F02"/>
                </a:solidFill>
                <a:latin typeface="Helvetica" panose="020B0604020202020204"/>
                <a:cs typeface="Helvetica"/>
              </a:rPr>
              <a:t>Pinus</a:t>
            </a:r>
            <a:r>
              <a:rPr lang="es-ES" sz="1800" i="1" dirty="0">
                <a:solidFill>
                  <a:srgbClr val="DB5F02"/>
                </a:solidFill>
                <a:latin typeface="Helvetica" panose="020B0604020202020204"/>
                <a:cs typeface="Helvetica"/>
              </a:rPr>
              <a:t> pinea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1800" dirty="0" err="1">
                <a:solidFill>
                  <a:srgbClr val="DB5F02"/>
                </a:solidFill>
                <a:latin typeface="Helvetica" panose="020B0604020202020204"/>
                <a:cs typeface="Helvetica" panose="020B0604020202020204"/>
              </a:rPr>
              <a:t>Mediterranean</a:t>
            </a:r>
            <a:endParaRPr lang="es-ES" sz="1800" dirty="0">
              <a:solidFill>
                <a:srgbClr val="DB5F02"/>
              </a:solidFill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388DFB22-E1DD-5B95-1421-CEA06847A806}"/>
              </a:ext>
            </a:extLst>
          </p:cNvPr>
          <p:cNvSpPr txBox="1">
            <a:spLocks/>
          </p:cNvSpPr>
          <p:nvPr/>
        </p:nvSpPr>
        <p:spPr>
          <a:xfrm>
            <a:off x="3488956" y="5666286"/>
            <a:ext cx="4838513" cy="10062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Fig. 5.: </a:t>
            </a:r>
            <a:r>
              <a:rPr lang="es-ES" sz="2400" b="1" dirty="0" err="1">
                <a:latin typeface="Helvetica"/>
                <a:cs typeface="Helvetica"/>
              </a:rPr>
              <a:t>pca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0F7FE0C-1494-93E1-C479-BFA1CDB4316C}"/>
              </a:ext>
            </a:extLst>
          </p:cNvPr>
          <p:cNvGrpSpPr/>
          <p:nvPr/>
        </p:nvGrpSpPr>
        <p:grpSpPr>
          <a:xfrm>
            <a:off x="4470372" y="4003670"/>
            <a:ext cx="2875680" cy="1152743"/>
            <a:chOff x="8825518" y="5542858"/>
            <a:chExt cx="2875680" cy="115274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FF5C512-263D-0CCA-842C-60A245791455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8" name="Graphic 7" descr="Fir tree">
                <a:extLst>
                  <a:ext uri="{FF2B5EF4-FFF2-40B4-BE49-F238E27FC236}">
                    <a16:creationId xmlns:a16="http://schemas.microsoft.com/office/drawing/2014/main" id="{D7201806-8C61-C649-98EB-3DF93DFD27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1" name="Graphic 10" descr="Fir tree">
                <a:extLst>
                  <a:ext uri="{FF2B5EF4-FFF2-40B4-BE49-F238E27FC236}">
                    <a16:creationId xmlns:a16="http://schemas.microsoft.com/office/drawing/2014/main" id="{2EC4314C-80F7-5416-E7D6-D31050D940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12" name="Graphic 11" descr="Fir tree">
                <a:extLst>
                  <a:ext uri="{FF2B5EF4-FFF2-40B4-BE49-F238E27FC236}">
                    <a16:creationId xmlns:a16="http://schemas.microsoft.com/office/drawing/2014/main" id="{9612E958-B264-1ECE-E558-880D18655E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13" name="CuadroTexto 18">
                <a:extLst>
                  <a:ext uri="{FF2B5EF4-FFF2-40B4-BE49-F238E27FC236}">
                    <a16:creationId xmlns:a16="http://schemas.microsoft.com/office/drawing/2014/main" id="{1125AD14-9654-5D09-46F8-B8578110DAD0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14" name="CuadroTexto 18">
                <a:extLst>
                  <a:ext uri="{FF2B5EF4-FFF2-40B4-BE49-F238E27FC236}">
                    <a16:creationId xmlns:a16="http://schemas.microsoft.com/office/drawing/2014/main" id="{0F6E8A74-CF83-7A84-FCA6-214BBA956100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15" name="CuadroTexto 18">
                <a:extLst>
                  <a:ext uri="{FF2B5EF4-FFF2-40B4-BE49-F238E27FC236}">
                    <a16:creationId xmlns:a16="http://schemas.microsoft.com/office/drawing/2014/main" id="{48F732A9-3E6E-2126-8414-7710A32DD8EC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4" name="CuadroTexto 18">
              <a:extLst>
                <a:ext uri="{FF2B5EF4-FFF2-40B4-BE49-F238E27FC236}">
                  <a16:creationId xmlns:a16="http://schemas.microsoft.com/office/drawing/2014/main" id="{C6CC60B0-C80D-82FD-0827-2523A7AAF67A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6" name="CuadroTexto 18">
              <a:extLst>
                <a:ext uri="{FF2B5EF4-FFF2-40B4-BE49-F238E27FC236}">
                  <a16:creationId xmlns:a16="http://schemas.microsoft.com/office/drawing/2014/main" id="{87889CDB-3B64-B379-A1E9-EB85F6F7B4D1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8300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6FAEA-39D9-CE78-4D46-CC5CAC7C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326C9ED-643F-A6B7-434D-002D898ED626}"/>
              </a:ext>
            </a:extLst>
          </p:cNvPr>
          <p:cNvSpPr txBox="1">
            <a:spLocks/>
          </p:cNvSpPr>
          <p:nvPr/>
        </p:nvSpPr>
        <p:spPr>
          <a:xfrm>
            <a:off x="792364" y="1836789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dendro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BD6A544-5F40-3D5E-66D4-7B99D847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3E09C6-91E8-1DC0-89E8-E7308280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7649084-6CBA-7A2D-F875-444EAE79B41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525B887-CEB0-B06C-898B-E1F894B39932}"/>
              </a:ext>
            </a:extLst>
          </p:cNvPr>
          <p:cNvSpPr txBox="1">
            <a:spLocks/>
          </p:cNvSpPr>
          <p:nvPr/>
        </p:nvSpPr>
        <p:spPr>
          <a:xfrm>
            <a:off x="6301273" y="1836789"/>
            <a:ext cx="5303636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We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have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way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too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many</a:t>
            </a:r>
            <a:r>
              <a:rPr lang="es-ES" sz="2400" b="1" dirty="0">
                <a:latin typeface="Helvetica"/>
                <a:cs typeface="Helvetica"/>
              </a:rPr>
              <a:t> variables!</a:t>
            </a:r>
          </a:p>
          <a:p>
            <a:pPr marL="0" indent="0" algn="ctr">
              <a:buClr>
                <a:srgbClr val="218317"/>
              </a:buClr>
              <a:buNone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9979CE87-9231-3F4C-545A-EF4ADAAA0ACE}"/>
              </a:ext>
            </a:extLst>
          </p:cNvPr>
          <p:cNvSpPr txBox="1">
            <a:spLocks/>
          </p:cNvSpPr>
          <p:nvPr/>
        </p:nvSpPr>
        <p:spPr>
          <a:xfrm>
            <a:off x="6301273" y="2670689"/>
            <a:ext cx="5303636" cy="2710049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Variable </a:t>
            </a:r>
            <a:r>
              <a:rPr lang="es-ES" sz="2400" b="1" dirty="0" err="1">
                <a:latin typeface="Helvetica"/>
                <a:cs typeface="Helvetica"/>
              </a:rPr>
              <a:t>selection</a:t>
            </a:r>
            <a:r>
              <a:rPr lang="es-ES" sz="2400" b="1" dirty="0">
                <a:latin typeface="Helvetica"/>
                <a:cs typeface="Helvetica"/>
              </a:rPr>
              <a:t>:</a:t>
            </a: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</a:rPr>
              <a:t>Bibliographic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revision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differenciate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between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inciting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factors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and responses</a:t>
            </a: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Correlogram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are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redundant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Wilcoxon test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select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show a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significant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difference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5086CF27-36BF-EF34-D789-41942CCBB32D}"/>
              </a:ext>
            </a:extLst>
          </p:cNvPr>
          <p:cNvSpPr/>
          <p:nvPr/>
        </p:nvSpPr>
        <p:spPr>
          <a:xfrm>
            <a:off x="5927497" y="1836789"/>
            <a:ext cx="271140" cy="3369693"/>
          </a:xfrm>
          <a:prstGeom prst="rightBrace">
            <a:avLst/>
          </a:prstGeom>
          <a:noFill/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385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014FA-3D28-8403-81B6-B4480777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85FE511-F26E-1A66-6941-39A9082AE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7AE742-6EA7-F8B5-3595-9F111578A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132A3D2-0918-C180-A3AF-66B4E681884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D0A892C-550D-6C20-3244-E4006C28BAC1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1.- </a:t>
            </a:r>
            <a:r>
              <a:rPr lang="es-ES" sz="3200" b="1" dirty="0" err="1">
                <a:latin typeface="Helvetica"/>
                <a:cs typeface="Helvetica"/>
              </a:rPr>
              <a:t>Bibliographic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revision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D8CA4C81-E87C-509B-D127-B005EEC6CA49}"/>
              </a:ext>
            </a:extLst>
          </p:cNvPr>
          <p:cNvSpPr txBox="1"/>
          <p:nvPr/>
        </p:nvSpPr>
        <p:spPr>
          <a:xfrm>
            <a:off x="-404782" y="2123114"/>
            <a:ext cx="7098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Predisposing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factor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=/=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E645AC0B-7EB5-ED28-D344-04A8A75BE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38EBA44B-1185-188E-A668-6131DF56E017}"/>
              </a:ext>
            </a:extLst>
          </p:cNvPr>
          <p:cNvSpPr txBox="1"/>
          <p:nvPr/>
        </p:nvSpPr>
        <p:spPr>
          <a:xfrm>
            <a:off x="418288" y="2980082"/>
            <a:ext cx="3063789" cy="203132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dbh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altura)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iWUE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(SLA, EWT)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indices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8245B133-8575-15E6-27D3-0CD81C7F8EC2}"/>
              </a:ext>
            </a:extLst>
          </p:cNvPr>
          <p:cNvSpPr txBox="1"/>
          <p:nvPr/>
        </p:nvSpPr>
        <p:spPr>
          <a:xfrm>
            <a:off x="4621358" y="2980082"/>
            <a:ext cx="2314463" cy="286232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RWC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Wood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 2012-2017,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 2017-2022)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4E75BA56-1292-392C-172D-37601AE1B7B7}"/>
              </a:ext>
            </a:extLst>
          </p:cNvPr>
          <p:cNvSpPr txBox="1"/>
          <p:nvPr/>
        </p:nvSpPr>
        <p:spPr>
          <a:xfrm>
            <a:off x="3022441" y="3443114"/>
            <a:ext cx="1823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=/=</a:t>
            </a:r>
          </a:p>
        </p:txBody>
      </p:sp>
    </p:spTree>
    <p:extLst>
      <p:ext uri="{BB962C8B-B14F-4D97-AF65-F5344CB8AC3E}">
        <p14:creationId xmlns:p14="http://schemas.microsoft.com/office/powerpoint/2010/main" val="3736273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B7DEA-18C0-7E70-0100-6D2B240D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5E2DDB8-80B8-532F-A330-AC9EAE826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423080-27E9-47A0-7D69-91B38222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E93ADEC-2EAE-FCB5-FEDA-2BA7ADF57666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2.- </a:t>
            </a:r>
            <a:r>
              <a:rPr lang="es-ES" sz="3200" b="1" dirty="0" err="1">
                <a:latin typeface="Helvetica"/>
                <a:cs typeface="Helvetica"/>
              </a:rPr>
              <a:t>Correlogram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6F64AE07-A1AB-4337-F25A-AB4433D8E2FB}"/>
              </a:ext>
            </a:extLst>
          </p:cNvPr>
          <p:cNvSpPr txBox="1"/>
          <p:nvPr/>
        </p:nvSpPr>
        <p:spPr>
          <a:xfrm>
            <a:off x="-404782" y="2123114"/>
            <a:ext cx="709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Redundant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variables: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6D925E0D-4A9B-5CFB-3FBF-EDE3D40F1472}"/>
              </a:ext>
            </a:extLst>
          </p:cNvPr>
          <p:cNvSpPr txBox="1"/>
          <p:nvPr/>
        </p:nvSpPr>
        <p:spPr>
          <a:xfrm>
            <a:off x="418288" y="2980082"/>
            <a:ext cx="5476674" cy="1477328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average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BAI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time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scales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we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should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just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pick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one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Age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surprisingly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5581CC34-16F7-0132-77D5-E94156FFF00D}"/>
              </a:ext>
            </a:extLst>
          </p:cNvPr>
          <p:cNvSpPr txBox="1"/>
          <p:nvPr/>
        </p:nvSpPr>
        <p:spPr>
          <a:xfrm>
            <a:off x="-392653" y="5108364"/>
            <a:ext cx="709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choose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7FD12479-C05F-D19B-52C4-D10AA8CF02D5}"/>
              </a:ext>
            </a:extLst>
          </p:cNvPr>
          <p:cNvSpPr txBox="1"/>
          <p:nvPr/>
        </p:nvSpPr>
        <p:spPr>
          <a:xfrm>
            <a:off x="-404782" y="5901424"/>
            <a:ext cx="709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P-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1C01611E-7E3A-BF07-144B-AE74BD9B30CC}"/>
              </a:ext>
            </a:extLst>
          </p:cNvPr>
          <p:cNvSpPr/>
          <p:nvPr/>
        </p:nvSpPr>
        <p:spPr>
          <a:xfrm>
            <a:off x="3064213" y="5518922"/>
            <a:ext cx="107004" cy="400110"/>
          </a:xfrm>
          <a:prstGeom prst="downArrow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50DE1E9-94B2-E153-B20D-F07D79F56AD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D7C29A-C044-3616-0CD5-A5F7D5CB9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962" y="804155"/>
            <a:ext cx="6053845" cy="605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052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E03B6-A4BF-DADE-1A72-7B36ED80D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2512801-7A7B-CA2D-AC0B-35EF8CC3F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B49E79-E5A9-8191-4465-1A98A526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8C9DE0E-B19A-C40A-4DC3-571AD3B8C541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P-</a:t>
            </a:r>
            <a:r>
              <a:rPr lang="es-ES" sz="3200" b="1" dirty="0" err="1">
                <a:latin typeface="Helvetica"/>
                <a:cs typeface="Helvetica"/>
              </a:rPr>
              <a:t>values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173F882E-1D7E-81C8-1C5A-FBDF6EF8991A}"/>
              </a:ext>
            </a:extLst>
          </p:cNvPr>
          <p:cNvSpPr txBox="1"/>
          <p:nvPr/>
        </p:nvSpPr>
        <p:spPr>
          <a:xfrm>
            <a:off x="700296" y="1786800"/>
            <a:ext cx="485419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b="1" dirty="0">
                <a:latin typeface="Helvetica"/>
                <a:cs typeface="Helvetica"/>
              </a:rPr>
              <a:t>Wilcoxon test + Bonferroni </a:t>
            </a:r>
            <a:r>
              <a:rPr lang="es-ES" sz="2400" b="1" dirty="0" err="1">
                <a:latin typeface="Helvetica"/>
                <a:cs typeface="Helvetica"/>
              </a:rPr>
              <a:t>correction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92AE25DE-EAE8-7A6A-2CE2-D21990375D8F}"/>
              </a:ext>
            </a:extLst>
          </p:cNvPr>
          <p:cNvSpPr txBox="1"/>
          <p:nvPr/>
        </p:nvSpPr>
        <p:spPr>
          <a:xfrm>
            <a:off x="700296" y="2782669"/>
            <a:ext cx="5476674" cy="36933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discard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no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C64B8D9-D540-D759-552C-98F1B876B913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3BE931-9173-1275-FF86-271ABF370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558" y="927108"/>
            <a:ext cx="5717531" cy="5717531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3B095644-F7FF-1094-48FD-372D75CC2D3F}"/>
              </a:ext>
            </a:extLst>
          </p:cNvPr>
          <p:cNvGrpSpPr/>
          <p:nvPr/>
        </p:nvGrpSpPr>
        <p:grpSpPr>
          <a:xfrm>
            <a:off x="1689554" y="4062883"/>
            <a:ext cx="2875680" cy="1152743"/>
            <a:chOff x="8825518" y="5542858"/>
            <a:chExt cx="2875680" cy="115274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FF66680-288F-3C84-23C1-EF516287A6D1}"/>
                </a:ext>
              </a:extLst>
            </p:cNvPr>
            <p:cNvGrpSpPr/>
            <p:nvPr/>
          </p:nvGrpSpPr>
          <p:grpSpPr>
            <a:xfrm>
              <a:off x="8825518" y="5542858"/>
              <a:ext cx="2875680" cy="1152743"/>
              <a:chOff x="8825518" y="5542858"/>
              <a:chExt cx="2875680" cy="1152743"/>
            </a:xfrm>
          </p:grpSpPr>
          <p:pic>
            <p:nvPicPr>
              <p:cNvPr id="31" name="Graphic 30" descr="Fir tree">
                <a:extLst>
                  <a:ext uri="{FF2B5EF4-FFF2-40B4-BE49-F238E27FC236}">
                    <a16:creationId xmlns:a16="http://schemas.microsoft.com/office/drawing/2014/main" id="{648FFAF0-3AE0-3B5C-BCD7-2F369EB240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880813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32" name="Graphic 31" descr="Fir tree">
                <a:extLst>
                  <a:ext uri="{FF2B5EF4-FFF2-40B4-BE49-F238E27FC236}">
                    <a16:creationId xmlns:a16="http://schemas.microsoft.com/office/drawing/2014/main" id="{7C14742A-8DB4-CCDE-878E-494903ACB5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809054" y="5542858"/>
                <a:ext cx="747236" cy="747236"/>
              </a:xfrm>
              <a:prstGeom prst="rect">
                <a:avLst/>
              </a:prstGeom>
            </p:spPr>
          </p:pic>
          <p:pic>
            <p:nvPicPr>
              <p:cNvPr id="33" name="Graphic 32" descr="Fir tree">
                <a:extLst>
                  <a:ext uri="{FF2B5EF4-FFF2-40B4-BE49-F238E27FC236}">
                    <a16:creationId xmlns:a16="http://schemas.microsoft.com/office/drawing/2014/main" id="{EE995F86-CD11-FA93-37B2-EADA2BB0EF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955921" y="5542858"/>
                <a:ext cx="747236" cy="747236"/>
              </a:xfrm>
              <a:prstGeom prst="rect">
                <a:avLst/>
              </a:prstGeom>
            </p:spPr>
          </p:pic>
          <p:sp>
            <p:nvSpPr>
              <p:cNvPr id="34" name="CuadroTexto 18">
                <a:extLst>
                  <a:ext uri="{FF2B5EF4-FFF2-40B4-BE49-F238E27FC236}">
                    <a16:creationId xmlns:a16="http://schemas.microsoft.com/office/drawing/2014/main" id="{69BE64AC-EDED-2A88-97A6-04009744B68E}"/>
                  </a:ext>
                </a:extLst>
              </p:cNvPr>
              <p:cNvSpPr txBox="1"/>
              <p:nvPr/>
            </p:nvSpPr>
            <p:spPr>
              <a:xfrm>
                <a:off x="8825518" y="6357047"/>
                <a:ext cx="100804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2274A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</a:t>
                </a:r>
                <a:r>
                  <a:rPr lang="es-ES" sz="800" dirty="0" err="1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2274A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35" name="CuadroTexto 18">
                <a:extLst>
                  <a:ext uri="{FF2B5EF4-FFF2-40B4-BE49-F238E27FC236}">
                    <a16:creationId xmlns:a16="http://schemas.microsoft.com/office/drawing/2014/main" id="{246877DD-6C66-439C-0BFF-40A0F296889D}"/>
                  </a:ext>
                </a:extLst>
              </p:cNvPr>
              <p:cNvSpPr txBox="1"/>
              <p:nvPr/>
            </p:nvSpPr>
            <p:spPr>
              <a:xfrm>
                <a:off x="9731871" y="6357047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D71515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Declining</a:t>
                </a:r>
                <a:r>
                  <a:rPr lang="es-ES" sz="800" dirty="0">
                    <a:solidFill>
                      <a:srgbClr val="D7151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  <p:sp>
            <p:nvSpPr>
              <p:cNvPr id="36" name="CuadroTexto 18">
                <a:extLst>
                  <a:ext uri="{FF2B5EF4-FFF2-40B4-BE49-F238E27FC236}">
                    <a16:creationId xmlns:a16="http://schemas.microsoft.com/office/drawing/2014/main" id="{BE68F2AB-782F-9C19-B53F-9ED0BE481738}"/>
                  </a:ext>
                </a:extLst>
              </p:cNvPr>
              <p:cNvSpPr txBox="1"/>
              <p:nvPr/>
            </p:nvSpPr>
            <p:spPr>
              <a:xfrm>
                <a:off x="10664145" y="6351115"/>
                <a:ext cx="10370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E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Healthy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tree</a:t>
                </a:r>
                <a:endParaRPr lang="es-ES" sz="800" dirty="0">
                  <a:solidFill>
                    <a:srgbClr val="65030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s-ES" sz="800" dirty="0" err="1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Damaged</a:t>
                </a:r>
                <a:r>
                  <a:rPr lang="es-ES" sz="800" dirty="0">
                    <a:solidFill>
                      <a:srgbClr val="65030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site</a:t>
                </a:r>
              </a:p>
            </p:txBody>
          </p:sp>
        </p:grpSp>
        <p:sp>
          <p:nvSpPr>
            <p:cNvPr id="29" name="CuadroTexto 18">
              <a:extLst>
                <a:ext uri="{FF2B5EF4-FFF2-40B4-BE49-F238E27FC236}">
                  <a16:creationId xmlns:a16="http://schemas.microsoft.com/office/drawing/2014/main" id="{D3819ED3-62EB-17A5-85D0-7DD234F173FF}"/>
                </a:ext>
              </a:extLst>
            </p:cNvPr>
            <p:cNvSpPr txBox="1"/>
            <p:nvPr/>
          </p:nvSpPr>
          <p:spPr>
            <a:xfrm>
              <a:off x="9402761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  <p:sp>
          <p:nvSpPr>
            <p:cNvPr id="30" name="CuadroTexto 18">
              <a:extLst>
                <a:ext uri="{FF2B5EF4-FFF2-40B4-BE49-F238E27FC236}">
                  <a16:creationId xmlns:a16="http://schemas.microsoft.com/office/drawing/2014/main" id="{6429AEAE-7B9C-BC42-E83D-F587C5C3E2F7}"/>
                </a:ext>
              </a:extLst>
            </p:cNvPr>
            <p:cNvSpPr txBox="1"/>
            <p:nvPr/>
          </p:nvSpPr>
          <p:spPr>
            <a:xfrm>
              <a:off x="10378084" y="5793365"/>
              <a:ext cx="85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vs.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30340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25BF0-AAC4-BAA2-34F8-5223E67BD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6DA7092-659A-120E-A79A-AA805C216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22068D-7E9A-B7A0-29F3-F14C9478C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C665D94-480D-B95C-5DB1-51C1ABA1A90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CuadroTexto 10">
            <a:extLst>
              <a:ext uri="{FF2B5EF4-FFF2-40B4-BE49-F238E27FC236}">
                <a16:creationId xmlns:a16="http://schemas.microsoft.com/office/drawing/2014/main" id="{FB5F455F-6727-EF16-BF4B-9987EC3F3FDA}"/>
              </a:ext>
            </a:extLst>
          </p:cNvPr>
          <p:cNvSpPr txBox="1"/>
          <p:nvPr/>
        </p:nvSpPr>
        <p:spPr>
          <a:xfrm>
            <a:off x="184392" y="815542"/>
            <a:ext cx="5830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s-ES" sz="2000" b="1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C203356-F9EB-E64A-AB3E-A8D4EAB68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494280"/>
              </p:ext>
            </p:extLst>
          </p:nvPr>
        </p:nvGraphicFramePr>
        <p:xfrm>
          <a:off x="6088828" y="990600"/>
          <a:ext cx="559870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171">
                  <a:extLst>
                    <a:ext uri="{9D8B030D-6E8A-4147-A177-3AD203B41FA5}">
                      <a16:colId xmlns:a16="http://schemas.microsoft.com/office/drawing/2014/main" val="2369797555"/>
                    </a:ext>
                  </a:extLst>
                </a:gridCol>
                <a:gridCol w="1289186">
                  <a:extLst>
                    <a:ext uri="{9D8B030D-6E8A-4147-A177-3AD203B41FA5}">
                      <a16:colId xmlns:a16="http://schemas.microsoft.com/office/drawing/2014/main" val="1383095395"/>
                    </a:ext>
                  </a:extLst>
                </a:gridCol>
                <a:gridCol w="1530157">
                  <a:extLst>
                    <a:ext uri="{9D8B030D-6E8A-4147-A177-3AD203B41FA5}">
                      <a16:colId xmlns:a16="http://schemas.microsoft.com/office/drawing/2014/main" val="1475883454"/>
                    </a:ext>
                  </a:extLst>
                </a:gridCol>
                <a:gridCol w="1289186">
                  <a:extLst>
                    <a:ext uri="{9D8B030D-6E8A-4147-A177-3AD203B41FA5}">
                      <a16:colId xmlns:a16="http://schemas.microsoft.com/office/drawing/2014/main" val="1424229610"/>
                    </a:ext>
                  </a:extLst>
                </a:gridCol>
              </a:tblGrid>
              <a:tr h="301161">
                <a:tc>
                  <a:txBody>
                    <a:bodyPr/>
                    <a:lstStyle/>
                    <a:p>
                      <a:r>
                        <a:rPr lang="es-ES" sz="1400" i="0" dirty="0">
                          <a:latin typeface="Helvetica" panose="020B0604020202020204"/>
                          <a:cs typeface="Helvetica" panose="020B0604020202020204"/>
                        </a:rPr>
                        <a:t>Variable</a:t>
                      </a:r>
                    </a:p>
                  </a:txBody>
                  <a:tcPr>
                    <a:solidFill>
                      <a:srgbClr val="2183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ND - DH</a:t>
                      </a:r>
                    </a:p>
                  </a:txBody>
                  <a:tcPr>
                    <a:solidFill>
                      <a:srgbClr val="716C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i="0" dirty="0">
                          <a:latin typeface="Helvetica" panose="020B0604020202020204"/>
                          <a:cs typeface="Helvetica" panose="020B0604020202020204"/>
                        </a:rPr>
                        <a:t>ND - DD</a:t>
                      </a:r>
                    </a:p>
                  </a:txBody>
                  <a:tcPr>
                    <a:solidFill>
                      <a:srgbClr val="37AD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i="0" dirty="0">
                          <a:latin typeface="Helvetica" panose="020B0604020202020204"/>
                          <a:cs typeface="Helvetica" panose="020B0604020202020204"/>
                        </a:rPr>
                        <a:t>DH – DD</a:t>
                      </a:r>
                    </a:p>
                  </a:txBody>
                  <a:tcPr>
                    <a:solidFill>
                      <a:srgbClr val="DB5E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06264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Height</a:t>
                      </a:r>
                      <a:endParaRPr lang="es-ES" sz="1400" b="0" i="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515897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d.b.h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11599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Age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566533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1" i="0" dirty="0" err="1">
                          <a:latin typeface="Helvetica" panose="020B0604020202020204"/>
                          <a:cs typeface="Helvetica" panose="020B0604020202020204"/>
                        </a:rPr>
                        <a:t>Hegyi</a:t>
                      </a:r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 </a:t>
                      </a:r>
                      <a:r>
                        <a:rPr lang="es-ES" sz="1400" b="1" i="0" dirty="0" err="1">
                          <a:latin typeface="Helvetica" panose="020B0604020202020204"/>
                          <a:cs typeface="Helvetica" panose="020B0604020202020204"/>
                        </a:rPr>
                        <a:t>Index</a:t>
                      </a:r>
                      <a:endParaRPr lang="es-ES" sz="1400" b="1" i="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861592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1" i="0" dirty="0" err="1">
                          <a:latin typeface="Helvetica" panose="020B0604020202020204"/>
                          <a:cs typeface="Helvetica" panose="020B0604020202020204"/>
                        </a:rPr>
                        <a:t>Defoliation</a:t>
                      </a:r>
                      <a:endParaRPr lang="es-ES" sz="1400" b="1" i="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87248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LWC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47193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SLA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93755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. Content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346731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. a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025832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. b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305344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Carotenoids</a:t>
                      </a:r>
                      <a:endParaRPr lang="es-ES" sz="1400" b="0" i="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001064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. a/b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192225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. / </a:t>
                      </a:r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xc</a:t>
                      </a:r>
                      <a:endParaRPr lang="es-ES" sz="1400" b="0" i="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006969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C </a:t>
                      </a:r>
                      <a:r>
                        <a:rPr lang="es-ES" sz="1400" b="0" i="0" dirty="0" err="1">
                          <a:latin typeface="Helvetica" panose="020B0604020202020204"/>
                          <a:cs typeface="Helvetica" panose="020B0604020202020204"/>
                        </a:rPr>
                        <a:t>content</a:t>
                      </a:r>
                      <a:endParaRPr lang="es-ES" sz="1400" b="0" i="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717280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N </a:t>
                      </a:r>
                      <a:r>
                        <a:rPr lang="es-ES" sz="1400" b="1" i="0" dirty="0" err="1">
                          <a:latin typeface="Helvetica" panose="020B0604020202020204"/>
                          <a:cs typeface="Helvetica" panose="020B0604020202020204"/>
                        </a:rPr>
                        <a:t>content</a:t>
                      </a:r>
                      <a:endParaRPr lang="es-ES" sz="1400" b="1" i="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50234"/>
                  </a:ext>
                </a:extLst>
              </a:tr>
              <a:tr h="301161"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C:N ratio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449132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C6C47103-D1B5-B778-56BE-B3D62BF80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30" y="1800426"/>
            <a:ext cx="5115560" cy="511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476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6401-1343-6489-0678-8A8EB596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2025A94-12B9-7279-CA7F-2E32BF6ED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F07C43-FEEF-B6E3-98EA-238332281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39D1441-2331-8F6E-4111-D49EA7ED885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B17863B-BF42-93C7-AC73-602A87D42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062341"/>
              </p:ext>
            </p:extLst>
          </p:nvPr>
        </p:nvGraphicFramePr>
        <p:xfrm>
          <a:off x="6177532" y="938298"/>
          <a:ext cx="5517171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8471">
                  <a:extLst>
                    <a:ext uri="{9D8B030D-6E8A-4147-A177-3AD203B41FA5}">
                      <a16:colId xmlns:a16="http://schemas.microsoft.com/office/drawing/2014/main" val="2369797555"/>
                    </a:ext>
                  </a:extLst>
                </a:gridCol>
                <a:gridCol w="1270413">
                  <a:extLst>
                    <a:ext uri="{9D8B030D-6E8A-4147-A177-3AD203B41FA5}">
                      <a16:colId xmlns:a16="http://schemas.microsoft.com/office/drawing/2014/main" val="1383095395"/>
                    </a:ext>
                  </a:extLst>
                </a:gridCol>
                <a:gridCol w="1507874">
                  <a:extLst>
                    <a:ext uri="{9D8B030D-6E8A-4147-A177-3AD203B41FA5}">
                      <a16:colId xmlns:a16="http://schemas.microsoft.com/office/drawing/2014/main" val="1475883454"/>
                    </a:ext>
                  </a:extLst>
                </a:gridCol>
                <a:gridCol w="1270413">
                  <a:extLst>
                    <a:ext uri="{9D8B030D-6E8A-4147-A177-3AD203B41FA5}">
                      <a16:colId xmlns:a16="http://schemas.microsoft.com/office/drawing/2014/main" val="1424229610"/>
                    </a:ext>
                  </a:extLst>
                </a:gridCol>
              </a:tblGrid>
              <a:tr h="300915"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Variable</a:t>
                      </a:r>
                    </a:p>
                  </a:txBody>
                  <a:tcPr>
                    <a:solidFill>
                      <a:srgbClr val="2183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ND - DH</a:t>
                      </a:r>
                    </a:p>
                  </a:txBody>
                  <a:tcPr>
                    <a:solidFill>
                      <a:srgbClr val="716C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i="0" dirty="0">
                          <a:latin typeface="Helvetica" panose="020B0604020202020204"/>
                          <a:cs typeface="Helvetica" panose="020B0604020202020204"/>
                        </a:rPr>
                        <a:t>ND - DD</a:t>
                      </a:r>
                    </a:p>
                  </a:txBody>
                  <a:tcPr>
                    <a:solidFill>
                      <a:srgbClr val="37AD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i="0" dirty="0">
                          <a:latin typeface="Helvetica" panose="020B0604020202020204"/>
                          <a:cs typeface="Helvetica" panose="020B0604020202020204"/>
                        </a:rPr>
                        <a:t>DH – DD</a:t>
                      </a:r>
                    </a:p>
                  </a:txBody>
                  <a:tcPr>
                    <a:solidFill>
                      <a:srgbClr val="DB5E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06264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δ</a:t>
                      </a:r>
                      <a:r>
                        <a:rPr lang="es-ES" sz="1400" b="1" i="0" baseline="30000" dirty="0">
                          <a:latin typeface="Helvetica" panose="020B0604020202020204"/>
                          <a:cs typeface="Helvetica" panose="020B0604020202020204"/>
                        </a:rPr>
                        <a:t>13</a:t>
                      </a:r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C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061370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δ</a:t>
                      </a:r>
                      <a:r>
                        <a:rPr lang="es-ES" sz="1400" b="0" i="0" baseline="30000" dirty="0">
                          <a:latin typeface="Helvetica" panose="020B0604020202020204"/>
                          <a:cs typeface="Helvetica" panose="020B0604020202020204"/>
                        </a:rPr>
                        <a:t>18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O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136442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δ</a:t>
                      </a:r>
                      <a:r>
                        <a:rPr lang="es-ES" sz="1400" b="0" i="0" baseline="30000" dirty="0">
                          <a:latin typeface="Helvetica" panose="020B0604020202020204"/>
                          <a:cs typeface="Helvetica" panose="020B0604020202020204"/>
                        </a:rPr>
                        <a:t>15</a:t>
                      </a:r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i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927219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Wood 17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670308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Wood 22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191988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BAI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515897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BAI 1980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11599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BAI 20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566533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BAI 15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87248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BAI 10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47193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BAI 05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192225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Rt12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006969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Rt17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623645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Rt22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457248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Rs12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147773"/>
                  </a:ext>
                </a:extLst>
              </a:tr>
              <a:tr h="300915"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Rs17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576428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864DF6F4-1E35-C967-44FD-4C1F32989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30" y="1800426"/>
            <a:ext cx="5115560" cy="5115560"/>
          </a:xfrm>
          <a:prstGeom prst="rect">
            <a:avLst/>
          </a:prstGeom>
        </p:spPr>
      </p:pic>
      <p:sp>
        <p:nvSpPr>
          <p:cNvPr id="6" name="CuadroTexto 10">
            <a:extLst>
              <a:ext uri="{FF2B5EF4-FFF2-40B4-BE49-F238E27FC236}">
                <a16:creationId xmlns:a16="http://schemas.microsoft.com/office/drawing/2014/main" id="{8B2BCA8D-7E32-F085-A23F-5F547907D58A}"/>
              </a:ext>
            </a:extLst>
          </p:cNvPr>
          <p:cNvSpPr txBox="1"/>
          <p:nvPr/>
        </p:nvSpPr>
        <p:spPr>
          <a:xfrm>
            <a:off x="184392" y="815542"/>
            <a:ext cx="5830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s-ES" sz="2000" b="1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0239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B420A-5EA1-4BD5-1E86-284E148BA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B71D2C2-329D-1614-D7BA-900CB0D85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3EDC3F-2319-25FF-729B-9ED79FDAA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FF426EE-A749-CB91-7BC2-38EE4D00690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30CA758-209D-48F9-96AC-339AD52872F8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P-</a:t>
            </a:r>
            <a:r>
              <a:rPr lang="es-ES" sz="3200" b="1" dirty="0" err="1">
                <a:latin typeface="Helvetica"/>
                <a:cs typeface="Helvetica"/>
              </a:rPr>
              <a:t>values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BA265A50-62AC-32C1-C12C-CB7944D9F047}"/>
              </a:ext>
            </a:extLst>
          </p:cNvPr>
          <p:cNvSpPr txBox="1"/>
          <p:nvPr/>
        </p:nvSpPr>
        <p:spPr>
          <a:xfrm>
            <a:off x="-404782" y="2123114"/>
            <a:ext cx="7098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=/=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F741D58A-197D-F17A-55D4-C64F6C233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97ABAC82-24D6-096A-4E15-993542F33694}"/>
              </a:ext>
            </a:extLst>
          </p:cNvPr>
          <p:cNvSpPr txBox="1"/>
          <p:nvPr/>
        </p:nvSpPr>
        <p:spPr>
          <a:xfrm>
            <a:off x="418288" y="2980082"/>
            <a:ext cx="3063789" cy="2585323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dbh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1980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20, 15, 10)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(2012, 2017, 2022)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(2012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2017)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44CC615B-6F40-C44F-FAC1-D72344E83D23}"/>
              </a:ext>
            </a:extLst>
          </p:cNvPr>
          <p:cNvSpPr txBox="1"/>
          <p:nvPr/>
        </p:nvSpPr>
        <p:spPr>
          <a:xfrm>
            <a:off x="4621358" y="2980082"/>
            <a:ext cx="2601245" cy="313932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Nutrients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(C,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C:N)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RWC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Wood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(5)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17A9AA7D-C3B1-BF3A-5647-D5290B2CC2D7}"/>
              </a:ext>
            </a:extLst>
          </p:cNvPr>
          <p:cNvSpPr txBox="1"/>
          <p:nvPr/>
        </p:nvSpPr>
        <p:spPr>
          <a:xfrm>
            <a:off x="3022441" y="3443114"/>
            <a:ext cx="1823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=/=</a:t>
            </a:r>
          </a:p>
        </p:txBody>
      </p:sp>
    </p:spTree>
    <p:extLst>
      <p:ext uri="{BB962C8B-B14F-4D97-AF65-F5344CB8AC3E}">
        <p14:creationId xmlns:p14="http://schemas.microsoft.com/office/powerpoint/2010/main" val="2178379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D6748-91EB-32A9-FBE0-C64F0CDC5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B4B61F5-3330-A8AA-38A9-466ACE9CC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EFBFB1-99D0-C676-8018-46FF79B5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A2939B2-F3C8-A31A-E8B5-13ACDE0857A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4CDFF00-B5C4-99C7-75FA-DBDC703114CD}"/>
              </a:ext>
            </a:extLst>
          </p:cNvPr>
          <p:cNvSpPr txBox="1">
            <a:spLocks/>
          </p:cNvSpPr>
          <p:nvPr/>
        </p:nvSpPr>
        <p:spPr>
          <a:xfrm>
            <a:off x="5704734" y="6350279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2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F2D9288-CD85-756C-D464-FE6CF8F50116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10465002" cy="15489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 panose="020B0604020202020204"/>
                <a:cs typeface="Helvetica"/>
              </a:rPr>
              <a:t>. 1.- 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To assess the underlying processes behind tree dieback by </a:t>
            </a:r>
            <a:r>
              <a:rPr lang="en-US" sz="2400" dirty="0" err="1">
                <a:latin typeface="Helvetica" panose="020B0604020202020204"/>
                <a:cs typeface="Helvetica" panose="020B0604020202020204"/>
              </a:rPr>
              <a:t>characterising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 predisposing factors and the morphological and physiological responses to drought</a:t>
            </a:r>
            <a:endParaRPr lang="es-ES" sz="2400" dirty="0">
              <a:latin typeface="Helvetica" panose="020B0604020202020204"/>
              <a:cs typeface="Helvetica" panose="020B0604020202020204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E5A0EF-A980-5571-827A-2670EEA68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259" y="1746769"/>
            <a:ext cx="5138195" cy="513819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93EE323-DA89-CD22-DD27-394A73B7E917}"/>
              </a:ext>
            </a:extLst>
          </p:cNvPr>
          <p:cNvSpPr txBox="1"/>
          <p:nvPr/>
        </p:nvSpPr>
        <p:spPr>
          <a:xfrm>
            <a:off x="52874" y="2235239"/>
            <a:ext cx="58067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 and more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individuals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Older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limitations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reduced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efficiency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individuals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gains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importance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in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arid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environments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individuals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was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866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AEC58-0706-69CC-3EDA-D2277C272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68A51-95B5-2683-A620-969A22AA7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8A1E26B-DF94-8827-3AD6-6175106F319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4BE05C-9258-6EAF-2B03-08B0B96E5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2720"/>
            <a:ext cx="4404360" cy="44043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63373C-1BC3-0C3A-1CEA-FECBDE8561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820" y="1442720"/>
            <a:ext cx="4404360" cy="44043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F05878-F78A-F172-9B0C-46940CF427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640" y="1442720"/>
            <a:ext cx="4404360" cy="440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6374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6F8F6-FCFA-ADC5-320A-E4C5CCBA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9F43A-4D02-77A1-C7D8-B80CCD7EB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0ACD50A-2445-28CD-628C-631DCD78738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725EDF-92C3-BED2-8BED-2B06FA466C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2720"/>
            <a:ext cx="4404360" cy="44043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A5BD63-CA17-2CA7-A9DB-644B8E5B2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820" y="1442720"/>
            <a:ext cx="4404360" cy="44043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26861B-A9E6-845A-07C5-A5616EC8D3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640" y="1442720"/>
            <a:ext cx="4404360" cy="440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116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72B3E-E391-3855-6057-254C02E5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1BEE753-EDA8-55C8-3FC9-CEA4A47C5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1B7DD8-542E-121E-D569-A3D69EC74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C19AD50-4EA2-D707-0659-D0695216E04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524D53AC-3A64-A8E8-83D9-DCA3815F4DE9}"/>
              </a:ext>
            </a:extLst>
          </p:cNvPr>
          <p:cNvSpPr txBox="1">
            <a:spLocks/>
          </p:cNvSpPr>
          <p:nvPr/>
        </p:nvSpPr>
        <p:spPr>
          <a:xfrm>
            <a:off x="4405261" y="6368128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3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2816B903-2C67-CA1A-3C16-BB3A68E4FBDB}"/>
              </a:ext>
            </a:extLst>
          </p:cNvPr>
          <p:cNvSpPr txBox="1">
            <a:spLocks/>
          </p:cNvSpPr>
          <p:nvPr/>
        </p:nvSpPr>
        <p:spPr>
          <a:xfrm>
            <a:off x="623546" y="972273"/>
            <a:ext cx="10465002" cy="15489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 panose="020B0604020202020204"/>
                <a:cs typeface="Helvetica"/>
              </a:rPr>
              <a:t>. 1.- 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To assess the underlying processes behind tree dieback by </a:t>
            </a:r>
            <a:r>
              <a:rPr lang="en-US" sz="2400" dirty="0" err="1">
                <a:latin typeface="Helvetica" panose="020B0604020202020204"/>
                <a:cs typeface="Helvetica" panose="020B0604020202020204"/>
              </a:rPr>
              <a:t>characterising</a:t>
            </a:r>
            <a:r>
              <a:rPr lang="en-US" sz="2400" dirty="0">
                <a:latin typeface="Helvetica" panose="020B0604020202020204"/>
                <a:cs typeface="Helvetica" panose="020B0604020202020204"/>
              </a:rPr>
              <a:t> predisposing factors and the morphological and physiological responses to drought</a:t>
            </a:r>
            <a:endParaRPr lang="es-ES" sz="2400" dirty="0">
              <a:latin typeface="Helvetica" panose="020B0604020202020204"/>
              <a:cs typeface="Helvetica" panose="020B060402020202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589A80-24E8-0591-5134-47C580719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915" y="1800427"/>
            <a:ext cx="6522962" cy="4891963"/>
          </a:xfrm>
          <a:prstGeom prst="rect">
            <a:avLst/>
          </a:prstGeom>
        </p:spPr>
      </p:pic>
      <p:sp>
        <p:nvSpPr>
          <p:cNvPr id="7" name="CuadroTexto 10">
            <a:extLst>
              <a:ext uri="{FF2B5EF4-FFF2-40B4-BE49-F238E27FC236}">
                <a16:creationId xmlns:a16="http://schemas.microsoft.com/office/drawing/2014/main" id="{49AF0DBE-0958-31CA-8A1D-B5DC38A4CA49}"/>
              </a:ext>
            </a:extLst>
          </p:cNvPr>
          <p:cNvSpPr txBox="1"/>
          <p:nvPr/>
        </p:nvSpPr>
        <p:spPr>
          <a:xfrm>
            <a:off x="-25174" y="2353582"/>
            <a:ext cx="53108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Drought-induced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senescence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loss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turgor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LWC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was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temperate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N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was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alba</a:t>
            </a:r>
            <a:endParaRPr lang="es-ES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sites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only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upregulated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ROS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synthesis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leading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oxidative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damage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maybe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due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to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high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temperatures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. 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l-GR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16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tight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stomatal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control 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&amp;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increased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iWUE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Recent</a:t>
            </a:r>
            <a:r>
              <a:rPr lang="es-E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damaged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healthy</a:t>
            </a:r>
            <a:r>
              <a:rPr lang="es-ES" sz="16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1600" dirty="0" err="1">
                <a:latin typeface="Helvetica" panose="020B0604020202020204" pitchFamily="34" charset="0"/>
                <a:cs typeface="Helvetica" panose="020B0604020202020204" pitchFamily="34" charset="0"/>
              </a:rPr>
              <a:t>individuals</a:t>
            </a: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150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5F5F-8D62-C5FA-B53C-C8888E143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4860345-C2F9-9510-85FB-037DEC4C8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3B0C2D-7A66-67E6-06C9-786658FE8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53CF077-E3D8-34D6-996D-5F36033DC226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A1FD53-63F5-DA2A-98D1-6761D62A1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231"/>
            <a:ext cx="4383615" cy="32875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845F4E-7400-27DE-F164-0906590FF0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525" y="1785231"/>
            <a:ext cx="4383615" cy="32875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6501BC-0870-BE07-99D2-D4C64540E1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050" y="1785231"/>
            <a:ext cx="4383615" cy="328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832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9BC8-A803-6BAC-F668-5D94D6E8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77F85A7-1F17-3A54-BDA6-0E0C54985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53240D-5765-7DCE-9786-A5A24694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0F8C04C-5447-1533-EF0D-F502EE79EEA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F238245-1957-06C9-F589-5B66927EED71}"/>
              </a:ext>
            </a:extLst>
          </p:cNvPr>
          <p:cNvSpPr txBox="1">
            <a:spLocks/>
          </p:cNvSpPr>
          <p:nvPr/>
        </p:nvSpPr>
        <p:spPr>
          <a:xfrm>
            <a:off x="4126560" y="6211669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4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1FB67B6-FA0F-C59E-F249-3F674E59B610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what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predisposing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factors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have</a:t>
            </a:r>
            <a:r>
              <a:rPr lang="es-ES" sz="2400" dirty="0">
                <a:latin typeface="Helvetica"/>
                <a:cs typeface="Helvetica"/>
              </a:rPr>
              <a:t> a </a:t>
            </a:r>
            <a:r>
              <a:rPr lang="es-ES" sz="2400" dirty="0" err="1">
                <a:latin typeface="Helvetica"/>
                <a:cs typeface="Helvetica"/>
              </a:rPr>
              <a:t>larger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effect</a:t>
            </a:r>
            <a:r>
              <a:rPr lang="es-ES" sz="2400" dirty="0">
                <a:latin typeface="Helvetica"/>
                <a:cs typeface="Helvetica"/>
              </a:rPr>
              <a:t>, and </a:t>
            </a:r>
            <a:r>
              <a:rPr lang="es-ES" sz="2400" dirty="0" err="1">
                <a:latin typeface="Helvetica"/>
                <a:cs typeface="Helvetica"/>
              </a:rPr>
              <a:t>what</a:t>
            </a:r>
            <a:r>
              <a:rPr lang="es-ES" sz="2400" dirty="0">
                <a:latin typeface="Helvetica"/>
                <a:cs typeface="Helvetica"/>
              </a:rPr>
              <a:t> 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responses </a:t>
            </a:r>
            <a:r>
              <a:rPr lang="es-ES" sz="2400" b="1" dirty="0" err="1">
                <a:latin typeface="Helvetica"/>
                <a:cs typeface="Helvetica"/>
              </a:rPr>
              <a:t>to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drought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are more intense</a:t>
            </a:r>
            <a:endParaRPr lang="es-ES" sz="2400" b="1" dirty="0">
              <a:latin typeface="Helvetica"/>
              <a:cs typeface="Helvetic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05A1A4-9B05-87BD-B4D5-869DDBE5B0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38" y="2021528"/>
            <a:ext cx="3092947" cy="4639701"/>
          </a:xfrm>
          <a:prstGeom prst="rect">
            <a:avLst/>
          </a:prstGeom>
        </p:spPr>
      </p:pic>
      <p:sp>
        <p:nvSpPr>
          <p:cNvPr id="15" name="TextBox 16">
            <a:extLst>
              <a:ext uri="{FF2B5EF4-FFF2-40B4-BE49-F238E27FC236}">
                <a16:creationId xmlns:a16="http://schemas.microsoft.com/office/drawing/2014/main" id="{DBF7742C-0035-3B84-E4A4-2F4E6B3F34B1}"/>
              </a:ext>
            </a:extLst>
          </p:cNvPr>
          <p:cNvSpPr txBox="1"/>
          <p:nvPr/>
        </p:nvSpPr>
        <p:spPr>
          <a:xfrm>
            <a:off x="6095997" y="2455095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damaged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healthy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D4A4977B-A7DD-5A63-0387-0E7370868A5F}"/>
              </a:ext>
            </a:extLst>
          </p:cNvPr>
          <p:cNvSpPr txBox="1"/>
          <p:nvPr/>
        </p:nvSpPr>
        <p:spPr>
          <a:xfrm>
            <a:off x="4845451" y="3429000"/>
            <a:ext cx="675539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BAI,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and Age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were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highest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RR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and Wood δ</a:t>
            </a:r>
            <a:r>
              <a:rPr lang="es-ES" sz="2000" b="1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non-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RRs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9714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0A17A-75C7-4B1C-467E-746896C8E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FF53BF0-3EC8-55E9-955B-08CF89440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945A35-79C4-3A74-523D-1C5741DD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9A531DD-3F80-ABB1-D728-D5BDBA5DDBD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7007B9DD-16E8-DFB5-2FDB-AAA106970DC8}"/>
              </a:ext>
            </a:extLst>
          </p:cNvPr>
          <p:cNvSpPr txBox="1">
            <a:spLocks/>
          </p:cNvSpPr>
          <p:nvPr/>
        </p:nvSpPr>
        <p:spPr>
          <a:xfrm>
            <a:off x="4126560" y="6211669"/>
            <a:ext cx="88037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1800" b="1" dirty="0">
                <a:latin typeface="Helvetica"/>
                <a:cs typeface="Helvetica"/>
              </a:rPr>
              <a:t>Fig. 4</a:t>
            </a:r>
            <a:endParaRPr lang="es-E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F8DF62B-02D6-BC2F-586F-06019FDF2EC0}"/>
              </a:ext>
            </a:extLst>
          </p:cNvPr>
          <p:cNvSpPr txBox="1">
            <a:spLocks/>
          </p:cNvSpPr>
          <p:nvPr/>
        </p:nvSpPr>
        <p:spPr>
          <a:xfrm>
            <a:off x="633459" y="1028714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what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predisposing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factors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have</a:t>
            </a:r>
            <a:r>
              <a:rPr lang="es-ES" sz="2400" dirty="0">
                <a:latin typeface="Helvetica"/>
                <a:cs typeface="Helvetica"/>
              </a:rPr>
              <a:t> a </a:t>
            </a:r>
            <a:r>
              <a:rPr lang="es-ES" sz="2400" dirty="0" err="1">
                <a:latin typeface="Helvetica"/>
                <a:cs typeface="Helvetica"/>
              </a:rPr>
              <a:t>larger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effect</a:t>
            </a:r>
            <a:r>
              <a:rPr lang="es-ES" sz="2400" dirty="0">
                <a:latin typeface="Helvetica"/>
                <a:cs typeface="Helvetica"/>
              </a:rPr>
              <a:t>, and </a:t>
            </a:r>
            <a:r>
              <a:rPr lang="es-ES" sz="2400" dirty="0" err="1">
                <a:latin typeface="Helvetica"/>
                <a:cs typeface="Helvetica"/>
              </a:rPr>
              <a:t>what</a:t>
            </a:r>
            <a:r>
              <a:rPr lang="es-ES" sz="2400" dirty="0">
                <a:latin typeface="Helvetica"/>
                <a:cs typeface="Helvetica"/>
              </a:rPr>
              <a:t> 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responses </a:t>
            </a:r>
            <a:r>
              <a:rPr lang="es-ES" sz="2400" b="1" dirty="0" err="1">
                <a:latin typeface="Helvetica"/>
                <a:cs typeface="Helvetica"/>
              </a:rPr>
              <a:t>to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drought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are more intense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71D966E2-C050-943C-F732-8E8131224A17}"/>
              </a:ext>
            </a:extLst>
          </p:cNvPr>
          <p:cNvSpPr txBox="1"/>
          <p:nvPr/>
        </p:nvSpPr>
        <p:spPr>
          <a:xfrm>
            <a:off x="6095997" y="2455095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damaged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healthy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0ADAC6F9-978C-C475-6D36-EE0D609E3AC4}"/>
              </a:ext>
            </a:extLst>
          </p:cNvPr>
          <p:cNvSpPr txBox="1"/>
          <p:nvPr/>
        </p:nvSpPr>
        <p:spPr>
          <a:xfrm>
            <a:off x="4845451" y="3429000"/>
            <a:ext cx="6755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0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20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muestra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RRs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mayores</a:t>
            </a:r>
            <a:endParaRPr lang="es-ES" sz="2000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DB15C9-C61C-C0CE-5CCA-1A3B58B8D7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051" y="2000150"/>
            <a:ext cx="3224120" cy="483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7885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8D9A9-36F5-8D36-E39C-AC95B7708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A007449-5732-E4F9-2FEE-B6EA8B9A8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2CD2BB-70CD-55C4-35E0-1E952991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470A7A3-7715-2A2C-6F12-BDB7084F64E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9C8541-B4E5-1398-0C94-64D67ACDF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96" y="914400"/>
            <a:ext cx="5701004" cy="57010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988BD9-B66D-BFFC-2BB7-1C8272A3D3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9" t="71293" r="78495" b="7891"/>
          <a:stretch>
            <a:fillRect/>
          </a:stretch>
        </p:blipFill>
        <p:spPr>
          <a:xfrm>
            <a:off x="5840964" y="4870580"/>
            <a:ext cx="2537926" cy="1427584"/>
          </a:xfrm>
          <a:prstGeom prst="rect">
            <a:avLst/>
          </a:prstGeom>
        </p:spPr>
      </p:pic>
      <p:sp>
        <p:nvSpPr>
          <p:cNvPr id="13" name="CuadroTexto 10">
            <a:extLst>
              <a:ext uri="{FF2B5EF4-FFF2-40B4-BE49-F238E27FC236}">
                <a16:creationId xmlns:a16="http://schemas.microsoft.com/office/drawing/2014/main" id="{F2878B07-88B8-2709-1378-69DFDD64C7D6}"/>
              </a:ext>
            </a:extLst>
          </p:cNvPr>
          <p:cNvSpPr txBox="1"/>
          <p:nvPr/>
        </p:nvSpPr>
        <p:spPr>
          <a:xfrm>
            <a:off x="6096000" y="2011625"/>
            <a:ext cx="44973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High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orthogonality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1: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., N, BAI80, BAI05;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2: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Rs12, WC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6A2D9F04-6205-155F-0CE9-A87479AEEC12}"/>
              </a:ext>
            </a:extLst>
          </p:cNvPr>
          <p:cNvSpPr txBox="1">
            <a:spLocks/>
          </p:cNvSpPr>
          <p:nvPr/>
        </p:nvSpPr>
        <p:spPr>
          <a:xfrm>
            <a:off x="6096001" y="1083863"/>
            <a:ext cx="3594902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>
                <a:latin typeface="Helvetica"/>
                <a:cs typeface="Helvetica"/>
              </a:rPr>
              <a:t>PCA </a:t>
            </a:r>
            <a:r>
              <a:rPr lang="es-ES" sz="2400" b="1" dirty="0" err="1">
                <a:latin typeface="Helvetica"/>
                <a:cs typeface="Helvetica"/>
              </a:rPr>
              <a:t>Analysis</a:t>
            </a:r>
            <a:endParaRPr lang="es-ES" sz="2400" b="1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2066029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E3FE-ABF9-2983-F15A-1FEFAEA8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6D41078-2730-8B0A-3CAF-BA787ABD8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841360-6F88-9716-453D-E664F853C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6128630-A9BC-495F-C621-7B7F7BF8181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2F9CDB4-AD3C-397D-0942-8DF2D3E370B2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471F79EF-4DDD-D464-5E81-5DFC13BB7370}"/>
              </a:ext>
            </a:extLst>
          </p:cNvPr>
          <p:cNvSpPr txBox="1"/>
          <p:nvPr/>
        </p:nvSpPr>
        <p:spPr>
          <a:xfrm>
            <a:off x="633461" y="2598003"/>
            <a:ext cx="5670963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worth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grouping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variables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two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components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1942CB3D-3C99-4195-732D-B90B71ECC0F6}"/>
              </a:ext>
            </a:extLst>
          </p:cNvPr>
          <p:cNvSpPr txBox="1"/>
          <p:nvPr/>
        </p:nvSpPr>
        <p:spPr>
          <a:xfrm>
            <a:off x="633463" y="3488989"/>
            <a:ext cx="5587119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Linear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Mixed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Structural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Equations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83AD2E54-7FD0-1ED6-7EA6-C43FA5109A18}"/>
              </a:ext>
            </a:extLst>
          </p:cNvPr>
          <p:cNvSpPr txBox="1"/>
          <p:nvPr/>
        </p:nvSpPr>
        <p:spPr>
          <a:xfrm>
            <a:off x="745077" y="4379975"/>
            <a:ext cx="5670963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s-ES" sz="20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SPEI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+ PCA1 + PCA2 + (1 | site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id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id) ¿?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08A062-5EAA-2C30-1BD7-BB668502F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040" y="1613511"/>
            <a:ext cx="4878729" cy="487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9503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C4FE-D540-58EA-C148-B08589E6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91F3314-AF75-E728-58A1-966BF899A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04E661-DA61-B627-FBC9-AE09F0C45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392BBB0-7417-4E4E-DDE1-47A8F0C164B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B9DD9AE-F01B-0965-B781-7B9F3A7F2EC9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42D86B-F7ED-BFD0-9CB6-B028B92C9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528"/>
          <a:stretch>
            <a:fillRect/>
          </a:stretch>
        </p:blipFill>
        <p:spPr>
          <a:xfrm>
            <a:off x="633461" y="1979271"/>
            <a:ext cx="6763019" cy="4269129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12BDB73-026F-4EB4-C430-9729CEF92A3E}"/>
              </a:ext>
            </a:extLst>
          </p:cNvPr>
          <p:cNvSpPr txBox="1"/>
          <p:nvPr/>
        </p:nvSpPr>
        <p:spPr>
          <a:xfrm>
            <a:off x="7298421" y="2129176"/>
            <a:ext cx="44973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Very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orthogonality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1: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N, BAI, Rt12;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2: </a:t>
            </a:r>
            <a:r>
              <a:rPr lang="el-GR" sz="2000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C, Rs12, LWC;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Rs17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6C3135-4F44-B03E-6B54-10D12149DB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630" r="78500" b="7259"/>
          <a:stretch>
            <a:fillRect/>
          </a:stretch>
        </p:blipFill>
        <p:spPr>
          <a:xfrm>
            <a:off x="5233824" y="4643120"/>
            <a:ext cx="2091536" cy="126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24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196E3-8B72-C39D-0421-4BC100053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3186D16-E14C-59DB-BF5B-6BC5404D8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DF9691-CCBB-C664-CD90-631959AE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51DF5E3-F89C-345F-EE29-106FDF1BCD5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D4B8B29-5AC3-B419-6980-33A710E5FBB0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FFECE6-DE50-2565-AF8B-B54C1AE68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73"/>
          <a:stretch>
            <a:fillRect/>
          </a:stretch>
        </p:blipFill>
        <p:spPr>
          <a:xfrm>
            <a:off x="1524212" y="1776929"/>
            <a:ext cx="7529406" cy="32773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8B9933-73B0-6F9C-F057-1FD131C093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1730" r="78070" b="5485"/>
          <a:stretch>
            <a:fillRect/>
          </a:stretch>
        </p:blipFill>
        <p:spPr>
          <a:xfrm>
            <a:off x="2171699" y="5150733"/>
            <a:ext cx="2673752" cy="15625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6D8BEF-2161-71BC-97EA-EE6E6E6545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9536" r="79114" b="7679"/>
          <a:stretch>
            <a:fillRect/>
          </a:stretch>
        </p:blipFill>
        <p:spPr>
          <a:xfrm>
            <a:off x="6096000" y="5104433"/>
            <a:ext cx="2546430" cy="1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089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F5BA-1B83-F460-847D-0C3BB8B77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F2464FC-5965-91B7-7F19-A93D65516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AADC97-1ACE-B518-0FB9-7AE3D69EF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5EC93B4-F7AF-6284-EEAA-1292D35F803C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764E94B-DB39-2D18-C576-6D0CBDC426E8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974E99-1F0E-A5E3-45C4-D41C0A20A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73"/>
          <a:stretch>
            <a:fillRect/>
          </a:stretch>
        </p:blipFill>
        <p:spPr>
          <a:xfrm>
            <a:off x="1524212" y="1776929"/>
            <a:ext cx="7529406" cy="3277367"/>
          </a:xfrm>
          <a:prstGeom prst="rect">
            <a:avLst/>
          </a:prstGeom>
        </p:spPr>
      </p:pic>
      <p:sp>
        <p:nvSpPr>
          <p:cNvPr id="5" name="CuadroTexto 10">
            <a:extLst>
              <a:ext uri="{FF2B5EF4-FFF2-40B4-BE49-F238E27FC236}">
                <a16:creationId xmlns:a16="http://schemas.microsoft.com/office/drawing/2014/main" id="{C39E252F-F3F3-99FB-0061-B54E73F554C0}"/>
              </a:ext>
            </a:extLst>
          </p:cNvPr>
          <p:cNvSpPr txBox="1"/>
          <p:nvPr/>
        </p:nvSpPr>
        <p:spPr>
          <a:xfrm>
            <a:off x="1082793" y="5054296"/>
            <a:ext cx="95849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orthogonality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in non-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more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concentrated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around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PC2 negative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around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positive PC1</a:t>
            </a:r>
            <a:endParaRPr lang="es-ES" sz="2000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 algn="just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BAI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/ </a:t>
            </a:r>
            <a:r>
              <a:rPr lang="el-GR" sz="20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sz="2000" baseline="300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sz="20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C, Rt12</a:t>
            </a:r>
          </a:p>
        </p:txBody>
      </p:sp>
    </p:spTree>
    <p:extLst>
      <p:ext uri="{BB962C8B-B14F-4D97-AF65-F5344CB8AC3E}">
        <p14:creationId xmlns:p14="http://schemas.microsoft.com/office/powerpoint/2010/main" val="39662692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65259-178B-0DEA-4FFB-41A3B0FC8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3BF7C92-9F56-A55B-29D2-2825D4A4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A3AF12-B690-A7D6-A9FD-B7908211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BF416D5-592C-9B1C-CFE3-D8345203556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50AE5DD-0CB7-C762-5243-BBCA80BB48FB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D0749B-C324-8962-0DD1-17872AB02B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92" y="1823925"/>
            <a:ext cx="3960316" cy="44499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80EA64-AF73-35F1-A9A0-6D1BBBA5A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253" y="1823925"/>
            <a:ext cx="3960316" cy="44499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748782-9BAD-B727-C1D1-0B87CB12FF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914" y="1800427"/>
            <a:ext cx="3960316" cy="443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776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F4F8B-1BEE-52D9-EB06-A7BBD3FE2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91109CD-FA4E-9AF7-B972-E38B190FC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3F75E7-9067-958C-69F4-00C1AF6D9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8BD0FA7-1F33-65E2-7533-1E67EC68798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CEEF58D-3933-A6B1-BBE1-08613DEFE4DF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101" name="Marcador de contenido 2">
            <a:extLst>
              <a:ext uri="{FF2B5EF4-FFF2-40B4-BE49-F238E27FC236}">
                <a16:creationId xmlns:a16="http://schemas.microsoft.com/office/drawing/2014/main" id="{3AC7793B-6346-909E-0D70-DE6E141A4D2E}"/>
              </a:ext>
            </a:extLst>
          </p:cNvPr>
          <p:cNvSpPr txBox="1">
            <a:spLocks/>
          </p:cNvSpPr>
          <p:nvPr/>
        </p:nvSpPr>
        <p:spPr>
          <a:xfrm>
            <a:off x="2407860" y="2643576"/>
            <a:ext cx="2179380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dirty="0">
                <a:latin typeface="Helvetica"/>
                <a:cs typeface="Helvetica"/>
              </a:rPr>
              <a:t>GLM?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2" name="Marcador de contenido 2">
            <a:extLst>
              <a:ext uri="{FF2B5EF4-FFF2-40B4-BE49-F238E27FC236}">
                <a16:creationId xmlns:a16="http://schemas.microsoft.com/office/drawing/2014/main" id="{1D220480-4BFC-1D9B-5029-4284165E7AD0}"/>
              </a:ext>
            </a:extLst>
          </p:cNvPr>
          <p:cNvSpPr txBox="1">
            <a:spLocks/>
          </p:cNvSpPr>
          <p:nvPr/>
        </p:nvSpPr>
        <p:spPr>
          <a:xfrm>
            <a:off x="7924740" y="2643576"/>
            <a:ext cx="2179380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SEM?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103" name="Grupo 2">
            <a:extLst>
              <a:ext uri="{FF2B5EF4-FFF2-40B4-BE49-F238E27FC236}">
                <a16:creationId xmlns:a16="http://schemas.microsoft.com/office/drawing/2014/main" id="{A71C39C2-B922-EC60-37B8-4197DDDEB311}"/>
              </a:ext>
            </a:extLst>
          </p:cNvPr>
          <p:cNvGrpSpPr/>
          <p:nvPr/>
        </p:nvGrpSpPr>
        <p:grpSpPr>
          <a:xfrm>
            <a:off x="7275553" y="3429000"/>
            <a:ext cx="3477754" cy="1250117"/>
            <a:chOff x="1139560" y="5095351"/>
            <a:chExt cx="3477754" cy="1250117"/>
          </a:xfrm>
        </p:grpSpPr>
        <p:pic>
          <p:nvPicPr>
            <p:cNvPr id="104" name="Imagen 4">
              <a:extLst>
                <a:ext uri="{FF2B5EF4-FFF2-40B4-BE49-F238E27FC236}">
                  <a16:creationId xmlns:a16="http://schemas.microsoft.com/office/drawing/2014/main" id="{5E44B980-6F3A-E7AD-9E03-28074ADE3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05" name="CuadroTexto 5">
              <a:extLst>
                <a:ext uri="{FF2B5EF4-FFF2-40B4-BE49-F238E27FC236}">
                  <a16:creationId xmlns:a16="http://schemas.microsoft.com/office/drawing/2014/main" id="{B7F97F80-303C-AE69-190F-953E36464FD7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06" name="CuadroTexto 6">
              <a:extLst>
                <a:ext uri="{FF2B5EF4-FFF2-40B4-BE49-F238E27FC236}">
                  <a16:creationId xmlns:a16="http://schemas.microsoft.com/office/drawing/2014/main" id="{C581EE06-F26E-0237-FBB8-ACC8A8C097B1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sp>
        <p:nvSpPr>
          <p:cNvPr id="107" name="Marcador de contenido 2">
            <a:extLst>
              <a:ext uri="{FF2B5EF4-FFF2-40B4-BE49-F238E27FC236}">
                <a16:creationId xmlns:a16="http://schemas.microsoft.com/office/drawing/2014/main" id="{4FE96E70-0C70-8FFB-2D33-B4DA52F8AB87}"/>
              </a:ext>
            </a:extLst>
          </p:cNvPr>
          <p:cNvSpPr txBox="1">
            <a:spLocks/>
          </p:cNvSpPr>
          <p:nvPr/>
        </p:nvSpPr>
        <p:spPr>
          <a:xfrm>
            <a:off x="633460" y="4221220"/>
            <a:ext cx="6231690" cy="15061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218317"/>
              </a:buClr>
            </a:pPr>
            <a:r>
              <a:rPr lang="es-ES" sz="2400" dirty="0" err="1">
                <a:latin typeface="Helvetica"/>
                <a:cs typeface="Helvetica"/>
              </a:rPr>
              <a:t>Changes</a:t>
            </a:r>
            <a:r>
              <a:rPr lang="es-ES" sz="2400" dirty="0">
                <a:latin typeface="Helvetica"/>
                <a:cs typeface="Helvetica"/>
              </a:rPr>
              <a:t> in SEM </a:t>
            </a:r>
            <a:r>
              <a:rPr lang="es-ES" sz="2400" b="1" dirty="0" err="1">
                <a:latin typeface="Helvetica"/>
                <a:cs typeface="Helvetica"/>
              </a:rPr>
              <a:t>pathways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different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physiological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processes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in D vs. ND</a:t>
            </a:r>
          </a:p>
          <a:p>
            <a:pPr algn="just">
              <a:buClr>
                <a:srgbClr val="218317"/>
              </a:buClr>
            </a:pP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Variables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relationships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just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just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8" name="Signo de multiplicación 18">
            <a:extLst>
              <a:ext uri="{FF2B5EF4-FFF2-40B4-BE49-F238E27FC236}">
                <a16:creationId xmlns:a16="http://schemas.microsoft.com/office/drawing/2014/main" id="{B367929E-6404-DD1F-DEF1-7CA4B457D36C}"/>
              </a:ext>
            </a:extLst>
          </p:cNvPr>
          <p:cNvSpPr/>
          <p:nvPr/>
        </p:nvSpPr>
        <p:spPr>
          <a:xfrm>
            <a:off x="2918816" y="2196989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25422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98CAA-7B73-8A37-6716-C48ABCAA6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C7867981-5F76-23DC-E606-5CDED27EE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08ADC9-7EBB-50F1-1929-F5909017E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BA85501-43CA-EFCD-123C-307D807A6467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B11F9D0-E8AD-CA46-9122-ED6DDF76FA2E}"/>
              </a:ext>
            </a:extLst>
          </p:cNvPr>
          <p:cNvSpPr txBox="1">
            <a:spLocks/>
          </p:cNvSpPr>
          <p:nvPr/>
        </p:nvSpPr>
        <p:spPr>
          <a:xfrm>
            <a:off x="633461" y="1130598"/>
            <a:ext cx="11162299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b="1" dirty="0" err="1">
                <a:latin typeface="Helvetica"/>
                <a:cs typeface="Helvetica"/>
              </a:rPr>
              <a:t>Obj</a:t>
            </a:r>
            <a:r>
              <a:rPr lang="es-ES" sz="1800" b="1" dirty="0">
                <a:latin typeface="Helvetica"/>
                <a:cs typeface="Helvetica"/>
              </a:rPr>
              <a:t>. 3.-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assess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how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underlying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mechanisms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behind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18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vary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due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to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long-term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adaptations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along</a:t>
            </a:r>
            <a:r>
              <a:rPr lang="es-ES" sz="1800" dirty="0">
                <a:latin typeface="Helvetica"/>
                <a:cs typeface="Helvetica"/>
              </a:rPr>
              <a:t> a </a:t>
            </a:r>
            <a:r>
              <a:rPr lang="es-ES" sz="1800" dirty="0" err="1">
                <a:latin typeface="Helvetica"/>
                <a:cs typeface="Helvetica"/>
              </a:rPr>
              <a:t>moisture</a:t>
            </a:r>
            <a:r>
              <a:rPr lang="es-ES" sz="1800" dirty="0">
                <a:latin typeface="Helvetica"/>
                <a:cs typeface="Helvetica"/>
              </a:rPr>
              <a:t> </a:t>
            </a:r>
            <a:r>
              <a:rPr lang="es-ES" sz="1800" dirty="0" err="1">
                <a:latin typeface="Helvetica"/>
                <a:cs typeface="Helvetica"/>
              </a:rPr>
              <a:t>gradient</a:t>
            </a:r>
            <a:endParaRPr lang="es-ES" sz="1800" b="1" dirty="0">
              <a:latin typeface="Helvetica"/>
              <a:cs typeface="Helvetic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7F8412-D90C-5294-E6D4-AB5BBAEA6D55}"/>
              </a:ext>
            </a:extLst>
          </p:cNvPr>
          <p:cNvSpPr/>
          <p:nvPr/>
        </p:nvSpPr>
        <p:spPr>
          <a:xfrm>
            <a:off x="2823881" y="1947643"/>
            <a:ext cx="6106110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SPEI, TEMP.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F0A82-E298-C6BA-D660-6A75F845B2F1}"/>
              </a:ext>
            </a:extLst>
          </p:cNvPr>
          <p:cNvSpPr/>
          <p:nvPr/>
        </p:nvSpPr>
        <p:spPr>
          <a:xfrm>
            <a:off x="5411438" y="3316958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b="1" dirty="0">
                <a:latin typeface="Helvetica" panose="020B0604020202020204"/>
                <a:cs typeface="Helvetica" panose="020B0604020202020204"/>
              </a:rPr>
              <a:t>δ</a:t>
            </a:r>
            <a:r>
              <a:rPr lang="es-ES" b="1" baseline="30000" dirty="0">
                <a:latin typeface="Helvetica" panose="020B0604020202020204"/>
                <a:cs typeface="Helvetica" panose="020B0604020202020204"/>
              </a:rPr>
              <a:t>13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641A9A-AB93-703A-3F2F-A00A04AF3607}"/>
              </a:ext>
            </a:extLst>
          </p:cNvPr>
          <p:cNvSpPr/>
          <p:nvPr/>
        </p:nvSpPr>
        <p:spPr>
          <a:xfrm>
            <a:off x="7998995" y="3288916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b="1" dirty="0">
                <a:latin typeface="Helvetica" panose="020B0604020202020204"/>
                <a:cs typeface="Helvetica" panose="020B0604020202020204"/>
              </a:rPr>
              <a:t>δ</a:t>
            </a:r>
            <a:r>
              <a:rPr lang="es-ES" b="1" baseline="30000" dirty="0">
                <a:latin typeface="Helvetica" panose="020B0604020202020204"/>
                <a:cs typeface="Helvetica" panose="020B0604020202020204"/>
              </a:rPr>
              <a:t>15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B3C5FE-2D5F-A191-35C9-8E2EAD6CF2C5}"/>
              </a:ext>
            </a:extLst>
          </p:cNvPr>
          <p:cNvSpPr/>
          <p:nvPr/>
        </p:nvSpPr>
        <p:spPr>
          <a:xfrm>
            <a:off x="3072328" y="4403137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F5FF3E-8CAC-F9F0-55BB-9243931BF307}"/>
              </a:ext>
            </a:extLst>
          </p:cNvPr>
          <p:cNvSpPr/>
          <p:nvPr/>
        </p:nvSpPr>
        <p:spPr>
          <a:xfrm>
            <a:off x="1193492" y="4403137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Height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364021-A0EA-94C1-F57E-91F3ADE25ADB}"/>
              </a:ext>
            </a:extLst>
          </p:cNvPr>
          <p:cNvSpPr/>
          <p:nvPr/>
        </p:nvSpPr>
        <p:spPr>
          <a:xfrm>
            <a:off x="2746915" y="3316958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RWC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4D3892-4914-33F1-531A-B80FB9E49D5D}"/>
              </a:ext>
            </a:extLst>
          </p:cNvPr>
          <p:cNvSpPr/>
          <p:nvPr/>
        </p:nvSpPr>
        <p:spPr>
          <a:xfrm>
            <a:off x="5411438" y="4478685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Chl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/</a:t>
            </a:r>
            <a:r>
              <a:rPr lang="es-ES" b="1" dirty="0" err="1">
                <a:latin typeface="Helvetica" panose="020B0604020202020204"/>
                <a:cs typeface="Helvetica" panose="020B0604020202020204"/>
              </a:rPr>
              <a:t>xc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FDA849-6A0B-E94C-9A97-047675BFA308}"/>
              </a:ext>
            </a:extLst>
          </p:cNvPr>
          <p:cNvSpPr/>
          <p:nvPr/>
        </p:nvSpPr>
        <p:spPr>
          <a:xfrm>
            <a:off x="3072328" y="5727402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Helvetica" panose="020B0604020202020204"/>
                <a:cs typeface="Helvetica" panose="020B0604020202020204"/>
              </a:rPr>
              <a:t>BAI80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75F59-5C32-265B-889E-520B7763DD6C}"/>
              </a:ext>
            </a:extLst>
          </p:cNvPr>
          <p:cNvSpPr/>
          <p:nvPr/>
        </p:nvSpPr>
        <p:spPr>
          <a:xfrm>
            <a:off x="7170714" y="5727402"/>
            <a:ext cx="1368358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Defoliation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7AE41B-9024-37F4-8B61-4107D42EC552}"/>
              </a:ext>
            </a:extLst>
          </p:cNvPr>
          <p:cNvSpPr/>
          <p:nvPr/>
        </p:nvSpPr>
        <p:spPr>
          <a:xfrm>
            <a:off x="5411438" y="5727402"/>
            <a:ext cx="930996" cy="4761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err="1">
                <a:latin typeface="Helvetica" panose="020B0604020202020204"/>
                <a:cs typeface="Helvetica" panose="020B0604020202020204"/>
              </a:rPr>
              <a:t>Rt</a:t>
            </a:r>
            <a:r>
              <a:rPr lang="es-ES" b="1" dirty="0">
                <a:latin typeface="Helvetica" panose="020B0604020202020204"/>
                <a:cs typeface="Helvetica" panose="020B0604020202020204"/>
              </a:rPr>
              <a:t>, </a:t>
            </a:r>
            <a:r>
              <a:rPr lang="es-ES" b="1" dirty="0" err="1">
                <a:latin typeface="Helvetica" panose="020B0604020202020204"/>
                <a:cs typeface="Helvetica" panose="020B0604020202020204"/>
              </a:rPr>
              <a:t>Rs</a:t>
            </a:r>
            <a:endParaRPr lang="es-ES" b="1" dirty="0">
              <a:latin typeface="Helvetica" panose="020B0604020202020204"/>
              <a:cs typeface="Helvetica" panose="020B0604020202020204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A19E89-F2F4-E939-609B-CF8711894A6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876936" y="2423815"/>
            <a:ext cx="0" cy="89314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6D03CD97-2BC2-E7C3-88B3-18AF72A98795}"/>
              </a:ext>
            </a:extLst>
          </p:cNvPr>
          <p:cNvSpPr txBox="1">
            <a:spLocks/>
          </p:cNvSpPr>
          <p:nvPr/>
        </p:nvSpPr>
        <p:spPr>
          <a:xfrm>
            <a:off x="5876935" y="2633198"/>
            <a:ext cx="757328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Stomatal</a:t>
            </a:r>
            <a:r>
              <a:rPr lang="es-ES" sz="1100" dirty="0">
                <a:latin typeface="Helvetica"/>
                <a:cs typeface="Helvetica"/>
              </a:rPr>
              <a:t> </a:t>
            </a:r>
            <a:r>
              <a:rPr lang="es-ES" sz="1100" dirty="0" err="1">
                <a:latin typeface="Helvetica"/>
                <a:cs typeface="Helvetica"/>
              </a:rPr>
              <a:t>closure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E11DCB-1467-9A8C-B42F-C9A98BE38DA1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876936" y="2423815"/>
            <a:ext cx="2587557" cy="865101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9C59B448-4D5A-4D4E-EC63-F005EBCBE54E}"/>
              </a:ext>
            </a:extLst>
          </p:cNvPr>
          <p:cNvSpPr txBox="1">
            <a:spLocks/>
          </p:cNvSpPr>
          <p:nvPr/>
        </p:nvSpPr>
        <p:spPr>
          <a:xfrm>
            <a:off x="7834725" y="2522057"/>
            <a:ext cx="757328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Limitted</a:t>
            </a:r>
            <a:r>
              <a:rPr lang="es-ES" sz="1100" dirty="0">
                <a:latin typeface="Helvetica"/>
                <a:cs typeface="Helvetica"/>
              </a:rPr>
              <a:t> </a:t>
            </a:r>
            <a:r>
              <a:rPr lang="es-ES" sz="1100" dirty="0" err="1">
                <a:latin typeface="Helvetica"/>
                <a:cs typeface="Helvetica"/>
              </a:rPr>
              <a:t>uptake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53948D9-032E-9D41-D6E7-F49890C9C9F4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3212413" y="2423815"/>
            <a:ext cx="2664523" cy="89314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Marcador de contenido 2">
            <a:extLst>
              <a:ext uri="{FF2B5EF4-FFF2-40B4-BE49-F238E27FC236}">
                <a16:creationId xmlns:a16="http://schemas.microsoft.com/office/drawing/2014/main" id="{7443CDB0-2D90-C022-A0FF-8A2BF129CEEF}"/>
              </a:ext>
            </a:extLst>
          </p:cNvPr>
          <p:cNvSpPr txBox="1">
            <a:spLocks/>
          </p:cNvSpPr>
          <p:nvPr/>
        </p:nvSpPr>
        <p:spPr>
          <a:xfrm>
            <a:off x="4047259" y="2522297"/>
            <a:ext cx="757328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Turgor</a:t>
            </a:r>
            <a:r>
              <a:rPr lang="es-ES" sz="1100" dirty="0">
                <a:latin typeface="Helvetica"/>
                <a:cs typeface="Helvetica"/>
              </a:rPr>
              <a:t> </a:t>
            </a:r>
            <a:r>
              <a:rPr lang="es-ES" sz="1100" dirty="0" err="1">
                <a:latin typeface="Helvetica"/>
                <a:cs typeface="Helvetica"/>
              </a:rPr>
              <a:t>loss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E48C19-1773-629D-8FBD-8FFC3B4FBFBE}"/>
              </a:ext>
            </a:extLst>
          </p:cNvPr>
          <p:cNvCxnSpPr>
            <a:cxnSpLocks/>
            <a:stCxn id="6" idx="1"/>
            <a:endCxn id="14" idx="3"/>
          </p:cNvCxnSpPr>
          <p:nvPr/>
        </p:nvCxnSpPr>
        <p:spPr>
          <a:xfrm flipH="1">
            <a:off x="3677911" y="3555044"/>
            <a:ext cx="1733527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arcador de contenido 2">
            <a:extLst>
              <a:ext uri="{FF2B5EF4-FFF2-40B4-BE49-F238E27FC236}">
                <a16:creationId xmlns:a16="http://schemas.microsoft.com/office/drawing/2014/main" id="{37BA9148-B754-E992-0BBB-096D6F435085}"/>
              </a:ext>
            </a:extLst>
          </p:cNvPr>
          <p:cNvSpPr txBox="1">
            <a:spLocks/>
          </p:cNvSpPr>
          <p:nvPr/>
        </p:nvSpPr>
        <p:spPr>
          <a:xfrm>
            <a:off x="4003324" y="3236555"/>
            <a:ext cx="1005735" cy="2661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Transpiration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C4F89A-95EC-171B-B868-7D156E5A839A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 flipH="1">
            <a:off x="7854893" y="3765088"/>
            <a:ext cx="609600" cy="1962314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arcador de contenido 2">
            <a:extLst>
              <a:ext uri="{FF2B5EF4-FFF2-40B4-BE49-F238E27FC236}">
                <a16:creationId xmlns:a16="http://schemas.microsoft.com/office/drawing/2014/main" id="{24C41916-A79D-12D1-1660-15536A4B33B0}"/>
              </a:ext>
            </a:extLst>
          </p:cNvPr>
          <p:cNvSpPr txBox="1">
            <a:spLocks/>
          </p:cNvSpPr>
          <p:nvPr/>
        </p:nvSpPr>
        <p:spPr>
          <a:xfrm>
            <a:off x="8195363" y="4496322"/>
            <a:ext cx="930996" cy="476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050" dirty="0" err="1">
                <a:latin typeface="Helvetica"/>
                <a:cs typeface="Helvetica"/>
              </a:rPr>
              <a:t>Leaf</a:t>
            </a:r>
            <a:r>
              <a:rPr lang="es-ES" sz="1050" dirty="0">
                <a:latin typeface="Helvetica"/>
                <a:cs typeface="Helvetica"/>
              </a:rPr>
              <a:t> </a:t>
            </a:r>
            <a:r>
              <a:rPr lang="es-ES" sz="1050" dirty="0" err="1">
                <a:latin typeface="Helvetica"/>
                <a:cs typeface="Helvetica"/>
              </a:rPr>
              <a:t>senescence</a:t>
            </a:r>
            <a:endParaRPr lang="es-ES" sz="1050" dirty="0">
              <a:latin typeface="Helvetica"/>
              <a:cs typeface="Helvetica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1161069-BC9D-857B-2AA5-67E47DAE7AA2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6342434" y="3527002"/>
            <a:ext cx="1656561" cy="28042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Marcador de contenido 2">
            <a:extLst>
              <a:ext uri="{FF2B5EF4-FFF2-40B4-BE49-F238E27FC236}">
                <a16:creationId xmlns:a16="http://schemas.microsoft.com/office/drawing/2014/main" id="{58B5D179-818E-1C65-AC85-3F0FBD5CF1C5}"/>
              </a:ext>
            </a:extLst>
          </p:cNvPr>
          <p:cNvSpPr txBox="1">
            <a:spLocks/>
          </p:cNvSpPr>
          <p:nvPr/>
        </p:nvSpPr>
        <p:spPr>
          <a:xfrm>
            <a:off x="6661280" y="3261736"/>
            <a:ext cx="1005735" cy="2661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100" dirty="0" err="1">
                <a:latin typeface="Helvetica"/>
                <a:cs typeface="Helvetica"/>
              </a:rPr>
              <a:t>Transpiration</a:t>
            </a:r>
            <a:endParaRPr lang="es-ES" sz="1100" dirty="0">
              <a:latin typeface="Helvetica"/>
              <a:cs typeface="Helvetica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661FD95-5CE8-BB71-220A-01A5B8AF8C57}"/>
              </a:ext>
            </a:extLst>
          </p:cNvPr>
          <p:cNvCxnSpPr>
            <a:cxnSpLocks/>
            <a:stCxn id="14" idx="2"/>
            <a:endCxn id="15" idx="1"/>
          </p:cNvCxnSpPr>
          <p:nvPr/>
        </p:nvCxnSpPr>
        <p:spPr>
          <a:xfrm>
            <a:off x="3212413" y="3793130"/>
            <a:ext cx="2199025" cy="923641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692EA1A-906F-5C77-80EA-DC372CE4D24D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>
            <a:off x="5876936" y="3793130"/>
            <a:ext cx="0" cy="685555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4251960-B8B5-2A7C-D593-EF450A942942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3537826" y="4954857"/>
            <a:ext cx="2339110" cy="772545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D7F616B-5FB8-2811-D2CB-451D9285BBFA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>
            <a:off x="4003324" y="5965488"/>
            <a:ext cx="1408114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CC416C5-3F03-83F6-4B72-F0FD5C7046CB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5876936" y="4954857"/>
            <a:ext cx="1977957" cy="772545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71E384D-699E-0026-706C-F09418BE0962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>
            <a:off x="3537826" y="4879309"/>
            <a:ext cx="0" cy="84809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F31375A-0BCB-CE53-8077-4217AF30C23C}"/>
              </a:ext>
            </a:extLst>
          </p:cNvPr>
          <p:cNvCxnSpPr>
            <a:cxnSpLocks/>
            <a:stCxn id="10" idx="1"/>
            <a:endCxn id="12" idx="3"/>
          </p:cNvCxnSpPr>
          <p:nvPr/>
        </p:nvCxnSpPr>
        <p:spPr>
          <a:xfrm flipH="1">
            <a:off x="2124488" y="4641223"/>
            <a:ext cx="947840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DB0311E-95A2-730A-4E51-520DE649C299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1658990" y="4879309"/>
            <a:ext cx="1878836" cy="848093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D686F3D-2E00-3945-11E1-6AD7DB5AAEDF}"/>
              </a:ext>
            </a:extLst>
          </p:cNvPr>
          <p:cNvCxnSpPr>
            <a:cxnSpLocks/>
            <a:stCxn id="12" idx="0"/>
            <a:endCxn id="6" idx="2"/>
          </p:cNvCxnSpPr>
          <p:nvPr/>
        </p:nvCxnSpPr>
        <p:spPr>
          <a:xfrm flipV="1">
            <a:off x="1658990" y="3793130"/>
            <a:ext cx="4217946" cy="610007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05EE4D6-48A7-291A-EDCC-E93F0D35FEC1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3677911" y="3793130"/>
            <a:ext cx="2199025" cy="585933"/>
          </a:xfrm>
          <a:prstGeom prst="straightConnector1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8BC9647-A478-0ED0-A895-993D28FF4014}"/>
              </a:ext>
            </a:extLst>
          </p:cNvPr>
          <p:cNvCxnSpPr>
            <a:cxnSpLocks/>
            <a:stCxn id="19" idx="3"/>
            <a:endCxn id="17" idx="1"/>
          </p:cNvCxnSpPr>
          <p:nvPr/>
        </p:nvCxnSpPr>
        <p:spPr>
          <a:xfrm>
            <a:off x="6342434" y="5965488"/>
            <a:ext cx="828280" cy="0"/>
          </a:xfrm>
          <a:prstGeom prst="straightConnector1">
            <a:avLst/>
          </a:prstGeom>
          <a:ln w="57150">
            <a:solidFill>
              <a:srgbClr val="21831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0449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8E399-BD7F-5906-4771-D944572E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94D7494-4F9D-7116-BC10-966B78A5C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1D8ECD7-47CA-35AE-41CB-0EE1D9A23122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72501A8-8A07-03EC-0D75-8F9BE8EF13A0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Response ratios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412D189-F44F-63E1-9B0C-08ECEC3C393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analysis – Physiological responses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C5994F4-2763-6EBB-1E7E-137F1437D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09" y="2381829"/>
            <a:ext cx="3961851" cy="396185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AC25151-B4AA-40E3-26C7-FDEAB34DF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167" y="2559355"/>
            <a:ext cx="3784326" cy="378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683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5162</TotalTime>
  <Words>3043</Words>
  <Application>Microsoft Office PowerPoint</Application>
  <PresentationFormat>Widescreen</PresentationFormat>
  <Paragraphs>779</Paragraphs>
  <Slides>45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Helvetica</vt:lpstr>
      <vt:lpstr>Times New Roman</vt:lpstr>
      <vt:lpstr>Tema de Office</vt:lpstr>
      <vt:lpstr>Preliminar analyses  -  Figures</vt:lpstr>
      <vt:lpstr> Drought-induced tree mortality</vt:lpstr>
      <vt:lpstr>PowerPoint Presentation</vt:lpstr>
      <vt:lpstr> Complementary strategies to cope with drought</vt:lpstr>
      <vt:lpstr> Complementary strategies to cope with drought</vt:lpstr>
      <vt:lpstr> Complementary strategies to cope with drought</vt:lpstr>
      <vt:lpstr> Complementary strategies to cope with drought</vt:lpstr>
      <vt:lpstr> Responses to drought</vt:lpstr>
      <vt:lpstr>PowerPoint Presentation</vt:lpstr>
      <vt:lpstr>PowerPoint Presentation</vt:lpstr>
      <vt:lpstr>PowerPoint Presentation</vt:lpstr>
      <vt:lpstr> Complementary strategies to cope with drought</vt:lpstr>
      <vt:lpstr> Complementary strategies to cope with drought</vt:lpstr>
      <vt:lpstr> Complementary strategies to cope with drought</vt:lpstr>
      <vt:lpstr> Study area</vt:lpstr>
      <vt:lpstr> Sampling design</vt:lpstr>
      <vt:lpstr> Sampling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Data analysis</vt:lpstr>
      <vt:lpstr> Data analysis</vt:lpstr>
      <vt:lpstr> Data analysis</vt:lpstr>
      <vt:lpstr> Data analysis</vt:lpstr>
      <vt:lpstr> Preliminary results</vt:lpstr>
      <vt:lpstr> Preliminary results</vt:lpstr>
      <vt:lpstr> Data analysis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Cristopher Fernández de Blas</dc:creator>
  <cp:lastModifiedBy>Cristopher Fernández de Blas</cp:lastModifiedBy>
  <cp:revision>55</cp:revision>
  <dcterms:created xsi:type="dcterms:W3CDTF">2025-04-25T13:52:31Z</dcterms:created>
  <dcterms:modified xsi:type="dcterms:W3CDTF">2025-07-22T10:07:56Z</dcterms:modified>
</cp:coreProperties>
</file>