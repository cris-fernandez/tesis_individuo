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341" r:id="rId3"/>
    <p:sldId id="304" r:id="rId4"/>
    <p:sldId id="302" r:id="rId5"/>
    <p:sldId id="447" r:id="rId6"/>
    <p:sldId id="449" r:id="rId7"/>
    <p:sldId id="451" r:id="rId8"/>
    <p:sldId id="335" r:id="rId9"/>
    <p:sldId id="342" r:id="rId10"/>
    <p:sldId id="337" r:id="rId11"/>
    <p:sldId id="282" r:id="rId12"/>
    <p:sldId id="404" r:id="rId13"/>
    <p:sldId id="405" r:id="rId14"/>
    <p:sldId id="406" r:id="rId15"/>
    <p:sldId id="436" r:id="rId16"/>
    <p:sldId id="407" r:id="rId17"/>
    <p:sldId id="408" r:id="rId18"/>
    <p:sldId id="409" r:id="rId19"/>
    <p:sldId id="411" r:id="rId20"/>
    <p:sldId id="438" r:id="rId21"/>
    <p:sldId id="433" r:id="rId22"/>
    <p:sldId id="435" r:id="rId23"/>
    <p:sldId id="413" r:id="rId24"/>
    <p:sldId id="440" r:id="rId25"/>
    <p:sldId id="439" r:id="rId26"/>
    <p:sldId id="441" r:id="rId27"/>
    <p:sldId id="442" r:id="rId28"/>
    <p:sldId id="443" r:id="rId29"/>
    <p:sldId id="445" r:id="rId30"/>
    <p:sldId id="444" r:id="rId31"/>
    <p:sldId id="446" r:id="rId32"/>
    <p:sldId id="452" r:id="rId33"/>
    <p:sldId id="453" r:id="rId34"/>
    <p:sldId id="424" r:id="rId3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317"/>
    <a:srgbClr val="2F5597"/>
    <a:srgbClr val="DB5E01"/>
    <a:srgbClr val="37AD88"/>
    <a:srgbClr val="716CB1"/>
    <a:srgbClr val="7030A0"/>
    <a:srgbClr val="787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94"/>
  </p:normalViewPr>
  <p:slideViewPr>
    <p:cSldViewPr snapToGrid="0">
      <p:cViewPr>
        <p:scale>
          <a:sx n="50" d="100"/>
          <a:sy n="50" d="100"/>
        </p:scale>
        <p:origin x="1445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24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0863-D448-E9C8-3713-0B5CFCB6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7FB442-828C-AE76-F148-980D2AEE6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AE7446-4695-93DD-A912-31F01CD7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14FCB-90AD-2E02-7705-F40B6080B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01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AD94-0158-8CAB-91D9-52BDAFE7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E8ECE-EA24-3954-FB25-C21295961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03F959-63CD-34AE-1B2E-0A7FCA60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8D4EB-2427-3376-5589-AB4DE910C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382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735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2B03-2D87-BFD5-12BB-2CA0A046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213595-164E-8B22-541F-85FEBB999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0C6D16-5B77-6A1C-D77D-5913A1CC2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E450B3-033B-DAC8-CAA9-4231DC16F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97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A6A2-6A33-A63B-9846-CCDA3819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FD10E6-6F4C-A08B-C24C-344D1732F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F6D337-312F-3DD1-4FB3-114837F08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FE2C0F-021A-57B9-D50F-8F607896D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3049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EF00-6B82-8F5A-C945-A09E5C5F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148436-55A8-DDB5-3509-2F79579B6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A29234-E70F-FE86-0886-BCD5229F5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4EF42A-E447-B9D4-722A-F0E5E2C74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487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E000-4D3E-497D-4267-2AA8B787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03AFD5-61ED-2CE6-EBA8-C92EAE66E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25A137-A7AC-ED90-C8ED-20285F256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25625B-E6B7-9436-31E8-56E08BAB1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35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D959-9B52-85EE-548F-E5967552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3B80D5-C571-8F99-AB8F-57B1511FC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868661-B462-C3EB-2D5F-38B42751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6F0060-1A90-EF5A-5E66-F14377B74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29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ACC0-3F97-3DF7-79A8-B0FBC69A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9138D8-384E-68C7-2A8B-A2B7A4588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4EADFE-4B01-CF78-86CA-DBBB7F5A2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DABD3C-6AF3-F8A0-8439-86B407146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0781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670D-B66E-CD2D-C675-B1E66445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A68332-AF43-E0CE-3526-7DF316543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EB7C56-4434-69BF-326D-C968D4968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B4D3AD-25AE-76B9-DDE2-C61E216DC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0531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6093-4778-8DEE-52A3-DDEF1E05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276539-5D5C-C6C6-2238-D3A7DE827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C5D938-0591-BA05-7040-78AB12A3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18B9-5FE2-50C5-5B65-D0946DC7C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7154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EE78-A7C1-8933-E9C6-EEED3517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D78DE3-ED76-79B3-EDCF-307E7E983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13050C-4B5C-8980-E28D-F1AAFB0ED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FBEB3B-AC04-F0E0-A86E-A74F32C21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037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0405-03BC-BA28-9A0D-24AA5947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21C0C6-807E-938D-9905-0C1D7A0C8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77784F-F6F9-4AC8-D9DC-7076A2EE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81741B-F274-FAAC-53C1-3EDF5CC22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55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12/07/2025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iff"/><Relationship Id="rId4" Type="http://schemas.openxmlformats.org/officeDocument/2006/relationships/image" Target="../media/image21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A987-8E48-280D-E7CC-510D650B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Trees on the Edge: Understanding Douglas-fir Decline and Mortality in  Southwest Oregon | OSU Extension Service">
            <a:extLst>
              <a:ext uri="{FF2B5EF4-FFF2-40B4-BE49-F238E27FC236}">
                <a16:creationId xmlns:a16="http://schemas.microsoft.com/office/drawing/2014/main" id="{10367549-1026-C488-5876-09B6139F5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1" b="15946"/>
          <a:stretch/>
        </p:blipFill>
        <p:spPr bwMode="auto">
          <a:xfrm>
            <a:off x="3054763" y="1749582"/>
            <a:ext cx="6082473" cy="335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9781540-947F-806E-0694-E726A1E765ED}"/>
              </a:ext>
            </a:extLst>
          </p:cNvPr>
          <p:cNvSpPr txBox="1">
            <a:spLocks/>
          </p:cNvSpPr>
          <p:nvPr/>
        </p:nvSpPr>
        <p:spPr>
          <a:xfrm>
            <a:off x="153017" y="1019998"/>
            <a:ext cx="11709532" cy="1337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3200" err="1">
                <a:latin typeface="Helvetica"/>
                <a:cs typeface="Helvetica"/>
              </a:rPr>
              <a:t>It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is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hard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to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forecast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drought-induced</a:t>
            </a:r>
            <a:r>
              <a:rPr lang="es-ES" sz="3200">
                <a:latin typeface="Helvetica"/>
                <a:cs typeface="Helvetica"/>
              </a:rPr>
              <a:t> die-back </a:t>
            </a:r>
            <a:r>
              <a:rPr lang="es-ES" sz="3200" err="1">
                <a:latin typeface="Helvetica"/>
                <a:cs typeface="Helvetica"/>
              </a:rPr>
              <a:t>events</a:t>
            </a:r>
            <a:endParaRPr lang="es-ES" sz="3200">
              <a:latin typeface="Helvetica"/>
              <a:cs typeface="Helvetica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7F0C8A6-D36B-E2BB-A94E-FA900227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endParaRPr lang="es-ES" sz="29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Original “death spiral” from Manion (1991) describing biotic and... |  Download Scientific Diagram">
            <a:extLst>
              <a:ext uri="{FF2B5EF4-FFF2-40B4-BE49-F238E27FC236}">
                <a16:creationId xmlns:a16="http://schemas.microsoft.com/office/drawing/2014/main" id="{ADD07D04-7217-3275-1F63-0E6BE590A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20" y="1858090"/>
            <a:ext cx="2672740" cy="325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ead Pine Tree – Photos Public Domain">
            <a:extLst>
              <a:ext uri="{FF2B5EF4-FFF2-40B4-BE49-F238E27FC236}">
                <a16:creationId xmlns:a16="http://schemas.microsoft.com/office/drawing/2014/main" id="{541BA644-CF11-0384-ABC7-D2AD6FE4C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930" y="3807466"/>
            <a:ext cx="1710612" cy="25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36884B-99ED-D5AD-864C-98C470AA9185}"/>
              </a:ext>
            </a:extLst>
          </p:cNvPr>
          <p:cNvSpPr txBox="1">
            <a:spLocks/>
          </p:cNvSpPr>
          <p:nvPr/>
        </p:nvSpPr>
        <p:spPr>
          <a:xfrm>
            <a:off x="10121175" y="3807466"/>
            <a:ext cx="2459409" cy="105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Individual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12A7CE1-B498-71BA-ACAB-F8AB56577FAD}"/>
              </a:ext>
            </a:extLst>
          </p:cNvPr>
          <p:cNvGrpSpPr/>
          <p:nvPr/>
        </p:nvGrpSpPr>
        <p:grpSpPr>
          <a:xfrm>
            <a:off x="6848359" y="4089754"/>
            <a:ext cx="1156529" cy="1538950"/>
            <a:chOff x="6527591" y="4904433"/>
            <a:chExt cx="1156529" cy="1538950"/>
          </a:xfrm>
        </p:grpSpPr>
        <p:sp>
          <p:nvSpPr>
            <p:cNvPr id="6" name="Triángulo isósceles 5">
              <a:extLst>
                <a:ext uri="{FF2B5EF4-FFF2-40B4-BE49-F238E27FC236}">
                  <a16:creationId xmlns:a16="http://schemas.microsoft.com/office/drawing/2014/main" id="{B01FFFBC-D897-9971-1EDB-E838FBF81A2A}"/>
                </a:ext>
              </a:extLst>
            </p:cNvPr>
            <p:cNvSpPr/>
            <p:nvPr/>
          </p:nvSpPr>
          <p:spPr>
            <a:xfrm rot="8499904">
              <a:off x="7235961" y="4996921"/>
              <a:ext cx="448159" cy="1446462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C8B95656-D402-A8F4-31C2-DBEA3C25C88A}"/>
                </a:ext>
              </a:extLst>
            </p:cNvPr>
            <p:cNvSpPr/>
            <p:nvPr/>
          </p:nvSpPr>
          <p:spPr>
            <a:xfrm rot="19291684">
              <a:off x="6527591" y="4904433"/>
              <a:ext cx="878698" cy="371984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DDD3D6A-02B8-AC23-3DE9-25BF6BF2B355}"/>
              </a:ext>
            </a:extLst>
          </p:cNvPr>
          <p:cNvSpPr txBox="1">
            <a:spLocks/>
          </p:cNvSpPr>
          <p:nvPr/>
        </p:nvSpPr>
        <p:spPr>
          <a:xfrm>
            <a:off x="3054763" y="5509923"/>
            <a:ext cx="6027576" cy="68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Early-warning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signals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62230E7-0412-0DD2-A63D-F97F4A5F360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1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1E34-A69D-DADA-E287-034C7886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54471-27AA-762D-935F-08C20B449A45}"/>
              </a:ext>
            </a:extLst>
          </p:cNvPr>
          <p:cNvSpPr txBox="1">
            <a:spLocks/>
          </p:cNvSpPr>
          <p:nvPr/>
        </p:nvSpPr>
        <p:spPr>
          <a:xfrm>
            <a:off x="1407983" y="1968471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"Conservative"</a:t>
            </a:r>
            <a:endParaRPr lang="es-ES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7776ACF-C2D5-1F5A-B3CB-7C6DEC9834AB}"/>
              </a:ext>
            </a:extLst>
          </p:cNvPr>
          <p:cNvSpPr txBox="1">
            <a:spLocks/>
          </p:cNvSpPr>
          <p:nvPr/>
        </p:nvSpPr>
        <p:spPr>
          <a:xfrm>
            <a:off x="7368825" y="1968471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r>
              <a:rPr lang="es-ES" err="1">
                <a:solidFill>
                  <a:srgbClr val="218317"/>
                </a:solidFill>
                <a:latin typeface="Helvetica"/>
                <a:cs typeface="Helvetica"/>
              </a:rPr>
              <a:t>Acquisitive</a:t>
            </a: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endParaRPr lang="es-ES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E7DC63F-7F98-F3D6-5905-8CA4CA583E04}"/>
              </a:ext>
            </a:extLst>
          </p:cNvPr>
          <p:cNvCxnSpPr>
            <a:cxnSpLocks/>
          </p:cNvCxnSpPr>
          <p:nvPr/>
        </p:nvCxnSpPr>
        <p:spPr>
          <a:xfrm>
            <a:off x="5021865" y="2245870"/>
            <a:ext cx="1872507" cy="0"/>
          </a:xfrm>
          <a:prstGeom prst="straightConnector1">
            <a:avLst/>
          </a:prstGeom>
          <a:ln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678D6811-F8C9-009C-246A-8A7EC64FCF0A}"/>
              </a:ext>
            </a:extLst>
          </p:cNvPr>
          <p:cNvSpPr txBox="1">
            <a:spLocks/>
          </p:cNvSpPr>
          <p:nvPr/>
        </p:nvSpPr>
        <p:spPr>
          <a:xfrm>
            <a:off x="4579617" y="1364622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err="1">
                <a:latin typeface="Helvetica"/>
                <a:cs typeface="Helvetica"/>
              </a:rPr>
              <a:t>Leaf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Economics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Spectrum</a:t>
            </a:r>
            <a:endParaRPr lang="es-ES" sz="2400">
              <a:ea typeface="Calibri"/>
              <a:cs typeface="Calibri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105CAE0-BBA3-51E4-1609-E516C7404CE6}"/>
              </a:ext>
            </a:extLst>
          </p:cNvPr>
          <p:cNvSpPr txBox="1">
            <a:spLocks/>
          </p:cNvSpPr>
          <p:nvPr/>
        </p:nvSpPr>
        <p:spPr>
          <a:xfrm>
            <a:off x="1526346" y="3295417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</a:t>
            </a:r>
            <a:r>
              <a:rPr lang="es-ES" sz="2400" err="1">
                <a:latin typeface="Helvetica"/>
                <a:cs typeface="Helvetica"/>
              </a:rPr>
              <a:t>iWUE</a:t>
            </a:r>
            <a:endParaRPr lang="es-ES" sz="240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err="1">
                <a:latin typeface="Helvetica"/>
                <a:cs typeface="Helvetica"/>
              </a:rPr>
              <a:t>Stomatal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closure</a:t>
            </a:r>
            <a:endParaRPr lang="es-ES" sz="240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↓ </a:t>
            </a:r>
            <a:r>
              <a:rPr lang="es-ES" sz="2400" err="1">
                <a:latin typeface="Helvetica"/>
                <a:cs typeface="Helvetica"/>
              </a:rPr>
              <a:t>Growth</a:t>
            </a:r>
            <a:endParaRPr lang="es-ES" sz="240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↓ </a:t>
            </a:r>
            <a:r>
              <a:rPr lang="es-ES" sz="2400" err="1">
                <a:latin typeface="Helvetica"/>
                <a:cs typeface="Helvetica"/>
              </a:rPr>
              <a:t>Photosynthetic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rates</a:t>
            </a:r>
            <a:endParaRPr lang="es-ES" sz="240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↓ SLA</a:t>
            </a:r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buFont typeface="Calibri" panose="020B0604020202020204" pitchFamily="34" charset="0"/>
              <a:buChar char="-"/>
            </a:pPr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660BAB1-4C20-961E-81F7-512FFC819A56}"/>
              </a:ext>
            </a:extLst>
          </p:cNvPr>
          <p:cNvSpPr txBox="1">
            <a:spLocks/>
          </p:cNvSpPr>
          <p:nvPr/>
        </p:nvSpPr>
        <p:spPr>
          <a:xfrm>
            <a:off x="7517838" y="3290539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ES" sz="2400">
                <a:latin typeface="Helvetica"/>
                <a:cs typeface="Helvetica"/>
              </a:rPr>
              <a:t>↓ </a:t>
            </a:r>
            <a:r>
              <a:rPr lang="es-ES" sz="2400" err="1">
                <a:latin typeface="Helvetica"/>
                <a:cs typeface="Helvetica"/>
              </a:rPr>
              <a:t>iWUE</a:t>
            </a:r>
            <a:endParaRPr lang="es-ES" sz="2400">
              <a:ea typeface="Calibri" panose="020F0502020204030204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 err="1">
                <a:latin typeface="Helvetica"/>
                <a:cs typeface="Helvetica"/>
              </a:rPr>
              <a:t>Leaf</a:t>
            </a:r>
            <a:r>
              <a:rPr lang="es-ES" sz="2400">
                <a:latin typeface="Helvetica"/>
                <a:cs typeface="Helvetica"/>
              </a:rPr>
              <a:t> ↓Ψ</a:t>
            </a:r>
            <a:endParaRPr lang="es-ES" sz="2400"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Growth</a:t>
            </a:r>
            <a:endParaRPr lang="es-ES" sz="240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Photosynthetic</a:t>
            </a:r>
            <a:r>
              <a:rPr lang="es-ES" sz="2400">
                <a:latin typeface="Helvetica" panose="020B0604020202020204" pitchFamily="34" charset="0"/>
                <a:cs typeface="Calibri" panose="020F0502020204030204"/>
              </a:rPr>
              <a:t>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rates</a:t>
            </a:r>
            <a:endParaRPr lang="es-ES" sz="240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>
                <a:latin typeface="Helvetica" panose="020B0604020202020204" pitchFamily="34" charset="0"/>
                <a:cs typeface="Calibri" panose="020F0502020204030204"/>
              </a:rPr>
              <a:t>SLA</a:t>
            </a:r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9E3FEF1-F294-3810-DDC5-43B7C278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73834-FE5A-03E2-F5BC-C18E44196CD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87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F081-A088-30DB-3883-FCDEC464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D60CFF-15AC-6167-1BFE-B868A03B0D66}"/>
              </a:ext>
            </a:extLst>
          </p:cNvPr>
          <p:cNvSpPr txBox="1">
            <a:spLocks/>
          </p:cNvSpPr>
          <p:nvPr/>
        </p:nvSpPr>
        <p:spPr>
          <a:xfrm>
            <a:off x="1407983" y="1968471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"Conservative"</a:t>
            </a:r>
            <a:endParaRPr lang="es-ES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301A0A8-C680-A0B9-0230-69336DE66F5C}"/>
              </a:ext>
            </a:extLst>
          </p:cNvPr>
          <p:cNvSpPr txBox="1">
            <a:spLocks/>
          </p:cNvSpPr>
          <p:nvPr/>
        </p:nvSpPr>
        <p:spPr>
          <a:xfrm>
            <a:off x="7368825" y="1968471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r>
              <a:rPr lang="es-ES" err="1">
                <a:solidFill>
                  <a:srgbClr val="218317"/>
                </a:solidFill>
                <a:latin typeface="Helvetica"/>
                <a:cs typeface="Helvetica"/>
              </a:rPr>
              <a:t>Acquisitive</a:t>
            </a: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endParaRPr lang="es-ES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7A09E0D-8002-1C48-7BE0-E5328339783A}"/>
              </a:ext>
            </a:extLst>
          </p:cNvPr>
          <p:cNvCxnSpPr>
            <a:cxnSpLocks/>
          </p:cNvCxnSpPr>
          <p:nvPr/>
        </p:nvCxnSpPr>
        <p:spPr>
          <a:xfrm flipH="1">
            <a:off x="2708814" y="3069608"/>
            <a:ext cx="7363" cy="569526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DD6EBB49-2FF0-EA11-DD35-E79B74B70DD8}"/>
              </a:ext>
            </a:extLst>
          </p:cNvPr>
          <p:cNvSpPr txBox="1">
            <a:spLocks/>
          </p:cNvSpPr>
          <p:nvPr/>
        </p:nvSpPr>
        <p:spPr>
          <a:xfrm>
            <a:off x="961054" y="3745826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235F29CB-D416-8088-46C1-61AD3E5F34DD}"/>
              </a:ext>
            </a:extLst>
          </p:cNvPr>
          <p:cNvSpPr txBox="1">
            <a:spLocks/>
          </p:cNvSpPr>
          <p:nvPr/>
        </p:nvSpPr>
        <p:spPr>
          <a:xfrm>
            <a:off x="6955713" y="3745826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4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failure</a:t>
            </a: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B42447E-4AD3-B544-F694-EDB332DCE9EC}"/>
              </a:ext>
            </a:extLst>
          </p:cNvPr>
          <p:cNvCxnSpPr/>
          <p:nvPr/>
        </p:nvCxnSpPr>
        <p:spPr>
          <a:xfrm flipH="1">
            <a:off x="8696110" y="3069608"/>
            <a:ext cx="7363" cy="569526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F79CFE7-C6B7-7114-7FED-F6435CFE4821}"/>
              </a:ext>
            </a:extLst>
          </p:cNvPr>
          <p:cNvSpPr/>
          <p:nvPr/>
        </p:nvSpPr>
        <p:spPr>
          <a:xfrm>
            <a:off x="1407983" y="1834769"/>
            <a:ext cx="2722484" cy="24863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C2D66EB-D7D7-8063-DB8C-354C0B383754}"/>
              </a:ext>
            </a:extLst>
          </p:cNvPr>
          <p:cNvSpPr/>
          <p:nvPr/>
        </p:nvSpPr>
        <p:spPr>
          <a:xfrm>
            <a:off x="7342230" y="1834769"/>
            <a:ext cx="2722484" cy="2486340"/>
          </a:xfrm>
          <a:prstGeom prst="rect">
            <a:avLst/>
          </a:prstGeom>
          <a:noFill/>
          <a:ln w="571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7677E2A1-6A78-23DF-4BBB-9381DCF75D4B}"/>
              </a:ext>
            </a:extLst>
          </p:cNvPr>
          <p:cNvSpPr txBox="1">
            <a:spLocks/>
          </p:cNvSpPr>
          <p:nvPr/>
        </p:nvSpPr>
        <p:spPr>
          <a:xfrm>
            <a:off x="1351252" y="1432774"/>
            <a:ext cx="2729849" cy="45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solidFill>
                  <a:srgbClr val="C00000"/>
                </a:solidFill>
                <a:latin typeface="Helvetica"/>
                <a:cs typeface="Helvetica"/>
              </a:rPr>
              <a:t>Declining</a:t>
            </a:r>
            <a:r>
              <a:rPr lang="es-ES" sz="2400" dirty="0">
                <a:solidFill>
                  <a:srgbClr val="C00000"/>
                </a:solidFill>
                <a:latin typeface="Helvetica"/>
                <a:cs typeface="Helvetica"/>
              </a:rPr>
              <a:t> sites</a:t>
            </a:r>
            <a:endParaRPr lang="es-ES" sz="24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E01C7BDA-85BD-6E82-C818-62BC02AB56AE}"/>
              </a:ext>
            </a:extLst>
          </p:cNvPr>
          <p:cNvSpPr txBox="1">
            <a:spLocks/>
          </p:cNvSpPr>
          <p:nvPr/>
        </p:nvSpPr>
        <p:spPr>
          <a:xfrm>
            <a:off x="7368824" y="1432774"/>
            <a:ext cx="2729849" cy="45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24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r>
              <a:rPr lang="es-ES" sz="2400" dirty="0">
                <a:solidFill>
                  <a:srgbClr val="2F5597"/>
                </a:solidFill>
                <a:latin typeface="Helvetica"/>
                <a:cs typeface="Helvetica"/>
              </a:rPr>
              <a:t> sites</a:t>
            </a:r>
            <a:endParaRPr lang="es-ES" sz="2400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42A54D1-2ECF-7C61-83B9-4AD86563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42B1F0-F3D3-57E6-4914-BA213DCF864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4237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2E30-AD87-86BE-4697-EDAD0385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17D39A2-FAE0-31EB-CFF5-788F2DC8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82DD7-1C64-8620-07CF-0495CE0C473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79C39D0-3013-0B8C-D452-0FAF13469743}"/>
              </a:ext>
            </a:extLst>
          </p:cNvPr>
          <p:cNvSpPr txBox="1">
            <a:spLocks/>
          </p:cNvSpPr>
          <p:nvPr/>
        </p:nvSpPr>
        <p:spPr>
          <a:xfrm>
            <a:off x="2519949" y="1159347"/>
            <a:ext cx="7152102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 err="1">
                <a:latin typeface="Helvetica"/>
                <a:cs typeface="Helvetica"/>
              </a:rPr>
              <a:t>We</a:t>
            </a:r>
            <a:r>
              <a:rPr lang="es-ES" b="1" dirty="0">
                <a:latin typeface="Helvetica"/>
                <a:cs typeface="Helvetica"/>
              </a:rPr>
              <a:t> are </a:t>
            </a:r>
            <a:r>
              <a:rPr lang="es-ES" b="1" dirty="0" err="1">
                <a:latin typeface="Helvetica"/>
                <a:cs typeface="Helvetica"/>
              </a:rPr>
              <a:t>still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unable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forecast</a:t>
            </a:r>
            <a:r>
              <a:rPr lang="es-ES" b="1" dirty="0">
                <a:latin typeface="Helvetica"/>
                <a:cs typeface="Helvetica"/>
              </a:rPr>
              <a:t> die-off!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7384A7C-B566-4B0E-8694-CA63628DC54C}"/>
              </a:ext>
            </a:extLst>
          </p:cNvPr>
          <p:cNvSpPr txBox="1">
            <a:spLocks/>
          </p:cNvSpPr>
          <p:nvPr/>
        </p:nvSpPr>
        <p:spPr>
          <a:xfrm>
            <a:off x="618930" y="2148564"/>
            <a:ext cx="3234614" cy="4110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Most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studies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focus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on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b="1" dirty="0">
                <a:latin typeface="Helvetica"/>
                <a:cs typeface="Helvetica"/>
                <a:sym typeface="Wingdings" panose="05000000000000000000" pitchFamily="2" charset="2"/>
              </a:rPr>
              <a:t>single </a:t>
            </a:r>
            <a:r>
              <a:rPr lang="es-ES" sz="1800" b="1" dirty="0" err="1">
                <a:latin typeface="Helvetica"/>
                <a:cs typeface="Helvetica"/>
                <a:sym typeface="Wingdings" panose="05000000000000000000" pitchFamily="2" charset="2"/>
              </a:rPr>
              <a:t>species</a:t>
            </a: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L</a:t>
            </a:r>
            <a:r>
              <a:rPr lang="es-ES" sz="1800" dirty="0" err="1">
                <a:latin typeface="Helvetica"/>
                <a:cs typeface="Helvetica"/>
              </a:rPr>
              <a:t>ack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regional-</a:t>
            </a:r>
            <a:r>
              <a:rPr lang="es-ES" sz="1800" b="1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dirty="0">
                <a:latin typeface="Helvetica"/>
                <a:cs typeface="Helvetica"/>
              </a:rPr>
              <a:t>Relative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hydraulic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failure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vs. </a:t>
            </a:r>
            <a:r>
              <a:rPr lang="es-ES" sz="1800" b="1" dirty="0" err="1">
                <a:latin typeface="Helvetica"/>
                <a:cs typeface="Helvetica"/>
              </a:rPr>
              <a:t>carbon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starvation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b="1" dirty="0" err="1">
                <a:latin typeface="Helvetica"/>
                <a:cs typeface="Helvetica"/>
              </a:rPr>
              <a:t>Overlooked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interactions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endParaRPr lang="es-ES" sz="1800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ECC5ED7B-7DFC-1EAA-9BA5-56D9697E7B7D}"/>
              </a:ext>
            </a:extLst>
          </p:cNvPr>
          <p:cNvSpPr txBox="1">
            <a:spLocks/>
          </p:cNvSpPr>
          <p:nvPr/>
        </p:nvSpPr>
        <p:spPr>
          <a:xfrm>
            <a:off x="3853544" y="2198102"/>
            <a:ext cx="391599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&amp; responses </a:t>
            </a:r>
            <a:r>
              <a:rPr lang="es-ES" sz="1800" dirty="0" err="1">
                <a:latin typeface="Helvetica"/>
                <a:cs typeface="Helvetica"/>
              </a:rPr>
              <a:t>remain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constant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across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species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we</a:t>
            </a:r>
            <a:r>
              <a:rPr lang="es-ES" sz="1800" dirty="0">
                <a:latin typeface="Helvetica"/>
                <a:cs typeface="Helvetica"/>
              </a:rPr>
              <a:t> observe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same</a:t>
            </a:r>
            <a:r>
              <a:rPr lang="es-ES" sz="1800" dirty="0">
                <a:latin typeface="Helvetica"/>
                <a:cs typeface="Helvetica"/>
              </a:rPr>
              <a:t> at regional </a:t>
            </a:r>
            <a:r>
              <a:rPr lang="es-ES" sz="1800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than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previous</a:t>
            </a:r>
            <a:r>
              <a:rPr lang="es-ES" sz="1800" dirty="0">
                <a:latin typeface="Helvetica"/>
                <a:cs typeface="Helvetica"/>
              </a:rPr>
              <a:t> local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C2886C7B-FC26-0518-EFEB-6CF99FF7E650}"/>
              </a:ext>
            </a:extLst>
          </p:cNvPr>
          <p:cNvSpPr/>
          <p:nvPr/>
        </p:nvSpPr>
        <p:spPr>
          <a:xfrm>
            <a:off x="3405675" y="2198102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6343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0321-10CC-3755-288D-DB11919B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4375324-CAE8-7C5C-1191-4D00AF76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577DDF-6E5B-743A-993E-A0B4E33601F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6B8D2E9-3CB3-7E27-96D8-15723DF05B8B}"/>
              </a:ext>
            </a:extLst>
          </p:cNvPr>
          <p:cNvSpPr txBox="1">
            <a:spLocks/>
          </p:cNvSpPr>
          <p:nvPr/>
        </p:nvSpPr>
        <p:spPr>
          <a:xfrm>
            <a:off x="2519949" y="1159347"/>
            <a:ext cx="7152102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 err="1">
                <a:latin typeface="Helvetica"/>
                <a:cs typeface="Helvetica"/>
              </a:rPr>
              <a:t>We</a:t>
            </a:r>
            <a:r>
              <a:rPr lang="es-ES" b="1" dirty="0">
                <a:latin typeface="Helvetica"/>
                <a:cs typeface="Helvetica"/>
              </a:rPr>
              <a:t> are </a:t>
            </a:r>
            <a:r>
              <a:rPr lang="es-ES" b="1" dirty="0" err="1">
                <a:latin typeface="Helvetica"/>
                <a:cs typeface="Helvetica"/>
              </a:rPr>
              <a:t>still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unable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forecast</a:t>
            </a:r>
            <a:r>
              <a:rPr lang="es-ES" b="1" dirty="0">
                <a:latin typeface="Helvetica"/>
                <a:cs typeface="Helvetica"/>
              </a:rPr>
              <a:t> die-off!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E03EEE0-A244-B2B4-36B1-6C27FF8A835D}"/>
              </a:ext>
            </a:extLst>
          </p:cNvPr>
          <p:cNvSpPr txBox="1">
            <a:spLocks/>
          </p:cNvSpPr>
          <p:nvPr/>
        </p:nvSpPr>
        <p:spPr>
          <a:xfrm>
            <a:off x="618930" y="2148564"/>
            <a:ext cx="3234614" cy="4110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Most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studies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focus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on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b="1" dirty="0">
                <a:latin typeface="Helvetica"/>
                <a:cs typeface="Helvetica"/>
                <a:sym typeface="Wingdings" panose="05000000000000000000" pitchFamily="2" charset="2"/>
              </a:rPr>
              <a:t>single </a:t>
            </a:r>
            <a:r>
              <a:rPr lang="es-ES" sz="1800" b="1" dirty="0" err="1">
                <a:latin typeface="Helvetica"/>
                <a:cs typeface="Helvetica"/>
                <a:sym typeface="Wingdings" panose="05000000000000000000" pitchFamily="2" charset="2"/>
              </a:rPr>
              <a:t>species</a:t>
            </a: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L</a:t>
            </a:r>
            <a:r>
              <a:rPr lang="es-ES" sz="1800" dirty="0" err="1">
                <a:latin typeface="Helvetica"/>
                <a:cs typeface="Helvetica"/>
              </a:rPr>
              <a:t>ack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regional-</a:t>
            </a:r>
            <a:r>
              <a:rPr lang="es-ES" sz="1800" b="1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dirty="0">
                <a:latin typeface="Helvetica"/>
                <a:cs typeface="Helvetica"/>
              </a:rPr>
              <a:t>Relative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hydraulic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failure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vs. </a:t>
            </a:r>
            <a:r>
              <a:rPr lang="es-ES" sz="1800" b="1" dirty="0" err="1">
                <a:latin typeface="Helvetica"/>
                <a:cs typeface="Helvetica"/>
              </a:rPr>
              <a:t>carbon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starvation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b="1" dirty="0" err="1">
                <a:latin typeface="Helvetica"/>
                <a:cs typeface="Helvetica"/>
              </a:rPr>
              <a:t>Overlooked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interactions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endParaRPr lang="es-ES" sz="1800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4178B487-DF4D-2625-EBC7-8F7EAFFA1862}"/>
              </a:ext>
            </a:extLst>
          </p:cNvPr>
          <p:cNvSpPr txBox="1">
            <a:spLocks/>
          </p:cNvSpPr>
          <p:nvPr/>
        </p:nvSpPr>
        <p:spPr>
          <a:xfrm>
            <a:off x="8374268" y="3005916"/>
            <a:ext cx="3611456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responses </a:t>
            </a:r>
            <a:r>
              <a:rPr lang="es-ES" sz="1800" b="1" dirty="0" err="1">
                <a:latin typeface="Helvetica"/>
                <a:cs typeface="Helvetica"/>
              </a:rPr>
              <a:t>to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drought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69C73F29-16B2-F5FB-45B7-526BF92C49ED}"/>
              </a:ext>
            </a:extLst>
          </p:cNvPr>
          <p:cNvSpPr txBox="1">
            <a:spLocks/>
          </p:cNvSpPr>
          <p:nvPr/>
        </p:nvSpPr>
        <p:spPr>
          <a:xfrm>
            <a:off x="3853544" y="2198102"/>
            <a:ext cx="391599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&amp; responses </a:t>
            </a:r>
            <a:r>
              <a:rPr lang="es-ES" sz="1800" dirty="0" err="1">
                <a:latin typeface="Helvetica"/>
                <a:cs typeface="Helvetica"/>
              </a:rPr>
              <a:t>remain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constant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across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species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we</a:t>
            </a:r>
            <a:r>
              <a:rPr lang="es-ES" sz="1800" dirty="0">
                <a:latin typeface="Helvetica"/>
                <a:cs typeface="Helvetica"/>
              </a:rPr>
              <a:t> observe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same</a:t>
            </a:r>
            <a:r>
              <a:rPr lang="es-ES" sz="1800" dirty="0">
                <a:latin typeface="Helvetica"/>
                <a:cs typeface="Helvetica"/>
              </a:rPr>
              <a:t> at regional </a:t>
            </a:r>
            <a:r>
              <a:rPr lang="es-ES" sz="1800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than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previous</a:t>
            </a:r>
            <a:r>
              <a:rPr lang="es-ES" sz="1800" dirty="0">
                <a:latin typeface="Helvetica"/>
                <a:cs typeface="Helvetica"/>
              </a:rPr>
              <a:t> local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6EA7AB93-34B9-651E-EA12-4B8DCA9E2329}"/>
              </a:ext>
            </a:extLst>
          </p:cNvPr>
          <p:cNvSpPr/>
          <p:nvPr/>
        </p:nvSpPr>
        <p:spPr>
          <a:xfrm>
            <a:off x="3405675" y="2198102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DA2083-C79E-0F73-F069-CF2DD442ECC3}"/>
              </a:ext>
            </a:extLst>
          </p:cNvPr>
          <p:cNvSpPr txBox="1">
            <a:spLocks/>
          </p:cNvSpPr>
          <p:nvPr/>
        </p:nvSpPr>
        <p:spPr>
          <a:xfrm>
            <a:off x="8374268" y="1998234"/>
            <a:ext cx="347200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characterise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determining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9F4BDC3-A339-B5B9-B591-9C94CFAA95A5}"/>
              </a:ext>
            </a:extLst>
          </p:cNvPr>
          <p:cNvSpPr/>
          <p:nvPr/>
        </p:nvSpPr>
        <p:spPr>
          <a:xfrm rot="10800000">
            <a:off x="7866261" y="2148564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65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0316-C03C-4510-74C3-02AEE8C3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5D1A503-27DE-1148-8248-4A3D0B19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E0D2CE-3578-6585-19D0-6457C0E7FDA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1F7324-8C1F-E194-44E1-E84BC0386F74}"/>
              </a:ext>
            </a:extLst>
          </p:cNvPr>
          <p:cNvSpPr txBox="1">
            <a:spLocks/>
          </p:cNvSpPr>
          <p:nvPr/>
        </p:nvSpPr>
        <p:spPr>
          <a:xfrm>
            <a:off x="2519949" y="1159347"/>
            <a:ext cx="7152102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 err="1">
                <a:latin typeface="Helvetica"/>
                <a:cs typeface="Helvetica"/>
              </a:rPr>
              <a:t>We</a:t>
            </a:r>
            <a:r>
              <a:rPr lang="es-ES" b="1" dirty="0">
                <a:latin typeface="Helvetica"/>
                <a:cs typeface="Helvetica"/>
              </a:rPr>
              <a:t> are </a:t>
            </a:r>
            <a:r>
              <a:rPr lang="es-ES" b="1" dirty="0" err="1">
                <a:latin typeface="Helvetica"/>
                <a:cs typeface="Helvetica"/>
              </a:rPr>
              <a:t>still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unable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forecast</a:t>
            </a:r>
            <a:r>
              <a:rPr lang="es-ES" b="1" dirty="0">
                <a:latin typeface="Helvetica"/>
                <a:cs typeface="Helvetica"/>
              </a:rPr>
              <a:t> die-off!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005ED0-C625-3C42-CECE-7C91C0882B61}"/>
              </a:ext>
            </a:extLst>
          </p:cNvPr>
          <p:cNvSpPr txBox="1">
            <a:spLocks/>
          </p:cNvSpPr>
          <p:nvPr/>
        </p:nvSpPr>
        <p:spPr>
          <a:xfrm>
            <a:off x="618930" y="2148564"/>
            <a:ext cx="3234614" cy="4110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Most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studies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focus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on</a:t>
            </a:r>
            <a:r>
              <a:rPr lang="es-ES" sz="18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1800" b="1" dirty="0">
                <a:latin typeface="Helvetica"/>
                <a:cs typeface="Helvetica"/>
                <a:sym typeface="Wingdings" panose="05000000000000000000" pitchFamily="2" charset="2"/>
              </a:rPr>
              <a:t>single </a:t>
            </a:r>
            <a:r>
              <a:rPr lang="es-ES" sz="1800" b="1" dirty="0" err="1">
                <a:latin typeface="Helvetica"/>
                <a:cs typeface="Helvetica"/>
                <a:sym typeface="Wingdings" panose="05000000000000000000" pitchFamily="2" charset="2"/>
              </a:rPr>
              <a:t>species</a:t>
            </a: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sz="18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1800" dirty="0" err="1">
                <a:latin typeface="Helvetica"/>
                <a:cs typeface="Helvetica"/>
                <a:sym typeface="Wingdings" panose="05000000000000000000" pitchFamily="2" charset="2"/>
              </a:rPr>
              <a:t>L</a:t>
            </a:r>
            <a:r>
              <a:rPr lang="es-ES" sz="1800" dirty="0" err="1">
                <a:latin typeface="Helvetica"/>
                <a:cs typeface="Helvetica"/>
              </a:rPr>
              <a:t>ack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regional-</a:t>
            </a:r>
            <a:r>
              <a:rPr lang="es-ES" sz="1800" b="1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dirty="0">
                <a:latin typeface="Helvetica"/>
                <a:cs typeface="Helvetica"/>
              </a:rPr>
              <a:t>Relative </a:t>
            </a:r>
            <a:r>
              <a:rPr lang="es-ES" sz="1800" dirty="0" err="1">
                <a:latin typeface="Helvetica"/>
                <a:cs typeface="Helvetica"/>
              </a:rPr>
              <a:t>importance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hydraulic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failure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>
                <a:latin typeface="Helvetica"/>
                <a:cs typeface="Helvetica"/>
              </a:rPr>
              <a:t>vs. </a:t>
            </a:r>
            <a:r>
              <a:rPr lang="es-ES" sz="1800" b="1" dirty="0" err="1">
                <a:latin typeface="Helvetica"/>
                <a:cs typeface="Helvetica"/>
              </a:rPr>
              <a:t>carbon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starvation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>
              <a:buClr>
                <a:srgbClr val="218317"/>
              </a:buClr>
            </a:pPr>
            <a:endParaRPr lang="es-ES" sz="18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1800" b="1" dirty="0" err="1">
                <a:latin typeface="Helvetica"/>
                <a:cs typeface="Helvetica"/>
              </a:rPr>
              <a:t>Overlooked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interactions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processes</a:t>
            </a:r>
            <a:endParaRPr lang="es-ES" sz="1800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B28DFEF1-29B4-A1BA-82C0-5AC2811B3E25}"/>
              </a:ext>
            </a:extLst>
          </p:cNvPr>
          <p:cNvSpPr txBox="1">
            <a:spLocks/>
          </p:cNvSpPr>
          <p:nvPr/>
        </p:nvSpPr>
        <p:spPr>
          <a:xfrm>
            <a:off x="8374268" y="3005916"/>
            <a:ext cx="3611456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responses </a:t>
            </a:r>
            <a:r>
              <a:rPr lang="es-ES" sz="1800" b="1" dirty="0" err="1">
                <a:latin typeface="Helvetica"/>
                <a:cs typeface="Helvetica"/>
              </a:rPr>
              <a:t>to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drought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D7500AF7-FBA3-3FC5-E9B9-776DD3A3110E}"/>
              </a:ext>
            </a:extLst>
          </p:cNvPr>
          <p:cNvSpPr txBox="1">
            <a:spLocks/>
          </p:cNvSpPr>
          <p:nvPr/>
        </p:nvSpPr>
        <p:spPr>
          <a:xfrm>
            <a:off x="8338458" y="4222068"/>
            <a:ext cx="3750906" cy="1522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CF581EA6-D117-043D-28FB-CFF33D6AD5D9}"/>
              </a:ext>
            </a:extLst>
          </p:cNvPr>
          <p:cNvSpPr txBox="1">
            <a:spLocks/>
          </p:cNvSpPr>
          <p:nvPr/>
        </p:nvSpPr>
        <p:spPr>
          <a:xfrm>
            <a:off x="3853544" y="2198102"/>
            <a:ext cx="391599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&amp; responses </a:t>
            </a:r>
            <a:r>
              <a:rPr lang="es-ES" sz="1800" dirty="0" err="1">
                <a:latin typeface="Helvetica"/>
                <a:cs typeface="Helvetica"/>
              </a:rPr>
              <a:t>remain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constant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across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species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>
                <a:latin typeface="Helvetica"/>
                <a:cs typeface="Helvetica"/>
              </a:rPr>
              <a:t>Do </a:t>
            </a:r>
            <a:r>
              <a:rPr lang="es-ES" sz="1800" dirty="0" err="1">
                <a:latin typeface="Helvetica"/>
                <a:cs typeface="Helvetica"/>
              </a:rPr>
              <a:t>we</a:t>
            </a:r>
            <a:r>
              <a:rPr lang="es-ES" sz="1800" dirty="0">
                <a:latin typeface="Helvetica"/>
                <a:cs typeface="Helvetica"/>
              </a:rPr>
              <a:t> observe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same</a:t>
            </a:r>
            <a:r>
              <a:rPr lang="es-ES" sz="1800" dirty="0">
                <a:latin typeface="Helvetica"/>
                <a:cs typeface="Helvetica"/>
              </a:rPr>
              <a:t> at regional </a:t>
            </a:r>
            <a:r>
              <a:rPr lang="es-ES" sz="1800" dirty="0" err="1">
                <a:latin typeface="Helvetica"/>
                <a:cs typeface="Helvetica"/>
              </a:rPr>
              <a:t>scale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than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previous</a:t>
            </a:r>
            <a:r>
              <a:rPr lang="es-ES" sz="1800" dirty="0">
                <a:latin typeface="Helvetica"/>
                <a:cs typeface="Helvetica"/>
              </a:rPr>
              <a:t> local </a:t>
            </a:r>
            <a:r>
              <a:rPr lang="es-ES" sz="1800" dirty="0" err="1">
                <a:latin typeface="Helvetica"/>
                <a:cs typeface="Helvetica"/>
              </a:rPr>
              <a:t>studies</a:t>
            </a:r>
            <a:r>
              <a:rPr lang="es-ES" sz="1800" dirty="0">
                <a:latin typeface="Helvetica"/>
                <a:cs typeface="Helvetica"/>
              </a:rPr>
              <a:t>?</a:t>
            </a:r>
          </a:p>
          <a:p>
            <a:pPr marL="0" indent="0">
              <a:buClr>
                <a:srgbClr val="218317"/>
              </a:buClr>
              <a:buNone/>
            </a:pP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B3ADCE23-DD4D-5D66-E2A4-4B45EC94B998}"/>
              </a:ext>
            </a:extLst>
          </p:cNvPr>
          <p:cNvSpPr/>
          <p:nvPr/>
        </p:nvSpPr>
        <p:spPr>
          <a:xfrm>
            <a:off x="3405675" y="2198102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666E13-317E-46DE-D20A-125E1EFB5239}"/>
              </a:ext>
            </a:extLst>
          </p:cNvPr>
          <p:cNvSpPr txBox="1">
            <a:spLocks/>
          </p:cNvSpPr>
          <p:nvPr/>
        </p:nvSpPr>
        <p:spPr>
          <a:xfrm>
            <a:off x="8374268" y="1998234"/>
            <a:ext cx="3472006" cy="1430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characterise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determining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1F2BDD0-CDF4-C8DF-F680-5EFBD7753768}"/>
              </a:ext>
            </a:extLst>
          </p:cNvPr>
          <p:cNvSpPr/>
          <p:nvPr/>
        </p:nvSpPr>
        <p:spPr>
          <a:xfrm>
            <a:off x="3680928" y="4267887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A754A23-960C-9D67-3655-4E656C477597}"/>
              </a:ext>
            </a:extLst>
          </p:cNvPr>
          <p:cNvSpPr/>
          <p:nvPr/>
        </p:nvSpPr>
        <p:spPr>
          <a:xfrm rot="10800000">
            <a:off x="7866261" y="2148564"/>
            <a:ext cx="345232" cy="1430766"/>
          </a:xfrm>
          <a:prstGeom prst="rightBrace">
            <a:avLst/>
          </a:prstGeom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E201F6-5D01-72E5-9A35-976226FBAFE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53543" y="4983270"/>
            <a:ext cx="448491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52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27519" y="3400507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27519" y="5550853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09A2C19-2DBA-1AE2-F8CF-9C15B2272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4" b="4493"/>
          <a:stretch>
            <a:fillRect/>
          </a:stretch>
        </p:blipFill>
        <p:spPr>
          <a:xfrm>
            <a:off x="3949147" y="811105"/>
            <a:ext cx="6858000" cy="6046895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3669229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2203594" y="6403284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D8E0453-8B4A-B20C-AB68-7B3F1859961B}"/>
              </a:ext>
            </a:extLst>
          </p:cNvPr>
          <p:cNvGrpSpPr/>
          <p:nvPr/>
        </p:nvGrpSpPr>
        <p:grpSpPr>
          <a:xfrm>
            <a:off x="8527188" y="5371533"/>
            <a:ext cx="3301889" cy="1220763"/>
            <a:chOff x="6178013" y="5057218"/>
            <a:chExt cx="3301889" cy="1220763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0EF1E68-78BF-4F46-EC92-7C9B7DC71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7EE9C73-8D0E-B84F-FBE1-CB7E50FBFF03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E1F4340-629D-1579-80CB-121769E85279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D6DA4FE-3CC6-6D36-6ECB-E616FD3C3825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56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49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1246240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B5518D9-AD43-C2DD-9D23-79EF776CC173}"/>
              </a:ext>
            </a:extLst>
          </p:cNvPr>
          <p:cNvGrpSpPr/>
          <p:nvPr/>
        </p:nvGrpSpPr>
        <p:grpSpPr>
          <a:xfrm>
            <a:off x="6389013" y="4487957"/>
            <a:ext cx="3301889" cy="1220763"/>
            <a:chOff x="6178013" y="5057218"/>
            <a:chExt cx="3301889" cy="122076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87B21BD-A6B5-1787-C2FE-38F3E226D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0AAB96E-6C5C-AA9D-9E37-537A9CDC0700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41E0CA6-A5D7-F12C-31D8-D135866D6D2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C3C26AC-8D50-CAE9-0DD5-970E82CAF65D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252126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3359019"/>
            <a:ext cx="11206500" cy="3293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Size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b="1" dirty="0" err="1">
                <a:latin typeface="Helvetica"/>
                <a:cs typeface="Helvetica"/>
              </a:rPr>
              <a:t>bigger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trees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will</a:t>
            </a:r>
            <a:r>
              <a:rPr lang="es-ES" sz="2400" dirty="0">
                <a:latin typeface="Helvetica"/>
                <a:cs typeface="Helvetica"/>
              </a:rPr>
              <a:t> be more vulnerable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limitations</a:t>
            </a:r>
            <a:r>
              <a:rPr lang="es-ES" sz="2400" dirty="0">
                <a:latin typeface="Helvetica"/>
                <a:cs typeface="Helvetica"/>
              </a:rPr>
              <a:t> (</a:t>
            </a:r>
            <a:r>
              <a:rPr lang="es-ES" sz="2400" dirty="0" err="1">
                <a:latin typeface="Helvetica"/>
                <a:cs typeface="Helvetica"/>
              </a:rPr>
              <a:t>increased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resistance</a:t>
            </a:r>
            <a:r>
              <a:rPr lang="es-ES" sz="2400" dirty="0">
                <a:latin typeface="Helvetica"/>
                <a:cs typeface="Helvetica"/>
              </a:rPr>
              <a:t>)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expect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a </a:t>
            </a:r>
            <a:r>
              <a:rPr lang="es-ES" sz="2400" b="1" dirty="0" err="1">
                <a:latin typeface="Helvetica"/>
                <a:cs typeface="Helvetica"/>
              </a:rPr>
              <a:t>reduced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trend</a:t>
            </a:r>
            <a:r>
              <a:rPr lang="es-ES" sz="2400" b="1" dirty="0">
                <a:latin typeface="Helvetica"/>
                <a:cs typeface="Helvetica"/>
              </a:rPr>
              <a:t>, and </a:t>
            </a:r>
            <a:r>
              <a:rPr lang="es-ES" sz="2400" b="1" dirty="0" err="1">
                <a:latin typeface="Helvetica"/>
                <a:cs typeface="Helvetica"/>
              </a:rPr>
              <a:t>resilience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BAI,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loss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Competition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competition</a:t>
            </a:r>
            <a:r>
              <a:rPr lang="es-ES" sz="2400" dirty="0">
                <a:latin typeface="Helvetica"/>
                <a:cs typeface="Helvetica"/>
              </a:rPr>
              <a:t> reduces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availability</a:t>
            </a:r>
            <a:r>
              <a:rPr lang="es-ES" sz="2400" dirty="0">
                <a:latin typeface="Helvetica"/>
                <a:cs typeface="Helvetica"/>
              </a:rPr>
              <a:t> per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increases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interception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5942-0646-1F75-3FD6-FB877A4F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EDCCFA2-7421-E9F8-432B-5107BCD8FD10}"/>
              </a:ext>
            </a:extLst>
          </p:cNvPr>
          <p:cNvSpPr txBox="1">
            <a:spLocks/>
          </p:cNvSpPr>
          <p:nvPr/>
        </p:nvSpPr>
        <p:spPr>
          <a:xfrm>
            <a:off x="633461" y="119831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CD6406B-5875-AE5D-371F-5AE2CA33EA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D0E8E0D-4EC8-AF06-2C84-F69377E87B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176B63-C01E-6AD5-661C-4C9D8D28D38C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iWUE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5D2A598E-3271-64EB-5DA8-A70DDDCC8E1C}"/>
              </a:ext>
            </a:extLst>
          </p:cNvPr>
          <p:cNvSpPr txBox="1">
            <a:spLocks/>
          </p:cNvSpPr>
          <p:nvPr/>
        </p:nvSpPr>
        <p:spPr>
          <a:xfrm>
            <a:off x="633459" y="2951923"/>
            <a:ext cx="8172611" cy="33991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Pigments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n-US" sz="24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endParaRPr lang="es-ES" sz="2400" b="1" dirty="0">
              <a:solidFill>
                <a:srgbClr val="C00000"/>
              </a:solidFill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iWUE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isohydric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behaviour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leading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stomatal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closure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4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allocation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drought-induced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↑ C:N ratio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D59DB51-5D88-D4EB-E8F6-3F6BAA5E1023}"/>
              </a:ext>
            </a:extLst>
          </p:cNvPr>
          <p:cNvGrpSpPr/>
          <p:nvPr/>
        </p:nvGrpSpPr>
        <p:grpSpPr>
          <a:xfrm>
            <a:off x="8752732" y="3174880"/>
            <a:ext cx="3477754" cy="1250117"/>
            <a:chOff x="1139560" y="5095351"/>
            <a:chExt cx="3477754" cy="125011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E1E93E6-363C-013D-E9E5-1C1424287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FEF6D0F-A69C-A522-AA0F-98D0F4174B64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A30C1B7-6EB8-97DA-72BA-71484368860C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082686E-8BB0-F750-B3B1-7FCB2D135B37}"/>
              </a:ext>
            </a:extLst>
          </p:cNvPr>
          <p:cNvGrpSpPr/>
          <p:nvPr/>
        </p:nvGrpSpPr>
        <p:grpSpPr>
          <a:xfrm>
            <a:off x="8752732" y="4438528"/>
            <a:ext cx="3301889" cy="1220763"/>
            <a:chOff x="6178013" y="5057218"/>
            <a:chExt cx="3301889" cy="1220763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AFF188B-F49B-5A75-5066-5D26817E2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166D1FD-614B-8988-6A96-F2B8CE294316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8957225-F35F-94AB-9237-9E568624460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9A0E59A-4CBE-0538-942B-88DBCFAD2FB7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8941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141914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long-term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adaptations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238156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higher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aridity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b="1" i="1" dirty="0" err="1">
                <a:latin typeface="Helvetica"/>
                <a:cs typeface="Helvetica"/>
              </a:rPr>
              <a:t>temperate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species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than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Mediterranean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endParaRPr lang="es-ES" sz="2400" i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AEC9-25F7-6CA6-B62B-65068878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A0F01-5553-6814-163F-B61A923618B6}"/>
              </a:ext>
            </a:extLst>
          </p:cNvPr>
          <p:cNvSpPr txBox="1">
            <a:spLocks/>
          </p:cNvSpPr>
          <p:nvPr/>
        </p:nvSpPr>
        <p:spPr>
          <a:xfrm>
            <a:off x="633461" y="1094519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34AD306-A763-7927-32AA-9A5AC78B6A4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FCF49EB-BE30-FEA2-5296-D1034820F18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7B079E-C0DD-6FF2-8D4E-355AE383674E}"/>
              </a:ext>
            </a:extLst>
          </p:cNvPr>
          <p:cNvSpPr txBox="1">
            <a:spLocks/>
          </p:cNvSpPr>
          <p:nvPr/>
        </p:nvSpPr>
        <p:spPr>
          <a:xfrm>
            <a:off x="633460" y="309533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706A869-4518-F769-1C64-D6AC6A987CEE}"/>
              </a:ext>
            </a:extLst>
          </p:cNvPr>
          <p:cNvSpPr txBox="1">
            <a:spLocks/>
          </p:cNvSpPr>
          <p:nvPr/>
        </p:nvSpPr>
        <p:spPr>
          <a:xfrm>
            <a:off x="633460" y="4908807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long-term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adaptations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6074D58-950B-1ED2-E4B4-254E9D56E635}"/>
              </a:ext>
            </a:extLst>
          </p:cNvPr>
          <p:cNvSpPr txBox="1">
            <a:spLocks/>
          </p:cNvSpPr>
          <p:nvPr/>
        </p:nvSpPr>
        <p:spPr>
          <a:xfrm>
            <a:off x="3444180" y="2360617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</a:rPr>
              <a:t>Fig. 2.: </a:t>
            </a:r>
            <a:r>
              <a:rPr lang="es-ES" sz="2400" b="1" dirty="0" err="1">
                <a:latin typeface="Helvetica"/>
                <a:cs typeface="Helvetica"/>
              </a:rPr>
              <a:t>boxplot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0EA7464B-BD92-F073-50FA-F4E0C1454262}"/>
              </a:ext>
            </a:extLst>
          </p:cNvPr>
          <p:cNvSpPr txBox="1">
            <a:spLocks/>
          </p:cNvSpPr>
          <p:nvPr/>
        </p:nvSpPr>
        <p:spPr>
          <a:xfrm>
            <a:off x="3444180" y="4079618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</a:rPr>
              <a:t>Fig. 3.: </a:t>
            </a:r>
            <a:r>
              <a:rPr lang="es-ES" sz="2400" b="1" dirty="0" err="1">
                <a:latin typeface="Helvetica"/>
                <a:cs typeface="Helvetica"/>
              </a:rPr>
              <a:t>boxplot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D55FCC87-AB75-D1D0-0497-DE66F63E5567}"/>
              </a:ext>
            </a:extLst>
          </p:cNvPr>
          <p:cNvSpPr txBox="1">
            <a:spLocks/>
          </p:cNvSpPr>
          <p:nvPr/>
        </p:nvSpPr>
        <p:spPr>
          <a:xfrm>
            <a:off x="3444180" y="603746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PCA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Fig. 4.: </a:t>
            </a:r>
            <a:r>
              <a:rPr lang="es-ES" sz="2400" b="1" dirty="0" err="1">
                <a:latin typeface="Helvetica"/>
                <a:cs typeface="Helvetica"/>
              </a:rPr>
              <a:t>Model</a:t>
            </a:r>
            <a:r>
              <a:rPr lang="es-ES" sz="2400" b="1" dirty="0">
                <a:latin typeface="Helvetica"/>
                <a:cs typeface="Helvetica"/>
              </a:rPr>
              <a:t> (SEM)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059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27100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only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keep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determine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Wilcoxon test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might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forecast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14FA-3D28-8403-81B6-B448077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85FE511-F26E-1A66-6941-39A9082A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7AE742-6EA7-F8B5-3595-9F111578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32A3D2-0918-C180-A3AF-66B4E681884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D0A892C-550D-6C20-3244-E4006C28BAC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1.- </a:t>
            </a:r>
            <a:r>
              <a:rPr lang="es-ES" sz="3200" b="1" dirty="0" err="1">
                <a:latin typeface="Helvetica"/>
                <a:cs typeface="Helvetica"/>
              </a:rPr>
              <a:t>Bibliographic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revision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CA4C81-E87C-509B-D127-B005EEC6CA49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E645AC0B-7EB5-ED28-D344-04A8A75B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17C19A51-F188-59BA-4108-637918195FE2}"/>
              </a:ext>
            </a:extLst>
          </p:cNvPr>
          <p:cNvSpPr txBox="1"/>
          <p:nvPr/>
        </p:nvSpPr>
        <p:spPr>
          <a:xfrm>
            <a:off x="418288" y="2980082"/>
            <a:ext cx="3063789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(SLA, EWT)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0E0D77AC-F967-D971-1006-80B714535C88}"/>
              </a:ext>
            </a:extLst>
          </p:cNvPr>
          <p:cNvSpPr txBox="1"/>
          <p:nvPr/>
        </p:nvSpPr>
        <p:spPr>
          <a:xfrm>
            <a:off x="4621358" y="2980082"/>
            <a:ext cx="2502655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E8CB5A7B-EC11-2D94-75D6-F6A191475E3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373627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04782" y="212311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D925E0D-4A9B-5CFB-3FBF-EDE3D40F1472}"/>
              </a:ext>
            </a:extLst>
          </p:cNvPr>
          <p:cNvSpPr txBox="1"/>
          <p:nvPr/>
        </p:nvSpPr>
        <p:spPr>
          <a:xfrm>
            <a:off x="418288" y="2980082"/>
            <a:ext cx="5476674" cy="147732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time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scales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should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just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pick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surprisingly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92653" y="510836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7FD12479-C05F-D19B-52C4-D10AA8CF02D5}"/>
              </a:ext>
            </a:extLst>
          </p:cNvPr>
          <p:cNvSpPr txBox="1"/>
          <p:nvPr/>
        </p:nvSpPr>
        <p:spPr>
          <a:xfrm>
            <a:off x="-404782" y="590142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C01611E-7E3A-BF07-144B-AE74BD9B30CC}"/>
              </a:ext>
            </a:extLst>
          </p:cNvPr>
          <p:cNvSpPr/>
          <p:nvPr/>
        </p:nvSpPr>
        <p:spPr>
          <a:xfrm>
            <a:off x="3064213" y="5518922"/>
            <a:ext cx="107004" cy="400110"/>
          </a:xfrm>
          <a:prstGeom prst="down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50DE1E9-94B2-E153-B20D-F07D79F56AD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D7C29A-C044-3616-0CD5-A5F7D5CB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62" y="804155"/>
            <a:ext cx="6053845" cy="605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3B6-A4BF-DADE-1A72-7B36ED80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2512801-7A7B-CA2D-AC0B-35EF8CC3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B49E79-E5A9-8191-4465-1A98A52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8C9DE0E-B19A-C40A-4DC3-571AD3B8C54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700296" y="1786800"/>
            <a:ext cx="48541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Helvetica"/>
                <a:cs typeface="Helvetica"/>
              </a:rPr>
              <a:t>Wilcoxon test + Bonferroni </a:t>
            </a:r>
            <a:r>
              <a:rPr lang="es-ES" sz="2400" b="1" dirty="0" err="1">
                <a:latin typeface="Helvetica"/>
                <a:cs typeface="Helvetica"/>
              </a:rPr>
              <a:t>correction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700296" y="2782669"/>
            <a:ext cx="547667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discard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AEE7E184-71CA-424C-9FA0-349E5B5C77F7}"/>
              </a:ext>
            </a:extLst>
          </p:cNvPr>
          <p:cNvSpPr txBox="1"/>
          <p:nvPr/>
        </p:nvSpPr>
        <p:spPr>
          <a:xfrm>
            <a:off x="1035246" y="4186667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64B8D9-D540-D759-552C-98F1B876B91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FEC5B-FC9A-97D4-96C1-0E8B48AA4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442" y="881328"/>
            <a:ext cx="5830078" cy="583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3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CF8C-B78D-231D-96CD-84299F8E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8C86AFB-5A31-0548-A7BF-4522227B5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A80D1A-AAA1-9067-BAA3-904FC907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4C8FD13-D5F2-3BC9-471D-344B12D11E52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D97B54E9-D2A7-E17E-D670-74C13E2E98FE}"/>
              </a:ext>
            </a:extLst>
          </p:cNvPr>
          <p:cNvSpPr txBox="1"/>
          <p:nvPr/>
        </p:nvSpPr>
        <p:spPr>
          <a:xfrm>
            <a:off x="700296" y="1786800"/>
            <a:ext cx="48541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Helvetica"/>
                <a:cs typeface="Helvetica"/>
              </a:rPr>
              <a:t>Wilcoxon test + Bonferroni </a:t>
            </a:r>
            <a:r>
              <a:rPr lang="es-ES" sz="2400" b="1" dirty="0" err="1">
                <a:latin typeface="Helvetica"/>
                <a:cs typeface="Helvetica"/>
              </a:rPr>
              <a:t>correction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5849058-E641-7D0E-7B91-C1309D67D6B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95B4F4-2BB1-A838-4E3A-0210AA9FE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922" y="880376"/>
            <a:ext cx="5830078" cy="5830078"/>
          </a:xfrm>
          <a:prstGeom prst="rect">
            <a:avLst/>
          </a:prstGeom>
        </p:spPr>
      </p:pic>
      <p:sp>
        <p:nvSpPr>
          <p:cNvPr id="6" name="Signo de multiplicación 18">
            <a:extLst>
              <a:ext uri="{FF2B5EF4-FFF2-40B4-BE49-F238E27FC236}">
                <a16:creationId xmlns:a16="http://schemas.microsoft.com/office/drawing/2014/main" id="{FD0DDD92-9A97-9C94-090F-A2D421F5BB1B}"/>
              </a:ext>
            </a:extLst>
          </p:cNvPr>
          <p:cNvSpPr/>
          <p:nvPr/>
        </p:nvSpPr>
        <p:spPr>
          <a:xfrm>
            <a:off x="8119493" y="3177145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Signo de multiplicación 18">
            <a:extLst>
              <a:ext uri="{FF2B5EF4-FFF2-40B4-BE49-F238E27FC236}">
                <a16:creationId xmlns:a16="http://schemas.microsoft.com/office/drawing/2014/main" id="{64BA6DAC-CB59-5B8F-70AA-D850C299EE4A}"/>
              </a:ext>
            </a:extLst>
          </p:cNvPr>
          <p:cNvSpPr/>
          <p:nvPr/>
        </p:nvSpPr>
        <p:spPr>
          <a:xfrm>
            <a:off x="9125333" y="3177145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Signo de multiplicación 18">
            <a:extLst>
              <a:ext uri="{FF2B5EF4-FFF2-40B4-BE49-F238E27FC236}">
                <a16:creationId xmlns:a16="http://schemas.microsoft.com/office/drawing/2014/main" id="{A4E293C3-0650-D929-8CE9-C2A77A0C8057}"/>
              </a:ext>
            </a:extLst>
          </p:cNvPr>
          <p:cNvSpPr/>
          <p:nvPr/>
        </p:nvSpPr>
        <p:spPr>
          <a:xfrm>
            <a:off x="6315077" y="4274425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gno de multiplicación 18">
            <a:extLst>
              <a:ext uri="{FF2B5EF4-FFF2-40B4-BE49-F238E27FC236}">
                <a16:creationId xmlns:a16="http://schemas.microsoft.com/office/drawing/2014/main" id="{04BF355A-B55F-25FA-7146-724A3CFEE8C6}"/>
              </a:ext>
            </a:extLst>
          </p:cNvPr>
          <p:cNvSpPr/>
          <p:nvPr/>
        </p:nvSpPr>
        <p:spPr>
          <a:xfrm>
            <a:off x="8168261" y="54523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Signo de multiplicación 18">
            <a:extLst>
              <a:ext uri="{FF2B5EF4-FFF2-40B4-BE49-F238E27FC236}">
                <a16:creationId xmlns:a16="http://schemas.microsoft.com/office/drawing/2014/main" id="{FEB3E85B-3D1E-BB14-C4FB-483AA9808E4F}"/>
              </a:ext>
            </a:extLst>
          </p:cNvPr>
          <p:cNvSpPr/>
          <p:nvPr/>
        </p:nvSpPr>
        <p:spPr>
          <a:xfrm>
            <a:off x="9125333" y="54523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8">
            <a:extLst>
              <a:ext uri="{FF2B5EF4-FFF2-40B4-BE49-F238E27FC236}">
                <a16:creationId xmlns:a16="http://schemas.microsoft.com/office/drawing/2014/main" id="{583A6395-3C90-84B1-C954-04FE876FF314}"/>
              </a:ext>
            </a:extLst>
          </p:cNvPr>
          <p:cNvSpPr/>
          <p:nvPr/>
        </p:nvSpPr>
        <p:spPr>
          <a:xfrm>
            <a:off x="9125333" y="815062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Signo de multiplicación 18">
            <a:extLst>
              <a:ext uri="{FF2B5EF4-FFF2-40B4-BE49-F238E27FC236}">
                <a16:creationId xmlns:a16="http://schemas.microsoft.com/office/drawing/2014/main" id="{74A7E60C-AEC5-D173-FA74-8AF8FA660A68}"/>
              </a:ext>
            </a:extLst>
          </p:cNvPr>
          <p:cNvSpPr/>
          <p:nvPr/>
        </p:nvSpPr>
        <p:spPr>
          <a:xfrm>
            <a:off x="10034083" y="815062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Signo de multiplicación 18">
            <a:extLst>
              <a:ext uri="{FF2B5EF4-FFF2-40B4-BE49-F238E27FC236}">
                <a16:creationId xmlns:a16="http://schemas.microsoft.com/office/drawing/2014/main" id="{8A15AAF3-4D9C-16BD-52E7-4F9DBBDF8510}"/>
              </a:ext>
            </a:extLst>
          </p:cNvPr>
          <p:cNvSpPr/>
          <p:nvPr/>
        </p:nvSpPr>
        <p:spPr>
          <a:xfrm>
            <a:off x="7216134" y="2010030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Signo de multiplicación 18">
            <a:extLst>
              <a:ext uri="{FF2B5EF4-FFF2-40B4-BE49-F238E27FC236}">
                <a16:creationId xmlns:a16="http://schemas.microsoft.com/office/drawing/2014/main" id="{EDB6010A-EE8A-6F19-2539-E34784A207E3}"/>
              </a:ext>
            </a:extLst>
          </p:cNvPr>
          <p:cNvSpPr/>
          <p:nvPr/>
        </p:nvSpPr>
        <p:spPr>
          <a:xfrm>
            <a:off x="8168261" y="20100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Signo de multiplicación 18">
            <a:extLst>
              <a:ext uri="{FF2B5EF4-FFF2-40B4-BE49-F238E27FC236}">
                <a16:creationId xmlns:a16="http://schemas.microsoft.com/office/drawing/2014/main" id="{0D62B2EF-6C4B-8581-94D2-7536048DEEA2}"/>
              </a:ext>
            </a:extLst>
          </p:cNvPr>
          <p:cNvSpPr/>
          <p:nvPr/>
        </p:nvSpPr>
        <p:spPr>
          <a:xfrm>
            <a:off x="9119942" y="20100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Signo de multiplicación 18">
            <a:extLst>
              <a:ext uri="{FF2B5EF4-FFF2-40B4-BE49-F238E27FC236}">
                <a16:creationId xmlns:a16="http://schemas.microsoft.com/office/drawing/2014/main" id="{F83D99C9-A044-9EED-9C97-A1A2CD1E1E68}"/>
              </a:ext>
            </a:extLst>
          </p:cNvPr>
          <p:cNvSpPr/>
          <p:nvPr/>
        </p:nvSpPr>
        <p:spPr>
          <a:xfrm>
            <a:off x="10956023" y="20100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10">
            <a:extLst>
              <a:ext uri="{FF2B5EF4-FFF2-40B4-BE49-F238E27FC236}">
                <a16:creationId xmlns:a16="http://schemas.microsoft.com/office/drawing/2014/main" id="{BB45E6B0-7FBB-5B07-E314-C7AA71C42503}"/>
              </a:ext>
            </a:extLst>
          </p:cNvPr>
          <p:cNvSpPr txBox="1"/>
          <p:nvPr/>
        </p:nvSpPr>
        <p:spPr>
          <a:xfrm>
            <a:off x="78510" y="2688585"/>
            <a:ext cx="60174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82080FC7-FEB7-7072-300F-B8E5887181A2}"/>
              </a:ext>
            </a:extLst>
          </p:cNvPr>
          <p:cNvSpPr txBox="1"/>
          <p:nvPr/>
        </p:nvSpPr>
        <p:spPr>
          <a:xfrm>
            <a:off x="619326" y="3571133"/>
            <a:ext cx="5476674" cy="31393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C:N ratio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2017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2022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Total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a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b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389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5BF0-AAC4-BAA2-34F8-5223E67B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6DA7092-659A-120E-A79A-AA805C216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22068D-7E9A-B7A0-29F3-F14C9478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C665D94-480D-B95C-5DB1-51C1ABA1A9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FB5F455F-6727-EF16-BF4B-9987EC3F3FDA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C203356-F9EB-E64A-AB3E-A8D4EAB687A6}"/>
              </a:ext>
            </a:extLst>
          </p:cNvPr>
          <p:cNvGraphicFramePr>
            <a:graphicFrameLocks noGrp="1"/>
          </p:cNvGraphicFramePr>
          <p:nvPr/>
        </p:nvGraphicFramePr>
        <p:xfrm>
          <a:off x="6014470" y="2123593"/>
          <a:ext cx="599313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530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360071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  <a:gridCol w="1016765">
                  <a:extLst>
                    <a:ext uri="{9D8B030D-6E8A-4147-A177-3AD203B41FA5}">
                      <a16:colId xmlns:a16="http://schemas.microsoft.com/office/drawing/2014/main" val="189666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A. alba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</a:t>
                      </a:r>
                      <a:r>
                        <a:rPr lang="es-ES" sz="1600" i="1" dirty="0" err="1">
                          <a:latin typeface="Helvetica" panose="020B0604020202020204"/>
                          <a:cs typeface="Helvetica" panose="020B0604020202020204"/>
                        </a:rPr>
                        <a:t>sylvestris</a:t>
                      </a:r>
                      <a:endParaRPr lang="es-ES" sz="1600" i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pinea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All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218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Height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d.b.h</a:t>
                      </a:r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Age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Defoliation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LWC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. a/b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. / </a:t>
                      </a:r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xc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C </a:t>
                      </a:r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content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717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600" b="1" baseline="30000" dirty="0">
                          <a:latin typeface="Helvetica" panose="020B0604020202020204"/>
                          <a:cs typeface="Helvetica" panose="020B0604020202020204"/>
                        </a:rPr>
                        <a:t>13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600" b="1" baseline="30000" dirty="0">
                          <a:latin typeface="Helvetica" panose="020B0604020202020204"/>
                          <a:cs typeface="Helvetica" panose="020B0604020202020204"/>
                        </a:rPr>
                        <a:t>15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6C47103-D1B5-B778-56BE-B3D62BF80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D9C5BA97-A416-26E3-BF3B-685CF6F61071}"/>
              </a:ext>
            </a:extLst>
          </p:cNvPr>
          <p:cNvSpPr txBox="1"/>
          <p:nvPr/>
        </p:nvSpPr>
        <p:spPr>
          <a:xfrm>
            <a:off x="591782" y="1071458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476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6401-1343-6489-0678-8A8EB596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2025A94-12B9-7279-CA7F-2E32BF6E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07C43-FEEF-B6E3-98EA-23833228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39D1441-2331-8F6E-4111-D49EA7ED885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6F34E1AE-803B-C5A1-E976-3AFFFAE23CBF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17863B-BF42-93C7-AC73-602A87D42F27}"/>
              </a:ext>
            </a:extLst>
          </p:cNvPr>
          <p:cNvGraphicFramePr>
            <a:graphicFrameLocks noGrp="1"/>
          </p:cNvGraphicFramePr>
          <p:nvPr/>
        </p:nvGraphicFramePr>
        <p:xfrm>
          <a:off x="6014470" y="2123593"/>
          <a:ext cx="599313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530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360071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  <a:gridCol w="1016765">
                  <a:extLst>
                    <a:ext uri="{9D8B030D-6E8A-4147-A177-3AD203B41FA5}">
                      <a16:colId xmlns:a16="http://schemas.microsoft.com/office/drawing/2014/main" val="189666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A. alba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</a:t>
                      </a:r>
                      <a:r>
                        <a:rPr lang="es-ES" sz="1600" i="1" dirty="0" err="1">
                          <a:latin typeface="Helvetica" panose="020B0604020202020204"/>
                          <a:cs typeface="Helvetica" panose="020B0604020202020204"/>
                        </a:rPr>
                        <a:t>sylvestris</a:t>
                      </a:r>
                      <a:endParaRPr lang="es-ES" sz="1600" i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pinea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All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218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0" dirty="0">
                          <a:latin typeface="Helvetica" panose="020B0604020202020204"/>
                          <a:cs typeface="Helvetica" panose="020B0604020202020204"/>
                        </a:rPr>
                        <a:t>BAI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BAI 1980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15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05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Rt12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Rs12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Rs17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864DF6F4-1E35-C967-44FD-4C1F3298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4920F44-C880-481B-A69F-A476CC4D5A15}"/>
              </a:ext>
            </a:extLst>
          </p:cNvPr>
          <p:cNvGrpSpPr/>
          <p:nvPr/>
        </p:nvGrpSpPr>
        <p:grpSpPr>
          <a:xfrm>
            <a:off x="7010013" y="5946719"/>
            <a:ext cx="3681971" cy="718241"/>
            <a:chOff x="666509" y="1077306"/>
            <a:chExt cx="4015081" cy="941289"/>
          </a:xfrm>
        </p:grpSpPr>
        <p:pic>
          <p:nvPicPr>
            <p:cNvPr id="23" name="Imagen 11">
              <a:extLst>
                <a:ext uri="{FF2B5EF4-FFF2-40B4-BE49-F238E27FC236}">
                  <a16:creationId xmlns:a16="http://schemas.microsoft.com/office/drawing/2014/main" id="{8DFE204E-393D-C973-17BB-441E1B97F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597"/>
            <a:stretch>
              <a:fillRect/>
            </a:stretch>
          </p:blipFill>
          <p:spPr>
            <a:xfrm>
              <a:off x="666509" y="1077306"/>
              <a:ext cx="4015081" cy="538132"/>
            </a:xfrm>
            <a:prstGeom prst="rect">
              <a:avLst/>
            </a:prstGeom>
          </p:spPr>
        </p:pic>
        <p:pic>
          <p:nvPicPr>
            <p:cNvPr id="24" name="Imagen 11">
              <a:extLst>
                <a:ext uri="{FF2B5EF4-FFF2-40B4-BE49-F238E27FC236}">
                  <a16:creationId xmlns:a16="http://schemas.microsoft.com/office/drawing/2014/main" id="{FF2E1331-3C04-61F2-8A8A-B85B291C0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154" b="-196"/>
            <a:stretch>
              <a:fillRect/>
            </a:stretch>
          </p:blipFill>
          <p:spPr>
            <a:xfrm>
              <a:off x="666509" y="1615438"/>
              <a:ext cx="4015081" cy="403157"/>
            </a:xfrm>
            <a:prstGeom prst="rect">
              <a:avLst/>
            </a:prstGeom>
          </p:spPr>
        </p:pic>
      </p:grpSp>
      <p:sp>
        <p:nvSpPr>
          <p:cNvPr id="5" name="TextBox 2">
            <a:extLst>
              <a:ext uri="{FF2B5EF4-FFF2-40B4-BE49-F238E27FC236}">
                <a16:creationId xmlns:a16="http://schemas.microsoft.com/office/drawing/2014/main" id="{0B010C8C-48FE-E392-FAE1-3038CCD2E476}"/>
              </a:ext>
            </a:extLst>
          </p:cNvPr>
          <p:cNvSpPr txBox="1"/>
          <p:nvPr/>
        </p:nvSpPr>
        <p:spPr>
          <a:xfrm>
            <a:off x="591782" y="1071458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Responses</a:t>
            </a:r>
          </a:p>
        </p:txBody>
      </p:sp>
    </p:spTree>
    <p:extLst>
      <p:ext uri="{BB962C8B-B14F-4D97-AF65-F5344CB8AC3E}">
        <p14:creationId xmlns:p14="http://schemas.microsoft.com/office/powerpoint/2010/main" val="2127023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2939B2-F3C8-A31A-E8B5-13ACDE0857A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053365E-9384-207C-CA11-0DA16A9643C8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characterise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determining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through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assessment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morphological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>
                <a:latin typeface="Helvetica"/>
                <a:cs typeface="Helvetica"/>
              </a:rPr>
              <a:t>and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responses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drought-induced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damaged</a:t>
            </a:r>
            <a:r>
              <a:rPr lang="es-ES" sz="1800" dirty="0">
                <a:latin typeface="Helvetica"/>
                <a:cs typeface="Helvetica"/>
              </a:rPr>
              <a:t> vs. </a:t>
            </a:r>
            <a:r>
              <a:rPr lang="es-ES" sz="1800" dirty="0" err="1">
                <a:latin typeface="Helvetica"/>
                <a:cs typeface="Helvetica"/>
              </a:rPr>
              <a:t>healthy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areas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C5259-19F1-8B9A-8952-0B7E5A0C8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0" y="1937477"/>
            <a:ext cx="8073659" cy="4843785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4CDFF00-B5C4-99C7-75FA-DBDC703114CD}"/>
              </a:ext>
            </a:extLst>
          </p:cNvPr>
          <p:cNvSpPr txBox="1">
            <a:spLocks/>
          </p:cNvSpPr>
          <p:nvPr/>
        </p:nvSpPr>
        <p:spPr>
          <a:xfrm>
            <a:off x="1178791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2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1111-3078-71EB-28A8-5CE6644C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640C62E-8FAB-4A23-2615-4FC1C08F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3E4060-9872-9011-EDB3-1C3E8348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551C4C2-A7EF-9CDC-DCF7-D6FB92136F5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C8B2814-13A2-2BAB-4745-388233A4A077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characterise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determining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through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assessment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morphological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>
                <a:latin typeface="Helvetica"/>
                <a:cs typeface="Helvetica"/>
              </a:rPr>
              <a:t>and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responses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drought-induced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damaged</a:t>
            </a:r>
            <a:r>
              <a:rPr lang="es-ES" sz="1800" dirty="0">
                <a:latin typeface="Helvetica"/>
                <a:cs typeface="Helvetica"/>
              </a:rPr>
              <a:t> vs. </a:t>
            </a:r>
            <a:r>
              <a:rPr lang="es-ES" sz="1800" dirty="0" err="1">
                <a:latin typeface="Helvetica"/>
                <a:cs typeface="Helvetica"/>
              </a:rPr>
              <a:t>healthy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areas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C5AB2-072F-4928-86CD-9B4BA9A15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81" y="2188951"/>
            <a:ext cx="6701943" cy="4020825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293EE323-DA89-CD22-DD27-394A73B7E917}"/>
              </a:ext>
            </a:extLst>
          </p:cNvPr>
          <p:cNvSpPr txBox="1"/>
          <p:nvPr/>
        </p:nvSpPr>
        <p:spPr>
          <a:xfrm>
            <a:off x="7142480" y="2008592"/>
            <a:ext cx="449733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Bigger</a:t>
            </a:r>
            <a:r>
              <a:rPr lang="es-ES" sz="1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1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vulnerable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access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deeper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sources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(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according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638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A143-20D2-E768-36E9-2DD9E071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C548A82-8968-BB67-1E07-B3C74ECFC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6EDC4F-2A04-07B5-E13A-57247B3F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0E6B08-1667-A5A0-B16A-6DF289832C0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E2B8CE4-80DF-A8F8-F03C-D50CE3F75BB4}"/>
              </a:ext>
            </a:extLst>
          </p:cNvPr>
          <p:cNvSpPr txBox="1">
            <a:spLocks/>
          </p:cNvSpPr>
          <p:nvPr/>
        </p:nvSpPr>
        <p:spPr>
          <a:xfrm>
            <a:off x="1178791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3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70F408D-A3A0-B045-A3C2-09168C44B22E}"/>
              </a:ext>
            </a:extLst>
          </p:cNvPr>
          <p:cNvSpPr txBox="1">
            <a:spLocks/>
          </p:cNvSpPr>
          <p:nvPr/>
        </p:nvSpPr>
        <p:spPr>
          <a:xfrm>
            <a:off x="633460" y="1130598"/>
            <a:ext cx="10925077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responses </a:t>
            </a:r>
            <a:r>
              <a:rPr lang="es-ES" sz="1800" b="1" dirty="0" err="1">
                <a:latin typeface="Helvetica"/>
                <a:cs typeface="Helvetica"/>
              </a:rPr>
              <a:t>to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drought</a:t>
            </a:r>
            <a:r>
              <a:rPr lang="es-ES" sz="1800" b="1" dirty="0">
                <a:latin typeface="Helvetica"/>
                <a:cs typeface="Helvetica"/>
              </a:rPr>
              <a:t>, </a:t>
            </a:r>
            <a:r>
              <a:rPr lang="es-ES" sz="1800" dirty="0">
                <a:latin typeface="Helvetica"/>
                <a:cs typeface="Helvetica"/>
              </a:rPr>
              <a:t>and </a:t>
            </a:r>
            <a:r>
              <a:rPr lang="es-ES" sz="1800" b="1" dirty="0" err="1">
                <a:latin typeface="Helvetica"/>
                <a:cs typeface="Helvetica"/>
              </a:rPr>
              <a:t>what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are more </a:t>
            </a:r>
            <a:r>
              <a:rPr lang="es-ES" sz="1800" b="1" dirty="0" err="1">
                <a:latin typeface="Helvetica"/>
                <a:cs typeface="Helvetica"/>
              </a:rPr>
              <a:t>affected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57CC55-7951-A6C0-5B91-FEB6BEBBC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0" y="1937476"/>
            <a:ext cx="8073659" cy="484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08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5F5F-8D62-C5FA-B53C-C8888E14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4860345-C2F9-9510-85FB-037DEC4C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3B0C2D-7A66-67E6-06C9-786658FE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3CF077-E3D8-34D6-996D-5F36033DC22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49AF0DBE-0958-31CA-8A1D-B5DC38A4CA49}"/>
              </a:ext>
            </a:extLst>
          </p:cNvPr>
          <p:cNvSpPr txBox="1"/>
          <p:nvPr/>
        </p:nvSpPr>
        <p:spPr>
          <a:xfrm>
            <a:off x="7142480" y="2008592"/>
            <a:ext cx="44973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LWC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senescence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/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ratio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(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upregulated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ROS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synthesis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leading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oxidative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damage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l-G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6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tight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control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&amp;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increased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iWUE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6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allocation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impaired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uptake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4A79725-87C0-0B66-7DD1-2700A4D481FA}"/>
              </a:ext>
            </a:extLst>
          </p:cNvPr>
          <p:cNvSpPr txBox="1">
            <a:spLocks/>
          </p:cNvSpPr>
          <p:nvPr/>
        </p:nvSpPr>
        <p:spPr>
          <a:xfrm>
            <a:off x="633460" y="1130598"/>
            <a:ext cx="10925077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responses </a:t>
            </a:r>
            <a:r>
              <a:rPr lang="es-ES" sz="1800" b="1" dirty="0" err="1">
                <a:latin typeface="Helvetica"/>
                <a:cs typeface="Helvetica"/>
              </a:rPr>
              <a:t>to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drought</a:t>
            </a:r>
            <a:r>
              <a:rPr lang="es-ES" sz="1800" b="1" dirty="0">
                <a:latin typeface="Helvetica"/>
                <a:cs typeface="Helvetica"/>
              </a:rPr>
              <a:t>, </a:t>
            </a:r>
            <a:r>
              <a:rPr lang="es-ES" sz="1800" dirty="0">
                <a:latin typeface="Helvetica"/>
                <a:cs typeface="Helvetica"/>
              </a:rPr>
              <a:t>and </a:t>
            </a:r>
            <a:r>
              <a:rPr lang="es-ES" sz="1800" b="1" dirty="0" err="1">
                <a:latin typeface="Helvetica"/>
                <a:cs typeface="Helvetica"/>
              </a:rPr>
              <a:t>what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are more </a:t>
            </a:r>
            <a:r>
              <a:rPr lang="es-ES" sz="1800" b="1" dirty="0" err="1">
                <a:latin typeface="Helvetica"/>
                <a:cs typeface="Helvetica"/>
              </a:rPr>
              <a:t>affected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F59A34-E94A-C09D-B652-30329FF0C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81" y="2188951"/>
            <a:ext cx="6701943" cy="402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83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E3FE-ABF9-2983-F15A-1FEFAEA8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6D41078-2730-8B0A-3CAF-BA787ABD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841360-6F88-9716-453D-E664F853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6128630-A9BC-495F-C621-7B7F7BF8181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2F9CDB4-AD3C-397D-0942-8DF2D3E370B2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71F79EF-4DDD-D464-5E81-5DFC13BB7370}"/>
              </a:ext>
            </a:extLst>
          </p:cNvPr>
          <p:cNvSpPr txBox="1"/>
          <p:nvPr/>
        </p:nvSpPr>
        <p:spPr>
          <a:xfrm>
            <a:off x="633461" y="2598003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worth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942CB3D-3C99-4195-732D-B90B71ECC0F6}"/>
              </a:ext>
            </a:extLst>
          </p:cNvPr>
          <p:cNvSpPr txBox="1"/>
          <p:nvPr/>
        </p:nvSpPr>
        <p:spPr>
          <a:xfrm>
            <a:off x="633463" y="3488989"/>
            <a:ext cx="5587119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Linear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Mixed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Equations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83AD2E54-7FD0-1ED6-7EA6-C43FA5109A18}"/>
              </a:ext>
            </a:extLst>
          </p:cNvPr>
          <p:cNvSpPr txBox="1"/>
          <p:nvPr/>
        </p:nvSpPr>
        <p:spPr>
          <a:xfrm>
            <a:off x="745077" y="4379975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+ PCA1 + PCA2 + (1 | site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id) ¿?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08A062-5EAA-2C30-1BD7-BB668502F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040" y="1613511"/>
            <a:ext cx="4878729" cy="487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50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C4FE-D540-58EA-C148-B08589E6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1F3314-AF75-E728-58A1-966BF899A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04E661-DA61-B627-FBC9-AE09F0C4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392BBB0-7417-4E4E-DDE1-47A8F0C164B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B9DD9AE-F01B-0965-B781-7B9F3A7F2EC9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2D86B-F7ED-BFD0-9CB6-B028B92C9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28"/>
          <a:stretch>
            <a:fillRect/>
          </a:stretch>
        </p:blipFill>
        <p:spPr>
          <a:xfrm>
            <a:off x="633461" y="1979271"/>
            <a:ext cx="6763019" cy="426912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12BDB73-026F-4EB4-C430-9729CEF92A3E}"/>
              </a:ext>
            </a:extLst>
          </p:cNvPr>
          <p:cNvSpPr txBox="1"/>
          <p:nvPr/>
        </p:nvSpPr>
        <p:spPr>
          <a:xfrm>
            <a:off x="7298421" y="2129176"/>
            <a:ext cx="44973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BAI, Rt12;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 Rs12, LWC;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Rs17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C3135-4F44-B03E-6B54-10D12149DB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630" r="78500" b="7259"/>
          <a:stretch>
            <a:fillRect/>
          </a:stretch>
        </p:blipFill>
        <p:spPr>
          <a:xfrm>
            <a:off x="5233824" y="4643120"/>
            <a:ext cx="2091536" cy="12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24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96E3-8B72-C39D-0421-4BC10005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3186D16-E14C-59DB-BF5B-6BC5404D8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DF9691-CCBB-C664-CD90-631959AE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51DF5E3-F89C-345F-EE29-106FDF1BCD5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D4B8B29-5AC3-B419-6980-33A710E5FBB0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FECE6-DE50-2565-AF8B-B54C1AE68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8B9933-73B0-6F9C-F057-1FD131C09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730" r="78070" b="5485"/>
          <a:stretch>
            <a:fillRect/>
          </a:stretch>
        </p:blipFill>
        <p:spPr>
          <a:xfrm>
            <a:off x="2171699" y="5150733"/>
            <a:ext cx="2673752" cy="1562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6D8BEF-2161-71BC-97EA-EE6E6E6545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536" r="79114" b="7679"/>
          <a:stretch>
            <a:fillRect/>
          </a:stretch>
        </p:blipFill>
        <p:spPr>
          <a:xfrm>
            <a:off x="6096000" y="5104433"/>
            <a:ext cx="2546430" cy="1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08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F5BA-1B83-F460-847D-0C3BB8B7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F2464FC-5965-91B7-7F19-A93D6551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AADC97-1ACE-B518-0FB9-7AE3D69E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5EC93B4-F7AF-6284-EEAA-1292D35F803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764E94B-DB39-2D18-C576-6D0CBDC426E8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74E99-1F0E-A5E3-45C4-D41C0A20A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sp>
        <p:nvSpPr>
          <p:cNvPr id="5" name="CuadroTexto 10">
            <a:extLst>
              <a:ext uri="{FF2B5EF4-FFF2-40B4-BE49-F238E27FC236}">
                <a16:creationId xmlns:a16="http://schemas.microsoft.com/office/drawing/2014/main" id="{C39E252F-F3F3-99FB-0061-B54E73F554C0}"/>
              </a:ext>
            </a:extLst>
          </p:cNvPr>
          <p:cNvSpPr txBox="1"/>
          <p:nvPr/>
        </p:nvSpPr>
        <p:spPr>
          <a:xfrm>
            <a:off x="1082793" y="5054296"/>
            <a:ext cx="9584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PC2 negative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positive PC1</a:t>
            </a:r>
            <a:endParaRPr lang="es-ES" sz="2000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BAI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/ </a:t>
            </a:r>
            <a:r>
              <a:rPr lang="el-GR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C, Rt12</a:t>
            </a:r>
          </a:p>
        </p:txBody>
      </p:sp>
    </p:spTree>
    <p:extLst>
      <p:ext uri="{BB962C8B-B14F-4D97-AF65-F5344CB8AC3E}">
        <p14:creationId xmlns:p14="http://schemas.microsoft.com/office/powerpoint/2010/main" val="3966269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5259-178B-0DEA-4FFB-41A3B0FC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3BF7C92-9F56-A55B-29D2-2825D4A4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A3AF12-B690-A7D6-A9FD-B7908211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BF416D5-592C-9B1C-CFE3-D8345203556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50AE5DD-0CB7-C762-5243-BBCA80BB48FB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0749B-C324-8962-0DD1-17872AB02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92" y="1823925"/>
            <a:ext cx="3960316" cy="44499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80EA64-AF73-35F1-A9A0-6D1BBBA5A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253" y="1823925"/>
            <a:ext cx="3960316" cy="4449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748782-9BAD-B727-C1D1-0B87CB12F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914" y="1800427"/>
            <a:ext cx="3960316" cy="443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7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4F8B-1BEE-52D9-EB06-A7BBD3FE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91109CD-FA4E-9AF7-B972-E38B190FC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3F75E7-9067-958C-69F4-00C1AF6D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8BD0FA7-1F33-65E2-7533-1E67EC68798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CEEF58D-3933-A6B1-BBE1-08613DEFE4DF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101" name="Marcador de contenido 2">
            <a:extLst>
              <a:ext uri="{FF2B5EF4-FFF2-40B4-BE49-F238E27FC236}">
                <a16:creationId xmlns:a16="http://schemas.microsoft.com/office/drawing/2014/main" id="{3AC7793B-6346-909E-0D70-DE6E141A4D2E}"/>
              </a:ext>
            </a:extLst>
          </p:cNvPr>
          <p:cNvSpPr txBox="1">
            <a:spLocks/>
          </p:cNvSpPr>
          <p:nvPr/>
        </p:nvSpPr>
        <p:spPr>
          <a:xfrm>
            <a:off x="2407860" y="2643576"/>
            <a:ext cx="2179380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GLM?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Marcador de contenido 2">
            <a:extLst>
              <a:ext uri="{FF2B5EF4-FFF2-40B4-BE49-F238E27FC236}">
                <a16:creationId xmlns:a16="http://schemas.microsoft.com/office/drawing/2014/main" id="{1D220480-4BFC-1D9B-5029-4284165E7AD0}"/>
              </a:ext>
            </a:extLst>
          </p:cNvPr>
          <p:cNvSpPr txBox="1">
            <a:spLocks/>
          </p:cNvSpPr>
          <p:nvPr/>
        </p:nvSpPr>
        <p:spPr>
          <a:xfrm>
            <a:off x="7924740" y="2643576"/>
            <a:ext cx="2179380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SEM?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03" name="Grupo 2">
            <a:extLst>
              <a:ext uri="{FF2B5EF4-FFF2-40B4-BE49-F238E27FC236}">
                <a16:creationId xmlns:a16="http://schemas.microsoft.com/office/drawing/2014/main" id="{A71C39C2-B922-EC60-37B8-4197DDDEB311}"/>
              </a:ext>
            </a:extLst>
          </p:cNvPr>
          <p:cNvGrpSpPr/>
          <p:nvPr/>
        </p:nvGrpSpPr>
        <p:grpSpPr>
          <a:xfrm>
            <a:off x="7275553" y="3429000"/>
            <a:ext cx="3477754" cy="1250117"/>
            <a:chOff x="1139560" y="5095351"/>
            <a:chExt cx="3477754" cy="1250117"/>
          </a:xfrm>
        </p:grpSpPr>
        <p:pic>
          <p:nvPicPr>
            <p:cNvPr id="104" name="Imagen 4">
              <a:extLst>
                <a:ext uri="{FF2B5EF4-FFF2-40B4-BE49-F238E27FC236}">
                  <a16:creationId xmlns:a16="http://schemas.microsoft.com/office/drawing/2014/main" id="{5E44B980-6F3A-E7AD-9E03-28074ADE3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05" name="CuadroTexto 5">
              <a:extLst>
                <a:ext uri="{FF2B5EF4-FFF2-40B4-BE49-F238E27FC236}">
                  <a16:creationId xmlns:a16="http://schemas.microsoft.com/office/drawing/2014/main" id="{B7F97F80-303C-AE69-190F-953E36464FD7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06" name="CuadroTexto 6">
              <a:extLst>
                <a:ext uri="{FF2B5EF4-FFF2-40B4-BE49-F238E27FC236}">
                  <a16:creationId xmlns:a16="http://schemas.microsoft.com/office/drawing/2014/main" id="{C581EE06-F26E-0237-FBB8-ACC8A8C097B1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07" name="Marcador de contenido 2">
            <a:extLst>
              <a:ext uri="{FF2B5EF4-FFF2-40B4-BE49-F238E27FC236}">
                <a16:creationId xmlns:a16="http://schemas.microsoft.com/office/drawing/2014/main" id="{4FE96E70-0C70-8FFB-2D33-B4DA52F8AB87}"/>
              </a:ext>
            </a:extLst>
          </p:cNvPr>
          <p:cNvSpPr txBox="1">
            <a:spLocks/>
          </p:cNvSpPr>
          <p:nvPr/>
        </p:nvSpPr>
        <p:spPr>
          <a:xfrm>
            <a:off x="633460" y="4221220"/>
            <a:ext cx="6231690" cy="1506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218317"/>
              </a:buClr>
            </a:pPr>
            <a:r>
              <a:rPr lang="es-ES" sz="2400" dirty="0" err="1">
                <a:latin typeface="Helvetica"/>
                <a:cs typeface="Helvetica"/>
              </a:rPr>
              <a:t>Changes</a:t>
            </a:r>
            <a:r>
              <a:rPr lang="es-ES" sz="2400" dirty="0">
                <a:latin typeface="Helvetica"/>
                <a:cs typeface="Helvetica"/>
              </a:rPr>
              <a:t> in SEM </a:t>
            </a:r>
            <a:r>
              <a:rPr lang="es-ES" sz="2400" b="1" dirty="0" err="1">
                <a:latin typeface="Helvetica"/>
                <a:cs typeface="Helvetica"/>
              </a:rPr>
              <a:t>pathways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different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physiological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processes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in D vs. ND</a:t>
            </a:r>
          </a:p>
          <a:p>
            <a:pPr algn="just">
              <a:buClr>
                <a:srgbClr val="218317"/>
              </a:buClr>
            </a:pP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Variables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relationships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8" name="Signo de multiplicación 18">
            <a:extLst>
              <a:ext uri="{FF2B5EF4-FFF2-40B4-BE49-F238E27FC236}">
                <a16:creationId xmlns:a16="http://schemas.microsoft.com/office/drawing/2014/main" id="{B367929E-6404-DD1F-DEF1-7CA4B457D36C}"/>
              </a:ext>
            </a:extLst>
          </p:cNvPr>
          <p:cNvSpPr/>
          <p:nvPr/>
        </p:nvSpPr>
        <p:spPr>
          <a:xfrm>
            <a:off x="2918816" y="219698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2542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8CAA-7B73-8A37-6716-C48ABCAA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7867981-5F76-23DC-E606-5CDED27EE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08ADC9-7EBB-50F1-1929-F5909017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A85501-43CA-EFCD-123C-307D807A646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B11F9D0-E8AD-CA46-9122-ED6DDF76FA2E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F8412-D90C-5294-E6D4-AB5BBAEA6D55}"/>
              </a:ext>
            </a:extLst>
          </p:cNvPr>
          <p:cNvSpPr/>
          <p:nvPr/>
        </p:nvSpPr>
        <p:spPr>
          <a:xfrm>
            <a:off x="2823881" y="1947643"/>
            <a:ext cx="6106110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SPEI, TEMP.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F0A82-E298-C6BA-D660-6A75F845B2F1}"/>
              </a:ext>
            </a:extLst>
          </p:cNvPr>
          <p:cNvSpPr/>
          <p:nvPr/>
        </p:nvSpPr>
        <p:spPr>
          <a:xfrm>
            <a:off x="5411438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13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41A9A-AB93-703A-3F2F-A00A04AF3607}"/>
              </a:ext>
            </a:extLst>
          </p:cNvPr>
          <p:cNvSpPr/>
          <p:nvPr/>
        </p:nvSpPr>
        <p:spPr>
          <a:xfrm>
            <a:off x="7998995" y="3288916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15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B3C5FE-2D5F-A191-35C9-8E2EAD6CF2C5}"/>
              </a:ext>
            </a:extLst>
          </p:cNvPr>
          <p:cNvSpPr/>
          <p:nvPr/>
        </p:nvSpPr>
        <p:spPr>
          <a:xfrm>
            <a:off x="3072328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5FF3E-8CAC-F9F0-55BB-9243931BF307}"/>
              </a:ext>
            </a:extLst>
          </p:cNvPr>
          <p:cNvSpPr/>
          <p:nvPr/>
        </p:nvSpPr>
        <p:spPr>
          <a:xfrm>
            <a:off x="1193492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Height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364021-A0EA-94C1-F57E-91F3ADE25ADB}"/>
              </a:ext>
            </a:extLst>
          </p:cNvPr>
          <p:cNvSpPr/>
          <p:nvPr/>
        </p:nvSpPr>
        <p:spPr>
          <a:xfrm>
            <a:off x="2746915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RWC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4D3892-4914-33F1-531A-B80FB9E49D5D}"/>
              </a:ext>
            </a:extLst>
          </p:cNvPr>
          <p:cNvSpPr/>
          <p:nvPr/>
        </p:nvSpPr>
        <p:spPr>
          <a:xfrm>
            <a:off x="5411438" y="4478685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Chl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/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xc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FDA849-6A0B-E94C-9A97-047675BFA308}"/>
              </a:ext>
            </a:extLst>
          </p:cNvPr>
          <p:cNvSpPr/>
          <p:nvPr/>
        </p:nvSpPr>
        <p:spPr>
          <a:xfrm>
            <a:off x="307232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BAI80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75F59-5C32-265B-889E-520B7763DD6C}"/>
              </a:ext>
            </a:extLst>
          </p:cNvPr>
          <p:cNvSpPr/>
          <p:nvPr/>
        </p:nvSpPr>
        <p:spPr>
          <a:xfrm>
            <a:off x="7170714" y="5727402"/>
            <a:ext cx="1368358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Defoliation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7AE41B-9024-37F4-8B61-4107D42EC552}"/>
              </a:ext>
            </a:extLst>
          </p:cNvPr>
          <p:cNvSpPr/>
          <p:nvPr/>
        </p:nvSpPr>
        <p:spPr>
          <a:xfrm>
            <a:off x="541143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Rt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Rs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A19E89-F2F4-E939-609B-CF8711894A6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876936" y="2423815"/>
            <a:ext cx="0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6D03CD97-2BC2-E7C3-88B3-18AF72A98795}"/>
              </a:ext>
            </a:extLst>
          </p:cNvPr>
          <p:cNvSpPr txBox="1">
            <a:spLocks/>
          </p:cNvSpPr>
          <p:nvPr/>
        </p:nvSpPr>
        <p:spPr>
          <a:xfrm>
            <a:off x="5876935" y="2633198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Stomatal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closure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E11DCB-1467-9A8C-B42F-C9A98BE38DA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876936" y="2423815"/>
            <a:ext cx="2587557" cy="86510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9C59B448-4D5A-4D4E-EC63-F005EBCBE54E}"/>
              </a:ext>
            </a:extLst>
          </p:cNvPr>
          <p:cNvSpPr txBox="1">
            <a:spLocks/>
          </p:cNvSpPr>
          <p:nvPr/>
        </p:nvSpPr>
        <p:spPr>
          <a:xfrm>
            <a:off x="7834725" y="252205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Limitted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uptake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3948D9-032E-9D41-D6E7-F49890C9C9F4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212413" y="2423815"/>
            <a:ext cx="2664523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7443CDB0-2D90-C022-A0FF-8A2BF129CEEF}"/>
              </a:ext>
            </a:extLst>
          </p:cNvPr>
          <p:cNvSpPr txBox="1">
            <a:spLocks/>
          </p:cNvSpPr>
          <p:nvPr/>
        </p:nvSpPr>
        <p:spPr>
          <a:xfrm>
            <a:off x="4047259" y="252229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Turgor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loss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E48C19-1773-629D-8FBD-8FFC3B4FBFBE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>
            <a:off x="3677911" y="3555044"/>
            <a:ext cx="1733527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37BA9148-B754-E992-0BBB-096D6F435085}"/>
              </a:ext>
            </a:extLst>
          </p:cNvPr>
          <p:cNvSpPr txBox="1">
            <a:spLocks/>
          </p:cNvSpPr>
          <p:nvPr/>
        </p:nvSpPr>
        <p:spPr>
          <a:xfrm>
            <a:off x="4003324" y="3236555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C4F89A-95EC-171B-B868-7D156E5A839A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7854893" y="3765088"/>
            <a:ext cx="609600" cy="1962314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24C41916-A79D-12D1-1660-15536A4B33B0}"/>
              </a:ext>
            </a:extLst>
          </p:cNvPr>
          <p:cNvSpPr txBox="1">
            <a:spLocks/>
          </p:cNvSpPr>
          <p:nvPr/>
        </p:nvSpPr>
        <p:spPr>
          <a:xfrm>
            <a:off x="8195363" y="4496322"/>
            <a:ext cx="930996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050" dirty="0" err="1">
                <a:latin typeface="Helvetica"/>
                <a:cs typeface="Helvetica"/>
              </a:rPr>
              <a:t>Leaf</a:t>
            </a:r>
            <a:r>
              <a:rPr lang="es-ES" sz="1050" dirty="0">
                <a:latin typeface="Helvetica"/>
                <a:cs typeface="Helvetica"/>
              </a:rPr>
              <a:t> </a:t>
            </a:r>
            <a:r>
              <a:rPr lang="es-ES" sz="1050" dirty="0" err="1">
                <a:latin typeface="Helvetica"/>
                <a:cs typeface="Helvetica"/>
              </a:rPr>
              <a:t>senescence</a:t>
            </a:r>
            <a:endParaRPr lang="es-ES" sz="1050" dirty="0">
              <a:latin typeface="Helvetica"/>
              <a:cs typeface="Helvetica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1161069-BC9D-857B-2AA5-67E47DAE7AA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342434" y="3527002"/>
            <a:ext cx="1656561" cy="28042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arcador de contenido 2">
            <a:extLst>
              <a:ext uri="{FF2B5EF4-FFF2-40B4-BE49-F238E27FC236}">
                <a16:creationId xmlns:a16="http://schemas.microsoft.com/office/drawing/2014/main" id="{58B5D179-818E-1C65-AC85-3F0FBD5CF1C5}"/>
              </a:ext>
            </a:extLst>
          </p:cNvPr>
          <p:cNvSpPr txBox="1">
            <a:spLocks/>
          </p:cNvSpPr>
          <p:nvPr/>
        </p:nvSpPr>
        <p:spPr>
          <a:xfrm>
            <a:off x="6661280" y="3261736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61FD95-5CE8-BB71-220A-01A5B8AF8C57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>
            <a:off x="3212413" y="3793130"/>
            <a:ext cx="2199025" cy="92364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92EA1A-906F-5C77-80EA-DC372CE4D24D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5876936" y="3793130"/>
            <a:ext cx="0" cy="68555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251960-B8B5-2A7C-D593-EF450A942942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3537826" y="4954857"/>
            <a:ext cx="2339110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7F616B-5FB8-2811-D2CB-451D9285BBFA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4003324" y="5965488"/>
            <a:ext cx="1408114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C416C5-3F03-83F6-4B72-F0FD5C7046CB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5876936" y="4954857"/>
            <a:ext cx="1977957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1E384D-699E-0026-706C-F09418BE0962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3537826" y="4879309"/>
            <a:ext cx="0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F31375A-0BCB-CE53-8077-4217AF30C23C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2124488" y="4641223"/>
            <a:ext cx="94784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DB0311E-95A2-730A-4E51-520DE649C299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1658990" y="4879309"/>
            <a:ext cx="1878836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D686F3D-2E00-3945-11E1-6AD7DB5AAEDF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V="1">
            <a:off x="1658990" y="3793130"/>
            <a:ext cx="4217946" cy="610007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05EE4D6-48A7-291A-EDCC-E93F0D35FEC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677911" y="3793130"/>
            <a:ext cx="2199025" cy="58593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8BC9647-A478-0ED0-A895-993D28FF4014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>
            <a:off x="6342434" y="5965488"/>
            <a:ext cx="82828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44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E399-BD7F-5906-4771-D944572E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4D7494-4F9D-7116-BC10-966B78A5C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1D8ECD7-47CA-35AE-41CB-0EE1D9A2312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72501A8-8A07-03EC-0D75-8F9BE8EF13A0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412D189-F44F-63E1-9B0C-08ECEC3C39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analysis – Physiological responses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5994F4-2763-6EBB-1E7E-137F1437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09" y="2381829"/>
            <a:ext cx="3961851" cy="39618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C25151-B4AA-40E3-26C7-FDEAB34DF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67" y="2559355"/>
            <a:ext cx="3784326" cy="37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68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3508</TotalTime>
  <Words>2158</Words>
  <Application>Microsoft Office PowerPoint</Application>
  <PresentationFormat>Widescreen</PresentationFormat>
  <Paragraphs>483</Paragraphs>
  <Slides>34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Drought-induced tree mortality</vt:lpstr>
      <vt:lpstr> Complementary strategies to cope with drought</vt:lpstr>
      <vt:lpstr> Complementary strategies to cope with drought</vt:lpstr>
      <vt:lpstr> Complementary strategies to cope with drought</vt:lpstr>
      <vt:lpstr> Complementary strategies to cope with drought</vt:lpstr>
      <vt:lpstr> Complementary strategies to cope with drought</vt:lpstr>
      <vt:lpstr> Study area</vt:lpstr>
      <vt:lpstr> Sampling design</vt:lpstr>
      <vt:lpstr> Sampling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Data analysis</vt:lpstr>
      <vt:lpstr> Data analysis</vt:lpstr>
      <vt:lpstr> Data analysis</vt:lpstr>
      <vt:lpstr> Data analysis</vt:lpstr>
      <vt:lpstr> Data analysis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39</cp:revision>
  <dcterms:created xsi:type="dcterms:W3CDTF">2025-04-25T13:52:31Z</dcterms:created>
  <dcterms:modified xsi:type="dcterms:W3CDTF">2025-07-12T18:21:46Z</dcterms:modified>
</cp:coreProperties>
</file>