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omments/modernComment_14F_36DED8AD.xml" ContentType="application/vnd.ms-powerpoint.comments+xml"/>
  <Override PartName="/ppt/comments/modernComment_11A_35E55771.xml" ContentType="application/vnd.ms-powerpoint.comments+xml"/>
  <Override PartName="/ppt/notesSlides/notesSlide1.xml" ContentType="application/vnd.openxmlformats-officedocument.presentationml.notesSlide+xml"/>
  <Override PartName="/ppt/comments/modernComment_17E_4E983894.xml" ContentType="application/vnd.ms-powerpoint.comments+xml"/>
  <Override PartName="/ppt/notesSlides/notesSlide2.xml" ContentType="application/vnd.openxmlformats-officedocument.presentationml.notesSlide+xml"/>
  <Override PartName="/ppt/comments/modernComment_187_7A86D082.xml" ContentType="application/vnd.ms-powerpoint.comments+xml"/>
  <Override PartName="/ppt/notesSlides/notesSlide3.xml" ContentType="application/vnd.openxmlformats-officedocument.presentationml.notesSlide+xml"/>
  <Override PartName="/ppt/comments/modernComment_188_48F9BB59.xml" ContentType="application/vnd.ms-powerpoint.comment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omments/modernComment_18B_EA91E25F.xml" ContentType="application/vnd.ms-powerpoint.comments+xml"/>
  <Override PartName="/ppt/notesSlides/notesSlide7.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7" r:id="rId2"/>
    <p:sldId id="306" r:id="rId3"/>
    <p:sldId id="379" r:id="rId4"/>
    <p:sldId id="335" r:id="rId5"/>
    <p:sldId id="282" r:id="rId6"/>
    <p:sldId id="342" r:id="rId7"/>
    <p:sldId id="337" r:id="rId8"/>
    <p:sldId id="380" r:id="rId9"/>
    <p:sldId id="381" r:id="rId10"/>
    <p:sldId id="382" r:id="rId11"/>
    <p:sldId id="385" r:id="rId12"/>
    <p:sldId id="389" r:id="rId13"/>
    <p:sldId id="387" r:id="rId14"/>
    <p:sldId id="388" r:id="rId15"/>
    <p:sldId id="386" r:id="rId16"/>
    <p:sldId id="390" r:id="rId17"/>
    <p:sldId id="391" r:id="rId18"/>
    <p:sldId id="392" r:id="rId19"/>
    <p:sldId id="393" r:id="rId20"/>
    <p:sldId id="394" r:id="rId21"/>
    <p:sldId id="395" r:id="rId22"/>
    <p:sldId id="397" r:id="rId23"/>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B18557D-7187-C966-2E91-CE8B6CF86FC3}" name="Charlotte Grossiord" initials="" userId="S::charlotte.grossiord@wsl.ch::81d5e498-a7ae-4007-b872-c94d21631f55"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7873B4"/>
    <a:srgbClr val="37AD88"/>
    <a:srgbClr val="DB5E0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098" autoAdjust="0"/>
    <p:restoredTop sz="94694"/>
  </p:normalViewPr>
  <p:slideViewPr>
    <p:cSldViewPr snapToGrid="0">
      <p:cViewPr varScale="1">
        <p:scale>
          <a:sx n="97" d="100"/>
          <a:sy n="97" d="100"/>
        </p:scale>
        <p:origin x="176" y="7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omments/modernComment_11A_35E55771.xml><?xml version="1.0" encoding="utf-8"?>
<p188:cmLst xmlns:a="http://schemas.openxmlformats.org/drawingml/2006/main" xmlns:r="http://schemas.openxmlformats.org/officeDocument/2006/relationships" xmlns:p188="http://schemas.microsoft.com/office/powerpoint/2018/8/main">
  <p188:cm id="{DFD6EF69-5833-0E48-A3AE-A6262644B35C}" authorId="{9B18557D-7187-C966-2E91-CE8B6CF86FC3}" created="2025-05-02T12:02:58.889">
    <pc:sldMkLst xmlns:pc="http://schemas.microsoft.com/office/powerpoint/2013/main/command">
      <pc:docMk/>
      <pc:sldMk cId="904222577" sldId="282"/>
    </pc:sldMkLst>
    <p188:txBody>
      <a:bodyPr/>
      <a:lstStyle/>
      <a:p>
        <a:r>
          <a:rPr lang="en-US"/>
          <a:t>Mayeb you could slightly modify the objective 1 as you do not investigate “die-off” responses since the trees are not dead. Maybe it could be called “drought vulnerability” instead?</a:t>
        </a:r>
      </a:p>
    </p188:txBody>
  </p188:cm>
  <p188:cm id="{552E38EA-54D5-2E43-A0AB-BF8B3F06C6D4}" authorId="{9B18557D-7187-C966-2E91-CE8B6CF86FC3}" created="2025-05-02T12:15:28.204">
    <pc:sldMkLst xmlns:pc="http://schemas.microsoft.com/office/powerpoint/2013/main/command">
      <pc:docMk/>
      <pc:sldMk cId="904222577" sldId="282"/>
    </pc:sldMkLst>
    <p188:txBody>
      <a:bodyPr/>
      <a:lstStyle/>
      <a:p>
        <a:r>
          <a:rPr lang="en-US"/>
          <a:t>could you maybe list here also the detailed hypotheses (with the measured parameters)? I think this would also help selecting only the most important parameters in the figures below</a:t>
        </a:r>
      </a:p>
    </p188:txBody>
  </p188:cm>
  <p188:cm id="{1CFFA26D-E6C3-8B41-AD52-E1C321D0029B}" authorId="{9B18557D-7187-C966-2E91-CE8B6CF86FC3}" created="2025-05-02T12:22:02.117">
    <pc:sldMkLst xmlns:pc="http://schemas.microsoft.com/office/powerpoint/2013/main/command">
      <pc:docMk/>
      <pc:sldMk cId="904222577" sldId="282"/>
    </pc:sldMkLst>
    <p188:txBody>
      <a:bodyPr/>
      <a:lstStyle/>
      <a:p>
        <a:r>
          <a:rPr lang="en-US"/>
          <a:t>Also, you are missing a hypotheses/question about the gradient of climatic conditions across the sites</a:t>
        </a:r>
      </a:p>
    </p188:txBody>
  </p188:cm>
</p188:cmLst>
</file>

<file path=ppt/comments/modernComment_14F_36DED8AD.xml><?xml version="1.0" encoding="utf-8"?>
<p188:cmLst xmlns:a="http://schemas.openxmlformats.org/drawingml/2006/main" xmlns:r="http://schemas.openxmlformats.org/officeDocument/2006/relationships" xmlns:p188="http://schemas.microsoft.com/office/powerpoint/2018/8/main">
  <p188:cm id="{E72AF825-BE95-3241-AEA5-C9EEB621F435}" authorId="{9B18557D-7187-C966-2E91-CE8B6CF86FC3}" created="2025-05-02T12:23:10.993">
    <pc:sldMkLst xmlns:pc="http://schemas.microsoft.com/office/powerpoint/2013/main/command">
      <pc:docMk/>
      <pc:sldMk cId="920574125" sldId="335"/>
    </pc:sldMkLst>
    <p188:txBody>
      <a:bodyPr/>
      <a:lstStyle/>
      <a:p>
        <a:r>
          <a:rPr lang="en-US"/>
          <a:t>your first figure could be a map like this one I believe</a:t>
        </a:r>
      </a:p>
    </p188:txBody>
  </p188:cm>
</p188:cmLst>
</file>

<file path=ppt/comments/modernComment_17E_4E983894.xml><?xml version="1.0" encoding="utf-8"?>
<p188:cmLst xmlns:a="http://schemas.openxmlformats.org/drawingml/2006/main" xmlns:r="http://schemas.openxmlformats.org/officeDocument/2006/relationships" xmlns:p188="http://schemas.microsoft.com/office/powerpoint/2018/8/main">
  <p188:cm id="{929868FA-B9EE-EC4B-AB09-78312FE137D6}" authorId="{9B18557D-7187-C966-2E91-CE8B6CF86FC3}" created="2025-05-02T12:04:38.855">
    <pc:sldMkLst xmlns:pc="http://schemas.microsoft.com/office/powerpoint/2013/main/command">
      <pc:docMk/>
      <pc:sldMk cId="1318598804" sldId="382"/>
    </pc:sldMkLst>
    <p188:txBody>
      <a:bodyPr/>
      <a:lstStyle/>
      <a:p>
        <a:r>
          <a:rPr lang="en-US"/>
          <a:t>Great that you standardized the values. I would only use that data moving forward</a:t>
        </a:r>
      </a:p>
    </p188:txBody>
  </p188:cm>
  <p188:cm id="{472CA8BC-8689-1242-B7EC-05B119F29E26}" authorId="{9B18557D-7187-C966-2E91-CE8B6CF86FC3}" created="2025-05-02T12:06:24.139">
    <pc:sldMkLst xmlns:pc="http://schemas.microsoft.com/office/powerpoint/2013/main/command">
      <pc:docMk/>
      <pc:sldMk cId="1318598804" sldId="382"/>
    </pc:sldMkLst>
    <p188:replyLst>
      <p188:reply id="{03BB82DD-D5E0-C344-B9FE-A1E97E7345F4}" authorId="{9B18557D-7187-C966-2E91-CE8B6CF86FC3}" created="2025-05-02T12:09:25.063">
        <p188:txBody>
          <a:bodyPr/>
          <a:lstStyle/>
          <a:p>
            <a:r>
              <a:rPr lang="en-US"/>
              <a:t>It would also be great to have a secondary axis such as SPEI to show the yearly variation in drought intensity that could be a shaded grey bar in the back of the plot</a:t>
            </a:r>
          </a:p>
        </p188:txBody>
      </p188:reply>
    </p188:replyLst>
    <p188:txBody>
      <a:bodyPr/>
      <a:lstStyle/>
      <a:p>
        <a:r>
          <a:rPr lang="en-US"/>
          <a:t>For the manuscript, it would be good to have 1 figure per species and not per site and I would remove P. pinea for the future analyses</a:t>
        </a:r>
      </a:p>
    </p188:txBody>
  </p188:cm>
  <p188:cm id="{4D1A9AE4-5AEF-6142-ADB8-D00A8298FD4A}" authorId="{9B18557D-7187-C966-2E91-CE8B6CF86FC3}" created="2025-05-02T12:12:36.047">
    <pc:sldMkLst xmlns:pc="http://schemas.microsoft.com/office/powerpoint/2013/main/command">
      <pc:docMk/>
      <pc:sldMk cId="1318598804" sldId="382"/>
    </pc:sldMkLst>
    <p188:txBody>
      <a:bodyPr/>
      <a:lstStyle/>
      <a:p>
        <a:r>
          <a:rPr lang="en-US"/>
          <a:t>Maybe you could also include an insert in each figure with the mean defilation per group and species to demonstrate the design since this factor was used to group the trees</a:t>
        </a:r>
      </a:p>
    </p188:txBody>
  </p188:cm>
</p188:cmLst>
</file>

<file path=ppt/comments/modernComment_18B_EA91E25F.xml><?xml version="1.0" encoding="utf-8"?>
<p188:cmLst xmlns:a="http://schemas.openxmlformats.org/drawingml/2006/main" xmlns:r="http://schemas.openxmlformats.org/officeDocument/2006/relationships" xmlns:p188="http://schemas.microsoft.com/office/powerpoint/2018/8/main">
  <p188:cm id="{91F018A1-64DB-3848-9EED-E5E10051206F}" authorId="{9B18557D-7187-C966-2E91-CE8B6CF86FC3}" created="2025-05-02T12:16:42.816">
    <pc:sldMkLst xmlns:pc="http://schemas.microsoft.com/office/powerpoint/2013/main/command">
      <pc:docMk/>
      <pc:sldMk cId="3935429215" sldId="395"/>
    </pc:sldMkLst>
    <p188:txBody>
      <a:bodyPr/>
      <a:lstStyle/>
      <a:p>
        <a:r>
          <a:rPr lang="en-US"/>
          <a:t>could the light-shaded dots be even lighter to make it easier to distinguish? Also did you try calculating SPEI instead of precipitation?</a:t>
        </a:r>
      </a:p>
    </p188:txBody>
  </p188:cm>
  <p188:cm id="{A4B964C2-7F9B-DA48-B1F7-AE4EA62F09BB}" authorId="{9B18557D-7187-C966-2E91-CE8B6CF86FC3}" created="2025-05-02T12:21:20.196">
    <pc:sldMkLst xmlns:pc="http://schemas.microsoft.com/office/powerpoint/2013/main/command">
      <pc:docMk/>
      <pc:sldMk cId="3935429215" sldId="395"/>
    </pc:sldMkLst>
    <p188:txBody>
      <a:bodyPr/>
      <a:lstStyle/>
      <a:p>
        <a:r>
          <a:rPr lang="en-US"/>
          <a:t>I wonder how we deal with the fact that we have this limited gradient of MAP for one species. Either you would need to remove A. alba and make the paper about one species only (because reviewers will criticize the lack of gradient for A. alba) or the gradient should not be advertized with a figure like this. Have you discussed this with your PIs?
</a:t>
        </a:r>
      </a:p>
    </p188:txBody>
  </p188:cm>
</p188:cmLst>
</file>

<file path=ppt/comments/modernComment_187_7A86D082.xml><?xml version="1.0" encoding="utf-8"?>
<p188:cmLst xmlns:a="http://schemas.openxmlformats.org/drawingml/2006/main" xmlns:r="http://schemas.openxmlformats.org/officeDocument/2006/relationships" xmlns:p188="http://schemas.microsoft.com/office/powerpoint/2018/8/main">
  <p188:cm id="{E68C7010-4E63-D245-88D4-E3D825F982EE}" authorId="{9B18557D-7187-C966-2E91-CE8B6CF86FC3}" created="2025-05-02T12:11:53.050">
    <pc:sldMkLst xmlns:pc="http://schemas.microsoft.com/office/powerpoint/2013/main/command">
      <pc:docMk/>
      <pc:sldMk cId="2055655554" sldId="391"/>
    </pc:sldMkLst>
    <p188:txBody>
      <a:bodyPr/>
      <a:lstStyle/>
      <a:p>
        <a:r>
          <a:rPr lang="en-US"/>
          <a:t>Great idea! You could have defoliation on the x-axis instead of the parameters measured. I would also remove the parameters that do not show any pattern because this figure is quite heavy</a:t>
        </a:r>
      </a:p>
    </p188:txBody>
  </p188:cm>
  <p188:cm id="{3D24B6DB-C6D8-8048-8B04-102D193B888C}" authorId="{9B18557D-7187-C966-2E91-CE8B6CF86FC3}" created="2025-05-02T12:25:43.523">
    <pc:sldMkLst xmlns:pc="http://schemas.microsoft.com/office/powerpoint/2013/main/command">
      <pc:docMk/>
      <pc:sldMk cId="2055655554" sldId="391"/>
    </pc:sldMkLst>
    <p188:txBody>
      <a:bodyPr/>
      <a:lstStyle/>
      <a:p>
        <a:r>
          <a:rPr lang="en-US"/>
          <a:t>It could be good to also have a plot showing the growth rate in function of defoliation, maybe the growth rates on average over the past 5 or  10 years</a:t>
        </a:r>
      </a:p>
    </p188:txBody>
  </p188:cm>
</p188:cmLst>
</file>

<file path=ppt/comments/modernComment_188_48F9BB59.xml><?xml version="1.0" encoding="utf-8"?>
<p188:cmLst xmlns:a="http://schemas.openxmlformats.org/drawingml/2006/main" xmlns:r="http://schemas.openxmlformats.org/officeDocument/2006/relationships" xmlns:p188="http://schemas.microsoft.com/office/powerpoint/2018/8/main">
  <p188:cm id="{44E04C32-B530-8D40-B6EA-F8A6EB163EFB}" authorId="{9B18557D-7187-C966-2E91-CE8B6CF86FC3}" created="2025-05-02T12:14:30.627">
    <pc:sldMkLst xmlns:pc="http://schemas.microsoft.com/office/powerpoint/2013/main/command">
      <pc:docMk/>
      <pc:sldMk cId="1224325977" sldId="392"/>
    </pc:sldMkLst>
    <p188:txBody>
      <a:bodyPr/>
      <a:lstStyle/>
      <a:p>
        <a:r>
          <a:rPr lang="en-US"/>
          <a:t>To select which parameters you want to highlight (once you have exchange the x- and y-axes), you should think about the mechanisms: which parameters are the most likely to make trees more vulnerable and then show only those functions</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2983DD-E218-4F5B-97E6-73372FCDFB94}" type="datetimeFigureOut">
              <a:rPr lang="es-ES" smtClean="0"/>
              <a:t>2/5/25</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285FFF-AA8A-422F-901E-D94C39C8B224}" type="slidenum">
              <a:rPr lang="es-ES" smtClean="0"/>
              <a:t>‹#›</a:t>
            </a:fld>
            <a:endParaRPr lang="es-ES"/>
          </a:p>
        </p:txBody>
      </p:sp>
    </p:spTree>
    <p:extLst>
      <p:ext uri="{BB962C8B-B14F-4D97-AF65-F5344CB8AC3E}">
        <p14:creationId xmlns:p14="http://schemas.microsoft.com/office/powerpoint/2010/main" val="32800835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95285FFF-AA8A-422F-901E-D94C39C8B224}" type="slidenum">
              <a:rPr lang="es-ES" smtClean="0"/>
              <a:t>6</a:t>
            </a:fld>
            <a:endParaRPr lang="es-ES"/>
          </a:p>
        </p:txBody>
      </p:sp>
    </p:spTree>
    <p:extLst>
      <p:ext uri="{BB962C8B-B14F-4D97-AF65-F5344CB8AC3E}">
        <p14:creationId xmlns:p14="http://schemas.microsoft.com/office/powerpoint/2010/main" val="15156613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95285FFF-AA8A-422F-901E-D94C39C8B224}" type="slidenum">
              <a:rPr lang="es-ES" smtClean="0"/>
              <a:t>17</a:t>
            </a:fld>
            <a:endParaRPr lang="es-ES"/>
          </a:p>
        </p:txBody>
      </p:sp>
    </p:spTree>
    <p:extLst>
      <p:ext uri="{BB962C8B-B14F-4D97-AF65-F5344CB8AC3E}">
        <p14:creationId xmlns:p14="http://schemas.microsoft.com/office/powerpoint/2010/main" val="31700993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26C55C-A940-DD96-9FF7-50101346A65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1AA63DA-382B-6650-1250-DAF48450D70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217CF70-0E87-F813-0659-C59B0DEF4C1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CF34EA12-9A3F-F75E-8A08-F3985041B165}"/>
              </a:ext>
            </a:extLst>
          </p:cNvPr>
          <p:cNvSpPr>
            <a:spLocks noGrp="1"/>
          </p:cNvSpPr>
          <p:nvPr>
            <p:ph type="sldNum" sz="quarter" idx="5"/>
          </p:nvPr>
        </p:nvSpPr>
        <p:spPr/>
        <p:txBody>
          <a:bodyPr/>
          <a:lstStyle/>
          <a:p>
            <a:fld id="{95285FFF-AA8A-422F-901E-D94C39C8B224}" type="slidenum">
              <a:rPr lang="es-ES" smtClean="0"/>
              <a:t>18</a:t>
            </a:fld>
            <a:endParaRPr lang="es-ES"/>
          </a:p>
        </p:txBody>
      </p:sp>
    </p:spTree>
    <p:extLst>
      <p:ext uri="{BB962C8B-B14F-4D97-AF65-F5344CB8AC3E}">
        <p14:creationId xmlns:p14="http://schemas.microsoft.com/office/powerpoint/2010/main" val="9481919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EC02BF-9E70-7AF5-8930-9220FE5DA2E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F26DC81-4603-E34A-F944-09CC1DAC0FC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DF04C69-D785-4910-A789-5602A6D22D65}"/>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1535D0C3-7CDB-FEF9-8E10-D239C0E6AD20}"/>
              </a:ext>
            </a:extLst>
          </p:cNvPr>
          <p:cNvSpPr>
            <a:spLocks noGrp="1"/>
          </p:cNvSpPr>
          <p:nvPr>
            <p:ph type="sldNum" sz="quarter" idx="5"/>
          </p:nvPr>
        </p:nvSpPr>
        <p:spPr/>
        <p:txBody>
          <a:bodyPr/>
          <a:lstStyle/>
          <a:p>
            <a:fld id="{95285FFF-AA8A-422F-901E-D94C39C8B224}" type="slidenum">
              <a:rPr lang="es-ES" smtClean="0"/>
              <a:t>19</a:t>
            </a:fld>
            <a:endParaRPr lang="es-ES"/>
          </a:p>
        </p:txBody>
      </p:sp>
    </p:spTree>
    <p:extLst>
      <p:ext uri="{BB962C8B-B14F-4D97-AF65-F5344CB8AC3E}">
        <p14:creationId xmlns:p14="http://schemas.microsoft.com/office/powerpoint/2010/main" val="30007469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F5A84C-D102-2DB4-F988-58E0024A2AA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1EEEC37-8377-3724-423F-782CED40A0C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44A802E-26FC-B8DD-F242-7CB639E7857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38157547-446D-D627-2215-11C5FA61E92F}"/>
              </a:ext>
            </a:extLst>
          </p:cNvPr>
          <p:cNvSpPr>
            <a:spLocks noGrp="1"/>
          </p:cNvSpPr>
          <p:nvPr>
            <p:ph type="sldNum" sz="quarter" idx="5"/>
          </p:nvPr>
        </p:nvSpPr>
        <p:spPr/>
        <p:txBody>
          <a:bodyPr/>
          <a:lstStyle/>
          <a:p>
            <a:fld id="{95285FFF-AA8A-422F-901E-D94C39C8B224}" type="slidenum">
              <a:rPr lang="es-ES" smtClean="0"/>
              <a:t>20</a:t>
            </a:fld>
            <a:endParaRPr lang="es-ES"/>
          </a:p>
        </p:txBody>
      </p:sp>
    </p:spTree>
    <p:extLst>
      <p:ext uri="{BB962C8B-B14F-4D97-AF65-F5344CB8AC3E}">
        <p14:creationId xmlns:p14="http://schemas.microsoft.com/office/powerpoint/2010/main" val="26143424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FD2BFA-7097-86EF-3AED-6AD1FE39ECC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3894DDA-4414-92AE-2ED5-AE3CB5722E9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AC75F79-64F8-AED9-95AB-E40221F9D9C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694D0211-A1B7-24E3-B42C-7FDF1B7577F7}"/>
              </a:ext>
            </a:extLst>
          </p:cNvPr>
          <p:cNvSpPr>
            <a:spLocks noGrp="1"/>
          </p:cNvSpPr>
          <p:nvPr>
            <p:ph type="sldNum" sz="quarter" idx="5"/>
          </p:nvPr>
        </p:nvSpPr>
        <p:spPr/>
        <p:txBody>
          <a:bodyPr/>
          <a:lstStyle/>
          <a:p>
            <a:fld id="{95285FFF-AA8A-422F-901E-D94C39C8B224}" type="slidenum">
              <a:rPr lang="es-ES" smtClean="0"/>
              <a:t>21</a:t>
            </a:fld>
            <a:endParaRPr lang="es-ES"/>
          </a:p>
        </p:txBody>
      </p:sp>
    </p:spTree>
    <p:extLst>
      <p:ext uri="{BB962C8B-B14F-4D97-AF65-F5344CB8AC3E}">
        <p14:creationId xmlns:p14="http://schemas.microsoft.com/office/powerpoint/2010/main" val="27540964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58C97F-C60E-B229-3AE5-CF1DB6F1166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A15C477-1618-3F63-A55F-CAA396A7A37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33E3E99-2CBC-009F-A83D-88CC59BB418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2D65B210-9A51-F271-DE59-81D96565346C}"/>
              </a:ext>
            </a:extLst>
          </p:cNvPr>
          <p:cNvSpPr>
            <a:spLocks noGrp="1"/>
          </p:cNvSpPr>
          <p:nvPr>
            <p:ph type="sldNum" sz="quarter" idx="5"/>
          </p:nvPr>
        </p:nvSpPr>
        <p:spPr/>
        <p:txBody>
          <a:bodyPr/>
          <a:lstStyle/>
          <a:p>
            <a:fld id="{95285FFF-AA8A-422F-901E-D94C39C8B224}" type="slidenum">
              <a:rPr lang="es-ES" smtClean="0"/>
              <a:t>22</a:t>
            </a:fld>
            <a:endParaRPr lang="es-ES"/>
          </a:p>
        </p:txBody>
      </p:sp>
    </p:spTree>
    <p:extLst>
      <p:ext uri="{BB962C8B-B14F-4D97-AF65-F5344CB8AC3E}">
        <p14:creationId xmlns:p14="http://schemas.microsoft.com/office/powerpoint/2010/main" val="15196794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27640DE-EF5A-BF63-2E51-3F00BBC828BD}"/>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a:extLst>
              <a:ext uri="{FF2B5EF4-FFF2-40B4-BE49-F238E27FC236}">
                <a16:creationId xmlns:a16="http://schemas.microsoft.com/office/drawing/2014/main" id="{306BF010-56F3-6C41-3ED4-6C6CD7B8672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47B884DF-EF45-3ED4-7FED-EDBF9117AAD8}"/>
              </a:ext>
            </a:extLst>
          </p:cNvPr>
          <p:cNvSpPr>
            <a:spLocks noGrp="1"/>
          </p:cNvSpPr>
          <p:nvPr>
            <p:ph type="dt" sz="half" idx="10"/>
          </p:nvPr>
        </p:nvSpPr>
        <p:spPr/>
        <p:txBody>
          <a:bodyPr/>
          <a:lstStyle/>
          <a:p>
            <a:fld id="{05302A3C-7F5D-464A-B794-A5CF9734955A}" type="datetimeFigureOut">
              <a:rPr lang="es-ES" smtClean="0"/>
              <a:t>2/5/25</a:t>
            </a:fld>
            <a:endParaRPr lang="es-ES"/>
          </a:p>
        </p:txBody>
      </p:sp>
      <p:sp>
        <p:nvSpPr>
          <p:cNvPr id="5" name="Marcador de pie de página 4">
            <a:extLst>
              <a:ext uri="{FF2B5EF4-FFF2-40B4-BE49-F238E27FC236}">
                <a16:creationId xmlns:a16="http://schemas.microsoft.com/office/drawing/2014/main" id="{0C4C811A-9D34-4AB3-450F-9DA4CF3A4389}"/>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C45F95F7-3C7B-946C-366A-49B0409368FD}"/>
              </a:ext>
            </a:extLst>
          </p:cNvPr>
          <p:cNvSpPr>
            <a:spLocks noGrp="1"/>
          </p:cNvSpPr>
          <p:nvPr>
            <p:ph type="sldNum" sz="quarter" idx="12"/>
          </p:nvPr>
        </p:nvSpPr>
        <p:spPr/>
        <p:txBody>
          <a:bodyPr/>
          <a:lstStyle/>
          <a:p>
            <a:fld id="{03A0A005-AA7D-412A-A4BC-0E346569C849}" type="slidenum">
              <a:rPr lang="es-ES" smtClean="0"/>
              <a:t>‹#›</a:t>
            </a:fld>
            <a:endParaRPr lang="es-ES"/>
          </a:p>
        </p:txBody>
      </p:sp>
    </p:spTree>
    <p:extLst>
      <p:ext uri="{BB962C8B-B14F-4D97-AF65-F5344CB8AC3E}">
        <p14:creationId xmlns:p14="http://schemas.microsoft.com/office/powerpoint/2010/main" val="3590099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EC9DE6E-BF0C-E652-3C51-49F5B25CC35B}"/>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BC9BD04C-625F-583F-FC5B-0B03DB01F3A2}"/>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6CEC05C8-58D0-6801-9E5F-F0B2E40CE1ED}"/>
              </a:ext>
            </a:extLst>
          </p:cNvPr>
          <p:cNvSpPr>
            <a:spLocks noGrp="1"/>
          </p:cNvSpPr>
          <p:nvPr>
            <p:ph type="dt" sz="half" idx="10"/>
          </p:nvPr>
        </p:nvSpPr>
        <p:spPr/>
        <p:txBody>
          <a:bodyPr/>
          <a:lstStyle/>
          <a:p>
            <a:fld id="{05302A3C-7F5D-464A-B794-A5CF9734955A}" type="datetimeFigureOut">
              <a:rPr lang="es-ES" smtClean="0"/>
              <a:t>2/5/25</a:t>
            </a:fld>
            <a:endParaRPr lang="es-ES"/>
          </a:p>
        </p:txBody>
      </p:sp>
      <p:sp>
        <p:nvSpPr>
          <p:cNvPr id="5" name="Marcador de pie de página 4">
            <a:extLst>
              <a:ext uri="{FF2B5EF4-FFF2-40B4-BE49-F238E27FC236}">
                <a16:creationId xmlns:a16="http://schemas.microsoft.com/office/drawing/2014/main" id="{D383DC1A-F7D9-17B6-DD6B-F8340D3E5CC5}"/>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3D60615A-9ABF-3407-3DD7-7F2A4626C64B}"/>
              </a:ext>
            </a:extLst>
          </p:cNvPr>
          <p:cNvSpPr>
            <a:spLocks noGrp="1"/>
          </p:cNvSpPr>
          <p:nvPr>
            <p:ph type="sldNum" sz="quarter" idx="12"/>
          </p:nvPr>
        </p:nvSpPr>
        <p:spPr/>
        <p:txBody>
          <a:bodyPr/>
          <a:lstStyle/>
          <a:p>
            <a:fld id="{03A0A005-AA7D-412A-A4BC-0E346569C849}" type="slidenum">
              <a:rPr lang="es-ES" smtClean="0"/>
              <a:t>‹#›</a:t>
            </a:fld>
            <a:endParaRPr lang="es-ES"/>
          </a:p>
        </p:txBody>
      </p:sp>
    </p:spTree>
    <p:extLst>
      <p:ext uri="{BB962C8B-B14F-4D97-AF65-F5344CB8AC3E}">
        <p14:creationId xmlns:p14="http://schemas.microsoft.com/office/powerpoint/2010/main" val="5004926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ECD798C-EF3C-75D7-DF34-7D4C4274B3E0}"/>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EB5D251F-D0F0-354A-F45F-27D2789AA6E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1ABC9AAB-A900-C82B-BE85-C8F402303E14}"/>
              </a:ext>
            </a:extLst>
          </p:cNvPr>
          <p:cNvSpPr>
            <a:spLocks noGrp="1"/>
          </p:cNvSpPr>
          <p:nvPr>
            <p:ph type="dt" sz="half" idx="10"/>
          </p:nvPr>
        </p:nvSpPr>
        <p:spPr/>
        <p:txBody>
          <a:bodyPr/>
          <a:lstStyle/>
          <a:p>
            <a:fld id="{05302A3C-7F5D-464A-B794-A5CF9734955A}" type="datetimeFigureOut">
              <a:rPr lang="es-ES" smtClean="0"/>
              <a:t>2/5/25</a:t>
            </a:fld>
            <a:endParaRPr lang="es-ES"/>
          </a:p>
        </p:txBody>
      </p:sp>
      <p:sp>
        <p:nvSpPr>
          <p:cNvPr id="5" name="Marcador de pie de página 4">
            <a:extLst>
              <a:ext uri="{FF2B5EF4-FFF2-40B4-BE49-F238E27FC236}">
                <a16:creationId xmlns:a16="http://schemas.microsoft.com/office/drawing/2014/main" id="{0DCAC175-7E84-92B8-4A79-9CBAFDBDAD8A}"/>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7C42F1AF-BA78-B1B5-EC60-FA0ADA4146A0}"/>
              </a:ext>
            </a:extLst>
          </p:cNvPr>
          <p:cNvSpPr>
            <a:spLocks noGrp="1"/>
          </p:cNvSpPr>
          <p:nvPr>
            <p:ph type="sldNum" sz="quarter" idx="12"/>
          </p:nvPr>
        </p:nvSpPr>
        <p:spPr/>
        <p:txBody>
          <a:bodyPr/>
          <a:lstStyle/>
          <a:p>
            <a:fld id="{03A0A005-AA7D-412A-A4BC-0E346569C849}" type="slidenum">
              <a:rPr lang="es-ES" smtClean="0"/>
              <a:t>‹#›</a:t>
            </a:fld>
            <a:endParaRPr lang="es-ES"/>
          </a:p>
        </p:txBody>
      </p:sp>
    </p:spTree>
    <p:extLst>
      <p:ext uri="{BB962C8B-B14F-4D97-AF65-F5344CB8AC3E}">
        <p14:creationId xmlns:p14="http://schemas.microsoft.com/office/powerpoint/2010/main" val="28760383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55D3BAE-9F26-0518-54AF-3E926C2C2552}"/>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988A59CD-AFDE-1619-A608-CDEC2CDC6B18}"/>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49CCD51C-A4E4-C6A4-BBD0-93E4CAEB7E87}"/>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0FF563BB-C9D2-279E-8859-0E3182017FE1}"/>
              </a:ext>
            </a:extLst>
          </p:cNvPr>
          <p:cNvSpPr>
            <a:spLocks noGrp="1"/>
          </p:cNvSpPr>
          <p:nvPr>
            <p:ph type="dt" sz="half" idx="10"/>
          </p:nvPr>
        </p:nvSpPr>
        <p:spPr/>
        <p:txBody>
          <a:bodyPr/>
          <a:lstStyle/>
          <a:p>
            <a:fld id="{05302A3C-7F5D-464A-B794-A5CF9734955A}" type="datetimeFigureOut">
              <a:rPr lang="es-ES" smtClean="0"/>
              <a:t>2/5/25</a:t>
            </a:fld>
            <a:endParaRPr lang="es-ES"/>
          </a:p>
        </p:txBody>
      </p:sp>
      <p:sp>
        <p:nvSpPr>
          <p:cNvPr id="6" name="Marcador de pie de página 5">
            <a:extLst>
              <a:ext uri="{FF2B5EF4-FFF2-40B4-BE49-F238E27FC236}">
                <a16:creationId xmlns:a16="http://schemas.microsoft.com/office/drawing/2014/main" id="{9014AD24-34FC-A14B-6E80-F6F63915C0A7}"/>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AAA1E899-44E6-3273-3EE1-32945AC39F51}"/>
              </a:ext>
            </a:extLst>
          </p:cNvPr>
          <p:cNvSpPr>
            <a:spLocks noGrp="1"/>
          </p:cNvSpPr>
          <p:nvPr>
            <p:ph type="sldNum" sz="quarter" idx="12"/>
          </p:nvPr>
        </p:nvSpPr>
        <p:spPr/>
        <p:txBody>
          <a:bodyPr/>
          <a:lstStyle/>
          <a:p>
            <a:fld id="{03A0A005-AA7D-412A-A4BC-0E346569C849}" type="slidenum">
              <a:rPr lang="es-ES" smtClean="0"/>
              <a:t>‹#›</a:t>
            </a:fld>
            <a:endParaRPr lang="es-ES"/>
          </a:p>
        </p:txBody>
      </p:sp>
    </p:spTree>
    <p:extLst>
      <p:ext uri="{BB962C8B-B14F-4D97-AF65-F5344CB8AC3E}">
        <p14:creationId xmlns:p14="http://schemas.microsoft.com/office/powerpoint/2010/main" val="275246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2DDA15D-25C4-382E-22A7-81D0B7919A97}"/>
              </a:ext>
            </a:extLst>
          </p:cNvPr>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258AE567-062B-49F4-8619-63F87A39750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46420789-F3FF-21AF-9D54-CD59B67513ED}"/>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771177D8-E0EE-7BD1-068F-C81B122CD15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AF8A0FCD-E226-F963-4F76-8996CB9B8296}"/>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06CDC16D-2FED-2D12-3D08-D6F077A70879}"/>
              </a:ext>
            </a:extLst>
          </p:cNvPr>
          <p:cNvSpPr>
            <a:spLocks noGrp="1"/>
          </p:cNvSpPr>
          <p:nvPr>
            <p:ph type="dt" sz="half" idx="10"/>
          </p:nvPr>
        </p:nvSpPr>
        <p:spPr/>
        <p:txBody>
          <a:bodyPr/>
          <a:lstStyle/>
          <a:p>
            <a:fld id="{05302A3C-7F5D-464A-B794-A5CF9734955A}" type="datetimeFigureOut">
              <a:rPr lang="es-ES" smtClean="0"/>
              <a:t>2/5/25</a:t>
            </a:fld>
            <a:endParaRPr lang="es-ES"/>
          </a:p>
        </p:txBody>
      </p:sp>
      <p:sp>
        <p:nvSpPr>
          <p:cNvPr id="8" name="Marcador de pie de página 7">
            <a:extLst>
              <a:ext uri="{FF2B5EF4-FFF2-40B4-BE49-F238E27FC236}">
                <a16:creationId xmlns:a16="http://schemas.microsoft.com/office/drawing/2014/main" id="{EECFB62D-A51A-2454-4405-88CE76E5A358}"/>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8D74924C-DB70-2D03-5E1D-0C3DDF4CCBD7}"/>
              </a:ext>
            </a:extLst>
          </p:cNvPr>
          <p:cNvSpPr>
            <a:spLocks noGrp="1"/>
          </p:cNvSpPr>
          <p:nvPr>
            <p:ph type="sldNum" sz="quarter" idx="12"/>
          </p:nvPr>
        </p:nvSpPr>
        <p:spPr/>
        <p:txBody>
          <a:bodyPr/>
          <a:lstStyle/>
          <a:p>
            <a:fld id="{03A0A005-AA7D-412A-A4BC-0E346569C849}" type="slidenum">
              <a:rPr lang="es-ES" smtClean="0"/>
              <a:t>‹#›</a:t>
            </a:fld>
            <a:endParaRPr lang="es-ES"/>
          </a:p>
        </p:txBody>
      </p:sp>
    </p:spTree>
    <p:extLst>
      <p:ext uri="{BB962C8B-B14F-4D97-AF65-F5344CB8AC3E}">
        <p14:creationId xmlns:p14="http://schemas.microsoft.com/office/powerpoint/2010/main" val="18740696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C94F3FD-BF5F-164B-AAF7-98EC5A3E32DF}"/>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8937ECC9-AC2F-85D7-F049-98C88DF4AD6B}"/>
              </a:ext>
            </a:extLst>
          </p:cNvPr>
          <p:cNvSpPr>
            <a:spLocks noGrp="1"/>
          </p:cNvSpPr>
          <p:nvPr>
            <p:ph type="dt" sz="half" idx="10"/>
          </p:nvPr>
        </p:nvSpPr>
        <p:spPr/>
        <p:txBody>
          <a:bodyPr/>
          <a:lstStyle/>
          <a:p>
            <a:fld id="{05302A3C-7F5D-464A-B794-A5CF9734955A}" type="datetimeFigureOut">
              <a:rPr lang="es-ES" smtClean="0"/>
              <a:t>2/5/25</a:t>
            </a:fld>
            <a:endParaRPr lang="es-ES"/>
          </a:p>
        </p:txBody>
      </p:sp>
      <p:sp>
        <p:nvSpPr>
          <p:cNvPr id="4" name="Marcador de pie de página 3">
            <a:extLst>
              <a:ext uri="{FF2B5EF4-FFF2-40B4-BE49-F238E27FC236}">
                <a16:creationId xmlns:a16="http://schemas.microsoft.com/office/drawing/2014/main" id="{9BC12025-51E5-6BB4-4D99-1EAD8C366DAF}"/>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8C52ADA6-2C6B-24C3-2868-EF4353B0BF57}"/>
              </a:ext>
            </a:extLst>
          </p:cNvPr>
          <p:cNvSpPr>
            <a:spLocks noGrp="1"/>
          </p:cNvSpPr>
          <p:nvPr>
            <p:ph type="sldNum" sz="quarter" idx="12"/>
          </p:nvPr>
        </p:nvSpPr>
        <p:spPr/>
        <p:txBody>
          <a:bodyPr/>
          <a:lstStyle/>
          <a:p>
            <a:fld id="{03A0A005-AA7D-412A-A4BC-0E346569C849}" type="slidenum">
              <a:rPr lang="es-ES" smtClean="0"/>
              <a:t>‹#›</a:t>
            </a:fld>
            <a:endParaRPr lang="es-ES"/>
          </a:p>
        </p:txBody>
      </p:sp>
    </p:spTree>
    <p:extLst>
      <p:ext uri="{BB962C8B-B14F-4D97-AF65-F5344CB8AC3E}">
        <p14:creationId xmlns:p14="http://schemas.microsoft.com/office/powerpoint/2010/main" val="5100415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F36E515E-F511-61BB-3E91-09426519D11E}"/>
              </a:ext>
            </a:extLst>
          </p:cNvPr>
          <p:cNvSpPr>
            <a:spLocks noGrp="1"/>
          </p:cNvSpPr>
          <p:nvPr>
            <p:ph type="dt" sz="half" idx="10"/>
          </p:nvPr>
        </p:nvSpPr>
        <p:spPr/>
        <p:txBody>
          <a:bodyPr/>
          <a:lstStyle/>
          <a:p>
            <a:fld id="{05302A3C-7F5D-464A-B794-A5CF9734955A}" type="datetimeFigureOut">
              <a:rPr lang="es-ES" smtClean="0"/>
              <a:t>2/5/25</a:t>
            </a:fld>
            <a:endParaRPr lang="es-ES"/>
          </a:p>
        </p:txBody>
      </p:sp>
      <p:sp>
        <p:nvSpPr>
          <p:cNvPr id="3" name="Marcador de pie de página 2">
            <a:extLst>
              <a:ext uri="{FF2B5EF4-FFF2-40B4-BE49-F238E27FC236}">
                <a16:creationId xmlns:a16="http://schemas.microsoft.com/office/drawing/2014/main" id="{7C4634D0-27C9-95EF-3E84-BE4C1A275CC3}"/>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614E3C35-4075-3D27-0B82-3A6CC319D2E1}"/>
              </a:ext>
            </a:extLst>
          </p:cNvPr>
          <p:cNvSpPr>
            <a:spLocks noGrp="1"/>
          </p:cNvSpPr>
          <p:nvPr>
            <p:ph type="sldNum" sz="quarter" idx="12"/>
          </p:nvPr>
        </p:nvSpPr>
        <p:spPr/>
        <p:txBody>
          <a:bodyPr/>
          <a:lstStyle/>
          <a:p>
            <a:fld id="{03A0A005-AA7D-412A-A4BC-0E346569C849}" type="slidenum">
              <a:rPr lang="es-ES" smtClean="0"/>
              <a:t>‹#›</a:t>
            </a:fld>
            <a:endParaRPr lang="es-ES"/>
          </a:p>
        </p:txBody>
      </p:sp>
    </p:spTree>
    <p:extLst>
      <p:ext uri="{BB962C8B-B14F-4D97-AF65-F5344CB8AC3E}">
        <p14:creationId xmlns:p14="http://schemas.microsoft.com/office/powerpoint/2010/main" val="11119444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A510776-5E34-0607-D69E-3EF7EC6E4DAE}"/>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21EEC768-6F4D-C19A-89E0-6A794544B82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7435944C-60F6-AF2F-105B-501D425493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AEF41D29-352F-5057-8D57-E152E682A6A5}"/>
              </a:ext>
            </a:extLst>
          </p:cNvPr>
          <p:cNvSpPr>
            <a:spLocks noGrp="1"/>
          </p:cNvSpPr>
          <p:nvPr>
            <p:ph type="dt" sz="half" idx="10"/>
          </p:nvPr>
        </p:nvSpPr>
        <p:spPr/>
        <p:txBody>
          <a:bodyPr/>
          <a:lstStyle/>
          <a:p>
            <a:fld id="{05302A3C-7F5D-464A-B794-A5CF9734955A}" type="datetimeFigureOut">
              <a:rPr lang="es-ES" smtClean="0"/>
              <a:t>2/5/25</a:t>
            </a:fld>
            <a:endParaRPr lang="es-ES"/>
          </a:p>
        </p:txBody>
      </p:sp>
      <p:sp>
        <p:nvSpPr>
          <p:cNvPr id="6" name="Marcador de pie de página 5">
            <a:extLst>
              <a:ext uri="{FF2B5EF4-FFF2-40B4-BE49-F238E27FC236}">
                <a16:creationId xmlns:a16="http://schemas.microsoft.com/office/drawing/2014/main" id="{55E0DC31-00EB-A127-3B45-7199844797D5}"/>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5D5EF0AB-281F-DE3B-5B75-1EBA35933C07}"/>
              </a:ext>
            </a:extLst>
          </p:cNvPr>
          <p:cNvSpPr>
            <a:spLocks noGrp="1"/>
          </p:cNvSpPr>
          <p:nvPr>
            <p:ph type="sldNum" sz="quarter" idx="12"/>
          </p:nvPr>
        </p:nvSpPr>
        <p:spPr/>
        <p:txBody>
          <a:bodyPr/>
          <a:lstStyle/>
          <a:p>
            <a:fld id="{03A0A005-AA7D-412A-A4BC-0E346569C849}" type="slidenum">
              <a:rPr lang="es-ES" smtClean="0"/>
              <a:t>‹#›</a:t>
            </a:fld>
            <a:endParaRPr lang="es-ES"/>
          </a:p>
        </p:txBody>
      </p:sp>
    </p:spTree>
    <p:extLst>
      <p:ext uri="{BB962C8B-B14F-4D97-AF65-F5344CB8AC3E}">
        <p14:creationId xmlns:p14="http://schemas.microsoft.com/office/powerpoint/2010/main" val="9352622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A2A6A52-845E-5021-3313-F13CB32E9BD9}"/>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C993D278-CC78-61F0-4FC8-993DFC68C9A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a:extLst>
              <a:ext uri="{FF2B5EF4-FFF2-40B4-BE49-F238E27FC236}">
                <a16:creationId xmlns:a16="http://schemas.microsoft.com/office/drawing/2014/main" id="{7383A53A-9C6B-26A9-6123-57B769CDCA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F633E21-3097-61E0-8610-BEF2D3E5D612}"/>
              </a:ext>
            </a:extLst>
          </p:cNvPr>
          <p:cNvSpPr>
            <a:spLocks noGrp="1"/>
          </p:cNvSpPr>
          <p:nvPr>
            <p:ph type="dt" sz="half" idx="10"/>
          </p:nvPr>
        </p:nvSpPr>
        <p:spPr/>
        <p:txBody>
          <a:bodyPr/>
          <a:lstStyle/>
          <a:p>
            <a:fld id="{05302A3C-7F5D-464A-B794-A5CF9734955A}" type="datetimeFigureOut">
              <a:rPr lang="es-ES" smtClean="0"/>
              <a:t>2/5/25</a:t>
            </a:fld>
            <a:endParaRPr lang="es-ES"/>
          </a:p>
        </p:txBody>
      </p:sp>
      <p:sp>
        <p:nvSpPr>
          <p:cNvPr id="6" name="Marcador de pie de página 5">
            <a:extLst>
              <a:ext uri="{FF2B5EF4-FFF2-40B4-BE49-F238E27FC236}">
                <a16:creationId xmlns:a16="http://schemas.microsoft.com/office/drawing/2014/main" id="{F70A8BFE-DEEE-886A-DD29-0927196B8E75}"/>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D71C076B-F3BC-8A46-DF79-E64A30195EC0}"/>
              </a:ext>
            </a:extLst>
          </p:cNvPr>
          <p:cNvSpPr>
            <a:spLocks noGrp="1"/>
          </p:cNvSpPr>
          <p:nvPr>
            <p:ph type="sldNum" sz="quarter" idx="12"/>
          </p:nvPr>
        </p:nvSpPr>
        <p:spPr/>
        <p:txBody>
          <a:bodyPr/>
          <a:lstStyle/>
          <a:p>
            <a:fld id="{03A0A005-AA7D-412A-A4BC-0E346569C849}" type="slidenum">
              <a:rPr lang="es-ES" smtClean="0"/>
              <a:t>‹#›</a:t>
            </a:fld>
            <a:endParaRPr lang="es-ES"/>
          </a:p>
        </p:txBody>
      </p:sp>
    </p:spTree>
    <p:extLst>
      <p:ext uri="{BB962C8B-B14F-4D97-AF65-F5344CB8AC3E}">
        <p14:creationId xmlns:p14="http://schemas.microsoft.com/office/powerpoint/2010/main" val="8640130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A6063C6-B53F-825E-64CB-3015916A2D05}"/>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72F3F1A8-F0E5-5999-2539-3162C3A5E286}"/>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9E91299C-664F-B1DC-502B-AACAA5B12497}"/>
              </a:ext>
            </a:extLst>
          </p:cNvPr>
          <p:cNvSpPr>
            <a:spLocks noGrp="1"/>
          </p:cNvSpPr>
          <p:nvPr>
            <p:ph type="dt" sz="half" idx="10"/>
          </p:nvPr>
        </p:nvSpPr>
        <p:spPr/>
        <p:txBody>
          <a:bodyPr/>
          <a:lstStyle/>
          <a:p>
            <a:fld id="{05302A3C-7F5D-464A-B794-A5CF9734955A}" type="datetimeFigureOut">
              <a:rPr lang="es-ES" smtClean="0"/>
              <a:t>2/5/25</a:t>
            </a:fld>
            <a:endParaRPr lang="es-ES"/>
          </a:p>
        </p:txBody>
      </p:sp>
      <p:sp>
        <p:nvSpPr>
          <p:cNvPr id="5" name="Marcador de pie de página 4">
            <a:extLst>
              <a:ext uri="{FF2B5EF4-FFF2-40B4-BE49-F238E27FC236}">
                <a16:creationId xmlns:a16="http://schemas.microsoft.com/office/drawing/2014/main" id="{ADFE2D33-E41C-7A2D-954D-B7377B44C11C}"/>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DED44EEB-61E8-1F17-C276-395DCEB357B0}"/>
              </a:ext>
            </a:extLst>
          </p:cNvPr>
          <p:cNvSpPr>
            <a:spLocks noGrp="1"/>
          </p:cNvSpPr>
          <p:nvPr>
            <p:ph type="sldNum" sz="quarter" idx="12"/>
          </p:nvPr>
        </p:nvSpPr>
        <p:spPr/>
        <p:txBody>
          <a:bodyPr/>
          <a:lstStyle/>
          <a:p>
            <a:fld id="{03A0A005-AA7D-412A-A4BC-0E346569C849}" type="slidenum">
              <a:rPr lang="es-ES" smtClean="0"/>
              <a:t>‹#›</a:t>
            </a:fld>
            <a:endParaRPr lang="es-ES"/>
          </a:p>
        </p:txBody>
      </p:sp>
    </p:spTree>
    <p:extLst>
      <p:ext uri="{BB962C8B-B14F-4D97-AF65-F5344CB8AC3E}">
        <p14:creationId xmlns:p14="http://schemas.microsoft.com/office/powerpoint/2010/main" val="13678281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A9C72534-2A4D-909F-7175-F0B6627FC6E1}"/>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F12AD40B-7F62-DB1B-BC75-257EF759F4F7}"/>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2293092A-D1B6-2D0C-7F7C-F9B47D515012}"/>
              </a:ext>
            </a:extLst>
          </p:cNvPr>
          <p:cNvSpPr>
            <a:spLocks noGrp="1"/>
          </p:cNvSpPr>
          <p:nvPr>
            <p:ph type="dt" sz="half" idx="10"/>
          </p:nvPr>
        </p:nvSpPr>
        <p:spPr/>
        <p:txBody>
          <a:bodyPr/>
          <a:lstStyle/>
          <a:p>
            <a:fld id="{05302A3C-7F5D-464A-B794-A5CF9734955A}" type="datetimeFigureOut">
              <a:rPr lang="es-ES" smtClean="0"/>
              <a:t>2/5/25</a:t>
            </a:fld>
            <a:endParaRPr lang="es-ES"/>
          </a:p>
        </p:txBody>
      </p:sp>
      <p:sp>
        <p:nvSpPr>
          <p:cNvPr id="5" name="Marcador de pie de página 4">
            <a:extLst>
              <a:ext uri="{FF2B5EF4-FFF2-40B4-BE49-F238E27FC236}">
                <a16:creationId xmlns:a16="http://schemas.microsoft.com/office/drawing/2014/main" id="{9CF58730-2AEA-FFBD-4EB1-6446AC442A91}"/>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5009B5FE-8900-CDE3-A45F-9CE5E24B3356}"/>
              </a:ext>
            </a:extLst>
          </p:cNvPr>
          <p:cNvSpPr>
            <a:spLocks noGrp="1"/>
          </p:cNvSpPr>
          <p:nvPr>
            <p:ph type="sldNum" sz="quarter" idx="12"/>
          </p:nvPr>
        </p:nvSpPr>
        <p:spPr/>
        <p:txBody>
          <a:bodyPr/>
          <a:lstStyle/>
          <a:p>
            <a:fld id="{03A0A005-AA7D-412A-A4BC-0E346569C849}" type="slidenum">
              <a:rPr lang="es-ES" smtClean="0"/>
              <a:t>‹#›</a:t>
            </a:fld>
            <a:endParaRPr lang="es-ES"/>
          </a:p>
        </p:txBody>
      </p:sp>
    </p:spTree>
    <p:extLst>
      <p:ext uri="{BB962C8B-B14F-4D97-AF65-F5344CB8AC3E}">
        <p14:creationId xmlns:p14="http://schemas.microsoft.com/office/powerpoint/2010/main" val="154532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ED114144-76B6-9D89-6BFE-9EA6B510042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36FF20E2-1DD1-B589-89E2-410C47E23A2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28F1B9EB-6037-B051-58F5-0FB73F7BA58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5302A3C-7F5D-464A-B794-A5CF9734955A}" type="datetimeFigureOut">
              <a:rPr lang="es-ES" smtClean="0"/>
              <a:t>2/5/25</a:t>
            </a:fld>
            <a:endParaRPr lang="es-ES"/>
          </a:p>
        </p:txBody>
      </p:sp>
      <p:sp>
        <p:nvSpPr>
          <p:cNvPr id="5" name="Marcador de pie de página 4">
            <a:extLst>
              <a:ext uri="{FF2B5EF4-FFF2-40B4-BE49-F238E27FC236}">
                <a16:creationId xmlns:a16="http://schemas.microsoft.com/office/drawing/2014/main" id="{AEC72BF2-7511-AB6D-DE0B-5A6923A828C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a:extLst>
              <a:ext uri="{FF2B5EF4-FFF2-40B4-BE49-F238E27FC236}">
                <a16:creationId xmlns:a16="http://schemas.microsoft.com/office/drawing/2014/main" id="{BCF6153C-F5E0-E3A2-16A0-F50E144789E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3A0A005-AA7D-412A-A4BC-0E346569C849}" type="slidenum">
              <a:rPr lang="es-ES" smtClean="0"/>
              <a:t>‹#›</a:t>
            </a:fld>
            <a:endParaRPr lang="es-ES"/>
          </a:p>
        </p:txBody>
      </p:sp>
    </p:spTree>
    <p:extLst>
      <p:ext uri="{BB962C8B-B14F-4D97-AF65-F5344CB8AC3E}">
        <p14:creationId xmlns:p14="http://schemas.microsoft.com/office/powerpoint/2010/main" val="20736857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microsoft.com/office/2018/10/relationships/comments" Target="../comments/modernComment_14F_36DED8AD.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svg"/><Relationship Id="rId2" Type="http://schemas.microsoft.com/office/2018/10/relationships/comments" Target="../comments/modernComment_11A_35E55771.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 Id="rId9" Type="http://schemas.openxmlformats.org/officeDocument/2006/relationships/image" Target="../media/image9.sv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12.sv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13.tiff"/><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s/_rels/slide9.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13.tiff"/><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s/_rels/slide10.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microsoft.com/office/2018/10/relationships/comments" Target="../comments/modernComment_17E_4E983894.xml"/><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 Id="rId9" Type="http://schemas.openxmlformats.org/officeDocument/2006/relationships/image" Target="../media/image14.tiff"/></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4.tif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4.tif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4.tif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4.tif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4.tif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4.tif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microsoft.com/office/2018/10/relationships/comments" Target="../comments/modernComment_187_7A86D082.xm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5.tiff"/></Relationships>
</file>

<file path=ppt/slides/_rels/slide18.xml.rels><?xml version="1.0" encoding="UTF-8" standalone="yes"?>
<Relationships xmlns="http://schemas.openxmlformats.org/package/2006/relationships"><Relationship Id="rId3" Type="http://schemas.microsoft.com/office/2018/10/relationships/comments" Target="../comments/modernComment_188_48F9BB59.xm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5.tiff"/></Relationships>
</file>

<file path=ppt/slides/_rels/slide19.xml.rels><?xml version="1.0" encoding="UTF-8" standalone="yes"?>
<Relationships xmlns="http://schemas.openxmlformats.org/package/2006/relationships"><Relationship Id="rId3" Type="http://schemas.openxmlformats.org/officeDocument/2006/relationships/image" Target="../media/image15.tif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tif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microsoft.com/office/2018/10/relationships/comments" Target="../comments/modernComment_18B_EA91E25F.xm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6.tiff"/></Relationships>
</file>

<file path=ppt/slides/_rels/slide22.xml.rels><?xml version="1.0" encoding="UTF-8" standalone="yes"?>
<Relationships xmlns="http://schemas.openxmlformats.org/package/2006/relationships"><Relationship Id="rId3" Type="http://schemas.openxmlformats.org/officeDocument/2006/relationships/image" Target="../media/image16.tif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07D1276C-2F08-785C-87EC-6B990140D147}"/>
              </a:ext>
            </a:extLst>
          </p:cNvPr>
          <p:cNvSpPr txBox="1">
            <a:spLocks/>
          </p:cNvSpPr>
          <p:nvPr/>
        </p:nvSpPr>
        <p:spPr>
          <a:xfrm>
            <a:off x="0" y="1"/>
            <a:ext cx="12192000" cy="5735636"/>
          </a:xfrm>
          <a:prstGeom prst="rect">
            <a:avLst/>
          </a:prstGeom>
          <a:solidFill>
            <a:srgbClr val="218317"/>
          </a:solidFill>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s-ES" b="1">
                <a:solidFill>
                  <a:schemeClr val="bg1"/>
                </a:solidFill>
                <a:latin typeface="Helvetica" panose="020B0604020202020204" pitchFamily="34" charset="0"/>
                <a:cs typeface="Helvetica" panose="020B0604020202020204" pitchFamily="34" charset="0"/>
              </a:rPr>
              <a:t>	</a:t>
            </a:r>
          </a:p>
        </p:txBody>
      </p:sp>
      <p:sp>
        <p:nvSpPr>
          <p:cNvPr id="2" name="Título 1">
            <a:extLst>
              <a:ext uri="{FF2B5EF4-FFF2-40B4-BE49-F238E27FC236}">
                <a16:creationId xmlns:a16="http://schemas.microsoft.com/office/drawing/2014/main" id="{6B99B278-9C5A-620C-C671-715C2AA7A6FE}"/>
              </a:ext>
            </a:extLst>
          </p:cNvPr>
          <p:cNvSpPr>
            <a:spLocks noGrp="1"/>
          </p:cNvSpPr>
          <p:nvPr>
            <p:ph type="ctrTitle"/>
          </p:nvPr>
        </p:nvSpPr>
        <p:spPr>
          <a:xfrm>
            <a:off x="1524000" y="982404"/>
            <a:ext cx="9144000" cy="3188380"/>
          </a:xfrm>
        </p:spPr>
        <p:txBody>
          <a:bodyPr>
            <a:normAutofit/>
          </a:bodyPr>
          <a:lstStyle/>
          <a:p>
            <a:r>
              <a:rPr lang="es-ES" b="1" dirty="0">
                <a:solidFill>
                  <a:schemeClr val="bg1"/>
                </a:solidFill>
                <a:latin typeface="Helvetica" panose="020B0604020202020204" pitchFamily="34" charset="0"/>
                <a:cs typeface="Helvetica" panose="020B0604020202020204" pitchFamily="34" charset="0"/>
              </a:rPr>
              <a:t>Preliminar </a:t>
            </a:r>
            <a:r>
              <a:rPr lang="es-ES" b="1" dirty="0" err="1">
                <a:solidFill>
                  <a:schemeClr val="bg1"/>
                </a:solidFill>
                <a:latin typeface="Helvetica" panose="020B0604020202020204" pitchFamily="34" charset="0"/>
                <a:cs typeface="Helvetica" panose="020B0604020202020204" pitchFamily="34" charset="0"/>
              </a:rPr>
              <a:t>analyses</a:t>
            </a:r>
            <a:br>
              <a:rPr lang="es-ES" b="1" dirty="0">
                <a:solidFill>
                  <a:schemeClr val="bg1"/>
                </a:solidFill>
                <a:latin typeface="Helvetica" panose="020B0604020202020204" pitchFamily="34" charset="0"/>
                <a:cs typeface="Helvetica" panose="020B0604020202020204" pitchFamily="34" charset="0"/>
              </a:rPr>
            </a:br>
            <a:r>
              <a:rPr lang="es-ES" b="1" dirty="0">
                <a:solidFill>
                  <a:schemeClr val="bg1"/>
                </a:solidFill>
                <a:latin typeface="Helvetica" panose="020B0604020202020204" pitchFamily="34" charset="0"/>
                <a:cs typeface="Helvetica" panose="020B0604020202020204" pitchFamily="34" charset="0"/>
              </a:rPr>
              <a:t> - </a:t>
            </a:r>
            <a:br>
              <a:rPr lang="es-ES" b="1" dirty="0">
                <a:solidFill>
                  <a:schemeClr val="bg1"/>
                </a:solidFill>
                <a:latin typeface="Helvetica" panose="020B0604020202020204" pitchFamily="34" charset="0"/>
                <a:cs typeface="Helvetica" panose="020B0604020202020204" pitchFamily="34" charset="0"/>
              </a:rPr>
            </a:br>
            <a:r>
              <a:rPr lang="es-ES" b="1" dirty="0">
                <a:solidFill>
                  <a:schemeClr val="bg1"/>
                </a:solidFill>
                <a:latin typeface="Helvetica" panose="020B0604020202020204" pitchFamily="34" charset="0"/>
                <a:cs typeface="Helvetica" panose="020B0604020202020204" pitchFamily="34" charset="0"/>
              </a:rPr>
              <a:t>Figures</a:t>
            </a:r>
          </a:p>
        </p:txBody>
      </p:sp>
      <p:sp>
        <p:nvSpPr>
          <p:cNvPr id="5" name="Título 1">
            <a:extLst>
              <a:ext uri="{FF2B5EF4-FFF2-40B4-BE49-F238E27FC236}">
                <a16:creationId xmlns:a16="http://schemas.microsoft.com/office/drawing/2014/main" id="{D1217E08-3399-DFA2-1E05-836FE1C2F420}"/>
              </a:ext>
            </a:extLst>
          </p:cNvPr>
          <p:cNvSpPr txBox="1">
            <a:spLocks/>
          </p:cNvSpPr>
          <p:nvPr/>
        </p:nvSpPr>
        <p:spPr>
          <a:xfrm>
            <a:off x="1" y="5735636"/>
            <a:ext cx="12192000" cy="1122363"/>
          </a:xfrm>
          <a:prstGeom prst="rect">
            <a:avLst/>
          </a:prstGeom>
        </p:spPr>
        <p:txBody>
          <a:bodyPr vert="horz" lIns="91440" tIns="45720" rIns="91440" bIns="45720" rtlCol="0" anchor="ctr">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s-ES" sz="3200" dirty="0" err="1">
                <a:latin typeface="Helvetica"/>
                <a:cs typeface="Helvetica"/>
              </a:rPr>
              <a:t>Chapter</a:t>
            </a:r>
            <a:r>
              <a:rPr lang="es-ES" sz="3200" dirty="0">
                <a:latin typeface="Helvetica"/>
                <a:cs typeface="Helvetica"/>
              </a:rPr>
              <a:t> 2: </a:t>
            </a:r>
            <a:r>
              <a:rPr lang="es-ES" sz="3200" dirty="0" err="1">
                <a:latin typeface="Helvetica"/>
                <a:cs typeface="Helvetica"/>
              </a:rPr>
              <a:t>assessing</a:t>
            </a:r>
            <a:r>
              <a:rPr lang="es-ES" sz="3200" dirty="0">
                <a:latin typeface="Helvetica"/>
                <a:cs typeface="Helvetica"/>
              </a:rPr>
              <a:t> individual </a:t>
            </a:r>
            <a:r>
              <a:rPr lang="es-ES" sz="3200" dirty="0" err="1">
                <a:latin typeface="Helvetica"/>
                <a:cs typeface="Helvetica"/>
              </a:rPr>
              <a:t>factors</a:t>
            </a:r>
            <a:r>
              <a:rPr lang="es-ES" sz="3200" dirty="0">
                <a:latin typeface="Helvetica"/>
                <a:cs typeface="Helvetica"/>
              </a:rPr>
              <a:t> </a:t>
            </a:r>
            <a:r>
              <a:rPr lang="es-ES" sz="3200" dirty="0" err="1">
                <a:latin typeface="Helvetica"/>
                <a:cs typeface="Helvetica"/>
              </a:rPr>
              <a:t>determining</a:t>
            </a:r>
            <a:r>
              <a:rPr lang="es-ES" sz="3200" dirty="0">
                <a:latin typeface="Helvetica"/>
                <a:cs typeface="Helvetica"/>
              </a:rPr>
              <a:t> </a:t>
            </a:r>
            <a:r>
              <a:rPr lang="es-ES" sz="3200" dirty="0" err="1">
                <a:latin typeface="Helvetica"/>
                <a:cs typeface="Helvetica"/>
              </a:rPr>
              <a:t>drought</a:t>
            </a:r>
            <a:r>
              <a:rPr lang="es-ES" sz="3200" dirty="0">
                <a:latin typeface="Helvetica"/>
                <a:cs typeface="Helvetica"/>
              </a:rPr>
              <a:t> </a:t>
            </a:r>
            <a:r>
              <a:rPr lang="es-ES" sz="3200" dirty="0" err="1">
                <a:latin typeface="Helvetica"/>
                <a:cs typeface="Helvetica"/>
              </a:rPr>
              <a:t>vulnerability</a:t>
            </a:r>
            <a:endParaRPr lang="es-ES" sz="3200" dirty="0">
              <a:latin typeface="Helvetica"/>
              <a:cs typeface="Helvetica"/>
            </a:endParaRPr>
          </a:p>
        </p:txBody>
      </p:sp>
    </p:spTree>
    <p:extLst>
      <p:ext uri="{BB962C8B-B14F-4D97-AF65-F5344CB8AC3E}">
        <p14:creationId xmlns:p14="http://schemas.microsoft.com/office/powerpoint/2010/main" val="16642136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1E44D2-92AB-56BE-5401-B5857B4B3C1C}"/>
            </a:ext>
          </a:extLst>
        </p:cNvPr>
        <p:cNvGrpSpPr/>
        <p:nvPr/>
      </p:nvGrpSpPr>
      <p:grpSpPr>
        <a:xfrm>
          <a:off x="0" y="0"/>
          <a:ext cx="0" cy="0"/>
          <a:chOff x="0" y="0"/>
          <a:chExt cx="0" cy="0"/>
        </a:xfrm>
      </p:grpSpPr>
      <p:sp>
        <p:nvSpPr>
          <p:cNvPr id="47" name="Marcador de contenido 2">
            <a:extLst>
              <a:ext uri="{FF2B5EF4-FFF2-40B4-BE49-F238E27FC236}">
                <a16:creationId xmlns:a16="http://schemas.microsoft.com/office/drawing/2014/main" id="{F0E37F81-4996-ACF1-D504-516BF4508F0D}"/>
              </a:ext>
            </a:extLst>
          </p:cNvPr>
          <p:cNvSpPr txBox="1">
            <a:spLocks/>
          </p:cNvSpPr>
          <p:nvPr/>
        </p:nvSpPr>
        <p:spPr>
          <a:xfrm>
            <a:off x="873964" y="999063"/>
            <a:ext cx="10733318" cy="577811"/>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b="1" dirty="0" err="1">
                <a:latin typeface="Helvetica"/>
                <a:cs typeface="Helvetica"/>
              </a:rPr>
              <a:t>Morphological</a:t>
            </a:r>
            <a:r>
              <a:rPr lang="es-ES" b="1" dirty="0">
                <a:latin typeface="Helvetica"/>
                <a:cs typeface="Helvetica"/>
              </a:rPr>
              <a:t> </a:t>
            </a:r>
            <a:r>
              <a:rPr lang="es-ES" b="1" dirty="0" err="1">
                <a:latin typeface="Helvetica"/>
                <a:cs typeface="Helvetica"/>
              </a:rPr>
              <a:t>traits</a:t>
            </a:r>
            <a:endParaRPr lang="es-ES" dirty="0"/>
          </a:p>
          <a:p>
            <a:pPr marL="0" indent="0">
              <a:buClr>
                <a:srgbClr val="218317"/>
              </a:buClr>
              <a:buNone/>
            </a:pPr>
            <a:endParaRPr lang="es-ES" b="1" dirty="0">
              <a:latin typeface="Helvetica" panose="020B0604020202020204" pitchFamily="34" charset="0"/>
              <a:cs typeface="Helvetica" panose="020B0604020202020204" pitchFamily="34" charset="0"/>
            </a:endParaRPr>
          </a:p>
        </p:txBody>
      </p:sp>
      <p:sp>
        <p:nvSpPr>
          <p:cNvPr id="59" name="Marcador de contenido 2">
            <a:extLst>
              <a:ext uri="{FF2B5EF4-FFF2-40B4-BE49-F238E27FC236}">
                <a16:creationId xmlns:a16="http://schemas.microsoft.com/office/drawing/2014/main" id="{0317BCC4-3F71-57F6-B195-00F0C0F72EB3}"/>
              </a:ext>
            </a:extLst>
          </p:cNvPr>
          <p:cNvSpPr txBox="1">
            <a:spLocks/>
          </p:cNvSpPr>
          <p:nvPr/>
        </p:nvSpPr>
        <p:spPr>
          <a:xfrm>
            <a:off x="873964" y="1771781"/>
            <a:ext cx="940058" cy="2552400"/>
          </a:xfrm>
          <a:prstGeom prst="rect">
            <a:avLst/>
          </a:prstGeom>
          <a:solidFill>
            <a:srgbClr val="C00000"/>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endParaRPr lang="es-ES">
              <a:solidFill>
                <a:schemeClr val="bg1"/>
              </a:solidFill>
            </a:endParaRPr>
          </a:p>
          <a:p>
            <a:pPr marL="0" indent="0" algn="ctr">
              <a:buNone/>
            </a:pPr>
            <a:endParaRPr lang="es-ES" sz="2000" b="1">
              <a:solidFill>
                <a:schemeClr val="bg1"/>
              </a:solidFill>
              <a:latin typeface="Helvetica"/>
              <a:cs typeface="Helvetica"/>
            </a:endParaRPr>
          </a:p>
        </p:txBody>
      </p:sp>
      <p:sp>
        <p:nvSpPr>
          <p:cNvPr id="3" name="Marcador de contenido 2">
            <a:extLst>
              <a:ext uri="{FF2B5EF4-FFF2-40B4-BE49-F238E27FC236}">
                <a16:creationId xmlns:a16="http://schemas.microsoft.com/office/drawing/2014/main" id="{FF244384-3004-6C6E-7451-A7238A5D0302}"/>
              </a:ext>
            </a:extLst>
          </p:cNvPr>
          <p:cNvSpPr txBox="1">
            <a:spLocks/>
          </p:cNvSpPr>
          <p:nvPr/>
        </p:nvSpPr>
        <p:spPr>
          <a:xfrm>
            <a:off x="4282027" y="1771781"/>
            <a:ext cx="940058" cy="2552401"/>
          </a:xfrm>
          <a:prstGeom prst="rect">
            <a:avLst/>
          </a:prstGeom>
          <a:solidFill>
            <a:srgbClr val="2F5597"/>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endParaRPr lang="es-ES" sz="2000" b="1">
              <a:solidFill>
                <a:schemeClr val="bg1"/>
              </a:solidFill>
              <a:latin typeface="Helvetica"/>
              <a:cs typeface="Helvetica"/>
            </a:endParaRPr>
          </a:p>
          <a:p>
            <a:pPr marL="0" indent="0" algn="ctr">
              <a:buNone/>
            </a:pPr>
            <a:endParaRPr lang="es-ES" sz="2400" b="1">
              <a:solidFill>
                <a:schemeClr val="bg1"/>
              </a:solidFill>
              <a:latin typeface="Helvetica"/>
              <a:cs typeface="Helvetica"/>
            </a:endParaRPr>
          </a:p>
          <a:p>
            <a:pPr marL="0" indent="0" algn="ctr">
              <a:buNone/>
            </a:pPr>
            <a:endParaRPr lang="es-ES" sz="2400" b="1">
              <a:solidFill>
                <a:schemeClr val="bg1"/>
              </a:solidFill>
              <a:latin typeface="Helvetica"/>
              <a:cs typeface="Helvetica"/>
            </a:endParaRPr>
          </a:p>
          <a:p>
            <a:pPr marL="0" indent="0" algn="ctr">
              <a:buNone/>
            </a:pPr>
            <a:endParaRPr lang="es-ES" sz="2400" b="1">
              <a:solidFill>
                <a:schemeClr val="bg1"/>
              </a:solidFill>
              <a:latin typeface="Helvetica"/>
              <a:cs typeface="Helvetica"/>
            </a:endParaRPr>
          </a:p>
          <a:p>
            <a:pPr marL="0" indent="0" algn="ctr">
              <a:buNone/>
            </a:pPr>
            <a:endParaRPr lang="es-ES" sz="2000" b="1">
              <a:solidFill>
                <a:schemeClr val="bg1"/>
              </a:solidFill>
              <a:latin typeface="Helvetica" panose="020B0604020202020204" pitchFamily="34" charset="0"/>
              <a:cs typeface="Helvetica" panose="020B0604020202020204" pitchFamily="34" charset="0"/>
            </a:endParaRPr>
          </a:p>
        </p:txBody>
      </p:sp>
      <p:sp>
        <p:nvSpPr>
          <p:cNvPr id="8" name="Marcador de contenido 2">
            <a:extLst>
              <a:ext uri="{FF2B5EF4-FFF2-40B4-BE49-F238E27FC236}">
                <a16:creationId xmlns:a16="http://schemas.microsoft.com/office/drawing/2014/main" id="{BED42503-2FD0-622B-25DC-67609D2A8C2B}"/>
              </a:ext>
            </a:extLst>
          </p:cNvPr>
          <p:cNvSpPr txBox="1">
            <a:spLocks/>
          </p:cNvSpPr>
          <p:nvPr/>
        </p:nvSpPr>
        <p:spPr>
          <a:xfrm>
            <a:off x="2151683" y="1838732"/>
            <a:ext cx="1789618" cy="987420"/>
          </a:xfrm>
          <a:prstGeom prst="rect">
            <a:avLst/>
          </a:prstGeom>
        </p:spPr>
        <p:txBody>
          <a:bodyPr vert="horz" lIns="91440" tIns="45720" rIns="91440" bIns="45720" rtlCol="0" anchor="t">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s-ES" sz="2400" b="1" dirty="0" err="1">
                <a:latin typeface="Helvetica"/>
                <a:cs typeface="Helvetica"/>
              </a:rPr>
              <a:t>Tree</a:t>
            </a:r>
            <a:r>
              <a:rPr lang="es-ES" sz="2400" b="1" dirty="0">
                <a:latin typeface="Helvetica"/>
                <a:cs typeface="Helvetica"/>
              </a:rPr>
              <a:t> </a:t>
            </a:r>
            <a:r>
              <a:rPr lang="es-ES" sz="2400" b="1" dirty="0" err="1">
                <a:latin typeface="Helvetica"/>
                <a:cs typeface="Helvetica"/>
              </a:rPr>
              <a:t>growth</a:t>
            </a:r>
            <a:endParaRPr lang="es-ES" sz="2400" b="1" dirty="0">
              <a:latin typeface="Helvetica"/>
              <a:cs typeface="Helvetica"/>
            </a:endParaRPr>
          </a:p>
          <a:p>
            <a:pPr marL="0" indent="0" algn="ctr">
              <a:buNone/>
            </a:pPr>
            <a:r>
              <a:rPr lang="es-ES" sz="2400" dirty="0">
                <a:latin typeface="Helvetica" panose="020B0604020202020204"/>
                <a:cs typeface="Helvetica" panose="020B0604020202020204"/>
              </a:rPr>
              <a:t>BAI, </a:t>
            </a:r>
            <a:r>
              <a:rPr lang="es-ES" sz="2400" dirty="0" err="1">
                <a:latin typeface="Helvetica" panose="020B0604020202020204"/>
                <a:cs typeface="Helvetica" panose="020B0604020202020204"/>
              </a:rPr>
              <a:t>height</a:t>
            </a:r>
            <a:r>
              <a:rPr lang="es-ES" sz="2400" dirty="0">
                <a:latin typeface="Helvetica" panose="020B0604020202020204"/>
                <a:cs typeface="Helvetica" panose="020B0604020202020204"/>
              </a:rPr>
              <a:t>, </a:t>
            </a:r>
            <a:r>
              <a:rPr lang="es-ES" sz="2400" dirty="0" err="1">
                <a:latin typeface="Helvetica" panose="020B0604020202020204"/>
                <a:cs typeface="Helvetica" panose="020B0604020202020204"/>
              </a:rPr>
              <a:t>dbh</a:t>
            </a:r>
            <a:endParaRPr lang="es-ES" sz="2400" b="1" dirty="0">
              <a:latin typeface="Helvetica" panose="020B0604020202020204"/>
              <a:cs typeface="Helvetica" panose="020B0604020202020204"/>
            </a:endParaRPr>
          </a:p>
          <a:p>
            <a:pPr marL="0" indent="0" algn="ctr">
              <a:buClr>
                <a:srgbClr val="218317"/>
              </a:buClr>
              <a:buNone/>
            </a:pPr>
            <a:endParaRPr lang="es-ES" sz="2400" b="1" dirty="0">
              <a:latin typeface="Helvetica" panose="020B0604020202020204" pitchFamily="34" charset="0"/>
              <a:cs typeface="Helvetica" panose="020B0604020202020204" pitchFamily="34" charset="0"/>
            </a:endParaRPr>
          </a:p>
        </p:txBody>
      </p:sp>
      <p:sp>
        <p:nvSpPr>
          <p:cNvPr id="11" name="Marcador de contenido 2">
            <a:extLst>
              <a:ext uri="{FF2B5EF4-FFF2-40B4-BE49-F238E27FC236}">
                <a16:creationId xmlns:a16="http://schemas.microsoft.com/office/drawing/2014/main" id="{20DB9558-B2BF-6BD6-E1CC-3565899D0CB3}"/>
              </a:ext>
            </a:extLst>
          </p:cNvPr>
          <p:cNvSpPr txBox="1">
            <a:spLocks/>
          </p:cNvSpPr>
          <p:nvPr/>
        </p:nvSpPr>
        <p:spPr>
          <a:xfrm>
            <a:off x="2313887" y="2886569"/>
            <a:ext cx="1462158" cy="398526"/>
          </a:xfrm>
          <a:prstGeom prst="rect">
            <a:avLst/>
          </a:prstGeom>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s-ES" sz="2400" b="1">
                <a:latin typeface="Helvetica"/>
                <a:cs typeface="Helvetica"/>
              </a:rPr>
              <a:t>SLA</a:t>
            </a:r>
            <a:endParaRPr lang="es-ES" sz="2400"/>
          </a:p>
          <a:p>
            <a:pPr marL="0" indent="0" algn="ctr">
              <a:buClr>
                <a:srgbClr val="218317"/>
              </a:buClr>
              <a:buNone/>
            </a:pPr>
            <a:endParaRPr lang="es-ES" sz="2400" b="1">
              <a:latin typeface="Helvetica" panose="020B0604020202020204" pitchFamily="34" charset="0"/>
              <a:cs typeface="Helvetica" panose="020B0604020202020204" pitchFamily="34" charset="0"/>
            </a:endParaRPr>
          </a:p>
        </p:txBody>
      </p:sp>
      <p:sp>
        <p:nvSpPr>
          <p:cNvPr id="12" name="Marcador de contenido 2">
            <a:extLst>
              <a:ext uri="{FF2B5EF4-FFF2-40B4-BE49-F238E27FC236}">
                <a16:creationId xmlns:a16="http://schemas.microsoft.com/office/drawing/2014/main" id="{EC12320A-0D50-B954-DBB2-1EB8131F8B5E}"/>
              </a:ext>
            </a:extLst>
          </p:cNvPr>
          <p:cNvSpPr txBox="1">
            <a:spLocks/>
          </p:cNvSpPr>
          <p:nvPr/>
        </p:nvSpPr>
        <p:spPr>
          <a:xfrm>
            <a:off x="2160035" y="3669011"/>
            <a:ext cx="1769862" cy="398526"/>
          </a:xfrm>
          <a:prstGeom prst="rect">
            <a:avLst/>
          </a:prstGeom>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s-ES" sz="2400" b="1" err="1">
                <a:latin typeface="Helvetica"/>
                <a:cs typeface="Helvetica"/>
              </a:rPr>
              <a:t>defoliation</a:t>
            </a:r>
            <a:endParaRPr lang="es-ES" sz="2400"/>
          </a:p>
          <a:p>
            <a:pPr marL="0" indent="0" algn="ctr">
              <a:buClr>
                <a:srgbClr val="218317"/>
              </a:buClr>
              <a:buNone/>
            </a:pPr>
            <a:endParaRPr lang="es-ES" sz="2400" b="1">
              <a:latin typeface="Helvetica" panose="020B0604020202020204" pitchFamily="34" charset="0"/>
              <a:cs typeface="Helvetica" panose="020B0604020202020204" pitchFamily="34" charset="0"/>
            </a:endParaRPr>
          </a:p>
        </p:txBody>
      </p:sp>
      <p:sp>
        <p:nvSpPr>
          <p:cNvPr id="13" name="Marcador de contenido 2">
            <a:extLst>
              <a:ext uri="{FF2B5EF4-FFF2-40B4-BE49-F238E27FC236}">
                <a16:creationId xmlns:a16="http://schemas.microsoft.com/office/drawing/2014/main" id="{BF010CEC-27C0-43E8-F13F-4CD98F2A970C}"/>
              </a:ext>
            </a:extLst>
          </p:cNvPr>
          <p:cNvSpPr txBox="1">
            <a:spLocks/>
          </p:cNvSpPr>
          <p:nvPr/>
        </p:nvSpPr>
        <p:spPr>
          <a:xfrm>
            <a:off x="873963" y="1977572"/>
            <a:ext cx="940057" cy="398526"/>
          </a:xfrm>
          <a:prstGeom prst="rect">
            <a:avLst/>
          </a:prstGeom>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s-ES" sz="2400" b="1">
                <a:solidFill>
                  <a:schemeClr val="bg1"/>
                </a:solidFill>
                <a:latin typeface="Helvetica"/>
                <a:cs typeface="Helvetica"/>
              </a:rPr>
              <a:t>↓</a:t>
            </a:r>
            <a:endParaRPr lang="es-ES" sz="2400" b="1">
              <a:solidFill>
                <a:schemeClr val="bg1"/>
              </a:solidFill>
            </a:endParaRPr>
          </a:p>
          <a:p>
            <a:pPr marL="0" indent="0" algn="ctr">
              <a:buClr>
                <a:srgbClr val="218317"/>
              </a:buClr>
              <a:buNone/>
            </a:pPr>
            <a:endParaRPr lang="es-ES" sz="2400" b="1">
              <a:solidFill>
                <a:schemeClr val="bg1"/>
              </a:solidFill>
              <a:latin typeface="Helvetica" panose="020B0604020202020204" pitchFamily="34" charset="0"/>
              <a:cs typeface="Helvetica" panose="020B0604020202020204" pitchFamily="34" charset="0"/>
            </a:endParaRPr>
          </a:p>
        </p:txBody>
      </p:sp>
      <p:sp>
        <p:nvSpPr>
          <p:cNvPr id="14" name="Marcador de contenido 2">
            <a:extLst>
              <a:ext uri="{FF2B5EF4-FFF2-40B4-BE49-F238E27FC236}">
                <a16:creationId xmlns:a16="http://schemas.microsoft.com/office/drawing/2014/main" id="{69F6C2EF-A2B4-CADC-72E6-1ED344B9E1A7}"/>
              </a:ext>
            </a:extLst>
          </p:cNvPr>
          <p:cNvSpPr txBox="1">
            <a:spLocks/>
          </p:cNvSpPr>
          <p:nvPr/>
        </p:nvSpPr>
        <p:spPr>
          <a:xfrm>
            <a:off x="5986468" y="1933916"/>
            <a:ext cx="5331566" cy="398526"/>
          </a:xfrm>
          <a:prstGeom prst="rect">
            <a:avLst/>
          </a:prstGeom>
        </p:spPr>
        <p:txBody>
          <a:bodyPr vert="horz" lIns="91440" tIns="45720" rIns="91440" bIns="45720" rtlCol="0" anchor="t">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sz="2400" dirty="0" err="1">
                <a:latin typeface="Helvetica"/>
                <a:cs typeface="Helvetica"/>
              </a:rPr>
              <a:t>Photosynthesis</a:t>
            </a:r>
            <a:r>
              <a:rPr lang="es-ES" sz="2400" dirty="0">
                <a:latin typeface="Helvetica"/>
                <a:cs typeface="Helvetica"/>
              </a:rPr>
              <a:t>, </a:t>
            </a:r>
            <a:r>
              <a:rPr lang="es-ES" sz="2400" dirty="0" err="1">
                <a:latin typeface="Helvetica"/>
                <a:cs typeface="Helvetica"/>
              </a:rPr>
              <a:t>root</a:t>
            </a:r>
            <a:r>
              <a:rPr lang="es-ES" sz="2400" dirty="0">
                <a:latin typeface="Helvetica"/>
                <a:cs typeface="Helvetica"/>
              </a:rPr>
              <a:t> </a:t>
            </a:r>
            <a:r>
              <a:rPr lang="es-ES" sz="2400" dirty="0" err="1">
                <a:latin typeface="Helvetica"/>
                <a:cs typeface="Helvetica"/>
              </a:rPr>
              <a:t>system</a:t>
            </a:r>
            <a:r>
              <a:rPr lang="es-ES" sz="2400" dirty="0">
                <a:latin typeface="Helvetica"/>
                <a:cs typeface="Helvetica"/>
              </a:rPr>
              <a:t>, reserves</a:t>
            </a:r>
            <a:endParaRPr lang="es-ES" sz="2400" dirty="0"/>
          </a:p>
          <a:p>
            <a:pPr marL="0" indent="0">
              <a:buClr>
                <a:srgbClr val="218317"/>
              </a:buClr>
              <a:buNone/>
            </a:pPr>
            <a:endParaRPr lang="es-ES" sz="2400" dirty="0">
              <a:latin typeface="Helvetica" panose="020B0604020202020204" pitchFamily="34" charset="0"/>
              <a:cs typeface="Helvetica" panose="020B0604020202020204" pitchFamily="34" charset="0"/>
            </a:endParaRPr>
          </a:p>
        </p:txBody>
      </p:sp>
      <p:sp>
        <p:nvSpPr>
          <p:cNvPr id="16" name="Marcador de contenido 2">
            <a:extLst>
              <a:ext uri="{FF2B5EF4-FFF2-40B4-BE49-F238E27FC236}">
                <a16:creationId xmlns:a16="http://schemas.microsoft.com/office/drawing/2014/main" id="{785E35DF-EB1B-CC2D-77A0-8849F5A8E907}"/>
              </a:ext>
            </a:extLst>
          </p:cNvPr>
          <p:cNvSpPr txBox="1">
            <a:spLocks/>
          </p:cNvSpPr>
          <p:nvPr/>
        </p:nvSpPr>
        <p:spPr>
          <a:xfrm>
            <a:off x="4282028" y="1977572"/>
            <a:ext cx="940057" cy="398526"/>
          </a:xfrm>
          <a:prstGeom prst="rect">
            <a:avLst/>
          </a:prstGeom>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s-ES" sz="2400" b="1">
                <a:solidFill>
                  <a:schemeClr val="bg1"/>
                </a:solidFill>
                <a:latin typeface="Helvetica"/>
                <a:cs typeface="Helvetica"/>
              </a:rPr>
              <a:t>↑ </a:t>
            </a:r>
            <a:endParaRPr lang="es-ES" sz="2400" b="1">
              <a:solidFill>
                <a:schemeClr val="bg1"/>
              </a:solidFill>
            </a:endParaRPr>
          </a:p>
          <a:p>
            <a:pPr marL="0" indent="0" algn="ctr">
              <a:buClr>
                <a:srgbClr val="218317"/>
              </a:buClr>
              <a:buNone/>
            </a:pPr>
            <a:endParaRPr lang="es-ES" sz="2400" b="1">
              <a:solidFill>
                <a:schemeClr val="bg1"/>
              </a:solidFill>
              <a:latin typeface="Helvetica" panose="020B0604020202020204" pitchFamily="34" charset="0"/>
              <a:cs typeface="Helvetica" panose="020B0604020202020204" pitchFamily="34" charset="0"/>
            </a:endParaRPr>
          </a:p>
        </p:txBody>
      </p:sp>
      <p:sp>
        <p:nvSpPr>
          <p:cNvPr id="17" name="Marcador de contenido 2">
            <a:extLst>
              <a:ext uri="{FF2B5EF4-FFF2-40B4-BE49-F238E27FC236}">
                <a16:creationId xmlns:a16="http://schemas.microsoft.com/office/drawing/2014/main" id="{8BE86B80-B33B-526D-DC67-62819F92DADC}"/>
              </a:ext>
            </a:extLst>
          </p:cNvPr>
          <p:cNvSpPr txBox="1">
            <a:spLocks/>
          </p:cNvSpPr>
          <p:nvPr/>
        </p:nvSpPr>
        <p:spPr>
          <a:xfrm>
            <a:off x="873962" y="2809267"/>
            <a:ext cx="940060" cy="398526"/>
          </a:xfrm>
          <a:prstGeom prst="rect">
            <a:avLst/>
          </a:prstGeom>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s-ES" sz="2400" b="1">
                <a:solidFill>
                  <a:schemeClr val="bg1"/>
                </a:solidFill>
                <a:latin typeface="Helvetica"/>
                <a:cs typeface="Helvetica"/>
              </a:rPr>
              <a:t>↓</a:t>
            </a:r>
            <a:endParaRPr lang="es-ES" sz="2400" b="1">
              <a:solidFill>
                <a:schemeClr val="bg1"/>
              </a:solidFill>
            </a:endParaRPr>
          </a:p>
          <a:p>
            <a:pPr marL="0" indent="0" algn="ctr">
              <a:buClr>
                <a:srgbClr val="218317"/>
              </a:buClr>
              <a:buNone/>
            </a:pPr>
            <a:endParaRPr lang="es-ES" sz="2400" b="1">
              <a:solidFill>
                <a:schemeClr val="bg1"/>
              </a:solidFill>
              <a:latin typeface="Helvetica" panose="020B0604020202020204" pitchFamily="34" charset="0"/>
              <a:cs typeface="Helvetica" panose="020B0604020202020204" pitchFamily="34" charset="0"/>
            </a:endParaRPr>
          </a:p>
        </p:txBody>
      </p:sp>
      <p:sp>
        <p:nvSpPr>
          <p:cNvPr id="18" name="Marcador de contenido 2">
            <a:extLst>
              <a:ext uri="{FF2B5EF4-FFF2-40B4-BE49-F238E27FC236}">
                <a16:creationId xmlns:a16="http://schemas.microsoft.com/office/drawing/2014/main" id="{C6519D60-4367-FE7F-E866-77BB4CC375F6}"/>
              </a:ext>
            </a:extLst>
          </p:cNvPr>
          <p:cNvSpPr txBox="1">
            <a:spLocks/>
          </p:cNvSpPr>
          <p:nvPr/>
        </p:nvSpPr>
        <p:spPr>
          <a:xfrm>
            <a:off x="873962" y="3672541"/>
            <a:ext cx="940057" cy="398526"/>
          </a:xfrm>
          <a:prstGeom prst="rect">
            <a:avLst/>
          </a:prstGeom>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Clr>
                <a:srgbClr val="218317"/>
              </a:buClr>
              <a:buNone/>
            </a:pPr>
            <a:r>
              <a:rPr lang="es-ES" sz="2400" b="1" dirty="0">
                <a:solidFill>
                  <a:schemeClr val="bg1"/>
                </a:solidFill>
                <a:latin typeface="Helvetica"/>
                <a:cs typeface="Helvetica"/>
              </a:rPr>
              <a:t>↑</a:t>
            </a:r>
            <a:endParaRPr lang="es-ES" sz="2400" b="1" dirty="0">
              <a:solidFill>
                <a:schemeClr val="bg1"/>
              </a:solidFill>
              <a:latin typeface="Helvetica" panose="020B0604020202020204" pitchFamily="34" charset="0"/>
              <a:cs typeface="Helvetica" panose="020B0604020202020204" pitchFamily="34" charset="0"/>
            </a:endParaRPr>
          </a:p>
        </p:txBody>
      </p:sp>
      <p:sp>
        <p:nvSpPr>
          <p:cNvPr id="19" name="Marcador de contenido 2">
            <a:extLst>
              <a:ext uri="{FF2B5EF4-FFF2-40B4-BE49-F238E27FC236}">
                <a16:creationId xmlns:a16="http://schemas.microsoft.com/office/drawing/2014/main" id="{8476C887-83B4-0CA1-ED02-27A7FBBFAC2A}"/>
              </a:ext>
            </a:extLst>
          </p:cNvPr>
          <p:cNvSpPr txBox="1">
            <a:spLocks/>
          </p:cNvSpPr>
          <p:nvPr/>
        </p:nvSpPr>
        <p:spPr>
          <a:xfrm>
            <a:off x="4278968" y="2809950"/>
            <a:ext cx="940057" cy="398526"/>
          </a:xfrm>
          <a:prstGeom prst="rect">
            <a:avLst/>
          </a:prstGeom>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s-ES" sz="2400" b="1">
                <a:solidFill>
                  <a:schemeClr val="bg1"/>
                </a:solidFill>
                <a:latin typeface="Helvetica"/>
                <a:cs typeface="Helvetica"/>
              </a:rPr>
              <a:t>↑ </a:t>
            </a:r>
            <a:endParaRPr lang="es-ES" sz="2400" b="1">
              <a:solidFill>
                <a:schemeClr val="bg1"/>
              </a:solidFill>
            </a:endParaRPr>
          </a:p>
          <a:p>
            <a:pPr marL="0" indent="0" algn="ctr">
              <a:buClr>
                <a:srgbClr val="218317"/>
              </a:buClr>
              <a:buNone/>
            </a:pPr>
            <a:endParaRPr lang="es-ES" sz="2400" b="1">
              <a:solidFill>
                <a:schemeClr val="bg1"/>
              </a:solidFill>
              <a:latin typeface="Helvetica" panose="020B0604020202020204" pitchFamily="34" charset="0"/>
              <a:cs typeface="Helvetica" panose="020B0604020202020204" pitchFamily="34" charset="0"/>
            </a:endParaRPr>
          </a:p>
        </p:txBody>
      </p:sp>
      <p:sp>
        <p:nvSpPr>
          <p:cNvPr id="20" name="Marcador de contenido 2">
            <a:extLst>
              <a:ext uri="{FF2B5EF4-FFF2-40B4-BE49-F238E27FC236}">
                <a16:creationId xmlns:a16="http://schemas.microsoft.com/office/drawing/2014/main" id="{0E22DB08-9A70-46F7-386A-B2D485C5FF5A}"/>
              </a:ext>
            </a:extLst>
          </p:cNvPr>
          <p:cNvSpPr txBox="1">
            <a:spLocks/>
          </p:cNvSpPr>
          <p:nvPr/>
        </p:nvSpPr>
        <p:spPr>
          <a:xfrm>
            <a:off x="4278967" y="3669011"/>
            <a:ext cx="940057" cy="398526"/>
          </a:xfrm>
          <a:prstGeom prst="rect">
            <a:avLst/>
          </a:prstGeom>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s-ES" sz="2400" b="1" dirty="0">
                <a:solidFill>
                  <a:schemeClr val="bg1"/>
                </a:solidFill>
                <a:latin typeface="Helvetica"/>
                <a:cs typeface="Helvetica"/>
              </a:rPr>
              <a:t>↓ </a:t>
            </a:r>
            <a:endParaRPr lang="es-ES" sz="2400" b="1" dirty="0">
              <a:solidFill>
                <a:schemeClr val="bg1"/>
              </a:solidFill>
            </a:endParaRPr>
          </a:p>
          <a:p>
            <a:pPr marL="0" indent="0" algn="ctr">
              <a:buClr>
                <a:srgbClr val="218317"/>
              </a:buClr>
              <a:buNone/>
            </a:pPr>
            <a:endParaRPr lang="es-ES" sz="2400" b="1" dirty="0">
              <a:solidFill>
                <a:schemeClr val="bg1"/>
              </a:solidFill>
              <a:latin typeface="Helvetica" panose="020B0604020202020204" pitchFamily="34" charset="0"/>
              <a:cs typeface="Helvetica" panose="020B0604020202020204" pitchFamily="34" charset="0"/>
            </a:endParaRPr>
          </a:p>
        </p:txBody>
      </p:sp>
      <p:sp>
        <p:nvSpPr>
          <p:cNvPr id="23" name="Marcador de contenido 2">
            <a:extLst>
              <a:ext uri="{FF2B5EF4-FFF2-40B4-BE49-F238E27FC236}">
                <a16:creationId xmlns:a16="http://schemas.microsoft.com/office/drawing/2014/main" id="{411AD154-DC3D-C24C-2F95-DD8D08C7B984}"/>
              </a:ext>
            </a:extLst>
          </p:cNvPr>
          <p:cNvSpPr txBox="1">
            <a:spLocks/>
          </p:cNvSpPr>
          <p:nvPr/>
        </p:nvSpPr>
        <p:spPr>
          <a:xfrm>
            <a:off x="870903" y="4533220"/>
            <a:ext cx="940060" cy="398526"/>
          </a:xfrm>
          <a:prstGeom prst="rect">
            <a:avLst/>
          </a:prstGeom>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Clr>
                <a:srgbClr val="218317"/>
              </a:buClr>
              <a:buNone/>
            </a:pPr>
            <a:endParaRPr lang="es-ES" sz="2400" b="1" dirty="0">
              <a:solidFill>
                <a:schemeClr val="bg1"/>
              </a:solidFill>
              <a:latin typeface="Helvetica" panose="020B0604020202020204" pitchFamily="34" charset="0"/>
              <a:cs typeface="Helvetica" panose="020B0604020202020204" pitchFamily="34" charset="0"/>
            </a:endParaRPr>
          </a:p>
        </p:txBody>
      </p:sp>
      <p:sp>
        <p:nvSpPr>
          <p:cNvPr id="25" name="Marcador de contenido 2">
            <a:extLst>
              <a:ext uri="{FF2B5EF4-FFF2-40B4-BE49-F238E27FC236}">
                <a16:creationId xmlns:a16="http://schemas.microsoft.com/office/drawing/2014/main" id="{0A7732EB-AC92-D301-1C71-C0F3EA3A8C5B}"/>
              </a:ext>
            </a:extLst>
          </p:cNvPr>
          <p:cNvSpPr txBox="1">
            <a:spLocks/>
          </p:cNvSpPr>
          <p:nvPr/>
        </p:nvSpPr>
        <p:spPr>
          <a:xfrm>
            <a:off x="5986468" y="2649744"/>
            <a:ext cx="4855701" cy="872177"/>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sz="2400" dirty="0">
                <a:latin typeface="Helvetica"/>
                <a:cs typeface="Helvetica"/>
              </a:rPr>
              <a:t>Cell </a:t>
            </a:r>
            <a:r>
              <a:rPr lang="es-ES" sz="2400" dirty="0" err="1">
                <a:latin typeface="Helvetica"/>
                <a:cs typeface="Helvetica"/>
              </a:rPr>
              <a:t>turgor</a:t>
            </a:r>
            <a:r>
              <a:rPr lang="es-ES" sz="2400" dirty="0">
                <a:latin typeface="Helvetica"/>
                <a:cs typeface="Helvetica"/>
              </a:rPr>
              <a:t>, </a:t>
            </a:r>
            <a:r>
              <a:rPr lang="es-ES" sz="2400" dirty="0" err="1">
                <a:latin typeface="Helvetica"/>
                <a:cs typeface="Helvetica"/>
              </a:rPr>
              <a:t>photosynthesis</a:t>
            </a:r>
            <a:endParaRPr lang="es-ES" sz="2400" dirty="0"/>
          </a:p>
          <a:p>
            <a:pPr marL="0" indent="0">
              <a:buClr>
                <a:srgbClr val="218317"/>
              </a:buClr>
              <a:buNone/>
            </a:pPr>
            <a:endParaRPr lang="es-ES" sz="2400" dirty="0">
              <a:latin typeface="Helvetica" panose="020B0604020202020204" pitchFamily="34" charset="0"/>
              <a:cs typeface="Helvetica" panose="020B0604020202020204" pitchFamily="34" charset="0"/>
            </a:endParaRPr>
          </a:p>
        </p:txBody>
      </p:sp>
      <p:sp>
        <p:nvSpPr>
          <p:cNvPr id="26" name="Marcador de contenido 2">
            <a:extLst>
              <a:ext uri="{FF2B5EF4-FFF2-40B4-BE49-F238E27FC236}">
                <a16:creationId xmlns:a16="http://schemas.microsoft.com/office/drawing/2014/main" id="{C3B40292-1AF1-2640-EC87-6CC71A2C465D}"/>
              </a:ext>
            </a:extLst>
          </p:cNvPr>
          <p:cNvSpPr txBox="1">
            <a:spLocks/>
          </p:cNvSpPr>
          <p:nvPr/>
        </p:nvSpPr>
        <p:spPr>
          <a:xfrm>
            <a:off x="5982999" y="3608276"/>
            <a:ext cx="4855701" cy="544862"/>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sz="2400" dirty="0">
                <a:latin typeface="Helvetica"/>
                <a:cs typeface="Helvetica"/>
              </a:rPr>
              <a:t>ABA, ROS</a:t>
            </a:r>
            <a:endParaRPr lang="es-ES" dirty="0"/>
          </a:p>
        </p:txBody>
      </p:sp>
      <p:sp>
        <p:nvSpPr>
          <p:cNvPr id="29" name="Marcador de contenido 2">
            <a:extLst>
              <a:ext uri="{FF2B5EF4-FFF2-40B4-BE49-F238E27FC236}">
                <a16:creationId xmlns:a16="http://schemas.microsoft.com/office/drawing/2014/main" id="{56DACEA6-21E5-9D40-24FB-EC379237380F}"/>
              </a:ext>
            </a:extLst>
          </p:cNvPr>
          <p:cNvSpPr txBox="1">
            <a:spLocks/>
          </p:cNvSpPr>
          <p:nvPr/>
        </p:nvSpPr>
        <p:spPr>
          <a:xfrm>
            <a:off x="708632" y="4598254"/>
            <a:ext cx="1264601" cy="804155"/>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s-ES" sz="1800" dirty="0" err="1">
                <a:solidFill>
                  <a:srgbClr val="C00000"/>
                </a:solidFill>
                <a:latin typeface="Helvetica" panose="020B0604020202020204" pitchFamily="34" charset="0"/>
                <a:cs typeface="Helvetica" panose="020B0604020202020204" pitchFamily="34" charset="0"/>
              </a:rPr>
              <a:t>Damaged</a:t>
            </a:r>
            <a:endParaRPr lang="es-ES" sz="1800" dirty="0">
              <a:solidFill>
                <a:srgbClr val="C00000"/>
              </a:solidFill>
              <a:latin typeface="Helvetica" panose="020B0604020202020204" pitchFamily="34" charset="0"/>
              <a:cs typeface="Helvetica" panose="020B0604020202020204" pitchFamily="34" charset="0"/>
            </a:endParaRPr>
          </a:p>
          <a:p>
            <a:pPr marL="0" indent="0" algn="ctr">
              <a:buNone/>
            </a:pPr>
            <a:r>
              <a:rPr lang="es-ES" sz="1800" dirty="0">
                <a:solidFill>
                  <a:srgbClr val="C00000"/>
                </a:solidFill>
                <a:latin typeface="Helvetica" panose="020B0604020202020204" pitchFamily="34" charset="0"/>
                <a:cs typeface="Helvetica" panose="020B0604020202020204" pitchFamily="34" charset="0"/>
              </a:rPr>
              <a:t>sites</a:t>
            </a:r>
          </a:p>
        </p:txBody>
      </p:sp>
      <p:sp>
        <p:nvSpPr>
          <p:cNvPr id="30" name="Marcador de contenido 2">
            <a:extLst>
              <a:ext uri="{FF2B5EF4-FFF2-40B4-BE49-F238E27FC236}">
                <a16:creationId xmlns:a16="http://schemas.microsoft.com/office/drawing/2014/main" id="{CDC21DF1-4AEF-AD13-6C74-3B4CEA35CAA6}"/>
              </a:ext>
            </a:extLst>
          </p:cNvPr>
          <p:cNvSpPr txBox="1">
            <a:spLocks/>
          </p:cNvSpPr>
          <p:nvPr/>
        </p:nvSpPr>
        <p:spPr>
          <a:xfrm>
            <a:off x="4213149" y="4598255"/>
            <a:ext cx="1264601" cy="804154"/>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s-ES" sz="1800" dirty="0" err="1">
                <a:solidFill>
                  <a:srgbClr val="2F5597"/>
                </a:solidFill>
                <a:latin typeface="Helvetica"/>
                <a:cs typeface="Helvetica"/>
              </a:rPr>
              <a:t>Healthy</a:t>
            </a:r>
            <a:endParaRPr lang="es-ES" sz="1800" dirty="0">
              <a:solidFill>
                <a:srgbClr val="2F5597"/>
              </a:solidFill>
              <a:latin typeface="Helvetica"/>
              <a:cs typeface="Helvetica"/>
            </a:endParaRPr>
          </a:p>
          <a:p>
            <a:pPr marL="0" indent="0" algn="ctr">
              <a:buNone/>
            </a:pPr>
            <a:r>
              <a:rPr lang="es-ES" sz="1800" dirty="0">
                <a:solidFill>
                  <a:srgbClr val="2F5597"/>
                </a:solidFill>
                <a:latin typeface="Helvetica" panose="020B0604020202020204" pitchFamily="34" charset="0"/>
                <a:cs typeface="Helvetica" panose="020B0604020202020204" pitchFamily="34" charset="0"/>
              </a:rPr>
              <a:t>sites</a:t>
            </a:r>
          </a:p>
        </p:txBody>
      </p:sp>
      <p:sp>
        <p:nvSpPr>
          <p:cNvPr id="4" name="Título 1">
            <a:extLst>
              <a:ext uri="{FF2B5EF4-FFF2-40B4-BE49-F238E27FC236}">
                <a16:creationId xmlns:a16="http://schemas.microsoft.com/office/drawing/2014/main" id="{09EE9E40-6950-4753-742B-41B77D6E185B}"/>
              </a:ext>
            </a:extLst>
          </p:cNvPr>
          <p:cNvSpPr>
            <a:spLocks noGrp="1"/>
          </p:cNvSpPr>
          <p:nvPr>
            <p:ph type="title"/>
          </p:nvPr>
        </p:nvSpPr>
        <p:spPr>
          <a:xfrm>
            <a:off x="0" y="0"/>
            <a:ext cx="9690902" cy="804155"/>
          </a:xfrm>
          <a:solidFill>
            <a:srgbClr val="218317"/>
          </a:solidFill>
        </p:spPr>
        <p:txBody>
          <a:bodyPr>
            <a:normAutofit fontScale="90000"/>
          </a:bodyPr>
          <a:lstStyle/>
          <a:p>
            <a:r>
              <a:rPr lang="es-ES" sz="3200" b="1" dirty="0">
                <a:solidFill>
                  <a:schemeClr val="bg1"/>
                </a:solidFill>
                <a:latin typeface="Helvetica" panose="020B0604020202020204" pitchFamily="34" charset="0"/>
                <a:cs typeface="Helvetica" panose="020B0604020202020204" pitchFamily="34" charset="0"/>
              </a:rPr>
              <a:t>	</a:t>
            </a:r>
            <a:r>
              <a:rPr lang="es-ES" sz="3200" b="1" dirty="0" err="1">
                <a:solidFill>
                  <a:schemeClr val="bg1"/>
                </a:solidFill>
                <a:latin typeface="Helvetica" panose="020B0604020202020204" pitchFamily="34" charset="0"/>
                <a:cs typeface="Helvetica" panose="020B0604020202020204" pitchFamily="34" charset="0"/>
              </a:rPr>
              <a:t>Complementary</a:t>
            </a:r>
            <a:r>
              <a:rPr lang="es-ES" sz="3200" b="1" dirty="0">
                <a:solidFill>
                  <a:schemeClr val="bg1"/>
                </a:solidFill>
                <a:latin typeface="Helvetica" panose="020B0604020202020204" pitchFamily="34" charset="0"/>
                <a:cs typeface="Helvetica" panose="020B0604020202020204" pitchFamily="34" charset="0"/>
              </a:rPr>
              <a:t> </a:t>
            </a:r>
            <a:r>
              <a:rPr lang="es-ES" sz="3200" b="1" dirty="0" err="1">
                <a:solidFill>
                  <a:schemeClr val="bg1"/>
                </a:solidFill>
                <a:latin typeface="Helvetica" panose="020B0604020202020204" pitchFamily="34" charset="0"/>
                <a:cs typeface="Helvetica" panose="020B0604020202020204" pitchFamily="34" charset="0"/>
              </a:rPr>
              <a:t>strategies</a:t>
            </a:r>
            <a:r>
              <a:rPr lang="es-ES" sz="3200" b="1" dirty="0">
                <a:solidFill>
                  <a:schemeClr val="bg1"/>
                </a:solidFill>
                <a:latin typeface="Helvetica" panose="020B0604020202020204" pitchFamily="34" charset="0"/>
                <a:cs typeface="Helvetica" panose="020B0604020202020204" pitchFamily="34" charset="0"/>
              </a:rPr>
              <a:t> </a:t>
            </a:r>
            <a:r>
              <a:rPr lang="es-ES" sz="3200" b="1" dirty="0" err="1">
                <a:solidFill>
                  <a:schemeClr val="bg1"/>
                </a:solidFill>
                <a:latin typeface="Helvetica" panose="020B0604020202020204" pitchFamily="34" charset="0"/>
                <a:cs typeface="Helvetica" panose="020B0604020202020204" pitchFamily="34" charset="0"/>
              </a:rPr>
              <a:t>to</a:t>
            </a:r>
            <a:r>
              <a:rPr lang="es-ES" sz="3200" b="1" dirty="0">
                <a:solidFill>
                  <a:schemeClr val="bg1"/>
                </a:solidFill>
                <a:latin typeface="Helvetica" panose="020B0604020202020204" pitchFamily="34" charset="0"/>
                <a:cs typeface="Helvetica" panose="020B0604020202020204" pitchFamily="34" charset="0"/>
              </a:rPr>
              <a:t> cope </a:t>
            </a:r>
            <a:r>
              <a:rPr lang="es-ES" sz="3200" b="1" dirty="0" err="1">
                <a:solidFill>
                  <a:schemeClr val="bg1"/>
                </a:solidFill>
                <a:latin typeface="Helvetica" panose="020B0604020202020204" pitchFamily="34" charset="0"/>
                <a:cs typeface="Helvetica" panose="020B0604020202020204" pitchFamily="34" charset="0"/>
              </a:rPr>
              <a:t>with</a:t>
            </a:r>
            <a:r>
              <a:rPr lang="es-ES" sz="3200" b="1" dirty="0">
                <a:solidFill>
                  <a:schemeClr val="bg1"/>
                </a:solidFill>
                <a:latin typeface="Helvetica" panose="020B0604020202020204" pitchFamily="34" charset="0"/>
                <a:cs typeface="Helvetica" panose="020B0604020202020204" pitchFamily="34" charset="0"/>
              </a:rPr>
              <a:t> </a:t>
            </a:r>
            <a:r>
              <a:rPr lang="es-ES" sz="3200" b="1" dirty="0" err="1">
                <a:solidFill>
                  <a:schemeClr val="bg1"/>
                </a:solidFill>
                <a:latin typeface="Helvetica" panose="020B0604020202020204" pitchFamily="34" charset="0"/>
                <a:cs typeface="Helvetica" panose="020B0604020202020204" pitchFamily="34" charset="0"/>
              </a:rPr>
              <a:t>drought</a:t>
            </a:r>
            <a:endParaRPr lang="es-ES" sz="3200" b="1" dirty="0">
              <a:solidFill>
                <a:schemeClr val="bg1"/>
              </a:solidFill>
              <a:latin typeface="Helvetica" panose="020B0604020202020204" pitchFamily="34" charset="0"/>
              <a:cs typeface="Helvetica" panose="020B0604020202020204" pitchFamily="34" charset="0"/>
            </a:endParaRPr>
          </a:p>
        </p:txBody>
      </p:sp>
      <p:sp>
        <p:nvSpPr>
          <p:cNvPr id="2" name="Título 1">
            <a:extLst>
              <a:ext uri="{FF2B5EF4-FFF2-40B4-BE49-F238E27FC236}">
                <a16:creationId xmlns:a16="http://schemas.microsoft.com/office/drawing/2014/main" id="{5FD6C056-DBDC-9051-F928-683EDD585946}"/>
              </a:ext>
            </a:extLst>
          </p:cNvPr>
          <p:cNvSpPr txBox="1">
            <a:spLocks/>
          </p:cNvSpPr>
          <p:nvPr/>
        </p:nvSpPr>
        <p:spPr>
          <a:xfrm>
            <a:off x="9690902" y="-1"/>
            <a:ext cx="2501098" cy="804157"/>
          </a:xfrm>
          <a:prstGeom prst="rect">
            <a:avLst/>
          </a:prstGeom>
          <a:solidFill>
            <a:srgbClr val="218317"/>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s-ES" sz="2800" b="1" dirty="0" err="1">
                <a:solidFill>
                  <a:schemeClr val="accent6">
                    <a:lumMod val="60000"/>
                    <a:lumOff val="40000"/>
                  </a:schemeClr>
                </a:solidFill>
                <a:latin typeface="Helvetica" panose="020B0604020202020204" pitchFamily="34" charset="0"/>
                <a:cs typeface="Helvetica" panose="020B0604020202020204" pitchFamily="34" charset="0"/>
              </a:rPr>
              <a:t>Introduction</a:t>
            </a:r>
            <a:r>
              <a:rPr lang="es-ES" sz="2800" b="1" dirty="0">
                <a:solidFill>
                  <a:srgbClr val="218317"/>
                </a:solidFill>
                <a:latin typeface="Helvetica" panose="020B0604020202020204" pitchFamily="34" charset="0"/>
                <a:cs typeface="Helvetica" panose="020B0604020202020204" pitchFamily="34" charset="0"/>
              </a:rPr>
              <a:t>.</a:t>
            </a:r>
          </a:p>
        </p:txBody>
      </p:sp>
    </p:spTree>
    <p:extLst>
      <p:ext uri="{BB962C8B-B14F-4D97-AF65-F5344CB8AC3E}">
        <p14:creationId xmlns:p14="http://schemas.microsoft.com/office/powerpoint/2010/main" val="18660450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6A73EF-7B15-F991-0F51-AB7AB29CEC05}"/>
            </a:ext>
          </a:extLst>
        </p:cNvPr>
        <p:cNvGrpSpPr/>
        <p:nvPr/>
      </p:nvGrpSpPr>
      <p:grpSpPr>
        <a:xfrm>
          <a:off x="0" y="0"/>
          <a:ext cx="0" cy="0"/>
          <a:chOff x="0" y="0"/>
          <a:chExt cx="0" cy="0"/>
        </a:xfrm>
      </p:grpSpPr>
      <p:sp>
        <p:nvSpPr>
          <p:cNvPr id="47" name="Marcador de contenido 2">
            <a:extLst>
              <a:ext uri="{FF2B5EF4-FFF2-40B4-BE49-F238E27FC236}">
                <a16:creationId xmlns:a16="http://schemas.microsoft.com/office/drawing/2014/main" id="{69BF10B0-3121-99E5-815A-1C06E91AFCD7}"/>
              </a:ext>
            </a:extLst>
          </p:cNvPr>
          <p:cNvSpPr txBox="1">
            <a:spLocks/>
          </p:cNvSpPr>
          <p:nvPr/>
        </p:nvSpPr>
        <p:spPr>
          <a:xfrm>
            <a:off x="873964" y="999063"/>
            <a:ext cx="10733318" cy="577811"/>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b="1" dirty="0" err="1">
                <a:latin typeface="Helvetica"/>
                <a:cs typeface="Helvetica"/>
              </a:rPr>
              <a:t>Physiological</a:t>
            </a:r>
            <a:r>
              <a:rPr lang="es-ES" b="1" dirty="0">
                <a:latin typeface="Helvetica"/>
                <a:cs typeface="Helvetica"/>
              </a:rPr>
              <a:t> </a:t>
            </a:r>
            <a:r>
              <a:rPr lang="es-ES" b="1" dirty="0" err="1">
                <a:latin typeface="Helvetica"/>
                <a:cs typeface="Helvetica"/>
              </a:rPr>
              <a:t>traits</a:t>
            </a:r>
            <a:endParaRPr lang="es-ES" dirty="0"/>
          </a:p>
          <a:p>
            <a:pPr marL="0" indent="0">
              <a:buClr>
                <a:srgbClr val="218317"/>
              </a:buClr>
              <a:buNone/>
            </a:pPr>
            <a:endParaRPr lang="es-ES" b="1" dirty="0">
              <a:latin typeface="Helvetica" panose="020B0604020202020204" pitchFamily="34" charset="0"/>
              <a:cs typeface="Helvetica" panose="020B0604020202020204" pitchFamily="34" charset="0"/>
            </a:endParaRPr>
          </a:p>
        </p:txBody>
      </p:sp>
      <p:sp>
        <p:nvSpPr>
          <p:cNvPr id="59" name="Marcador de contenido 2">
            <a:extLst>
              <a:ext uri="{FF2B5EF4-FFF2-40B4-BE49-F238E27FC236}">
                <a16:creationId xmlns:a16="http://schemas.microsoft.com/office/drawing/2014/main" id="{A631800C-35AA-3E52-2E97-DBC89B49B27C}"/>
              </a:ext>
            </a:extLst>
          </p:cNvPr>
          <p:cNvSpPr txBox="1">
            <a:spLocks/>
          </p:cNvSpPr>
          <p:nvPr/>
        </p:nvSpPr>
        <p:spPr>
          <a:xfrm>
            <a:off x="873964" y="1766109"/>
            <a:ext cx="940058" cy="4092828"/>
          </a:xfrm>
          <a:prstGeom prst="rect">
            <a:avLst/>
          </a:prstGeom>
          <a:solidFill>
            <a:srgbClr val="C00000"/>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endParaRPr lang="es-ES">
              <a:solidFill>
                <a:schemeClr val="bg1"/>
              </a:solidFill>
            </a:endParaRPr>
          </a:p>
          <a:p>
            <a:pPr marL="0" indent="0" algn="ctr">
              <a:buNone/>
            </a:pPr>
            <a:endParaRPr lang="es-ES" sz="2000" b="1">
              <a:solidFill>
                <a:schemeClr val="bg1"/>
              </a:solidFill>
              <a:latin typeface="Helvetica"/>
              <a:cs typeface="Helvetica"/>
            </a:endParaRPr>
          </a:p>
        </p:txBody>
      </p:sp>
      <p:sp>
        <p:nvSpPr>
          <p:cNvPr id="3" name="Marcador de contenido 2">
            <a:extLst>
              <a:ext uri="{FF2B5EF4-FFF2-40B4-BE49-F238E27FC236}">
                <a16:creationId xmlns:a16="http://schemas.microsoft.com/office/drawing/2014/main" id="{2DBEB9F0-FAF6-9C8D-E5AA-1B0C26144440}"/>
              </a:ext>
            </a:extLst>
          </p:cNvPr>
          <p:cNvSpPr txBox="1">
            <a:spLocks/>
          </p:cNvSpPr>
          <p:nvPr/>
        </p:nvSpPr>
        <p:spPr>
          <a:xfrm>
            <a:off x="4282027" y="1766109"/>
            <a:ext cx="940058" cy="4092828"/>
          </a:xfrm>
          <a:prstGeom prst="rect">
            <a:avLst/>
          </a:prstGeom>
          <a:solidFill>
            <a:srgbClr val="2F5597"/>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endParaRPr lang="es-ES" sz="2000" b="1">
              <a:solidFill>
                <a:schemeClr val="bg1"/>
              </a:solidFill>
              <a:latin typeface="Helvetica"/>
              <a:cs typeface="Helvetica"/>
            </a:endParaRPr>
          </a:p>
          <a:p>
            <a:pPr marL="0" indent="0" algn="ctr">
              <a:buNone/>
            </a:pPr>
            <a:endParaRPr lang="es-ES" sz="2400" b="1">
              <a:solidFill>
                <a:schemeClr val="bg1"/>
              </a:solidFill>
              <a:latin typeface="Helvetica"/>
              <a:cs typeface="Helvetica"/>
            </a:endParaRPr>
          </a:p>
          <a:p>
            <a:pPr marL="0" indent="0" algn="ctr">
              <a:buNone/>
            </a:pPr>
            <a:endParaRPr lang="es-ES" sz="2400" b="1">
              <a:solidFill>
                <a:schemeClr val="bg1"/>
              </a:solidFill>
              <a:latin typeface="Helvetica"/>
              <a:cs typeface="Helvetica"/>
            </a:endParaRPr>
          </a:p>
          <a:p>
            <a:pPr marL="0" indent="0" algn="ctr">
              <a:buNone/>
            </a:pPr>
            <a:endParaRPr lang="es-ES" sz="2400" b="1">
              <a:solidFill>
                <a:schemeClr val="bg1"/>
              </a:solidFill>
              <a:latin typeface="Helvetica"/>
              <a:cs typeface="Helvetica"/>
            </a:endParaRPr>
          </a:p>
          <a:p>
            <a:pPr marL="0" indent="0" algn="ctr">
              <a:buNone/>
            </a:pPr>
            <a:endParaRPr lang="es-ES" sz="2000" b="1">
              <a:solidFill>
                <a:schemeClr val="bg1"/>
              </a:solidFill>
              <a:latin typeface="Helvetica" panose="020B0604020202020204" pitchFamily="34" charset="0"/>
              <a:cs typeface="Helvetica" panose="020B0604020202020204" pitchFamily="34" charset="0"/>
            </a:endParaRPr>
          </a:p>
        </p:txBody>
      </p:sp>
      <p:sp>
        <p:nvSpPr>
          <p:cNvPr id="8" name="Marcador de contenido 2">
            <a:extLst>
              <a:ext uri="{FF2B5EF4-FFF2-40B4-BE49-F238E27FC236}">
                <a16:creationId xmlns:a16="http://schemas.microsoft.com/office/drawing/2014/main" id="{4FB3DCF9-52CA-B7EF-7848-E7A37B38A908}"/>
              </a:ext>
            </a:extLst>
          </p:cNvPr>
          <p:cNvSpPr txBox="1">
            <a:spLocks/>
          </p:cNvSpPr>
          <p:nvPr/>
        </p:nvSpPr>
        <p:spPr>
          <a:xfrm>
            <a:off x="2041437" y="1928244"/>
            <a:ext cx="2061466" cy="987420"/>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s-ES" sz="2400" b="1" dirty="0" err="1">
                <a:latin typeface="Helvetica"/>
                <a:cs typeface="Helvetica"/>
              </a:rPr>
              <a:t>Chlorophylls</a:t>
            </a:r>
            <a:endParaRPr lang="es-ES" sz="2400" b="1" dirty="0">
              <a:latin typeface="Helvetica" panose="020B0604020202020204"/>
              <a:cs typeface="Helvetica" panose="020B0604020202020204"/>
            </a:endParaRPr>
          </a:p>
          <a:p>
            <a:pPr marL="0" indent="0" algn="ctr">
              <a:buClr>
                <a:srgbClr val="218317"/>
              </a:buClr>
              <a:buNone/>
            </a:pPr>
            <a:endParaRPr lang="es-ES" sz="2400" b="1" dirty="0">
              <a:latin typeface="Helvetica" panose="020B0604020202020204" pitchFamily="34" charset="0"/>
              <a:cs typeface="Helvetica" panose="020B0604020202020204" pitchFamily="34" charset="0"/>
            </a:endParaRPr>
          </a:p>
        </p:txBody>
      </p:sp>
      <p:sp>
        <p:nvSpPr>
          <p:cNvPr id="11" name="Marcador de contenido 2">
            <a:extLst>
              <a:ext uri="{FF2B5EF4-FFF2-40B4-BE49-F238E27FC236}">
                <a16:creationId xmlns:a16="http://schemas.microsoft.com/office/drawing/2014/main" id="{395DAA7E-9761-75A8-6F4F-8AEBC6C097D3}"/>
              </a:ext>
            </a:extLst>
          </p:cNvPr>
          <p:cNvSpPr txBox="1">
            <a:spLocks/>
          </p:cNvSpPr>
          <p:nvPr/>
        </p:nvSpPr>
        <p:spPr>
          <a:xfrm>
            <a:off x="2122539" y="2785616"/>
            <a:ext cx="1899262" cy="398526"/>
          </a:xfrm>
          <a:prstGeom prst="rect">
            <a:avLst/>
          </a:prstGeom>
        </p:spPr>
        <p:txBody>
          <a:bodyPr vert="horz" lIns="91440" tIns="45720" rIns="91440" bIns="45720" rtlCol="0" anchor="t">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s-ES" sz="2400" b="1" dirty="0" err="1">
                <a:latin typeface="Helvetica"/>
                <a:cs typeface="Helvetica"/>
              </a:rPr>
              <a:t>Carotenoids</a:t>
            </a:r>
            <a:endParaRPr lang="es-ES" sz="2400" dirty="0"/>
          </a:p>
          <a:p>
            <a:pPr marL="0" indent="0" algn="ctr">
              <a:buClr>
                <a:srgbClr val="218317"/>
              </a:buClr>
              <a:buNone/>
            </a:pPr>
            <a:endParaRPr lang="es-ES" sz="2400" b="1" dirty="0">
              <a:latin typeface="Helvetica" panose="020B0604020202020204" pitchFamily="34" charset="0"/>
              <a:cs typeface="Helvetica" panose="020B0604020202020204" pitchFamily="34" charset="0"/>
            </a:endParaRPr>
          </a:p>
        </p:txBody>
      </p:sp>
      <p:sp>
        <p:nvSpPr>
          <p:cNvPr id="12" name="Marcador de contenido 2">
            <a:extLst>
              <a:ext uri="{FF2B5EF4-FFF2-40B4-BE49-F238E27FC236}">
                <a16:creationId xmlns:a16="http://schemas.microsoft.com/office/drawing/2014/main" id="{840D9016-DF94-2920-15C7-B6DAF9346E8A}"/>
              </a:ext>
            </a:extLst>
          </p:cNvPr>
          <p:cNvSpPr txBox="1">
            <a:spLocks/>
          </p:cNvSpPr>
          <p:nvPr/>
        </p:nvSpPr>
        <p:spPr>
          <a:xfrm>
            <a:off x="2160035" y="3663339"/>
            <a:ext cx="1769862" cy="398526"/>
          </a:xfrm>
          <a:prstGeom prst="rect">
            <a:avLst/>
          </a:prstGeom>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s-ES" sz="2400" b="1" dirty="0">
                <a:latin typeface="Helvetica"/>
                <a:cs typeface="Helvetica"/>
              </a:rPr>
              <a:t>LWC</a:t>
            </a:r>
            <a:endParaRPr lang="es-ES" sz="2400" dirty="0"/>
          </a:p>
          <a:p>
            <a:pPr marL="0" indent="0" algn="ctr">
              <a:buClr>
                <a:srgbClr val="218317"/>
              </a:buClr>
              <a:buNone/>
            </a:pPr>
            <a:endParaRPr lang="es-ES" sz="2400" b="1" dirty="0">
              <a:latin typeface="Helvetica" panose="020B0604020202020204" pitchFamily="34" charset="0"/>
              <a:cs typeface="Helvetica" panose="020B0604020202020204" pitchFamily="34" charset="0"/>
            </a:endParaRPr>
          </a:p>
        </p:txBody>
      </p:sp>
      <p:sp>
        <p:nvSpPr>
          <p:cNvPr id="13" name="Marcador de contenido 2">
            <a:extLst>
              <a:ext uri="{FF2B5EF4-FFF2-40B4-BE49-F238E27FC236}">
                <a16:creationId xmlns:a16="http://schemas.microsoft.com/office/drawing/2014/main" id="{F597052C-6720-35C2-9334-749391532AC8}"/>
              </a:ext>
            </a:extLst>
          </p:cNvPr>
          <p:cNvSpPr txBox="1">
            <a:spLocks/>
          </p:cNvSpPr>
          <p:nvPr/>
        </p:nvSpPr>
        <p:spPr>
          <a:xfrm>
            <a:off x="873963" y="1971900"/>
            <a:ext cx="940057" cy="398526"/>
          </a:xfrm>
          <a:prstGeom prst="rect">
            <a:avLst/>
          </a:prstGeom>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s-ES" sz="2400" b="1">
                <a:solidFill>
                  <a:schemeClr val="bg1"/>
                </a:solidFill>
                <a:latin typeface="Helvetica"/>
                <a:cs typeface="Helvetica"/>
              </a:rPr>
              <a:t>↓</a:t>
            </a:r>
            <a:endParaRPr lang="es-ES" sz="2400" b="1">
              <a:solidFill>
                <a:schemeClr val="bg1"/>
              </a:solidFill>
            </a:endParaRPr>
          </a:p>
          <a:p>
            <a:pPr marL="0" indent="0" algn="ctr">
              <a:buClr>
                <a:srgbClr val="218317"/>
              </a:buClr>
              <a:buNone/>
            </a:pPr>
            <a:endParaRPr lang="es-ES" sz="2400" b="1">
              <a:solidFill>
                <a:schemeClr val="bg1"/>
              </a:solidFill>
              <a:latin typeface="Helvetica" panose="020B0604020202020204" pitchFamily="34" charset="0"/>
              <a:cs typeface="Helvetica" panose="020B0604020202020204" pitchFamily="34" charset="0"/>
            </a:endParaRPr>
          </a:p>
        </p:txBody>
      </p:sp>
      <p:sp>
        <p:nvSpPr>
          <p:cNvPr id="14" name="Marcador de contenido 2">
            <a:extLst>
              <a:ext uri="{FF2B5EF4-FFF2-40B4-BE49-F238E27FC236}">
                <a16:creationId xmlns:a16="http://schemas.microsoft.com/office/drawing/2014/main" id="{C1B6F6CD-EEF8-AAB6-2FD3-B80317C88413}"/>
              </a:ext>
            </a:extLst>
          </p:cNvPr>
          <p:cNvSpPr txBox="1">
            <a:spLocks/>
          </p:cNvSpPr>
          <p:nvPr/>
        </p:nvSpPr>
        <p:spPr>
          <a:xfrm>
            <a:off x="5986468" y="1928244"/>
            <a:ext cx="5331566" cy="398526"/>
          </a:xfrm>
          <a:prstGeom prst="rect">
            <a:avLst/>
          </a:prstGeom>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sz="2400" dirty="0" err="1">
                <a:latin typeface="Helvetica"/>
                <a:cs typeface="Helvetica"/>
              </a:rPr>
              <a:t>Synthesis</a:t>
            </a:r>
            <a:r>
              <a:rPr lang="es-ES" sz="2400" dirty="0">
                <a:latin typeface="Helvetica"/>
                <a:cs typeface="Helvetica"/>
              </a:rPr>
              <a:t> </a:t>
            </a:r>
            <a:r>
              <a:rPr lang="es-ES" sz="2400" dirty="0" err="1">
                <a:latin typeface="Helvetica"/>
                <a:cs typeface="Helvetica"/>
              </a:rPr>
              <a:t>downregulation</a:t>
            </a:r>
            <a:r>
              <a:rPr lang="es-ES" sz="2400" dirty="0">
                <a:latin typeface="Helvetica"/>
                <a:cs typeface="Helvetica"/>
              </a:rPr>
              <a:t>, ROS</a:t>
            </a:r>
            <a:endParaRPr lang="es-ES" sz="2400" dirty="0"/>
          </a:p>
          <a:p>
            <a:pPr marL="0" indent="0">
              <a:buClr>
                <a:srgbClr val="218317"/>
              </a:buClr>
              <a:buNone/>
            </a:pPr>
            <a:endParaRPr lang="es-ES" sz="2400" dirty="0">
              <a:latin typeface="Helvetica" panose="020B0604020202020204" pitchFamily="34" charset="0"/>
              <a:cs typeface="Helvetica" panose="020B0604020202020204" pitchFamily="34" charset="0"/>
            </a:endParaRPr>
          </a:p>
        </p:txBody>
      </p:sp>
      <p:sp>
        <p:nvSpPr>
          <p:cNvPr id="16" name="Marcador de contenido 2">
            <a:extLst>
              <a:ext uri="{FF2B5EF4-FFF2-40B4-BE49-F238E27FC236}">
                <a16:creationId xmlns:a16="http://schemas.microsoft.com/office/drawing/2014/main" id="{9CAEA58C-9201-03E7-3446-13B1B0B0534A}"/>
              </a:ext>
            </a:extLst>
          </p:cNvPr>
          <p:cNvSpPr txBox="1">
            <a:spLocks/>
          </p:cNvSpPr>
          <p:nvPr/>
        </p:nvSpPr>
        <p:spPr>
          <a:xfrm>
            <a:off x="4282028" y="1971900"/>
            <a:ext cx="940057" cy="398526"/>
          </a:xfrm>
          <a:prstGeom prst="rect">
            <a:avLst/>
          </a:prstGeom>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s-ES" sz="2400" b="1">
                <a:solidFill>
                  <a:schemeClr val="bg1"/>
                </a:solidFill>
                <a:latin typeface="Helvetica"/>
                <a:cs typeface="Helvetica"/>
              </a:rPr>
              <a:t>↑ </a:t>
            </a:r>
            <a:endParaRPr lang="es-ES" sz="2400" b="1">
              <a:solidFill>
                <a:schemeClr val="bg1"/>
              </a:solidFill>
            </a:endParaRPr>
          </a:p>
          <a:p>
            <a:pPr marL="0" indent="0" algn="ctr">
              <a:buClr>
                <a:srgbClr val="218317"/>
              </a:buClr>
              <a:buNone/>
            </a:pPr>
            <a:endParaRPr lang="es-ES" sz="2400" b="1">
              <a:solidFill>
                <a:schemeClr val="bg1"/>
              </a:solidFill>
              <a:latin typeface="Helvetica" panose="020B0604020202020204" pitchFamily="34" charset="0"/>
              <a:cs typeface="Helvetica" panose="020B0604020202020204" pitchFamily="34" charset="0"/>
            </a:endParaRPr>
          </a:p>
        </p:txBody>
      </p:sp>
      <p:sp>
        <p:nvSpPr>
          <p:cNvPr id="17" name="Marcador de contenido 2">
            <a:extLst>
              <a:ext uri="{FF2B5EF4-FFF2-40B4-BE49-F238E27FC236}">
                <a16:creationId xmlns:a16="http://schemas.microsoft.com/office/drawing/2014/main" id="{D847C064-1863-310D-57E5-8740E8338115}"/>
              </a:ext>
            </a:extLst>
          </p:cNvPr>
          <p:cNvSpPr txBox="1">
            <a:spLocks/>
          </p:cNvSpPr>
          <p:nvPr/>
        </p:nvSpPr>
        <p:spPr>
          <a:xfrm>
            <a:off x="873962" y="2803595"/>
            <a:ext cx="940060" cy="398526"/>
          </a:xfrm>
          <a:prstGeom prst="rect">
            <a:avLst/>
          </a:prstGeom>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s-ES" sz="2400" b="1" dirty="0">
                <a:solidFill>
                  <a:schemeClr val="bg1"/>
                </a:solidFill>
                <a:latin typeface="Helvetica"/>
                <a:cs typeface="Helvetica"/>
              </a:rPr>
              <a:t>↑</a:t>
            </a:r>
            <a:endParaRPr lang="es-ES" sz="2400" b="1" dirty="0">
              <a:solidFill>
                <a:schemeClr val="bg1"/>
              </a:solidFill>
            </a:endParaRPr>
          </a:p>
          <a:p>
            <a:pPr marL="0" indent="0" algn="ctr">
              <a:buClr>
                <a:srgbClr val="218317"/>
              </a:buClr>
              <a:buNone/>
            </a:pPr>
            <a:endParaRPr lang="es-ES" sz="2400" b="1" dirty="0">
              <a:solidFill>
                <a:schemeClr val="bg1"/>
              </a:solidFill>
              <a:latin typeface="Helvetica" panose="020B0604020202020204" pitchFamily="34" charset="0"/>
              <a:cs typeface="Helvetica" panose="020B0604020202020204" pitchFamily="34" charset="0"/>
            </a:endParaRPr>
          </a:p>
        </p:txBody>
      </p:sp>
      <p:sp>
        <p:nvSpPr>
          <p:cNvPr id="18" name="Marcador de contenido 2">
            <a:extLst>
              <a:ext uri="{FF2B5EF4-FFF2-40B4-BE49-F238E27FC236}">
                <a16:creationId xmlns:a16="http://schemas.microsoft.com/office/drawing/2014/main" id="{A054AE69-A430-DCA1-1271-E3C76BFAFFBE}"/>
              </a:ext>
            </a:extLst>
          </p:cNvPr>
          <p:cNvSpPr txBox="1">
            <a:spLocks/>
          </p:cNvSpPr>
          <p:nvPr/>
        </p:nvSpPr>
        <p:spPr>
          <a:xfrm>
            <a:off x="873962" y="3666869"/>
            <a:ext cx="940057" cy="398526"/>
          </a:xfrm>
          <a:prstGeom prst="rect">
            <a:avLst/>
          </a:prstGeom>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Clr>
                <a:srgbClr val="218317"/>
              </a:buClr>
              <a:buNone/>
            </a:pPr>
            <a:r>
              <a:rPr lang="es-ES" sz="2400" b="1" dirty="0">
                <a:solidFill>
                  <a:schemeClr val="bg1"/>
                </a:solidFill>
                <a:latin typeface="Helvetica"/>
                <a:cs typeface="Helvetica"/>
              </a:rPr>
              <a:t>↓</a:t>
            </a:r>
            <a:endParaRPr lang="es-ES" sz="2400" b="1" dirty="0">
              <a:solidFill>
                <a:schemeClr val="bg1"/>
              </a:solidFill>
              <a:latin typeface="Helvetica" panose="020B0604020202020204" pitchFamily="34" charset="0"/>
              <a:cs typeface="Helvetica" panose="020B0604020202020204" pitchFamily="34" charset="0"/>
            </a:endParaRPr>
          </a:p>
        </p:txBody>
      </p:sp>
      <p:sp>
        <p:nvSpPr>
          <p:cNvPr id="19" name="Marcador de contenido 2">
            <a:extLst>
              <a:ext uri="{FF2B5EF4-FFF2-40B4-BE49-F238E27FC236}">
                <a16:creationId xmlns:a16="http://schemas.microsoft.com/office/drawing/2014/main" id="{62DBD870-7D82-F95E-8E48-CF1B3A28BFAA}"/>
              </a:ext>
            </a:extLst>
          </p:cNvPr>
          <p:cNvSpPr txBox="1">
            <a:spLocks/>
          </p:cNvSpPr>
          <p:nvPr/>
        </p:nvSpPr>
        <p:spPr>
          <a:xfrm>
            <a:off x="4278968" y="2804278"/>
            <a:ext cx="940057" cy="398526"/>
          </a:xfrm>
          <a:prstGeom prst="rect">
            <a:avLst/>
          </a:prstGeom>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s-ES" sz="2400" b="1" dirty="0">
                <a:solidFill>
                  <a:schemeClr val="bg1"/>
                </a:solidFill>
                <a:latin typeface="Helvetica"/>
                <a:cs typeface="Helvetica"/>
              </a:rPr>
              <a:t>↓ </a:t>
            </a:r>
            <a:endParaRPr lang="es-ES" sz="2400" b="1" dirty="0">
              <a:solidFill>
                <a:schemeClr val="bg1"/>
              </a:solidFill>
            </a:endParaRPr>
          </a:p>
          <a:p>
            <a:pPr marL="0" indent="0" algn="ctr">
              <a:buClr>
                <a:srgbClr val="218317"/>
              </a:buClr>
              <a:buNone/>
            </a:pPr>
            <a:endParaRPr lang="es-ES" sz="2400" b="1" dirty="0">
              <a:solidFill>
                <a:schemeClr val="bg1"/>
              </a:solidFill>
              <a:latin typeface="Helvetica" panose="020B0604020202020204" pitchFamily="34" charset="0"/>
              <a:cs typeface="Helvetica" panose="020B0604020202020204" pitchFamily="34" charset="0"/>
            </a:endParaRPr>
          </a:p>
        </p:txBody>
      </p:sp>
      <p:sp>
        <p:nvSpPr>
          <p:cNvPr id="20" name="Marcador de contenido 2">
            <a:extLst>
              <a:ext uri="{FF2B5EF4-FFF2-40B4-BE49-F238E27FC236}">
                <a16:creationId xmlns:a16="http://schemas.microsoft.com/office/drawing/2014/main" id="{6B6AD282-56F2-C16E-8A86-31C17E962A34}"/>
              </a:ext>
            </a:extLst>
          </p:cNvPr>
          <p:cNvSpPr txBox="1">
            <a:spLocks/>
          </p:cNvSpPr>
          <p:nvPr/>
        </p:nvSpPr>
        <p:spPr>
          <a:xfrm>
            <a:off x="4278967" y="3663339"/>
            <a:ext cx="940057" cy="398526"/>
          </a:xfrm>
          <a:prstGeom prst="rect">
            <a:avLst/>
          </a:prstGeom>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s-ES" sz="2400" b="1" dirty="0">
                <a:solidFill>
                  <a:schemeClr val="bg1"/>
                </a:solidFill>
                <a:latin typeface="Helvetica"/>
                <a:cs typeface="Helvetica"/>
              </a:rPr>
              <a:t>↑ </a:t>
            </a:r>
            <a:endParaRPr lang="es-ES" sz="2400" b="1" dirty="0">
              <a:solidFill>
                <a:schemeClr val="bg1"/>
              </a:solidFill>
            </a:endParaRPr>
          </a:p>
          <a:p>
            <a:pPr marL="0" indent="0" algn="ctr">
              <a:buClr>
                <a:srgbClr val="218317"/>
              </a:buClr>
              <a:buNone/>
            </a:pPr>
            <a:endParaRPr lang="es-ES" sz="2400" b="1" dirty="0">
              <a:solidFill>
                <a:schemeClr val="bg1"/>
              </a:solidFill>
              <a:latin typeface="Helvetica" panose="020B0604020202020204" pitchFamily="34" charset="0"/>
              <a:cs typeface="Helvetica" panose="020B0604020202020204" pitchFamily="34" charset="0"/>
            </a:endParaRPr>
          </a:p>
        </p:txBody>
      </p:sp>
      <p:sp>
        <p:nvSpPr>
          <p:cNvPr id="23" name="Marcador de contenido 2">
            <a:extLst>
              <a:ext uri="{FF2B5EF4-FFF2-40B4-BE49-F238E27FC236}">
                <a16:creationId xmlns:a16="http://schemas.microsoft.com/office/drawing/2014/main" id="{B0896316-86B6-BC4A-4EAE-D653B4EC80FD}"/>
              </a:ext>
            </a:extLst>
          </p:cNvPr>
          <p:cNvSpPr txBox="1">
            <a:spLocks/>
          </p:cNvSpPr>
          <p:nvPr/>
        </p:nvSpPr>
        <p:spPr>
          <a:xfrm>
            <a:off x="870903" y="4527548"/>
            <a:ext cx="940060" cy="398526"/>
          </a:xfrm>
          <a:prstGeom prst="rect">
            <a:avLst/>
          </a:prstGeom>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Clr>
                <a:srgbClr val="218317"/>
              </a:buClr>
              <a:buNone/>
            </a:pPr>
            <a:endParaRPr lang="es-ES" sz="2400" b="1" dirty="0">
              <a:solidFill>
                <a:schemeClr val="bg1"/>
              </a:solidFill>
              <a:latin typeface="Helvetica" panose="020B0604020202020204" pitchFamily="34" charset="0"/>
              <a:cs typeface="Helvetica" panose="020B0604020202020204" pitchFamily="34" charset="0"/>
            </a:endParaRPr>
          </a:p>
        </p:txBody>
      </p:sp>
      <p:sp>
        <p:nvSpPr>
          <p:cNvPr id="25" name="Marcador de contenido 2">
            <a:extLst>
              <a:ext uri="{FF2B5EF4-FFF2-40B4-BE49-F238E27FC236}">
                <a16:creationId xmlns:a16="http://schemas.microsoft.com/office/drawing/2014/main" id="{77F0FC36-3F47-9F8B-A741-057F9E7F9F01}"/>
              </a:ext>
            </a:extLst>
          </p:cNvPr>
          <p:cNvSpPr txBox="1">
            <a:spLocks/>
          </p:cNvSpPr>
          <p:nvPr/>
        </p:nvSpPr>
        <p:spPr>
          <a:xfrm>
            <a:off x="5982998" y="2802389"/>
            <a:ext cx="4855701" cy="611324"/>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sz="2400" dirty="0" err="1">
                <a:latin typeface="Helvetica"/>
                <a:cs typeface="Helvetica"/>
              </a:rPr>
              <a:t>Photoprotection</a:t>
            </a:r>
            <a:endParaRPr lang="es-ES" sz="2400" dirty="0"/>
          </a:p>
        </p:txBody>
      </p:sp>
      <p:sp>
        <p:nvSpPr>
          <p:cNvPr id="26" name="Marcador de contenido 2">
            <a:extLst>
              <a:ext uri="{FF2B5EF4-FFF2-40B4-BE49-F238E27FC236}">
                <a16:creationId xmlns:a16="http://schemas.microsoft.com/office/drawing/2014/main" id="{95DD16AE-215B-780B-3EC4-D73EB5EDBE76}"/>
              </a:ext>
            </a:extLst>
          </p:cNvPr>
          <p:cNvSpPr txBox="1">
            <a:spLocks/>
          </p:cNvSpPr>
          <p:nvPr/>
        </p:nvSpPr>
        <p:spPr>
          <a:xfrm>
            <a:off x="5982999" y="3602604"/>
            <a:ext cx="4855701" cy="544862"/>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sz="2400" dirty="0" err="1">
                <a:latin typeface="Helvetica"/>
                <a:cs typeface="Helvetica"/>
              </a:rPr>
              <a:t>Osmoregulation</a:t>
            </a:r>
            <a:r>
              <a:rPr lang="es-ES" sz="2400" dirty="0">
                <a:latin typeface="Helvetica"/>
                <a:cs typeface="Helvetica"/>
              </a:rPr>
              <a:t>, </a:t>
            </a:r>
            <a:r>
              <a:rPr lang="es-ES" sz="2400" dirty="0" err="1">
                <a:latin typeface="Helvetica"/>
                <a:cs typeface="Helvetica"/>
              </a:rPr>
              <a:t>permeability</a:t>
            </a:r>
            <a:endParaRPr lang="es-ES" dirty="0"/>
          </a:p>
        </p:txBody>
      </p:sp>
      <p:sp>
        <p:nvSpPr>
          <p:cNvPr id="29" name="Marcador de contenido 2">
            <a:extLst>
              <a:ext uri="{FF2B5EF4-FFF2-40B4-BE49-F238E27FC236}">
                <a16:creationId xmlns:a16="http://schemas.microsoft.com/office/drawing/2014/main" id="{49443649-11F5-2423-5F48-0E230F9D37B9}"/>
              </a:ext>
            </a:extLst>
          </p:cNvPr>
          <p:cNvSpPr txBox="1">
            <a:spLocks/>
          </p:cNvSpPr>
          <p:nvPr/>
        </p:nvSpPr>
        <p:spPr>
          <a:xfrm>
            <a:off x="708633" y="5888028"/>
            <a:ext cx="1264601" cy="804155"/>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s-ES" sz="1800" dirty="0" err="1">
                <a:solidFill>
                  <a:srgbClr val="C00000"/>
                </a:solidFill>
                <a:latin typeface="Helvetica" panose="020B0604020202020204" pitchFamily="34" charset="0"/>
                <a:cs typeface="Helvetica" panose="020B0604020202020204" pitchFamily="34" charset="0"/>
              </a:rPr>
              <a:t>Damaged</a:t>
            </a:r>
            <a:endParaRPr lang="es-ES" sz="1800" dirty="0">
              <a:solidFill>
                <a:srgbClr val="C00000"/>
              </a:solidFill>
              <a:latin typeface="Helvetica" panose="020B0604020202020204" pitchFamily="34" charset="0"/>
              <a:cs typeface="Helvetica" panose="020B0604020202020204" pitchFamily="34" charset="0"/>
            </a:endParaRPr>
          </a:p>
          <a:p>
            <a:pPr marL="0" indent="0" algn="ctr">
              <a:buNone/>
            </a:pPr>
            <a:r>
              <a:rPr lang="es-ES" sz="1800" dirty="0">
                <a:solidFill>
                  <a:srgbClr val="C00000"/>
                </a:solidFill>
                <a:latin typeface="Helvetica" panose="020B0604020202020204" pitchFamily="34" charset="0"/>
                <a:cs typeface="Helvetica" panose="020B0604020202020204" pitchFamily="34" charset="0"/>
              </a:rPr>
              <a:t>sites</a:t>
            </a:r>
          </a:p>
        </p:txBody>
      </p:sp>
      <p:sp>
        <p:nvSpPr>
          <p:cNvPr id="30" name="Marcador de contenido 2">
            <a:extLst>
              <a:ext uri="{FF2B5EF4-FFF2-40B4-BE49-F238E27FC236}">
                <a16:creationId xmlns:a16="http://schemas.microsoft.com/office/drawing/2014/main" id="{B2984DA5-EF84-5834-5BF9-C6E7D1B8DA01}"/>
              </a:ext>
            </a:extLst>
          </p:cNvPr>
          <p:cNvSpPr txBox="1">
            <a:spLocks/>
          </p:cNvSpPr>
          <p:nvPr/>
        </p:nvSpPr>
        <p:spPr>
          <a:xfrm>
            <a:off x="4213150" y="5888029"/>
            <a:ext cx="1264601" cy="804154"/>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s-ES" sz="1800" dirty="0" err="1">
                <a:solidFill>
                  <a:srgbClr val="2F5597"/>
                </a:solidFill>
                <a:latin typeface="Helvetica"/>
                <a:cs typeface="Helvetica"/>
              </a:rPr>
              <a:t>Healthy</a:t>
            </a:r>
            <a:endParaRPr lang="es-ES" sz="1800" dirty="0">
              <a:solidFill>
                <a:srgbClr val="2F5597"/>
              </a:solidFill>
              <a:latin typeface="Helvetica"/>
              <a:cs typeface="Helvetica"/>
            </a:endParaRPr>
          </a:p>
          <a:p>
            <a:pPr marL="0" indent="0" algn="ctr">
              <a:buNone/>
            </a:pPr>
            <a:r>
              <a:rPr lang="es-ES" sz="1800" dirty="0">
                <a:solidFill>
                  <a:srgbClr val="2F5597"/>
                </a:solidFill>
                <a:latin typeface="Helvetica" panose="020B0604020202020204" pitchFamily="34" charset="0"/>
                <a:cs typeface="Helvetica" panose="020B0604020202020204" pitchFamily="34" charset="0"/>
              </a:rPr>
              <a:t>sites</a:t>
            </a:r>
          </a:p>
        </p:txBody>
      </p:sp>
      <p:sp>
        <p:nvSpPr>
          <p:cNvPr id="4" name="Título 1">
            <a:extLst>
              <a:ext uri="{FF2B5EF4-FFF2-40B4-BE49-F238E27FC236}">
                <a16:creationId xmlns:a16="http://schemas.microsoft.com/office/drawing/2014/main" id="{80853AFE-AD18-4D26-B7CF-A3357A42EB2C}"/>
              </a:ext>
            </a:extLst>
          </p:cNvPr>
          <p:cNvSpPr>
            <a:spLocks noGrp="1"/>
          </p:cNvSpPr>
          <p:nvPr>
            <p:ph type="title"/>
          </p:nvPr>
        </p:nvSpPr>
        <p:spPr>
          <a:xfrm>
            <a:off x="0" y="0"/>
            <a:ext cx="9690902" cy="804155"/>
          </a:xfrm>
          <a:solidFill>
            <a:srgbClr val="218317"/>
          </a:solidFill>
        </p:spPr>
        <p:txBody>
          <a:bodyPr>
            <a:normAutofit fontScale="90000"/>
          </a:bodyPr>
          <a:lstStyle/>
          <a:p>
            <a:r>
              <a:rPr lang="es-ES" sz="3200" b="1" dirty="0">
                <a:solidFill>
                  <a:schemeClr val="bg1"/>
                </a:solidFill>
                <a:latin typeface="Helvetica" panose="020B0604020202020204" pitchFamily="34" charset="0"/>
                <a:cs typeface="Helvetica" panose="020B0604020202020204" pitchFamily="34" charset="0"/>
              </a:rPr>
              <a:t>	</a:t>
            </a:r>
            <a:r>
              <a:rPr lang="es-ES" sz="3200" b="1" dirty="0" err="1">
                <a:solidFill>
                  <a:schemeClr val="bg1"/>
                </a:solidFill>
                <a:latin typeface="Helvetica" panose="020B0604020202020204" pitchFamily="34" charset="0"/>
                <a:cs typeface="Helvetica" panose="020B0604020202020204" pitchFamily="34" charset="0"/>
              </a:rPr>
              <a:t>Complementary</a:t>
            </a:r>
            <a:r>
              <a:rPr lang="es-ES" sz="3200" b="1" dirty="0">
                <a:solidFill>
                  <a:schemeClr val="bg1"/>
                </a:solidFill>
                <a:latin typeface="Helvetica" panose="020B0604020202020204" pitchFamily="34" charset="0"/>
                <a:cs typeface="Helvetica" panose="020B0604020202020204" pitchFamily="34" charset="0"/>
              </a:rPr>
              <a:t> </a:t>
            </a:r>
            <a:r>
              <a:rPr lang="es-ES" sz="3200" b="1" dirty="0" err="1">
                <a:solidFill>
                  <a:schemeClr val="bg1"/>
                </a:solidFill>
                <a:latin typeface="Helvetica" panose="020B0604020202020204" pitchFamily="34" charset="0"/>
                <a:cs typeface="Helvetica" panose="020B0604020202020204" pitchFamily="34" charset="0"/>
              </a:rPr>
              <a:t>strategies</a:t>
            </a:r>
            <a:r>
              <a:rPr lang="es-ES" sz="3200" b="1" dirty="0">
                <a:solidFill>
                  <a:schemeClr val="bg1"/>
                </a:solidFill>
                <a:latin typeface="Helvetica" panose="020B0604020202020204" pitchFamily="34" charset="0"/>
                <a:cs typeface="Helvetica" panose="020B0604020202020204" pitchFamily="34" charset="0"/>
              </a:rPr>
              <a:t> </a:t>
            </a:r>
            <a:r>
              <a:rPr lang="es-ES" sz="3200" b="1" dirty="0" err="1">
                <a:solidFill>
                  <a:schemeClr val="bg1"/>
                </a:solidFill>
                <a:latin typeface="Helvetica" panose="020B0604020202020204" pitchFamily="34" charset="0"/>
                <a:cs typeface="Helvetica" panose="020B0604020202020204" pitchFamily="34" charset="0"/>
              </a:rPr>
              <a:t>to</a:t>
            </a:r>
            <a:r>
              <a:rPr lang="es-ES" sz="3200" b="1" dirty="0">
                <a:solidFill>
                  <a:schemeClr val="bg1"/>
                </a:solidFill>
                <a:latin typeface="Helvetica" panose="020B0604020202020204" pitchFamily="34" charset="0"/>
                <a:cs typeface="Helvetica" panose="020B0604020202020204" pitchFamily="34" charset="0"/>
              </a:rPr>
              <a:t> cope </a:t>
            </a:r>
            <a:r>
              <a:rPr lang="es-ES" sz="3200" b="1" dirty="0" err="1">
                <a:solidFill>
                  <a:schemeClr val="bg1"/>
                </a:solidFill>
                <a:latin typeface="Helvetica" panose="020B0604020202020204" pitchFamily="34" charset="0"/>
                <a:cs typeface="Helvetica" panose="020B0604020202020204" pitchFamily="34" charset="0"/>
              </a:rPr>
              <a:t>with</a:t>
            </a:r>
            <a:r>
              <a:rPr lang="es-ES" sz="3200" b="1" dirty="0">
                <a:solidFill>
                  <a:schemeClr val="bg1"/>
                </a:solidFill>
                <a:latin typeface="Helvetica" panose="020B0604020202020204" pitchFamily="34" charset="0"/>
                <a:cs typeface="Helvetica" panose="020B0604020202020204" pitchFamily="34" charset="0"/>
              </a:rPr>
              <a:t> </a:t>
            </a:r>
            <a:r>
              <a:rPr lang="es-ES" sz="3200" b="1" dirty="0" err="1">
                <a:solidFill>
                  <a:schemeClr val="bg1"/>
                </a:solidFill>
                <a:latin typeface="Helvetica" panose="020B0604020202020204" pitchFamily="34" charset="0"/>
                <a:cs typeface="Helvetica" panose="020B0604020202020204" pitchFamily="34" charset="0"/>
              </a:rPr>
              <a:t>drought</a:t>
            </a:r>
            <a:endParaRPr lang="es-ES" sz="3200" b="1" dirty="0">
              <a:solidFill>
                <a:schemeClr val="bg1"/>
              </a:solidFill>
              <a:latin typeface="Helvetica" panose="020B0604020202020204" pitchFamily="34" charset="0"/>
              <a:cs typeface="Helvetica" panose="020B0604020202020204" pitchFamily="34" charset="0"/>
            </a:endParaRPr>
          </a:p>
        </p:txBody>
      </p:sp>
      <p:sp>
        <p:nvSpPr>
          <p:cNvPr id="2" name="Marcador de contenido 2">
            <a:extLst>
              <a:ext uri="{FF2B5EF4-FFF2-40B4-BE49-F238E27FC236}">
                <a16:creationId xmlns:a16="http://schemas.microsoft.com/office/drawing/2014/main" id="{ED99FAD5-D3A5-BA29-3ADA-AF5865541F99}"/>
              </a:ext>
            </a:extLst>
          </p:cNvPr>
          <p:cNvSpPr txBox="1">
            <a:spLocks/>
          </p:cNvSpPr>
          <p:nvPr/>
        </p:nvSpPr>
        <p:spPr>
          <a:xfrm>
            <a:off x="2041437" y="4541062"/>
            <a:ext cx="1958963" cy="398526"/>
          </a:xfrm>
          <a:prstGeom prst="rect">
            <a:avLst/>
          </a:prstGeom>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l-GR" sz="2400" b="1" dirty="0">
                <a:latin typeface="Helvetica"/>
                <a:cs typeface="Helvetica"/>
              </a:rPr>
              <a:t>δ</a:t>
            </a:r>
            <a:r>
              <a:rPr lang="es-ES" sz="2400" b="1" baseline="30000" dirty="0">
                <a:latin typeface="Helvetica"/>
                <a:cs typeface="Helvetica"/>
              </a:rPr>
              <a:t>13</a:t>
            </a:r>
            <a:r>
              <a:rPr lang="es-ES" sz="2400" b="1" dirty="0">
                <a:latin typeface="Helvetica"/>
                <a:cs typeface="Helvetica"/>
              </a:rPr>
              <a:t>C, </a:t>
            </a:r>
            <a:r>
              <a:rPr lang="el-GR" sz="2400" b="1" dirty="0">
                <a:latin typeface="Helvetica"/>
                <a:cs typeface="Helvetica"/>
              </a:rPr>
              <a:t>δ</a:t>
            </a:r>
            <a:r>
              <a:rPr lang="es-ES" sz="2400" b="1" baseline="30000" dirty="0">
                <a:latin typeface="Helvetica"/>
                <a:cs typeface="Helvetica"/>
              </a:rPr>
              <a:t>18</a:t>
            </a:r>
            <a:r>
              <a:rPr lang="es-ES" sz="2400" b="1" dirty="0">
                <a:latin typeface="Helvetica"/>
                <a:cs typeface="Helvetica"/>
              </a:rPr>
              <a:t>O</a:t>
            </a:r>
            <a:endParaRPr lang="es-ES" sz="2400" dirty="0"/>
          </a:p>
          <a:p>
            <a:pPr marL="0" indent="0" algn="ctr">
              <a:buNone/>
            </a:pPr>
            <a:endParaRPr lang="es-ES" sz="2400" dirty="0"/>
          </a:p>
          <a:p>
            <a:pPr marL="0" indent="0" algn="ctr">
              <a:buClr>
                <a:srgbClr val="218317"/>
              </a:buClr>
              <a:buNone/>
            </a:pPr>
            <a:endParaRPr lang="es-ES" sz="2400" b="1" dirty="0">
              <a:latin typeface="Helvetica" panose="020B0604020202020204" pitchFamily="34" charset="0"/>
              <a:cs typeface="Helvetica" panose="020B0604020202020204" pitchFamily="34" charset="0"/>
            </a:endParaRPr>
          </a:p>
        </p:txBody>
      </p:sp>
      <p:sp>
        <p:nvSpPr>
          <p:cNvPr id="6" name="Marcador de contenido 2">
            <a:extLst>
              <a:ext uri="{FF2B5EF4-FFF2-40B4-BE49-F238E27FC236}">
                <a16:creationId xmlns:a16="http://schemas.microsoft.com/office/drawing/2014/main" id="{0E6848E7-A7B8-6FDA-CFD6-3CF339C5E9BC}"/>
              </a:ext>
            </a:extLst>
          </p:cNvPr>
          <p:cNvSpPr txBox="1">
            <a:spLocks/>
          </p:cNvSpPr>
          <p:nvPr/>
        </p:nvSpPr>
        <p:spPr>
          <a:xfrm>
            <a:off x="2196008" y="5331535"/>
            <a:ext cx="1700972" cy="398526"/>
          </a:xfrm>
          <a:prstGeom prst="rect">
            <a:avLst/>
          </a:prstGeom>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s-ES" sz="2400" b="1" dirty="0">
                <a:latin typeface="Helvetica"/>
                <a:cs typeface="Helvetica"/>
              </a:rPr>
              <a:t>N </a:t>
            </a:r>
            <a:r>
              <a:rPr lang="es-ES" sz="2400" b="1" dirty="0" err="1">
                <a:latin typeface="Helvetica"/>
                <a:cs typeface="Helvetica"/>
              </a:rPr>
              <a:t>content</a:t>
            </a:r>
            <a:endParaRPr lang="es-ES" sz="2400" dirty="0"/>
          </a:p>
          <a:p>
            <a:pPr marL="0" indent="0" algn="ctr">
              <a:buClr>
                <a:srgbClr val="218317"/>
              </a:buClr>
              <a:buNone/>
            </a:pPr>
            <a:endParaRPr lang="es-ES" sz="2400" b="1" dirty="0">
              <a:latin typeface="Helvetica" panose="020B0604020202020204" pitchFamily="34" charset="0"/>
              <a:cs typeface="Helvetica" panose="020B0604020202020204" pitchFamily="34" charset="0"/>
            </a:endParaRPr>
          </a:p>
        </p:txBody>
      </p:sp>
      <p:sp>
        <p:nvSpPr>
          <p:cNvPr id="7" name="Marcador de contenido 2">
            <a:extLst>
              <a:ext uri="{FF2B5EF4-FFF2-40B4-BE49-F238E27FC236}">
                <a16:creationId xmlns:a16="http://schemas.microsoft.com/office/drawing/2014/main" id="{21258C87-8ACE-9B49-5E5F-B13BD5234101}"/>
              </a:ext>
            </a:extLst>
          </p:cNvPr>
          <p:cNvSpPr txBox="1">
            <a:spLocks/>
          </p:cNvSpPr>
          <p:nvPr/>
        </p:nvSpPr>
        <p:spPr>
          <a:xfrm>
            <a:off x="5983000" y="4460053"/>
            <a:ext cx="4855701" cy="544862"/>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sz="2400" dirty="0" err="1">
                <a:latin typeface="Helvetica"/>
                <a:cs typeface="Helvetica"/>
              </a:rPr>
              <a:t>Photosynthesis</a:t>
            </a:r>
            <a:r>
              <a:rPr lang="es-ES" sz="2400" dirty="0">
                <a:latin typeface="Helvetica"/>
                <a:cs typeface="Helvetica"/>
              </a:rPr>
              <a:t>, </a:t>
            </a:r>
            <a:r>
              <a:rPr lang="es-ES" sz="2400" dirty="0" err="1">
                <a:latin typeface="Helvetica"/>
                <a:cs typeface="Helvetica"/>
              </a:rPr>
              <a:t>transpiration</a:t>
            </a:r>
            <a:endParaRPr lang="es-ES" sz="2400" dirty="0">
              <a:latin typeface="Helvetica" panose="020B0604020202020204" pitchFamily="34" charset="0"/>
              <a:cs typeface="Helvetica" panose="020B0604020202020204" pitchFamily="34" charset="0"/>
            </a:endParaRPr>
          </a:p>
        </p:txBody>
      </p:sp>
      <p:sp>
        <p:nvSpPr>
          <p:cNvPr id="9" name="Marcador de contenido 2">
            <a:extLst>
              <a:ext uri="{FF2B5EF4-FFF2-40B4-BE49-F238E27FC236}">
                <a16:creationId xmlns:a16="http://schemas.microsoft.com/office/drawing/2014/main" id="{5B89CA3D-8252-2207-EA83-52DC580746C9}"/>
              </a:ext>
            </a:extLst>
          </p:cNvPr>
          <p:cNvSpPr txBox="1">
            <a:spLocks/>
          </p:cNvSpPr>
          <p:nvPr/>
        </p:nvSpPr>
        <p:spPr>
          <a:xfrm>
            <a:off x="5982998" y="5343166"/>
            <a:ext cx="4855701" cy="544862"/>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sz="2400" dirty="0">
                <a:latin typeface="Helvetica"/>
                <a:cs typeface="Helvetica"/>
              </a:rPr>
              <a:t>N </a:t>
            </a:r>
            <a:r>
              <a:rPr lang="es-ES" sz="2400" dirty="0" err="1">
                <a:latin typeface="Helvetica"/>
                <a:cs typeface="Helvetica"/>
              </a:rPr>
              <a:t>uptake</a:t>
            </a:r>
            <a:endParaRPr lang="es-ES" sz="2400" dirty="0">
              <a:latin typeface="Helvetica" panose="020B0604020202020204" pitchFamily="34" charset="0"/>
              <a:cs typeface="Helvetica" panose="020B0604020202020204" pitchFamily="34" charset="0"/>
            </a:endParaRPr>
          </a:p>
        </p:txBody>
      </p:sp>
      <p:sp>
        <p:nvSpPr>
          <p:cNvPr id="10" name="Marcador de contenido 2">
            <a:extLst>
              <a:ext uri="{FF2B5EF4-FFF2-40B4-BE49-F238E27FC236}">
                <a16:creationId xmlns:a16="http://schemas.microsoft.com/office/drawing/2014/main" id="{DBB040C6-5CA6-1B1A-B9B4-CC8C03B8C199}"/>
              </a:ext>
            </a:extLst>
          </p:cNvPr>
          <p:cNvSpPr txBox="1">
            <a:spLocks/>
          </p:cNvSpPr>
          <p:nvPr/>
        </p:nvSpPr>
        <p:spPr>
          <a:xfrm>
            <a:off x="870906" y="4493208"/>
            <a:ext cx="940057" cy="398526"/>
          </a:xfrm>
          <a:prstGeom prst="rect">
            <a:avLst/>
          </a:prstGeom>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Clr>
                <a:srgbClr val="218317"/>
              </a:buClr>
              <a:buNone/>
            </a:pPr>
            <a:r>
              <a:rPr lang="es-ES" sz="2400" b="1" dirty="0">
                <a:solidFill>
                  <a:schemeClr val="bg1"/>
                </a:solidFill>
                <a:latin typeface="Helvetica"/>
                <a:cs typeface="Helvetica"/>
              </a:rPr>
              <a:t>↑</a:t>
            </a:r>
            <a:endParaRPr lang="es-ES" sz="2400" b="1" dirty="0">
              <a:solidFill>
                <a:schemeClr val="bg1"/>
              </a:solidFill>
              <a:latin typeface="Helvetica" panose="020B0604020202020204" pitchFamily="34" charset="0"/>
              <a:cs typeface="Helvetica" panose="020B0604020202020204" pitchFamily="34" charset="0"/>
            </a:endParaRPr>
          </a:p>
        </p:txBody>
      </p:sp>
      <p:sp>
        <p:nvSpPr>
          <p:cNvPr id="15" name="Marcador de contenido 2">
            <a:extLst>
              <a:ext uri="{FF2B5EF4-FFF2-40B4-BE49-F238E27FC236}">
                <a16:creationId xmlns:a16="http://schemas.microsoft.com/office/drawing/2014/main" id="{09A6B9B2-EA2C-0B8F-A2E5-93E240421E47}"/>
              </a:ext>
            </a:extLst>
          </p:cNvPr>
          <p:cNvSpPr txBox="1">
            <a:spLocks/>
          </p:cNvSpPr>
          <p:nvPr/>
        </p:nvSpPr>
        <p:spPr>
          <a:xfrm>
            <a:off x="861609" y="5289269"/>
            <a:ext cx="940057" cy="398526"/>
          </a:xfrm>
          <a:prstGeom prst="rect">
            <a:avLst/>
          </a:prstGeom>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Clr>
                <a:srgbClr val="218317"/>
              </a:buClr>
              <a:buNone/>
            </a:pPr>
            <a:r>
              <a:rPr lang="es-ES" sz="2400" b="1" dirty="0">
                <a:solidFill>
                  <a:schemeClr val="bg1"/>
                </a:solidFill>
                <a:latin typeface="Helvetica"/>
                <a:cs typeface="Helvetica"/>
              </a:rPr>
              <a:t>↓</a:t>
            </a:r>
            <a:endParaRPr lang="es-ES" sz="2400" b="1" dirty="0">
              <a:solidFill>
                <a:schemeClr val="bg1"/>
              </a:solidFill>
              <a:latin typeface="Helvetica" panose="020B0604020202020204" pitchFamily="34" charset="0"/>
              <a:cs typeface="Helvetica" panose="020B0604020202020204" pitchFamily="34" charset="0"/>
            </a:endParaRPr>
          </a:p>
        </p:txBody>
      </p:sp>
      <p:sp>
        <p:nvSpPr>
          <p:cNvPr id="21" name="Marcador de contenido 2">
            <a:extLst>
              <a:ext uri="{FF2B5EF4-FFF2-40B4-BE49-F238E27FC236}">
                <a16:creationId xmlns:a16="http://schemas.microsoft.com/office/drawing/2014/main" id="{374E0B43-8556-07F1-7A2F-C057939BEDC8}"/>
              </a:ext>
            </a:extLst>
          </p:cNvPr>
          <p:cNvSpPr txBox="1">
            <a:spLocks/>
          </p:cNvSpPr>
          <p:nvPr/>
        </p:nvSpPr>
        <p:spPr>
          <a:xfrm>
            <a:off x="4282026" y="5289269"/>
            <a:ext cx="940057" cy="398526"/>
          </a:xfrm>
          <a:prstGeom prst="rect">
            <a:avLst/>
          </a:prstGeom>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Clr>
                <a:srgbClr val="218317"/>
              </a:buClr>
              <a:buNone/>
            </a:pPr>
            <a:r>
              <a:rPr lang="es-ES" sz="2400" b="1" dirty="0">
                <a:solidFill>
                  <a:schemeClr val="bg1"/>
                </a:solidFill>
                <a:latin typeface="Helvetica"/>
                <a:cs typeface="Helvetica"/>
              </a:rPr>
              <a:t>↑</a:t>
            </a:r>
            <a:endParaRPr lang="es-ES" sz="2400" b="1" dirty="0">
              <a:solidFill>
                <a:schemeClr val="bg1"/>
              </a:solidFill>
              <a:latin typeface="Helvetica" panose="020B0604020202020204" pitchFamily="34" charset="0"/>
              <a:cs typeface="Helvetica" panose="020B0604020202020204" pitchFamily="34" charset="0"/>
            </a:endParaRPr>
          </a:p>
        </p:txBody>
      </p:sp>
      <p:sp>
        <p:nvSpPr>
          <p:cNvPr id="22" name="Marcador de contenido 2">
            <a:extLst>
              <a:ext uri="{FF2B5EF4-FFF2-40B4-BE49-F238E27FC236}">
                <a16:creationId xmlns:a16="http://schemas.microsoft.com/office/drawing/2014/main" id="{0CA874FA-BF2B-5E28-2378-32BB72FBE513}"/>
              </a:ext>
            </a:extLst>
          </p:cNvPr>
          <p:cNvSpPr txBox="1">
            <a:spLocks/>
          </p:cNvSpPr>
          <p:nvPr/>
        </p:nvSpPr>
        <p:spPr>
          <a:xfrm>
            <a:off x="4278966" y="4496456"/>
            <a:ext cx="940057" cy="398526"/>
          </a:xfrm>
          <a:prstGeom prst="rect">
            <a:avLst/>
          </a:prstGeom>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Clr>
                <a:srgbClr val="218317"/>
              </a:buClr>
              <a:buNone/>
            </a:pPr>
            <a:r>
              <a:rPr lang="es-ES" sz="2400" b="1" dirty="0">
                <a:solidFill>
                  <a:schemeClr val="bg1"/>
                </a:solidFill>
                <a:latin typeface="Helvetica"/>
                <a:cs typeface="Helvetica"/>
              </a:rPr>
              <a:t>↓</a:t>
            </a:r>
            <a:endParaRPr lang="es-ES" sz="2400" b="1" dirty="0">
              <a:solidFill>
                <a:schemeClr val="bg1"/>
              </a:solidFill>
              <a:latin typeface="Helvetica" panose="020B0604020202020204" pitchFamily="34" charset="0"/>
              <a:cs typeface="Helvetica" panose="020B0604020202020204" pitchFamily="34" charset="0"/>
            </a:endParaRPr>
          </a:p>
        </p:txBody>
      </p:sp>
      <p:sp>
        <p:nvSpPr>
          <p:cNvPr id="24" name="Título 1">
            <a:extLst>
              <a:ext uri="{FF2B5EF4-FFF2-40B4-BE49-F238E27FC236}">
                <a16:creationId xmlns:a16="http://schemas.microsoft.com/office/drawing/2014/main" id="{4918E1D1-7CF5-51A0-A794-9DB5E785F529}"/>
              </a:ext>
            </a:extLst>
          </p:cNvPr>
          <p:cNvSpPr txBox="1">
            <a:spLocks/>
          </p:cNvSpPr>
          <p:nvPr/>
        </p:nvSpPr>
        <p:spPr>
          <a:xfrm>
            <a:off x="9690902" y="-1"/>
            <a:ext cx="2501098" cy="804157"/>
          </a:xfrm>
          <a:prstGeom prst="rect">
            <a:avLst/>
          </a:prstGeom>
          <a:solidFill>
            <a:srgbClr val="218317"/>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s-ES" sz="2800" b="1" dirty="0" err="1">
                <a:solidFill>
                  <a:schemeClr val="accent6">
                    <a:lumMod val="60000"/>
                    <a:lumOff val="40000"/>
                  </a:schemeClr>
                </a:solidFill>
                <a:latin typeface="Helvetica" panose="020B0604020202020204" pitchFamily="34" charset="0"/>
                <a:cs typeface="Helvetica" panose="020B0604020202020204" pitchFamily="34" charset="0"/>
              </a:rPr>
              <a:t>Introduction</a:t>
            </a:r>
            <a:r>
              <a:rPr lang="es-ES" sz="2800" b="1" dirty="0">
                <a:solidFill>
                  <a:srgbClr val="218317"/>
                </a:solidFill>
                <a:latin typeface="Helvetica" panose="020B0604020202020204" pitchFamily="34" charset="0"/>
                <a:cs typeface="Helvetica" panose="020B0604020202020204" pitchFamily="34" charset="0"/>
              </a:rPr>
              <a:t>.</a:t>
            </a:r>
          </a:p>
        </p:txBody>
      </p:sp>
    </p:spTree>
    <p:extLst>
      <p:ext uri="{BB962C8B-B14F-4D97-AF65-F5344CB8AC3E}">
        <p14:creationId xmlns:p14="http://schemas.microsoft.com/office/powerpoint/2010/main" val="23711395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E7F21-1BC3-58B7-C745-2A6CDB76710B}"/>
            </a:ext>
          </a:extLst>
        </p:cNvPr>
        <p:cNvGrpSpPr/>
        <p:nvPr/>
      </p:nvGrpSpPr>
      <p:grpSpPr>
        <a:xfrm>
          <a:off x="0" y="0"/>
          <a:ext cx="0" cy="0"/>
          <a:chOff x="0" y="0"/>
          <a:chExt cx="0" cy="0"/>
        </a:xfrm>
      </p:grpSpPr>
      <p:pic>
        <p:nvPicPr>
          <p:cNvPr id="2052" name="Picture 4" descr="Diagrama&#10;&#10;Descripción generada automáticamente">
            <a:extLst>
              <a:ext uri="{FF2B5EF4-FFF2-40B4-BE49-F238E27FC236}">
                <a16:creationId xmlns:a16="http://schemas.microsoft.com/office/drawing/2014/main" id="{5CF93BAE-7062-DF63-FBD0-5278470BA4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9215" y="647728"/>
            <a:ext cx="2826009" cy="2826009"/>
          </a:xfrm>
          <a:prstGeom prst="rect">
            <a:avLst/>
          </a:prstGeom>
          <a:noFill/>
          <a:extLst>
            <a:ext uri="{909E8E84-426E-40DD-AFC4-6F175D3DCCD1}">
              <a14:hiddenFill xmlns:a14="http://schemas.microsoft.com/office/drawing/2010/main">
                <a:solidFill>
                  <a:srgbClr val="FFFFFF"/>
                </a:solidFill>
              </a14:hiddenFill>
            </a:ext>
          </a:extLst>
        </p:spPr>
      </p:pic>
      <p:sp>
        <p:nvSpPr>
          <p:cNvPr id="2" name="Marcador de contenido 2">
            <a:extLst>
              <a:ext uri="{FF2B5EF4-FFF2-40B4-BE49-F238E27FC236}">
                <a16:creationId xmlns:a16="http://schemas.microsoft.com/office/drawing/2014/main" id="{0D2A7F3A-5D92-B637-7E53-8726C79BA350}"/>
              </a:ext>
            </a:extLst>
          </p:cNvPr>
          <p:cNvSpPr txBox="1">
            <a:spLocks/>
          </p:cNvSpPr>
          <p:nvPr/>
        </p:nvSpPr>
        <p:spPr>
          <a:xfrm>
            <a:off x="127519" y="3400507"/>
            <a:ext cx="3242000" cy="2223576"/>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lgn="ctr">
              <a:buClr>
                <a:srgbClr val="218317"/>
              </a:buClr>
              <a:buNone/>
            </a:pPr>
            <a:r>
              <a:rPr lang="es-ES" dirty="0">
                <a:latin typeface="Helvetica" panose="020B0604020202020204" pitchFamily="34" charset="0"/>
                <a:cs typeface="Helvetica" panose="020B0604020202020204" pitchFamily="34" charset="0"/>
              </a:rPr>
              <a:t>Field data </a:t>
            </a:r>
            <a:r>
              <a:rPr lang="es-ES" dirty="0" err="1">
                <a:latin typeface="Helvetica" panose="020B0604020202020204" pitchFamily="34" charset="0"/>
                <a:cs typeface="Helvetica" panose="020B0604020202020204" pitchFamily="34" charset="0"/>
              </a:rPr>
              <a:t>sampling</a:t>
            </a:r>
            <a:r>
              <a:rPr lang="es-ES" dirty="0">
                <a:latin typeface="Helvetica" panose="020B0604020202020204" pitchFamily="34" charset="0"/>
                <a:cs typeface="Helvetica" panose="020B0604020202020204" pitchFamily="34" charset="0"/>
              </a:rPr>
              <a:t>:</a:t>
            </a:r>
          </a:p>
          <a:p>
            <a:pPr marL="457200" lvl="1" indent="0" algn="ctr">
              <a:buClr>
                <a:srgbClr val="218317"/>
              </a:buClr>
              <a:buNone/>
            </a:pPr>
            <a:r>
              <a:rPr lang="es-ES" dirty="0">
                <a:latin typeface="Helvetica" panose="020B0604020202020204" pitchFamily="34" charset="0"/>
                <a:cs typeface="Helvetica" panose="020B0604020202020204" pitchFamily="34" charset="0"/>
              </a:rPr>
              <a:t>02/2023 – 09/2023</a:t>
            </a:r>
          </a:p>
          <a:p>
            <a:pPr algn="ctr"/>
            <a:endParaRPr lang="es-ES" dirty="0">
              <a:latin typeface="Helvetica" panose="020B0604020202020204" pitchFamily="34" charset="0"/>
              <a:cs typeface="Helvetica" panose="020B0604020202020204" pitchFamily="34" charset="0"/>
            </a:endParaRPr>
          </a:p>
        </p:txBody>
      </p:sp>
      <p:sp>
        <p:nvSpPr>
          <p:cNvPr id="3" name="Título 1">
            <a:extLst>
              <a:ext uri="{FF2B5EF4-FFF2-40B4-BE49-F238E27FC236}">
                <a16:creationId xmlns:a16="http://schemas.microsoft.com/office/drawing/2014/main" id="{A999C6EA-7AE8-D840-9E31-A752303DFD21}"/>
              </a:ext>
            </a:extLst>
          </p:cNvPr>
          <p:cNvSpPr>
            <a:spLocks noGrp="1"/>
          </p:cNvSpPr>
          <p:nvPr>
            <p:ph type="title"/>
          </p:nvPr>
        </p:nvSpPr>
        <p:spPr>
          <a:xfrm>
            <a:off x="0" y="0"/>
            <a:ext cx="9690902" cy="804155"/>
          </a:xfrm>
          <a:solidFill>
            <a:srgbClr val="218317"/>
          </a:solidFill>
        </p:spPr>
        <p:txBody>
          <a:bodyPr>
            <a:normAutofit/>
          </a:bodyPr>
          <a:lstStyle/>
          <a:p>
            <a:r>
              <a:rPr lang="es-ES" sz="3200" b="1" dirty="0">
                <a:solidFill>
                  <a:schemeClr val="bg1"/>
                </a:solidFill>
                <a:latin typeface="Helvetica" panose="020B0604020202020204" pitchFamily="34" charset="0"/>
                <a:cs typeface="Helvetica" panose="020B0604020202020204" pitchFamily="34" charset="0"/>
              </a:rPr>
              <a:t>	</a:t>
            </a:r>
            <a:r>
              <a:rPr lang="es-ES" sz="3200" b="1" dirty="0" err="1">
                <a:solidFill>
                  <a:schemeClr val="bg1"/>
                </a:solidFill>
                <a:latin typeface="Helvetica" panose="020B0604020202020204" pitchFamily="34" charset="0"/>
                <a:cs typeface="Helvetica" panose="020B0604020202020204" pitchFamily="34" charset="0"/>
              </a:rPr>
              <a:t>Study</a:t>
            </a:r>
            <a:r>
              <a:rPr lang="es-ES" sz="3200" b="1" dirty="0">
                <a:solidFill>
                  <a:schemeClr val="bg1"/>
                </a:solidFill>
                <a:latin typeface="Helvetica" panose="020B0604020202020204" pitchFamily="34" charset="0"/>
                <a:cs typeface="Helvetica" panose="020B0604020202020204" pitchFamily="34" charset="0"/>
              </a:rPr>
              <a:t> </a:t>
            </a:r>
            <a:r>
              <a:rPr lang="es-ES" sz="3200" b="1" dirty="0" err="1">
                <a:solidFill>
                  <a:schemeClr val="bg1"/>
                </a:solidFill>
                <a:latin typeface="Helvetica" panose="020B0604020202020204" pitchFamily="34" charset="0"/>
                <a:cs typeface="Helvetica" panose="020B0604020202020204" pitchFamily="34" charset="0"/>
              </a:rPr>
              <a:t>area</a:t>
            </a:r>
            <a:endParaRPr lang="es-ES" sz="3200" b="1" dirty="0">
              <a:solidFill>
                <a:schemeClr val="bg1"/>
              </a:solidFill>
              <a:latin typeface="Helvetica" panose="020B0604020202020204" pitchFamily="34" charset="0"/>
              <a:cs typeface="Helvetica" panose="020B0604020202020204" pitchFamily="34" charset="0"/>
            </a:endParaRPr>
          </a:p>
        </p:txBody>
      </p:sp>
      <p:sp>
        <p:nvSpPr>
          <p:cNvPr id="4" name="Título 1">
            <a:extLst>
              <a:ext uri="{FF2B5EF4-FFF2-40B4-BE49-F238E27FC236}">
                <a16:creationId xmlns:a16="http://schemas.microsoft.com/office/drawing/2014/main" id="{7AAA2A6D-DB68-AD63-0A06-EA976E24DC00}"/>
              </a:ext>
            </a:extLst>
          </p:cNvPr>
          <p:cNvSpPr txBox="1">
            <a:spLocks/>
          </p:cNvSpPr>
          <p:nvPr/>
        </p:nvSpPr>
        <p:spPr>
          <a:xfrm>
            <a:off x="9690902" y="-1"/>
            <a:ext cx="2501098" cy="804157"/>
          </a:xfrm>
          <a:prstGeom prst="rect">
            <a:avLst/>
          </a:prstGeom>
          <a:solidFill>
            <a:srgbClr val="218317"/>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s-ES" sz="2800" b="1" dirty="0">
                <a:solidFill>
                  <a:schemeClr val="accent6">
                    <a:lumMod val="60000"/>
                    <a:lumOff val="40000"/>
                  </a:schemeClr>
                </a:solidFill>
                <a:latin typeface="Helvetica" panose="020B0604020202020204" pitchFamily="34" charset="0"/>
                <a:cs typeface="Helvetica" panose="020B0604020202020204" pitchFamily="34" charset="0"/>
              </a:rPr>
              <a:t>M&amp;M </a:t>
            </a:r>
            <a:r>
              <a:rPr lang="es-ES" sz="2800" b="1" dirty="0">
                <a:solidFill>
                  <a:srgbClr val="218317"/>
                </a:solidFill>
                <a:latin typeface="Helvetica" panose="020B0604020202020204" pitchFamily="34" charset="0"/>
                <a:cs typeface="Helvetica" panose="020B0604020202020204" pitchFamily="34" charset="0"/>
              </a:rPr>
              <a:t>.</a:t>
            </a:r>
          </a:p>
        </p:txBody>
      </p:sp>
      <p:sp>
        <p:nvSpPr>
          <p:cNvPr id="5" name="Marcador de contenido 2">
            <a:extLst>
              <a:ext uri="{FF2B5EF4-FFF2-40B4-BE49-F238E27FC236}">
                <a16:creationId xmlns:a16="http://schemas.microsoft.com/office/drawing/2014/main" id="{A8D7DC10-0A24-5913-467C-1DEA0F80E6D2}"/>
              </a:ext>
            </a:extLst>
          </p:cNvPr>
          <p:cNvSpPr txBox="1">
            <a:spLocks/>
          </p:cNvSpPr>
          <p:nvPr/>
        </p:nvSpPr>
        <p:spPr>
          <a:xfrm>
            <a:off x="127519" y="5550853"/>
            <a:ext cx="10925077" cy="804155"/>
          </a:xfrm>
          <a:prstGeom prst="rect">
            <a:avLst/>
          </a:prstGeom>
        </p:spPr>
        <p:txBody>
          <a:bodyPr vert="horz" lIns="91440" tIns="45720" rIns="91440" bIns="45720" rtlCol="0" anchor="t">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rgbClr val="218317"/>
              </a:buClr>
              <a:buNone/>
            </a:pPr>
            <a:r>
              <a:rPr lang="es-ES" b="1" dirty="0">
                <a:latin typeface="Helvetica"/>
                <a:cs typeface="Helvetica"/>
              </a:rPr>
              <a:t>14 sites, 91 </a:t>
            </a:r>
            <a:r>
              <a:rPr lang="es-ES" b="1" dirty="0" err="1">
                <a:latin typeface="Helvetica"/>
                <a:cs typeface="Helvetica"/>
              </a:rPr>
              <a:t>plots</a:t>
            </a:r>
            <a:r>
              <a:rPr lang="es-ES" b="1" dirty="0">
                <a:latin typeface="Helvetica"/>
                <a:cs typeface="Helvetica"/>
              </a:rPr>
              <a:t> </a:t>
            </a:r>
          </a:p>
          <a:p>
            <a:pPr marL="0" indent="0">
              <a:buClr>
                <a:srgbClr val="218317"/>
              </a:buClr>
              <a:buNone/>
            </a:pPr>
            <a:r>
              <a:rPr lang="es-ES" b="1" dirty="0">
                <a:solidFill>
                  <a:srgbClr val="FF0000"/>
                </a:solidFill>
                <a:latin typeface="Helvetica"/>
                <a:cs typeface="Helvetica"/>
              </a:rPr>
              <a:t>462 target </a:t>
            </a:r>
            <a:r>
              <a:rPr lang="es-ES" b="1" dirty="0" err="1">
                <a:solidFill>
                  <a:srgbClr val="FF0000"/>
                </a:solidFill>
                <a:latin typeface="Helvetica"/>
                <a:cs typeface="Helvetica"/>
              </a:rPr>
              <a:t>trees</a:t>
            </a:r>
            <a:endParaRPr lang="es-ES" b="1" dirty="0">
              <a:solidFill>
                <a:srgbClr val="FF0000"/>
              </a:solidFill>
              <a:latin typeface="Helvetica" panose="020B0604020202020204" pitchFamily="34" charset="0"/>
              <a:cs typeface="Helvetica" panose="020B0604020202020204" pitchFamily="34" charset="0"/>
            </a:endParaRPr>
          </a:p>
        </p:txBody>
      </p:sp>
      <p:pic>
        <p:nvPicPr>
          <p:cNvPr id="7" name="Imagen 6">
            <a:extLst>
              <a:ext uri="{FF2B5EF4-FFF2-40B4-BE49-F238E27FC236}">
                <a16:creationId xmlns:a16="http://schemas.microsoft.com/office/drawing/2014/main" id="{3DCD98AE-E281-28B7-DDC6-9F8E6C5095C9}"/>
              </a:ext>
            </a:extLst>
          </p:cNvPr>
          <p:cNvPicPr>
            <a:picLocks noChangeAspect="1"/>
          </p:cNvPicPr>
          <p:nvPr/>
        </p:nvPicPr>
        <p:blipFill>
          <a:blip r:embed="rId4">
            <a:extLst>
              <a:ext uri="{28A0092B-C50C-407E-A947-70E740481C1C}">
                <a14:useLocalDpi xmlns:a14="http://schemas.microsoft.com/office/drawing/2010/main" val="0"/>
              </a:ext>
            </a:extLst>
          </a:blip>
          <a:srcRect t="5255"/>
          <a:stretch/>
        </p:blipFill>
        <p:spPr>
          <a:xfrm>
            <a:off x="3615224" y="920186"/>
            <a:ext cx="8573689" cy="5846706"/>
          </a:xfrm>
          <a:prstGeom prst="rect">
            <a:avLst/>
          </a:prstGeom>
        </p:spPr>
      </p:pic>
    </p:spTree>
    <p:extLst>
      <p:ext uri="{BB962C8B-B14F-4D97-AF65-F5344CB8AC3E}">
        <p14:creationId xmlns:p14="http://schemas.microsoft.com/office/powerpoint/2010/main" val="920574125"/>
      </p:ext>
    </p:extLst>
  </p:cSld>
  <p:clrMapOvr>
    <a:masterClrMapping/>
  </p:clrMapOvr>
  <p:extLst>
    <p:ext uri="{6950BFC3-D8DA-4A85-94F7-54DA5524770B}">
      <p188:commentRel xmlns:p188="http://schemas.microsoft.com/office/powerpoint/2018/8/main" r:id="rId2"/>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90204C-F11E-9B27-13A1-D01D21F6E915}"/>
            </a:ext>
          </a:extLst>
        </p:cNvPr>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8BC34324-CEFD-1EFD-2467-7B61612321A3}"/>
              </a:ext>
            </a:extLst>
          </p:cNvPr>
          <p:cNvSpPr txBox="1">
            <a:spLocks/>
          </p:cNvSpPr>
          <p:nvPr/>
        </p:nvSpPr>
        <p:spPr>
          <a:xfrm>
            <a:off x="633461" y="2662464"/>
            <a:ext cx="10925077" cy="114682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rgbClr val="218317"/>
              </a:buClr>
              <a:buNone/>
            </a:pPr>
            <a:r>
              <a:rPr lang="es-ES" sz="2400" b="1" dirty="0">
                <a:latin typeface="Helvetica"/>
                <a:cs typeface="Helvetica"/>
              </a:rPr>
              <a:t>1) </a:t>
            </a:r>
            <a:r>
              <a:rPr lang="es-ES" sz="2400" dirty="0" err="1">
                <a:latin typeface="Helvetica"/>
                <a:cs typeface="Helvetica"/>
              </a:rPr>
              <a:t>To</a:t>
            </a:r>
            <a:r>
              <a:rPr lang="es-ES" sz="2400" dirty="0">
                <a:latin typeface="Helvetica"/>
                <a:cs typeface="Helvetica"/>
              </a:rPr>
              <a:t> </a:t>
            </a:r>
            <a:r>
              <a:rPr lang="es-ES" sz="2400" dirty="0" err="1">
                <a:latin typeface="Helvetica"/>
                <a:cs typeface="Helvetica"/>
              </a:rPr>
              <a:t>characterise</a:t>
            </a:r>
            <a:r>
              <a:rPr lang="es-ES" sz="2400" dirty="0">
                <a:latin typeface="Helvetica"/>
                <a:cs typeface="Helvetica"/>
              </a:rPr>
              <a:t> </a:t>
            </a:r>
            <a:r>
              <a:rPr lang="es-ES" sz="2400" dirty="0" err="1">
                <a:latin typeface="Helvetica"/>
                <a:cs typeface="Helvetica"/>
              </a:rPr>
              <a:t>underlying</a:t>
            </a:r>
            <a:r>
              <a:rPr lang="es-ES" sz="2400" dirty="0">
                <a:latin typeface="Helvetica"/>
                <a:cs typeface="Helvetica"/>
              </a:rPr>
              <a:t> </a:t>
            </a:r>
            <a:r>
              <a:rPr lang="es-ES" sz="2400" dirty="0" err="1">
                <a:latin typeface="Helvetica"/>
                <a:cs typeface="Helvetica"/>
              </a:rPr>
              <a:t>mechanisms</a:t>
            </a:r>
            <a:r>
              <a:rPr lang="es-ES" sz="2400" dirty="0">
                <a:latin typeface="Helvetica"/>
                <a:cs typeface="Helvetica"/>
              </a:rPr>
              <a:t> </a:t>
            </a:r>
            <a:r>
              <a:rPr lang="es-ES" sz="2400" dirty="0" err="1">
                <a:latin typeface="Helvetica"/>
                <a:cs typeface="Helvetica"/>
              </a:rPr>
              <a:t>behind</a:t>
            </a:r>
            <a:r>
              <a:rPr lang="es-ES" sz="2400" dirty="0">
                <a:latin typeface="Helvetica"/>
                <a:cs typeface="Helvetica"/>
              </a:rPr>
              <a:t> die-off responses </a:t>
            </a:r>
            <a:r>
              <a:rPr lang="es-ES" sz="2400" dirty="0" err="1">
                <a:latin typeface="Helvetica"/>
                <a:cs typeface="Helvetica"/>
              </a:rPr>
              <a:t>though</a:t>
            </a:r>
            <a:r>
              <a:rPr lang="es-ES" sz="2400" dirty="0">
                <a:latin typeface="Helvetica"/>
                <a:cs typeface="Helvetica"/>
              </a:rPr>
              <a:t> </a:t>
            </a:r>
            <a:r>
              <a:rPr lang="es-ES" sz="2400" dirty="0" err="1">
                <a:latin typeface="Helvetica"/>
                <a:cs typeface="Helvetica"/>
              </a:rPr>
              <a:t>assessment</a:t>
            </a:r>
            <a:r>
              <a:rPr lang="es-ES" sz="2400" dirty="0">
                <a:latin typeface="Helvetica"/>
                <a:cs typeface="Helvetica"/>
              </a:rPr>
              <a:t> </a:t>
            </a:r>
            <a:r>
              <a:rPr lang="es-ES" sz="2400" dirty="0" err="1">
                <a:latin typeface="Helvetica"/>
                <a:cs typeface="Helvetica"/>
              </a:rPr>
              <a:t>of</a:t>
            </a:r>
            <a:r>
              <a:rPr lang="es-ES" sz="2400" dirty="0">
                <a:latin typeface="Helvetica"/>
                <a:cs typeface="Helvetica"/>
              </a:rPr>
              <a:t> </a:t>
            </a:r>
            <a:r>
              <a:rPr lang="es-ES" sz="2400" b="1" dirty="0" err="1">
                <a:latin typeface="Helvetica"/>
                <a:cs typeface="Helvetica"/>
              </a:rPr>
              <a:t>morphological</a:t>
            </a:r>
            <a:r>
              <a:rPr lang="es-ES" sz="2400" b="1" dirty="0">
                <a:latin typeface="Helvetica"/>
                <a:cs typeface="Helvetica"/>
              </a:rPr>
              <a:t> </a:t>
            </a:r>
            <a:r>
              <a:rPr lang="es-ES" sz="2400" dirty="0">
                <a:latin typeface="Helvetica"/>
                <a:cs typeface="Helvetica"/>
              </a:rPr>
              <a:t>and</a:t>
            </a:r>
            <a:r>
              <a:rPr lang="es-ES" sz="2400" b="1" dirty="0">
                <a:latin typeface="Helvetica"/>
                <a:cs typeface="Helvetica"/>
              </a:rPr>
              <a:t> </a:t>
            </a:r>
            <a:r>
              <a:rPr lang="es-ES" sz="2400" b="1" dirty="0" err="1">
                <a:latin typeface="Helvetica"/>
                <a:cs typeface="Helvetica"/>
              </a:rPr>
              <a:t>physiological</a:t>
            </a:r>
            <a:r>
              <a:rPr lang="es-ES" sz="2400" b="1" dirty="0">
                <a:latin typeface="Helvetica"/>
                <a:cs typeface="Helvetica"/>
              </a:rPr>
              <a:t> </a:t>
            </a:r>
            <a:r>
              <a:rPr lang="es-ES" sz="2400" b="1" dirty="0" err="1">
                <a:latin typeface="Helvetica"/>
                <a:cs typeface="Helvetica"/>
              </a:rPr>
              <a:t>traits</a:t>
            </a:r>
            <a:r>
              <a:rPr lang="es-ES" sz="2400" b="1" dirty="0">
                <a:latin typeface="Helvetica"/>
                <a:cs typeface="Helvetica"/>
              </a:rPr>
              <a:t> responses</a:t>
            </a:r>
            <a:r>
              <a:rPr lang="es-ES" sz="2400" dirty="0">
                <a:latin typeface="Helvetica"/>
                <a:cs typeface="Helvetica"/>
              </a:rPr>
              <a:t> in </a:t>
            </a:r>
            <a:r>
              <a:rPr lang="es-ES" sz="2400" dirty="0" err="1">
                <a:latin typeface="Helvetica"/>
                <a:cs typeface="Helvetica"/>
              </a:rPr>
              <a:t>drought-induced</a:t>
            </a:r>
            <a:r>
              <a:rPr lang="es-ES" sz="2400" dirty="0">
                <a:latin typeface="Helvetica"/>
                <a:cs typeface="Helvetica"/>
              </a:rPr>
              <a:t> </a:t>
            </a:r>
            <a:r>
              <a:rPr lang="es-ES" sz="2400" dirty="0" err="1">
                <a:latin typeface="Helvetica"/>
                <a:cs typeface="Helvetica"/>
              </a:rPr>
              <a:t>damaged</a:t>
            </a:r>
            <a:r>
              <a:rPr lang="es-ES" sz="2400" dirty="0">
                <a:latin typeface="Helvetica"/>
                <a:cs typeface="Helvetica"/>
              </a:rPr>
              <a:t> vs. </a:t>
            </a:r>
            <a:r>
              <a:rPr lang="es-ES" sz="2400" dirty="0" err="1">
                <a:latin typeface="Helvetica"/>
                <a:cs typeface="Helvetica"/>
              </a:rPr>
              <a:t>healthy</a:t>
            </a:r>
            <a:r>
              <a:rPr lang="es-ES" sz="2400" dirty="0">
                <a:latin typeface="Helvetica"/>
                <a:cs typeface="Helvetica"/>
              </a:rPr>
              <a:t> </a:t>
            </a:r>
            <a:r>
              <a:rPr lang="es-ES" sz="2400" dirty="0" err="1">
                <a:latin typeface="Helvetica"/>
                <a:cs typeface="Helvetica"/>
              </a:rPr>
              <a:t>areas</a:t>
            </a:r>
            <a:endParaRPr lang="es-ES" sz="2400" dirty="0">
              <a:latin typeface="Helvetica" panose="020B0604020202020204" pitchFamily="34" charset="0"/>
              <a:cs typeface="Helvetica" panose="020B0604020202020204" pitchFamily="34" charset="0"/>
            </a:endParaRPr>
          </a:p>
        </p:txBody>
      </p:sp>
      <p:sp>
        <p:nvSpPr>
          <p:cNvPr id="2" name="Marcador de contenido 2">
            <a:extLst>
              <a:ext uri="{FF2B5EF4-FFF2-40B4-BE49-F238E27FC236}">
                <a16:creationId xmlns:a16="http://schemas.microsoft.com/office/drawing/2014/main" id="{4C414708-B8E9-19C2-E949-7CED186D0D11}"/>
              </a:ext>
            </a:extLst>
          </p:cNvPr>
          <p:cNvSpPr txBox="1">
            <a:spLocks/>
          </p:cNvSpPr>
          <p:nvPr/>
        </p:nvSpPr>
        <p:spPr>
          <a:xfrm>
            <a:off x="623547" y="3913521"/>
            <a:ext cx="10925077" cy="114682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sz="2400" b="1" dirty="0">
                <a:latin typeface="Helvetica"/>
                <a:cs typeface="Helvetica"/>
              </a:rPr>
              <a:t>2) </a:t>
            </a:r>
            <a:r>
              <a:rPr lang="es-ES" sz="2400" dirty="0" err="1">
                <a:latin typeface="Helvetica"/>
                <a:cs typeface="Helvetica"/>
              </a:rPr>
              <a:t>To</a:t>
            </a:r>
            <a:r>
              <a:rPr lang="es-ES" sz="2400" dirty="0">
                <a:latin typeface="Helvetica"/>
                <a:cs typeface="Helvetica"/>
              </a:rPr>
              <a:t> </a:t>
            </a:r>
            <a:r>
              <a:rPr lang="es-ES" sz="2400" dirty="0" err="1">
                <a:latin typeface="Helvetica"/>
                <a:cs typeface="Helvetica"/>
              </a:rPr>
              <a:t>assess</a:t>
            </a:r>
            <a:r>
              <a:rPr lang="es-ES" sz="2400" dirty="0">
                <a:latin typeface="Helvetica"/>
                <a:cs typeface="Helvetica"/>
              </a:rPr>
              <a:t> </a:t>
            </a:r>
            <a:r>
              <a:rPr lang="es-ES" sz="2400" dirty="0" err="1">
                <a:latin typeface="Helvetica"/>
                <a:cs typeface="Helvetica"/>
              </a:rPr>
              <a:t>which</a:t>
            </a:r>
            <a:r>
              <a:rPr lang="es-ES" sz="2400" dirty="0">
                <a:latin typeface="Helvetica"/>
                <a:cs typeface="Helvetica"/>
              </a:rPr>
              <a:t> </a:t>
            </a:r>
            <a:r>
              <a:rPr lang="es-ES" sz="2400" dirty="0" err="1">
                <a:latin typeface="Helvetica"/>
                <a:cs typeface="Helvetica"/>
              </a:rPr>
              <a:t>morphological</a:t>
            </a:r>
            <a:r>
              <a:rPr lang="es-ES" sz="2400" dirty="0">
                <a:latin typeface="Helvetica"/>
                <a:cs typeface="Helvetica"/>
              </a:rPr>
              <a:t> and </a:t>
            </a:r>
            <a:r>
              <a:rPr lang="es-ES" sz="2400" dirty="0" err="1">
                <a:latin typeface="Helvetica"/>
                <a:cs typeface="Helvetica"/>
              </a:rPr>
              <a:t>physiological</a:t>
            </a:r>
            <a:r>
              <a:rPr lang="es-ES" sz="2400" b="1" dirty="0">
                <a:latin typeface="Helvetica"/>
                <a:cs typeface="Helvetica"/>
              </a:rPr>
              <a:t> </a:t>
            </a:r>
            <a:r>
              <a:rPr lang="es-ES" sz="2400" b="1" dirty="0" err="1">
                <a:latin typeface="Helvetica"/>
                <a:cs typeface="Helvetica"/>
              </a:rPr>
              <a:t>traits</a:t>
            </a:r>
            <a:r>
              <a:rPr lang="es-ES" sz="2400" b="1" dirty="0">
                <a:latin typeface="Helvetica"/>
                <a:cs typeface="Helvetica"/>
              </a:rPr>
              <a:t> </a:t>
            </a:r>
            <a:r>
              <a:rPr lang="es-ES" sz="2400" dirty="0" err="1">
                <a:latin typeface="Helvetica"/>
                <a:cs typeface="Helvetica"/>
              </a:rPr>
              <a:t>best</a:t>
            </a:r>
            <a:r>
              <a:rPr lang="es-ES" sz="2400" dirty="0">
                <a:latin typeface="Helvetica"/>
                <a:cs typeface="Helvetica"/>
              </a:rPr>
              <a:t> determine </a:t>
            </a:r>
            <a:r>
              <a:rPr lang="es-ES" sz="2400" b="1" dirty="0" err="1">
                <a:latin typeface="Helvetica"/>
                <a:cs typeface="Helvetica"/>
              </a:rPr>
              <a:t>drought-induced</a:t>
            </a:r>
            <a:r>
              <a:rPr lang="es-ES" sz="2400" b="1" dirty="0">
                <a:latin typeface="Helvetica"/>
                <a:cs typeface="Helvetica"/>
              </a:rPr>
              <a:t> </a:t>
            </a:r>
            <a:r>
              <a:rPr lang="es-ES" sz="2400" b="1" dirty="0" err="1">
                <a:latin typeface="Helvetica"/>
                <a:cs typeface="Helvetica"/>
              </a:rPr>
              <a:t>vulnerability</a:t>
            </a:r>
            <a:endParaRPr lang="es-ES" sz="2400" b="1" dirty="0">
              <a:latin typeface="Helvetica"/>
              <a:cs typeface="Helvetica"/>
            </a:endParaRPr>
          </a:p>
        </p:txBody>
      </p:sp>
      <p:pic>
        <p:nvPicPr>
          <p:cNvPr id="4" name="Imagen 3">
            <a:extLst>
              <a:ext uri="{FF2B5EF4-FFF2-40B4-BE49-F238E27FC236}">
                <a16:creationId xmlns:a16="http://schemas.microsoft.com/office/drawing/2014/main" id="{55D17402-96E9-A56B-30C4-8061982E6582}"/>
              </a:ext>
            </a:extLst>
          </p:cNvPr>
          <p:cNvPicPr>
            <a:picLocks noChangeAspect="1"/>
          </p:cNvPicPr>
          <p:nvPr/>
        </p:nvPicPr>
        <p:blipFill>
          <a:blip r:embed="rId3"/>
          <a:srcRect b="57655"/>
          <a:stretch/>
        </p:blipFill>
        <p:spPr>
          <a:xfrm>
            <a:off x="1139560" y="5095351"/>
            <a:ext cx="3477754" cy="1250117"/>
          </a:xfrm>
          <a:prstGeom prst="rect">
            <a:avLst/>
          </a:prstGeom>
        </p:spPr>
      </p:pic>
      <p:sp>
        <p:nvSpPr>
          <p:cNvPr id="6" name="Marcador de contenido 2">
            <a:extLst>
              <a:ext uri="{FF2B5EF4-FFF2-40B4-BE49-F238E27FC236}">
                <a16:creationId xmlns:a16="http://schemas.microsoft.com/office/drawing/2014/main" id="{A488A669-7385-1C31-CF35-8531BA728759}"/>
              </a:ext>
            </a:extLst>
          </p:cNvPr>
          <p:cNvSpPr txBox="1">
            <a:spLocks/>
          </p:cNvSpPr>
          <p:nvPr/>
        </p:nvSpPr>
        <p:spPr>
          <a:xfrm>
            <a:off x="623548" y="1110781"/>
            <a:ext cx="10925077" cy="804155"/>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rgbClr val="218317"/>
              </a:buClr>
              <a:buNone/>
            </a:pPr>
            <a:r>
              <a:rPr lang="es-ES" dirty="0">
                <a:latin typeface="Helvetica"/>
                <a:cs typeface="Helvetica"/>
              </a:rPr>
              <a:t>3 </a:t>
            </a:r>
            <a:r>
              <a:rPr lang="es-ES" dirty="0" err="1">
                <a:latin typeface="Helvetica"/>
                <a:cs typeface="Helvetica"/>
              </a:rPr>
              <a:t>species</a:t>
            </a:r>
            <a:r>
              <a:rPr lang="es-ES" i="1" dirty="0">
                <a:latin typeface="Helvetica"/>
                <a:cs typeface="Helvetica"/>
              </a:rPr>
              <a:t> </a:t>
            </a:r>
            <a:r>
              <a:rPr lang="es-ES" dirty="0">
                <a:latin typeface="Helvetica"/>
                <a:cs typeface="Helvetica"/>
              </a:rPr>
              <a:t>in </a:t>
            </a:r>
            <a:r>
              <a:rPr lang="es-ES" dirty="0" err="1">
                <a:latin typeface="Helvetica"/>
                <a:cs typeface="Helvetica"/>
              </a:rPr>
              <a:t>damaged</a:t>
            </a:r>
            <a:r>
              <a:rPr lang="es-ES" dirty="0">
                <a:latin typeface="Helvetica"/>
                <a:cs typeface="Helvetica"/>
              </a:rPr>
              <a:t> vs. </a:t>
            </a:r>
            <a:r>
              <a:rPr lang="es-ES" dirty="0" err="1">
                <a:latin typeface="Helvetica"/>
                <a:cs typeface="Helvetica"/>
              </a:rPr>
              <a:t>healthy</a:t>
            </a:r>
            <a:r>
              <a:rPr lang="es-ES" dirty="0">
                <a:latin typeface="Helvetica"/>
                <a:cs typeface="Helvetica"/>
              </a:rPr>
              <a:t> sites </a:t>
            </a:r>
            <a:r>
              <a:rPr lang="es-ES" dirty="0" err="1">
                <a:latin typeface="Helvetica"/>
                <a:cs typeface="Helvetica"/>
              </a:rPr>
              <a:t>to</a:t>
            </a:r>
            <a:r>
              <a:rPr lang="es-ES" dirty="0">
                <a:latin typeface="Helvetica"/>
                <a:cs typeface="Helvetica"/>
              </a:rPr>
              <a:t>:</a:t>
            </a:r>
            <a:endParaRPr lang="es-ES" dirty="0">
              <a:latin typeface="Helvetica" panose="020B0604020202020204" pitchFamily="34" charset="0"/>
              <a:cs typeface="Helvetica" panose="020B0604020202020204" pitchFamily="34" charset="0"/>
            </a:endParaRPr>
          </a:p>
        </p:txBody>
      </p:sp>
      <p:pic>
        <p:nvPicPr>
          <p:cNvPr id="8" name="Imagen 7">
            <a:extLst>
              <a:ext uri="{FF2B5EF4-FFF2-40B4-BE49-F238E27FC236}">
                <a16:creationId xmlns:a16="http://schemas.microsoft.com/office/drawing/2014/main" id="{B87B21BD-A6B5-1787-C2FE-38F3E226D731}"/>
              </a:ext>
            </a:extLst>
          </p:cNvPr>
          <p:cNvPicPr>
            <a:picLocks noChangeAspect="1"/>
          </p:cNvPicPr>
          <p:nvPr/>
        </p:nvPicPr>
        <p:blipFill>
          <a:blip r:embed="rId3"/>
          <a:srcRect t="53835"/>
          <a:stretch/>
        </p:blipFill>
        <p:spPr>
          <a:xfrm>
            <a:off x="6364847" y="5057218"/>
            <a:ext cx="3115055" cy="1220763"/>
          </a:xfrm>
          <a:prstGeom prst="rect">
            <a:avLst/>
          </a:prstGeom>
        </p:spPr>
      </p:pic>
      <p:pic>
        <p:nvPicPr>
          <p:cNvPr id="11" name="Gráfico 10" descr="Abeto">
            <a:extLst>
              <a:ext uri="{FF2B5EF4-FFF2-40B4-BE49-F238E27FC236}">
                <a16:creationId xmlns:a16="http://schemas.microsoft.com/office/drawing/2014/main" id="{FEC4AD70-FF0F-3D81-50E4-F7F5A079661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772543" y="1692518"/>
            <a:ext cx="804155" cy="804155"/>
          </a:xfrm>
          <a:prstGeom prst="rect">
            <a:avLst/>
          </a:prstGeom>
        </p:spPr>
      </p:pic>
      <p:pic>
        <p:nvPicPr>
          <p:cNvPr id="12" name="Gráfico 11" descr="Abeto">
            <a:extLst>
              <a:ext uri="{FF2B5EF4-FFF2-40B4-BE49-F238E27FC236}">
                <a16:creationId xmlns:a16="http://schemas.microsoft.com/office/drawing/2014/main" id="{A5FE5DE5-7F85-CC7C-60ED-BA39F77907E5}"/>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215236" y="1707996"/>
            <a:ext cx="804155" cy="804155"/>
          </a:xfrm>
          <a:prstGeom prst="rect">
            <a:avLst/>
          </a:prstGeom>
        </p:spPr>
      </p:pic>
      <p:pic>
        <p:nvPicPr>
          <p:cNvPr id="13" name="Gráfico 12" descr="Abeto">
            <a:extLst>
              <a:ext uri="{FF2B5EF4-FFF2-40B4-BE49-F238E27FC236}">
                <a16:creationId xmlns:a16="http://schemas.microsoft.com/office/drawing/2014/main" id="{A8E9D4C9-57D7-9752-0538-7E64417A3C9C}"/>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065177" y="1754080"/>
            <a:ext cx="804155" cy="804155"/>
          </a:xfrm>
          <a:prstGeom prst="rect">
            <a:avLst/>
          </a:prstGeom>
        </p:spPr>
      </p:pic>
      <p:sp>
        <p:nvSpPr>
          <p:cNvPr id="14" name="Marcador de contenido 2">
            <a:extLst>
              <a:ext uri="{FF2B5EF4-FFF2-40B4-BE49-F238E27FC236}">
                <a16:creationId xmlns:a16="http://schemas.microsoft.com/office/drawing/2014/main" id="{C69AA500-47E2-D768-9417-C83822BE4763}"/>
              </a:ext>
            </a:extLst>
          </p:cNvPr>
          <p:cNvSpPr txBox="1">
            <a:spLocks/>
          </p:cNvSpPr>
          <p:nvPr/>
        </p:nvSpPr>
        <p:spPr>
          <a:xfrm>
            <a:off x="2447965" y="1934497"/>
            <a:ext cx="1767271" cy="623737"/>
          </a:xfrm>
          <a:prstGeom prst="rect">
            <a:avLst/>
          </a:prstGeom>
        </p:spPr>
        <p:txBody>
          <a:bodyPr vert="horz" lIns="91440" tIns="45720" rIns="91440" bIns="45720" rtlCol="0" anchor="t">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sz="1800" i="1" dirty="0" err="1">
                <a:solidFill>
                  <a:srgbClr val="746FB2"/>
                </a:solidFill>
                <a:latin typeface="Helvetica" panose="020B0604020202020204"/>
                <a:cs typeface="Helvetica"/>
              </a:rPr>
              <a:t>Abies</a:t>
            </a:r>
            <a:r>
              <a:rPr lang="es-ES" sz="1800" i="1" dirty="0">
                <a:solidFill>
                  <a:srgbClr val="746FB2"/>
                </a:solidFill>
                <a:latin typeface="Helvetica" panose="020B0604020202020204"/>
                <a:cs typeface="Helvetica"/>
              </a:rPr>
              <a:t> alba</a:t>
            </a:r>
          </a:p>
          <a:p>
            <a:pPr marL="0" indent="0">
              <a:buNone/>
            </a:pPr>
            <a:r>
              <a:rPr lang="es-ES" sz="1800" dirty="0" err="1">
                <a:solidFill>
                  <a:srgbClr val="746FB2"/>
                </a:solidFill>
                <a:latin typeface="Helvetica" panose="020B0604020202020204"/>
                <a:cs typeface="Helvetica" panose="020B0604020202020204"/>
              </a:rPr>
              <a:t>Temperate</a:t>
            </a:r>
            <a:endParaRPr lang="es-ES" sz="1800" dirty="0">
              <a:solidFill>
                <a:srgbClr val="746FB2"/>
              </a:solidFill>
              <a:latin typeface="Helvetica" panose="020B0604020202020204"/>
              <a:cs typeface="Helvetica" panose="020B0604020202020204"/>
            </a:endParaRPr>
          </a:p>
          <a:p>
            <a:pPr marL="0" indent="0">
              <a:buClr>
                <a:srgbClr val="218317"/>
              </a:buClr>
              <a:buNone/>
            </a:pPr>
            <a:endParaRPr lang="es-ES" sz="1800" i="1" dirty="0">
              <a:solidFill>
                <a:srgbClr val="746FB2"/>
              </a:solidFill>
              <a:latin typeface="Helvetica" panose="020B0604020202020204"/>
              <a:cs typeface="Helvetica" panose="020B0604020202020204"/>
            </a:endParaRPr>
          </a:p>
        </p:txBody>
      </p:sp>
      <p:sp>
        <p:nvSpPr>
          <p:cNvPr id="15" name="Marcador de contenido 2">
            <a:extLst>
              <a:ext uri="{FF2B5EF4-FFF2-40B4-BE49-F238E27FC236}">
                <a16:creationId xmlns:a16="http://schemas.microsoft.com/office/drawing/2014/main" id="{8648B532-0391-73C4-05E6-D875C8EA4A2D}"/>
              </a:ext>
            </a:extLst>
          </p:cNvPr>
          <p:cNvSpPr txBox="1">
            <a:spLocks/>
          </p:cNvSpPr>
          <p:nvPr/>
        </p:nvSpPr>
        <p:spPr>
          <a:xfrm>
            <a:off x="5019391" y="1935852"/>
            <a:ext cx="1767271" cy="622381"/>
          </a:xfrm>
          <a:prstGeom prst="rect">
            <a:avLst/>
          </a:prstGeom>
        </p:spPr>
        <p:txBody>
          <a:bodyPr vert="horz" lIns="91440" tIns="45720" rIns="91440" bIns="45720" rtlCol="0" anchor="t">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sz="1800" i="1" dirty="0" err="1">
                <a:solidFill>
                  <a:srgbClr val="1B9E77"/>
                </a:solidFill>
                <a:latin typeface="Helvetica" panose="020B0604020202020204"/>
                <a:cs typeface="Helvetica"/>
              </a:rPr>
              <a:t>Pinus</a:t>
            </a:r>
            <a:r>
              <a:rPr lang="es-ES" sz="1800" i="1" dirty="0">
                <a:solidFill>
                  <a:srgbClr val="1B9E77"/>
                </a:solidFill>
                <a:latin typeface="Helvetica" panose="020B0604020202020204"/>
                <a:cs typeface="Helvetica"/>
              </a:rPr>
              <a:t> </a:t>
            </a:r>
            <a:r>
              <a:rPr lang="es-ES" sz="1800" i="1" dirty="0" err="1">
                <a:solidFill>
                  <a:srgbClr val="1B9E77"/>
                </a:solidFill>
                <a:latin typeface="Helvetica" panose="020B0604020202020204"/>
                <a:cs typeface="Helvetica"/>
              </a:rPr>
              <a:t>sylvestris</a:t>
            </a:r>
            <a:endParaRPr lang="es-ES" sz="1800" i="1" dirty="0">
              <a:solidFill>
                <a:srgbClr val="1B9E77"/>
              </a:solidFill>
              <a:latin typeface="Helvetica" panose="020B0604020202020204"/>
              <a:cs typeface="Helvetica"/>
            </a:endParaRPr>
          </a:p>
          <a:p>
            <a:pPr marL="0" indent="0">
              <a:buNone/>
            </a:pPr>
            <a:r>
              <a:rPr lang="es-ES" sz="1800" dirty="0" err="1">
                <a:solidFill>
                  <a:srgbClr val="1B9E77"/>
                </a:solidFill>
                <a:latin typeface="Helvetica" panose="020B0604020202020204"/>
                <a:cs typeface="Helvetica" panose="020B0604020202020204"/>
              </a:rPr>
              <a:t>Temperate</a:t>
            </a:r>
            <a:endParaRPr lang="es-ES" sz="1800" dirty="0">
              <a:solidFill>
                <a:srgbClr val="1B9E77"/>
              </a:solidFill>
              <a:latin typeface="Helvetica" panose="020B0604020202020204"/>
              <a:cs typeface="Helvetica" panose="020B0604020202020204"/>
            </a:endParaRPr>
          </a:p>
          <a:p>
            <a:pPr marL="0" indent="0">
              <a:buClr>
                <a:srgbClr val="218317"/>
              </a:buClr>
              <a:buNone/>
            </a:pPr>
            <a:endParaRPr lang="es-ES" sz="1800" i="1" dirty="0">
              <a:solidFill>
                <a:srgbClr val="1B9E77"/>
              </a:solidFill>
              <a:latin typeface="Helvetica" panose="020B0604020202020204"/>
              <a:cs typeface="Helvetica" panose="020B0604020202020204"/>
            </a:endParaRPr>
          </a:p>
        </p:txBody>
      </p:sp>
      <p:sp>
        <p:nvSpPr>
          <p:cNvPr id="16" name="Marcador de contenido 2">
            <a:extLst>
              <a:ext uri="{FF2B5EF4-FFF2-40B4-BE49-F238E27FC236}">
                <a16:creationId xmlns:a16="http://schemas.microsoft.com/office/drawing/2014/main" id="{34C95E21-2D57-BCF4-19A9-47FAC0AF4EFA}"/>
              </a:ext>
            </a:extLst>
          </p:cNvPr>
          <p:cNvSpPr txBox="1">
            <a:spLocks/>
          </p:cNvSpPr>
          <p:nvPr/>
        </p:nvSpPr>
        <p:spPr>
          <a:xfrm>
            <a:off x="7869332" y="1912383"/>
            <a:ext cx="1767271" cy="618356"/>
          </a:xfrm>
          <a:prstGeom prst="rect">
            <a:avLst/>
          </a:prstGeom>
        </p:spPr>
        <p:txBody>
          <a:bodyPr vert="horz" lIns="91440" tIns="45720" rIns="91440" bIns="45720" rtlCol="0" anchor="t">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sz="1800" i="1" dirty="0" err="1">
                <a:solidFill>
                  <a:srgbClr val="DB5F02"/>
                </a:solidFill>
                <a:latin typeface="Helvetica" panose="020B0604020202020204"/>
                <a:cs typeface="Helvetica"/>
              </a:rPr>
              <a:t>Pinus</a:t>
            </a:r>
            <a:r>
              <a:rPr lang="es-ES" sz="1800" i="1" dirty="0">
                <a:solidFill>
                  <a:srgbClr val="DB5F02"/>
                </a:solidFill>
                <a:latin typeface="Helvetica" panose="020B0604020202020204"/>
                <a:cs typeface="Helvetica"/>
              </a:rPr>
              <a:t> pinea</a:t>
            </a:r>
          </a:p>
          <a:p>
            <a:pPr marL="0" indent="0">
              <a:buClr>
                <a:srgbClr val="218317"/>
              </a:buClr>
              <a:buNone/>
            </a:pPr>
            <a:r>
              <a:rPr lang="es-ES" sz="1800" dirty="0" err="1">
                <a:solidFill>
                  <a:srgbClr val="DB5F02"/>
                </a:solidFill>
                <a:latin typeface="Helvetica" panose="020B0604020202020204"/>
                <a:cs typeface="Helvetica" panose="020B0604020202020204"/>
              </a:rPr>
              <a:t>Mediterranean</a:t>
            </a:r>
            <a:endParaRPr lang="es-ES" sz="1800" dirty="0">
              <a:solidFill>
                <a:srgbClr val="DB5F02"/>
              </a:solidFill>
              <a:latin typeface="Helvetica" panose="020B0604020202020204"/>
              <a:cs typeface="Helvetica" panose="020B0604020202020204"/>
            </a:endParaRPr>
          </a:p>
        </p:txBody>
      </p:sp>
      <p:sp>
        <p:nvSpPr>
          <p:cNvPr id="9" name="Título 1">
            <a:extLst>
              <a:ext uri="{FF2B5EF4-FFF2-40B4-BE49-F238E27FC236}">
                <a16:creationId xmlns:a16="http://schemas.microsoft.com/office/drawing/2014/main" id="{A5A9F656-B91B-8B88-37C0-78549A7B1835}"/>
              </a:ext>
            </a:extLst>
          </p:cNvPr>
          <p:cNvSpPr txBox="1">
            <a:spLocks/>
          </p:cNvSpPr>
          <p:nvPr/>
        </p:nvSpPr>
        <p:spPr>
          <a:xfrm>
            <a:off x="0" y="0"/>
            <a:ext cx="9690902" cy="804155"/>
          </a:xfrm>
          <a:prstGeom prst="rect">
            <a:avLst/>
          </a:prstGeom>
          <a:solidFill>
            <a:srgbClr val="218317"/>
          </a:solidFill>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 sz="3200" b="1" dirty="0">
                <a:solidFill>
                  <a:schemeClr val="bg1"/>
                </a:solidFill>
                <a:latin typeface="Helvetica" panose="020B0604020202020204" pitchFamily="34" charset="0"/>
                <a:cs typeface="Helvetica" panose="020B0604020202020204" pitchFamily="34" charset="0"/>
              </a:rPr>
              <a:t>	</a:t>
            </a:r>
            <a:r>
              <a:rPr lang="es-ES" sz="3200" b="1" dirty="0" err="1">
                <a:solidFill>
                  <a:schemeClr val="bg1"/>
                </a:solidFill>
                <a:latin typeface="Helvetica" panose="020B0604020202020204" pitchFamily="34" charset="0"/>
                <a:cs typeface="Helvetica" panose="020B0604020202020204" pitchFamily="34" charset="0"/>
              </a:rPr>
              <a:t>Objectives</a:t>
            </a:r>
            <a:endParaRPr lang="es-ES" sz="3200" b="1" dirty="0">
              <a:solidFill>
                <a:schemeClr val="bg1"/>
              </a:solidFill>
              <a:latin typeface="Helvetica" panose="020B0604020202020204" pitchFamily="34" charset="0"/>
              <a:cs typeface="Helvetica" panose="020B0604020202020204" pitchFamily="34" charset="0"/>
            </a:endParaRPr>
          </a:p>
        </p:txBody>
      </p:sp>
      <p:sp>
        <p:nvSpPr>
          <p:cNvPr id="10" name="Título 1">
            <a:extLst>
              <a:ext uri="{FF2B5EF4-FFF2-40B4-BE49-F238E27FC236}">
                <a16:creationId xmlns:a16="http://schemas.microsoft.com/office/drawing/2014/main" id="{08EBD559-FF21-01E8-287A-D770A4F85C25}"/>
              </a:ext>
            </a:extLst>
          </p:cNvPr>
          <p:cNvSpPr txBox="1">
            <a:spLocks/>
          </p:cNvSpPr>
          <p:nvPr/>
        </p:nvSpPr>
        <p:spPr>
          <a:xfrm>
            <a:off x="9690902" y="-1"/>
            <a:ext cx="2501098" cy="804157"/>
          </a:xfrm>
          <a:prstGeom prst="rect">
            <a:avLst/>
          </a:prstGeom>
          <a:solidFill>
            <a:srgbClr val="218317"/>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s-ES" sz="2800" b="1" dirty="0" err="1">
                <a:solidFill>
                  <a:schemeClr val="accent6">
                    <a:lumMod val="60000"/>
                    <a:lumOff val="40000"/>
                  </a:schemeClr>
                </a:solidFill>
                <a:latin typeface="Helvetica" panose="020B0604020202020204" pitchFamily="34" charset="0"/>
                <a:cs typeface="Helvetica" panose="020B0604020202020204" pitchFamily="34" charset="0"/>
              </a:rPr>
              <a:t>Introduction</a:t>
            </a:r>
            <a:r>
              <a:rPr lang="es-ES" sz="2800" b="1" dirty="0">
                <a:solidFill>
                  <a:srgbClr val="218317"/>
                </a:solidFill>
                <a:latin typeface="Helvetica" panose="020B0604020202020204" pitchFamily="34" charset="0"/>
                <a:cs typeface="Helvetica" panose="020B0604020202020204" pitchFamily="34" charset="0"/>
              </a:rPr>
              <a:t>.</a:t>
            </a:r>
          </a:p>
        </p:txBody>
      </p:sp>
    </p:spTree>
    <p:extLst>
      <p:ext uri="{BB962C8B-B14F-4D97-AF65-F5344CB8AC3E}">
        <p14:creationId xmlns:p14="http://schemas.microsoft.com/office/powerpoint/2010/main" val="904222577"/>
      </p:ext>
    </p:extLst>
  </p:cSld>
  <p:clrMapOvr>
    <a:masterClrMapping/>
  </p:clrMapOvr>
  <p:extLst>
    <p:ext uri="{6950BFC3-D8DA-4A85-94F7-54DA5524770B}">
      <p188:commentRel xmlns:p188="http://schemas.microsoft.com/office/powerpoint/2018/8/main" r:id="rId2"/>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C3B4EC-E283-5677-91B8-01AB140D136A}"/>
            </a:ext>
          </a:extLst>
        </p:cNvPr>
        <p:cNvGrpSpPr/>
        <p:nvPr/>
      </p:nvGrpSpPr>
      <p:grpSpPr>
        <a:xfrm>
          <a:off x="0" y="0"/>
          <a:ext cx="0" cy="0"/>
          <a:chOff x="0" y="0"/>
          <a:chExt cx="0" cy="0"/>
        </a:xfrm>
      </p:grpSpPr>
      <p:grpSp>
        <p:nvGrpSpPr>
          <p:cNvPr id="2" name="Grupo 1">
            <a:extLst>
              <a:ext uri="{FF2B5EF4-FFF2-40B4-BE49-F238E27FC236}">
                <a16:creationId xmlns:a16="http://schemas.microsoft.com/office/drawing/2014/main" id="{D4A7DB54-4178-5298-6B51-7E7A57B25860}"/>
              </a:ext>
            </a:extLst>
          </p:cNvPr>
          <p:cNvGrpSpPr/>
          <p:nvPr/>
        </p:nvGrpSpPr>
        <p:grpSpPr>
          <a:xfrm>
            <a:off x="635710" y="1091933"/>
            <a:ext cx="3761427" cy="5167267"/>
            <a:chOff x="6872115" y="927995"/>
            <a:chExt cx="4007741" cy="5167267"/>
          </a:xfrm>
        </p:grpSpPr>
        <p:cxnSp>
          <p:nvCxnSpPr>
            <p:cNvPr id="6" name="Conector recto de flecha 5">
              <a:extLst>
                <a:ext uri="{FF2B5EF4-FFF2-40B4-BE49-F238E27FC236}">
                  <a16:creationId xmlns:a16="http://schemas.microsoft.com/office/drawing/2014/main" id="{1786FCCD-55EC-DFC5-277E-AF1DDBF94257}"/>
                </a:ext>
              </a:extLst>
            </p:cNvPr>
            <p:cNvCxnSpPr>
              <a:cxnSpLocks/>
            </p:cNvCxnSpPr>
            <p:nvPr/>
          </p:nvCxnSpPr>
          <p:spPr>
            <a:xfrm>
              <a:off x="7208697" y="1279802"/>
              <a:ext cx="3292630" cy="0"/>
            </a:xfrm>
            <a:prstGeom prst="straightConnector1">
              <a:avLst/>
            </a:prstGeom>
            <a:ln w="254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7" name="CuadroTexto 18">
              <a:extLst>
                <a:ext uri="{FF2B5EF4-FFF2-40B4-BE49-F238E27FC236}">
                  <a16:creationId xmlns:a16="http://schemas.microsoft.com/office/drawing/2014/main" id="{E88B7465-25BC-FAB4-8CFF-2E7A84028AB2}"/>
                </a:ext>
              </a:extLst>
            </p:cNvPr>
            <p:cNvSpPr txBox="1"/>
            <p:nvPr/>
          </p:nvSpPr>
          <p:spPr>
            <a:xfrm>
              <a:off x="8456917" y="927995"/>
              <a:ext cx="911247" cy="373820"/>
            </a:xfrm>
            <a:prstGeom prst="rect">
              <a:avLst/>
            </a:prstGeom>
            <a:noFill/>
          </p:spPr>
          <p:txBody>
            <a:bodyPr wrap="square" rtlCol="0">
              <a:spAutoFit/>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s-ES" sz="1829">
                  <a:latin typeface="Arial" panose="020B0604020202020204" pitchFamily="34" charset="0"/>
                  <a:cs typeface="Arial" panose="020B0604020202020204" pitchFamily="34" charset="0"/>
                </a:rPr>
                <a:t>34 m</a:t>
              </a:r>
            </a:p>
          </p:txBody>
        </p:sp>
        <p:pic>
          <p:nvPicPr>
            <p:cNvPr id="8" name="Imagen 7">
              <a:extLst>
                <a:ext uri="{FF2B5EF4-FFF2-40B4-BE49-F238E27FC236}">
                  <a16:creationId xmlns:a16="http://schemas.microsoft.com/office/drawing/2014/main" id="{30E7678A-7A50-7275-0F35-F468D9323FA1}"/>
                </a:ext>
              </a:extLst>
            </p:cNvPr>
            <p:cNvPicPr>
              <a:picLocks noChangeAspect="1"/>
            </p:cNvPicPr>
            <p:nvPr/>
          </p:nvPicPr>
          <p:blipFill>
            <a:blip r:embed="rId3"/>
            <a:stretch>
              <a:fillRect/>
            </a:stretch>
          </p:blipFill>
          <p:spPr>
            <a:xfrm>
              <a:off x="6872115" y="1563478"/>
              <a:ext cx="4007741" cy="4531784"/>
            </a:xfrm>
            <a:prstGeom prst="rect">
              <a:avLst/>
            </a:prstGeom>
          </p:spPr>
        </p:pic>
      </p:grpSp>
      <p:sp>
        <p:nvSpPr>
          <p:cNvPr id="9" name="CuadroTexto 10">
            <a:extLst>
              <a:ext uri="{FF2B5EF4-FFF2-40B4-BE49-F238E27FC236}">
                <a16:creationId xmlns:a16="http://schemas.microsoft.com/office/drawing/2014/main" id="{BFC4E210-0B8F-7818-4DEA-F8337C5EB8D4}"/>
              </a:ext>
            </a:extLst>
          </p:cNvPr>
          <p:cNvSpPr txBox="1"/>
          <p:nvPr/>
        </p:nvSpPr>
        <p:spPr>
          <a:xfrm>
            <a:off x="4843220" y="1091933"/>
            <a:ext cx="5809299" cy="6494085"/>
          </a:xfrm>
          <a:prstGeom prst="rect">
            <a:avLst/>
          </a:prstGeom>
          <a:noFill/>
        </p:spPr>
        <p:txBody>
          <a:bodyPr wrap="square" rtlCol="0">
            <a:spAutoFit/>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buClr>
                <a:srgbClr val="218317"/>
              </a:buClr>
            </a:pPr>
            <a:r>
              <a:rPr lang="es-ES" sz="2000" b="1" dirty="0">
                <a:solidFill>
                  <a:schemeClr val="accent6">
                    <a:lumMod val="75000"/>
                  </a:schemeClr>
                </a:solidFill>
                <a:latin typeface="Helvetica" panose="020B0604020202020204" pitchFamily="34" charset="0"/>
                <a:cs typeface="Helvetica" panose="020B0604020202020204" pitchFamily="34" charset="0"/>
              </a:rPr>
              <a:t>1.- </a:t>
            </a:r>
            <a:r>
              <a:rPr lang="es-ES" sz="2000" b="1" dirty="0" err="1">
                <a:solidFill>
                  <a:schemeClr val="accent6">
                    <a:lumMod val="75000"/>
                  </a:schemeClr>
                </a:solidFill>
                <a:latin typeface="Helvetica" panose="020B0604020202020204" pitchFamily="34" charset="0"/>
                <a:cs typeface="Helvetica" panose="020B0604020202020204" pitchFamily="34" charset="0"/>
              </a:rPr>
              <a:t>Mature</a:t>
            </a:r>
            <a:r>
              <a:rPr lang="es-ES" sz="2000" b="1" dirty="0">
                <a:solidFill>
                  <a:schemeClr val="accent6">
                    <a:lumMod val="75000"/>
                  </a:schemeClr>
                </a:solidFill>
                <a:latin typeface="Helvetica" panose="020B0604020202020204" pitchFamily="34" charset="0"/>
                <a:cs typeface="Helvetica" panose="020B0604020202020204" pitchFamily="34" charset="0"/>
              </a:rPr>
              <a:t> </a:t>
            </a:r>
            <a:r>
              <a:rPr lang="es-ES" sz="2000" b="1" dirty="0" err="1">
                <a:solidFill>
                  <a:schemeClr val="accent6">
                    <a:lumMod val="75000"/>
                  </a:schemeClr>
                </a:solidFill>
                <a:latin typeface="Helvetica" panose="020B0604020202020204" pitchFamily="34" charset="0"/>
                <a:cs typeface="Helvetica" panose="020B0604020202020204" pitchFamily="34" charset="0"/>
              </a:rPr>
              <a:t>trees</a:t>
            </a:r>
            <a:r>
              <a:rPr lang="es-ES" sz="2000" b="1" dirty="0">
                <a:solidFill>
                  <a:schemeClr val="accent6">
                    <a:lumMod val="75000"/>
                  </a:schemeClr>
                </a:solidFill>
                <a:latin typeface="Helvetica" panose="020B0604020202020204" pitchFamily="34" charset="0"/>
                <a:cs typeface="Helvetica" panose="020B0604020202020204" pitchFamily="34" charset="0"/>
              </a:rPr>
              <a:t> </a:t>
            </a:r>
            <a:r>
              <a:rPr lang="es-ES" sz="2000" b="1" dirty="0" err="1">
                <a:solidFill>
                  <a:schemeClr val="accent6">
                    <a:lumMod val="75000"/>
                  </a:schemeClr>
                </a:solidFill>
                <a:latin typeface="Helvetica" panose="020B0604020202020204" pitchFamily="34" charset="0"/>
                <a:cs typeface="Helvetica" panose="020B0604020202020204" pitchFamily="34" charset="0"/>
              </a:rPr>
              <a:t>inventory</a:t>
            </a:r>
            <a:endParaRPr lang="es-ES" sz="2800" b="1" dirty="0">
              <a:solidFill>
                <a:schemeClr val="accent6">
                  <a:lumMod val="75000"/>
                </a:schemeClr>
              </a:solidFill>
              <a:latin typeface="Helvetica" panose="020B0604020202020204" pitchFamily="34" charset="0"/>
              <a:cs typeface="Helvetica" panose="020B0604020202020204" pitchFamily="34" charset="0"/>
            </a:endParaRPr>
          </a:p>
          <a:p>
            <a:pPr marL="800100" lvl="1" indent="-342900">
              <a:buClr>
                <a:srgbClr val="218317"/>
              </a:buClr>
              <a:buFont typeface="Arial" panose="020B0604020202020204" pitchFamily="34" charset="0"/>
              <a:buChar char="•"/>
            </a:pPr>
            <a:r>
              <a:rPr lang="es-ES" sz="2000" dirty="0" err="1">
                <a:latin typeface="Helvetica" panose="020B0604020202020204" pitchFamily="34" charset="0"/>
                <a:cs typeface="Helvetica" panose="020B0604020202020204" pitchFamily="34" charset="0"/>
              </a:rPr>
              <a:t>Species</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identity</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defoliation</a:t>
            </a:r>
            <a:r>
              <a:rPr lang="es-ES" sz="2000" dirty="0">
                <a:latin typeface="Helvetica" panose="020B0604020202020204" pitchFamily="34" charset="0"/>
                <a:cs typeface="Helvetica" panose="020B0604020202020204" pitchFamily="34" charset="0"/>
              </a:rPr>
              <a:t> &amp; </a:t>
            </a:r>
            <a:r>
              <a:rPr lang="es-ES" sz="2000" dirty="0" err="1">
                <a:latin typeface="Helvetica" panose="020B0604020202020204" pitchFamily="34" charset="0"/>
                <a:cs typeface="Helvetica" panose="020B0604020202020204" pitchFamily="34" charset="0"/>
              </a:rPr>
              <a:t>d.b.h</a:t>
            </a:r>
            <a:r>
              <a:rPr lang="es-ES" sz="2000" dirty="0">
                <a:latin typeface="Helvetica" panose="020B0604020202020204" pitchFamily="34" charset="0"/>
                <a:cs typeface="Helvetica" panose="020B0604020202020204" pitchFamily="34" charset="0"/>
              </a:rPr>
              <a:t>.</a:t>
            </a:r>
          </a:p>
          <a:p>
            <a:pPr marL="800100" lvl="1" indent="-342900">
              <a:buClr>
                <a:srgbClr val="218317"/>
              </a:buClr>
              <a:buFont typeface="Arial" panose="020B0604020202020204" pitchFamily="34" charset="0"/>
              <a:buChar char="•"/>
            </a:pPr>
            <a:endParaRPr lang="es-ES" sz="2400" dirty="0">
              <a:latin typeface="Helvetica" panose="020B0604020202020204" pitchFamily="34" charset="0"/>
              <a:cs typeface="Helvetica" panose="020B0604020202020204" pitchFamily="34" charset="0"/>
            </a:endParaRPr>
          </a:p>
          <a:p>
            <a:pPr>
              <a:buClr>
                <a:srgbClr val="218317"/>
              </a:buClr>
            </a:pPr>
            <a:r>
              <a:rPr lang="es-ES" sz="2000" b="1" dirty="0">
                <a:solidFill>
                  <a:schemeClr val="accent6">
                    <a:lumMod val="75000"/>
                  </a:schemeClr>
                </a:solidFill>
                <a:latin typeface="Helvetica" panose="020B0604020202020204" pitchFamily="34" charset="0"/>
                <a:cs typeface="Helvetica" panose="020B0604020202020204" pitchFamily="34" charset="0"/>
              </a:rPr>
              <a:t>2.- </a:t>
            </a:r>
            <a:r>
              <a:rPr lang="es-ES" sz="2000" b="1" dirty="0" err="1">
                <a:solidFill>
                  <a:schemeClr val="accent6">
                    <a:lumMod val="75000"/>
                  </a:schemeClr>
                </a:solidFill>
                <a:latin typeface="Helvetica" panose="020B0604020202020204" pitchFamily="34" charset="0"/>
                <a:cs typeface="Helvetica" panose="020B0604020202020204" pitchFamily="34" charset="0"/>
              </a:rPr>
              <a:t>Regeneration</a:t>
            </a:r>
            <a:r>
              <a:rPr lang="es-ES" sz="2000" b="1" dirty="0">
                <a:solidFill>
                  <a:schemeClr val="accent6">
                    <a:lumMod val="75000"/>
                  </a:schemeClr>
                </a:solidFill>
                <a:latin typeface="Helvetica" panose="020B0604020202020204" pitchFamily="34" charset="0"/>
                <a:cs typeface="Helvetica" panose="020B0604020202020204" pitchFamily="34" charset="0"/>
              </a:rPr>
              <a:t> </a:t>
            </a:r>
            <a:r>
              <a:rPr lang="es-ES" sz="2000" b="1" dirty="0" err="1">
                <a:solidFill>
                  <a:schemeClr val="accent6">
                    <a:lumMod val="75000"/>
                  </a:schemeClr>
                </a:solidFill>
                <a:latin typeface="Helvetica" panose="020B0604020202020204" pitchFamily="34" charset="0"/>
                <a:cs typeface="Helvetica" panose="020B0604020202020204" pitchFamily="34" charset="0"/>
              </a:rPr>
              <a:t>inventory</a:t>
            </a:r>
            <a:endParaRPr lang="es-ES" sz="2800" b="1" dirty="0">
              <a:solidFill>
                <a:schemeClr val="accent6">
                  <a:lumMod val="75000"/>
                </a:schemeClr>
              </a:solidFill>
              <a:latin typeface="Helvetica" panose="020B0604020202020204" pitchFamily="34" charset="0"/>
              <a:cs typeface="Helvetica" panose="020B0604020202020204" pitchFamily="34" charset="0"/>
            </a:endParaRPr>
          </a:p>
          <a:p>
            <a:pPr marL="800100" lvl="1" indent="-342900">
              <a:buClr>
                <a:srgbClr val="218317"/>
              </a:buClr>
              <a:buFont typeface="Arial" panose="020B0604020202020204" pitchFamily="34" charset="0"/>
              <a:buChar char="•"/>
            </a:pPr>
            <a:r>
              <a:rPr lang="es-ES" sz="2000" dirty="0" err="1">
                <a:latin typeface="Helvetica" panose="020B0604020202020204" pitchFamily="34" charset="0"/>
                <a:cs typeface="Helvetica" panose="020B0604020202020204" pitchFamily="34" charset="0"/>
              </a:rPr>
              <a:t>Species</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identity</a:t>
            </a:r>
            <a:r>
              <a:rPr lang="es-ES" sz="2000" dirty="0">
                <a:latin typeface="Helvetica" panose="020B0604020202020204" pitchFamily="34" charset="0"/>
                <a:cs typeface="Helvetica" panose="020B0604020202020204" pitchFamily="34" charset="0"/>
              </a:rPr>
              <a:t> &amp; </a:t>
            </a:r>
            <a:r>
              <a:rPr lang="es-ES" sz="2000" dirty="0" err="1">
                <a:latin typeface="Helvetica" panose="020B0604020202020204" pitchFamily="34" charset="0"/>
                <a:cs typeface="Helvetica" panose="020B0604020202020204" pitchFamily="34" charset="0"/>
              </a:rPr>
              <a:t>height</a:t>
            </a:r>
            <a:endParaRPr lang="es-ES" sz="2000" dirty="0">
              <a:latin typeface="Helvetica" panose="020B0604020202020204" pitchFamily="34" charset="0"/>
              <a:cs typeface="Helvetica" panose="020B0604020202020204" pitchFamily="34" charset="0"/>
            </a:endParaRPr>
          </a:p>
          <a:p>
            <a:pPr marL="800100" lvl="1" indent="-342900">
              <a:buClr>
                <a:srgbClr val="218317"/>
              </a:buClr>
              <a:buFont typeface="Arial" panose="020B0604020202020204" pitchFamily="34" charset="0"/>
              <a:buChar char="•"/>
            </a:pPr>
            <a:endParaRPr lang="es-ES" sz="2000" dirty="0">
              <a:latin typeface="Helvetica" panose="020B0604020202020204" pitchFamily="34" charset="0"/>
              <a:cs typeface="Helvetica" panose="020B0604020202020204" pitchFamily="34" charset="0"/>
            </a:endParaRPr>
          </a:p>
          <a:p>
            <a:pPr>
              <a:buClr>
                <a:srgbClr val="218317"/>
              </a:buClr>
            </a:pPr>
            <a:r>
              <a:rPr lang="es-ES" sz="2000" b="1" dirty="0">
                <a:solidFill>
                  <a:schemeClr val="accent6">
                    <a:lumMod val="75000"/>
                  </a:schemeClr>
                </a:solidFill>
                <a:latin typeface="Helvetica" panose="020B0604020202020204" pitchFamily="34" charset="0"/>
                <a:cs typeface="Helvetica" panose="020B0604020202020204" pitchFamily="34" charset="0"/>
              </a:rPr>
              <a:t>3.- </a:t>
            </a:r>
            <a:r>
              <a:rPr lang="es-ES" sz="2000" b="1" dirty="0" err="1">
                <a:solidFill>
                  <a:schemeClr val="accent6">
                    <a:lumMod val="75000"/>
                  </a:schemeClr>
                </a:solidFill>
                <a:latin typeface="Helvetica" panose="020B0604020202020204" pitchFamily="34" charset="0"/>
                <a:cs typeface="Helvetica" panose="020B0604020202020204" pitchFamily="34" charset="0"/>
              </a:rPr>
              <a:t>Shrub</a:t>
            </a:r>
            <a:r>
              <a:rPr lang="es-ES" sz="2000" b="1" dirty="0">
                <a:solidFill>
                  <a:schemeClr val="accent6">
                    <a:lumMod val="75000"/>
                  </a:schemeClr>
                </a:solidFill>
                <a:latin typeface="Helvetica" panose="020B0604020202020204" pitchFamily="34" charset="0"/>
                <a:cs typeface="Helvetica" panose="020B0604020202020204" pitchFamily="34" charset="0"/>
              </a:rPr>
              <a:t> </a:t>
            </a:r>
            <a:r>
              <a:rPr lang="es-ES" sz="2000" b="1" dirty="0" err="1">
                <a:solidFill>
                  <a:schemeClr val="accent6">
                    <a:lumMod val="75000"/>
                  </a:schemeClr>
                </a:solidFill>
                <a:latin typeface="Helvetica" panose="020B0604020202020204" pitchFamily="34" charset="0"/>
                <a:cs typeface="Helvetica" panose="020B0604020202020204" pitchFamily="34" charset="0"/>
              </a:rPr>
              <a:t>inventory</a:t>
            </a:r>
            <a:endParaRPr lang="es-ES" sz="2800" b="1" dirty="0">
              <a:solidFill>
                <a:schemeClr val="accent6">
                  <a:lumMod val="75000"/>
                </a:schemeClr>
              </a:solidFill>
              <a:latin typeface="Helvetica" panose="020B0604020202020204" pitchFamily="34" charset="0"/>
              <a:cs typeface="Helvetica" panose="020B0604020202020204" pitchFamily="34" charset="0"/>
            </a:endParaRPr>
          </a:p>
          <a:p>
            <a:pPr marL="800100" lvl="1" indent="-342900">
              <a:buClr>
                <a:srgbClr val="218317"/>
              </a:buClr>
              <a:buFont typeface="Arial" panose="020B0604020202020204" pitchFamily="34" charset="0"/>
              <a:buChar char="•"/>
            </a:pPr>
            <a:r>
              <a:rPr lang="es-ES" sz="2000" dirty="0" err="1">
                <a:latin typeface="Helvetica" panose="020B0604020202020204" pitchFamily="34" charset="0"/>
                <a:cs typeface="Helvetica" panose="020B0604020202020204" pitchFamily="34" charset="0"/>
              </a:rPr>
              <a:t>Species</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identity</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height</a:t>
            </a:r>
            <a:r>
              <a:rPr lang="es-ES" sz="2000" dirty="0">
                <a:latin typeface="Helvetica" panose="020B0604020202020204" pitchFamily="34" charset="0"/>
                <a:cs typeface="Helvetica" panose="020B0604020202020204" pitchFamily="34" charset="0"/>
              </a:rPr>
              <a:t> &amp; </a:t>
            </a:r>
            <a:r>
              <a:rPr lang="es-ES" sz="2000" dirty="0" err="1">
                <a:latin typeface="Helvetica" panose="020B0604020202020204" pitchFamily="34" charset="0"/>
                <a:cs typeface="Helvetica" panose="020B0604020202020204" pitchFamily="34" charset="0"/>
              </a:rPr>
              <a:t>cover</a:t>
            </a:r>
            <a:endParaRPr lang="es-ES" sz="2000" dirty="0">
              <a:latin typeface="Helvetica" panose="020B0604020202020204" pitchFamily="34" charset="0"/>
              <a:cs typeface="Helvetica" panose="020B0604020202020204" pitchFamily="34" charset="0"/>
            </a:endParaRPr>
          </a:p>
          <a:p>
            <a:pPr marL="800100" lvl="1" indent="-342900">
              <a:buClr>
                <a:srgbClr val="218317"/>
              </a:buClr>
              <a:buFont typeface="Arial" panose="020B0604020202020204" pitchFamily="34" charset="0"/>
              <a:buChar char="•"/>
            </a:pPr>
            <a:endParaRPr lang="es-ES" sz="2000" dirty="0">
              <a:latin typeface="Helvetica" panose="020B0604020202020204" pitchFamily="34" charset="0"/>
              <a:cs typeface="Helvetica" panose="020B0604020202020204" pitchFamily="34" charset="0"/>
            </a:endParaRPr>
          </a:p>
          <a:p>
            <a:pPr>
              <a:buClr>
                <a:srgbClr val="218317"/>
              </a:buClr>
            </a:pPr>
            <a:r>
              <a:rPr lang="es-ES" sz="2000" b="1" dirty="0">
                <a:solidFill>
                  <a:schemeClr val="accent6">
                    <a:lumMod val="75000"/>
                  </a:schemeClr>
                </a:solidFill>
                <a:latin typeface="Helvetica" panose="020B0604020202020204" pitchFamily="34" charset="0"/>
                <a:cs typeface="Helvetica" panose="020B0604020202020204" pitchFamily="34" charset="0"/>
              </a:rPr>
              <a:t>4.- Target </a:t>
            </a:r>
            <a:r>
              <a:rPr lang="es-ES" sz="2000" b="1" dirty="0" err="1">
                <a:solidFill>
                  <a:schemeClr val="accent6">
                    <a:lumMod val="75000"/>
                  </a:schemeClr>
                </a:solidFill>
                <a:latin typeface="Helvetica" panose="020B0604020202020204" pitchFamily="34" charset="0"/>
                <a:cs typeface="Helvetica" panose="020B0604020202020204" pitchFamily="34" charset="0"/>
              </a:rPr>
              <a:t>trees</a:t>
            </a:r>
            <a:endParaRPr lang="es-ES" sz="2800" b="1" dirty="0">
              <a:solidFill>
                <a:schemeClr val="accent6">
                  <a:lumMod val="75000"/>
                </a:schemeClr>
              </a:solidFill>
              <a:latin typeface="Helvetica" panose="020B0604020202020204" pitchFamily="34" charset="0"/>
              <a:cs typeface="Helvetica" panose="020B0604020202020204" pitchFamily="34" charset="0"/>
            </a:endParaRPr>
          </a:p>
          <a:p>
            <a:pPr marL="800100" lvl="1" indent="-342900">
              <a:buClr>
                <a:srgbClr val="218317"/>
              </a:buClr>
              <a:buFont typeface="Arial" panose="020B0604020202020204" pitchFamily="34" charset="0"/>
              <a:buChar char="•"/>
            </a:pPr>
            <a:r>
              <a:rPr lang="es-ES" sz="2000" dirty="0" err="1">
                <a:latin typeface="Helvetica" panose="020B0604020202020204" pitchFamily="34" charset="0"/>
                <a:cs typeface="Helvetica" panose="020B0604020202020204" pitchFamily="34" charset="0"/>
              </a:rPr>
              <a:t>Height</a:t>
            </a:r>
            <a:endParaRPr lang="es-ES" sz="2000" dirty="0">
              <a:latin typeface="Helvetica" panose="020B0604020202020204" pitchFamily="34" charset="0"/>
              <a:cs typeface="Helvetica" panose="020B0604020202020204" pitchFamily="34" charset="0"/>
            </a:endParaRPr>
          </a:p>
          <a:p>
            <a:pPr marL="800100" lvl="1" indent="-342900">
              <a:buClr>
                <a:srgbClr val="218317"/>
              </a:buClr>
              <a:buFont typeface="Arial" panose="020B0604020202020204" pitchFamily="34" charset="0"/>
              <a:buChar char="•"/>
            </a:pPr>
            <a:r>
              <a:rPr lang="es-ES" sz="2000" dirty="0">
                <a:latin typeface="Helvetica" panose="020B0604020202020204" pitchFamily="34" charset="0"/>
                <a:cs typeface="Helvetica" panose="020B0604020202020204" pitchFamily="34" charset="0"/>
              </a:rPr>
              <a:t>LWC </a:t>
            </a:r>
          </a:p>
          <a:p>
            <a:pPr marL="800100" lvl="1" indent="-342900">
              <a:buClr>
                <a:srgbClr val="218317"/>
              </a:buClr>
              <a:buFont typeface="Arial" panose="020B0604020202020204" pitchFamily="34" charset="0"/>
              <a:buChar char="•"/>
            </a:pPr>
            <a:r>
              <a:rPr lang="es-ES" sz="2000" dirty="0">
                <a:latin typeface="Helvetica" panose="020B0604020202020204" pitchFamily="34" charset="0"/>
                <a:cs typeface="Helvetica" panose="020B0604020202020204" pitchFamily="34" charset="0"/>
              </a:rPr>
              <a:t>SLA</a:t>
            </a:r>
          </a:p>
          <a:p>
            <a:pPr marL="800100" lvl="1" indent="-342900">
              <a:buClr>
                <a:srgbClr val="218317"/>
              </a:buClr>
              <a:buFont typeface="Arial" panose="020B0604020202020204" pitchFamily="34" charset="0"/>
              <a:buChar char="•"/>
            </a:pPr>
            <a:r>
              <a:rPr lang="es-ES" sz="2000" dirty="0" err="1">
                <a:latin typeface="Helvetica" panose="020B0604020202020204" pitchFamily="34" charset="0"/>
                <a:cs typeface="Helvetica" panose="020B0604020202020204" pitchFamily="34" charset="0"/>
              </a:rPr>
              <a:t>Photosynthetic</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pigments</a:t>
            </a:r>
            <a:endParaRPr lang="es-ES" sz="2000" dirty="0">
              <a:latin typeface="Helvetica" panose="020B0604020202020204" pitchFamily="34" charset="0"/>
              <a:cs typeface="Helvetica" panose="020B0604020202020204" pitchFamily="34" charset="0"/>
            </a:endParaRPr>
          </a:p>
          <a:p>
            <a:pPr marL="800100" lvl="1" indent="-342900">
              <a:buClr>
                <a:srgbClr val="218317"/>
              </a:buClr>
              <a:buFont typeface="Arial" panose="020B0604020202020204" pitchFamily="34" charset="0"/>
              <a:buChar char="•"/>
            </a:pPr>
            <a:r>
              <a:rPr lang="es-ES" sz="2000" dirty="0" err="1">
                <a:latin typeface="Helvetica" panose="020B0604020202020204" pitchFamily="34" charset="0"/>
                <a:cs typeface="Helvetica" panose="020B0604020202020204" pitchFamily="34" charset="0"/>
              </a:rPr>
              <a:t>Isotopes</a:t>
            </a:r>
            <a:r>
              <a:rPr lang="es-ES" sz="2000" dirty="0">
                <a:latin typeface="Helvetica" panose="020B0604020202020204" pitchFamily="34" charset="0"/>
                <a:cs typeface="Helvetica" panose="020B0604020202020204" pitchFamily="34" charset="0"/>
              </a:rPr>
              <a:t> (C, N, O)</a:t>
            </a:r>
          </a:p>
          <a:p>
            <a:pPr marL="800100" lvl="1" indent="-342900">
              <a:buClr>
                <a:srgbClr val="218317"/>
              </a:buClr>
              <a:buFont typeface="Arial" panose="020B0604020202020204" pitchFamily="34" charset="0"/>
              <a:buChar char="•"/>
            </a:pPr>
            <a:endParaRPr lang="es-ES" sz="2000" dirty="0">
              <a:latin typeface="Helvetica" panose="020B0604020202020204" pitchFamily="34" charset="0"/>
              <a:cs typeface="Helvetica" panose="020B0604020202020204" pitchFamily="34" charset="0"/>
            </a:endParaRPr>
          </a:p>
          <a:p>
            <a:pPr>
              <a:buClr>
                <a:srgbClr val="218317"/>
              </a:buClr>
            </a:pPr>
            <a:r>
              <a:rPr lang="es-ES" sz="2000" b="1" dirty="0">
                <a:solidFill>
                  <a:schemeClr val="accent6">
                    <a:lumMod val="75000"/>
                  </a:schemeClr>
                </a:solidFill>
                <a:latin typeface="Helvetica" panose="020B0604020202020204" pitchFamily="34" charset="0"/>
                <a:cs typeface="Helvetica" panose="020B0604020202020204" pitchFamily="34" charset="0"/>
              </a:rPr>
              <a:t>5.- </a:t>
            </a:r>
            <a:r>
              <a:rPr lang="es-ES" sz="2000" b="1" dirty="0" err="1">
                <a:solidFill>
                  <a:schemeClr val="accent6">
                    <a:lumMod val="75000"/>
                  </a:schemeClr>
                </a:solidFill>
                <a:latin typeface="Helvetica" panose="020B0604020202020204" pitchFamily="34" charset="0"/>
                <a:cs typeface="Helvetica" panose="020B0604020202020204" pitchFamily="34" charset="0"/>
              </a:rPr>
              <a:t>Soil</a:t>
            </a:r>
            <a:r>
              <a:rPr lang="es-ES" sz="2000" b="1" dirty="0">
                <a:solidFill>
                  <a:schemeClr val="accent6">
                    <a:lumMod val="75000"/>
                  </a:schemeClr>
                </a:solidFill>
                <a:latin typeface="Helvetica" panose="020B0604020202020204" pitchFamily="34" charset="0"/>
                <a:cs typeface="Helvetica" panose="020B0604020202020204" pitchFamily="34" charset="0"/>
              </a:rPr>
              <a:t> data</a:t>
            </a:r>
            <a:endParaRPr lang="es-ES" sz="2800" b="1" dirty="0">
              <a:solidFill>
                <a:schemeClr val="accent6">
                  <a:lumMod val="75000"/>
                </a:schemeClr>
              </a:solidFill>
              <a:latin typeface="Helvetica" panose="020B0604020202020204" pitchFamily="34" charset="0"/>
              <a:cs typeface="Helvetica" panose="020B0604020202020204" pitchFamily="34" charset="0"/>
            </a:endParaRPr>
          </a:p>
          <a:p>
            <a:pPr marL="800100" lvl="1" indent="-342900">
              <a:buClr>
                <a:srgbClr val="218317"/>
              </a:buClr>
              <a:buFont typeface="Arial" panose="020B0604020202020204" pitchFamily="34" charset="0"/>
              <a:buChar char="•"/>
            </a:pPr>
            <a:endParaRPr lang="es-ES" sz="2400" dirty="0">
              <a:latin typeface="Helvetica" panose="020B0604020202020204" pitchFamily="34" charset="0"/>
              <a:cs typeface="Helvetica" panose="020B0604020202020204" pitchFamily="34" charset="0"/>
            </a:endParaRPr>
          </a:p>
          <a:p>
            <a:pPr marL="800100" lvl="1" indent="-342900">
              <a:buClr>
                <a:srgbClr val="218317"/>
              </a:buClr>
              <a:buFont typeface="Arial" panose="020B0604020202020204" pitchFamily="34" charset="0"/>
              <a:buChar char="•"/>
            </a:pPr>
            <a:endParaRPr lang="es-ES" sz="2400" dirty="0">
              <a:latin typeface="Helvetica" panose="020B0604020202020204" pitchFamily="34" charset="0"/>
              <a:cs typeface="Helvetica" panose="020B0604020202020204" pitchFamily="34" charset="0"/>
            </a:endParaRPr>
          </a:p>
          <a:p>
            <a:pPr marL="742950" lvl="1" indent="-285750">
              <a:buFont typeface="Arial" panose="020B0604020202020204" pitchFamily="34" charset="0"/>
              <a:buChar char="•"/>
            </a:pPr>
            <a:endParaRPr lang="es-ES" sz="2400" dirty="0">
              <a:latin typeface="Helvetica" panose="020B0604020202020204" pitchFamily="34" charset="0"/>
              <a:cs typeface="Helvetica" panose="020B0604020202020204" pitchFamily="34" charset="0"/>
            </a:endParaRPr>
          </a:p>
        </p:txBody>
      </p:sp>
      <p:pic>
        <p:nvPicPr>
          <p:cNvPr id="12" name="Gráfico 11" descr="Abeto">
            <a:extLst>
              <a:ext uri="{FF2B5EF4-FFF2-40B4-BE49-F238E27FC236}">
                <a16:creationId xmlns:a16="http://schemas.microsoft.com/office/drawing/2014/main" id="{545A1811-C8ED-7AF6-9FB7-C0AAABC35AF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826902" y="2389013"/>
            <a:ext cx="914400" cy="914400"/>
          </a:xfrm>
          <a:prstGeom prst="rect">
            <a:avLst/>
          </a:prstGeom>
        </p:spPr>
      </p:pic>
      <p:pic>
        <p:nvPicPr>
          <p:cNvPr id="13" name="Gráfico 12" descr="Abeto">
            <a:extLst>
              <a:ext uri="{FF2B5EF4-FFF2-40B4-BE49-F238E27FC236}">
                <a16:creationId xmlns:a16="http://schemas.microsoft.com/office/drawing/2014/main" id="{89ECA156-2E40-F0AE-D17C-B2DCEA84193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47183" y="2746686"/>
            <a:ext cx="914400" cy="914400"/>
          </a:xfrm>
          <a:prstGeom prst="rect">
            <a:avLst/>
          </a:prstGeom>
        </p:spPr>
      </p:pic>
      <p:pic>
        <p:nvPicPr>
          <p:cNvPr id="14" name="Gráfico 13" descr="Abeto">
            <a:extLst>
              <a:ext uri="{FF2B5EF4-FFF2-40B4-BE49-F238E27FC236}">
                <a16:creationId xmlns:a16="http://schemas.microsoft.com/office/drawing/2014/main" id="{3B199FEF-6E3B-64F7-ABE6-499676A5843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713867" y="3030361"/>
            <a:ext cx="914400" cy="914400"/>
          </a:xfrm>
          <a:prstGeom prst="rect">
            <a:avLst/>
          </a:prstGeom>
        </p:spPr>
      </p:pic>
      <p:pic>
        <p:nvPicPr>
          <p:cNvPr id="15" name="Gráfico 14" descr="Abeto">
            <a:extLst>
              <a:ext uri="{FF2B5EF4-FFF2-40B4-BE49-F238E27FC236}">
                <a16:creationId xmlns:a16="http://schemas.microsoft.com/office/drawing/2014/main" id="{F1C2D211-15A5-69E5-AA50-E3C085ECC35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437058" y="4127146"/>
            <a:ext cx="914400" cy="914400"/>
          </a:xfrm>
          <a:prstGeom prst="rect">
            <a:avLst/>
          </a:prstGeom>
        </p:spPr>
      </p:pic>
      <p:pic>
        <p:nvPicPr>
          <p:cNvPr id="16" name="Gráfico 15" descr="Abeto">
            <a:extLst>
              <a:ext uri="{FF2B5EF4-FFF2-40B4-BE49-F238E27FC236}">
                <a16:creationId xmlns:a16="http://schemas.microsoft.com/office/drawing/2014/main" id="{7A90B577-9218-845B-73D1-20C0BB8C1C4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978353" y="4224808"/>
            <a:ext cx="914400" cy="914400"/>
          </a:xfrm>
          <a:prstGeom prst="rect">
            <a:avLst/>
          </a:prstGeom>
        </p:spPr>
      </p:pic>
      <p:sp>
        <p:nvSpPr>
          <p:cNvPr id="3" name="Título 1">
            <a:extLst>
              <a:ext uri="{FF2B5EF4-FFF2-40B4-BE49-F238E27FC236}">
                <a16:creationId xmlns:a16="http://schemas.microsoft.com/office/drawing/2014/main" id="{BDB7A46D-91B8-F459-9835-65013F61A8DB}"/>
              </a:ext>
            </a:extLst>
          </p:cNvPr>
          <p:cNvSpPr>
            <a:spLocks noGrp="1"/>
          </p:cNvSpPr>
          <p:nvPr>
            <p:ph type="title"/>
          </p:nvPr>
        </p:nvSpPr>
        <p:spPr>
          <a:xfrm>
            <a:off x="0" y="0"/>
            <a:ext cx="9690902" cy="804155"/>
          </a:xfrm>
          <a:solidFill>
            <a:srgbClr val="218317"/>
          </a:solidFill>
        </p:spPr>
        <p:txBody>
          <a:bodyPr>
            <a:normAutofit/>
          </a:bodyPr>
          <a:lstStyle/>
          <a:p>
            <a:r>
              <a:rPr lang="es-ES" sz="3200" b="1" dirty="0">
                <a:solidFill>
                  <a:schemeClr val="bg1"/>
                </a:solidFill>
                <a:latin typeface="Helvetica" panose="020B0604020202020204" pitchFamily="34" charset="0"/>
                <a:cs typeface="Helvetica" panose="020B0604020202020204" pitchFamily="34" charset="0"/>
              </a:rPr>
              <a:t>	</a:t>
            </a:r>
            <a:r>
              <a:rPr lang="es-ES" sz="3200" b="1" dirty="0" err="1">
                <a:solidFill>
                  <a:schemeClr val="bg1"/>
                </a:solidFill>
                <a:latin typeface="Helvetica" panose="020B0604020202020204" pitchFamily="34" charset="0"/>
                <a:cs typeface="Helvetica" panose="020B0604020202020204" pitchFamily="34" charset="0"/>
              </a:rPr>
              <a:t>Sampling</a:t>
            </a:r>
            <a:r>
              <a:rPr lang="es-ES" sz="3200" b="1" dirty="0">
                <a:solidFill>
                  <a:schemeClr val="bg1"/>
                </a:solidFill>
                <a:latin typeface="Helvetica" panose="020B0604020202020204" pitchFamily="34" charset="0"/>
                <a:cs typeface="Helvetica" panose="020B0604020202020204" pitchFamily="34" charset="0"/>
              </a:rPr>
              <a:t> </a:t>
            </a:r>
            <a:r>
              <a:rPr lang="es-ES" sz="3200" b="1" dirty="0" err="1">
                <a:solidFill>
                  <a:schemeClr val="bg1"/>
                </a:solidFill>
                <a:latin typeface="Helvetica" panose="020B0604020202020204" pitchFamily="34" charset="0"/>
                <a:cs typeface="Helvetica" panose="020B0604020202020204" pitchFamily="34" charset="0"/>
              </a:rPr>
              <a:t>design</a:t>
            </a:r>
            <a:endParaRPr lang="es-ES" sz="3200" b="1" dirty="0">
              <a:solidFill>
                <a:schemeClr val="bg1"/>
              </a:solidFill>
              <a:latin typeface="Helvetica" panose="020B0604020202020204" pitchFamily="34" charset="0"/>
              <a:cs typeface="Helvetica" panose="020B0604020202020204" pitchFamily="34" charset="0"/>
            </a:endParaRPr>
          </a:p>
        </p:txBody>
      </p:sp>
      <p:sp>
        <p:nvSpPr>
          <p:cNvPr id="4" name="Título 1">
            <a:extLst>
              <a:ext uri="{FF2B5EF4-FFF2-40B4-BE49-F238E27FC236}">
                <a16:creationId xmlns:a16="http://schemas.microsoft.com/office/drawing/2014/main" id="{05782E1E-BC36-63F5-4AA7-2039232E13EA}"/>
              </a:ext>
            </a:extLst>
          </p:cNvPr>
          <p:cNvSpPr txBox="1">
            <a:spLocks/>
          </p:cNvSpPr>
          <p:nvPr/>
        </p:nvSpPr>
        <p:spPr>
          <a:xfrm>
            <a:off x="9690902" y="-1"/>
            <a:ext cx="2501098" cy="804157"/>
          </a:xfrm>
          <a:prstGeom prst="rect">
            <a:avLst/>
          </a:prstGeom>
          <a:solidFill>
            <a:srgbClr val="218317"/>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s-ES" sz="2800" b="1" dirty="0">
                <a:solidFill>
                  <a:schemeClr val="accent6">
                    <a:lumMod val="60000"/>
                    <a:lumOff val="40000"/>
                  </a:schemeClr>
                </a:solidFill>
                <a:latin typeface="Helvetica" panose="020B0604020202020204" pitchFamily="34" charset="0"/>
                <a:cs typeface="Helvetica" panose="020B0604020202020204" pitchFamily="34" charset="0"/>
              </a:rPr>
              <a:t>M&amp;M </a:t>
            </a:r>
            <a:r>
              <a:rPr lang="es-ES" sz="2800" b="1" dirty="0">
                <a:solidFill>
                  <a:srgbClr val="218317"/>
                </a:solidFill>
                <a:latin typeface="Helvetica" panose="020B0604020202020204" pitchFamily="34" charset="0"/>
                <a:cs typeface="Helvetica" panose="020B0604020202020204" pitchFamily="34" charset="0"/>
              </a:rPr>
              <a:t>.</a:t>
            </a:r>
          </a:p>
        </p:txBody>
      </p:sp>
      <p:pic>
        <p:nvPicPr>
          <p:cNvPr id="5" name="Imagen 4">
            <a:extLst>
              <a:ext uri="{FF2B5EF4-FFF2-40B4-BE49-F238E27FC236}">
                <a16:creationId xmlns:a16="http://schemas.microsoft.com/office/drawing/2014/main" id="{E95F97D4-3704-918D-A040-286D8F79A8DC}"/>
              </a:ext>
            </a:extLst>
          </p:cNvPr>
          <p:cNvPicPr>
            <a:picLocks noChangeAspect="1"/>
          </p:cNvPicPr>
          <p:nvPr/>
        </p:nvPicPr>
        <p:blipFill>
          <a:blip r:embed="rId6"/>
          <a:srcRect b="57655"/>
          <a:stretch/>
        </p:blipFill>
        <p:spPr>
          <a:xfrm>
            <a:off x="8527188" y="3944761"/>
            <a:ext cx="3477754" cy="1250117"/>
          </a:xfrm>
          <a:prstGeom prst="rect">
            <a:avLst/>
          </a:prstGeom>
        </p:spPr>
      </p:pic>
      <p:pic>
        <p:nvPicPr>
          <p:cNvPr id="10" name="Imagen 9">
            <a:extLst>
              <a:ext uri="{FF2B5EF4-FFF2-40B4-BE49-F238E27FC236}">
                <a16:creationId xmlns:a16="http://schemas.microsoft.com/office/drawing/2014/main" id="{6CAD87A3-2507-827F-113D-609B6918B32C}"/>
              </a:ext>
            </a:extLst>
          </p:cNvPr>
          <p:cNvPicPr>
            <a:picLocks noChangeAspect="1"/>
          </p:cNvPicPr>
          <p:nvPr/>
        </p:nvPicPr>
        <p:blipFill>
          <a:blip r:embed="rId6"/>
          <a:srcRect t="53835"/>
          <a:stretch/>
        </p:blipFill>
        <p:spPr>
          <a:xfrm>
            <a:off x="8708537" y="5371534"/>
            <a:ext cx="3115055" cy="1220763"/>
          </a:xfrm>
          <a:prstGeom prst="rect">
            <a:avLst/>
          </a:prstGeom>
        </p:spPr>
      </p:pic>
    </p:spTree>
    <p:extLst>
      <p:ext uri="{BB962C8B-B14F-4D97-AF65-F5344CB8AC3E}">
        <p14:creationId xmlns:p14="http://schemas.microsoft.com/office/powerpoint/2010/main" val="5758719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B5B835-B71E-2989-E7E7-A496A14916C2}"/>
            </a:ext>
          </a:extLst>
        </p:cNvPr>
        <p:cNvGrpSpPr/>
        <p:nvPr/>
      </p:nvGrpSpPr>
      <p:grpSpPr>
        <a:xfrm>
          <a:off x="0" y="0"/>
          <a:ext cx="0" cy="0"/>
          <a:chOff x="0" y="0"/>
          <a:chExt cx="0" cy="0"/>
        </a:xfrm>
      </p:grpSpPr>
      <p:sp>
        <p:nvSpPr>
          <p:cNvPr id="5" name="Marcador de contenido 2">
            <a:extLst>
              <a:ext uri="{FF2B5EF4-FFF2-40B4-BE49-F238E27FC236}">
                <a16:creationId xmlns:a16="http://schemas.microsoft.com/office/drawing/2014/main" id="{79B54AFA-0DF0-CB85-F678-98071C00F4C0}"/>
              </a:ext>
            </a:extLst>
          </p:cNvPr>
          <p:cNvSpPr txBox="1">
            <a:spLocks/>
          </p:cNvSpPr>
          <p:nvPr/>
        </p:nvSpPr>
        <p:spPr>
          <a:xfrm>
            <a:off x="883112" y="1248960"/>
            <a:ext cx="5303636" cy="382887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218317"/>
              </a:buClr>
            </a:pPr>
            <a:r>
              <a:rPr lang="es-ES" sz="2400" b="1" dirty="0" err="1">
                <a:latin typeface="Helvetica"/>
                <a:cs typeface="Helvetica"/>
              </a:rPr>
              <a:t>Morphological</a:t>
            </a:r>
            <a:endParaRPr lang="es-ES" sz="2400" b="1" dirty="0">
              <a:latin typeface="Helvetica"/>
              <a:ea typeface="Calibri" panose="020F0502020204030204"/>
              <a:cs typeface="Helvetica"/>
            </a:endParaRPr>
          </a:p>
          <a:p>
            <a:pPr lvl="1">
              <a:buClr>
                <a:srgbClr val="218317"/>
              </a:buClr>
              <a:buFont typeface="Calibri" panose="020B0604020202020204" pitchFamily="34" charset="0"/>
              <a:buChar char="-"/>
            </a:pPr>
            <a:r>
              <a:rPr lang="es-ES" sz="2000" dirty="0" err="1">
                <a:latin typeface="Helvetica"/>
                <a:cs typeface="Helvetica"/>
              </a:rPr>
              <a:t>Tree</a:t>
            </a:r>
            <a:r>
              <a:rPr lang="es-ES" sz="2000" dirty="0">
                <a:latin typeface="Helvetica"/>
                <a:cs typeface="Helvetica"/>
              </a:rPr>
              <a:t> </a:t>
            </a:r>
            <a:r>
              <a:rPr lang="es-ES" sz="2000" dirty="0" err="1">
                <a:latin typeface="Helvetica"/>
                <a:cs typeface="Helvetica"/>
              </a:rPr>
              <a:t>growth</a:t>
            </a:r>
            <a:r>
              <a:rPr lang="es-ES" sz="2000" dirty="0">
                <a:latin typeface="Helvetica"/>
                <a:cs typeface="Helvetica"/>
              </a:rPr>
              <a:t> </a:t>
            </a:r>
            <a:r>
              <a:rPr lang="es-ES" sz="2000" dirty="0">
                <a:solidFill>
                  <a:srgbClr val="218317"/>
                </a:solidFill>
                <a:latin typeface="Helvetica"/>
                <a:cs typeface="Helvetica"/>
                <a:sym typeface="Wingdings" panose="05000000000000000000" pitchFamily="2" charset="2"/>
              </a:rPr>
              <a:t></a:t>
            </a:r>
            <a:r>
              <a:rPr lang="es-ES" sz="2000" dirty="0">
                <a:latin typeface="Helvetica"/>
                <a:cs typeface="Helvetica"/>
                <a:sym typeface="Wingdings" panose="05000000000000000000" pitchFamily="2" charset="2"/>
              </a:rPr>
              <a:t> </a:t>
            </a:r>
            <a:r>
              <a:rPr lang="es-ES" sz="2000" dirty="0" err="1">
                <a:latin typeface="Helvetica"/>
                <a:cs typeface="Helvetica"/>
                <a:sym typeface="Wingdings" panose="05000000000000000000" pitchFamily="2" charset="2"/>
              </a:rPr>
              <a:t>dendro</a:t>
            </a:r>
            <a:endParaRPr lang="es-ES" sz="2000" dirty="0">
              <a:latin typeface="Helvetica"/>
              <a:cs typeface="Helvetica"/>
            </a:endParaRPr>
          </a:p>
          <a:p>
            <a:pPr lvl="1">
              <a:buClr>
                <a:srgbClr val="218317"/>
              </a:buClr>
              <a:buFont typeface="Calibri" panose="020B0604020202020204" pitchFamily="34" charset="0"/>
              <a:buChar char="-"/>
            </a:pPr>
            <a:r>
              <a:rPr lang="es-ES" sz="2000" dirty="0" err="1">
                <a:latin typeface="Helvetica"/>
                <a:cs typeface="Helvetica"/>
              </a:rPr>
              <a:t>Leaf</a:t>
            </a:r>
            <a:r>
              <a:rPr lang="es-ES" sz="2000" dirty="0">
                <a:latin typeface="Helvetica"/>
                <a:cs typeface="Helvetica"/>
              </a:rPr>
              <a:t> </a:t>
            </a:r>
            <a:r>
              <a:rPr lang="es-ES" sz="2000" dirty="0" err="1">
                <a:latin typeface="Helvetica"/>
                <a:cs typeface="Helvetica"/>
              </a:rPr>
              <a:t>traits</a:t>
            </a:r>
            <a:r>
              <a:rPr lang="es-ES" sz="2000" dirty="0">
                <a:latin typeface="Helvetica"/>
                <a:cs typeface="Helvetica"/>
              </a:rPr>
              <a:t> </a:t>
            </a:r>
            <a:r>
              <a:rPr lang="es-ES" sz="2000" dirty="0">
                <a:solidFill>
                  <a:srgbClr val="218317"/>
                </a:solidFill>
                <a:latin typeface="Helvetica"/>
                <a:cs typeface="Helvetica"/>
                <a:sym typeface="Wingdings" panose="05000000000000000000" pitchFamily="2" charset="2"/>
              </a:rPr>
              <a:t> </a:t>
            </a:r>
            <a:r>
              <a:rPr lang="es-ES" sz="2000" dirty="0" err="1">
                <a:latin typeface="Helvetica"/>
                <a:cs typeface="Helvetica"/>
                <a:sym typeface="Wingdings" panose="05000000000000000000" pitchFamily="2" charset="2"/>
              </a:rPr>
              <a:t>leaf</a:t>
            </a:r>
            <a:r>
              <a:rPr lang="es-ES" sz="2000" dirty="0">
                <a:latin typeface="Helvetica"/>
                <a:cs typeface="Helvetica"/>
                <a:sym typeface="Wingdings" panose="05000000000000000000" pitchFamily="2" charset="2"/>
              </a:rPr>
              <a:t> </a:t>
            </a:r>
            <a:r>
              <a:rPr lang="es-ES" sz="2000" dirty="0" err="1">
                <a:latin typeface="Helvetica"/>
                <a:cs typeface="Helvetica"/>
                <a:sym typeface="Wingdings" panose="05000000000000000000" pitchFamily="2" charset="2"/>
              </a:rPr>
              <a:t>area</a:t>
            </a:r>
            <a:r>
              <a:rPr lang="es-ES" sz="2000" dirty="0">
                <a:latin typeface="Helvetica"/>
                <a:cs typeface="Helvetica"/>
                <a:sym typeface="Wingdings" panose="05000000000000000000" pitchFamily="2" charset="2"/>
              </a:rPr>
              <a:t> &amp; </a:t>
            </a:r>
            <a:r>
              <a:rPr lang="es-ES" sz="2000" dirty="0" err="1">
                <a:latin typeface="Helvetica"/>
                <a:cs typeface="Helvetica"/>
                <a:sym typeface="Wingdings" panose="05000000000000000000" pitchFamily="2" charset="2"/>
              </a:rPr>
              <a:t>defoliation</a:t>
            </a:r>
            <a:r>
              <a:rPr lang="es-ES" sz="2000" dirty="0">
                <a:latin typeface="Helvetica"/>
                <a:cs typeface="Helvetica"/>
                <a:sym typeface="Wingdings" panose="05000000000000000000" pitchFamily="2" charset="2"/>
              </a:rPr>
              <a:t> </a:t>
            </a:r>
          </a:p>
          <a:p>
            <a:pPr lvl="1">
              <a:buClr>
                <a:srgbClr val="218317"/>
              </a:buClr>
              <a:buFont typeface="Calibri" panose="020B0604020202020204" pitchFamily="34" charset="0"/>
              <a:buChar char="-"/>
            </a:pPr>
            <a:endParaRPr lang="es-ES" sz="2000" dirty="0">
              <a:latin typeface="Helvetica"/>
              <a:cs typeface="Helvetica"/>
            </a:endParaRPr>
          </a:p>
          <a:p>
            <a:pPr>
              <a:buClr>
                <a:srgbClr val="218317"/>
              </a:buClr>
            </a:pPr>
            <a:r>
              <a:rPr lang="es-ES" sz="2400" b="1" dirty="0" err="1">
                <a:latin typeface="Helvetica"/>
                <a:cs typeface="Helvetica"/>
              </a:rPr>
              <a:t>Physiological</a:t>
            </a:r>
            <a:endParaRPr lang="es-ES" sz="2400" b="1" dirty="0">
              <a:latin typeface="Helvetica" panose="020B0604020202020204" pitchFamily="34" charset="0"/>
              <a:cs typeface="Helvetica" panose="020B0604020202020204" pitchFamily="34" charset="0"/>
            </a:endParaRPr>
          </a:p>
          <a:p>
            <a:pPr lvl="1">
              <a:buClr>
                <a:srgbClr val="218317"/>
              </a:buClr>
              <a:buFont typeface="Calibri" panose="020B0604020202020204" pitchFamily="34" charset="0"/>
              <a:buChar char="-"/>
            </a:pPr>
            <a:r>
              <a:rPr lang="es-ES" sz="2000" dirty="0" err="1">
                <a:latin typeface="Helvetica"/>
                <a:cs typeface="Helvetica"/>
              </a:rPr>
              <a:t>Photosynthesis</a:t>
            </a:r>
            <a:r>
              <a:rPr lang="es-ES" sz="2000" dirty="0">
                <a:latin typeface="Helvetica"/>
                <a:cs typeface="Helvetica"/>
              </a:rPr>
              <a:t> </a:t>
            </a:r>
            <a:r>
              <a:rPr lang="es-ES" sz="2000" dirty="0">
                <a:solidFill>
                  <a:srgbClr val="218317"/>
                </a:solidFill>
                <a:latin typeface="Helvetica"/>
                <a:cs typeface="Helvetica"/>
                <a:sym typeface="Wingdings" panose="05000000000000000000" pitchFamily="2" charset="2"/>
              </a:rPr>
              <a:t></a:t>
            </a:r>
            <a:r>
              <a:rPr lang="es-ES" sz="2000" dirty="0">
                <a:latin typeface="Helvetica"/>
                <a:cs typeface="Helvetica"/>
                <a:sym typeface="Wingdings" panose="05000000000000000000" pitchFamily="2" charset="2"/>
              </a:rPr>
              <a:t> </a:t>
            </a:r>
            <a:r>
              <a:rPr lang="es-ES" sz="2000" dirty="0" err="1">
                <a:latin typeface="Helvetica"/>
                <a:cs typeface="Helvetica"/>
                <a:sym typeface="Wingdings" panose="05000000000000000000" pitchFamily="2" charset="2"/>
              </a:rPr>
              <a:t>spectrophotometry</a:t>
            </a:r>
            <a:endParaRPr lang="es-ES" sz="2000" dirty="0">
              <a:latin typeface="Helvetica" panose="020B0604020202020204" pitchFamily="34" charset="0"/>
              <a:cs typeface="Helvetica" panose="020B0604020202020204" pitchFamily="34" charset="0"/>
            </a:endParaRPr>
          </a:p>
          <a:p>
            <a:pPr lvl="1">
              <a:buClr>
                <a:srgbClr val="218317"/>
              </a:buClr>
              <a:buFont typeface="Calibri" panose="020B0604020202020204" pitchFamily="34" charset="0"/>
              <a:buChar char="-"/>
            </a:pPr>
            <a:r>
              <a:rPr lang="es-ES" sz="2000" dirty="0" err="1">
                <a:latin typeface="Helvetica"/>
                <a:cs typeface="Helvetica"/>
              </a:rPr>
              <a:t>Water</a:t>
            </a:r>
            <a:r>
              <a:rPr lang="es-ES" sz="2000" dirty="0">
                <a:latin typeface="Helvetica"/>
                <a:cs typeface="Helvetica"/>
              </a:rPr>
              <a:t> </a:t>
            </a:r>
            <a:r>
              <a:rPr lang="es-ES" sz="2000" dirty="0" err="1">
                <a:latin typeface="Helvetica"/>
                <a:cs typeface="Helvetica"/>
              </a:rPr>
              <a:t>relations</a:t>
            </a:r>
            <a:r>
              <a:rPr lang="es-ES" sz="2000" dirty="0">
                <a:latin typeface="Helvetica"/>
                <a:cs typeface="Helvetica"/>
              </a:rPr>
              <a:t> </a:t>
            </a:r>
            <a:r>
              <a:rPr lang="es-ES" sz="2000" dirty="0">
                <a:solidFill>
                  <a:srgbClr val="218317"/>
                </a:solidFill>
                <a:latin typeface="Helvetica"/>
                <a:cs typeface="Helvetica"/>
                <a:sym typeface="Wingdings" panose="05000000000000000000" pitchFamily="2" charset="2"/>
              </a:rPr>
              <a:t></a:t>
            </a:r>
            <a:r>
              <a:rPr lang="es-ES" sz="2000" dirty="0">
                <a:latin typeface="Helvetica"/>
                <a:cs typeface="Helvetica"/>
                <a:sym typeface="Wingdings" panose="05000000000000000000" pitchFamily="2" charset="2"/>
              </a:rPr>
              <a:t> </a:t>
            </a:r>
            <a:r>
              <a:rPr lang="es-ES" sz="2000" dirty="0" err="1">
                <a:latin typeface="Helvetica"/>
                <a:cs typeface="Helvetica"/>
                <a:sym typeface="Wingdings" panose="05000000000000000000" pitchFamily="2" charset="2"/>
              </a:rPr>
              <a:t>water</a:t>
            </a:r>
            <a:r>
              <a:rPr lang="es-ES" sz="2000" dirty="0">
                <a:latin typeface="Helvetica"/>
                <a:cs typeface="Helvetica"/>
                <a:sym typeface="Wingdings" panose="05000000000000000000" pitchFamily="2" charset="2"/>
              </a:rPr>
              <a:t> </a:t>
            </a:r>
            <a:r>
              <a:rPr lang="es-ES" sz="2000" dirty="0" err="1">
                <a:latin typeface="Helvetica"/>
                <a:cs typeface="Helvetica"/>
                <a:sym typeface="Wingdings" panose="05000000000000000000" pitchFamily="2" charset="2"/>
              </a:rPr>
              <a:t>content</a:t>
            </a:r>
            <a:endParaRPr lang="es-ES" sz="2000" dirty="0">
              <a:latin typeface="Helvetica" panose="020B0604020202020204" pitchFamily="34" charset="0"/>
              <a:cs typeface="Helvetica" panose="020B0604020202020204" pitchFamily="34" charset="0"/>
            </a:endParaRPr>
          </a:p>
          <a:p>
            <a:pPr lvl="1">
              <a:buClr>
                <a:srgbClr val="218317"/>
              </a:buClr>
              <a:buFont typeface="Calibri" panose="020B0604020202020204" pitchFamily="34" charset="0"/>
              <a:buChar char="-"/>
            </a:pPr>
            <a:r>
              <a:rPr lang="es-ES" sz="2000" dirty="0" err="1">
                <a:latin typeface="Helvetica"/>
                <a:cs typeface="Helvetica"/>
              </a:rPr>
              <a:t>Leaf</a:t>
            </a:r>
            <a:r>
              <a:rPr lang="es-ES" sz="2000" dirty="0">
                <a:latin typeface="Helvetica"/>
                <a:cs typeface="Helvetica"/>
              </a:rPr>
              <a:t> </a:t>
            </a:r>
            <a:r>
              <a:rPr lang="es-ES" sz="2000" dirty="0" err="1">
                <a:latin typeface="Helvetica"/>
                <a:cs typeface="Helvetica"/>
              </a:rPr>
              <a:t>nutrients</a:t>
            </a:r>
            <a:r>
              <a:rPr lang="es-ES" sz="2000" dirty="0">
                <a:latin typeface="Helvetica"/>
                <a:cs typeface="Helvetica"/>
              </a:rPr>
              <a:t> </a:t>
            </a:r>
            <a:r>
              <a:rPr lang="es-ES" sz="2000" dirty="0">
                <a:solidFill>
                  <a:srgbClr val="218317"/>
                </a:solidFill>
                <a:latin typeface="Helvetica"/>
                <a:cs typeface="Helvetica"/>
                <a:sym typeface="Wingdings" panose="05000000000000000000" pitchFamily="2" charset="2"/>
              </a:rPr>
              <a:t></a:t>
            </a:r>
            <a:r>
              <a:rPr lang="es-ES" sz="2000" dirty="0">
                <a:latin typeface="Helvetica"/>
                <a:cs typeface="Helvetica"/>
                <a:sym typeface="Wingdings" panose="05000000000000000000" pitchFamily="2" charset="2"/>
              </a:rPr>
              <a:t> C &amp; N </a:t>
            </a:r>
            <a:r>
              <a:rPr lang="es-ES" sz="2000" dirty="0" err="1">
                <a:latin typeface="Helvetica"/>
                <a:cs typeface="Helvetica"/>
                <a:sym typeface="Wingdings" panose="05000000000000000000" pitchFamily="2" charset="2"/>
              </a:rPr>
              <a:t>content</a:t>
            </a:r>
            <a:endParaRPr lang="es-ES" sz="2000" dirty="0">
              <a:latin typeface="Helvetica" panose="020B0604020202020204" pitchFamily="34" charset="0"/>
              <a:cs typeface="Helvetica" panose="020B0604020202020204" pitchFamily="34" charset="0"/>
            </a:endParaRPr>
          </a:p>
          <a:p>
            <a:pPr lvl="1">
              <a:buClr>
                <a:srgbClr val="218317"/>
              </a:buClr>
              <a:buFont typeface="Calibri" panose="020B0604020202020204" pitchFamily="34" charset="0"/>
              <a:buChar char="-"/>
            </a:pPr>
            <a:r>
              <a:rPr lang="es-ES" sz="2000" dirty="0" err="1">
                <a:latin typeface="Helvetica"/>
                <a:cs typeface="Helvetica"/>
              </a:rPr>
              <a:t>Leaf</a:t>
            </a:r>
            <a:r>
              <a:rPr lang="es-ES" sz="2000" dirty="0">
                <a:latin typeface="Helvetica"/>
                <a:cs typeface="Helvetica"/>
              </a:rPr>
              <a:t> </a:t>
            </a:r>
            <a:r>
              <a:rPr lang="es-ES" sz="2000" dirty="0" err="1">
                <a:latin typeface="Helvetica"/>
                <a:cs typeface="Helvetica"/>
              </a:rPr>
              <a:t>isotopes</a:t>
            </a:r>
            <a:r>
              <a:rPr lang="es-ES" sz="2000" dirty="0">
                <a:latin typeface="Helvetica"/>
                <a:cs typeface="Helvetica"/>
              </a:rPr>
              <a:t> </a:t>
            </a:r>
            <a:r>
              <a:rPr lang="es-ES" sz="2000" dirty="0">
                <a:solidFill>
                  <a:srgbClr val="218317"/>
                </a:solidFill>
                <a:latin typeface="Helvetica"/>
                <a:cs typeface="Helvetica"/>
                <a:sym typeface="Wingdings" panose="05000000000000000000" pitchFamily="2" charset="2"/>
              </a:rPr>
              <a:t></a:t>
            </a:r>
            <a:r>
              <a:rPr lang="es-ES" sz="2000" dirty="0">
                <a:latin typeface="Helvetica"/>
                <a:cs typeface="Helvetica"/>
                <a:sym typeface="Wingdings" panose="05000000000000000000" pitchFamily="2" charset="2"/>
              </a:rPr>
              <a:t> </a:t>
            </a:r>
            <a:r>
              <a:rPr lang="es-ES" sz="2000" dirty="0" err="1">
                <a:latin typeface="Helvetica"/>
                <a:cs typeface="Helvetica"/>
                <a:sym typeface="Wingdings" panose="05000000000000000000" pitchFamily="2" charset="2"/>
              </a:rPr>
              <a:t>isotopes</a:t>
            </a:r>
            <a:endParaRPr lang="es-ES" sz="2000" dirty="0">
              <a:latin typeface="Helvetica" panose="020B0604020202020204" pitchFamily="34" charset="0"/>
              <a:cs typeface="Helvetica" panose="020B0604020202020204" pitchFamily="34" charset="0"/>
            </a:endParaRPr>
          </a:p>
          <a:p>
            <a:pPr lvl="1">
              <a:buClr>
                <a:srgbClr val="218317"/>
              </a:buClr>
              <a:buFont typeface="Calibri" panose="02070309020205020404" pitchFamily="49" charset="0"/>
              <a:buChar char="-"/>
            </a:pPr>
            <a:endParaRPr lang="es-ES" sz="2000" dirty="0">
              <a:latin typeface="Helvetica" panose="020B0604020202020204" pitchFamily="34" charset="0"/>
              <a:cs typeface="Helvetica" panose="020B0604020202020204" pitchFamily="34" charset="0"/>
            </a:endParaRPr>
          </a:p>
          <a:p>
            <a:endParaRPr lang="es-ES" sz="2400" dirty="0">
              <a:latin typeface="Helvetica" panose="020B0604020202020204" pitchFamily="34" charset="0"/>
              <a:cs typeface="Helvetica" panose="020B0604020202020204" pitchFamily="34" charset="0"/>
            </a:endParaRPr>
          </a:p>
        </p:txBody>
      </p:sp>
      <p:sp>
        <p:nvSpPr>
          <p:cNvPr id="3" name="Rectangle 1">
            <a:extLst>
              <a:ext uri="{FF2B5EF4-FFF2-40B4-BE49-F238E27FC236}">
                <a16:creationId xmlns:a16="http://schemas.microsoft.com/office/drawing/2014/main" id="{6F6A97FF-FF6A-EEE9-1CC0-AB48DB192F39}"/>
              </a:ext>
            </a:extLst>
          </p:cNvPr>
          <p:cNvSpPr>
            <a:spLocks noChangeArrowheads="1"/>
          </p:cNvSpPr>
          <p:nvPr/>
        </p:nvSpPr>
        <p:spPr bwMode="auto">
          <a:xfrm>
            <a:off x="5288915" y="1477262"/>
            <a:ext cx="936624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s-ES" altLang="es-E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1800" b="0" i="0" u="none" strike="noStrike" cap="none" normalizeH="0" baseline="0">
              <a:ln>
                <a:noFill/>
              </a:ln>
              <a:solidFill>
                <a:schemeClr val="tx1"/>
              </a:solidFill>
              <a:effectLst/>
              <a:latin typeface="Arial" panose="020B0604020202020204" pitchFamily="34" charset="0"/>
            </a:endParaRPr>
          </a:p>
        </p:txBody>
      </p:sp>
      <p:sp>
        <p:nvSpPr>
          <p:cNvPr id="4" name="Marcador de contenido 2">
            <a:extLst>
              <a:ext uri="{FF2B5EF4-FFF2-40B4-BE49-F238E27FC236}">
                <a16:creationId xmlns:a16="http://schemas.microsoft.com/office/drawing/2014/main" id="{72FF20BA-0C7E-1C22-7F45-4CE624AEDEB1}"/>
              </a:ext>
            </a:extLst>
          </p:cNvPr>
          <p:cNvSpPr txBox="1">
            <a:spLocks/>
          </p:cNvSpPr>
          <p:nvPr/>
        </p:nvSpPr>
        <p:spPr>
          <a:xfrm>
            <a:off x="6683951" y="2123594"/>
            <a:ext cx="2563083" cy="1694575"/>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rgbClr val="218317"/>
              </a:buClr>
              <a:buNone/>
            </a:pPr>
            <a:r>
              <a:rPr lang="es-ES" sz="2400" i="1" dirty="0" err="1">
                <a:solidFill>
                  <a:srgbClr val="746FB2"/>
                </a:solidFill>
                <a:latin typeface="Helvetica"/>
                <a:cs typeface="Helvetica"/>
              </a:rPr>
              <a:t>Abies</a:t>
            </a:r>
            <a:r>
              <a:rPr lang="es-ES" sz="2400" i="1" dirty="0">
                <a:solidFill>
                  <a:srgbClr val="746FB2"/>
                </a:solidFill>
                <a:latin typeface="Helvetica"/>
                <a:cs typeface="Helvetica"/>
              </a:rPr>
              <a:t> alba</a:t>
            </a:r>
          </a:p>
          <a:p>
            <a:pPr marL="0" indent="0">
              <a:buClr>
                <a:srgbClr val="218317"/>
              </a:buClr>
              <a:buNone/>
            </a:pPr>
            <a:r>
              <a:rPr lang="es-ES" sz="2400" i="1" dirty="0" err="1">
                <a:solidFill>
                  <a:srgbClr val="1B9E77"/>
                </a:solidFill>
                <a:latin typeface="Helvetica" panose="020B0604020202020204" pitchFamily="34" charset="0"/>
                <a:cs typeface="Helvetica" panose="020B0604020202020204" pitchFamily="34" charset="0"/>
              </a:rPr>
              <a:t>Pinus</a:t>
            </a:r>
            <a:r>
              <a:rPr lang="es-ES" sz="2400" i="1" dirty="0">
                <a:solidFill>
                  <a:srgbClr val="1B9E77"/>
                </a:solidFill>
                <a:latin typeface="Helvetica" panose="020B0604020202020204" pitchFamily="34" charset="0"/>
                <a:cs typeface="Helvetica" panose="020B0604020202020204" pitchFamily="34" charset="0"/>
              </a:rPr>
              <a:t> </a:t>
            </a:r>
            <a:r>
              <a:rPr lang="es-ES" sz="2400" i="1" dirty="0" err="1">
                <a:solidFill>
                  <a:srgbClr val="1B9E77"/>
                </a:solidFill>
                <a:latin typeface="Helvetica" panose="020B0604020202020204" pitchFamily="34" charset="0"/>
                <a:cs typeface="Helvetica" panose="020B0604020202020204" pitchFamily="34" charset="0"/>
              </a:rPr>
              <a:t>sylvestris</a:t>
            </a:r>
            <a:endParaRPr lang="es-ES" sz="2400" i="1" dirty="0">
              <a:solidFill>
                <a:srgbClr val="1B9E77"/>
              </a:solidFill>
              <a:latin typeface="Helvetica" panose="020B0604020202020204" pitchFamily="34" charset="0"/>
              <a:cs typeface="Helvetica" panose="020B0604020202020204" pitchFamily="34" charset="0"/>
            </a:endParaRPr>
          </a:p>
          <a:p>
            <a:pPr marL="0" indent="0">
              <a:buClr>
                <a:srgbClr val="218317"/>
              </a:buClr>
              <a:buNone/>
            </a:pPr>
            <a:r>
              <a:rPr lang="es-ES" sz="2400" i="1" dirty="0" err="1">
                <a:solidFill>
                  <a:srgbClr val="DB5F02"/>
                </a:solidFill>
                <a:latin typeface="Helvetica" panose="020B0604020202020204" pitchFamily="34" charset="0"/>
                <a:cs typeface="Helvetica" panose="020B0604020202020204" pitchFamily="34" charset="0"/>
              </a:rPr>
              <a:t>Pinus</a:t>
            </a:r>
            <a:r>
              <a:rPr lang="es-ES" sz="2400" i="1" dirty="0">
                <a:solidFill>
                  <a:srgbClr val="DB5F02"/>
                </a:solidFill>
                <a:latin typeface="Helvetica" panose="020B0604020202020204" pitchFamily="34" charset="0"/>
                <a:cs typeface="Helvetica" panose="020B0604020202020204" pitchFamily="34" charset="0"/>
              </a:rPr>
              <a:t> pinea </a:t>
            </a:r>
          </a:p>
          <a:p>
            <a:pPr lvl="1">
              <a:buClr>
                <a:srgbClr val="218317"/>
              </a:buClr>
              <a:buFont typeface="Calibri" panose="02070309020205020404" pitchFamily="49" charset="0"/>
              <a:buChar char="-"/>
            </a:pPr>
            <a:endParaRPr lang="es-ES" dirty="0">
              <a:latin typeface="Helvetica" panose="020B0604020202020204" pitchFamily="34" charset="0"/>
              <a:cs typeface="Helvetica" panose="020B0604020202020204" pitchFamily="34" charset="0"/>
            </a:endParaRPr>
          </a:p>
          <a:p>
            <a:endParaRPr lang="es-ES" dirty="0">
              <a:latin typeface="Helvetica" panose="020B0604020202020204" pitchFamily="34" charset="0"/>
              <a:cs typeface="Helvetica" panose="020B0604020202020204" pitchFamily="34" charset="0"/>
            </a:endParaRPr>
          </a:p>
        </p:txBody>
      </p:sp>
      <p:sp>
        <p:nvSpPr>
          <p:cNvPr id="6" name="Marcador de contenido 2">
            <a:extLst>
              <a:ext uri="{FF2B5EF4-FFF2-40B4-BE49-F238E27FC236}">
                <a16:creationId xmlns:a16="http://schemas.microsoft.com/office/drawing/2014/main" id="{24AEED58-709F-898C-12A6-99AB65DAD3F8}"/>
              </a:ext>
            </a:extLst>
          </p:cNvPr>
          <p:cNvSpPr txBox="1">
            <a:spLocks/>
          </p:cNvSpPr>
          <p:nvPr/>
        </p:nvSpPr>
        <p:spPr>
          <a:xfrm>
            <a:off x="7965492" y="4578350"/>
            <a:ext cx="3672037" cy="1971999"/>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Clr>
                <a:srgbClr val="218317"/>
              </a:buClr>
              <a:buNone/>
            </a:pPr>
            <a:endParaRPr lang="es-ES" sz="2400" b="1" u="sng" dirty="0">
              <a:latin typeface="Helvetica" panose="020B0604020202020204" pitchFamily="34" charset="0"/>
              <a:cs typeface="Helvetica" panose="020B0604020202020204" pitchFamily="34" charset="0"/>
            </a:endParaRPr>
          </a:p>
          <a:p>
            <a:pPr marL="457200" lvl="1" indent="0" algn="r">
              <a:buClr>
                <a:srgbClr val="218317"/>
              </a:buClr>
              <a:buNone/>
            </a:pPr>
            <a:r>
              <a:rPr lang="es-ES" b="1" u="sng" dirty="0">
                <a:latin typeface="Helvetica" panose="020B0604020202020204" pitchFamily="34" charset="0"/>
                <a:cs typeface="Helvetica" panose="020B0604020202020204" pitchFamily="34" charset="0"/>
              </a:rPr>
              <a:t>462 target </a:t>
            </a:r>
            <a:r>
              <a:rPr lang="es-ES" b="1" u="sng" dirty="0" err="1">
                <a:latin typeface="Helvetica" panose="020B0604020202020204" pitchFamily="34" charset="0"/>
                <a:cs typeface="Helvetica" panose="020B0604020202020204" pitchFamily="34" charset="0"/>
              </a:rPr>
              <a:t>trees</a:t>
            </a:r>
            <a:endParaRPr lang="es-ES" b="1" u="sng" dirty="0">
              <a:latin typeface="Helvetica" panose="020B0604020202020204" pitchFamily="34" charset="0"/>
              <a:cs typeface="Helvetica" panose="020B0604020202020204" pitchFamily="34" charset="0"/>
            </a:endParaRPr>
          </a:p>
          <a:p>
            <a:pPr algn="r"/>
            <a:endParaRPr lang="es-ES" b="1" u="sng" dirty="0">
              <a:latin typeface="Helvetica" panose="020B0604020202020204" pitchFamily="34" charset="0"/>
              <a:cs typeface="Helvetica" panose="020B0604020202020204" pitchFamily="34" charset="0"/>
            </a:endParaRPr>
          </a:p>
        </p:txBody>
      </p:sp>
      <p:sp>
        <p:nvSpPr>
          <p:cNvPr id="7" name="Marcador de contenido 2">
            <a:extLst>
              <a:ext uri="{FF2B5EF4-FFF2-40B4-BE49-F238E27FC236}">
                <a16:creationId xmlns:a16="http://schemas.microsoft.com/office/drawing/2014/main" id="{EC85E287-2566-DBE7-BD26-B22072E8579A}"/>
              </a:ext>
            </a:extLst>
          </p:cNvPr>
          <p:cNvSpPr txBox="1">
            <a:spLocks/>
          </p:cNvSpPr>
          <p:nvPr/>
        </p:nvSpPr>
        <p:spPr>
          <a:xfrm>
            <a:off x="7908218" y="2052059"/>
            <a:ext cx="3672037" cy="2526291"/>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Clr>
                <a:srgbClr val="218317"/>
              </a:buClr>
              <a:buNone/>
            </a:pPr>
            <a:r>
              <a:rPr lang="es-ES" sz="2400" dirty="0">
                <a:solidFill>
                  <a:srgbClr val="746FB2"/>
                </a:solidFill>
                <a:latin typeface="Helvetica"/>
                <a:cs typeface="Helvetica"/>
              </a:rPr>
              <a:t>23 </a:t>
            </a:r>
            <a:r>
              <a:rPr lang="es-ES" sz="2400" dirty="0" err="1">
                <a:solidFill>
                  <a:srgbClr val="746FB2"/>
                </a:solidFill>
                <a:latin typeface="Helvetica"/>
                <a:cs typeface="Helvetica"/>
              </a:rPr>
              <a:t>plots</a:t>
            </a:r>
            <a:endParaRPr lang="es-ES" sz="2400" dirty="0">
              <a:solidFill>
                <a:srgbClr val="746FB2"/>
              </a:solidFill>
              <a:latin typeface="Helvetica"/>
              <a:cs typeface="Helvetica"/>
            </a:endParaRPr>
          </a:p>
          <a:p>
            <a:pPr marL="0" indent="0" algn="r">
              <a:buClr>
                <a:srgbClr val="218317"/>
              </a:buClr>
              <a:buNone/>
            </a:pPr>
            <a:r>
              <a:rPr lang="es-ES" sz="2400" dirty="0">
                <a:solidFill>
                  <a:srgbClr val="1B9E77"/>
                </a:solidFill>
                <a:latin typeface="Helvetica" panose="020B0604020202020204" pitchFamily="34" charset="0"/>
                <a:cs typeface="Helvetica" panose="020B0604020202020204" pitchFamily="34" charset="0"/>
              </a:rPr>
              <a:t>51 </a:t>
            </a:r>
            <a:r>
              <a:rPr lang="es-ES" sz="2400" dirty="0" err="1">
                <a:solidFill>
                  <a:srgbClr val="1B9E77"/>
                </a:solidFill>
                <a:latin typeface="Helvetica" panose="020B0604020202020204" pitchFamily="34" charset="0"/>
                <a:cs typeface="Helvetica" panose="020B0604020202020204" pitchFamily="34" charset="0"/>
              </a:rPr>
              <a:t>plots</a:t>
            </a:r>
            <a:endParaRPr lang="es-ES" sz="2400" dirty="0">
              <a:solidFill>
                <a:srgbClr val="1B9E77"/>
              </a:solidFill>
              <a:latin typeface="Helvetica" panose="020B0604020202020204" pitchFamily="34" charset="0"/>
              <a:cs typeface="Helvetica" panose="020B0604020202020204" pitchFamily="34" charset="0"/>
            </a:endParaRPr>
          </a:p>
          <a:p>
            <a:pPr marL="0" indent="0" algn="r">
              <a:buClr>
                <a:srgbClr val="218317"/>
              </a:buClr>
              <a:buNone/>
            </a:pPr>
            <a:r>
              <a:rPr lang="es-ES" sz="2400" dirty="0">
                <a:solidFill>
                  <a:srgbClr val="DB5F02"/>
                </a:solidFill>
                <a:latin typeface="Helvetica" panose="020B0604020202020204" pitchFamily="34" charset="0"/>
                <a:cs typeface="Helvetica" panose="020B0604020202020204" pitchFamily="34" charset="0"/>
              </a:rPr>
              <a:t>17 </a:t>
            </a:r>
            <a:r>
              <a:rPr lang="es-ES" sz="2400" dirty="0" err="1">
                <a:solidFill>
                  <a:srgbClr val="DB5F02"/>
                </a:solidFill>
                <a:latin typeface="Helvetica" panose="020B0604020202020204" pitchFamily="34" charset="0"/>
                <a:cs typeface="Helvetica" panose="020B0604020202020204" pitchFamily="34" charset="0"/>
              </a:rPr>
              <a:t>plots</a:t>
            </a:r>
            <a:endParaRPr lang="es-ES" sz="2400" dirty="0">
              <a:solidFill>
                <a:srgbClr val="DB5F02"/>
              </a:solidFill>
              <a:latin typeface="Helvetica" panose="020B0604020202020204" pitchFamily="34" charset="0"/>
              <a:cs typeface="Helvetica" panose="020B0604020202020204" pitchFamily="34" charset="0"/>
            </a:endParaRPr>
          </a:p>
          <a:p>
            <a:pPr marL="0" indent="0" algn="r">
              <a:buClr>
                <a:srgbClr val="218317"/>
              </a:buClr>
              <a:buNone/>
            </a:pPr>
            <a:endParaRPr lang="es-ES" sz="2400" dirty="0">
              <a:latin typeface="Helvetica" panose="020B0604020202020204" pitchFamily="34" charset="0"/>
              <a:cs typeface="Helvetica" panose="020B0604020202020204" pitchFamily="34" charset="0"/>
            </a:endParaRPr>
          </a:p>
          <a:p>
            <a:pPr marL="457200" lvl="1" indent="0" algn="r">
              <a:buClr>
                <a:srgbClr val="218317"/>
              </a:buClr>
              <a:buNone/>
            </a:pPr>
            <a:r>
              <a:rPr lang="es-ES" dirty="0">
                <a:latin typeface="Helvetica" panose="020B0604020202020204" pitchFamily="34" charset="0"/>
                <a:cs typeface="Helvetica" panose="020B0604020202020204" pitchFamily="34" charset="0"/>
              </a:rPr>
              <a:t>5 targets  x  91 </a:t>
            </a:r>
            <a:r>
              <a:rPr lang="es-ES" dirty="0" err="1">
                <a:latin typeface="Helvetica" panose="020B0604020202020204" pitchFamily="34" charset="0"/>
                <a:cs typeface="Helvetica" panose="020B0604020202020204" pitchFamily="34" charset="0"/>
              </a:rPr>
              <a:t>plots</a:t>
            </a:r>
            <a:endParaRPr lang="es-ES" dirty="0">
              <a:latin typeface="Helvetica" panose="020B0604020202020204" pitchFamily="34" charset="0"/>
              <a:cs typeface="Helvetica" panose="020B0604020202020204" pitchFamily="34" charset="0"/>
            </a:endParaRPr>
          </a:p>
          <a:p>
            <a:pPr algn="r"/>
            <a:endParaRPr lang="es-ES" dirty="0">
              <a:latin typeface="Helvetica" panose="020B0604020202020204" pitchFamily="34" charset="0"/>
              <a:cs typeface="Helvetica" panose="020B0604020202020204" pitchFamily="34" charset="0"/>
            </a:endParaRPr>
          </a:p>
        </p:txBody>
      </p:sp>
      <p:sp>
        <p:nvSpPr>
          <p:cNvPr id="2" name="Título 1">
            <a:extLst>
              <a:ext uri="{FF2B5EF4-FFF2-40B4-BE49-F238E27FC236}">
                <a16:creationId xmlns:a16="http://schemas.microsoft.com/office/drawing/2014/main" id="{C0D84DF4-2490-EB95-168F-DB742423D548}"/>
              </a:ext>
            </a:extLst>
          </p:cNvPr>
          <p:cNvSpPr>
            <a:spLocks noGrp="1"/>
          </p:cNvSpPr>
          <p:nvPr>
            <p:ph type="title"/>
          </p:nvPr>
        </p:nvSpPr>
        <p:spPr>
          <a:xfrm>
            <a:off x="0" y="0"/>
            <a:ext cx="9690902" cy="804155"/>
          </a:xfrm>
          <a:solidFill>
            <a:srgbClr val="218317"/>
          </a:solidFill>
        </p:spPr>
        <p:txBody>
          <a:bodyPr>
            <a:normAutofit/>
          </a:bodyPr>
          <a:lstStyle/>
          <a:p>
            <a:r>
              <a:rPr lang="es-ES" sz="3200" b="1" dirty="0">
                <a:solidFill>
                  <a:schemeClr val="bg1"/>
                </a:solidFill>
                <a:latin typeface="Helvetica" panose="020B0604020202020204" pitchFamily="34" charset="0"/>
                <a:cs typeface="Helvetica" panose="020B0604020202020204" pitchFamily="34" charset="0"/>
              </a:rPr>
              <a:t>	</a:t>
            </a:r>
            <a:r>
              <a:rPr lang="es-ES" sz="3200" b="1" dirty="0" err="1">
                <a:solidFill>
                  <a:schemeClr val="bg1"/>
                </a:solidFill>
                <a:latin typeface="Helvetica" panose="020B0604020202020204" pitchFamily="34" charset="0"/>
                <a:cs typeface="Helvetica" panose="020B0604020202020204" pitchFamily="34" charset="0"/>
              </a:rPr>
              <a:t>Sampling</a:t>
            </a:r>
            <a:r>
              <a:rPr lang="es-ES" sz="3200" b="1" dirty="0">
                <a:solidFill>
                  <a:schemeClr val="bg1"/>
                </a:solidFill>
                <a:latin typeface="Helvetica" panose="020B0604020202020204" pitchFamily="34" charset="0"/>
                <a:cs typeface="Helvetica" panose="020B0604020202020204" pitchFamily="34" charset="0"/>
              </a:rPr>
              <a:t> </a:t>
            </a:r>
            <a:r>
              <a:rPr lang="es-ES" sz="3200" b="1" dirty="0" err="1">
                <a:solidFill>
                  <a:schemeClr val="bg1"/>
                </a:solidFill>
                <a:latin typeface="Helvetica" panose="020B0604020202020204" pitchFamily="34" charset="0"/>
                <a:cs typeface="Helvetica" panose="020B0604020202020204" pitchFamily="34" charset="0"/>
              </a:rPr>
              <a:t>design</a:t>
            </a:r>
            <a:endParaRPr lang="es-ES" sz="3200" b="1" dirty="0">
              <a:solidFill>
                <a:schemeClr val="bg1"/>
              </a:solidFill>
              <a:latin typeface="Helvetica" panose="020B0604020202020204" pitchFamily="34" charset="0"/>
              <a:cs typeface="Helvetica" panose="020B0604020202020204" pitchFamily="34" charset="0"/>
            </a:endParaRPr>
          </a:p>
        </p:txBody>
      </p:sp>
      <p:sp>
        <p:nvSpPr>
          <p:cNvPr id="8" name="Título 1">
            <a:extLst>
              <a:ext uri="{FF2B5EF4-FFF2-40B4-BE49-F238E27FC236}">
                <a16:creationId xmlns:a16="http://schemas.microsoft.com/office/drawing/2014/main" id="{C0EED7EC-8E57-6D07-021B-D020ECFE0CE8}"/>
              </a:ext>
            </a:extLst>
          </p:cNvPr>
          <p:cNvSpPr txBox="1">
            <a:spLocks/>
          </p:cNvSpPr>
          <p:nvPr/>
        </p:nvSpPr>
        <p:spPr>
          <a:xfrm>
            <a:off x="9690902" y="-1"/>
            <a:ext cx="2501098" cy="804157"/>
          </a:xfrm>
          <a:prstGeom prst="rect">
            <a:avLst/>
          </a:prstGeom>
          <a:solidFill>
            <a:srgbClr val="218317"/>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s-ES" sz="2800" b="1" dirty="0">
                <a:solidFill>
                  <a:schemeClr val="accent6">
                    <a:lumMod val="60000"/>
                    <a:lumOff val="40000"/>
                  </a:schemeClr>
                </a:solidFill>
                <a:latin typeface="Helvetica" panose="020B0604020202020204" pitchFamily="34" charset="0"/>
                <a:cs typeface="Helvetica" panose="020B0604020202020204" pitchFamily="34" charset="0"/>
              </a:rPr>
              <a:t>M&amp;M </a:t>
            </a:r>
            <a:r>
              <a:rPr lang="es-ES" sz="2800" b="1" dirty="0">
                <a:solidFill>
                  <a:srgbClr val="218317"/>
                </a:solidFill>
                <a:latin typeface="Helvetica" panose="020B0604020202020204" pitchFamily="34" charset="0"/>
                <a:cs typeface="Helvetica" panose="020B0604020202020204" pitchFamily="34" charset="0"/>
              </a:rPr>
              <a:t>.</a:t>
            </a:r>
          </a:p>
        </p:txBody>
      </p:sp>
    </p:spTree>
    <p:extLst>
      <p:ext uri="{BB962C8B-B14F-4D97-AF65-F5344CB8AC3E}">
        <p14:creationId xmlns:p14="http://schemas.microsoft.com/office/powerpoint/2010/main" val="26453635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74FDBE-B13D-7779-DA88-534C3FE32F58}"/>
            </a:ext>
          </a:extLst>
        </p:cNvPr>
        <p:cNvGrpSpPr/>
        <p:nvPr/>
      </p:nvGrpSpPr>
      <p:grpSpPr>
        <a:xfrm>
          <a:off x="0" y="0"/>
          <a:ext cx="0" cy="0"/>
          <a:chOff x="0" y="0"/>
          <a:chExt cx="0" cy="0"/>
        </a:xfrm>
      </p:grpSpPr>
      <p:sp>
        <p:nvSpPr>
          <p:cNvPr id="3" name="Rectangle 1">
            <a:extLst>
              <a:ext uri="{FF2B5EF4-FFF2-40B4-BE49-F238E27FC236}">
                <a16:creationId xmlns:a16="http://schemas.microsoft.com/office/drawing/2014/main" id="{7C2645F1-D5A7-BE14-FF82-AED7E077E4B6}"/>
              </a:ext>
            </a:extLst>
          </p:cNvPr>
          <p:cNvSpPr>
            <a:spLocks noChangeArrowheads="1"/>
          </p:cNvSpPr>
          <p:nvPr/>
        </p:nvSpPr>
        <p:spPr bwMode="auto">
          <a:xfrm>
            <a:off x="5288915" y="1477262"/>
            <a:ext cx="936624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s-ES" altLang="es-E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1800" b="0" i="0" u="none" strike="noStrike" cap="none" normalizeH="0" baseline="0">
              <a:ln>
                <a:noFill/>
              </a:ln>
              <a:solidFill>
                <a:schemeClr val="tx1"/>
              </a:solidFill>
              <a:effectLst/>
              <a:latin typeface="Arial" panose="020B0604020202020204" pitchFamily="34" charset="0"/>
            </a:endParaRPr>
          </a:p>
        </p:txBody>
      </p:sp>
      <p:sp>
        <p:nvSpPr>
          <p:cNvPr id="2" name="Título 1">
            <a:extLst>
              <a:ext uri="{FF2B5EF4-FFF2-40B4-BE49-F238E27FC236}">
                <a16:creationId xmlns:a16="http://schemas.microsoft.com/office/drawing/2014/main" id="{6CED90DC-5139-D0EB-6DDB-4ACBC2962873}"/>
              </a:ext>
            </a:extLst>
          </p:cNvPr>
          <p:cNvSpPr>
            <a:spLocks noGrp="1"/>
          </p:cNvSpPr>
          <p:nvPr>
            <p:ph type="title"/>
          </p:nvPr>
        </p:nvSpPr>
        <p:spPr>
          <a:xfrm>
            <a:off x="0" y="0"/>
            <a:ext cx="9690902" cy="804155"/>
          </a:xfrm>
          <a:solidFill>
            <a:srgbClr val="218317"/>
          </a:solidFill>
        </p:spPr>
        <p:txBody>
          <a:bodyPr>
            <a:normAutofit/>
          </a:bodyPr>
          <a:lstStyle/>
          <a:p>
            <a:r>
              <a:rPr lang="es-ES" sz="3200" b="1" dirty="0">
                <a:solidFill>
                  <a:schemeClr val="bg1"/>
                </a:solidFill>
                <a:latin typeface="Helvetica" panose="020B0604020202020204" pitchFamily="34" charset="0"/>
                <a:cs typeface="Helvetica" panose="020B0604020202020204" pitchFamily="34" charset="0"/>
              </a:rPr>
              <a:t>	</a:t>
            </a:r>
            <a:r>
              <a:rPr lang="es-ES" sz="3200" b="1" dirty="0" err="1">
                <a:solidFill>
                  <a:schemeClr val="bg1"/>
                </a:solidFill>
                <a:latin typeface="Helvetica" panose="020B0604020202020204" pitchFamily="34" charset="0"/>
                <a:cs typeface="Helvetica" panose="020B0604020202020204" pitchFamily="34" charset="0"/>
              </a:rPr>
              <a:t>Preliminary</a:t>
            </a:r>
            <a:r>
              <a:rPr lang="es-ES" sz="3200" b="1" dirty="0">
                <a:solidFill>
                  <a:schemeClr val="bg1"/>
                </a:solidFill>
                <a:latin typeface="Helvetica" panose="020B0604020202020204" pitchFamily="34" charset="0"/>
                <a:cs typeface="Helvetica" panose="020B0604020202020204" pitchFamily="34" charset="0"/>
              </a:rPr>
              <a:t> </a:t>
            </a:r>
            <a:r>
              <a:rPr lang="es-ES" sz="3200" b="1" dirty="0" err="1">
                <a:solidFill>
                  <a:schemeClr val="bg1"/>
                </a:solidFill>
                <a:latin typeface="Helvetica" panose="020B0604020202020204" pitchFamily="34" charset="0"/>
                <a:cs typeface="Helvetica" panose="020B0604020202020204" pitchFamily="34" charset="0"/>
              </a:rPr>
              <a:t>results</a:t>
            </a:r>
            <a:endParaRPr lang="es-ES" sz="3200" b="1" dirty="0">
              <a:solidFill>
                <a:schemeClr val="bg1"/>
              </a:solidFill>
              <a:latin typeface="Helvetica" panose="020B0604020202020204" pitchFamily="34" charset="0"/>
              <a:cs typeface="Helvetica" panose="020B0604020202020204" pitchFamily="34" charset="0"/>
            </a:endParaRPr>
          </a:p>
        </p:txBody>
      </p:sp>
      <p:sp>
        <p:nvSpPr>
          <p:cNvPr id="8" name="Título 1">
            <a:extLst>
              <a:ext uri="{FF2B5EF4-FFF2-40B4-BE49-F238E27FC236}">
                <a16:creationId xmlns:a16="http://schemas.microsoft.com/office/drawing/2014/main" id="{E5EEF694-F808-7ACA-6144-B20E9A052830}"/>
              </a:ext>
            </a:extLst>
          </p:cNvPr>
          <p:cNvSpPr txBox="1">
            <a:spLocks/>
          </p:cNvSpPr>
          <p:nvPr/>
        </p:nvSpPr>
        <p:spPr>
          <a:xfrm>
            <a:off x="9690902" y="-1"/>
            <a:ext cx="2501098" cy="804157"/>
          </a:xfrm>
          <a:prstGeom prst="rect">
            <a:avLst/>
          </a:prstGeom>
          <a:solidFill>
            <a:srgbClr val="218317"/>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s-ES" sz="2800" b="1" dirty="0">
                <a:solidFill>
                  <a:schemeClr val="accent6">
                    <a:lumMod val="60000"/>
                    <a:lumOff val="40000"/>
                  </a:schemeClr>
                </a:solidFill>
                <a:latin typeface="Helvetica" panose="020B0604020202020204" pitchFamily="34" charset="0"/>
                <a:cs typeface="Helvetica" panose="020B0604020202020204" pitchFamily="34" charset="0"/>
              </a:rPr>
              <a:t>Figures	</a:t>
            </a:r>
            <a:endParaRPr lang="es-ES" sz="2800" b="1" dirty="0">
              <a:solidFill>
                <a:srgbClr val="218317"/>
              </a:solidFill>
              <a:latin typeface="Helvetica" panose="020B0604020202020204" pitchFamily="34" charset="0"/>
              <a:cs typeface="Helvetica" panose="020B0604020202020204" pitchFamily="34" charset="0"/>
            </a:endParaRPr>
          </a:p>
        </p:txBody>
      </p:sp>
      <p:pic>
        <p:nvPicPr>
          <p:cNvPr id="10" name="Imagen 9">
            <a:extLst>
              <a:ext uri="{FF2B5EF4-FFF2-40B4-BE49-F238E27FC236}">
                <a16:creationId xmlns:a16="http://schemas.microsoft.com/office/drawing/2014/main" id="{82B2E9C4-E5D5-5B45-835E-1BCD2EB730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717" y="875489"/>
            <a:ext cx="5278956" cy="5882352"/>
          </a:xfrm>
          <a:prstGeom prst="rect">
            <a:avLst/>
          </a:prstGeom>
        </p:spPr>
      </p:pic>
      <p:sp>
        <p:nvSpPr>
          <p:cNvPr id="12" name="CuadroTexto 10">
            <a:extLst>
              <a:ext uri="{FF2B5EF4-FFF2-40B4-BE49-F238E27FC236}">
                <a16:creationId xmlns:a16="http://schemas.microsoft.com/office/drawing/2014/main" id="{E65B7FF5-0121-A19A-1B66-299AD251DA47}"/>
              </a:ext>
            </a:extLst>
          </p:cNvPr>
          <p:cNvSpPr txBox="1"/>
          <p:nvPr/>
        </p:nvSpPr>
        <p:spPr>
          <a:xfrm>
            <a:off x="6021444" y="1791969"/>
            <a:ext cx="5725611" cy="2677656"/>
          </a:xfrm>
          <a:prstGeom prst="rect">
            <a:avLst/>
          </a:prstGeom>
          <a:noFill/>
        </p:spPr>
        <p:txBody>
          <a:bodyPr wrap="square" rtlCol="0">
            <a:spAutoFit/>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1"/>
            <a:r>
              <a:rPr lang="es-ES" sz="2400" dirty="0" err="1">
                <a:latin typeface="Helvetica" panose="020B0604020202020204" pitchFamily="34" charset="0"/>
                <a:cs typeface="Helvetica" panose="020B0604020202020204" pitchFamily="34" charset="0"/>
              </a:rPr>
              <a:t>Standardized</a:t>
            </a:r>
            <a:r>
              <a:rPr lang="es-ES" sz="2400" dirty="0">
                <a:latin typeface="Helvetica" panose="020B0604020202020204" pitchFamily="34" charset="0"/>
                <a:cs typeface="Helvetica" panose="020B0604020202020204" pitchFamily="34" charset="0"/>
              </a:rPr>
              <a:t> (BAI / </a:t>
            </a:r>
            <a:r>
              <a:rPr lang="es-ES" sz="2400" dirty="0" err="1">
                <a:latin typeface="Helvetica" panose="020B0604020202020204" pitchFamily="34" charset="0"/>
                <a:cs typeface="Helvetica" panose="020B0604020202020204" pitchFamily="34" charset="0"/>
              </a:rPr>
              <a:t>d.b.h</a:t>
            </a:r>
            <a:r>
              <a:rPr lang="es-ES" sz="2400" dirty="0">
                <a:latin typeface="Helvetica" panose="020B0604020202020204" pitchFamily="34" charset="0"/>
                <a:cs typeface="Helvetica" panose="020B0604020202020204" pitchFamily="34" charset="0"/>
              </a:rPr>
              <a:t>.) </a:t>
            </a:r>
            <a:r>
              <a:rPr lang="es-ES" sz="2400" dirty="0" err="1">
                <a:latin typeface="Helvetica" panose="020B0604020202020204" pitchFamily="34" charset="0"/>
                <a:cs typeface="Helvetica" panose="020B0604020202020204" pitchFamily="34" charset="0"/>
              </a:rPr>
              <a:t>tree</a:t>
            </a:r>
            <a:r>
              <a:rPr lang="es-ES" sz="2400" dirty="0">
                <a:latin typeface="Helvetica" panose="020B0604020202020204" pitchFamily="34" charset="0"/>
                <a:cs typeface="Helvetica" panose="020B0604020202020204" pitchFamily="34" charset="0"/>
              </a:rPr>
              <a:t> </a:t>
            </a:r>
            <a:r>
              <a:rPr lang="es-ES" sz="2400" dirty="0" err="1">
                <a:latin typeface="Helvetica" panose="020B0604020202020204" pitchFamily="34" charset="0"/>
                <a:cs typeface="Helvetica" panose="020B0604020202020204" pitchFamily="34" charset="0"/>
              </a:rPr>
              <a:t>growth</a:t>
            </a:r>
            <a:r>
              <a:rPr lang="es-ES" sz="2400" dirty="0">
                <a:latin typeface="Helvetica" panose="020B0604020202020204" pitchFamily="34" charset="0"/>
                <a:cs typeface="Helvetica" panose="020B0604020202020204" pitchFamily="34" charset="0"/>
              </a:rPr>
              <a:t> series </a:t>
            </a:r>
            <a:r>
              <a:rPr lang="es-ES" sz="2400" dirty="0" err="1">
                <a:latin typeface="Helvetica" panose="020B0604020202020204" pitchFamily="34" charset="0"/>
                <a:cs typeface="Helvetica" panose="020B0604020202020204" pitchFamily="34" charset="0"/>
              </a:rPr>
              <a:t>of</a:t>
            </a:r>
            <a:r>
              <a:rPr lang="es-ES" sz="2400" dirty="0">
                <a:latin typeface="Helvetica" panose="020B0604020202020204" pitchFamily="34" charset="0"/>
                <a:cs typeface="Helvetica" panose="020B0604020202020204" pitchFamily="34" charset="0"/>
              </a:rPr>
              <a:t> </a:t>
            </a:r>
            <a:r>
              <a:rPr lang="es-ES" sz="2400" dirty="0" err="1">
                <a:latin typeface="Helvetica" panose="020B0604020202020204" pitchFamily="34" charset="0"/>
                <a:cs typeface="Helvetica" panose="020B0604020202020204" pitchFamily="34" charset="0"/>
              </a:rPr>
              <a:t>each</a:t>
            </a:r>
            <a:r>
              <a:rPr lang="es-ES" sz="2400" dirty="0">
                <a:latin typeface="Helvetica" panose="020B0604020202020204" pitchFamily="34" charset="0"/>
                <a:cs typeface="Helvetica" panose="020B0604020202020204" pitchFamily="34" charset="0"/>
              </a:rPr>
              <a:t> site</a:t>
            </a:r>
          </a:p>
          <a:p>
            <a:pPr lvl="1"/>
            <a:endParaRPr lang="es-ES" sz="2400" dirty="0">
              <a:latin typeface="Helvetica" panose="020B0604020202020204" pitchFamily="34" charset="0"/>
              <a:cs typeface="Helvetica" panose="020B0604020202020204" pitchFamily="34" charset="0"/>
            </a:endParaRPr>
          </a:p>
          <a:p>
            <a:pPr lvl="1"/>
            <a:r>
              <a:rPr lang="es-ES" sz="2400" dirty="0" err="1">
                <a:latin typeface="Helvetica" panose="020B0604020202020204" pitchFamily="34" charset="0"/>
                <a:cs typeface="Helvetica" panose="020B0604020202020204" pitchFamily="34" charset="0"/>
              </a:rPr>
              <a:t>Darker</a:t>
            </a:r>
            <a:r>
              <a:rPr lang="es-ES" sz="2400" dirty="0">
                <a:latin typeface="Helvetica" panose="020B0604020202020204" pitchFamily="34" charset="0"/>
                <a:cs typeface="Helvetica" panose="020B0604020202020204" pitchFamily="34" charset="0"/>
              </a:rPr>
              <a:t> </a:t>
            </a:r>
            <a:r>
              <a:rPr lang="es-ES" sz="2400" dirty="0" err="1">
                <a:latin typeface="Helvetica" panose="020B0604020202020204" pitchFamily="34" charset="0"/>
                <a:cs typeface="Helvetica" panose="020B0604020202020204" pitchFamily="34" charset="0"/>
              </a:rPr>
              <a:t>lines</a:t>
            </a:r>
            <a:r>
              <a:rPr lang="es-ES" sz="2400" dirty="0">
                <a:latin typeface="Helvetica" panose="020B0604020202020204" pitchFamily="34" charset="0"/>
                <a:cs typeface="Helvetica" panose="020B0604020202020204" pitchFamily="34" charset="0"/>
              </a:rPr>
              <a:t> are </a:t>
            </a:r>
            <a:r>
              <a:rPr lang="es-ES" sz="2400" dirty="0" err="1">
                <a:latin typeface="Helvetica" panose="020B0604020202020204" pitchFamily="34" charset="0"/>
                <a:cs typeface="Helvetica" panose="020B0604020202020204" pitchFamily="34" charset="0"/>
              </a:rPr>
              <a:t>healthy</a:t>
            </a:r>
            <a:r>
              <a:rPr lang="es-ES" sz="2400" dirty="0">
                <a:latin typeface="Helvetica" panose="020B0604020202020204" pitchFamily="34" charset="0"/>
                <a:cs typeface="Helvetica" panose="020B0604020202020204" pitchFamily="34" charset="0"/>
              </a:rPr>
              <a:t> </a:t>
            </a:r>
            <a:r>
              <a:rPr lang="es-ES" sz="2400" dirty="0" err="1">
                <a:latin typeface="Helvetica" panose="020B0604020202020204" pitchFamily="34" charset="0"/>
                <a:cs typeface="Helvetica" panose="020B0604020202020204" pitchFamily="34" charset="0"/>
              </a:rPr>
              <a:t>plots</a:t>
            </a:r>
            <a:r>
              <a:rPr lang="es-ES" sz="2400" dirty="0">
                <a:latin typeface="Helvetica" panose="020B0604020202020204" pitchFamily="34" charset="0"/>
                <a:cs typeface="Helvetica" panose="020B0604020202020204" pitchFamily="34" charset="0"/>
              </a:rPr>
              <a:t>, and </a:t>
            </a:r>
            <a:r>
              <a:rPr lang="es-ES" sz="2400" dirty="0" err="1">
                <a:latin typeface="Helvetica" panose="020B0604020202020204" pitchFamily="34" charset="0"/>
                <a:cs typeface="Helvetica" panose="020B0604020202020204" pitchFamily="34" charset="0"/>
              </a:rPr>
              <a:t>lighter</a:t>
            </a:r>
            <a:r>
              <a:rPr lang="es-ES" sz="2400" dirty="0">
                <a:latin typeface="Helvetica" panose="020B0604020202020204" pitchFamily="34" charset="0"/>
                <a:cs typeface="Helvetica" panose="020B0604020202020204" pitchFamily="34" charset="0"/>
              </a:rPr>
              <a:t> </a:t>
            </a:r>
            <a:r>
              <a:rPr lang="es-ES" sz="2400" dirty="0" err="1">
                <a:latin typeface="Helvetica" panose="020B0604020202020204" pitchFamily="34" charset="0"/>
                <a:cs typeface="Helvetica" panose="020B0604020202020204" pitchFamily="34" charset="0"/>
              </a:rPr>
              <a:t>lines</a:t>
            </a:r>
            <a:r>
              <a:rPr lang="es-ES" sz="2400" dirty="0">
                <a:latin typeface="Helvetica" panose="020B0604020202020204" pitchFamily="34" charset="0"/>
                <a:cs typeface="Helvetica" panose="020B0604020202020204" pitchFamily="34" charset="0"/>
              </a:rPr>
              <a:t>, </a:t>
            </a:r>
            <a:r>
              <a:rPr lang="es-ES" sz="2400" dirty="0" err="1">
                <a:latin typeface="Helvetica" panose="020B0604020202020204" pitchFamily="34" charset="0"/>
                <a:cs typeface="Helvetica" panose="020B0604020202020204" pitchFamily="34" charset="0"/>
              </a:rPr>
              <a:t>damaged</a:t>
            </a:r>
            <a:r>
              <a:rPr lang="es-ES" sz="2400" dirty="0">
                <a:latin typeface="Helvetica" panose="020B0604020202020204" pitchFamily="34" charset="0"/>
                <a:cs typeface="Helvetica" panose="020B0604020202020204" pitchFamily="34" charset="0"/>
              </a:rPr>
              <a:t> </a:t>
            </a:r>
            <a:r>
              <a:rPr lang="es-ES" sz="2400" dirty="0" err="1">
                <a:latin typeface="Helvetica" panose="020B0604020202020204" pitchFamily="34" charset="0"/>
                <a:cs typeface="Helvetica" panose="020B0604020202020204" pitchFamily="34" charset="0"/>
              </a:rPr>
              <a:t>plots</a:t>
            </a:r>
            <a:r>
              <a:rPr lang="es-ES" sz="2400" dirty="0">
                <a:latin typeface="Helvetica" panose="020B0604020202020204" pitchFamily="34" charset="0"/>
                <a:cs typeface="Helvetica" panose="020B0604020202020204" pitchFamily="34" charset="0"/>
              </a:rPr>
              <a:t>. Gray </a:t>
            </a:r>
            <a:r>
              <a:rPr lang="es-ES" sz="2400" dirty="0" err="1">
                <a:latin typeface="Helvetica" panose="020B0604020202020204" pitchFamily="34" charset="0"/>
                <a:cs typeface="Helvetica" panose="020B0604020202020204" pitchFamily="34" charset="0"/>
              </a:rPr>
              <a:t>bars</a:t>
            </a:r>
            <a:r>
              <a:rPr lang="es-ES" sz="2400" dirty="0">
                <a:latin typeface="Helvetica" panose="020B0604020202020204" pitchFamily="34" charset="0"/>
                <a:cs typeface="Helvetica" panose="020B0604020202020204" pitchFamily="34" charset="0"/>
              </a:rPr>
              <a:t> </a:t>
            </a:r>
            <a:r>
              <a:rPr lang="es-ES" sz="2400" dirty="0" err="1">
                <a:latin typeface="Helvetica" panose="020B0604020202020204" pitchFamily="34" charset="0"/>
                <a:cs typeface="Helvetica" panose="020B0604020202020204" pitchFamily="34" charset="0"/>
              </a:rPr>
              <a:t>represent</a:t>
            </a:r>
            <a:r>
              <a:rPr lang="es-ES" sz="2400" dirty="0">
                <a:latin typeface="Helvetica" panose="020B0604020202020204" pitchFamily="34" charset="0"/>
                <a:cs typeface="Helvetica" panose="020B0604020202020204" pitchFamily="34" charset="0"/>
              </a:rPr>
              <a:t> mean </a:t>
            </a:r>
            <a:r>
              <a:rPr lang="es-ES" sz="2400" dirty="0" err="1">
                <a:latin typeface="Helvetica" panose="020B0604020202020204" pitchFamily="34" charset="0"/>
                <a:cs typeface="Helvetica" panose="020B0604020202020204" pitchFamily="34" charset="0"/>
              </a:rPr>
              <a:t>annual</a:t>
            </a:r>
            <a:r>
              <a:rPr lang="es-ES" sz="2400" dirty="0">
                <a:latin typeface="Helvetica" panose="020B0604020202020204" pitchFamily="34" charset="0"/>
                <a:cs typeface="Helvetica" panose="020B0604020202020204" pitchFamily="34" charset="0"/>
              </a:rPr>
              <a:t> </a:t>
            </a:r>
            <a:r>
              <a:rPr lang="es-ES" sz="2400" dirty="0" err="1">
                <a:latin typeface="Helvetica" panose="020B0604020202020204" pitchFamily="34" charset="0"/>
                <a:cs typeface="Helvetica" panose="020B0604020202020204" pitchFamily="34" charset="0"/>
              </a:rPr>
              <a:t>precipitation</a:t>
            </a:r>
            <a:r>
              <a:rPr lang="es-ES" sz="2400" dirty="0">
                <a:latin typeface="Helvetica" panose="020B0604020202020204" pitchFamily="34" charset="0"/>
                <a:cs typeface="Helvetica" panose="020B0604020202020204" pitchFamily="34" charset="0"/>
              </a:rPr>
              <a:t> (</a:t>
            </a:r>
            <a:r>
              <a:rPr lang="es-ES" sz="2400" dirty="0" err="1">
                <a:latin typeface="Helvetica" panose="020B0604020202020204" pitchFamily="34" charset="0"/>
                <a:cs typeface="Helvetica" panose="020B0604020202020204" pitchFamily="34" charset="0"/>
              </a:rPr>
              <a:t>right</a:t>
            </a:r>
            <a:r>
              <a:rPr lang="es-ES" sz="2400" dirty="0">
                <a:latin typeface="Helvetica" panose="020B0604020202020204" pitchFamily="34" charset="0"/>
                <a:cs typeface="Helvetica" panose="020B0604020202020204" pitchFamily="34" charset="0"/>
              </a:rPr>
              <a:t> y-axis).</a:t>
            </a:r>
          </a:p>
        </p:txBody>
      </p:sp>
      <p:pic>
        <p:nvPicPr>
          <p:cNvPr id="13" name="Gráfico 12" descr="Abeto">
            <a:extLst>
              <a:ext uri="{FF2B5EF4-FFF2-40B4-BE49-F238E27FC236}">
                <a16:creationId xmlns:a16="http://schemas.microsoft.com/office/drawing/2014/main" id="{68E32319-FCFC-96D4-4A06-FB952CFD9BB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591616" y="5537944"/>
            <a:ext cx="804155" cy="804155"/>
          </a:xfrm>
          <a:prstGeom prst="rect">
            <a:avLst/>
          </a:prstGeom>
        </p:spPr>
      </p:pic>
      <p:pic>
        <p:nvPicPr>
          <p:cNvPr id="14" name="Gráfico 13" descr="Abeto">
            <a:extLst>
              <a:ext uri="{FF2B5EF4-FFF2-40B4-BE49-F238E27FC236}">
                <a16:creationId xmlns:a16="http://schemas.microsoft.com/office/drawing/2014/main" id="{379DD684-FB51-F6B0-E2A0-628FB2589FF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034309" y="5553422"/>
            <a:ext cx="804155" cy="804155"/>
          </a:xfrm>
          <a:prstGeom prst="rect">
            <a:avLst/>
          </a:prstGeom>
        </p:spPr>
      </p:pic>
      <p:pic>
        <p:nvPicPr>
          <p:cNvPr id="15" name="Gráfico 14" descr="Abeto">
            <a:extLst>
              <a:ext uri="{FF2B5EF4-FFF2-40B4-BE49-F238E27FC236}">
                <a16:creationId xmlns:a16="http://schemas.microsoft.com/office/drawing/2014/main" id="{0B9BF647-3A44-88A2-FA85-CFD08A8B9D06}"/>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884250" y="5599506"/>
            <a:ext cx="804155" cy="804155"/>
          </a:xfrm>
          <a:prstGeom prst="rect">
            <a:avLst/>
          </a:prstGeom>
        </p:spPr>
      </p:pic>
      <p:sp>
        <p:nvSpPr>
          <p:cNvPr id="16" name="Marcador de contenido 2">
            <a:extLst>
              <a:ext uri="{FF2B5EF4-FFF2-40B4-BE49-F238E27FC236}">
                <a16:creationId xmlns:a16="http://schemas.microsoft.com/office/drawing/2014/main" id="{C05D27C5-473A-8895-B3BD-4305536580DC}"/>
              </a:ext>
            </a:extLst>
          </p:cNvPr>
          <p:cNvSpPr txBox="1">
            <a:spLocks/>
          </p:cNvSpPr>
          <p:nvPr/>
        </p:nvSpPr>
        <p:spPr>
          <a:xfrm>
            <a:off x="4267038" y="5779923"/>
            <a:ext cx="1767271" cy="623737"/>
          </a:xfrm>
          <a:prstGeom prst="rect">
            <a:avLst/>
          </a:prstGeom>
        </p:spPr>
        <p:txBody>
          <a:bodyPr vert="horz" lIns="91440" tIns="45720" rIns="91440" bIns="45720" rtlCol="0" anchor="t">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sz="1800" i="1" dirty="0" err="1">
                <a:solidFill>
                  <a:srgbClr val="746FB2"/>
                </a:solidFill>
                <a:latin typeface="Helvetica" panose="020B0604020202020204"/>
                <a:cs typeface="Helvetica"/>
              </a:rPr>
              <a:t>Abies</a:t>
            </a:r>
            <a:r>
              <a:rPr lang="es-ES" sz="1800" i="1" dirty="0">
                <a:solidFill>
                  <a:srgbClr val="746FB2"/>
                </a:solidFill>
                <a:latin typeface="Helvetica" panose="020B0604020202020204"/>
                <a:cs typeface="Helvetica"/>
              </a:rPr>
              <a:t> alba</a:t>
            </a:r>
          </a:p>
          <a:p>
            <a:pPr marL="0" indent="0">
              <a:buNone/>
            </a:pPr>
            <a:r>
              <a:rPr lang="es-ES" sz="1800" dirty="0" err="1">
                <a:solidFill>
                  <a:srgbClr val="746FB2"/>
                </a:solidFill>
                <a:latin typeface="Helvetica" panose="020B0604020202020204"/>
                <a:cs typeface="Helvetica" panose="020B0604020202020204"/>
              </a:rPr>
              <a:t>Temperate</a:t>
            </a:r>
            <a:endParaRPr lang="es-ES" sz="1800" dirty="0">
              <a:solidFill>
                <a:srgbClr val="746FB2"/>
              </a:solidFill>
              <a:latin typeface="Helvetica" panose="020B0604020202020204"/>
              <a:cs typeface="Helvetica" panose="020B0604020202020204"/>
            </a:endParaRPr>
          </a:p>
          <a:p>
            <a:pPr marL="0" indent="0">
              <a:buClr>
                <a:srgbClr val="218317"/>
              </a:buClr>
              <a:buNone/>
            </a:pPr>
            <a:endParaRPr lang="es-ES" sz="1800" i="1" dirty="0">
              <a:solidFill>
                <a:srgbClr val="746FB2"/>
              </a:solidFill>
              <a:latin typeface="Helvetica" panose="020B0604020202020204"/>
              <a:cs typeface="Helvetica" panose="020B0604020202020204"/>
            </a:endParaRPr>
          </a:p>
        </p:txBody>
      </p:sp>
      <p:sp>
        <p:nvSpPr>
          <p:cNvPr id="17" name="Marcador de contenido 2">
            <a:extLst>
              <a:ext uri="{FF2B5EF4-FFF2-40B4-BE49-F238E27FC236}">
                <a16:creationId xmlns:a16="http://schemas.microsoft.com/office/drawing/2014/main" id="{183FAB09-3F7C-B1C3-1EA4-38221BAE9503}"/>
              </a:ext>
            </a:extLst>
          </p:cNvPr>
          <p:cNvSpPr txBox="1">
            <a:spLocks/>
          </p:cNvSpPr>
          <p:nvPr/>
        </p:nvSpPr>
        <p:spPr>
          <a:xfrm>
            <a:off x="6838464" y="5781278"/>
            <a:ext cx="1767271" cy="622381"/>
          </a:xfrm>
          <a:prstGeom prst="rect">
            <a:avLst/>
          </a:prstGeom>
        </p:spPr>
        <p:txBody>
          <a:bodyPr vert="horz" lIns="91440" tIns="45720" rIns="91440" bIns="45720" rtlCol="0" anchor="t">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sz="1800" i="1" dirty="0" err="1">
                <a:solidFill>
                  <a:srgbClr val="1B9E77"/>
                </a:solidFill>
                <a:latin typeface="Helvetica" panose="020B0604020202020204"/>
                <a:cs typeface="Helvetica"/>
              </a:rPr>
              <a:t>Pinus</a:t>
            </a:r>
            <a:r>
              <a:rPr lang="es-ES" sz="1800" i="1" dirty="0">
                <a:solidFill>
                  <a:srgbClr val="1B9E77"/>
                </a:solidFill>
                <a:latin typeface="Helvetica" panose="020B0604020202020204"/>
                <a:cs typeface="Helvetica"/>
              </a:rPr>
              <a:t> </a:t>
            </a:r>
            <a:r>
              <a:rPr lang="es-ES" sz="1800" i="1" dirty="0" err="1">
                <a:solidFill>
                  <a:srgbClr val="1B9E77"/>
                </a:solidFill>
                <a:latin typeface="Helvetica" panose="020B0604020202020204"/>
                <a:cs typeface="Helvetica"/>
              </a:rPr>
              <a:t>sylvestris</a:t>
            </a:r>
            <a:endParaRPr lang="es-ES" sz="1800" i="1" dirty="0">
              <a:solidFill>
                <a:srgbClr val="1B9E77"/>
              </a:solidFill>
              <a:latin typeface="Helvetica" panose="020B0604020202020204"/>
              <a:cs typeface="Helvetica"/>
            </a:endParaRPr>
          </a:p>
          <a:p>
            <a:pPr marL="0" indent="0">
              <a:buNone/>
            </a:pPr>
            <a:r>
              <a:rPr lang="es-ES" sz="1800" dirty="0" err="1">
                <a:solidFill>
                  <a:srgbClr val="1B9E77"/>
                </a:solidFill>
                <a:latin typeface="Helvetica" panose="020B0604020202020204"/>
                <a:cs typeface="Helvetica" panose="020B0604020202020204"/>
              </a:rPr>
              <a:t>Temperate</a:t>
            </a:r>
            <a:endParaRPr lang="es-ES" sz="1800" dirty="0">
              <a:solidFill>
                <a:srgbClr val="1B9E77"/>
              </a:solidFill>
              <a:latin typeface="Helvetica" panose="020B0604020202020204"/>
              <a:cs typeface="Helvetica" panose="020B0604020202020204"/>
            </a:endParaRPr>
          </a:p>
          <a:p>
            <a:pPr marL="0" indent="0">
              <a:buClr>
                <a:srgbClr val="218317"/>
              </a:buClr>
              <a:buNone/>
            </a:pPr>
            <a:endParaRPr lang="es-ES" sz="1800" i="1" dirty="0">
              <a:solidFill>
                <a:srgbClr val="1B9E77"/>
              </a:solidFill>
              <a:latin typeface="Helvetica" panose="020B0604020202020204"/>
              <a:cs typeface="Helvetica" panose="020B0604020202020204"/>
            </a:endParaRPr>
          </a:p>
        </p:txBody>
      </p:sp>
      <p:sp>
        <p:nvSpPr>
          <p:cNvPr id="18" name="Marcador de contenido 2">
            <a:extLst>
              <a:ext uri="{FF2B5EF4-FFF2-40B4-BE49-F238E27FC236}">
                <a16:creationId xmlns:a16="http://schemas.microsoft.com/office/drawing/2014/main" id="{A8AB3B5C-AFAA-C642-DCE9-AA448A018229}"/>
              </a:ext>
            </a:extLst>
          </p:cNvPr>
          <p:cNvSpPr txBox="1">
            <a:spLocks/>
          </p:cNvSpPr>
          <p:nvPr/>
        </p:nvSpPr>
        <p:spPr>
          <a:xfrm>
            <a:off x="9688405" y="5757809"/>
            <a:ext cx="1767271" cy="618356"/>
          </a:xfrm>
          <a:prstGeom prst="rect">
            <a:avLst/>
          </a:prstGeom>
        </p:spPr>
        <p:txBody>
          <a:bodyPr vert="horz" lIns="91440" tIns="45720" rIns="91440" bIns="45720" rtlCol="0" anchor="t">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sz="1800" i="1" dirty="0" err="1">
                <a:solidFill>
                  <a:srgbClr val="DB5F02"/>
                </a:solidFill>
                <a:latin typeface="Helvetica" panose="020B0604020202020204"/>
                <a:cs typeface="Helvetica"/>
              </a:rPr>
              <a:t>Pinus</a:t>
            </a:r>
            <a:r>
              <a:rPr lang="es-ES" sz="1800" i="1" dirty="0">
                <a:solidFill>
                  <a:srgbClr val="DB5F02"/>
                </a:solidFill>
                <a:latin typeface="Helvetica" panose="020B0604020202020204"/>
                <a:cs typeface="Helvetica"/>
              </a:rPr>
              <a:t> pinea</a:t>
            </a:r>
          </a:p>
          <a:p>
            <a:pPr marL="0" indent="0">
              <a:buClr>
                <a:srgbClr val="218317"/>
              </a:buClr>
              <a:buNone/>
            </a:pPr>
            <a:r>
              <a:rPr lang="es-ES" sz="1800" dirty="0" err="1">
                <a:solidFill>
                  <a:srgbClr val="DB5F02"/>
                </a:solidFill>
                <a:latin typeface="Helvetica" panose="020B0604020202020204"/>
                <a:cs typeface="Helvetica" panose="020B0604020202020204"/>
              </a:rPr>
              <a:t>Mediterranean</a:t>
            </a:r>
            <a:endParaRPr lang="es-ES" sz="1800" dirty="0">
              <a:solidFill>
                <a:srgbClr val="DB5F02"/>
              </a:solidFill>
              <a:latin typeface="Helvetica" panose="020B0604020202020204"/>
              <a:cs typeface="Helvetica" panose="020B0604020202020204"/>
            </a:endParaRPr>
          </a:p>
        </p:txBody>
      </p:sp>
    </p:spTree>
    <p:extLst>
      <p:ext uri="{BB962C8B-B14F-4D97-AF65-F5344CB8AC3E}">
        <p14:creationId xmlns:p14="http://schemas.microsoft.com/office/powerpoint/2010/main" val="31000384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698328-5D4A-117A-F0E1-A575A80D4083}"/>
            </a:ext>
          </a:extLst>
        </p:cNvPr>
        <p:cNvGrpSpPr/>
        <p:nvPr/>
      </p:nvGrpSpPr>
      <p:grpSpPr>
        <a:xfrm>
          <a:off x="0" y="0"/>
          <a:ext cx="0" cy="0"/>
          <a:chOff x="0" y="0"/>
          <a:chExt cx="0" cy="0"/>
        </a:xfrm>
      </p:grpSpPr>
      <p:sp>
        <p:nvSpPr>
          <p:cNvPr id="3" name="Rectangle 1">
            <a:extLst>
              <a:ext uri="{FF2B5EF4-FFF2-40B4-BE49-F238E27FC236}">
                <a16:creationId xmlns:a16="http://schemas.microsoft.com/office/drawing/2014/main" id="{7287BCE5-1329-CF6E-4B55-751D2D42AF52}"/>
              </a:ext>
            </a:extLst>
          </p:cNvPr>
          <p:cNvSpPr>
            <a:spLocks noChangeArrowheads="1"/>
          </p:cNvSpPr>
          <p:nvPr/>
        </p:nvSpPr>
        <p:spPr bwMode="auto">
          <a:xfrm>
            <a:off x="5288915" y="1477262"/>
            <a:ext cx="936624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s-ES" altLang="es-E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1800" b="0" i="0" u="none" strike="noStrike" cap="none" normalizeH="0" baseline="0">
              <a:ln>
                <a:noFill/>
              </a:ln>
              <a:solidFill>
                <a:schemeClr val="tx1"/>
              </a:solidFill>
              <a:effectLst/>
              <a:latin typeface="Arial" panose="020B0604020202020204" pitchFamily="34" charset="0"/>
            </a:endParaRPr>
          </a:p>
        </p:txBody>
      </p:sp>
      <p:sp>
        <p:nvSpPr>
          <p:cNvPr id="2" name="Título 1">
            <a:extLst>
              <a:ext uri="{FF2B5EF4-FFF2-40B4-BE49-F238E27FC236}">
                <a16:creationId xmlns:a16="http://schemas.microsoft.com/office/drawing/2014/main" id="{358D9A4B-4061-4D85-6F7A-262A79B11A99}"/>
              </a:ext>
            </a:extLst>
          </p:cNvPr>
          <p:cNvSpPr>
            <a:spLocks noGrp="1"/>
          </p:cNvSpPr>
          <p:nvPr>
            <p:ph type="title"/>
          </p:nvPr>
        </p:nvSpPr>
        <p:spPr>
          <a:xfrm>
            <a:off x="0" y="0"/>
            <a:ext cx="9690902" cy="804155"/>
          </a:xfrm>
          <a:solidFill>
            <a:srgbClr val="218317"/>
          </a:solidFill>
        </p:spPr>
        <p:txBody>
          <a:bodyPr>
            <a:normAutofit/>
          </a:bodyPr>
          <a:lstStyle/>
          <a:p>
            <a:r>
              <a:rPr lang="es-ES" sz="3200" b="1" dirty="0">
                <a:solidFill>
                  <a:schemeClr val="bg1"/>
                </a:solidFill>
                <a:latin typeface="Helvetica" panose="020B0604020202020204" pitchFamily="34" charset="0"/>
                <a:cs typeface="Helvetica" panose="020B0604020202020204" pitchFamily="34" charset="0"/>
              </a:rPr>
              <a:t>	</a:t>
            </a:r>
            <a:r>
              <a:rPr lang="es-ES" sz="3200" b="1" dirty="0" err="1">
                <a:solidFill>
                  <a:schemeClr val="bg1"/>
                </a:solidFill>
                <a:latin typeface="Helvetica" panose="020B0604020202020204" pitchFamily="34" charset="0"/>
                <a:cs typeface="Helvetica" panose="020B0604020202020204" pitchFamily="34" charset="0"/>
              </a:rPr>
              <a:t>Preliminary</a:t>
            </a:r>
            <a:r>
              <a:rPr lang="es-ES" sz="3200" b="1" dirty="0">
                <a:solidFill>
                  <a:schemeClr val="bg1"/>
                </a:solidFill>
                <a:latin typeface="Helvetica" panose="020B0604020202020204" pitchFamily="34" charset="0"/>
                <a:cs typeface="Helvetica" panose="020B0604020202020204" pitchFamily="34" charset="0"/>
              </a:rPr>
              <a:t> </a:t>
            </a:r>
            <a:r>
              <a:rPr lang="es-ES" sz="3200" b="1" dirty="0" err="1">
                <a:solidFill>
                  <a:schemeClr val="bg1"/>
                </a:solidFill>
                <a:latin typeface="Helvetica" panose="020B0604020202020204" pitchFamily="34" charset="0"/>
                <a:cs typeface="Helvetica" panose="020B0604020202020204" pitchFamily="34" charset="0"/>
              </a:rPr>
              <a:t>results</a:t>
            </a:r>
            <a:endParaRPr lang="es-ES" sz="3200" b="1" dirty="0">
              <a:solidFill>
                <a:schemeClr val="bg1"/>
              </a:solidFill>
              <a:latin typeface="Helvetica" panose="020B0604020202020204" pitchFamily="34" charset="0"/>
              <a:cs typeface="Helvetica" panose="020B0604020202020204" pitchFamily="34" charset="0"/>
            </a:endParaRPr>
          </a:p>
        </p:txBody>
      </p:sp>
      <p:pic>
        <p:nvPicPr>
          <p:cNvPr id="10" name="Imagen 9">
            <a:extLst>
              <a:ext uri="{FF2B5EF4-FFF2-40B4-BE49-F238E27FC236}">
                <a16:creationId xmlns:a16="http://schemas.microsoft.com/office/drawing/2014/main" id="{905AAD56-F41C-84CC-E2BA-214389B36F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717" y="875489"/>
            <a:ext cx="5278956" cy="5882352"/>
          </a:xfrm>
          <a:prstGeom prst="rect">
            <a:avLst/>
          </a:prstGeom>
        </p:spPr>
      </p:pic>
      <p:sp>
        <p:nvSpPr>
          <p:cNvPr id="12" name="CuadroTexto 10">
            <a:extLst>
              <a:ext uri="{FF2B5EF4-FFF2-40B4-BE49-F238E27FC236}">
                <a16:creationId xmlns:a16="http://schemas.microsoft.com/office/drawing/2014/main" id="{7864C863-53E9-5721-781B-3CCE4A9A1619}"/>
              </a:ext>
            </a:extLst>
          </p:cNvPr>
          <p:cNvSpPr txBox="1"/>
          <p:nvPr/>
        </p:nvSpPr>
        <p:spPr>
          <a:xfrm>
            <a:off x="5173884" y="1161816"/>
            <a:ext cx="6647727" cy="4462760"/>
          </a:xfrm>
          <a:prstGeom prst="rect">
            <a:avLst/>
          </a:prstGeom>
          <a:noFill/>
        </p:spPr>
        <p:txBody>
          <a:bodyPr wrap="square" rtlCol="0">
            <a:spAutoFit/>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800100" lvl="1" indent="-342900">
              <a:buClr>
                <a:srgbClr val="218317"/>
              </a:buClr>
              <a:buFont typeface="Arial" panose="020B0604020202020204" pitchFamily="34" charset="0"/>
              <a:buChar char="•"/>
            </a:pPr>
            <a:r>
              <a:rPr lang="es-ES" sz="2000" b="1" dirty="0">
                <a:solidFill>
                  <a:srgbClr val="7873B4"/>
                </a:solidFill>
                <a:latin typeface="Helvetica" panose="020B0604020202020204" pitchFamily="34" charset="0"/>
                <a:cs typeface="Helvetica" panose="020B0604020202020204" pitchFamily="34" charset="0"/>
              </a:rPr>
              <a:t>Navarra (BAS/SAR) &amp; Huesca (FAG/OZA): </a:t>
            </a:r>
            <a:r>
              <a:rPr lang="es-ES" sz="2000" dirty="0" err="1">
                <a:latin typeface="Helvetica" panose="020B0604020202020204" pitchFamily="34" charset="0"/>
                <a:cs typeface="Helvetica" panose="020B0604020202020204" pitchFamily="34" charset="0"/>
              </a:rPr>
              <a:t>trees</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have</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always</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had</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significant</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differences</a:t>
            </a:r>
            <a:r>
              <a:rPr lang="es-ES" sz="2000" dirty="0">
                <a:latin typeface="Helvetica" panose="020B0604020202020204" pitchFamily="34" charset="0"/>
                <a:cs typeface="Helvetica" panose="020B0604020202020204" pitchFamily="34" charset="0"/>
              </a:rPr>
              <a:t> in </a:t>
            </a:r>
            <a:r>
              <a:rPr lang="es-ES" sz="2000" dirty="0" err="1">
                <a:latin typeface="Helvetica" panose="020B0604020202020204" pitchFamily="34" charset="0"/>
                <a:cs typeface="Helvetica" panose="020B0604020202020204" pitchFamily="34" charset="0"/>
              </a:rPr>
              <a:t>growth</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However</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convergence</a:t>
            </a:r>
            <a:r>
              <a:rPr lang="es-ES" sz="2000" dirty="0">
                <a:latin typeface="Helvetica" panose="020B0604020202020204" pitchFamily="34" charset="0"/>
                <a:cs typeface="Helvetica" panose="020B0604020202020204" pitchFamily="34" charset="0"/>
              </a:rPr>
              <a:t> in </a:t>
            </a:r>
            <a:r>
              <a:rPr lang="es-ES" sz="2000" dirty="0" err="1">
                <a:latin typeface="Helvetica" panose="020B0604020202020204" pitchFamily="34" charset="0"/>
                <a:cs typeface="Helvetica" panose="020B0604020202020204" pitchFamily="34" charset="0"/>
              </a:rPr>
              <a:t>recent</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years</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which</a:t>
            </a:r>
            <a:r>
              <a:rPr lang="es-ES" sz="2000" dirty="0">
                <a:latin typeface="Helvetica" panose="020B0604020202020204" pitchFamily="34" charset="0"/>
                <a:cs typeface="Helvetica" panose="020B0604020202020204" pitchFamily="34" charset="0"/>
              </a:rPr>
              <a:t> are more </a:t>
            </a:r>
            <a:r>
              <a:rPr lang="es-ES" sz="2000" dirty="0" err="1">
                <a:latin typeface="Helvetica" panose="020B0604020202020204" pitchFamily="34" charset="0"/>
                <a:cs typeface="Helvetica" panose="020B0604020202020204" pitchFamily="34" charset="0"/>
              </a:rPr>
              <a:t>humid</a:t>
            </a:r>
            <a:r>
              <a:rPr lang="es-ES" sz="2000" dirty="0">
                <a:latin typeface="Helvetica" panose="020B0604020202020204" pitchFamily="34" charset="0"/>
                <a:cs typeface="Helvetica" panose="020B0604020202020204" pitchFamily="34" charset="0"/>
              </a:rPr>
              <a:t> </a:t>
            </a:r>
            <a:r>
              <a:rPr lang="es-ES" sz="2000" dirty="0">
                <a:latin typeface="Helvetica" panose="020B0604020202020204" pitchFamily="34" charset="0"/>
                <a:cs typeface="Helvetica" panose="020B0604020202020204" pitchFamily="34" charset="0"/>
                <a:sym typeface="Wingdings" panose="05000000000000000000" pitchFamily="2" charset="2"/>
              </a:rPr>
              <a:t> </a:t>
            </a:r>
            <a:r>
              <a:rPr lang="es-ES" sz="2000" dirty="0" err="1">
                <a:latin typeface="Helvetica" panose="020B0604020202020204" pitchFamily="34" charset="0"/>
                <a:cs typeface="Helvetica" panose="020B0604020202020204" pitchFamily="34" charset="0"/>
                <a:sym typeface="Wingdings" panose="05000000000000000000" pitchFamily="2" charset="2"/>
              </a:rPr>
              <a:t>maybe</a:t>
            </a:r>
            <a:r>
              <a:rPr lang="es-ES" sz="2000" dirty="0">
                <a:latin typeface="Helvetica" panose="020B0604020202020204" pitchFamily="34" charset="0"/>
                <a:cs typeface="Helvetica" panose="020B0604020202020204" pitchFamily="34" charset="0"/>
                <a:sym typeface="Wingdings" panose="05000000000000000000" pitchFamily="2" charset="2"/>
              </a:rPr>
              <a:t> </a:t>
            </a:r>
            <a:r>
              <a:rPr lang="es-ES" sz="2000" dirty="0" err="1">
                <a:latin typeface="Helvetica" panose="020B0604020202020204" pitchFamily="34" charset="0"/>
                <a:cs typeface="Helvetica" panose="020B0604020202020204" pitchFamily="34" charset="0"/>
                <a:sym typeface="Wingdings" panose="05000000000000000000" pitchFamily="2" charset="2"/>
              </a:rPr>
              <a:t>it’s</a:t>
            </a:r>
            <a:r>
              <a:rPr lang="es-ES" sz="2000" dirty="0">
                <a:latin typeface="Helvetica" panose="020B0604020202020204" pitchFamily="34" charset="0"/>
                <a:cs typeface="Helvetica" panose="020B0604020202020204" pitchFamily="34" charset="0"/>
                <a:sym typeface="Wingdings" panose="05000000000000000000" pitchFamily="2" charset="2"/>
              </a:rPr>
              <a:t> </a:t>
            </a:r>
            <a:r>
              <a:rPr lang="es-ES" sz="2000" dirty="0" err="1">
                <a:latin typeface="Helvetica" panose="020B0604020202020204" pitchFamily="34" charset="0"/>
                <a:cs typeface="Helvetica" panose="020B0604020202020204" pitchFamily="34" charset="0"/>
                <a:sym typeface="Wingdings" panose="05000000000000000000" pitchFamily="2" charset="2"/>
              </a:rPr>
              <a:t>temperatura’s</a:t>
            </a:r>
            <a:r>
              <a:rPr lang="es-ES" sz="2000" dirty="0">
                <a:latin typeface="Helvetica" panose="020B0604020202020204" pitchFamily="34" charset="0"/>
                <a:cs typeface="Helvetica" panose="020B0604020202020204" pitchFamily="34" charset="0"/>
                <a:sym typeface="Wingdings" panose="05000000000000000000" pitchFamily="2" charset="2"/>
              </a:rPr>
              <a:t> </a:t>
            </a:r>
            <a:r>
              <a:rPr lang="es-ES" sz="2000" dirty="0" err="1">
                <a:latin typeface="Helvetica" panose="020B0604020202020204" pitchFamily="34" charset="0"/>
                <a:cs typeface="Helvetica" panose="020B0604020202020204" pitchFamily="34" charset="0"/>
                <a:sym typeface="Wingdings" panose="05000000000000000000" pitchFamily="2" charset="2"/>
              </a:rPr>
              <a:t>fault</a:t>
            </a:r>
            <a:r>
              <a:rPr lang="es-ES" sz="2000" dirty="0">
                <a:latin typeface="Helvetica" panose="020B0604020202020204" pitchFamily="34" charset="0"/>
                <a:cs typeface="Helvetica" panose="020B0604020202020204" pitchFamily="34" charset="0"/>
                <a:sym typeface="Wingdings" panose="05000000000000000000" pitchFamily="2" charset="2"/>
              </a:rPr>
              <a:t>?)</a:t>
            </a:r>
          </a:p>
          <a:p>
            <a:pPr marL="800100" lvl="1" indent="-342900">
              <a:buClr>
                <a:srgbClr val="218317"/>
              </a:buClr>
              <a:buFont typeface="Arial" panose="020B0604020202020204" pitchFamily="34" charset="0"/>
              <a:buChar char="•"/>
            </a:pPr>
            <a:r>
              <a:rPr lang="es-ES" sz="2000" b="1" dirty="0">
                <a:solidFill>
                  <a:srgbClr val="37AD88"/>
                </a:solidFill>
                <a:latin typeface="Helvetica" panose="020B0604020202020204" pitchFamily="34" charset="0"/>
                <a:cs typeface="Helvetica" panose="020B0604020202020204" pitchFamily="34" charset="0"/>
                <a:sym typeface="Wingdings" panose="05000000000000000000" pitchFamily="2" charset="2"/>
              </a:rPr>
              <a:t>Navarra (RON/URZ) and Guadalajara (ADO/ALU/TRA): </a:t>
            </a:r>
            <a:r>
              <a:rPr lang="es-ES" sz="2000" dirty="0" err="1">
                <a:latin typeface="Helvetica" panose="020B0604020202020204" pitchFamily="34" charset="0"/>
                <a:cs typeface="Helvetica" panose="020B0604020202020204" pitchFamily="34" charset="0"/>
                <a:sym typeface="Wingdings" panose="05000000000000000000" pitchFamily="2" charset="2"/>
              </a:rPr>
              <a:t>divergence</a:t>
            </a:r>
            <a:r>
              <a:rPr lang="es-ES" sz="2000" dirty="0">
                <a:latin typeface="Helvetica" panose="020B0604020202020204" pitchFamily="34" charset="0"/>
                <a:cs typeface="Helvetica" panose="020B0604020202020204" pitchFamily="34" charset="0"/>
                <a:sym typeface="Wingdings" panose="05000000000000000000" pitchFamily="2" charset="2"/>
              </a:rPr>
              <a:t> </a:t>
            </a:r>
            <a:r>
              <a:rPr lang="es-ES" sz="2000" dirty="0" err="1">
                <a:latin typeface="Helvetica" panose="020B0604020202020204" pitchFamily="34" charset="0"/>
                <a:cs typeface="Helvetica" panose="020B0604020202020204" pitchFamily="34" charset="0"/>
                <a:sym typeface="Wingdings" panose="05000000000000000000" pitchFamily="2" charset="2"/>
              </a:rPr>
              <a:t>over</a:t>
            </a:r>
            <a:r>
              <a:rPr lang="es-ES" sz="2000" dirty="0">
                <a:latin typeface="Helvetica" panose="020B0604020202020204" pitchFamily="34" charset="0"/>
                <a:cs typeface="Helvetica" panose="020B0604020202020204" pitchFamily="34" charset="0"/>
                <a:sym typeface="Wingdings" panose="05000000000000000000" pitchFamily="2" charset="2"/>
              </a:rPr>
              <a:t> time.</a:t>
            </a:r>
          </a:p>
          <a:p>
            <a:pPr marL="800100" lvl="1" indent="-342900">
              <a:buClr>
                <a:srgbClr val="218317"/>
              </a:buClr>
              <a:buFont typeface="Arial" panose="020B0604020202020204" pitchFamily="34" charset="0"/>
              <a:buChar char="•"/>
            </a:pPr>
            <a:r>
              <a:rPr lang="es-ES" sz="2000" b="1" dirty="0">
                <a:solidFill>
                  <a:srgbClr val="37AD88"/>
                </a:solidFill>
                <a:latin typeface="Helvetica" panose="020B0604020202020204" pitchFamily="34" charset="0"/>
                <a:cs typeface="Helvetica" panose="020B0604020202020204" pitchFamily="34" charset="0"/>
                <a:sym typeface="Wingdings" panose="05000000000000000000" pitchFamily="2" charset="2"/>
              </a:rPr>
              <a:t>Madrid (GUA): </a:t>
            </a:r>
            <a:r>
              <a:rPr lang="es-ES" sz="2000" dirty="0" err="1">
                <a:latin typeface="Helvetica" panose="020B0604020202020204" pitchFamily="34" charset="0"/>
                <a:cs typeface="Helvetica" panose="020B0604020202020204" pitchFamily="34" charset="0"/>
              </a:rPr>
              <a:t>trees</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have</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always</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had</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significant</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differences</a:t>
            </a:r>
            <a:r>
              <a:rPr lang="es-ES" sz="2000" dirty="0">
                <a:latin typeface="Helvetica" panose="020B0604020202020204" pitchFamily="34" charset="0"/>
                <a:cs typeface="Helvetica" panose="020B0604020202020204" pitchFamily="34" charset="0"/>
              </a:rPr>
              <a:t> in </a:t>
            </a:r>
            <a:r>
              <a:rPr lang="es-ES" sz="2000" dirty="0" err="1">
                <a:latin typeface="Helvetica" panose="020B0604020202020204" pitchFamily="34" charset="0"/>
                <a:cs typeface="Helvetica" panose="020B0604020202020204" pitchFamily="34" charset="0"/>
              </a:rPr>
              <a:t>growth</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although</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it</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seems</a:t>
            </a:r>
            <a:r>
              <a:rPr lang="es-ES" sz="2000" dirty="0">
                <a:latin typeface="Helvetica" panose="020B0604020202020204" pitchFamily="34" charset="0"/>
                <a:cs typeface="Helvetica" panose="020B0604020202020204" pitchFamily="34" charset="0"/>
              </a:rPr>
              <a:t> more evidente in </a:t>
            </a:r>
            <a:r>
              <a:rPr lang="es-ES" sz="2000" dirty="0" err="1">
                <a:latin typeface="Helvetica" panose="020B0604020202020204" pitchFamily="34" charset="0"/>
                <a:cs typeface="Helvetica" panose="020B0604020202020204" pitchFamily="34" charset="0"/>
              </a:rPr>
              <a:t>recent</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years</a:t>
            </a:r>
            <a:r>
              <a:rPr lang="es-ES" sz="2000" dirty="0">
                <a:latin typeface="Helvetica" panose="020B0604020202020204" pitchFamily="34" charset="0"/>
                <a:cs typeface="Helvetica" panose="020B0604020202020204" pitchFamily="34" charset="0"/>
              </a:rPr>
              <a:t>?</a:t>
            </a:r>
          </a:p>
          <a:p>
            <a:pPr marL="800100" lvl="1" indent="-342900">
              <a:buClr>
                <a:srgbClr val="218317"/>
              </a:buClr>
              <a:buFont typeface="Arial" panose="020B0604020202020204" pitchFamily="34" charset="0"/>
              <a:buChar char="•"/>
            </a:pPr>
            <a:r>
              <a:rPr lang="es-ES" sz="2000" b="1" dirty="0">
                <a:solidFill>
                  <a:srgbClr val="37AD88"/>
                </a:solidFill>
                <a:latin typeface="Helvetica" panose="020B0604020202020204" pitchFamily="34" charset="0"/>
                <a:cs typeface="Helvetica" panose="020B0604020202020204" pitchFamily="34" charset="0"/>
              </a:rPr>
              <a:t>Teruel (COR/CED): </a:t>
            </a:r>
            <a:r>
              <a:rPr lang="es-ES" sz="2000" dirty="0">
                <a:latin typeface="Helvetica" panose="020B0604020202020204" pitchFamily="34" charset="0"/>
                <a:cs typeface="Helvetica" panose="020B0604020202020204" pitchFamily="34" charset="0"/>
              </a:rPr>
              <a:t>no </a:t>
            </a:r>
            <a:r>
              <a:rPr lang="es-ES" sz="2000" dirty="0" err="1">
                <a:latin typeface="Helvetica" panose="020B0604020202020204" pitchFamily="34" charset="0"/>
                <a:cs typeface="Helvetica" panose="020B0604020202020204" pitchFamily="34" charset="0"/>
              </a:rPr>
              <a:t>clear</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pattern</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but</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several</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interesting</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major</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decouplings</a:t>
            </a:r>
            <a:r>
              <a:rPr lang="es-ES" sz="2000" dirty="0">
                <a:latin typeface="Helvetica" panose="020B0604020202020204" pitchFamily="34" charset="0"/>
                <a:cs typeface="Helvetica" panose="020B0604020202020204" pitchFamily="34" charset="0"/>
              </a:rPr>
              <a:t> in </a:t>
            </a:r>
            <a:r>
              <a:rPr lang="es-ES" sz="2000" dirty="0" err="1">
                <a:latin typeface="Helvetica" panose="020B0604020202020204" pitchFamily="34" charset="0"/>
                <a:cs typeface="Helvetica" panose="020B0604020202020204" pitchFamily="34" charset="0"/>
              </a:rPr>
              <a:t>the</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last</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decades</a:t>
            </a:r>
            <a:r>
              <a:rPr lang="es-ES" sz="2000" dirty="0">
                <a:latin typeface="Helvetica" panose="020B0604020202020204" pitchFamily="34" charset="0"/>
                <a:cs typeface="Helvetica" panose="020B0604020202020204" pitchFamily="34" charset="0"/>
              </a:rPr>
              <a:t>.</a:t>
            </a:r>
            <a:endParaRPr lang="es-ES" sz="2400" dirty="0">
              <a:latin typeface="Helvetica" panose="020B0604020202020204" pitchFamily="34" charset="0"/>
              <a:cs typeface="Helvetica" panose="020B0604020202020204" pitchFamily="34" charset="0"/>
            </a:endParaRPr>
          </a:p>
          <a:p>
            <a:pPr marL="800100" lvl="1" indent="-342900">
              <a:buClr>
                <a:srgbClr val="218317"/>
              </a:buClr>
              <a:buFont typeface="Arial" panose="020B0604020202020204" pitchFamily="34" charset="0"/>
              <a:buChar char="•"/>
            </a:pPr>
            <a:r>
              <a:rPr lang="es-ES" sz="2000" b="1" dirty="0">
                <a:solidFill>
                  <a:srgbClr val="DB5E01"/>
                </a:solidFill>
                <a:latin typeface="Helvetica" panose="020B0604020202020204" pitchFamily="34" charset="0"/>
                <a:cs typeface="Helvetica" panose="020B0604020202020204" pitchFamily="34" charset="0"/>
              </a:rPr>
              <a:t>Madrid (PEL/NAV): </a:t>
            </a:r>
            <a:r>
              <a:rPr lang="es-ES" sz="2000" dirty="0">
                <a:latin typeface="Helvetica" panose="020B0604020202020204" pitchFamily="34" charset="0"/>
                <a:cs typeface="Helvetica" panose="020B0604020202020204" pitchFamily="34" charset="0"/>
              </a:rPr>
              <a:t>no </a:t>
            </a:r>
            <a:r>
              <a:rPr lang="es-ES" sz="2000" dirty="0" err="1">
                <a:latin typeface="Helvetica" panose="020B0604020202020204" pitchFamily="34" charset="0"/>
                <a:cs typeface="Helvetica" panose="020B0604020202020204" pitchFamily="34" charset="0"/>
              </a:rPr>
              <a:t>major</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differences</a:t>
            </a:r>
            <a:r>
              <a:rPr lang="es-ES" sz="2000" dirty="0">
                <a:latin typeface="Helvetica" panose="020B0604020202020204" pitchFamily="34" charset="0"/>
                <a:cs typeface="Helvetica" panose="020B0604020202020204" pitchFamily="34" charset="0"/>
              </a:rPr>
              <a:t> in </a:t>
            </a:r>
            <a:r>
              <a:rPr lang="es-ES" sz="2000" dirty="0" err="1">
                <a:latin typeface="Helvetica" panose="020B0604020202020204" pitchFamily="34" charset="0"/>
                <a:cs typeface="Helvetica" panose="020B0604020202020204" pitchFamily="34" charset="0"/>
              </a:rPr>
              <a:t>growth</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between</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healthy</a:t>
            </a:r>
            <a:r>
              <a:rPr lang="es-ES" sz="2000" dirty="0">
                <a:latin typeface="Helvetica" panose="020B0604020202020204" pitchFamily="34" charset="0"/>
                <a:cs typeface="Helvetica" panose="020B0604020202020204" pitchFamily="34" charset="0"/>
              </a:rPr>
              <a:t> vs. </a:t>
            </a:r>
            <a:r>
              <a:rPr lang="es-ES" sz="2000" dirty="0" err="1">
                <a:latin typeface="Helvetica" panose="020B0604020202020204" pitchFamily="34" charset="0"/>
                <a:cs typeface="Helvetica" panose="020B0604020202020204" pitchFamily="34" charset="0"/>
              </a:rPr>
              <a:t>defoliated</a:t>
            </a:r>
            <a:r>
              <a:rPr lang="es-ES" sz="2000" dirty="0">
                <a:latin typeface="Helvetica" panose="020B0604020202020204" pitchFamily="34" charset="0"/>
                <a:cs typeface="Helvetica" panose="020B0604020202020204" pitchFamily="34" charset="0"/>
              </a:rPr>
              <a:t> sites.</a:t>
            </a:r>
          </a:p>
          <a:p>
            <a:pPr marL="742950" lvl="1" indent="-285750">
              <a:buFont typeface="Arial" panose="020B0604020202020204" pitchFamily="34" charset="0"/>
              <a:buChar char="•"/>
            </a:pPr>
            <a:endParaRPr lang="es-ES" sz="2400" dirty="0">
              <a:latin typeface="Helvetica" panose="020B0604020202020204" pitchFamily="34" charset="0"/>
              <a:cs typeface="Helvetica" panose="020B0604020202020204" pitchFamily="34" charset="0"/>
            </a:endParaRPr>
          </a:p>
        </p:txBody>
      </p:sp>
      <p:pic>
        <p:nvPicPr>
          <p:cNvPr id="13" name="Gráfico 12" descr="Abeto">
            <a:extLst>
              <a:ext uri="{FF2B5EF4-FFF2-40B4-BE49-F238E27FC236}">
                <a16:creationId xmlns:a16="http://schemas.microsoft.com/office/drawing/2014/main" id="{A25B5D43-49E5-1519-056C-3A6B5411B7C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591616" y="5537944"/>
            <a:ext cx="804155" cy="804155"/>
          </a:xfrm>
          <a:prstGeom prst="rect">
            <a:avLst/>
          </a:prstGeom>
        </p:spPr>
      </p:pic>
      <p:pic>
        <p:nvPicPr>
          <p:cNvPr id="14" name="Gráfico 13" descr="Abeto">
            <a:extLst>
              <a:ext uri="{FF2B5EF4-FFF2-40B4-BE49-F238E27FC236}">
                <a16:creationId xmlns:a16="http://schemas.microsoft.com/office/drawing/2014/main" id="{0074D390-B171-B85E-5C54-F1B8EA06D3C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034309" y="5553422"/>
            <a:ext cx="804155" cy="804155"/>
          </a:xfrm>
          <a:prstGeom prst="rect">
            <a:avLst/>
          </a:prstGeom>
        </p:spPr>
      </p:pic>
      <p:pic>
        <p:nvPicPr>
          <p:cNvPr id="15" name="Gráfico 14" descr="Abeto">
            <a:extLst>
              <a:ext uri="{FF2B5EF4-FFF2-40B4-BE49-F238E27FC236}">
                <a16:creationId xmlns:a16="http://schemas.microsoft.com/office/drawing/2014/main" id="{04B8CA8C-C5F6-416D-C9F0-CFC3D6BAC40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884250" y="5599506"/>
            <a:ext cx="804155" cy="804155"/>
          </a:xfrm>
          <a:prstGeom prst="rect">
            <a:avLst/>
          </a:prstGeom>
        </p:spPr>
      </p:pic>
      <p:sp>
        <p:nvSpPr>
          <p:cNvPr id="16" name="Marcador de contenido 2">
            <a:extLst>
              <a:ext uri="{FF2B5EF4-FFF2-40B4-BE49-F238E27FC236}">
                <a16:creationId xmlns:a16="http://schemas.microsoft.com/office/drawing/2014/main" id="{4F3D388E-E47F-E5BD-B011-9BF488BBD26D}"/>
              </a:ext>
            </a:extLst>
          </p:cNvPr>
          <p:cNvSpPr txBox="1">
            <a:spLocks/>
          </p:cNvSpPr>
          <p:nvPr/>
        </p:nvSpPr>
        <p:spPr>
          <a:xfrm>
            <a:off x="4267038" y="5779923"/>
            <a:ext cx="1767271" cy="623737"/>
          </a:xfrm>
          <a:prstGeom prst="rect">
            <a:avLst/>
          </a:prstGeom>
        </p:spPr>
        <p:txBody>
          <a:bodyPr vert="horz" lIns="91440" tIns="45720" rIns="91440" bIns="45720" rtlCol="0" anchor="t">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sz="1800" i="1" dirty="0" err="1">
                <a:solidFill>
                  <a:srgbClr val="746FB2"/>
                </a:solidFill>
                <a:latin typeface="Helvetica" panose="020B0604020202020204"/>
                <a:cs typeface="Helvetica"/>
              </a:rPr>
              <a:t>Abies</a:t>
            </a:r>
            <a:r>
              <a:rPr lang="es-ES" sz="1800" i="1" dirty="0">
                <a:solidFill>
                  <a:srgbClr val="746FB2"/>
                </a:solidFill>
                <a:latin typeface="Helvetica" panose="020B0604020202020204"/>
                <a:cs typeface="Helvetica"/>
              </a:rPr>
              <a:t> alba</a:t>
            </a:r>
          </a:p>
          <a:p>
            <a:pPr marL="0" indent="0">
              <a:buNone/>
            </a:pPr>
            <a:r>
              <a:rPr lang="es-ES" sz="1800" dirty="0" err="1">
                <a:solidFill>
                  <a:srgbClr val="746FB2"/>
                </a:solidFill>
                <a:latin typeface="Helvetica" panose="020B0604020202020204"/>
                <a:cs typeface="Helvetica" panose="020B0604020202020204"/>
              </a:rPr>
              <a:t>Temperate</a:t>
            </a:r>
            <a:endParaRPr lang="es-ES" sz="1800" dirty="0">
              <a:solidFill>
                <a:srgbClr val="746FB2"/>
              </a:solidFill>
              <a:latin typeface="Helvetica" panose="020B0604020202020204"/>
              <a:cs typeface="Helvetica" panose="020B0604020202020204"/>
            </a:endParaRPr>
          </a:p>
          <a:p>
            <a:pPr marL="0" indent="0">
              <a:buClr>
                <a:srgbClr val="218317"/>
              </a:buClr>
              <a:buNone/>
            </a:pPr>
            <a:endParaRPr lang="es-ES" sz="1800" i="1" dirty="0">
              <a:solidFill>
                <a:srgbClr val="746FB2"/>
              </a:solidFill>
              <a:latin typeface="Helvetica" panose="020B0604020202020204"/>
              <a:cs typeface="Helvetica" panose="020B0604020202020204"/>
            </a:endParaRPr>
          </a:p>
        </p:txBody>
      </p:sp>
      <p:sp>
        <p:nvSpPr>
          <p:cNvPr id="17" name="Marcador de contenido 2">
            <a:extLst>
              <a:ext uri="{FF2B5EF4-FFF2-40B4-BE49-F238E27FC236}">
                <a16:creationId xmlns:a16="http://schemas.microsoft.com/office/drawing/2014/main" id="{463B799E-36A2-A0F9-1055-9AA4CA5E8DF8}"/>
              </a:ext>
            </a:extLst>
          </p:cNvPr>
          <p:cNvSpPr txBox="1">
            <a:spLocks/>
          </p:cNvSpPr>
          <p:nvPr/>
        </p:nvSpPr>
        <p:spPr>
          <a:xfrm>
            <a:off x="6838464" y="5781278"/>
            <a:ext cx="1767271" cy="622381"/>
          </a:xfrm>
          <a:prstGeom prst="rect">
            <a:avLst/>
          </a:prstGeom>
        </p:spPr>
        <p:txBody>
          <a:bodyPr vert="horz" lIns="91440" tIns="45720" rIns="91440" bIns="45720" rtlCol="0" anchor="t">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sz="1800" i="1" dirty="0" err="1">
                <a:solidFill>
                  <a:srgbClr val="1B9E77"/>
                </a:solidFill>
                <a:latin typeface="Helvetica" panose="020B0604020202020204"/>
                <a:cs typeface="Helvetica"/>
              </a:rPr>
              <a:t>Pinus</a:t>
            </a:r>
            <a:r>
              <a:rPr lang="es-ES" sz="1800" i="1" dirty="0">
                <a:solidFill>
                  <a:srgbClr val="1B9E77"/>
                </a:solidFill>
                <a:latin typeface="Helvetica" panose="020B0604020202020204"/>
                <a:cs typeface="Helvetica"/>
              </a:rPr>
              <a:t> </a:t>
            </a:r>
            <a:r>
              <a:rPr lang="es-ES" sz="1800" i="1" dirty="0" err="1">
                <a:solidFill>
                  <a:srgbClr val="1B9E77"/>
                </a:solidFill>
                <a:latin typeface="Helvetica" panose="020B0604020202020204"/>
                <a:cs typeface="Helvetica"/>
              </a:rPr>
              <a:t>sylvestris</a:t>
            </a:r>
            <a:endParaRPr lang="es-ES" sz="1800" i="1" dirty="0">
              <a:solidFill>
                <a:srgbClr val="1B9E77"/>
              </a:solidFill>
              <a:latin typeface="Helvetica" panose="020B0604020202020204"/>
              <a:cs typeface="Helvetica"/>
            </a:endParaRPr>
          </a:p>
          <a:p>
            <a:pPr marL="0" indent="0">
              <a:buNone/>
            </a:pPr>
            <a:r>
              <a:rPr lang="es-ES" sz="1800" dirty="0" err="1">
                <a:solidFill>
                  <a:srgbClr val="1B9E77"/>
                </a:solidFill>
                <a:latin typeface="Helvetica" panose="020B0604020202020204"/>
                <a:cs typeface="Helvetica" panose="020B0604020202020204"/>
              </a:rPr>
              <a:t>Temperate</a:t>
            </a:r>
            <a:endParaRPr lang="es-ES" sz="1800" dirty="0">
              <a:solidFill>
                <a:srgbClr val="1B9E77"/>
              </a:solidFill>
              <a:latin typeface="Helvetica" panose="020B0604020202020204"/>
              <a:cs typeface="Helvetica" panose="020B0604020202020204"/>
            </a:endParaRPr>
          </a:p>
          <a:p>
            <a:pPr marL="0" indent="0">
              <a:buClr>
                <a:srgbClr val="218317"/>
              </a:buClr>
              <a:buNone/>
            </a:pPr>
            <a:endParaRPr lang="es-ES" sz="1800" i="1" dirty="0">
              <a:solidFill>
                <a:srgbClr val="1B9E77"/>
              </a:solidFill>
              <a:latin typeface="Helvetica" panose="020B0604020202020204"/>
              <a:cs typeface="Helvetica" panose="020B0604020202020204"/>
            </a:endParaRPr>
          </a:p>
        </p:txBody>
      </p:sp>
      <p:sp>
        <p:nvSpPr>
          <p:cNvPr id="18" name="Marcador de contenido 2">
            <a:extLst>
              <a:ext uri="{FF2B5EF4-FFF2-40B4-BE49-F238E27FC236}">
                <a16:creationId xmlns:a16="http://schemas.microsoft.com/office/drawing/2014/main" id="{6B292198-F1C8-A0F5-6614-34BD25515587}"/>
              </a:ext>
            </a:extLst>
          </p:cNvPr>
          <p:cNvSpPr txBox="1">
            <a:spLocks/>
          </p:cNvSpPr>
          <p:nvPr/>
        </p:nvSpPr>
        <p:spPr>
          <a:xfrm>
            <a:off x="9688405" y="5757809"/>
            <a:ext cx="1767271" cy="618356"/>
          </a:xfrm>
          <a:prstGeom prst="rect">
            <a:avLst/>
          </a:prstGeom>
        </p:spPr>
        <p:txBody>
          <a:bodyPr vert="horz" lIns="91440" tIns="45720" rIns="91440" bIns="45720" rtlCol="0" anchor="t">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sz="1800" i="1" dirty="0" err="1">
                <a:solidFill>
                  <a:srgbClr val="DB5F02"/>
                </a:solidFill>
                <a:latin typeface="Helvetica" panose="020B0604020202020204"/>
                <a:cs typeface="Helvetica"/>
              </a:rPr>
              <a:t>Pinus</a:t>
            </a:r>
            <a:r>
              <a:rPr lang="es-ES" sz="1800" i="1" dirty="0">
                <a:solidFill>
                  <a:srgbClr val="DB5F02"/>
                </a:solidFill>
                <a:latin typeface="Helvetica" panose="020B0604020202020204"/>
                <a:cs typeface="Helvetica"/>
              </a:rPr>
              <a:t> pinea</a:t>
            </a:r>
          </a:p>
          <a:p>
            <a:pPr marL="0" indent="0">
              <a:buClr>
                <a:srgbClr val="218317"/>
              </a:buClr>
              <a:buNone/>
            </a:pPr>
            <a:r>
              <a:rPr lang="es-ES" sz="1800" dirty="0" err="1">
                <a:solidFill>
                  <a:srgbClr val="DB5F02"/>
                </a:solidFill>
                <a:latin typeface="Helvetica" panose="020B0604020202020204"/>
                <a:cs typeface="Helvetica" panose="020B0604020202020204"/>
              </a:rPr>
              <a:t>Mediterranean</a:t>
            </a:r>
            <a:endParaRPr lang="es-ES" sz="1800" dirty="0">
              <a:solidFill>
                <a:srgbClr val="DB5F02"/>
              </a:solidFill>
              <a:latin typeface="Helvetica" panose="020B0604020202020204"/>
              <a:cs typeface="Helvetica" panose="020B0604020202020204"/>
            </a:endParaRPr>
          </a:p>
        </p:txBody>
      </p:sp>
      <p:sp>
        <p:nvSpPr>
          <p:cNvPr id="4" name="Título 1">
            <a:extLst>
              <a:ext uri="{FF2B5EF4-FFF2-40B4-BE49-F238E27FC236}">
                <a16:creationId xmlns:a16="http://schemas.microsoft.com/office/drawing/2014/main" id="{24AC8C74-445B-7378-7693-2D32AFD3C981}"/>
              </a:ext>
            </a:extLst>
          </p:cNvPr>
          <p:cNvSpPr txBox="1">
            <a:spLocks/>
          </p:cNvSpPr>
          <p:nvPr/>
        </p:nvSpPr>
        <p:spPr>
          <a:xfrm>
            <a:off x="9690902" y="-1"/>
            <a:ext cx="2501098" cy="804157"/>
          </a:xfrm>
          <a:prstGeom prst="rect">
            <a:avLst/>
          </a:prstGeom>
          <a:solidFill>
            <a:srgbClr val="218317"/>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s-ES" sz="2800" b="1" dirty="0">
                <a:solidFill>
                  <a:schemeClr val="accent6">
                    <a:lumMod val="60000"/>
                    <a:lumOff val="40000"/>
                  </a:schemeClr>
                </a:solidFill>
                <a:latin typeface="Helvetica" panose="020B0604020202020204" pitchFamily="34" charset="0"/>
                <a:cs typeface="Helvetica" panose="020B0604020202020204" pitchFamily="34" charset="0"/>
              </a:rPr>
              <a:t>Figures	</a:t>
            </a:r>
            <a:endParaRPr lang="es-ES" sz="2800" b="1" dirty="0">
              <a:solidFill>
                <a:srgbClr val="218317"/>
              </a:solidFill>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15705272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AA2040-6365-F622-F23A-914222D9DE1C}"/>
            </a:ext>
          </a:extLst>
        </p:cNvPr>
        <p:cNvGrpSpPr/>
        <p:nvPr/>
      </p:nvGrpSpPr>
      <p:grpSpPr>
        <a:xfrm>
          <a:off x="0" y="0"/>
          <a:ext cx="0" cy="0"/>
          <a:chOff x="0" y="0"/>
          <a:chExt cx="0" cy="0"/>
        </a:xfrm>
      </p:grpSpPr>
      <p:sp>
        <p:nvSpPr>
          <p:cNvPr id="3" name="Rectangle 1">
            <a:extLst>
              <a:ext uri="{FF2B5EF4-FFF2-40B4-BE49-F238E27FC236}">
                <a16:creationId xmlns:a16="http://schemas.microsoft.com/office/drawing/2014/main" id="{A5FDB6A8-F163-F3D4-EC30-49CEB3E1018B}"/>
              </a:ext>
            </a:extLst>
          </p:cNvPr>
          <p:cNvSpPr>
            <a:spLocks noChangeArrowheads="1"/>
          </p:cNvSpPr>
          <p:nvPr/>
        </p:nvSpPr>
        <p:spPr bwMode="auto">
          <a:xfrm>
            <a:off x="5288915" y="1477262"/>
            <a:ext cx="936624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s-ES" altLang="es-E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1800" b="0" i="0" u="none" strike="noStrike" cap="none" normalizeH="0" baseline="0">
              <a:ln>
                <a:noFill/>
              </a:ln>
              <a:solidFill>
                <a:schemeClr val="tx1"/>
              </a:solidFill>
              <a:effectLst/>
              <a:latin typeface="Arial" panose="020B0604020202020204" pitchFamily="34" charset="0"/>
            </a:endParaRPr>
          </a:p>
        </p:txBody>
      </p:sp>
      <p:sp>
        <p:nvSpPr>
          <p:cNvPr id="2" name="Título 1">
            <a:extLst>
              <a:ext uri="{FF2B5EF4-FFF2-40B4-BE49-F238E27FC236}">
                <a16:creationId xmlns:a16="http://schemas.microsoft.com/office/drawing/2014/main" id="{8B8E6C52-36FC-BBD5-61E6-16FA738B8DF1}"/>
              </a:ext>
            </a:extLst>
          </p:cNvPr>
          <p:cNvSpPr>
            <a:spLocks noGrp="1"/>
          </p:cNvSpPr>
          <p:nvPr>
            <p:ph type="title"/>
          </p:nvPr>
        </p:nvSpPr>
        <p:spPr>
          <a:xfrm>
            <a:off x="0" y="0"/>
            <a:ext cx="9690902" cy="804155"/>
          </a:xfrm>
          <a:solidFill>
            <a:srgbClr val="218317"/>
          </a:solidFill>
        </p:spPr>
        <p:txBody>
          <a:bodyPr>
            <a:normAutofit/>
          </a:bodyPr>
          <a:lstStyle/>
          <a:p>
            <a:r>
              <a:rPr lang="es-ES" sz="3200" b="1" dirty="0">
                <a:solidFill>
                  <a:schemeClr val="bg1"/>
                </a:solidFill>
                <a:latin typeface="Helvetica" panose="020B0604020202020204" pitchFamily="34" charset="0"/>
                <a:cs typeface="Helvetica" panose="020B0604020202020204" pitchFamily="34" charset="0"/>
              </a:rPr>
              <a:t>	</a:t>
            </a:r>
            <a:r>
              <a:rPr lang="es-ES" sz="3200" b="1" dirty="0" err="1">
                <a:solidFill>
                  <a:schemeClr val="bg1"/>
                </a:solidFill>
                <a:latin typeface="Helvetica" panose="020B0604020202020204" pitchFamily="34" charset="0"/>
                <a:cs typeface="Helvetica" panose="020B0604020202020204" pitchFamily="34" charset="0"/>
              </a:rPr>
              <a:t>Preliminary</a:t>
            </a:r>
            <a:r>
              <a:rPr lang="es-ES" sz="3200" b="1" dirty="0">
                <a:solidFill>
                  <a:schemeClr val="bg1"/>
                </a:solidFill>
                <a:latin typeface="Helvetica" panose="020B0604020202020204" pitchFamily="34" charset="0"/>
                <a:cs typeface="Helvetica" panose="020B0604020202020204" pitchFamily="34" charset="0"/>
              </a:rPr>
              <a:t> </a:t>
            </a:r>
            <a:r>
              <a:rPr lang="es-ES" sz="3200" b="1" dirty="0" err="1">
                <a:solidFill>
                  <a:schemeClr val="bg1"/>
                </a:solidFill>
                <a:latin typeface="Helvetica" panose="020B0604020202020204" pitchFamily="34" charset="0"/>
                <a:cs typeface="Helvetica" panose="020B0604020202020204" pitchFamily="34" charset="0"/>
              </a:rPr>
              <a:t>results</a:t>
            </a:r>
            <a:endParaRPr lang="es-ES" sz="3200" b="1" dirty="0">
              <a:solidFill>
                <a:schemeClr val="bg1"/>
              </a:solidFill>
              <a:latin typeface="Helvetica" panose="020B0604020202020204" pitchFamily="34" charset="0"/>
              <a:cs typeface="Helvetica" panose="020B0604020202020204" pitchFamily="34" charset="0"/>
            </a:endParaRPr>
          </a:p>
        </p:txBody>
      </p:sp>
      <p:sp>
        <p:nvSpPr>
          <p:cNvPr id="8" name="Título 1">
            <a:extLst>
              <a:ext uri="{FF2B5EF4-FFF2-40B4-BE49-F238E27FC236}">
                <a16:creationId xmlns:a16="http://schemas.microsoft.com/office/drawing/2014/main" id="{ED11F7B4-877F-7888-17DE-AD1B78A67942}"/>
              </a:ext>
            </a:extLst>
          </p:cNvPr>
          <p:cNvSpPr txBox="1">
            <a:spLocks/>
          </p:cNvSpPr>
          <p:nvPr/>
        </p:nvSpPr>
        <p:spPr>
          <a:xfrm>
            <a:off x="9690902" y="-1"/>
            <a:ext cx="2501098" cy="804157"/>
          </a:xfrm>
          <a:prstGeom prst="rect">
            <a:avLst/>
          </a:prstGeom>
          <a:solidFill>
            <a:srgbClr val="218317"/>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s-ES" sz="2800" b="1" dirty="0">
                <a:solidFill>
                  <a:schemeClr val="accent6">
                    <a:lumMod val="60000"/>
                    <a:lumOff val="40000"/>
                  </a:schemeClr>
                </a:solidFill>
                <a:latin typeface="Helvetica" panose="020B0604020202020204" pitchFamily="34" charset="0"/>
                <a:cs typeface="Helvetica" panose="020B0604020202020204" pitchFamily="34" charset="0"/>
              </a:rPr>
              <a:t>Figures	</a:t>
            </a:r>
            <a:endParaRPr lang="es-ES" sz="2800" b="1" dirty="0">
              <a:solidFill>
                <a:srgbClr val="218317"/>
              </a:solidFill>
              <a:latin typeface="Helvetica" panose="020B0604020202020204" pitchFamily="34" charset="0"/>
              <a:cs typeface="Helvetica" panose="020B0604020202020204" pitchFamily="34" charset="0"/>
            </a:endParaRPr>
          </a:p>
        </p:txBody>
      </p:sp>
      <p:sp>
        <p:nvSpPr>
          <p:cNvPr id="12" name="CuadroTexto 10">
            <a:extLst>
              <a:ext uri="{FF2B5EF4-FFF2-40B4-BE49-F238E27FC236}">
                <a16:creationId xmlns:a16="http://schemas.microsoft.com/office/drawing/2014/main" id="{82A1B36E-3ABB-F08C-29F7-F2CBD400B7DA}"/>
              </a:ext>
            </a:extLst>
          </p:cNvPr>
          <p:cNvSpPr txBox="1"/>
          <p:nvPr/>
        </p:nvSpPr>
        <p:spPr>
          <a:xfrm>
            <a:off x="6021444" y="1791969"/>
            <a:ext cx="5725611" cy="1569660"/>
          </a:xfrm>
          <a:prstGeom prst="rect">
            <a:avLst/>
          </a:prstGeom>
          <a:noFill/>
        </p:spPr>
        <p:txBody>
          <a:bodyPr wrap="square" rtlCol="0">
            <a:spAutoFit/>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1"/>
            <a:r>
              <a:rPr lang="es-ES" sz="2400" dirty="0" err="1">
                <a:latin typeface="Helvetica" panose="020B0604020202020204" pitchFamily="34" charset="0"/>
                <a:cs typeface="Helvetica" panose="020B0604020202020204" pitchFamily="34" charset="0"/>
              </a:rPr>
              <a:t>Additive</a:t>
            </a:r>
            <a:r>
              <a:rPr lang="es-ES" sz="2400" dirty="0">
                <a:latin typeface="Helvetica" panose="020B0604020202020204" pitchFamily="34" charset="0"/>
                <a:cs typeface="Helvetica" panose="020B0604020202020204" pitchFamily="34" charset="0"/>
              </a:rPr>
              <a:t> </a:t>
            </a:r>
            <a:r>
              <a:rPr lang="es-ES" sz="2400" dirty="0" err="1">
                <a:latin typeface="Helvetica" panose="020B0604020202020204" pitchFamily="34" charset="0"/>
                <a:cs typeface="Helvetica" panose="020B0604020202020204" pitchFamily="34" charset="0"/>
              </a:rPr>
              <a:t>standardized</a:t>
            </a:r>
            <a:r>
              <a:rPr lang="es-ES" sz="2400" dirty="0">
                <a:latin typeface="Helvetica" panose="020B0604020202020204" pitchFamily="34" charset="0"/>
                <a:cs typeface="Helvetica" panose="020B0604020202020204" pitchFamily="34" charset="0"/>
              </a:rPr>
              <a:t> (BAI / </a:t>
            </a:r>
            <a:r>
              <a:rPr lang="es-ES" sz="2400" dirty="0" err="1">
                <a:latin typeface="Helvetica" panose="020B0604020202020204" pitchFamily="34" charset="0"/>
                <a:cs typeface="Helvetica" panose="020B0604020202020204" pitchFamily="34" charset="0"/>
              </a:rPr>
              <a:t>d.b.h</a:t>
            </a:r>
            <a:r>
              <a:rPr lang="es-ES" sz="2400" dirty="0">
                <a:latin typeface="Helvetica" panose="020B0604020202020204" pitchFamily="34" charset="0"/>
                <a:cs typeface="Helvetica" panose="020B0604020202020204" pitchFamily="34" charset="0"/>
              </a:rPr>
              <a:t>.) </a:t>
            </a:r>
            <a:r>
              <a:rPr lang="es-ES" sz="2400" dirty="0" err="1">
                <a:latin typeface="Helvetica" panose="020B0604020202020204" pitchFamily="34" charset="0"/>
                <a:cs typeface="Helvetica" panose="020B0604020202020204" pitchFamily="34" charset="0"/>
              </a:rPr>
              <a:t>tree</a:t>
            </a:r>
            <a:r>
              <a:rPr lang="es-ES" sz="2400" dirty="0">
                <a:latin typeface="Helvetica" panose="020B0604020202020204" pitchFamily="34" charset="0"/>
                <a:cs typeface="Helvetica" panose="020B0604020202020204" pitchFamily="34" charset="0"/>
              </a:rPr>
              <a:t> </a:t>
            </a:r>
            <a:r>
              <a:rPr lang="es-ES" sz="2400" dirty="0" err="1">
                <a:latin typeface="Helvetica" panose="020B0604020202020204" pitchFamily="34" charset="0"/>
                <a:cs typeface="Helvetica" panose="020B0604020202020204" pitchFamily="34" charset="0"/>
              </a:rPr>
              <a:t>growth</a:t>
            </a:r>
            <a:r>
              <a:rPr lang="es-ES" sz="2400" dirty="0">
                <a:latin typeface="Helvetica" panose="020B0604020202020204" pitchFamily="34" charset="0"/>
                <a:cs typeface="Helvetica" panose="020B0604020202020204" pitchFamily="34" charset="0"/>
              </a:rPr>
              <a:t> series </a:t>
            </a:r>
            <a:r>
              <a:rPr lang="es-ES" sz="2400" dirty="0" err="1">
                <a:latin typeface="Helvetica" panose="020B0604020202020204" pitchFamily="34" charset="0"/>
                <a:cs typeface="Helvetica" panose="020B0604020202020204" pitchFamily="34" charset="0"/>
              </a:rPr>
              <a:t>of</a:t>
            </a:r>
            <a:r>
              <a:rPr lang="es-ES" sz="2400" dirty="0">
                <a:latin typeface="Helvetica" panose="020B0604020202020204" pitchFamily="34" charset="0"/>
                <a:cs typeface="Helvetica" panose="020B0604020202020204" pitchFamily="34" charset="0"/>
              </a:rPr>
              <a:t> </a:t>
            </a:r>
            <a:r>
              <a:rPr lang="es-ES" sz="2400" dirty="0" err="1">
                <a:latin typeface="Helvetica" panose="020B0604020202020204" pitchFamily="34" charset="0"/>
                <a:cs typeface="Helvetica" panose="020B0604020202020204" pitchFamily="34" charset="0"/>
              </a:rPr>
              <a:t>each</a:t>
            </a:r>
            <a:r>
              <a:rPr lang="es-ES" sz="2400" dirty="0">
                <a:latin typeface="Helvetica" panose="020B0604020202020204" pitchFamily="34" charset="0"/>
                <a:cs typeface="Helvetica" panose="020B0604020202020204" pitchFamily="34" charset="0"/>
              </a:rPr>
              <a:t> site per </a:t>
            </a:r>
            <a:r>
              <a:rPr lang="es-ES" sz="2400" dirty="0" err="1">
                <a:latin typeface="Helvetica" panose="020B0604020202020204" pitchFamily="34" charset="0"/>
                <a:cs typeface="Helvetica" panose="020B0604020202020204" pitchFamily="34" charset="0"/>
              </a:rPr>
              <a:t>species</a:t>
            </a:r>
            <a:r>
              <a:rPr lang="es-ES" sz="2400" dirty="0">
                <a:latin typeface="Helvetica" panose="020B0604020202020204" pitchFamily="34" charset="0"/>
                <a:cs typeface="Helvetica" panose="020B0604020202020204" pitchFamily="34" charset="0"/>
              </a:rPr>
              <a:t>.</a:t>
            </a:r>
          </a:p>
          <a:p>
            <a:pPr lvl="1"/>
            <a:endParaRPr lang="es-ES" sz="2400" dirty="0">
              <a:latin typeface="Helvetica" panose="020B0604020202020204" pitchFamily="34" charset="0"/>
              <a:cs typeface="Helvetica" panose="020B0604020202020204" pitchFamily="34" charset="0"/>
            </a:endParaRPr>
          </a:p>
        </p:txBody>
      </p:sp>
      <p:pic>
        <p:nvPicPr>
          <p:cNvPr id="13" name="Gráfico 12" descr="Abeto">
            <a:extLst>
              <a:ext uri="{FF2B5EF4-FFF2-40B4-BE49-F238E27FC236}">
                <a16:creationId xmlns:a16="http://schemas.microsoft.com/office/drawing/2014/main" id="{EC4888E8-B91F-1649-B685-B9DC89C18FA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88915" y="5790863"/>
            <a:ext cx="804155" cy="804155"/>
          </a:xfrm>
          <a:prstGeom prst="rect">
            <a:avLst/>
          </a:prstGeom>
        </p:spPr>
      </p:pic>
      <p:pic>
        <p:nvPicPr>
          <p:cNvPr id="14" name="Gráfico 13" descr="Abeto">
            <a:extLst>
              <a:ext uri="{FF2B5EF4-FFF2-40B4-BE49-F238E27FC236}">
                <a16:creationId xmlns:a16="http://schemas.microsoft.com/office/drawing/2014/main" id="{3CBFBD5C-D0DE-7C00-455A-88D672A2077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177881" y="5786887"/>
            <a:ext cx="804155" cy="804155"/>
          </a:xfrm>
          <a:prstGeom prst="rect">
            <a:avLst/>
          </a:prstGeom>
        </p:spPr>
      </p:pic>
      <p:pic>
        <p:nvPicPr>
          <p:cNvPr id="15" name="Gráfico 14" descr="Abeto">
            <a:extLst>
              <a:ext uri="{FF2B5EF4-FFF2-40B4-BE49-F238E27FC236}">
                <a16:creationId xmlns:a16="http://schemas.microsoft.com/office/drawing/2014/main" id="{222A6575-11AB-5D2A-6D6B-C4CC03D17F8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620574" y="5832970"/>
            <a:ext cx="804155" cy="804155"/>
          </a:xfrm>
          <a:prstGeom prst="rect">
            <a:avLst/>
          </a:prstGeom>
        </p:spPr>
      </p:pic>
      <p:sp>
        <p:nvSpPr>
          <p:cNvPr id="16" name="Marcador de contenido 2">
            <a:extLst>
              <a:ext uri="{FF2B5EF4-FFF2-40B4-BE49-F238E27FC236}">
                <a16:creationId xmlns:a16="http://schemas.microsoft.com/office/drawing/2014/main" id="{75F07DC1-48B2-72C8-AD77-2463E425B5E6}"/>
              </a:ext>
            </a:extLst>
          </p:cNvPr>
          <p:cNvSpPr txBox="1">
            <a:spLocks/>
          </p:cNvSpPr>
          <p:nvPr/>
        </p:nvSpPr>
        <p:spPr>
          <a:xfrm>
            <a:off x="5964337" y="6032842"/>
            <a:ext cx="1767271" cy="623737"/>
          </a:xfrm>
          <a:prstGeom prst="rect">
            <a:avLst/>
          </a:prstGeom>
        </p:spPr>
        <p:txBody>
          <a:bodyPr vert="horz" lIns="91440" tIns="45720" rIns="91440" bIns="45720" rtlCol="0" anchor="t">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sz="1800" i="1" dirty="0" err="1">
                <a:solidFill>
                  <a:srgbClr val="746FB2"/>
                </a:solidFill>
                <a:latin typeface="Helvetica" panose="020B0604020202020204"/>
                <a:cs typeface="Helvetica"/>
              </a:rPr>
              <a:t>Abies</a:t>
            </a:r>
            <a:r>
              <a:rPr lang="es-ES" sz="1800" i="1" dirty="0">
                <a:solidFill>
                  <a:srgbClr val="746FB2"/>
                </a:solidFill>
                <a:latin typeface="Helvetica" panose="020B0604020202020204"/>
                <a:cs typeface="Helvetica"/>
              </a:rPr>
              <a:t> alba</a:t>
            </a:r>
          </a:p>
          <a:p>
            <a:pPr marL="0" indent="0">
              <a:buNone/>
            </a:pPr>
            <a:r>
              <a:rPr lang="es-ES" sz="1800" dirty="0" err="1">
                <a:solidFill>
                  <a:srgbClr val="746FB2"/>
                </a:solidFill>
                <a:latin typeface="Helvetica" panose="020B0604020202020204"/>
                <a:cs typeface="Helvetica" panose="020B0604020202020204"/>
              </a:rPr>
              <a:t>Temperate</a:t>
            </a:r>
            <a:endParaRPr lang="es-ES" sz="1800" dirty="0">
              <a:solidFill>
                <a:srgbClr val="746FB2"/>
              </a:solidFill>
              <a:latin typeface="Helvetica" panose="020B0604020202020204"/>
              <a:cs typeface="Helvetica" panose="020B0604020202020204"/>
            </a:endParaRPr>
          </a:p>
          <a:p>
            <a:pPr marL="0" indent="0">
              <a:buClr>
                <a:srgbClr val="218317"/>
              </a:buClr>
              <a:buNone/>
            </a:pPr>
            <a:endParaRPr lang="es-ES" sz="1800" i="1" dirty="0">
              <a:solidFill>
                <a:srgbClr val="746FB2"/>
              </a:solidFill>
              <a:latin typeface="Helvetica" panose="020B0604020202020204"/>
              <a:cs typeface="Helvetica" panose="020B0604020202020204"/>
            </a:endParaRPr>
          </a:p>
        </p:txBody>
      </p:sp>
      <p:sp>
        <p:nvSpPr>
          <p:cNvPr id="17" name="Marcador de contenido 2">
            <a:extLst>
              <a:ext uri="{FF2B5EF4-FFF2-40B4-BE49-F238E27FC236}">
                <a16:creationId xmlns:a16="http://schemas.microsoft.com/office/drawing/2014/main" id="{5245EBD3-67F8-3621-8F84-981734C5881A}"/>
              </a:ext>
            </a:extLst>
          </p:cNvPr>
          <p:cNvSpPr txBox="1">
            <a:spLocks/>
          </p:cNvSpPr>
          <p:nvPr/>
        </p:nvSpPr>
        <p:spPr>
          <a:xfrm>
            <a:off x="7982036" y="6014743"/>
            <a:ext cx="1767271" cy="622381"/>
          </a:xfrm>
          <a:prstGeom prst="rect">
            <a:avLst/>
          </a:prstGeom>
        </p:spPr>
        <p:txBody>
          <a:bodyPr vert="horz" lIns="91440" tIns="45720" rIns="91440" bIns="45720" rtlCol="0" anchor="t">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sz="1800" i="1" dirty="0" err="1">
                <a:solidFill>
                  <a:srgbClr val="1B9E77"/>
                </a:solidFill>
                <a:latin typeface="Helvetica" panose="020B0604020202020204"/>
                <a:cs typeface="Helvetica"/>
              </a:rPr>
              <a:t>Pinus</a:t>
            </a:r>
            <a:r>
              <a:rPr lang="es-ES" sz="1800" i="1" dirty="0">
                <a:solidFill>
                  <a:srgbClr val="1B9E77"/>
                </a:solidFill>
                <a:latin typeface="Helvetica" panose="020B0604020202020204"/>
                <a:cs typeface="Helvetica"/>
              </a:rPr>
              <a:t> </a:t>
            </a:r>
            <a:r>
              <a:rPr lang="es-ES" sz="1800" i="1" dirty="0" err="1">
                <a:solidFill>
                  <a:srgbClr val="1B9E77"/>
                </a:solidFill>
                <a:latin typeface="Helvetica" panose="020B0604020202020204"/>
                <a:cs typeface="Helvetica"/>
              </a:rPr>
              <a:t>sylvestris</a:t>
            </a:r>
            <a:endParaRPr lang="es-ES" sz="1800" i="1" dirty="0">
              <a:solidFill>
                <a:srgbClr val="1B9E77"/>
              </a:solidFill>
              <a:latin typeface="Helvetica" panose="020B0604020202020204"/>
              <a:cs typeface="Helvetica"/>
            </a:endParaRPr>
          </a:p>
          <a:p>
            <a:pPr marL="0" indent="0">
              <a:buNone/>
            </a:pPr>
            <a:r>
              <a:rPr lang="es-ES" sz="1800" dirty="0" err="1">
                <a:solidFill>
                  <a:srgbClr val="1B9E77"/>
                </a:solidFill>
                <a:latin typeface="Helvetica" panose="020B0604020202020204"/>
                <a:cs typeface="Helvetica" panose="020B0604020202020204"/>
              </a:rPr>
              <a:t>Temperate</a:t>
            </a:r>
            <a:endParaRPr lang="es-ES" sz="1800" dirty="0">
              <a:solidFill>
                <a:srgbClr val="1B9E77"/>
              </a:solidFill>
              <a:latin typeface="Helvetica" panose="020B0604020202020204"/>
              <a:cs typeface="Helvetica" panose="020B0604020202020204"/>
            </a:endParaRPr>
          </a:p>
          <a:p>
            <a:pPr marL="0" indent="0">
              <a:buClr>
                <a:srgbClr val="218317"/>
              </a:buClr>
              <a:buNone/>
            </a:pPr>
            <a:endParaRPr lang="es-ES" sz="1800" i="1" dirty="0">
              <a:solidFill>
                <a:srgbClr val="1B9E77"/>
              </a:solidFill>
              <a:latin typeface="Helvetica" panose="020B0604020202020204"/>
              <a:cs typeface="Helvetica" panose="020B0604020202020204"/>
            </a:endParaRPr>
          </a:p>
        </p:txBody>
      </p:sp>
      <p:sp>
        <p:nvSpPr>
          <p:cNvPr id="18" name="Marcador de contenido 2">
            <a:extLst>
              <a:ext uri="{FF2B5EF4-FFF2-40B4-BE49-F238E27FC236}">
                <a16:creationId xmlns:a16="http://schemas.microsoft.com/office/drawing/2014/main" id="{FC04FBBF-51E3-9A14-F381-8EA28A200C74}"/>
              </a:ext>
            </a:extLst>
          </p:cNvPr>
          <p:cNvSpPr txBox="1">
            <a:spLocks/>
          </p:cNvSpPr>
          <p:nvPr/>
        </p:nvSpPr>
        <p:spPr>
          <a:xfrm>
            <a:off x="10424729" y="5991273"/>
            <a:ext cx="1767271" cy="618356"/>
          </a:xfrm>
          <a:prstGeom prst="rect">
            <a:avLst/>
          </a:prstGeom>
        </p:spPr>
        <p:txBody>
          <a:bodyPr vert="horz" lIns="91440" tIns="45720" rIns="91440" bIns="45720" rtlCol="0" anchor="t">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ES" sz="1800" i="1" dirty="0" err="1">
                <a:solidFill>
                  <a:srgbClr val="DB5F02"/>
                </a:solidFill>
                <a:latin typeface="Helvetica" panose="020B0604020202020204"/>
                <a:cs typeface="Helvetica"/>
              </a:rPr>
              <a:t>Pinus</a:t>
            </a:r>
            <a:r>
              <a:rPr lang="es-ES" sz="1800" i="1" dirty="0">
                <a:solidFill>
                  <a:srgbClr val="DB5F02"/>
                </a:solidFill>
                <a:latin typeface="Helvetica" panose="020B0604020202020204"/>
                <a:cs typeface="Helvetica"/>
              </a:rPr>
              <a:t> pinea</a:t>
            </a:r>
          </a:p>
          <a:p>
            <a:pPr marL="0" indent="0">
              <a:buClr>
                <a:srgbClr val="218317"/>
              </a:buClr>
              <a:buNone/>
            </a:pPr>
            <a:r>
              <a:rPr lang="es-ES" sz="1800" dirty="0" err="1">
                <a:solidFill>
                  <a:srgbClr val="DB5F02"/>
                </a:solidFill>
                <a:latin typeface="Helvetica" panose="020B0604020202020204"/>
                <a:cs typeface="Helvetica" panose="020B0604020202020204"/>
              </a:rPr>
              <a:t>Mediterranean</a:t>
            </a:r>
            <a:endParaRPr lang="es-ES" sz="1800" dirty="0">
              <a:solidFill>
                <a:srgbClr val="DB5F02"/>
              </a:solidFill>
              <a:latin typeface="Helvetica" panose="020B0604020202020204"/>
              <a:cs typeface="Helvetica" panose="020B0604020202020204"/>
            </a:endParaRPr>
          </a:p>
        </p:txBody>
      </p:sp>
      <p:pic>
        <p:nvPicPr>
          <p:cNvPr id="5" name="Imagen 4">
            <a:extLst>
              <a:ext uri="{FF2B5EF4-FFF2-40B4-BE49-F238E27FC236}">
                <a16:creationId xmlns:a16="http://schemas.microsoft.com/office/drawing/2014/main" id="{52EF958F-D2D9-646B-8019-EA7D1B61DC4F}"/>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1577" y="904673"/>
            <a:ext cx="5207338" cy="5802548"/>
          </a:xfrm>
          <a:prstGeom prst="rect">
            <a:avLst/>
          </a:prstGeom>
        </p:spPr>
      </p:pic>
    </p:spTree>
    <p:extLst>
      <p:ext uri="{BB962C8B-B14F-4D97-AF65-F5344CB8AC3E}">
        <p14:creationId xmlns:p14="http://schemas.microsoft.com/office/powerpoint/2010/main" val="1318598804"/>
      </p:ext>
    </p:extLst>
  </p:cSld>
  <p:clrMapOvr>
    <a:masterClrMapping/>
  </p:clrMapOvr>
  <p:extLst>
    <p:ext uri="{6950BFC3-D8DA-4A85-94F7-54DA5524770B}">
      <p188:commentRel xmlns:p188="http://schemas.microsoft.com/office/powerpoint/2018/8/main" r:id="rId2"/>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24DB8A-A413-E708-1A83-093C559DCCD0}"/>
            </a:ext>
          </a:extLst>
        </p:cNvPr>
        <p:cNvGrpSpPr/>
        <p:nvPr/>
      </p:nvGrpSpPr>
      <p:grpSpPr>
        <a:xfrm>
          <a:off x="0" y="0"/>
          <a:ext cx="0" cy="0"/>
          <a:chOff x="0" y="0"/>
          <a:chExt cx="0" cy="0"/>
        </a:xfrm>
      </p:grpSpPr>
      <p:sp>
        <p:nvSpPr>
          <p:cNvPr id="3" name="Rectangle 1">
            <a:extLst>
              <a:ext uri="{FF2B5EF4-FFF2-40B4-BE49-F238E27FC236}">
                <a16:creationId xmlns:a16="http://schemas.microsoft.com/office/drawing/2014/main" id="{C1A8F4C5-D5EF-9E76-A133-20A075E4703B}"/>
              </a:ext>
            </a:extLst>
          </p:cNvPr>
          <p:cNvSpPr>
            <a:spLocks noChangeArrowheads="1"/>
          </p:cNvSpPr>
          <p:nvPr/>
        </p:nvSpPr>
        <p:spPr bwMode="auto">
          <a:xfrm>
            <a:off x="5288915" y="1477262"/>
            <a:ext cx="936624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s-ES" altLang="es-E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1800" b="0" i="0" u="none" strike="noStrike" cap="none" normalizeH="0" baseline="0">
              <a:ln>
                <a:noFill/>
              </a:ln>
              <a:solidFill>
                <a:schemeClr val="tx1"/>
              </a:solidFill>
              <a:effectLst/>
              <a:latin typeface="Arial" panose="020B0604020202020204" pitchFamily="34" charset="0"/>
            </a:endParaRPr>
          </a:p>
        </p:txBody>
      </p:sp>
      <p:sp>
        <p:nvSpPr>
          <p:cNvPr id="2" name="Título 1">
            <a:extLst>
              <a:ext uri="{FF2B5EF4-FFF2-40B4-BE49-F238E27FC236}">
                <a16:creationId xmlns:a16="http://schemas.microsoft.com/office/drawing/2014/main" id="{1D6B3584-3002-6BDC-9E1C-878180446A72}"/>
              </a:ext>
            </a:extLst>
          </p:cNvPr>
          <p:cNvSpPr>
            <a:spLocks noGrp="1"/>
          </p:cNvSpPr>
          <p:nvPr>
            <p:ph type="title"/>
          </p:nvPr>
        </p:nvSpPr>
        <p:spPr>
          <a:xfrm>
            <a:off x="0" y="0"/>
            <a:ext cx="9690902" cy="804155"/>
          </a:xfrm>
          <a:solidFill>
            <a:srgbClr val="218317"/>
          </a:solidFill>
        </p:spPr>
        <p:txBody>
          <a:bodyPr>
            <a:normAutofit/>
          </a:bodyPr>
          <a:lstStyle/>
          <a:p>
            <a:r>
              <a:rPr lang="es-ES" sz="3200" b="1" dirty="0">
                <a:solidFill>
                  <a:schemeClr val="bg1"/>
                </a:solidFill>
                <a:latin typeface="Helvetica" panose="020B0604020202020204" pitchFamily="34" charset="0"/>
                <a:cs typeface="Helvetica" panose="020B0604020202020204" pitchFamily="34" charset="0"/>
              </a:rPr>
              <a:t>	</a:t>
            </a:r>
            <a:r>
              <a:rPr lang="es-ES" sz="3200" b="1" dirty="0" err="1">
                <a:solidFill>
                  <a:schemeClr val="bg1"/>
                </a:solidFill>
                <a:latin typeface="Helvetica" panose="020B0604020202020204" pitchFamily="34" charset="0"/>
                <a:cs typeface="Helvetica" panose="020B0604020202020204" pitchFamily="34" charset="0"/>
              </a:rPr>
              <a:t>Preliminary</a:t>
            </a:r>
            <a:r>
              <a:rPr lang="es-ES" sz="3200" b="1" dirty="0">
                <a:solidFill>
                  <a:schemeClr val="bg1"/>
                </a:solidFill>
                <a:latin typeface="Helvetica" panose="020B0604020202020204" pitchFamily="34" charset="0"/>
                <a:cs typeface="Helvetica" panose="020B0604020202020204" pitchFamily="34" charset="0"/>
              </a:rPr>
              <a:t> </a:t>
            </a:r>
            <a:r>
              <a:rPr lang="es-ES" sz="3200" b="1" dirty="0" err="1">
                <a:solidFill>
                  <a:schemeClr val="bg1"/>
                </a:solidFill>
                <a:latin typeface="Helvetica" panose="020B0604020202020204" pitchFamily="34" charset="0"/>
                <a:cs typeface="Helvetica" panose="020B0604020202020204" pitchFamily="34" charset="0"/>
              </a:rPr>
              <a:t>results</a:t>
            </a:r>
            <a:endParaRPr lang="es-ES" sz="3200" b="1" dirty="0">
              <a:solidFill>
                <a:schemeClr val="bg1"/>
              </a:solidFill>
              <a:latin typeface="Helvetica" panose="020B0604020202020204" pitchFamily="34" charset="0"/>
              <a:cs typeface="Helvetica" panose="020B0604020202020204" pitchFamily="34" charset="0"/>
            </a:endParaRPr>
          </a:p>
        </p:txBody>
      </p:sp>
      <p:sp>
        <p:nvSpPr>
          <p:cNvPr id="8" name="Título 1">
            <a:extLst>
              <a:ext uri="{FF2B5EF4-FFF2-40B4-BE49-F238E27FC236}">
                <a16:creationId xmlns:a16="http://schemas.microsoft.com/office/drawing/2014/main" id="{9214E92E-642B-98F5-BF16-46CCDC80A4B7}"/>
              </a:ext>
            </a:extLst>
          </p:cNvPr>
          <p:cNvSpPr txBox="1">
            <a:spLocks/>
          </p:cNvSpPr>
          <p:nvPr/>
        </p:nvSpPr>
        <p:spPr>
          <a:xfrm>
            <a:off x="9690902" y="-1"/>
            <a:ext cx="2501098" cy="804157"/>
          </a:xfrm>
          <a:prstGeom prst="rect">
            <a:avLst/>
          </a:prstGeom>
          <a:solidFill>
            <a:srgbClr val="218317"/>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s-ES" sz="2800" b="1" dirty="0">
                <a:solidFill>
                  <a:schemeClr val="accent6">
                    <a:lumMod val="60000"/>
                    <a:lumOff val="40000"/>
                  </a:schemeClr>
                </a:solidFill>
                <a:latin typeface="Helvetica" panose="020B0604020202020204" pitchFamily="34" charset="0"/>
                <a:cs typeface="Helvetica" panose="020B0604020202020204" pitchFamily="34" charset="0"/>
              </a:rPr>
              <a:t>Figures	</a:t>
            </a:r>
            <a:endParaRPr lang="es-ES" sz="2800" b="1" dirty="0">
              <a:solidFill>
                <a:srgbClr val="218317"/>
              </a:solidFill>
              <a:latin typeface="Helvetica" panose="020B0604020202020204" pitchFamily="34" charset="0"/>
              <a:cs typeface="Helvetica" panose="020B0604020202020204" pitchFamily="34" charset="0"/>
            </a:endParaRPr>
          </a:p>
        </p:txBody>
      </p:sp>
      <p:sp>
        <p:nvSpPr>
          <p:cNvPr id="12" name="CuadroTexto 10">
            <a:extLst>
              <a:ext uri="{FF2B5EF4-FFF2-40B4-BE49-F238E27FC236}">
                <a16:creationId xmlns:a16="http://schemas.microsoft.com/office/drawing/2014/main" id="{FBEA708A-2F7E-0B0C-7B82-584EB61544CA}"/>
              </a:ext>
            </a:extLst>
          </p:cNvPr>
          <p:cNvSpPr txBox="1"/>
          <p:nvPr/>
        </p:nvSpPr>
        <p:spPr>
          <a:xfrm>
            <a:off x="6145191" y="1512509"/>
            <a:ext cx="5725611" cy="1569660"/>
          </a:xfrm>
          <a:prstGeom prst="rect">
            <a:avLst/>
          </a:prstGeom>
          <a:noFill/>
        </p:spPr>
        <p:txBody>
          <a:bodyPr wrap="square" rtlCol="0">
            <a:spAutoFit/>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1"/>
            <a:r>
              <a:rPr lang="es-ES" sz="2400" dirty="0" err="1">
                <a:latin typeface="Helvetica" panose="020B0604020202020204" pitchFamily="34" charset="0"/>
                <a:cs typeface="Helvetica" panose="020B0604020202020204" pitchFamily="34" charset="0"/>
              </a:rPr>
              <a:t>When</a:t>
            </a:r>
            <a:r>
              <a:rPr lang="es-ES" sz="2400" dirty="0">
                <a:latin typeface="Helvetica" panose="020B0604020202020204" pitchFamily="34" charset="0"/>
                <a:cs typeface="Helvetica" panose="020B0604020202020204" pitchFamily="34" charset="0"/>
              </a:rPr>
              <a:t> </a:t>
            </a:r>
            <a:r>
              <a:rPr lang="es-ES" sz="2400" dirty="0" err="1">
                <a:latin typeface="Helvetica" panose="020B0604020202020204" pitchFamily="34" charset="0"/>
                <a:cs typeface="Helvetica" panose="020B0604020202020204" pitchFamily="34" charset="0"/>
              </a:rPr>
              <a:t>considering</a:t>
            </a:r>
            <a:r>
              <a:rPr lang="es-ES" sz="2400" dirty="0">
                <a:latin typeface="Helvetica" panose="020B0604020202020204" pitchFamily="34" charset="0"/>
                <a:cs typeface="Helvetica" panose="020B0604020202020204" pitchFamily="34" charset="0"/>
              </a:rPr>
              <a:t> </a:t>
            </a:r>
            <a:r>
              <a:rPr lang="es-ES" sz="2400" dirty="0" err="1">
                <a:latin typeface="Helvetica" panose="020B0604020202020204" pitchFamily="34" charset="0"/>
                <a:cs typeface="Helvetica" panose="020B0604020202020204" pitchFamily="34" charset="0"/>
              </a:rPr>
              <a:t>only</a:t>
            </a:r>
            <a:r>
              <a:rPr lang="es-ES" sz="2400" dirty="0">
                <a:latin typeface="Helvetica" panose="020B0604020202020204" pitchFamily="34" charset="0"/>
                <a:cs typeface="Helvetica" panose="020B0604020202020204" pitchFamily="34" charset="0"/>
              </a:rPr>
              <a:t> Navarra </a:t>
            </a:r>
            <a:r>
              <a:rPr lang="es-ES" sz="2400" dirty="0" err="1">
                <a:latin typeface="Helvetica" panose="020B0604020202020204" pitchFamily="34" charset="0"/>
                <a:cs typeface="Helvetica" panose="020B0604020202020204" pitchFamily="34" charset="0"/>
              </a:rPr>
              <a:t>for</a:t>
            </a:r>
            <a:r>
              <a:rPr lang="es-ES" sz="2400" dirty="0">
                <a:latin typeface="Helvetica" panose="020B0604020202020204" pitchFamily="34" charset="0"/>
                <a:cs typeface="Helvetica" panose="020B0604020202020204" pitchFamily="34" charset="0"/>
              </a:rPr>
              <a:t> </a:t>
            </a:r>
            <a:r>
              <a:rPr lang="es-ES" sz="2400" i="1" dirty="0">
                <a:latin typeface="Helvetica" panose="020B0604020202020204" pitchFamily="34" charset="0"/>
                <a:cs typeface="Helvetica" panose="020B0604020202020204" pitchFamily="34" charset="0"/>
              </a:rPr>
              <a:t>P. </a:t>
            </a:r>
            <a:r>
              <a:rPr lang="es-ES" sz="2400" i="1" dirty="0" err="1">
                <a:latin typeface="Helvetica" panose="020B0604020202020204" pitchFamily="34" charset="0"/>
                <a:cs typeface="Helvetica" panose="020B0604020202020204" pitchFamily="34" charset="0"/>
              </a:rPr>
              <a:t>sylvestris</a:t>
            </a:r>
            <a:r>
              <a:rPr lang="es-ES" sz="2400" i="1" dirty="0">
                <a:latin typeface="Helvetica" panose="020B0604020202020204" pitchFamily="34" charset="0"/>
                <a:cs typeface="Helvetica" panose="020B0604020202020204" pitchFamily="34" charset="0"/>
              </a:rPr>
              <a:t>, </a:t>
            </a:r>
            <a:r>
              <a:rPr lang="es-ES" sz="2400" dirty="0" err="1">
                <a:latin typeface="Helvetica" panose="020B0604020202020204" pitchFamily="34" charset="0"/>
                <a:cs typeface="Helvetica" panose="020B0604020202020204" pitchFamily="34" charset="0"/>
              </a:rPr>
              <a:t>we</a:t>
            </a:r>
            <a:r>
              <a:rPr lang="es-ES" sz="2400" dirty="0">
                <a:latin typeface="Helvetica" panose="020B0604020202020204" pitchFamily="34" charset="0"/>
                <a:cs typeface="Helvetica" panose="020B0604020202020204" pitchFamily="34" charset="0"/>
              </a:rPr>
              <a:t> observe a </a:t>
            </a:r>
            <a:r>
              <a:rPr lang="es-ES" sz="2400" dirty="0" err="1">
                <a:latin typeface="Helvetica" panose="020B0604020202020204" pitchFamily="34" charset="0"/>
                <a:cs typeface="Helvetica" panose="020B0604020202020204" pitchFamily="34" charset="0"/>
              </a:rPr>
              <a:t>progressive</a:t>
            </a:r>
            <a:r>
              <a:rPr lang="es-ES" sz="2400" dirty="0">
                <a:latin typeface="Helvetica" panose="020B0604020202020204" pitchFamily="34" charset="0"/>
                <a:cs typeface="Helvetica" panose="020B0604020202020204" pitchFamily="34" charset="0"/>
              </a:rPr>
              <a:t> </a:t>
            </a:r>
            <a:r>
              <a:rPr lang="es-ES" sz="2400" dirty="0" err="1">
                <a:latin typeface="Helvetica" panose="020B0604020202020204" pitchFamily="34" charset="0"/>
                <a:cs typeface="Helvetica" panose="020B0604020202020204" pitchFamily="34" charset="0"/>
              </a:rPr>
              <a:t>divergence</a:t>
            </a:r>
            <a:r>
              <a:rPr lang="es-ES" sz="2400" dirty="0">
                <a:latin typeface="Helvetica" panose="020B0604020202020204" pitchFamily="34" charset="0"/>
                <a:cs typeface="Helvetica" panose="020B0604020202020204" pitchFamily="34" charset="0"/>
              </a:rPr>
              <a:t> </a:t>
            </a:r>
            <a:r>
              <a:rPr lang="es-ES" sz="2400" dirty="0" err="1">
                <a:latin typeface="Helvetica" panose="020B0604020202020204" pitchFamily="34" charset="0"/>
                <a:cs typeface="Helvetica" panose="020B0604020202020204" pitchFamily="34" charset="0"/>
              </a:rPr>
              <a:t>starting</a:t>
            </a:r>
            <a:r>
              <a:rPr lang="es-ES" sz="2400" dirty="0">
                <a:latin typeface="Helvetica" panose="020B0604020202020204" pitchFamily="34" charset="0"/>
                <a:cs typeface="Helvetica" panose="020B0604020202020204" pitchFamily="34" charset="0"/>
              </a:rPr>
              <a:t> </a:t>
            </a:r>
            <a:r>
              <a:rPr lang="es-ES" sz="2400" dirty="0" err="1">
                <a:latin typeface="Helvetica" panose="020B0604020202020204" pitchFamily="34" charset="0"/>
                <a:cs typeface="Helvetica" panose="020B0604020202020204" pitchFamily="34" charset="0"/>
              </a:rPr>
              <a:t>from</a:t>
            </a:r>
            <a:r>
              <a:rPr lang="es-ES" sz="2400" dirty="0">
                <a:latin typeface="Helvetica" panose="020B0604020202020204" pitchFamily="34" charset="0"/>
                <a:cs typeface="Helvetica" panose="020B0604020202020204" pitchFamily="34" charset="0"/>
              </a:rPr>
              <a:t> </a:t>
            </a:r>
            <a:r>
              <a:rPr lang="es-ES" sz="2400" i="1" dirty="0">
                <a:latin typeface="Helvetica" panose="020B0604020202020204" pitchFamily="34" charset="0"/>
                <a:cs typeface="Helvetica" panose="020B0604020202020204" pitchFamily="34" charset="0"/>
              </a:rPr>
              <a:t>c.</a:t>
            </a:r>
            <a:r>
              <a:rPr lang="es-ES" sz="2400" dirty="0">
                <a:latin typeface="Helvetica" panose="020B0604020202020204" pitchFamily="34" charset="0"/>
                <a:cs typeface="Helvetica" panose="020B0604020202020204" pitchFamily="34" charset="0"/>
              </a:rPr>
              <a:t> 1968</a:t>
            </a:r>
            <a:endParaRPr lang="es-ES" sz="2400" i="1" dirty="0">
              <a:latin typeface="Helvetica" panose="020B0604020202020204" pitchFamily="34" charset="0"/>
              <a:cs typeface="Helvetica" panose="020B0604020202020204" pitchFamily="34" charset="0"/>
            </a:endParaRPr>
          </a:p>
          <a:p>
            <a:pPr lvl="1"/>
            <a:endParaRPr lang="es-ES" sz="2400" dirty="0">
              <a:latin typeface="Helvetica" panose="020B0604020202020204" pitchFamily="34" charset="0"/>
              <a:cs typeface="Helvetica" panose="020B0604020202020204" pitchFamily="34" charset="0"/>
            </a:endParaRPr>
          </a:p>
        </p:txBody>
      </p:sp>
      <p:pic>
        <p:nvPicPr>
          <p:cNvPr id="5" name="Imagen 4">
            <a:extLst>
              <a:ext uri="{FF2B5EF4-FFF2-40B4-BE49-F238E27FC236}">
                <a16:creationId xmlns:a16="http://schemas.microsoft.com/office/drawing/2014/main" id="{649F15B2-C8B4-CFF5-DB32-5CB984A3B251}"/>
              </a:ext>
            </a:extLst>
          </p:cNvPr>
          <p:cNvPicPr>
            <a:picLocks noChangeAspect="1"/>
          </p:cNvPicPr>
          <p:nvPr/>
        </p:nvPicPr>
        <p:blipFill>
          <a:blip r:embed="rId2">
            <a:extLst>
              <a:ext uri="{28A0092B-C50C-407E-A947-70E740481C1C}">
                <a14:useLocalDpi xmlns:a14="http://schemas.microsoft.com/office/drawing/2010/main" val="0"/>
              </a:ext>
            </a:extLst>
          </a:blip>
          <a:srcRect r="50707" b="75612"/>
          <a:stretch/>
        </p:blipFill>
        <p:spPr>
          <a:xfrm>
            <a:off x="-14655" y="1303516"/>
            <a:ext cx="6481582" cy="3573284"/>
          </a:xfrm>
          <a:prstGeom prst="rect">
            <a:avLst/>
          </a:prstGeom>
        </p:spPr>
      </p:pic>
      <p:pic>
        <p:nvPicPr>
          <p:cNvPr id="4" name="Imagen 3">
            <a:extLst>
              <a:ext uri="{FF2B5EF4-FFF2-40B4-BE49-F238E27FC236}">
                <a16:creationId xmlns:a16="http://schemas.microsoft.com/office/drawing/2014/main" id="{0EAF1F0C-7F3F-3A2C-25FB-00FC136048D6}"/>
              </a:ext>
            </a:extLst>
          </p:cNvPr>
          <p:cNvPicPr>
            <a:picLocks noChangeAspect="1"/>
          </p:cNvPicPr>
          <p:nvPr/>
        </p:nvPicPr>
        <p:blipFill>
          <a:blip r:embed="rId3">
            <a:extLst>
              <a:ext uri="{28A0092B-C50C-407E-A947-70E740481C1C}">
                <a14:useLocalDpi xmlns:a14="http://schemas.microsoft.com/office/drawing/2010/main" val="0"/>
              </a:ext>
            </a:extLst>
          </a:blip>
          <a:srcRect t="5255"/>
          <a:stretch/>
        </p:blipFill>
        <p:spPr>
          <a:xfrm>
            <a:off x="6778990" y="3218630"/>
            <a:ext cx="4863127" cy="3316340"/>
          </a:xfrm>
          <a:prstGeom prst="rect">
            <a:avLst/>
          </a:prstGeom>
        </p:spPr>
      </p:pic>
      <p:sp>
        <p:nvSpPr>
          <p:cNvPr id="6" name="Elipse 5">
            <a:extLst>
              <a:ext uri="{FF2B5EF4-FFF2-40B4-BE49-F238E27FC236}">
                <a16:creationId xmlns:a16="http://schemas.microsoft.com/office/drawing/2014/main" id="{BD91B00B-B1EA-3113-B46B-2FA38B0B6567}"/>
              </a:ext>
            </a:extLst>
          </p:cNvPr>
          <p:cNvSpPr/>
          <p:nvPr/>
        </p:nvSpPr>
        <p:spPr>
          <a:xfrm>
            <a:off x="1949981" y="3898104"/>
            <a:ext cx="405113" cy="724234"/>
          </a:xfrm>
          <a:prstGeom prst="ellipse">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Elipse 6">
            <a:extLst>
              <a:ext uri="{FF2B5EF4-FFF2-40B4-BE49-F238E27FC236}">
                <a16:creationId xmlns:a16="http://schemas.microsoft.com/office/drawing/2014/main" id="{9A4FA15E-2B41-73B0-2EF2-8BAFCC624A78}"/>
              </a:ext>
            </a:extLst>
          </p:cNvPr>
          <p:cNvSpPr/>
          <p:nvPr/>
        </p:nvSpPr>
        <p:spPr>
          <a:xfrm>
            <a:off x="9130561" y="3534147"/>
            <a:ext cx="405113" cy="363957"/>
          </a:xfrm>
          <a:prstGeom prst="ellipse">
            <a:avLst/>
          </a:prstGeom>
          <a:noFill/>
          <a:ln w="38100">
            <a:solidFill>
              <a:srgbClr val="37AD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solidFill>
                <a:srgbClr val="37AD88"/>
              </a:solidFill>
            </a:endParaRPr>
          </a:p>
        </p:txBody>
      </p:sp>
    </p:spTree>
    <p:extLst>
      <p:ext uri="{BB962C8B-B14F-4D97-AF65-F5344CB8AC3E}">
        <p14:creationId xmlns:p14="http://schemas.microsoft.com/office/powerpoint/2010/main" val="29814608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CDD06B-30E2-EFFF-3C79-5C614A7A9F6B}"/>
            </a:ext>
          </a:extLst>
        </p:cNvPr>
        <p:cNvGrpSpPr/>
        <p:nvPr/>
      </p:nvGrpSpPr>
      <p:grpSpPr>
        <a:xfrm>
          <a:off x="0" y="0"/>
          <a:ext cx="0" cy="0"/>
          <a:chOff x="0" y="0"/>
          <a:chExt cx="0" cy="0"/>
        </a:xfrm>
      </p:grpSpPr>
      <p:sp>
        <p:nvSpPr>
          <p:cNvPr id="3" name="Rectangle 1">
            <a:extLst>
              <a:ext uri="{FF2B5EF4-FFF2-40B4-BE49-F238E27FC236}">
                <a16:creationId xmlns:a16="http://schemas.microsoft.com/office/drawing/2014/main" id="{33782393-B642-F1E8-25E0-6B0F8578A0B4}"/>
              </a:ext>
            </a:extLst>
          </p:cNvPr>
          <p:cNvSpPr>
            <a:spLocks noChangeArrowheads="1"/>
          </p:cNvSpPr>
          <p:nvPr/>
        </p:nvSpPr>
        <p:spPr bwMode="auto">
          <a:xfrm>
            <a:off x="5288915" y="1477262"/>
            <a:ext cx="936624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s-ES" altLang="es-E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1800" b="0" i="0" u="none" strike="noStrike" cap="none" normalizeH="0" baseline="0">
              <a:ln>
                <a:noFill/>
              </a:ln>
              <a:solidFill>
                <a:schemeClr val="tx1"/>
              </a:solidFill>
              <a:effectLst/>
              <a:latin typeface="Arial" panose="020B0604020202020204" pitchFamily="34" charset="0"/>
            </a:endParaRPr>
          </a:p>
        </p:txBody>
      </p:sp>
      <p:sp>
        <p:nvSpPr>
          <p:cNvPr id="2" name="Título 1">
            <a:extLst>
              <a:ext uri="{FF2B5EF4-FFF2-40B4-BE49-F238E27FC236}">
                <a16:creationId xmlns:a16="http://schemas.microsoft.com/office/drawing/2014/main" id="{CBDD3D3E-1A33-42D7-599E-655CF09BFCE7}"/>
              </a:ext>
            </a:extLst>
          </p:cNvPr>
          <p:cNvSpPr>
            <a:spLocks noGrp="1"/>
          </p:cNvSpPr>
          <p:nvPr>
            <p:ph type="title"/>
          </p:nvPr>
        </p:nvSpPr>
        <p:spPr>
          <a:xfrm>
            <a:off x="0" y="0"/>
            <a:ext cx="9690902" cy="804155"/>
          </a:xfrm>
          <a:solidFill>
            <a:srgbClr val="218317"/>
          </a:solidFill>
        </p:spPr>
        <p:txBody>
          <a:bodyPr>
            <a:normAutofit/>
          </a:bodyPr>
          <a:lstStyle/>
          <a:p>
            <a:r>
              <a:rPr lang="es-ES" sz="3200" b="1" dirty="0">
                <a:solidFill>
                  <a:schemeClr val="bg1"/>
                </a:solidFill>
                <a:latin typeface="Helvetica" panose="020B0604020202020204" pitchFamily="34" charset="0"/>
                <a:cs typeface="Helvetica" panose="020B0604020202020204" pitchFamily="34" charset="0"/>
              </a:rPr>
              <a:t>	</a:t>
            </a:r>
            <a:r>
              <a:rPr lang="es-ES" sz="3200" b="1" dirty="0" err="1">
                <a:solidFill>
                  <a:schemeClr val="bg1"/>
                </a:solidFill>
                <a:latin typeface="Helvetica" panose="020B0604020202020204" pitchFamily="34" charset="0"/>
                <a:cs typeface="Helvetica" panose="020B0604020202020204" pitchFamily="34" charset="0"/>
              </a:rPr>
              <a:t>Preliminary</a:t>
            </a:r>
            <a:r>
              <a:rPr lang="es-ES" sz="3200" b="1" dirty="0">
                <a:solidFill>
                  <a:schemeClr val="bg1"/>
                </a:solidFill>
                <a:latin typeface="Helvetica" panose="020B0604020202020204" pitchFamily="34" charset="0"/>
                <a:cs typeface="Helvetica" panose="020B0604020202020204" pitchFamily="34" charset="0"/>
              </a:rPr>
              <a:t> </a:t>
            </a:r>
            <a:r>
              <a:rPr lang="es-ES" sz="3200" b="1" dirty="0" err="1">
                <a:solidFill>
                  <a:schemeClr val="bg1"/>
                </a:solidFill>
                <a:latin typeface="Helvetica" panose="020B0604020202020204" pitchFamily="34" charset="0"/>
                <a:cs typeface="Helvetica" panose="020B0604020202020204" pitchFamily="34" charset="0"/>
              </a:rPr>
              <a:t>results</a:t>
            </a:r>
            <a:endParaRPr lang="es-ES" sz="3200" b="1" dirty="0">
              <a:solidFill>
                <a:schemeClr val="bg1"/>
              </a:solidFill>
              <a:latin typeface="Helvetica" panose="020B0604020202020204" pitchFamily="34" charset="0"/>
              <a:cs typeface="Helvetica" panose="020B0604020202020204" pitchFamily="34" charset="0"/>
            </a:endParaRPr>
          </a:p>
        </p:txBody>
      </p:sp>
      <p:sp>
        <p:nvSpPr>
          <p:cNvPr id="8" name="Título 1">
            <a:extLst>
              <a:ext uri="{FF2B5EF4-FFF2-40B4-BE49-F238E27FC236}">
                <a16:creationId xmlns:a16="http://schemas.microsoft.com/office/drawing/2014/main" id="{9C4568D9-497B-043E-FF14-D9937D0A8905}"/>
              </a:ext>
            </a:extLst>
          </p:cNvPr>
          <p:cNvSpPr txBox="1">
            <a:spLocks/>
          </p:cNvSpPr>
          <p:nvPr/>
        </p:nvSpPr>
        <p:spPr>
          <a:xfrm>
            <a:off x="9690902" y="-1"/>
            <a:ext cx="2501098" cy="804157"/>
          </a:xfrm>
          <a:prstGeom prst="rect">
            <a:avLst/>
          </a:prstGeom>
          <a:solidFill>
            <a:srgbClr val="218317"/>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s-ES" sz="2800" b="1" dirty="0">
                <a:solidFill>
                  <a:schemeClr val="accent6">
                    <a:lumMod val="60000"/>
                    <a:lumOff val="40000"/>
                  </a:schemeClr>
                </a:solidFill>
                <a:latin typeface="Helvetica" panose="020B0604020202020204" pitchFamily="34" charset="0"/>
                <a:cs typeface="Helvetica" panose="020B0604020202020204" pitchFamily="34" charset="0"/>
              </a:rPr>
              <a:t>Figures	</a:t>
            </a:r>
            <a:endParaRPr lang="es-ES" sz="2800" b="1" dirty="0">
              <a:solidFill>
                <a:srgbClr val="218317"/>
              </a:solidFill>
              <a:latin typeface="Helvetica" panose="020B0604020202020204" pitchFamily="34" charset="0"/>
              <a:cs typeface="Helvetica" panose="020B0604020202020204" pitchFamily="34" charset="0"/>
            </a:endParaRPr>
          </a:p>
        </p:txBody>
      </p:sp>
      <p:sp>
        <p:nvSpPr>
          <p:cNvPr id="12" name="CuadroTexto 10">
            <a:extLst>
              <a:ext uri="{FF2B5EF4-FFF2-40B4-BE49-F238E27FC236}">
                <a16:creationId xmlns:a16="http://schemas.microsoft.com/office/drawing/2014/main" id="{5436832C-CE15-29BC-E545-AE34792EBD8E}"/>
              </a:ext>
            </a:extLst>
          </p:cNvPr>
          <p:cNvSpPr txBox="1"/>
          <p:nvPr/>
        </p:nvSpPr>
        <p:spPr>
          <a:xfrm>
            <a:off x="6145191" y="1512509"/>
            <a:ext cx="5725611" cy="1569660"/>
          </a:xfrm>
          <a:prstGeom prst="rect">
            <a:avLst/>
          </a:prstGeom>
          <a:noFill/>
        </p:spPr>
        <p:txBody>
          <a:bodyPr wrap="square" rtlCol="0">
            <a:spAutoFit/>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1"/>
            <a:r>
              <a:rPr lang="es-ES" sz="2400" dirty="0" err="1">
                <a:latin typeface="Helvetica" panose="020B0604020202020204" pitchFamily="34" charset="0"/>
                <a:cs typeface="Helvetica" panose="020B0604020202020204" pitchFamily="34" charset="0"/>
              </a:rPr>
              <a:t>When</a:t>
            </a:r>
            <a:r>
              <a:rPr lang="es-ES" sz="2400" dirty="0">
                <a:latin typeface="Helvetica" panose="020B0604020202020204" pitchFamily="34" charset="0"/>
                <a:cs typeface="Helvetica" panose="020B0604020202020204" pitchFamily="34" charset="0"/>
              </a:rPr>
              <a:t> </a:t>
            </a:r>
            <a:r>
              <a:rPr lang="es-ES" sz="2400" dirty="0" err="1">
                <a:latin typeface="Helvetica" panose="020B0604020202020204" pitchFamily="34" charset="0"/>
                <a:cs typeface="Helvetica" panose="020B0604020202020204" pitchFamily="34" charset="0"/>
              </a:rPr>
              <a:t>considering</a:t>
            </a:r>
            <a:r>
              <a:rPr lang="es-ES" sz="2400" dirty="0">
                <a:latin typeface="Helvetica" panose="020B0604020202020204" pitchFamily="34" charset="0"/>
                <a:cs typeface="Helvetica" panose="020B0604020202020204" pitchFamily="34" charset="0"/>
              </a:rPr>
              <a:t> </a:t>
            </a:r>
            <a:r>
              <a:rPr lang="es-ES" sz="2400" dirty="0" err="1">
                <a:latin typeface="Helvetica" panose="020B0604020202020204" pitchFamily="34" charset="0"/>
                <a:cs typeface="Helvetica" panose="020B0604020202020204" pitchFamily="34" charset="0"/>
              </a:rPr>
              <a:t>only</a:t>
            </a:r>
            <a:r>
              <a:rPr lang="es-ES" sz="2400" dirty="0">
                <a:latin typeface="Helvetica" panose="020B0604020202020204" pitchFamily="34" charset="0"/>
                <a:cs typeface="Helvetica" panose="020B0604020202020204" pitchFamily="34" charset="0"/>
              </a:rPr>
              <a:t> Navarra </a:t>
            </a:r>
            <a:r>
              <a:rPr lang="es-ES" sz="2400" dirty="0" err="1">
                <a:latin typeface="Helvetica" panose="020B0604020202020204" pitchFamily="34" charset="0"/>
                <a:cs typeface="Helvetica" panose="020B0604020202020204" pitchFamily="34" charset="0"/>
              </a:rPr>
              <a:t>for</a:t>
            </a:r>
            <a:r>
              <a:rPr lang="es-ES" sz="2400" dirty="0">
                <a:latin typeface="Helvetica" panose="020B0604020202020204" pitchFamily="34" charset="0"/>
                <a:cs typeface="Helvetica" panose="020B0604020202020204" pitchFamily="34" charset="0"/>
              </a:rPr>
              <a:t> </a:t>
            </a:r>
            <a:r>
              <a:rPr lang="es-ES" sz="2400" i="1" dirty="0">
                <a:latin typeface="Helvetica" panose="020B0604020202020204" pitchFamily="34" charset="0"/>
                <a:cs typeface="Helvetica" panose="020B0604020202020204" pitchFamily="34" charset="0"/>
              </a:rPr>
              <a:t>P. </a:t>
            </a:r>
            <a:r>
              <a:rPr lang="es-ES" sz="2400" i="1" dirty="0" err="1">
                <a:latin typeface="Helvetica" panose="020B0604020202020204" pitchFamily="34" charset="0"/>
                <a:cs typeface="Helvetica" panose="020B0604020202020204" pitchFamily="34" charset="0"/>
              </a:rPr>
              <a:t>sylvestris</a:t>
            </a:r>
            <a:r>
              <a:rPr lang="es-ES" sz="2400" i="1" dirty="0">
                <a:latin typeface="Helvetica" panose="020B0604020202020204" pitchFamily="34" charset="0"/>
                <a:cs typeface="Helvetica" panose="020B0604020202020204" pitchFamily="34" charset="0"/>
              </a:rPr>
              <a:t>, </a:t>
            </a:r>
            <a:r>
              <a:rPr lang="es-ES" sz="2400" dirty="0" err="1">
                <a:latin typeface="Helvetica" panose="020B0604020202020204" pitchFamily="34" charset="0"/>
                <a:cs typeface="Helvetica" panose="020B0604020202020204" pitchFamily="34" charset="0"/>
              </a:rPr>
              <a:t>we</a:t>
            </a:r>
            <a:r>
              <a:rPr lang="es-ES" sz="2400" dirty="0">
                <a:latin typeface="Helvetica" panose="020B0604020202020204" pitchFamily="34" charset="0"/>
                <a:cs typeface="Helvetica" panose="020B0604020202020204" pitchFamily="34" charset="0"/>
              </a:rPr>
              <a:t> observe a </a:t>
            </a:r>
            <a:r>
              <a:rPr lang="es-ES" sz="2400" dirty="0" err="1">
                <a:latin typeface="Helvetica" panose="020B0604020202020204" pitchFamily="34" charset="0"/>
                <a:cs typeface="Helvetica" panose="020B0604020202020204" pitchFamily="34" charset="0"/>
              </a:rPr>
              <a:t>progressive</a:t>
            </a:r>
            <a:r>
              <a:rPr lang="es-ES" sz="2400" dirty="0">
                <a:latin typeface="Helvetica" panose="020B0604020202020204" pitchFamily="34" charset="0"/>
                <a:cs typeface="Helvetica" panose="020B0604020202020204" pitchFamily="34" charset="0"/>
              </a:rPr>
              <a:t> </a:t>
            </a:r>
            <a:r>
              <a:rPr lang="es-ES" sz="2400" dirty="0" err="1">
                <a:latin typeface="Helvetica" panose="020B0604020202020204" pitchFamily="34" charset="0"/>
                <a:cs typeface="Helvetica" panose="020B0604020202020204" pitchFamily="34" charset="0"/>
              </a:rPr>
              <a:t>divergence</a:t>
            </a:r>
            <a:r>
              <a:rPr lang="es-ES" sz="2400" dirty="0">
                <a:latin typeface="Helvetica" panose="020B0604020202020204" pitchFamily="34" charset="0"/>
                <a:cs typeface="Helvetica" panose="020B0604020202020204" pitchFamily="34" charset="0"/>
              </a:rPr>
              <a:t> </a:t>
            </a:r>
            <a:r>
              <a:rPr lang="es-ES" sz="2400" dirty="0" err="1">
                <a:latin typeface="Helvetica" panose="020B0604020202020204" pitchFamily="34" charset="0"/>
                <a:cs typeface="Helvetica" panose="020B0604020202020204" pitchFamily="34" charset="0"/>
              </a:rPr>
              <a:t>starting</a:t>
            </a:r>
            <a:r>
              <a:rPr lang="es-ES" sz="2400" dirty="0">
                <a:latin typeface="Helvetica" panose="020B0604020202020204" pitchFamily="34" charset="0"/>
                <a:cs typeface="Helvetica" panose="020B0604020202020204" pitchFamily="34" charset="0"/>
              </a:rPr>
              <a:t> </a:t>
            </a:r>
            <a:r>
              <a:rPr lang="es-ES" sz="2400" dirty="0" err="1">
                <a:latin typeface="Helvetica" panose="020B0604020202020204" pitchFamily="34" charset="0"/>
                <a:cs typeface="Helvetica" panose="020B0604020202020204" pitchFamily="34" charset="0"/>
              </a:rPr>
              <a:t>from</a:t>
            </a:r>
            <a:r>
              <a:rPr lang="es-ES" sz="2400" dirty="0">
                <a:latin typeface="Helvetica" panose="020B0604020202020204" pitchFamily="34" charset="0"/>
                <a:cs typeface="Helvetica" panose="020B0604020202020204" pitchFamily="34" charset="0"/>
              </a:rPr>
              <a:t> </a:t>
            </a:r>
            <a:r>
              <a:rPr lang="es-ES" sz="2400" i="1" dirty="0">
                <a:latin typeface="Helvetica" panose="020B0604020202020204" pitchFamily="34" charset="0"/>
                <a:cs typeface="Helvetica" panose="020B0604020202020204" pitchFamily="34" charset="0"/>
              </a:rPr>
              <a:t>c.</a:t>
            </a:r>
            <a:r>
              <a:rPr lang="es-ES" sz="2400" dirty="0">
                <a:latin typeface="Helvetica" panose="020B0604020202020204" pitchFamily="34" charset="0"/>
                <a:cs typeface="Helvetica" panose="020B0604020202020204" pitchFamily="34" charset="0"/>
              </a:rPr>
              <a:t> 1968</a:t>
            </a:r>
            <a:endParaRPr lang="es-ES" sz="2400" i="1" dirty="0">
              <a:latin typeface="Helvetica" panose="020B0604020202020204" pitchFamily="34" charset="0"/>
              <a:cs typeface="Helvetica" panose="020B0604020202020204" pitchFamily="34" charset="0"/>
            </a:endParaRPr>
          </a:p>
          <a:p>
            <a:pPr lvl="1"/>
            <a:endParaRPr lang="es-ES" sz="2400" dirty="0">
              <a:latin typeface="Helvetica" panose="020B0604020202020204" pitchFamily="34" charset="0"/>
              <a:cs typeface="Helvetica" panose="020B0604020202020204" pitchFamily="34" charset="0"/>
            </a:endParaRPr>
          </a:p>
        </p:txBody>
      </p:sp>
      <p:pic>
        <p:nvPicPr>
          <p:cNvPr id="5" name="Imagen 4">
            <a:extLst>
              <a:ext uri="{FF2B5EF4-FFF2-40B4-BE49-F238E27FC236}">
                <a16:creationId xmlns:a16="http://schemas.microsoft.com/office/drawing/2014/main" id="{13975FEA-90E8-BDFB-0438-D028CEF88752}"/>
              </a:ext>
            </a:extLst>
          </p:cNvPr>
          <p:cNvPicPr>
            <a:picLocks noChangeAspect="1"/>
          </p:cNvPicPr>
          <p:nvPr/>
        </p:nvPicPr>
        <p:blipFill>
          <a:blip r:embed="rId2">
            <a:extLst>
              <a:ext uri="{28A0092B-C50C-407E-A947-70E740481C1C}">
                <a14:useLocalDpi xmlns:a14="http://schemas.microsoft.com/office/drawing/2010/main" val="0"/>
              </a:ext>
            </a:extLst>
          </a:blip>
          <a:srcRect r="50707" b="75612"/>
          <a:stretch/>
        </p:blipFill>
        <p:spPr>
          <a:xfrm>
            <a:off x="-14655" y="1303516"/>
            <a:ext cx="6481582" cy="3573284"/>
          </a:xfrm>
          <a:prstGeom prst="rect">
            <a:avLst/>
          </a:prstGeom>
        </p:spPr>
      </p:pic>
      <p:pic>
        <p:nvPicPr>
          <p:cNvPr id="4" name="Imagen 3">
            <a:extLst>
              <a:ext uri="{FF2B5EF4-FFF2-40B4-BE49-F238E27FC236}">
                <a16:creationId xmlns:a16="http://schemas.microsoft.com/office/drawing/2014/main" id="{F9468A67-3D4E-A09F-1DAD-30863FDAEEE0}"/>
              </a:ext>
            </a:extLst>
          </p:cNvPr>
          <p:cNvPicPr>
            <a:picLocks noChangeAspect="1"/>
          </p:cNvPicPr>
          <p:nvPr/>
        </p:nvPicPr>
        <p:blipFill>
          <a:blip r:embed="rId3">
            <a:extLst>
              <a:ext uri="{28A0092B-C50C-407E-A947-70E740481C1C}">
                <a14:useLocalDpi xmlns:a14="http://schemas.microsoft.com/office/drawing/2010/main" val="0"/>
              </a:ext>
            </a:extLst>
          </a:blip>
          <a:srcRect t="5255"/>
          <a:stretch/>
        </p:blipFill>
        <p:spPr>
          <a:xfrm>
            <a:off x="6778990" y="3218630"/>
            <a:ext cx="4863127" cy="3316340"/>
          </a:xfrm>
          <a:prstGeom prst="rect">
            <a:avLst/>
          </a:prstGeom>
        </p:spPr>
      </p:pic>
      <p:sp>
        <p:nvSpPr>
          <p:cNvPr id="6" name="Elipse 5">
            <a:extLst>
              <a:ext uri="{FF2B5EF4-FFF2-40B4-BE49-F238E27FC236}">
                <a16:creationId xmlns:a16="http://schemas.microsoft.com/office/drawing/2014/main" id="{C23ED0FD-E40C-09D3-35C8-EE6FAF312D28}"/>
              </a:ext>
            </a:extLst>
          </p:cNvPr>
          <p:cNvSpPr/>
          <p:nvPr/>
        </p:nvSpPr>
        <p:spPr>
          <a:xfrm>
            <a:off x="1949981" y="3898104"/>
            <a:ext cx="405113" cy="724234"/>
          </a:xfrm>
          <a:prstGeom prst="ellipse">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Elipse 6">
            <a:extLst>
              <a:ext uri="{FF2B5EF4-FFF2-40B4-BE49-F238E27FC236}">
                <a16:creationId xmlns:a16="http://schemas.microsoft.com/office/drawing/2014/main" id="{69D04F46-0E7C-7F4F-8F56-D6E2F964C6A2}"/>
              </a:ext>
            </a:extLst>
          </p:cNvPr>
          <p:cNvSpPr/>
          <p:nvPr/>
        </p:nvSpPr>
        <p:spPr>
          <a:xfrm>
            <a:off x="9130561" y="3534147"/>
            <a:ext cx="405113" cy="363957"/>
          </a:xfrm>
          <a:prstGeom prst="ellipse">
            <a:avLst/>
          </a:prstGeom>
          <a:noFill/>
          <a:ln w="38100">
            <a:solidFill>
              <a:srgbClr val="37AD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solidFill>
                <a:srgbClr val="37AD88"/>
              </a:solidFill>
            </a:endParaRPr>
          </a:p>
        </p:txBody>
      </p:sp>
    </p:spTree>
    <p:extLst>
      <p:ext uri="{BB962C8B-B14F-4D97-AF65-F5344CB8AC3E}">
        <p14:creationId xmlns:p14="http://schemas.microsoft.com/office/powerpoint/2010/main" val="4735821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F39A14-C6ED-B239-83F2-6D8612ACFD9B}"/>
            </a:ext>
          </a:extLst>
        </p:cNvPr>
        <p:cNvGrpSpPr/>
        <p:nvPr/>
      </p:nvGrpSpPr>
      <p:grpSpPr>
        <a:xfrm>
          <a:off x="0" y="0"/>
          <a:ext cx="0" cy="0"/>
          <a:chOff x="0" y="0"/>
          <a:chExt cx="0" cy="0"/>
        </a:xfrm>
      </p:grpSpPr>
      <p:sp>
        <p:nvSpPr>
          <p:cNvPr id="3" name="Rectangle 1">
            <a:extLst>
              <a:ext uri="{FF2B5EF4-FFF2-40B4-BE49-F238E27FC236}">
                <a16:creationId xmlns:a16="http://schemas.microsoft.com/office/drawing/2014/main" id="{063DAD08-EE7B-6865-C33F-E5FBAB3373EB}"/>
              </a:ext>
            </a:extLst>
          </p:cNvPr>
          <p:cNvSpPr>
            <a:spLocks noChangeArrowheads="1"/>
          </p:cNvSpPr>
          <p:nvPr/>
        </p:nvSpPr>
        <p:spPr bwMode="auto">
          <a:xfrm>
            <a:off x="5288915" y="1477262"/>
            <a:ext cx="936624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s-ES" altLang="es-E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1800" b="0" i="0" u="none" strike="noStrike" cap="none" normalizeH="0" baseline="0">
              <a:ln>
                <a:noFill/>
              </a:ln>
              <a:solidFill>
                <a:schemeClr val="tx1"/>
              </a:solidFill>
              <a:effectLst/>
              <a:latin typeface="Arial" panose="020B0604020202020204" pitchFamily="34" charset="0"/>
            </a:endParaRPr>
          </a:p>
        </p:txBody>
      </p:sp>
      <p:sp>
        <p:nvSpPr>
          <p:cNvPr id="2" name="Título 1">
            <a:extLst>
              <a:ext uri="{FF2B5EF4-FFF2-40B4-BE49-F238E27FC236}">
                <a16:creationId xmlns:a16="http://schemas.microsoft.com/office/drawing/2014/main" id="{EB547BBB-3D9C-B92A-51FF-367D3317BDEB}"/>
              </a:ext>
            </a:extLst>
          </p:cNvPr>
          <p:cNvSpPr>
            <a:spLocks noGrp="1"/>
          </p:cNvSpPr>
          <p:nvPr>
            <p:ph type="title"/>
          </p:nvPr>
        </p:nvSpPr>
        <p:spPr>
          <a:xfrm>
            <a:off x="0" y="0"/>
            <a:ext cx="9690902" cy="804155"/>
          </a:xfrm>
          <a:solidFill>
            <a:srgbClr val="218317"/>
          </a:solidFill>
        </p:spPr>
        <p:txBody>
          <a:bodyPr>
            <a:normAutofit/>
          </a:bodyPr>
          <a:lstStyle/>
          <a:p>
            <a:r>
              <a:rPr lang="es-ES" sz="3200" b="1" dirty="0">
                <a:solidFill>
                  <a:schemeClr val="bg1"/>
                </a:solidFill>
                <a:latin typeface="Helvetica" panose="020B0604020202020204" pitchFamily="34" charset="0"/>
                <a:cs typeface="Helvetica" panose="020B0604020202020204" pitchFamily="34" charset="0"/>
              </a:rPr>
              <a:t>	</a:t>
            </a:r>
            <a:r>
              <a:rPr lang="es-ES" sz="3200" b="1" dirty="0" err="1">
                <a:solidFill>
                  <a:schemeClr val="bg1"/>
                </a:solidFill>
                <a:latin typeface="Helvetica" panose="020B0604020202020204" pitchFamily="34" charset="0"/>
                <a:cs typeface="Helvetica" panose="020B0604020202020204" pitchFamily="34" charset="0"/>
              </a:rPr>
              <a:t>Preliminary</a:t>
            </a:r>
            <a:r>
              <a:rPr lang="es-ES" sz="3200" b="1" dirty="0">
                <a:solidFill>
                  <a:schemeClr val="bg1"/>
                </a:solidFill>
                <a:latin typeface="Helvetica" panose="020B0604020202020204" pitchFamily="34" charset="0"/>
                <a:cs typeface="Helvetica" panose="020B0604020202020204" pitchFamily="34" charset="0"/>
              </a:rPr>
              <a:t> </a:t>
            </a:r>
            <a:r>
              <a:rPr lang="es-ES" sz="3200" b="1" dirty="0" err="1">
                <a:solidFill>
                  <a:schemeClr val="bg1"/>
                </a:solidFill>
                <a:latin typeface="Helvetica" panose="020B0604020202020204" pitchFamily="34" charset="0"/>
                <a:cs typeface="Helvetica" panose="020B0604020202020204" pitchFamily="34" charset="0"/>
              </a:rPr>
              <a:t>results</a:t>
            </a:r>
            <a:endParaRPr lang="es-ES" sz="3200" b="1" dirty="0">
              <a:solidFill>
                <a:schemeClr val="bg1"/>
              </a:solidFill>
              <a:latin typeface="Helvetica" panose="020B0604020202020204" pitchFamily="34" charset="0"/>
              <a:cs typeface="Helvetica" panose="020B0604020202020204" pitchFamily="34" charset="0"/>
            </a:endParaRPr>
          </a:p>
        </p:txBody>
      </p:sp>
      <p:sp>
        <p:nvSpPr>
          <p:cNvPr id="8" name="Título 1">
            <a:extLst>
              <a:ext uri="{FF2B5EF4-FFF2-40B4-BE49-F238E27FC236}">
                <a16:creationId xmlns:a16="http://schemas.microsoft.com/office/drawing/2014/main" id="{0D41D346-C391-806A-8B07-7D070DCAEF54}"/>
              </a:ext>
            </a:extLst>
          </p:cNvPr>
          <p:cNvSpPr txBox="1">
            <a:spLocks/>
          </p:cNvSpPr>
          <p:nvPr/>
        </p:nvSpPr>
        <p:spPr>
          <a:xfrm>
            <a:off x="9690902" y="-1"/>
            <a:ext cx="2501098" cy="804157"/>
          </a:xfrm>
          <a:prstGeom prst="rect">
            <a:avLst/>
          </a:prstGeom>
          <a:solidFill>
            <a:srgbClr val="218317"/>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s-ES" sz="2800" b="1" dirty="0">
                <a:solidFill>
                  <a:schemeClr val="accent6">
                    <a:lumMod val="60000"/>
                    <a:lumOff val="40000"/>
                  </a:schemeClr>
                </a:solidFill>
                <a:latin typeface="Helvetica" panose="020B0604020202020204" pitchFamily="34" charset="0"/>
                <a:cs typeface="Helvetica" panose="020B0604020202020204" pitchFamily="34" charset="0"/>
              </a:rPr>
              <a:t>Figures	</a:t>
            </a:r>
            <a:endParaRPr lang="es-ES" sz="2800" b="1" dirty="0">
              <a:solidFill>
                <a:srgbClr val="218317"/>
              </a:solidFill>
              <a:latin typeface="Helvetica" panose="020B0604020202020204" pitchFamily="34" charset="0"/>
              <a:cs typeface="Helvetica" panose="020B0604020202020204" pitchFamily="34" charset="0"/>
            </a:endParaRPr>
          </a:p>
        </p:txBody>
      </p:sp>
      <p:sp>
        <p:nvSpPr>
          <p:cNvPr id="12" name="CuadroTexto 10">
            <a:extLst>
              <a:ext uri="{FF2B5EF4-FFF2-40B4-BE49-F238E27FC236}">
                <a16:creationId xmlns:a16="http://schemas.microsoft.com/office/drawing/2014/main" id="{95FF8C92-ECC1-3020-E7C9-D5F6EF710B90}"/>
              </a:ext>
            </a:extLst>
          </p:cNvPr>
          <p:cNvSpPr txBox="1"/>
          <p:nvPr/>
        </p:nvSpPr>
        <p:spPr>
          <a:xfrm>
            <a:off x="6145191" y="1512509"/>
            <a:ext cx="5725611" cy="1938992"/>
          </a:xfrm>
          <a:prstGeom prst="rect">
            <a:avLst/>
          </a:prstGeom>
          <a:noFill/>
        </p:spPr>
        <p:txBody>
          <a:bodyPr wrap="square" rtlCol="0">
            <a:spAutoFit/>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1"/>
            <a:r>
              <a:rPr lang="es-ES" sz="2400" dirty="0" err="1">
                <a:latin typeface="Helvetica" panose="020B0604020202020204" pitchFamily="34" charset="0"/>
                <a:cs typeface="Helvetica" panose="020B0604020202020204" pitchFamily="34" charset="0"/>
              </a:rPr>
              <a:t>When</a:t>
            </a:r>
            <a:r>
              <a:rPr lang="es-ES" sz="2400" dirty="0">
                <a:latin typeface="Helvetica" panose="020B0604020202020204" pitchFamily="34" charset="0"/>
                <a:cs typeface="Helvetica" panose="020B0604020202020204" pitchFamily="34" charset="0"/>
              </a:rPr>
              <a:t> </a:t>
            </a:r>
            <a:r>
              <a:rPr lang="es-ES" sz="2400" dirty="0" err="1">
                <a:latin typeface="Helvetica" panose="020B0604020202020204" pitchFamily="34" charset="0"/>
                <a:cs typeface="Helvetica" panose="020B0604020202020204" pitchFamily="34" charset="0"/>
              </a:rPr>
              <a:t>considering</a:t>
            </a:r>
            <a:r>
              <a:rPr lang="es-ES" sz="2400" dirty="0">
                <a:latin typeface="Helvetica" panose="020B0604020202020204" pitchFamily="34" charset="0"/>
                <a:cs typeface="Helvetica" panose="020B0604020202020204" pitchFamily="34" charset="0"/>
              </a:rPr>
              <a:t> Navarra, Madrid, </a:t>
            </a:r>
            <a:r>
              <a:rPr lang="es-ES" sz="2400" b="1" dirty="0">
                <a:latin typeface="Helvetica" panose="020B0604020202020204" pitchFamily="34" charset="0"/>
                <a:cs typeface="Helvetica" panose="020B0604020202020204" pitchFamily="34" charset="0"/>
              </a:rPr>
              <a:t>and </a:t>
            </a:r>
            <a:r>
              <a:rPr lang="es-ES" sz="2400" dirty="0">
                <a:latin typeface="Helvetica" panose="020B0604020202020204" pitchFamily="34" charset="0"/>
                <a:cs typeface="Helvetica" panose="020B0604020202020204" pitchFamily="34" charset="0"/>
              </a:rPr>
              <a:t>Guadalajara</a:t>
            </a:r>
            <a:r>
              <a:rPr lang="es-ES" sz="2400" i="1" dirty="0">
                <a:latin typeface="Helvetica" panose="020B0604020202020204" pitchFamily="34" charset="0"/>
                <a:cs typeface="Helvetica" panose="020B0604020202020204" pitchFamily="34" charset="0"/>
              </a:rPr>
              <a:t>, </a:t>
            </a:r>
            <a:r>
              <a:rPr lang="es-ES" sz="2400" dirty="0" err="1">
                <a:latin typeface="Helvetica" panose="020B0604020202020204" pitchFamily="34" charset="0"/>
                <a:cs typeface="Helvetica" panose="020B0604020202020204" pitchFamily="34" charset="0"/>
              </a:rPr>
              <a:t>the</a:t>
            </a:r>
            <a:r>
              <a:rPr lang="es-ES" sz="2400" dirty="0">
                <a:latin typeface="Helvetica" panose="020B0604020202020204" pitchFamily="34" charset="0"/>
                <a:cs typeface="Helvetica" panose="020B0604020202020204" pitchFamily="34" charset="0"/>
              </a:rPr>
              <a:t> </a:t>
            </a:r>
            <a:r>
              <a:rPr lang="es-ES" sz="2400" dirty="0" err="1">
                <a:latin typeface="Helvetica" panose="020B0604020202020204" pitchFamily="34" charset="0"/>
                <a:cs typeface="Helvetica" panose="020B0604020202020204" pitchFamily="34" charset="0"/>
              </a:rPr>
              <a:t>divergence</a:t>
            </a:r>
            <a:r>
              <a:rPr lang="es-ES" sz="2400" dirty="0">
                <a:latin typeface="Helvetica" panose="020B0604020202020204" pitchFamily="34" charset="0"/>
                <a:cs typeface="Helvetica" panose="020B0604020202020204" pitchFamily="34" charset="0"/>
              </a:rPr>
              <a:t> </a:t>
            </a:r>
            <a:r>
              <a:rPr lang="es-ES" sz="2400" dirty="0" err="1">
                <a:latin typeface="Helvetica" panose="020B0604020202020204" pitchFamily="34" charset="0"/>
                <a:cs typeface="Helvetica" panose="020B0604020202020204" pitchFamily="34" charset="0"/>
              </a:rPr>
              <a:t>is</a:t>
            </a:r>
            <a:r>
              <a:rPr lang="es-ES" sz="2400" dirty="0">
                <a:latin typeface="Helvetica" panose="020B0604020202020204" pitchFamily="34" charset="0"/>
                <a:cs typeface="Helvetica" panose="020B0604020202020204" pitchFamily="34" charset="0"/>
              </a:rPr>
              <a:t> </a:t>
            </a:r>
            <a:r>
              <a:rPr lang="es-ES" sz="2400" dirty="0" err="1">
                <a:latin typeface="Helvetica" panose="020B0604020202020204" pitchFamily="34" charset="0"/>
                <a:cs typeface="Helvetica" panose="020B0604020202020204" pitchFamily="34" charset="0"/>
              </a:rPr>
              <a:t>still</a:t>
            </a:r>
            <a:r>
              <a:rPr lang="es-ES" sz="2400" dirty="0">
                <a:latin typeface="Helvetica" panose="020B0604020202020204" pitchFamily="34" charset="0"/>
                <a:cs typeface="Helvetica" panose="020B0604020202020204" pitchFamily="34" charset="0"/>
              </a:rPr>
              <a:t> </a:t>
            </a:r>
            <a:r>
              <a:rPr lang="es-ES" sz="2400" dirty="0" err="1">
                <a:latin typeface="Helvetica" panose="020B0604020202020204" pitchFamily="34" charset="0"/>
                <a:cs typeface="Helvetica" panose="020B0604020202020204" pitchFamily="34" charset="0"/>
              </a:rPr>
              <a:t>patent</a:t>
            </a:r>
            <a:r>
              <a:rPr lang="es-ES" sz="2400" dirty="0">
                <a:latin typeface="Helvetica" panose="020B0604020202020204" pitchFamily="34" charset="0"/>
                <a:cs typeface="Helvetica" panose="020B0604020202020204" pitchFamily="34" charset="0"/>
              </a:rPr>
              <a:t> </a:t>
            </a:r>
            <a:r>
              <a:rPr lang="es-ES" sz="2400" dirty="0" err="1">
                <a:latin typeface="Helvetica" panose="020B0604020202020204" pitchFamily="34" charset="0"/>
                <a:cs typeface="Helvetica" panose="020B0604020202020204" pitchFamily="34" charset="0"/>
              </a:rPr>
              <a:t>but</a:t>
            </a:r>
            <a:r>
              <a:rPr lang="es-ES" sz="2400" dirty="0">
                <a:latin typeface="Helvetica" panose="020B0604020202020204" pitchFamily="34" charset="0"/>
                <a:cs typeface="Helvetica" panose="020B0604020202020204" pitchFamily="34" charset="0"/>
              </a:rPr>
              <a:t> </a:t>
            </a:r>
            <a:r>
              <a:rPr lang="es-ES" sz="2400" dirty="0" err="1">
                <a:latin typeface="Helvetica" panose="020B0604020202020204" pitchFamily="34" charset="0"/>
                <a:cs typeface="Helvetica" panose="020B0604020202020204" pitchFamily="34" charset="0"/>
              </a:rPr>
              <a:t>both</a:t>
            </a:r>
            <a:r>
              <a:rPr lang="es-ES" sz="2400" dirty="0">
                <a:latin typeface="Helvetica" panose="020B0604020202020204" pitchFamily="34" charset="0"/>
                <a:cs typeface="Helvetica" panose="020B0604020202020204" pitchFamily="34" charset="0"/>
              </a:rPr>
              <a:t> </a:t>
            </a:r>
            <a:r>
              <a:rPr lang="es-ES" sz="2400" dirty="0" err="1">
                <a:latin typeface="Helvetica" panose="020B0604020202020204" pitchFamily="34" charset="0"/>
                <a:cs typeface="Helvetica" panose="020B0604020202020204" pitchFamily="34" charset="0"/>
              </a:rPr>
              <a:t>groups</a:t>
            </a:r>
            <a:r>
              <a:rPr lang="es-ES" sz="2400" dirty="0">
                <a:latin typeface="Helvetica" panose="020B0604020202020204" pitchFamily="34" charset="0"/>
                <a:cs typeface="Helvetica" panose="020B0604020202020204" pitchFamily="34" charset="0"/>
              </a:rPr>
              <a:t> are a bit </a:t>
            </a:r>
            <a:r>
              <a:rPr lang="es-ES" sz="2400" dirty="0" err="1">
                <a:latin typeface="Helvetica" panose="020B0604020202020204" pitchFamily="34" charset="0"/>
                <a:cs typeface="Helvetica" panose="020B0604020202020204" pitchFamily="34" charset="0"/>
              </a:rPr>
              <a:t>less</a:t>
            </a:r>
            <a:r>
              <a:rPr lang="es-ES" sz="2400" dirty="0">
                <a:latin typeface="Helvetica" panose="020B0604020202020204" pitchFamily="34" charset="0"/>
                <a:cs typeface="Helvetica" panose="020B0604020202020204" pitchFamily="34" charset="0"/>
              </a:rPr>
              <a:t> </a:t>
            </a:r>
            <a:r>
              <a:rPr lang="es-ES" sz="2400" dirty="0" err="1">
                <a:latin typeface="Helvetica" panose="020B0604020202020204" pitchFamily="34" charset="0"/>
                <a:cs typeface="Helvetica" panose="020B0604020202020204" pitchFamily="34" charset="0"/>
              </a:rPr>
              <a:t>differentiated</a:t>
            </a:r>
            <a:r>
              <a:rPr lang="es-ES" sz="2400" dirty="0">
                <a:latin typeface="Helvetica" panose="020B0604020202020204" pitchFamily="34" charset="0"/>
                <a:cs typeface="Helvetica" panose="020B0604020202020204" pitchFamily="34" charset="0"/>
              </a:rPr>
              <a:t>. </a:t>
            </a:r>
            <a:endParaRPr lang="es-ES" sz="2400" i="1" dirty="0">
              <a:latin typeface="Helvetica" panose="020B0604020202020204" pitchFamily="34" charset="0"/>
              <a:cs typeface="Helvetica" panose="020B0604020202020204" pitchFamily="34" charset="0"/>
            </a:endParaRPr>
          </a:p>
          <a:p>
            <a:pPr lvl="1"/>
            <a:endParaRPr lang="es-ES" sz="2400" dirty="0">
              <a:latin typeface="Helvetica" panose="020B0604020202020204" pitchFamily="34" charset="0"/>
              <a:cs typeface="Helvetica" panose="020B0604020202020204" pitchFamily="34" charset="0"/>
            </a:endParaRPr>
          </a:p>
        </p:txBody>
      </p:sp>
      <p:pic>
        <p:nvPicPr>
          <p:cNvPr id="5" name="Imagen 4">
            <a:extLst>
              <a:ext uri="{FF2B5EF4-FFF2-40B4-BE49-F238E27FC236}">
                <a16:creationId xmlns:a16="http://schemas.microsoft.com/office/drawing/2014/main" id="{2B4CB36A-1E97-C20F-5B2B-798180B00A23}"/>
              </a:ext>
            </a:extLst>
          </p:cNvPr>
          <p:cNvPicPr>
            <a:picLocks noChangeAspect="1"/>
          </p:cNvPicPr>
          <p:nvPr/>
        </p:nvPicPr>
        <p:blipFill>
          <a:blip r:embed="rId2">
            <a:extLst>
              <a:ext uri="{28A0092B-C50C-407E-A947-70E740481C1C}">
                <a14:useLocalDpi xmlns:a14="http://schemas.microsoft.com/office/drawing/2010/main" val="0"/>
              </a:ext>
            </a:extLst>
          </a:blip>
          <a:srcRect l="-43" t="49392" r="50750" b="26220"/>
          <a:stretch/>
        </p:blipFill>
        <p:spPr>
          <a:xfrm>
            <a:off x="-14655" y="1303516"/>
            <a:ext cx="6481582" cy="3573284"/>
          </a:xfrm>
          <a:prstGeom prst="rect">
            <a:avLst/>
          </a:prstGeom>
        </p:spPr>
      </p:pic>
      <p:pic>
        <p:nvPicPr>
          <p:cNvPr id="4" name="Imagen 3">
            <a:extLst>
              <a:ext uri="{FF2B5EF4-FFF2-40B4-BE49-F238E27FC236}">
                <a16:creationId xmlns:a16="http://schemas.microsoft.com/office/drawing/2014/main" id="{158CEC71-0B6E-F660-207B-EBC1877322AF}"/>
              </a:ext>
            </a:extLst>
          </p:cNvPr>
          <p:cNvPicPr>
            <a:picLocks noChangeAspect="1"/>
          </p:cNvPicPr>
          <p:nvPr/>
        </p:nvPicPr>
        <p:blipFill>
          <a:blip r:embed="rId3">
            <a:extLst>
              <a:ext uri="{28A0092B-C50C-407E-A947-70E740481C1C}">
                <a14:useLocalDpi xmlns:a14="http://schemas.microsoft.com/office/drawing/2010/main" val="0"/>
              </a:ext>
            </a:extLst>
          </a:blip>
          <a:srcRect t="5255"/>
          <a:stretch/>
        </p:blipFill>
        <p:spPr>
          <a:xfrm>
            <a:off x="6778990" y="3218630"/>
            <a:ext cx="4863127" cy="3316340"/>
          </a:xfrm>
          <a:prstGeom prst="rect">
            <a:avLst/>
          </a:prstGeom>
        </p:spPr>
      </p:pic>
      <p:sp>
        <p:nvSpPr>
          <p:cNvPr id="6" name="Elipse 5">
            <a:extLst>
              <a:ext uri="{FF2B5EF4-FFF2-40B4-BE49-F238E27FC236}">
                <a16:creationId xmlns:a16="http://schemas.microsoft.com/office/drawing/2014/main" id="{688839AE-1758-0E6A-7E49-128D8498BC03}"/>
              </a:ext>
            </a:extLst>
          </p:cNvPr>
          <p:cNvSpPr/>
          <p:nvPr/>
        </p:nvSpPr>
        <p:spPr>
          <a:xfrm>
            <a:off x="1838221" y="3898104"/>
            <a:ext cx="405113" cy="724234"/>
          </a:xfrm>
          <a:prstGeom prst="ellipse">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Elipse 6">
            <a:extLst>
              <a:ext uri="{FF2B5EF4-FFF2-40B4-BE49-F238E27FC236}">
                <a16:creationId xmlns:a16="http://schemas.microsoft.com/office/drawing/2014/main" id="{6EA77C80-9458-7A69-317C-F3D3A02CD151}"/>
              </a:ext>
            </a:extLst>
          </p:cNvPr>
          <p:cNvSpPr/>
          <p:nvPr/>
        </p:nvSpPr>
        <p:spPr>
          <a:xfrm>
            <a:off x="9130561" y="3534147"/>
            <a:ext cx="405113" cy="363957"/>
          </a:xfrm>
          <a:prstGeom prst="ellipse">
            <a:avLst/>
          </a:prstGeom>
          <a:noFill/>
          <a:ln w="38100">
            <a:solidFill>
              <a:srgbClr val="37AD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solidFill>
                <a:srgbClr val="37AD88"/>
              </a:solidFill>
            </a:endParaRPr>
          </a:p>
        </p:txBody>
      </p:sp>
      <p:sp>
        <p:nvSpPr>
          <p:cNvPr id="9" name="Elipse 8">
            <a:extLst>
              <a:ext uri="{FF2B5EF4-FFF2-40B4-BE49-F238E27FC236}">
                <a16:creationId xmlns:a16="http://schemas.microsoft.com/office/drawing/2014/main" id="{C96773A3-3490-AC24-6F9B-DCC7DDFDBE1D}"/>
              </a:ext>
            </a:extLst>
          </p:cNvPr>
          <p:cNvSpPr/>
          <p:nvPr/>
        </p:nvSpPr>
        <p:spPr>
          <a:xfrm>
            <a:off x="7047761" y="5380738"/>
            <a:ext cx="405113" cy="363957"/>
          </a:xfrm>
          <a:prstGeom prst="ellipse">
            <a:avLst/>
          </a:prstGeom>
          <a:noFill/>
          <a:ln w="38100">
            <a:solidFill>
              <a:srgbClr val="37AD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solidFill>
                <a:srgbClr val="37AD88"/>
              </a:solidFill>
            </a:endParaRPr>
          </a:p>
        </p:txBody>
      </p:sp>
      <p:sp>
        <p:nvSpPr>
          <p:cNvPr id="10" name="Elipse 9">
            <a:extLst>
              <a:ext uri="{FF2B5EF4-FFF2-40B4-BE49-F238E27FC236}">
                <a16:creationId xmlns:a16="http://schemas.microsoft.com/office/drawing/2014/main" id="{274D04FF-B7B4-DD15-93EB-5A14DAA3FA25}"/>
              </a:ext>
            </a:extLst>
          </p:cNvPr>
          <p:cNvSpPr/>
          <p:nvPr/>
        </p:nvSpPr>
        <p:spPr>
          <a:xfrm>
            <a:off x="8602883" y="5451858"/>
            <a:ext cx="405113" cy="363957"/>
          </a:xfrm>
          <a:prstGeom prst="ellipse">
            <a:avLst/>
          </a:prstGeom>
          <a:noFill/>
          <a:ln w="38100">
            <a:solidFill>
              <a:srgbClr val="37AD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solidFill>
                <a:srgbClr val="37AD88"/>
              </a:solidFill>
            </a:endParaRPr>
          </a:p>
        </p:txBody>
      </p:sp>
    </p:spTree>
    <p:extLst>
      <p:ext uri="{BB962C8B-B14F-4D97-AF65-F5344CB8AC3E}">
        <p14:creationId xmlns:p14="http://schemas.microsoft.com/office/powerpoint/2010/main" val="37391650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F12E08-0836-8757-D815-3BBECA41154C}"/>
            </a:ext>
          </a:extLst>
        </p:cNvPr>
        <p:cNvGrpSpPr/>
        <p:nvPr/>
      </p:nvGrpSpPr>
      <p:grpSpPr>
        <a:xfrm>
          <a:off x="0" y="0"/>
          <a:ext cx="0" cy="0"/>
          <a:chOff x="0" y="0"/>
          <a:chExt cx="0" cy="0"/>
        </a:xfrm>
      </p:grpSpPr>
      <p:sp>
        <p:nvSpPr>
          <p:cNvPr id="3" name="Rectangle 1">
            <a:extLst>
              <a:ext uri="{FF2B5EF4-FFF2-40B4-BE49-F238E27FC236}">
                <a16:creationId xmlns:a16="http://schemas.microsoft.com/office/drawing/2014/main" id="{6F3A1F3A-9B29-D181-4FC1-5D0C9DCB3AB1}"/>
              </a:ext>
            </a:extLst>
          </p:cNvPr>
          <p:cNvSpPr>
            <a:spLocks noChangeArrowheads="1"/>
          </p:cNvSpPr>
          <p:nvPr/>
        </p:nvSpPr>
        <p:spPr bwMode="auto">
          <a:xfrm>
            <a:off x="5288915" y="1477262"/>
            <a:ext cx="936624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s-ES" altLang="es-E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1800" b="0" i="0" u="none" strike="noStrike" cap="none" normalizeH="0" baseline="0">
              <a:ln>
                <a:noFill/>
              </a:ln>
              <a:solidFill>
                <a:schemeClr val="tx1"/>
              </a:solidFill>
              <a:effectLst/>
              <a:latin typeface="Arial" panose="020B0604020202020204" pitchFamily="34" charset="0"/>
            </a:endParaRPr>
          </a:p>
        </p:txBody>
      </p:sp>
      <p:sp>
        <p:nvSpPr>
          <p:cNvPr id="2" name="Título 1">
            <a:extLst>
              <a:ext uri="{FF2B5EF4-FFF2-40B4-BE49-F238E27FC236}">
                <a16:creationId xmlns:a16="http://schemas.microsoft.com/office/drawing/2014/main" id="{C2C1B47C-D1B7-A1B0-28C0-E0DDFEC727E4}"/>
              </a:ext>
            </a:extLst>
          </p:cNvPr>
          <p:cNvSpPr>
            <a:spLocks noGrp="1"/>
          </p:cNvSpPr>
          <p:nvPr>
            <p:ph type="title"/>
          </p:nvPr>
        </p:nvSpPr>
        <p:spPr>
          <a:xfrm>
            <a:off x="0" y="0"/>
            <a:ext cx="9690902" cy="804155"/>
          </a:xfrm>
          <a:solidFill>
            <a:srgbClr val="218317"/>
          </a:solidFill>
        </p:spPr>
        <p:txBody>
          <a:bodyPr>
            <a:normAutofit/>
          </a:bodyPr>
          <a:lstStyle/>
          <a:p>
            <a:r>
              <a:rPr lang="es-ES" sz="3200" b="1" dirty="0">
                <a:solidFill>
                  <a:schemeClr val="bg1"/>
                </a:solidFill>
                <a:latin typeface="Helvetica" panose="020B0604020202020204" pitchFamily="34" charset="0"/>
                <a:cs typeface="Helvetica" panose="020B0604020202020204" pitchFamily="34" charset="0"/>
              </a:rPr>
              <a:t>	</a:t>
            </a:r>
            <a:r>
              <a:rPr lang="es-ES" sz="3200" b="1" dirty="0" err="1">
                <a:solidFill>
                  <a:schemeClr val="bg1"/>
                </a:solidFill>
                <a:latin typeface="Helvetica" panose="020B0604020202020204" pitchFamily="34" charset="0"/>
                <a:cs typeface="Helvetica" panose="020B0604020202020204" pitchFamily="34" charset="0"/>
              </a:rPr>
              <a:t>Preliminary</a:t>
            </a:r>
            <a:r>
              <a:rPr lang="es-ES" sz="3200" b="1" dirty="0">
                <a:solidFill>
                  <a:schemeClr val="bg1"/>
                </a:solidFill>
                <a:latin typeface="Helvetica" panose="020B0604020202020204" pitchFamily="34" charset="0"/>
                <a:cs typeface="Helvetica" panose="020B0604020202020204" pitchFamily="34" charset="0"/>
              </a:rPr>
              <a:t> </a:t>
            </a:r>
            <a:r>
              <a:rPr lang="es-ES" sz="3200" b="1" dirty="0" err="1">
                <a:solidFill>
                  <a:schemeClr val="bg1"/>
                </a:solidFill>
                <a:latin typeface="Helvetica" panose="020B0604020202020204" pitchFamily="34" charset="0"/>
                <a:cs typeface="Helvetica" panose="020B0604020202020204" pitchFamily="34" charset="0"/>
              </a:rPr>
              <a:t>results</a:t>
            </a:r>
            <a:endParaRPr lang="es-ES" sz="3200" b="1" dirty="0">
              <a:solidFill>
                <a:schemeClr val="bg1"/>
              </a:solidFill>
              <a:latin typeface="Helvetica" panose="020B0604020202020204" pitchFamily="34" charset="0"/>
              <a:cs typeface="Helvetica" panose="020B0604020202020204" pitchFamily="34" charset="0"/>
            </a:endParaRPr>
          </a:p>
        </p:txBody>
      </p:sp>
      <p:sp>
        <p:nvSpPr>
          <p:cNvPr id="8" name="Título 1">
            <a:extLst>
              <a:ext uri="{FF2B5EF4-FFF2-40B4-BE49-F238E27FC236}">
                <a16:creationId xmlns:a16="http://schemas.microsoft.com/office/drawing/2014/main" id="{9403CF17-03B9-C294-E98B-5831250D442B}"/>
              </a:ext>
            </a:extLst>
          </p:cNvPr>
          <p:cNvSpPr txBox="1">
            <a:spLocks/>
          </p:cNvSpPr>
          <p:nvPr/>
        </p:nvSpPr>
        <p:spPr>
          <a:xfrm>
            <a:off x="9690902" y="-1"/>
            <a:ext cx="2501098" cy="804157"/>
          </a:xfrm>
          <a:prstGeom prst="rect">
            <a:avLst/>
          </a:prstGeom>
          <a:solidFill>
            <a:srgbClr val="218317"/>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s-ES" sz="2800" b="1" dirty="0">
                <a:solidFill>
                  <a:schemeClr val="accent6">
                    <a:lumMod val="60000"/>
                    <a:lumOff val="40000"/>
                  </a:schemeClr>
                </a:solidFill>
                <a:latin typeface="Helvetica" panose="020B0604020202020204" pitchFamily="34" charset="0"/>
                <a:cs typeface="Helvetica" panose="020B0604020202020204" pitchFamily="34" charset="0"/>
              </a:rPr>
              <a:t>Figures	</a:t>
            </a:r>
            <a:endParaRPr lang="es-ES" sz="2800" b="1" dirty="0">
              <a:solidFill>
                <a:srgbClr val="218317"/>
              </a:solidFill>
              <a:latin typeface="Helvetica" panose="020B0604020202020204" pitchFamily="34" charset="0"/>
              <a:cs typeface="Helvetica" panose="020B0604020202020204" pitchFamily="34" charset="0"/>
            </a:endParaRPr>
          </a:p>
        </p:txBody>
      </p:sp>
      <p:sp>
        <p:nvSpPr>
          <p:cNvPr id="12" name="CuadroTexto 10">
            <a:extLst>
              <a:ext uri="{FF2B5EF4-FFF2-40B4-BE49-F238E27FC236}">
                <a16:creationId xmlns:a16="http://schemas.microsoft.com/office/drawing/2014/main" id="{76932059-7B61-AA6B-EAE2-9682705EA4D2}"/>
              </a:ext>
            </a:extLst>
          </p:cNvPr>
          <p:cNvSpPr txBox="1"/>
          <p:nvPr/>
        </p:nvSpPr>
        <p:spPr>
          <a:xfrm>
            <a:off x="6145191" y="1512509"/>
            <a:ext cx="5725611" cy="1569660"/>
          </a:xfrm>
          <a:prstGeom prst="rect">
            <a:avLst/>
          </a:prstGeom>
          <a:noFill/>
        </p:spPr>
        <p:txBody>
          <a:bodyPr wrap="square" rtlCol="0">
            <a:spAutoFit/>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1"/>
            <a:r>
              <a:rPr lang="es-ES" sz="2400" dirty="0" err="1">
                <a:latin typeface="Helvetica" panose="020B0604020202020204" pitchFamily="34" charset="0"/>
                <a:cs typeface="Helvetica" panose="020B0604020202020204" pitchFamily="34" charset="0"/>
              </a:rPr>
              <a:t>When</a:t>
            </a:r>
            <a:r>
              <a:rPr lang="es-ES" sz="2400" dirty="0">
                <a:latin typeface="Helvetica" panose="020B0604020202020204" pitchFamily="34" charset="0"/>
                <a:cs typeface="Helvetica" panose="020B0604020202020204" pitchFamily="34" charset="0"/>
              </a:rPr>
              <a:t> </a:t>
            </a:r>
            <a:r>
              <a:rPr lang="es-ES" sz="2400" dirty="0" err="1">
                <a:latin typeface="Helvetica" panose="020B0604020202020204" pitchFamily="34" charset="0"/>
                <a:cs typeface="Helvetica" panose="020B0604020202020204" pitchFamily="34" charset="0"/>
              </a:rPr>
              <a:t>considering</a:t>
            </a:r>
            <a:r>
              <a:rPr lang="es-ES" sz="2400" dirty="0">
                <a:latin typeface="Helvetica" panose="020B0604020202020204" pitchFamily="34" charset="0"/>
                <a:cs typeface="Helvetica" panose="020B0604020202020204" pitchFamily="34" charset="0"/>
              </a:rPr>
              <a:t> Navarra, Madrid, Guadalajara, </a:t>
            </a:r>
            <a:r>
              <a:rPr lang="es-ES" sz="2400" b="1" dirty="0">
                <a:latin typeface="Helvetica" panose="020B0604020202020204" pitchFamily="34" charset="0"/>
                <a:cs typeface="Helvetica" panose="020B0604020202020204" pitchFamily="34" charset="0"/>
              </a:rPr>
              <a:t>and </a:t>
            </a:r>
            <a:r>
              <a:rPr lang="es-ES" sz="2400" dirty="0">
                <a:latin typeface="Helvetica" panose="020B0604020202020204" pitchFamily="34" charset="0"/>
                <a:cs typeface="Helvetica" panose="020B0604020202020204" pitchFamily="34" charset="0"/>
              </a:rPr>
              <a:t>Teruel</a:t>
            </a:r>
            <a:r>
              <a:rPr lang="es-ES" sz="2400" i="1" dirty="0">
                <a:latin typeface="Helvetica" panose="020B0604020202020204" pitchFamily="34" charset="0"/>
                <a:cs typeface="Helvetica" panose="020B0604020202020204" pitchFamily="34" charset="0"/>
              </a:rPr>
              <a:t>, </a:t>
            </a:r>
            <a:r>
              <a:rPr lang="es-ES" sz="2400" dirty="0" err="1">
                <a:latin typeface="Helvetica" panose="020B0604020202020204" pitchFamily="34" charset="0"/>
                <a:cs typeface="Helvetica" panose="020B0604020202020204" pitchFamily="34" charset="0"/>
              </a:rPr>
              <a:t>both</a:t>
            </a:r>
            <a:r>
              <a:rPr lang="es-ES" sz="2400" dirty="0">
                <a:latin typeface="Helvetica" panose="020B0604020202020204" pitchFamily="34" charset="0"/>
                <a:cs typeface="Helvetica" panose="020B0604020202020204" pitchFamily="34" charset="0"/>
              </a:rPr>
              <a:t> </a:t>
            </a:r>
            <a:r>
              <a:rPr lang="es-ES" sz="2400" dirty="0" err="1">
                <a:latin typeface="Helvetica" panose="020B0604020202020204" pitchFamily="34" charset="0"/>
                <a:cs typeface="Helvetica" panose="020B0604020202020204" pitchFamily="34" charset="0"/>
              </a:rPr>
              <a:t>groups</a:t>
            </a:r>
            <a:r>
              <a:rPr lang="es-ES" sz="2400" dirty="0">
                <a:latin typeface="Helvetica" panose="020B0604020202020204" pitchFamily="34" charset="0"/>
                <a:cs typeface="Helvetica" panose="020B0604020202020204" pitchFamily="34" charset="0"/>
              </a:rPr>
              <a:t> are </a:t>
            </a:r>
            <a:r>
              <a:rPr lang="es-ES" sz="2400" dirty="0" err="1">
                <a:latin typeface="Helvetica" panose="020B0604020202020204" pitchFamily="34" charset="0"/>
                <a:cs typeface="Helvetica" panose="020B0604020202020204" pitchFamily="34" charset="0"/>
              </a:rPr>
              <a:t>even</a:t>
            </a:r>
            <a:r>
              <a:rPr lang="es-ES" sz="2400" dirty="0">
                <a:latin typeface="Helvetica" panose="020B0604020202020204" pitchFamily="34" charset="0"/>
                <a:cs typeface="Helvetica" panose="020B0604020202020204" pitchFamily="34" charset="0"/>
              </a:rPr>
              <a:t> </a:t>
            </a:r>
            <a:r>
              <a:rPr lang="es-ES" sz="2400" dirty="0" err="1">
                <a:latin typeface="Helvetica" panose="020B0604020202020204" pitchFamily="34" charset="0"/>
                <a:cs typeface="Helvetica" panose="020B0604020202020204" pitchFamily="34" charset="0"/>
              </a:rPr>
              <a:t>less</a:t>
            </a:r>
            <a:r>
              <a:rPr lang="es-ES" sz="2400" dirty="0">
                <a:latin typeface="Helvetica" panose="020B0604020202020204" pitchFamily="34" charset="0"/>
                <a:cs typeface="Helvetica" panose="020B0604020202020204" pitchFamily="34" charset="0"/>
              </a:rPr>
              <a:t> </a:t>
            </a:r>
            <a:r>
              <a:rPr lang="es-ES" sz="2400" dirty="0" err="1">
                <a:latin typeface="Helvetica" panose="020B0604020202020204" pitchFamily="34" charset="0"/>
                <a:cs typeface="Helvetica" panose="020B0604020202020204" pitchFamily="34" charset="0"/>
              </a:rPr>
              <a:t>differentiated</a:t>
            </a:r>
            <a:r>
              <a:rPr lang="es-ES" sz="2400" dirty="0">
                <a:latin typeface="Helvetica" panose="020B0604020202020204" pitchFamily="34" charset="0"/>
                <a:cs typeface="Helvetica" panose="020B0604020202020204" pitchFamily="34" charset="0"/>
              </a:rPr>
              <a:t>. </a:t>
            </a:r>
            <a:endParaRPr lang="es-ES" sz="2400" i="1" dirty="0">
              <a:latin typeface="Helvetica" panose="020B0604020202020204" pitchFamily="34" charset="0"/>
              <a:cs typeface="Helvetica" panose="020B0604020202020204" pitchFamily="34" charset="0"/>
            </a:endParaRPr>
          </a:p>
          <a:p>
            <a:pPr lvl="1"/>
            <a:endParaRPr lang="es-ES" sz="2400" dirty="0">
              <a:latin typeface="Helvetica" panose="020B0604020202020204" pitchFamily="34" charset="0"/>
              <a:cs typeface="Helvetica" panose="020B0604020202020204" pitchFamily="34" charset="0"/>
            </a:endParaRPr>
          </a:p>
        </p:txBody>
      </p:sp>
      <p:pic>
        <p:nvPicPr>
          <p:cNvPr id="5" name="Imagen 4">
            <a:extLst>
              <a:ext uri="{FF2B5EF4-FFF2-40B4-BE49-F238E27FC236}">
                <a16:creationId xmlns:a16="http://schemas.microsoft.com/office/drawing/2014/main" id="{F9B9B007-C29A-9B07-5AF4-D4E419B335B3}"/>
              </a:ext>
            </a:extLst>
          </p:cNvPr>
          <p:cNvPicPr>
            <a:picLocks noChangeAspect="1"/>
          </p:cNvPicPr>
          <p:nvPr/>
        </p:nvPicPr>
        <p:blipFill>
          <a:blip r:embed="rId2">
            <a:extLst>
              <a:ext uri="{28A0092B-C50C-407E-A947-70E740481C1C}">
                <a14:useLocalDpi xmlns:a14="http://schemas.microsoft.com/office/drawing/2010/main" val="0"/>
              </a:ext>
            </a:extLst>
          </a:blip>
          <a:srcRect l="-112" t="73732" r="50819" b="8"/>
          <a:stretch/>
        </p:blipFill>
        <p:spPr>
          <a:xfrm>
            <a:off x="-14655" y="1303516"/>
            <a:ext cx="6481582" cy="3847604"/>
          </a:xfrm>
          <a:prstGeom prst="rect">
            <a:avLst/>
          </a:prstGeom>
        </p:spPr>
      </p:pic>
      <p:pic>
        <p:nvPicPr>
          <p:cNvPr id="4" name="Imagen 3">
            <a:extLst>
              <a:ext uri="{FF2B5EF4-FFF2-40B4-BE49-F238E27FC236}">
                <a16:creationId xmlns:a16="http://schemas.microsoft.com/office/drawing/2014/main" id="{FE53DB36-F2CC-1EDA-330A-6B99F82585C1}"/>
              </a:ext>
            </a:extLst>
          </p:cNvPr>
          <p:cNvPicPr>
            <a:picLocks noChangeAspect="1"/>
          </p:cNvPicPr>
          <p:nvPr/>
        </p:nvPicPr>
        <p:blipFill>
          <a:blip r:embed="rId3">
            <a:extLst>
              <a:ext uri="{28A0092B-C50C-407E-A947-70E740481C1C}">
                <a14:useLocalDpi xmlns:a14="http://schemas.microsoft.com/office/drawing/2010/main" val="0"/>
              </a:ext>
            </a:extLst>
          </a:blip>
          <a:srcRect t="5255"/>
          <a:stretch/>
        </p:blipFill>
        <p:spPr>
          <a:xfrm>
            <a:off x="6778990" y="3218630"/>
            <a:ext cx="4863127" cy="3316340"/>
          </a:xfrm>
          <a:prstGeom prst="rect">
            <a:avLst/>
          </a:prstGeom>
        </p:spPr>
      </p:pic>
      <p:sp>
        <p:nvSpPr>
          <p:cNvPr id="6" name="Elipse 5">
            <a:extLst>
              <a:ext uri="{FF2B5EF4-FFF2-40B4-BE49-F238E27FC236}">
                <a16:creationId xmlns:a16="http://schemas.microsoft.com/office/drawing/2014/main" id="{55E74E4B-16AC-0AAE-A829-54144EDBA2F8}"/>
              </a:ext>
            </a:extLst>
          </p:cNvPr>
          <p:cNvSpPr/>
          <p:nvPr/>
        </p:nvSpPr>
        <p:spPr>
          <a:xfrm>
            <a:off x="1838221" y="3898104"/>
            <a:ext cx="405113" cy="724234"/>
          </a:xfrm>
          <a:prstGeom prst="ellipse">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Elipse 6">
            <a:extLst>
              <a:ext uri="{FF2B5EF4-FFF2-40B4-BE49-F238E27FC236}">
                <a16:creationId xmlns:a16="http://schemas.microsoft.com/office/drawing/2014/main" id="{C6F1C22A-8E1D-59BB-05CE-303608044246}"/>
              </a:ext>
            </a:extLst>
          </p:cNvPr>
          <p:cNvSpPr/>
          <p:nvPr/>
        </p:nvSpPr>
        <p:spPr>
          <a:xfrm>
            <a:off x="9130561" y="3534147"/>
            <a:ext cx="405113" cy="363957"/>
          </a:xfrm>
          <a:prstGeom prst="ellipse">
            <a:avLst/>
          </a:prstGeom>
          <a:noFill/>
          <a:ln w="38100">
            <a:solidFill>
              <a:srgbClr val="37AD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solidFill>
                <a:srgbClr val="37AD88"/>
              </a:solidFill>
            </a:endParaRPr>
          </a:p>
        </p:txBody>
      </p:sp>
      <p:sp>
        <p:nvSpPr>
          <p:cNvPr id="9" name="Elipse 8">
            <a:extLst>
              <a:ext uri="{FF2B5EF4-FFF2-40B4-BE49-F238E27FC236}">
                <a16:creationId xmlns:a16="http://schemas.microsoft.com/office/drawing/2014/main" id="{979D5525-36BD-3335-A194-42EDDFC73A8C}"/>
              </a:ext>
            </a:extLst>
          </p:cNvPr>
          <p:cNvSpPr/>
          <p:nvPr/>
        </p:nvSpPr>
        <p:spPr>
          <a:xfrm>
            <a:off x="7047761" y="5380738"/>
            <a:ext cx="405113" cy="363957"/>
          </a:xfrm>
          <a:prstGeom prst="ellipse">
            <a:avLst/>
          </a:prstGeom>
          <a:noFill/>
          <a:ln w="38100">
            <a:solidFill>
              <a:srgbClr val="37AD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solidFill>
                <a:srgbClr val="37AD88"/>
              </a:solidFill>
            </a:endParaRPr>
          </a:p>
        </p:txBody>
      </p:sp>
      <p:sp>
        <p:nvSpPr>
          <p:cNvPr id="10" name="Elipse 9">
            <a:extLst>
              <a:ext uri="{FF2B5EF4-FFF2-40B4-BE49-F238E27FC236}">
                <a16:creationId xmlns:a16="http://schemas.microsoft.com/office/drawing/2014/main" id="{A499AA3B-EA91-4711-B57F-50B83B89B89D}"/>
              </a:ext>
            </a:extLst>
          </p:cNvPr>
          <p:cNvSpPr/>
          <p:nvPr/>
        </p:nvSpPr>
        <p:spPr>
          <a:xfrm>
            <a:off x="8602883" y="5451858"/>
            <a:ext cx="405113" cy="363957"/>
          </a:xfrm>
          <a:prstGeom prst="ellipse">
            <a:avLst/>
          </a:prstGeom>
          <a:noFill/>
          <a:ln w="38100">
            <a:solidFill>
              <a:srgbClr val="37AD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solidFill>
                <a:srgbClr val="37AD88"/>
              </a:solidFill>
            </a:endParaRPr>
          </a:p>
        </p:txBody>
      </p:sp>
      <p:sp>
        <p:nvSpPr>
          <p:cNvPr id="11" name="Elipse 10">
            <a:extLst>
              <a:ext uri="{FF2B5EF4-FFF2-40B4-BE49-F238E27FC236}">
                <a16:creationId xmlns:a16="http://schemas.microsoft.com/office/drawing/2014/main" id="{6E85216D-3B1B-DB5D-6EA1-AEE21E03E785}"/>
              </a:ext>
            </a:extLst>
          </p:cNvPr>
          <p:cNvSpPr/>
          <p:nvPr/>
        </p:nvSpPr>
        <p:spPr>
          <a:xfrm>
            <a:off x="9142382" y="5615606"/>
            <a:ext cx="405113" cy="363957"/>
          </a:xfrm>
          <a:prstGeom prst="ellipse">
            <a:avLst/>
          </a:prstGeom>
          <a:noFill/>
          <a:ln w="38100">
            <a:solidFill>
              <a:srgbClr val="37AD8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solidFill>
                <a:srgbClr val="37AD88"/>
              </a:solidFill>
            </a:endParaRPr>
          </a:p>
        </p:txBody>
      </p:sp>
    </p:spTree>
    <p:extLst>
      <p:ext uri="{BB962C8B-B14F-4D97-AF65-F5344CB8AC3E}">
        <p14:creationId xmlns:p14="http://schemas.microsoft.com/office/powerpoint/2010/main" val="14193945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E0564F-28F8-021F-3D62-6D0FD67D0CA0}"/>
            </a:ext>
          </a:extLst>
        </p:cNvPr>
        <p:cNvGrpSpPr/>
        <p:nvPr/>
      </p:nvGrpSpPr>
      <p:grpSpPr>
        <a:xfrm>
          <a:off x="0" y="0"/>
          <a:ext cx="0" cy="0"/>
          <a:chOff x="0" y="0"/>
          <a:chExt cx="0" cy="0"/>
        </a:xfrm>
      </p:grpSpPr>
      <p:sp>
        <p:nvSpPr>
          <p:cNvPr id="3" name="Rectangle 1">
            <a:extLst>
              <a:ext uri="{FF2B5EF4-FFF2-40B4-BE49-F238E27FC236}">
                <a16:creationId xmlns:a16="http://schemas.microsoft.com/office/drawing/2014/main" id="{289CF1C8-EDF8-8A31-4A32-03F3F98359E6}"/>
              </a:ext>
            </a:extLst>
          </p:cNvPr>
          <p:cNvSpPr>
            <a:spLocks noChangeArrowheads="1"/>
          </p:cNvSpPr>
          <p:nvPr/>
        </p:nvSpPr>
        <p:spPr bwMode="auto">
          <a:xfrm>
            <a:off x="5288915" y="1477262"/>
            <a:ext cx="936624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s-ES" altLang="es-E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1800" b="0" i="0" u="none" strike="noStrike" cap="none" normalizeH="0" baseline="0">
              <a:ln>
                <a:noFill/>
              </a:ln>
              <a:solidFill>
                <a:schemeClr val="tx1"/>
              </a:solidFill>
              <a:effectLst/>
              <a:latin typeface="Arial" panose="020B0604020202020204" pitchFamily="34" charset="0"/>
            </a:endParaRPr>
          </a:p>
        </p:txBody>
      </p:sp>
      <p:sp>
        <p:nvSpPr>
          <p:cNvPr id="2" name="Título 1">
            <a:extLst>
              <a:ext uri="{FF2B5EF4-FFF2-40B4-BE49-F238E27FC236}">
                <a16:creationId xmlns:a16="http://schemas.microsoft.com/office/drawing/2014/main" id="{94A0411C-6DB5-B29C-329C-76FD6B4C02AF}"/>
              </a:ext>
            </a:extLst>
          </p:cNvPr>
          <p:cNvSpPr>
            <a:spLocks noGrp="1"/>
          </p:cNvSpPr>
          <p:nvPr>
            <p:ph type="title"/>
          </p:nvPr>
        </p:nvSpPr>
        <p:spPr>
          <a:xfrm>
            <a:off x="0" y="0"/>
            <a:ext cx="9690902" cy="804155"/>
          </a:xfrm>
          <a:solidFill>
            <a:srgbClr val="218317"/>
          </a:solidFill>
        </p:spPr>
        <p:txBody>
          <a:bodyPr>
            <a:normAutofit/>
          </a:bodyPr>
          <a:lstStyle/>
          <a:p>
            <a:r>
              <a:rPr lang="es-ES" sz="3200" b="1" dirty="0">
                <a:solidFill>
                  <a:schemeClr val="bg1"/>
                </a:solidFill>
                <a:latin typeface="Helvetica" panose="020B0604020202020204" pitchFamily="34" charset="0"/>
                <a:cs typeface="Helvetica" panose="020B0604020202020204" pitchFamily="34" charset="0"/>
              </a:rPr>
              <a:t>	</a:t>
            </a:r>
            <a:r>
              <a:rPr lang="es-ES" sz="3200" b="1" dirty="0" err="1">
                <a:solidFill>
                  <a:schemeClr val="bg1"/>
                </a:solidFill>
                <a:latin typeface="Helvetica" panose="020B0604020202020204" pitchFamily="34" charset="0"/>
                <a:cs typeface="Helvetica" panose="020B0604020202020204" pitchFamily="34" charset="0"/>
              </a:rPr>
              <a:t>Preliminary</a:t>
            </a:r>
            <a:r>
              <a:rPr lang="es-ES" sz="3200" b="1" dirty="0">
                <a:solidFill>
                  <a:schemeClr val="bg1"/>
                </a:solidFill>
                <a:latin typeface="Helvetica" panose="020B0604020202020204" pitchFamily="34" charset="0"/>
                <a:cs typeface="Helvetica" panose="020B0604020202020204" pitchFamily="34" charset="0"/>
              </a:rPr>
              <a:t> </a:t>
            </a:r>
            <a:r>
              <a:rPr lang="es-ES" sz="3200" b="1" dirty="0" err="1">
                <a:solidFill>
                  <a:schemeClr val="bg1"/>
                </a:solidFill>
                <a:latin typeface="Helvetica" panose="020B0604020202020204" pitchFamily="34" charset="0"/>
                <a:cs typeface="Helvetica" panose="020B0604020202020204" pitchFamily="34" charset="0"/>
              </a:rPr>
              <a:t>results</a:t>
            </a:r>
            <a:endParaRPr lang="es-ES" sz="3200" b="1" dirty="0">
              <a:solidFill>
                <a:schemeClr val="bg1"/>
              </a:solidFill>
              <a:latin typeface="Helvetica" panose="020B0604020202020204" pitchFamily="34" charset="0"/>
              <a:cs typeface="Helvetica" panose="020B0604020202020204" pitchFamily="34" charset="0"/>
            </a:endParaRPr>
          </a:p>
        </p:txBody>
      </p:sp>
      <p:sp>
        <p:nvSpPr>
          <p:cNvPr id="8" name="Título 1">
            <a:extLst>
              <a:ext uri="{FF2B5EF4-FFF2-40B4-BE49-F238E27FC236}">
                <a16:creationId xmlns:a16="http://schemas.microsoft.com/office/drawing/2014/main" id="{C49FFDF2-C331-2AFB-F4DD-D68870285FA3}"/>
              </a:ext>
            </a:extLst>
          </p:cNvPr>
          <p:cNvSpPr txBox="1">
            <a:spLocks/>
          </p:cNvSpPr>
          <p:nvPr/>
        </p:nvSpPr>
        <p:spPr>
          <a:xfrm>
            <a:off x="9690902" y="-1"/>
            <a:ext cx="2501098" cy="804157"/>
          </a:xfrm>
          <a:prstGeom prst="rect">
            <a:avLst/>
          </a:prstGeom>
          <a:solidFill>
            <a:srgbClr val="218317"/>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s-ES" sz="2800" b="1" dirty="0">
                <a:solidFill>
                  <a:schemeClr val="accent6">
                    <a:lumMod val="60000"/>
                    <a:lumOff val="40000"/>
                  </a:schemeClr>
                </a:solidFill>
                <a:latin typeface="Helvetica" panose="020B0604020202020204" pitchFamily="34" charset="0"/>
                <a:cs typeface="Helvetica" panose="020B0604020202020204" pitchFamily="34" charset="0"/>
              </a:rPr>
              <a:t>Figures	</a:t>
            </a:r>
            <a:endParaRPr lang="es-ES" sz="2800" b="1" dirty="0">
              <a:solidFill>
                <a:srgbClr val="218317"/>
              </a:solidFill>
              <a:latin typeface="Helvetica" panose="020B0604020202020204" pitchFamily="34" charset="0"/>
              <a:cs typeface="Helvetica" panose="020B0604020202020204" pitchFamily="34" charset="0"/>
            </a:endParaRPr>
          </a:p>
        </p:txBody>
      </p:sp>
      <p:sp>
        <p:nvSpPr>
          <p:cNvPr id="12" name="CuadroTexto 10">
            <a:extLst>
              <a:ext uri="{FF2B5EF4-FFF2-40B4-BE49-F238E27FC236}">
                <a16:creationId xmlns:a16="http://schemas.microsoft.com/office/drawing/2014/main" id="{66A6F1E8-82E8-2EE0-2CA1-932960D78CD1}"/>
              </a:ext>
            </a:extLst>
          </p:cNvPr>
          <p:cNvSpPr txBox="1"/>
          <p:nvPr/>
        </p:nvSpPr>
        <p:spPr>
          <a:xfrm>
            <a:off x="6157956" y="1179084"/>
            <a:ext cx="5945209" cy="2308324"/>
          </a:xfrm>
          <a:prstGeom prst="rect">
            <a:avLst/>
          </a:prstGeom>
          <a:noFill/>
        </p:spPr>
        <p:txBody>
          <a:bodyPr wrap="square" rtlCol="0">
            <a:spAutoFit/>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1"/>
            <a:r>
              <a:rPr lang="es-ES" sz="2400" dirty="0" err="1">
                <a:latin typeface="Helvetica" panose="020B0604020202020204" pitchFamily="34" charset="0"/>
                <a:cs typeface="Helvetica" panose="020B0604020202020204" pitchFamily="34" charset="0"/>
              </a:rPr>
              <a:t>When</a:t>
            </a:r>
            <a:r>
              <a:rPr lang="es-ES" sz="2400" dirty="0">
                <a:latin typeface="Helvetica" panose="020B0604020202020204" pitchFamily="34" charset="0"/>
                <a:cs typeface="Helvetica" panose="020B0604020202020204" pitchFamily="34" charset="0"/>
              </a:rPr>
              <a:t> </a:t>
            </a:r>
            <a:r>
              <a:rPr lang="es-ES" sz="2400" dirty="0" err="1">
                <a:latin typeface="Helvetica" panose="020B0604020202020204" pitchFamily="34" charset="0"/>
                <a:cs typeface="Helvetica" panose="020B0604020202020204" pitchFamily="34" charset="0"/>
              </a:rPr>
              <a:t>considering</a:t>
            </a:r>
            <a:r>
              <a:rPr lang="es-ES" sz="2400" dirty="0">
                <a:latin typeface="Helvetica" panose="020B0604020202020204" pitchFamily="34" charset="0"/>
                <a:cs typeface="Helvetica" panose="020B0604020202020204" pitchFamily="34" charset="0"/>
              </a:rPr>
              <a:t> </a:t>
            </a:r>
            <a:r>
              <a:rPr lang="es-ES" sz="2400" dirty="0" err="1">
                <a:latin typeface="Helvetica" panose="020B0604020202020204" pitchFamily="34" charset="0"/>
                <a:cs typeface="Helvetica" panose="020B0604020202020204" pitchFamily="34" charset="0"/>
              </a:rPr>
              <a:t>only</a:t>
            </a:r>
            <a:r>
              <a:rPr lang="es-ES" sz="2400" dirty="0">
                <a:latin typeface="Helvetica" panose="020B0604020202020204" pitchFamily="34" charset="0"/>
                <a:cs typeface="Helvetica" panose="020B0604020202020204" pitchFamily="34" charset="0"/>
              </a:rPr>
              <a:t> Navarra </a:t>
            </a:r>
            <a:r>
              <a:rPr lang="es-ES" sz="2400" dirty="0" err="1">
                <a:latin typeface="Helvetica" panose="020B0604020202020204" pitchFamily="34" charset="0"/>
                <a:cs typeface="Helvetica" panose="020B0604020202020204" pitchFamily="34" charset="0"/>
              </a:rPr>
              <a:t>for</a:t>
            </a:r>
            <a:r>
              <a:rPr lang="es-ES" sz="2400" dirty="0">
                <a:latin typeface="Helvetica" panose="020B0604020202020204" pitchFamily="34" charset="0"/>
                <a:cs typeface="Helvetica" panose="020B0604020202020204" pitchFamily="34" charset="0"/>
              </a:rPr>
              <a:t> </a:t>
            </a:r>
            <a:r>
              <a:rPr lang="es-ES" sz="2400" i="1" dirty="0">
                <a:latin typeface="Helvetica" panose="020B0604020202020204" pitchFamily="34" charset="0"/>
                <a:cs typeface="Helvetica" panose="020B0604020202020204" pitchFamily="34" charset="0"/>
              </a:rPr>
              <a:t>A. alba</a:t>
            </a:r>
            <a:r>
              <a:rPr lang="es-ES" sz="2400" dirty="0">
                <a:latin typeface="Helvetica" panose="020B0604020202020204" pitchFamily="34" charset="0"/>
                <a:cs typeface="Helvetica" panose="020B0604020202020204" pitchFamily="34" charset="0"/>
              </a:rPr>
              <a:t>, </a:t>
            </a:r>
            <a:r>
              <a:rPr lang="es-ES" sz="2400" dirty="0" err="1">
                <a:latin typeface="Helvetica" panose="020B0604020202020204" pitchFamily="34" charset="0"/>
                <a:cs typeface="Helvetica" panose="020B0604020202020204" pitchFamily="34" charset="0"/>
              </a:rPr>
              <a:t>we</a:t>
            </a:r>
            <a:r>
              <a:rPr lang="es-ES" sz="2400" dirty="0">
                <a:latin typeface="Helvetica" panose="020B0604020202020204" pitchFamily="34" charset="0"/>
                <a:cs typeface="Helvetica" panose="020B0604020202020204" pitchFamily="34" charset="0"/>
              </a:rPr>
              <a:t> </a:t>
            </a:r>
            <a:r>
              <a:rPr lang="es-ES" sz="2400" dirty="0" err="1">
                <a:latin typeface="Helvetica" panose="020B0604020202020204" pitchFamily="34" charset="0"/>
                <a:cs typeface="Helvetica" panose="020B0604020202020204" pitchFamily="34" charset="0"/>
              </a:rPr>
              <a:t>see</a:t>
            </a:r>
            <a:r>
              <a:rPr lang="es-ES" sz="2400" dirty="0">
                <a:latin typeface="Helvetica" panose="020B0604020202020204" pitchFamily="34" charset="0"/>
                <a:cs typeface="Helvetica" panose="020B0604020202020204" pitchFamily="34" charset="0"/>
              </a:rPr>
              <a:t> </a:t>
            </a:r>
            <a:r>
              <a:rPr lang="es-ES" sz="2400" dirty="0" err="1">
                <a:latin typeface="Helvetica" panose="020B0604020202020204" pitchFamily="34" charset="0"/>
                <a:cs typeface="Helvetica" panose="020B0604020202020204" pitchFamily="34" charset="0"/>
              </a:rPr>
              <a:t>that</a:t>
            </a:r>
            <a:r>
              <a:rPr lang="es-ES" sz="2400" dirty="0">
                <a:latin typeface="Helvetica" panose="020B0604020202020204" pitchFamily="34" charset="0"/>
                <a:cs typeface="Helvetica" panose="020B0604020202020204" pitchFamily="34" charset="0"/>
              </a:rPr>
              <a:t> </a:t>
            </a:r>
            <a:r>
              <a:rPr lang="es-ES" sz="2400" dirty="0" err="1">
                <a:latin typeface="Helvetica" panose="020B0604020202020204" pitchFamily="34" charset="0"/>
                <a:cs typeface="Helvetica" panose="020B0604020202020204" pitchFamily="34" charset="0"/>
              </a:rPr>
              <a:t>healthy</a:t>
            </a:r>
            <a:r>
              <a:rPr lang="es-ES" sz="2400" dirty="0">
                <a:latin typeface="Helvetica" panose="020B0604020202020204" pitchFamily="34" charset="0"/>
                <a:cs typeface="Helvetica" panose="020B0604020202020204" pitchFamily="34" charset="0"/>
              </a:rPr>
              <a:t> and </a:t>
            </a:r>
            <a:r>
              <a:rPr lang="es-ES" sz="2400" dirty="0" err="1">
                <a:latin typeface="Helvetica" panose="020B0604020202020204" pitchFamily="34" charset="0"/>
                <a:cs typeface="Helvetica" panose="020B0604020202020204" pitchFamily="34" charset="0"/>
              </a:rPr>
              <a:t>damaged</a:t>
            </a:r>
            <a:r>
              <a:rPr lang="es-ES" sz="2400" dirty="0">
                <a:latin typeface="Helvetica" panose="020B0604020202020204" pitchFamily="34" charset="0"/>
                <a:cs typeface="Helvetica" panose="020B0604020202020204" pitchFamily="34" charset="0"/>
              </a:rPr>
              <a:t> </a:t>
            </a:r>
            <a:r>
              <a:rPr lang="es-ES" sz="2400" dirty="0" err="1">
                <a:latin typeface="Helvetica" panose="020B0604020202020204" pitchFamily="34" charset="0"/>
                <a:cs typeface="Helvetica" panose="020B0604020202020204" pitchFamily="34" charset="0"/>
              </a:rPr>
              <a:t>trees</a:t>
            </a:r>
            <a:r>
              <a:rPr lang="es-ES" sz="2400" dirty="0">
                <a:latin typeface="Helvetica" panose="020B0604020202020204" pitchFamily="34" charset="0"/>
                <a:cs typeface="Helvetica" panose="020B0604020202020204" pitchFamily="34" charset="0"/>
              </a:rPr>
              <a:t> </a:t>
            </a:r>
            <a:r>
              <a:rPr lang="es-ES" sz="2400" dirty="0" err="1">
                <a:latin typeface="Helvetica" panose="020B0604020202020204" pitchFamily="34" charset="0"/>
                <a:cs typeface="Helvetica" panose="020B0604020202020204" pitchFamily="34" charset="0"/>
              </a:rPr>
              <a:t>have</a:t>
            </a:r>
            <a:r>
              <a:rPr lang="es-ES" sz="2400" dirty="0">
                <a:latin typeface="Helvetica" panose="020B0604020202020204" pitchFamily="34" charset="0"/>
                <a:cs typeface="Helvetica" panose="020B0604020202020204" pitchFamily="34" charset="0"/>
              </a:rPr>
              <a:t> </a:t>
            </a:r>
            <a:r>
              <a:rPr lang="es-ES" sz="2400" dirty="0" err="1">
                <a:latin typeface="Helvetica" panose="020B0604020202020204" pitchFamily="34" charset="0"/>
                <a:cs typeface="Helvetica" panose="020B0604020202020204" pitchFamily="34" charset="0"/>
              </a:rPr>
              <a:t>different</a:t>
            </a:r>
            <a:r>
              <a:rPr lang="es-ES" sz="2400" dirty="0">
                <a:latin typeface="Helvetica" panose="020B0604020202020204" pitchFamily="34" charset="0"/>
                <a:cs typeface="Helvetica" panose="020B0604020202020204" pitchFamily="34" charset="0"/>
              </a:rPr>
              <a:t> </a:t>
            </a:r>
            <a:r>
              <a:rPr lang="es-ES" sz="2400" dirty="0" err="1">
                <a:latin typeface="Helvetica" panose="020B0604020202020204" pitchFamily="34" charset="0"/>
                <a:cs typeface="Helvetica" panose="020B0604020202020204" pitchFamily="34" charset="0"/>
              </a:rPr>
              <a:t>baseline</a:t>
            </a:r>
            <a:r>
              <a:rPr lang="es-ES" sz="2400" dirty="0">
                <a:latin typeface="Helvetica" panose="020B0604020202020204" pitchFamily="34" charset="0"/>
                <a:cs typeface="Helvetica" panose="020B0604020202020204" pitchFamily="34" charset="0"/>
              </a:rPr>
              <a:t> </a:t>
            </a:r>
            <a:r>
              <a:rPr lang="es-ES" sz="2400" dirty="0" err="1">
                <a:latin typeface="Helvetica" panose="020B0604020202020204" pitchFamily="34" charset="0"/>
                <a:cs typeface="Helvetica" panose="020B0604020202020204" pitchFamily="34" charset="0"/>
              </a:rPr>
              <a:t>growth</a:t>
            </a:r>
            <a:r>
              <a:rPr lang="es-ES" sz="2400" dirty="0">
                <a:latin typeface="Helvetica" panose="020B0604020202020204" pitchFamily="34" charset="0"/>
                <a:cs typeface="Helvetica" panose="020B0604020202020204" pitchFamily="34" charset="0"/>
              </a:rPr>
              <a:t> </a:t>
            </a:r>
            <a:r>
              <a:rPr lang="es-ES" sz="2400" dirty="0" err="1">
                <a:latin typeface="Helvetica" panose="020B0604020202020204" pitchFamily="34" charset="0"/>
                <a:cs typeface="Helvetica" panose="020B0604020202020204" pitchFamily="34" charset="0"/>
              </a:rPr>
              <a:t>rates</a:t>
            </a:r>
            <a:r>
              <a:rPr lang="es-ES" sz="2400" dirty="0">
                <a:latin typeface="Helvetica" panose="020B0604020202020204" pitchFamily="34" charset="0"/>
                <a:cs typeface="Helvetica" panose="020B0604020202020204" pitchFamily="34" charset="0"/>
              </a:rPr>
              <a:t>, </a:t>
            </a:r>
            <a:r>
              <a:rPr lang="es-ES" sz="2400" dirty="0" err="1">
                <a:latin typeface="Helvetica" panose="020B0604020202020204" pitchFamily="34" charset="0"/>
                <a:cs typeface="Helvetica" panose="020B0604020202020204" pitchFamily="34" charset="0"/>
              </a:rPr>
              <a:t>but</a:t>
            </a:r>
            <a:r>
              <a:rPr lang="es-ES" sz="2400" dirty="0">
                <a:latin typeface="Helvetica" panose="020B0604020202020204" pitchFamily="34" charset="0"/>
                <a:cs typeface="Helvetica" panose="020B0604020202020204" pitchFamily="34" charset="0"/>
              </a:rPr>
              <a:t> </a:t>
            </a:r>
            <a:r>
              <a:rPr lang="es-ES" sz="2400" dirty="0" err="1">
                <a:latin typeface="Helvetica" panose="020B0604020202020204" pitchFamily="34" charset="0"/>
                <a:cs typeface="Helvetica" panose="020B0604020202020204" pitchFamily="34" charset="0"/>
              </a:rPr>
              <a:t>there</a:t>
            </a:r>
            <a:r>
              <a:rPr lang="es-ES" sz="2400" dirty="0">
                <a:latin typeface="Helvetica" panose="020B0604020202020204" pitchFamily="34" charset="0"/>
                <a:cs typeface="Helvetica" panose="020B0604020202020204" pitchFamily="34" charset="0"/>
              </a:rPr>
              <a:t> </a:t>
            </a:r>
            <a:r>
              <a:rPr lang="es-ES" sz="2400" dirty="0" err="1">
                <a:latin typeface="Helvetica" panose="020B0604020202020204" pitchFamily="34" charset="0"/>
                <a:cs typeface="Helvetica" panose="020B0604020202020204" pitchFamily="34" charset="0"/>
              </a:rPr>
              <a:t>is</a:t>
            </a:r>
            <a:r>
              <a:rPr lang="es-ES" sz="2400" dirty="0">
                <a:latin typeface="Helvetica" panose="020B0604020202020204" pitchFamily="34" charset="0"/>
                <a:cs typeface="Helvetica" panose="020B0604020202020204" pitchFamily="34" charset="0"/>
              </a:rPr>
              <a:t> a </a:t>
            </a:r>
            <a:r>
              <a:rPr lang="es-ES" sz="2400" dirty="0" err="1">
                <a:latin typeface="Helvetica" panose="020B0604020202020204" pitchFamily="34" charset="0"/>
                <a:cs typeface="Helvetica" panose="020B0604020202020204" pitchFamily="34" charset="0"/>
              </a:rPr>
              <a:t>downwards</a:t>
            </a:r>
            <a:r>
              <a:rPr lang="es-ES" sz="2400" dirty="0">
                <a:latin typeface="Helvetica" panose="020B0604020202020204" pitchFamily="34" charset="0"/>
                <a:cs typeface="Helvetica" panose="020B0604020202020204" pitchFamily="34" charset="0"/>
              </a:rPr>
              <a:t> </a:t>
            </a:r>
            <a:r>
              <a:rPr lang="es-ES" sz="2400" dirty="0" err="1">
                <a:latin typeface="Helvetica" panose="020B0604020202020204" pitchFamily="34" charset="0"/>
                <a:cs typeface="Helvetica" panose="020B0604020202020204" pitchFamily="34" charset="0"/>
              </a:rPr>
              <a:t>trend</a:t>
            </a:r>
            <a:r>
              <a:rPr lang="es-ES" sz="2400" dirty="0">
                <a:latin typeface="Helvetica" panose="020B0604020202020204" pitchFamily="34" charset="0"/>
                <a:cs typeface="Helvetica" panose="020B0604020202020204" pitchFamily="34" charset="0"/>
              </a:rPr>
              <a:t> in </a:t>
            </a:r>
            <a:r>
              <a:rPr lang="es-ES" sz="2400" dirty="0" err="1">
                <a:latin typeface="Helvetica" panose="020B0604020202020204" pitchFamily="34" charset="0"/>
                <a:cs typeface="Helvetica" panose="020B0604020202020204" pitchFamily="34" charset="0"/>
              </a:rPr>
              <a:t>recent</a:t>
            </a:r>
            <a:r>
              <a:rPr lang="es-ES" sz="2400" dirty="0">
                <a:latin typeface="Helvetica" panose="020B0604020202020204" pitchFamily="34" charset="0"/>
                <a:cs typeface="Helvetica" panose="020B0604020202020204" pitchFamily="34" charset="0"/>
              </a:rPr>
              <a:t> </a:t>
            </a:r>
            <a:r>
              <a:rPr lang="es-ES" sz="2400" dirty="0" err="1">
                <a:latin typeface="Helvetica" panose="020B0604020202020204" pitchFamily="34" charset="0"/>
                <a:cs typeface="Helvetica" panose="020B0604020202020204" pitchFamily="34" charset="0"/>
              </a:rPr>
              <a:t>decades</a:t>
            </a:r>
            <a:endParaRPr lang="es-ES" sz="2400" i="1" dirty="0">
              <a:latin typeface="Helvetica" panose="020B0604020202020204" pitchFamily="34" charset="0"/>
              <a:cs typeface="Helvetica" panose="020B0604020202020204" pitchFamily="34" charset="0"/>
            </a:endParaRPr>
          </a:p>
          <a:p>
            <a:pPr lvl="1"/>
            <a:endParaRPr lang="es-ES" sz="2400" dirty="0">
              <a:latin typeface="Helvetica" panose="020B0604020202020204" pitchFamily="34" charset="0"/>
              <a:cs typeface="Helvetica" panose="020B0604020202020204" pitchFamily="34" charset="0"/>
            </a:endParaRPr>
          </a:p>
        </p:txBody>
      </p:sp>
      <p:pic>
        <p:nvPicPr>
          <p:cNvPr id="5" name="Imagen 4">
            <a:extLst>
              <a:ext uri="{FF2B5EF4-FFF2-40B4-BE49-F238E27FC236}">
                <a16:creationId xmlns:a16="http://schemas.microsoft.com/office/drawing/2014/main" id="{4005326F-4080-74E1-A7CB-0532C5324D9C}"/>
              </a:ext>
            </a:extLst>
          </p:cNvPr>
          <p:cNvPicPr>
            <a:picLocks noChangeAspect="1"/>
          </p:cNvPicPr>
          <p:nvPr/>
        </p:nvPicPr>
        <p:blipFill>
          <a:blip r:embed="rId2">
            <a:extLst>
              <a:ext uri="{28A0092B-C50C-407E-A947-70E740481C1C}">
                <a14:useLocalDpi xmlns:a14="http://schemas.microsoft.com/office/drawing/2010/main" val="0"/>
              </a:ext>
            </a:extLst>
          </a:blip>
          <a:srcRect l="50178" t="159" r="-55" b="75453"/>
          <a:stretch/>
        </p:blipFill>
        <p:spPr>
          <a:xfrm>
            <a:off x="0" y="1303516"/>
            <a:ext cx="6558367" cy="3573284"/>
          </a:xfrm>
          <a:prstGeom prst="rect">
            <a:avLst/>
          </a:prstGeom>
        </p:spPr>
      </p:pic>
      <p:pic>
        <p:nvPicPr>
          <p:cNvPr id="4" name="Imagen 3">
            <a:extLst>
              <a:ext uri="{FF2B5EF4-FFF2-40B4-BE49-F238E27FC236}">
                <a16:creationId xmlns:a16="http://schemas.microsoft.com/office/drawing/2014/main" id="{36A59630-036D-7694-69CC-BA5BC9B3239C}"/>
              </a:ext>
            </a:extLst>
          </p:cNvPr>
          <p:cNvPicPr>
            <a:picLocks noChangeAspect="1"/>
          </p:cNvPicPr>
          <p:nvPr/>
        </p:nvPicPr>
        <p:blipFill>
          <a:blip r:embed="rId3">
            <a:extLst>
              <a:ext uri="{28A0092B-C50C-407E-A947-70E740481C1C}">
                <a14:useLocalDpi xmlns:a14="http://schemas.microsoft.com/office/drawing/2010/main" val="0"/>
              </a:ext>
            </a:extLst>
          </a:blip>
          <a:srcRect t="5255"/>
          <a:stretch/>
        </p:blipFill>
        <p:spPr>
          <a:xfrm>
            <a:off x="6778990" y="3218630"/>
            <a:ext cx="4863127" cy="3316340"/>
          </a:xfrm>
          <a:prstGeom prst="rect">
            <a:avLst/>
          </a:prstGeom>
        </p:spPr>
      </p:pic>
      <p:sp>
        <p:nvSpPr>
          <p:cNvPr id="6" name="Elipse 5">
            <a:extLst>
              <a:ext uri="{FF2B5EF4-FFF2-40B4-BE49-F238E27FC236}">
                <a16:creationId xmlns:a16="http://schemas.microsoft.com/office/drawing/2014/main" id="{17386731-0D58-F91B-C629-670A4DBC5C22}"/>
              </a:ext>
            </a:extLst>
          </p:cNvPr>
          <p:cNvSpPr/>
          <p:nvPr/>
        </p:nvSpPr>
        <p:spPr>
          <a:xfrm>
            <a:off x="5011859" y="3117416"/>
            <a:ext cx="1656819" cy="1759384"/>
          </a:xfrm>
          <a:prstGeom prst="ellipse">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Elipse 6">
            <a:extLst>
              <a:ext uri="{FF2B5EF4-FFF2-40B4-BE49-F238E27FC236}">
                <a16:creationId xmlns:a16="http://schemas.microsoft.com/office/drawing/2014/main" id="{FB486933-89F4-E0E8-305A-32C23DAD0881}"/>
              </a:ext>
            </a:extLst>
          </p:cNvPr>
          <p:cNvSpPr/>
          <p:nvPr/>
        </p:nvSpPr>
        <p:spPr>
          <a:xfrm>
            <a:off x="9130561" y="3534147"/>
            <a:ext cx="405113" cy="363957"/>
          </a:xfrm>
          <a:prstGeom prst="ellipse">
            <a:avLst/>
          </a:prstGeom>
          <a:noFill/>
          <a:ln w="38100">
            <a:solidFill>
              <a:srgbClr val="7873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solidFill>
                <a:srgbClr val="7873B4"/>
              </a:solidFill>
            </a:endParaRPr>
          </a:p>
        </p:txBody>
      </p:sp>
    </p:spTree>
    <p:extLst>
      <p:ext uri="{BB962C8B-B14F-4D97-AF65-F5344CB8AC3E}">
        <p14:creationId xmlns:p14="http://schemas.microsoft.com/office/powerpoint/2010/main" val="29783149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BBB1A4-1508-C191-69A1-EBA9909534A3}"/>
            </a:ext>
          </a:extLst>
        </p:cNvPr>
        <p:cNvGrpSpPr/>
        <p:nvPr/>
      </p:nvGrpSpPr>
      <p:grpSpPr>
        <a:xfrm>
          <a:off x="0" y="0"/>
          <a:ext cx="0" cy="0"/>
          <a:chOff x="0" y="0"/>
          <a:chExt cx="0" cy="0"/>
        </a:xfrm>
      </p:grpSpPr>
      <p:sp>
        <p:nvSpPr>
          <p:cNvPr id="3" name="Rectangle 1">
            <a:extLst>
              <a:ext uri="{FF2B5EF4-FFF2-40B4-BE49-F238E27FC236}">
                <a16:creationId xmlns:a16="http://schemas.microsoft.com/office/drawing/2014/main" id="{EC65DD20-6FDB-623D-4C29-C41314855E77}"/>
              </a:ext>
            </a:extLst>
          </p:cNvPr>
          <p:cNvSpPr>
            <a:spLocks noChangeArrowheads="1"/>
          </p:cNvSpPr>
          <p:nvPr/>
        </p:nvSpPr>
        <p:spPr bwMode="auto">
          <a:xfrm>
            <a:off x="5288915" y="1477262"/>
            <a:ext cx="936624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s-ES" altLang="es-E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1800" b="0" i="0" u="none" strike="noStrike" cap="none" normalizeH="0" baseline="0">
              <a:ln>
                <a:noFill/>
              </a:ln>
              <a:solidFill>
                <a:schemeClr val="tx1"/>
              </a:solidFill>
              <a:effectLst/>
              <a:latin typeface="Arial" panose="020B0604020202020204" pitchFamily="34" charset="0"/>
            </a:endParaRPr>
          </a:p>
        </p:txBody>
      </p:sp>
      <p:sp>
        <p:nvSpPr>
          <p:cNvPr id="2" name="Título 1">
            <a:extLst>
              <a:ext uri="{FF2B5EF4-FFF2-40B4-BE49-F238E27FC236}">
                <a16:creationId xmlns:a16="http://schemas.microsoft.com/office/drawing/2014/main" id="{34247C0A-16C9-DC00-3719-ADE238E397C7}"/>
              </a:ext>
            </a:extLst>
          </p:cNvPr>
          <p:cNvSpPr>
            <a:spLocks noGrp="1"/>
          </p:cNvSpPr>
          <p:nvPr>
            <p:ph type="title"/>
          </p:nvPr>
        </p:nvSpPr>
        <p:spPr>
          <a:xfrm>
            <a:off x="0" y="0"/>
            <a:ext cx="9690902" cy="804155"/>
          </a:xfrm>
          <a:solidFill>
            <a:srgbClr val="218317"/>
          </a:solidFill>
        </p:spPr>
        <p:txBody>
          <a:bodyPr>
            <a:normAutofit/>
          </a:bodyPr>
          <a:lstStyle/>
          <a:p>
            <a:r>
              <a:rPr lang="es-ES" sz="3200" b="1" dirty="0">
                <a:solidFill>
                  <a:schemeClr val="bg1"/>
                </a:solidFill>
                <a:latin typeface="Helvetica" panose="020B0604020202020204" pitchFamily="34" charset="0"/>
                <a:cs typeface="Helvetica" panose="020B0604020202020204" pitchFamily="34" charset="0"/>
              </a:rPr>
              <a:t>	</a:t>
            </a:r>
            <a:r>
              <a:rPr lang="es-ES" sz="3200" b="1" dirty="0" err="1">
                <a:solidFill>
                  <a:schemeClr val="bg1"/>
                </a:solidFill>
                <a:latin typeface="Helvetica" panose="020B0604020202020204" pitchFamily="34" charset="0"/>
                <a:cs typeface="Helvetica" panose="020B0604020202020204" pitchFamily="34" charset="0"/>
              </a:rPr>
              <a:t>Preliminary</a:t>
            </a:r>
            <a:r>
              <a:rPr lang="es-ES" sz="3200" b="1" dirty="0">
                <a:solidFill>
                  <a:schemeClr val="bg1"/>
                </a:solidFill>
                <a:latin typeface="Helvetica" panose="020B0604020202020204" pitchFamily="34" charset="0"/>
                <a:cs typeface="Helvetica" panose="020B0604020202020204" pitchFamily="34" charset="0"/>
              </a:rPr>
              <a:t> </a:t>
            </a:r>
            <a:r>
              <a:rPr lang="es-ES" sz="3200" b="1" dirty="0" err="1">
                <a:solidFill>
                  <a:schemeClr val="bg1"/>
                </a:solidFill>
                <a:latin typeface="Helvetica" panose="020B0604020202020204" pitchFamily="34" charset="0"/>
                <a:cs typeface="Helvetica" panose="020B0604020202020204" pitchFamily="34" charset="0"/>
              </a:rPr>
              <a:t>results</a:t>
            </a:r>
            <a:endParaRPr lang="es-ES" sz="3200" b="1" dirty="0">
              <a:solidFill>
                <a:schemeClr val="bg1"/>
              </a:solidFill>
              <a:latin typeface="Helvetica" panose="020B0604020202020204" pitchFamily="34" charset="0"/>
              <a:cs typeface="Helvetica" panose="020B0604020202020204" pitchFamily="34" charset="0"/>
            </a:endParaRPr>
          </a:p>
        </p:txBody>
      </p:sp>
      <p:sp>
        <p:nvSpPr>
          <p:cNvPr id="8" name="Título 1">
            <a:extLst>
              <a:ext uri="{FF2B5EF4-FFF2-40B4-BE49-F238E27FC236}">
                <a16:creationId xmlns:a16="http://schemas.microsoft.com/office/drawing/2014/main" id="{FBF2BCF2-85FF-D379-B5F1-7A266293BD38}"/>
              </a:ext>
            </a:extLst>
          </p:cNvPr>
          <p:cNvSpPr txBox="1">
            <a:spLocks/>
          </p:cNvSpPr>
          <p:nvPr/>
        </p:nvSpPr>
        <p:spPr>
          <a:xfrm>
            <a:off x="9690902" y="-1"/>
            <a:ext cx="2501098" cy="804157"/>
          </a:xfrm>
          <a:prstGeom prst="rect">
            <a:avLst/>
          </a:prstGeom>
          <a:solidFill>
            <a:srgbClr val="218317"/>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s-ES" sz="2800" b="1" dirty="0">
                <a:solidFill>
                  <a:schemeClr val="accent6">
                    <a:lumMod val="60000"/>
                    <a:lumOff val="40000"/>
                  </a:schemeClr>
                </a:solidFill>
                <a:latin typeface="Helvetica" panose="020B0604020202020204" pitchFamily="34" charset="0"/>
                <a:cs typeface="Helvetica" panose="020B0604020202020204" pitchFamily="34" charset="0"/>
              </a:rPr>
              <a:t>Figures	</a:t>
            </a:r>
            <a:endParaRPr lang="es-ES" sz="2800" b="1" dirty="0">
              <a:solidFill>
                <a:srgbClr val="218317"/>
              </a:solidFill>
              <a:latin typeface="Helvetica" panose="020B0604020202020204" pitchFamily="34" charset="0"/>
              <a:cs typeface="Helvetica" panose="020B0604020202020204" pitchFamily="34" charset="0"/>
            </a:endParaRPr>
          </a:p>
        </p:txBody>
      </p:sp>
      <p:sp>
        <p:nvSpPr>
          <p:cNvPr id="12" name="CuadroTexto 10">
            <a:extLst>
              <a:ext uri="{FF2B5EF4-FFF2-40B4-BE49-F238E27FC236}">
                <a16:creationId xmlns:a16="http://schemas.microsoft.com/office/drawing/2014/main" id="{8C0CA0C6-9762-C192-ACE7-09DF57C40A20}"/>
              </a:ext>
            </a:extLst>
          </p:cNvPr>
          <p:cNvSpPr txBox="1"/>
          <p:nvPr/>
        </p:nvSpPr>
        <p:spPr>
          <a:xfrm>
            <a:off x="6157956" y="1179084"/>
            <a:ext cx="5945209" cy="2308324"/>
          </a:xfrm>
          <a:prstGeom prst="rect">
            <a:avLst/>
          </a:prstGeom>
          <a:noFill/>
        </p:spPr>
        <p:txBody>
          <a:bodyPr wrap="square" rtlCol="0">
            <a:spAutoFit/>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1"/>
            <a:r>
              <a:rPr lang="es-ES" sz="2400" dirty="0" err="1">
                <a:latin typeface="Helvetica" panose="020B0604020202020204" pitchFamily="34" charset="0"/>
                <a:cs typeface="Helvetica" panose="020B0604020202020204" pitchFamily="34" charset="0"/>
              </a:rPr>
              <a:t>When</a:t>
            </a:r>
            <a:r>
              <a:rPr lang="es-ES" sz="2400" dirty="0">
                <a:latin typeface="Helvetica" panose="020B0604020202020204" pitchFamily="34" charset="0"/>
                <a:cs typeface="Helvetica" panose="020B0604020202020204" pitchFamily="34" charset="0"/>
              </a:rPr>
              <a:t> </a:t>
            </a:r>
            <a:r>
              <a:rPr lang="es-ES" sz="2400" dirty="0" err="1">
                <a:latin typeface="Helvetica" panose="020B0604020202020204" pitchFamily="34" charset="0"/>
                <a:cs typeface="Helvetica" panose="020B0604020202020204" pitchFamily="34" charset="0"/>
              </a:rPr>
              <a:t>including</a:t>
            </a:r>
            <a:r>
              <a:rPr lang="es-ES" sz="2400" dirty="0">
                <a:latin typeface="Helvetica" panose="020B0604020202020204" pitchFamily="34" charset="0"/>
                <a:cs typeface="Helvetica" panose="020B0604020202020204" pitchFamily="34" charset="0"/>
              </a:rPr>
              <a:t> Navarra </a:t>
            </a:r>
            <a:r>
              <a:rPr lang="es-ES" sz="2400" b="1" dirty="0">
                <a:latin typeface="Helvetica" panose="020B0604020202020204" pitchFamily="34" charset="0"/>
                <a:cs typeface="Helvetica" panose="020B0604020202020204" pitchFamily="34" charset="0"/>
              </a:rPr>
              <a:t>and </a:t>
            </a:r>
            <a:r>
              <a:rPr lang="es-ES" sz="2400" dirty="0">
                <a:latin typeface="Helvetica" panose="020B0604020202020204" pitchFamily="34" charset="0"/>
                <a:cs typeface="Helvetica" panose="020B0604020202020204" pitchFamily="34" charset="0"/>
              </a:rPr>
              <a:t>Huesca, </a:t>
            </a:r>
            <a:r>
              <a:rPr lang="es-ES" sz="2400" dirty="0" err="1">
                <a:latin typeface="Helvetica" panose="020B0604020202020204" pitchFamily="34" charset="0"/>
                <a:cs typeface="Helvetica" panose="020B0604020202020204" pitchFamily="34" charset="0"/>
              </a:rPr>
              <a:t>the</a:t>
            </a:r>
            <a:r>
              <a:rPr lang="es-ES" sz="2400" dirty="0">
                <a:latin typeface="Helvetica" panose="020B0604020202020204" pitchFamily="34" charset="0"/>
                <a:cs typeface="Helvetica" panose="020B0604020202020204" pitchFamily="34" charset="0"/>
              </a:rPr>
              <a:t> </a:t>
            </a:r>
            <a:r>
              <a:rPr lang="es-ES" sz="2400" dirty="0" err="1">
                <a:latin typeface="Helvetica" panose="020B0604020202020204" pitchFamily="34" charset="0"/>
                <a:cs typeface="Helvetica" panose="020B0604020202020204" pitchFamily="34" charset="0"/>
              </a:rPr>
              <a:t>divergence</a:t>
            </a:r>
            <a:r>
              <a:rPr lang="es-ES" sz="2400" dirty="0">
                <a:latin typeface="Helvetica" panose="020B0604020202020204" pitchFamily="34" charset="0"/>
                <a:cs typeface="Helvetica" panose="020B0604020202020204" pitchFamily="34" charset="0"/>
              </a:rPr>
              <a:t> </a:t>
            </a:r>
            <a:r>
              <a:rPr lang="es-ES" sz="2400" dirty="0" err="1">
                <a:latin typeface="Helvetica" panose="020B0604020202020204" pitchFamily="34" charset="0"/>
                <a:cs typeface="Helvetica" panose="020B0604020202020204" pitchFamily="34" charset="0"/>
              </a:rPr>
              <a:t>between</a:t>
            </a:r>
            <a:r>
              <a:rPr lang="es-ES" sz="2400" dirty="0">
                <a:latin typeface="Helvetica" panose="020B0604020202020204" pitchFamily="34" charset="0"/>
                <a:cs typeface="Helvetica" panose="020B0604020202020204" pitchFamily="34" charset="0"/>
              </a:rPr>
              <a:t> </a:t>
            </a:r>
            <a:r>
              <a:rPr lang="es-ES" sz="2400" dirty="0" err="1">
                <a:latin typeface="Helvetica" panose="020B0604020202020204" pitchFamily="34" charset="0"/>
                <a:cs typeface="Helvetica" panose="020B0604020202020204" pitchFamily="34" charset="0"/>
              </a:rPr>
              <a:t>healthy</a:t>
            </a:r>
            <a:r>
              <a:rPr lang="es-ES" sz="2400" dirty="0">
                <a:latin typeface="Helvetica" panose="020B0604020202020204" pitchFamily="34" charset="0"/>
                <a:cs typeface="Helvetica" panose="020B0604020202020204" pitchFamily="34" charset="0"/>
              </a:rPr>
              <a:t> and </a:t>
            </a:r>
            <a:r>
              <a:rPr lang="es-ES" sz="2400" dirty="0" err="1">
                <a:latin typeface="Helvetica" panose="020B0604020202020204" pitchFamily="34" charset="0"/>
                <a:cs typeface="Helvetica" panose="020B0604020202020204" pitchFamily="34" charset="0"/>
              </a:rPr>
              <a:t>damaged</a:t>
            </a:r>
            <a:r>
              <a:rPr lang="es-ES" sz="2400" dirty="0">
                <a:latin typeface="Helvetica" panose="020B0604020202020204" pitchFamily="34" charset="0"/>
                <a:cs typeface="Helvetica" panose="020B0604020202020204" pitchFamily="34" charset="0"/>
              </a:rPr>
              <a:t> tres </a:t>
            </a:r>
            <a:r>
              <a:rPr lang="es-ES" sz="2400" dirty="0" err="1">
                <a:latin typeface="Helvetica" panose="020B0604020202020204" pitchFamily="34" charset="0"/>
                <a:cs typeface="Helvetica" panose="020B0604020202020204" pitchFamily="34" charset="0"/>
              </a:rPr>
              <a:t>starts</a:t>
            </a:r>
            <a:r>
              <a:rPr lang="es-ES" sz="2400" dirty="0">
                <a:latin typeface="Helvetica" panose="020B0604020202020204" pitchFamily="34" charset="0"/>
                <a:cs typeface="Helvetica" panose="020B0604020202020204" pitchFamily="34" charset="0"/>
              </a:rPr>
              <a:t> </a:t>
            </a:r>
            <a:r>
              <a:rPr lang="es-ES" sz="2400" i="1" dirty="0">
                <a:latin typeface="Helvetica" panose="020B0604020202020204" pitchFamily="34" charset="0"/>
                <a:cs typeface="Helvetica" panose="020B0604020202020204" pitchFamily="34" charset="0"/>
              </a:rPr>
              <a:t>c. </a:t>
            </a:r>
            <a:r>
              <a:rPr lang="es-ES" sz="2400" dirty="0">
                <a:latin typeface="Helvetica" panose="020B0604020202020204" pitchFamily="34" charset="0"/>
                <a:cs typeface="Helvetica" panose="020B0604020202020204" pitchFamily="34" charset="0"/>
              </a:rPr>
              <a:t>1965, and </a:t>
            </a:r>
            <a:r>
              <a:rPr lang="es-ES" sz="2400" dirty="0" err="1">
                <a:latin typeface="Helvetica" panose="020B0604020202020204" pitchFamily="34" charset="0"/>
                <a:cs typeface="Helvetica" panose="020B0604020202020204" pitchFamily="34" charset="0"/>
              </a:rPr>
              <a:t>there</a:t>
            </a:r>
            <a:r>
              <a:rPr lang="es-ES" sz="2400" dirty="0">
                <a:latin typeface="Helvetica" panose="020B0604020202020204" pitchFamily="34" charset="0"/>
                <a:cs typeface="Helvetica" panose="020B0604020202020204" pitchFamily="34" charset="0"/>
              </a:rPr>
              <a:t> </a:t>
            </a:r>
            <a:r>
              <a:rPr lang="es-ES" sz="2400" dirty="0" err="1">
                <a:latin typeface="Helvetica" panose="020B0604020202020204" pitchFamily="34" charset="0"/>
                <a:cs typeface="Helvetica" panose="020B0604020202020204" pitchFamily="34" charset="0"/>
              </a:rPr>
              <a:t>is</a:t>
            </a:r>
            <a:r>
              <a:rPr lang="es-ES" sz="2400" dirty="0">
                <a:latin typeface="Helvetica" panose="020B0604020202020204" pitchFamily="34" charset="0"/>
                <a:cs typeface="Helvetica" panose="020B0604020202020204" pitchFamily="34" charset="0"/>
              </a:rPr>
              <a:t> </a:t>
            </a:r>
            <a:r>
              <a:rPr lang="es-ES" sz="2400" dirty="0" err="1">
                <a:latin typeface="Helvetica" panose="020B0604020202020204" pitchFamily="34" charset="0"/>
                <a:cs typeface="Helvetica" panose="020B0604020202020204" pitchFamily="34" charset="0"/>
              </a:rPr>
              <a:t>still</a:t>
            </a:r>
            <a:r>
              <a:rPr lang="es-ES" sz="2400" dirty="0">
                <a:latin typeface="Helvetica" panose="020B0604020202020204" pitchFamily="34" charset="0"/>
                <a:cs typeface="Helvetica" panose="020B0604020202020204" pitchFamily="34" charset="0"/>
              </a:rPr>
              <a:t> a </a:t>
            </a:r>
            <a:r>
              <a:rPr lang="es-ES" sz="2400" dirty="0" err="1">
                <a:latin typeface="Helvetica" panose="020B0604020202020204" pitchFamily="34" charset="0"/>
                <a:cs typeface="Helvetica" panose="020B0604020202020204" pitchFamily="34" charset="0"/>
              </a:rPr>
              <a:t>recent</a:t>
            </a:r>
            <a:r>
              <a:rPr lang="es-ES" sz="2400" dirty="0">
                <a:latin typeface="Helvetica" panose="020B0604020202020204" pitchFamily="34" charset="0"/>
                <a:cs typeface="Helvetica" panose="020B0604020202020204" pitchFamily="34" charset="0"/>
              </a:rPr>
              <a:t> </a:t>
            </a:r>
            <a:r>
              <a:rPr lang="es-ES" sz="2400" dirty="0" err="1">
                <a:latin typeface="Helvetica" panose="020B0604020202020204" pitchFamily="34" charset="0"/>
                <a:cs typeface="Helvetica" panose="020B0604020202020204" pitchFamily="34" charset="0"/>
              </a:rPr>
              <a:t>reduction</a:t>
            </a:r>
            <a:r>
              <a:rPr lang="es-ES" sz="2400" dirty="0">
                <a:latin typeface="Helvetica" panose="020B0604020202020204" pitchFamily="34" charset="0"/>
                <a:cs typeface="Helvetica" panose="020B0604020202020204" pitchFamily="34" charset="0"/>
              </a:rPr>
              <a:t> in </a:t>
            </a:r>
            <a:r>
              <a:rPr lang="es-ES" sz="2400" dirty="0" err="1">
                <a:latin typeface="Helvetica" panose="020B0604020202020204" pitchFamily="34" charset="0"/>
                <a:cs typeface="Helvetica" panose="020B0604020202020204" pitchFamily="34" charset="0"/>
              </a:rPr>
              <a:t>growth</a:t>
            </a:r>
            <a:r>
              <a:rPr lang="es-ES" sz="2400" dirty="0">
                <a:latin typeface="Helvetica" panose="020B0604020202020204" pitchFamily="34" charset="0"/>
                <a:cs typeface="Helvetica" panose="020B0604020202020204" pitchFamily="34" charset="0"/>
              </a:rPr>
              <a:t> </a:t>
            </a:r>
            <a:r>
              <a:rPr lang="es-ES" sz="2400" dirty="0" err="1">
                <a:latin typeface="Helvetica" panose="020B0604020202020204" pitchFamily="34" charset="0"/>
                <a:cs typeface="Helvetica" panose="020B0604020202020204" pitchFamily="34" charset="0"/>
              </a:rPr>
              <a:t>for</a:t>
            </a:r>
            <a:r>
              <a:rPr lang="es-ES" sz="2400" dirty="0">
                <a:latin typeface="Helvetica" panose="020B0604020202020204" pitchFamily="34" charset="0"/>
                <a:cs typeface="Helvetica" panose="020B0604020202020204" pitchFamily="34" charset="0"/>
              </a:rPr>
              <a:t> </a:t>
            </a:r>
            <a:r>
              <a:rPr lang="es-ES" sz="2400" dirty="0" err="1">
                <a:latin typeface="Helvetica" panose="020B0604020202020204" pitchFamily="34" charset="0"/>
                <a:cs typeface="Helvetica" panose="020B0604020202020204" pitchFamily="34" charset="0"/>
              </a:rPr>
              <a:t>both</a:t>
            </a:r>
            <a:r>
              <a:rPr lang="es-ES" sz="2400" dirty="0">
                <a:latin typeface="Helvetica" panose="020B0604020202020204" pitchFamily="34" charset="0"/>
                <a:cs typeface="Helvetica" panose="020B0604020202020204" pitchFamily="34" charset="0"/>
              </a:rPr>
              <a:t> </a:t>
            </a:r>
            <a:r>
              <a:rPr lang="es-ES" sz="2400" dirty="0" err="1">
                <a:latin typeface="Helvetica" panose="020B0604020202020204" pitchFamily="34" charset="0"/>
                <a:cs typeface="Helvetica" panose="020B0604020202020204" pitchFamily="34" charset="0"/>
              </a:rPr>
              <a:t>groups</a:t>
            </a:r>
            <a:r>
              <a:rPr lang="es-ES" sz="2400" dirty="0">
                <a:latin typeface="Helvetica" panose="020B0604020202020204" pitchFamily="34" charset="0"/>
                <a:cs typeface="Helvetica" panose="020B0604020202020204" pitchFamily="34" charset="0"/>
              </a:rPr>
              <a:t>.</a:t>
            </a:r>
            <a:endParaRPr lang="es-ES" sz="2400" i="1" dirty="0">
              <a:latin typeface="Helvetica" panose="020B0604020202020204" pitchFamily="34" charset="0"/>
              <a:cs typeface="Helvetica" panose="020B0604020202020204" pitchFamily="34" charset="0"/>
            </a:endParaRPr>
          </a:p>
          <a:p>
            <a:pPr lvl="1"/>
            <a:endParaRPr lang="es-ES" sz="2400" dirty="0">
              <a:latin typeface="Helvetica" panose="020B0604020202020204" pitchFamily="34" charset="0"/>
              <a:cs typeface="Helvetica" panose="020B0604020202020204" pitchFamily="34" charset="0"/>
            </a:endParaRPr>
          </a:p>
        </p:txBody>
      </p:sp>
      <p:pic>
        <p:nvPicPr>
          <p:cNvPr id="5" name="Imagen 4">
            <a:extLst>
              <a:ext uri="{FF2B5EF4-FFF2-40B4-BE49-F238E27FC236}">
                <a16:creationId xmlns:a16="http://schemas.microsoft.com/office/drawing/2014/main" id="{93427E74-6701-44F9-3E3E-72CD3BF33348}"/>
              </a:ext>
            </a:extLst>
          </p:cNvPr>
          <p:cNvPicPr>
            <a:picLocks noChangeAspect="1"/>
          </p:cNvPicPr>
          <p:nvPr/>
        </p:nvPicPr>
        <p:blipFill>
          <a:blip r:embed="rId2">
            <a:extLst>
              <a:ext uri="{28A0092B-C50C-407E-A947-70E740481C1C}">
                <a14:useLocalDpi xmlns:a14="http://schemas.microsoft.com/office/drawing/2010/main" val="0"/>
              </a:ext>
            </a:extLst>
          </a:blip>
          <a:srcRect l="50000" t="24636" r="123" b="50976"/>
          <a:stretch/>
        </p:blipFill>
        <p:spPr>
          <a:xfrm>
            <a:off x="0" y="1303516"/>
            <a:ext cx="6558367" cy="3573284"/>
          </a:xfrm>
          <a:prstGeom prst="rect">
            <a:avLst/>
          </a:prstGeom>
        </p:spPr>
      </p:pic>
      <p:pic>
        <p:nvPicPr>
          <p:cNvPr id="4" name="Imagen 3">
            <a:extLst>
              <a:ext uri="{FF2B5EF4-FFF2-40B4-BE49-F238E27FC236}">
                <a16:creationId xmlns:a16="http://schemas.microsoft.com/office/drawing/2014/main" id="{3749165A-A628-DE74-D29C-C4E4FE61D53E}"/>
              </a:ext>
            </a:extLst>
          </p:cNvPr>
          <p:cNvPicPr>
            <a:picLocks noChangeAspect="1"/>
          </p:cNvPicPr>
          <p:nvPr/>
        </p:nvPicPr>
        <p:blipFill>
          <a:blip r:embed="rId3">
            <a:extLst>
              <a:ext uri="{28A0092B-C50C-407E-A947-70E740481C1C}">
                <a14:useLocalDpi xmlns:a14="http://schemas.microsoft.com/office/drawing/2010/main" val="0"/>
              </a:ext>
            </a:extLst>
          </a:blip>
          <a:srcRect t="5255"/>
          <a:stretch/>
        </p:blipFill>
        <p:spPr>
          <a:xfrm>
            <a:off x="6778990" y="3218630"/>
            <a:ext cx="4863127" cy="3316340"/>
          </a:xfrm>
          <a:prstGeom prst="rect">
            <a:avLst/>
          </a:prstGeom>
        </p:spPr>
      </p:pic>
      <p:sp>
        <p:nvSpPr>
          <p:cNvPr id="6" name="Elipse 5">
            <a:extLst>
              <a:ext uri="{FF2B5EF4-FFF2-40B4-BE49-F238E27FC236}">
                <a16:creationId xmlns:a16="http://schemas.microsoft.com/office/drawing/2014/main" id="{9E616AF8-CAC8-AC24-DF98-98BCA5BD3C79}"/>
              </a:ext>
            </a:extLst>
          </p:cNvPr>
          <p:cNvSpPr/>
          <p:nvPr/>
        </p:nvSpPr>
        <p:spPr>
          <a:xfrm>
            <a:off x="5011859" y="3117416"/>
            <a:ext cx="1656819" cy="1759384"/>
          </a:xfrm>
          <a:prstGeom prst="ellipse">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Elipse 6">
            <a:extLst>
              <a:ext uri="{FF2B5EF4-FFF2-40B4-BE49-F238E27FC236}">
                <a16:creationId xmlns:a16="http://schemas.microsoft.com/office/drawing/2014/main" id="{5FC7F0F2-1161-407D-2A69-BC776DA2A929}"/>
              </a:ext>
            </a:extLst>
          </p:cNvPr>
          <p:cNvSpPr/>
          <p:nvPr/>
        </p:nvSpPr>
        <p:spPr>
          <a:xfrm>
            <a:off x="9130561" y="3534147"/>
            <a:ext cx="405113" cy="363957"/>
          </a:xfrm>
          <a:prstGeom prst="ellipse">
            <a:avLst/>
          </a:prstGeom>
          <a:noFill/>
          <a:ln w="38100">
            <a:solidFill>
              <a:srgbClr val="7873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solidFill>
                <a:srgbClr val="7873B4"/>
              </a:solidFill>
            </a:endParaRPr>
          </a:p>
        </p:txBody>
      </p:sp>
      <p:sp>
        <p:nvSpPr>
          <p:cNvPr id="9" name="Elipse 8">
            <a:extLst>
              <a:ext uri="{FF2B5EF4-FFF2-40B4-BE49-F238E27FC236}">
                <a16:creationId xmlns:a16="http://schemas.microsoft.com/office/drawing/2014/main" id="{C43CC173-077C-F36B-09C1-B75428B5F423}"/>
              </a:ext>
            </a:extLst>
          </p:cNvPr>
          <p:cNvSpPr/>
          <p:nvPr/>
        </p:nvSpPr>
        <p:spPr>
          <a:xfrm>
            <a:off x="1635760" y="3997108"/>
            <a:ext cx="531694" cy="731520"/>
          </a:xfrm>
          <a:prstGeom prst="ellipse">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28308492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F0B495-ED0E-EF3A-6BD2-C7FA5BDD7A06}"/>
            </a:ext>
          </a:extLst>
        </p:cNvPr>
        <p:cNvGrpSpPr/>
        <p:nvPr/>
      </p:nvGrpSpPr>
      <p:grpSpPr>
        <a:xfrm>
          <a:off x="0" y="0"/>
          <a:ext cx="0" cy="0"/>
          <a:chOff x="0" y="0"/>
          <a:chExt cx="0" cy="0"/>
        </a:xfrm>
      </p:grpSpPr>
      <p:sp>
        <p:nvSpPr>
          <p:cNvPr id="3" name="Rectangle 1">
            <a:extLst>
              <a:ext uri="{FF2B5EF4-FFF2-40B4-BE49-F238E27FC236}">
                <a16:creationId xmlns:a16="http://schemas.microsoft.com/office/drawing/2014/main" id="{ED5FF754-C5C9-4FE6-E5B4-75FCC20EA732}"/>
              </a:ext>
            </a:extLst>
          </p:cNvPr>
          <p:cNvSpPr>
            <a:spLocks noChangeArrowheads="1"/>
          </p:cNvSpPr>
          <p:nvPr/>
        </p:nvSpPr>
        <p:spPr bwMode="auto">
          <a:xfrm>
            <a:off x="5288915" y="1477262"/>
            <a:ext cx="936624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s-ES" altLang="es-E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1800" b="0" i="0" u="none" strike="noStrike" cap="none" normalizeH="0" baseline="0">
              <a:ln>
                <a:noFill/>
              </a:ln>
              <a:solidFill>
                <a:schemeClr val="tx1"/>
              </a:solidFill>
              <a:effectLst/>
              <a:latin typeface="Arial" panose="020B0604020202020204" pitchFamily="34" charset="0"/>
            </a:endParaRPr>
          </a:p>
        </p:txBody>
      </p:sp>
      <p:sp>
        <p:nvSpPr>
          <p:cNvPr id="2" name="Título 1">
            <a:extLst>
              <a:ext uri="{FF2B5EF4-FFF2-40B4-BE49-F238E27FC236}">
                <a16:creationId xmlns:a16="http://schemas.microsoft.com/office/drawing/2014/main" id="{803C9F21-4171-725D-03AF-BEB30383F635}"/>
              </a:ext>
            </a:extLst>
          </p:cNvPr>
          <p:cNvSpPr>
            <a:spLocks noGrp="1"/>
          </p:cNvSpPr>
          <p:nvPr>
            <p:ph type="title"/>
          </p:nvPr>
        </p:nvSpPr>
        <p:spPr>
          <a:xfrm>
            <a:off x="0" y="0"/>
            <a:ext cx="9690902" cy="804155"/>
          </a:xfrm>
          <a:solidFill>
            <a:srgbClr val="218317"/>
          </a:solidFill>
        </p:spPr>
        <p:txBody>
          <a:bodyPr>
            <a:normAutofit/>
          </a:bodyPr>
          <a:lstStyle/>
          <a:p>
            <a:r>
              <a:rPr lang="es-ES" sz="3200" b="1" dirty="0">
                <a:solidFill>
                  <a:schemeClr val="bg1"/>
                </a:solidFill>
                <a:latin typeface="Helvetica" panose="020B0604020202020204" pitchFamily="34" charset="0"/>
                <a:cs typeface="Helvetica" panose="020B0604020202020204" pitchFamily="34" charset="0"/>
              </a:rPr>
              <a:t>	</a:t>
            </a:r>
            <a:r>
              <a:rPr lang="es-ES" sz="3200" b="1" dirty="0" err="1">
                <a:solidFill>
                  <a:schemeClr val="bg1"/>
                </a:solidFill>
                <a:latin typeface="Helvetica" panose="020B0604020202020204" pitchFamily="34" charset="0"/>
                <a:cs typeface="Helvetica" panose="020B0604020202020204" pitchFamily="34" charset="0"/>
              </a:rPr>
              <a:t>Preliminary</a:t>
            </a:r>
            <a:r>
              <a:rPr lang="es-ES" sz="3200" b="1" dirty="0">
                <a:solidFill>
                  <a:schemeClr val="bg1"/>
                </a:solidFill>
                <a:latin typeface="Helvetica" panose="020B0604020202020204" pitchFamily="34" charset="0"/>
                <a:cs typeface="Helvetica" panose="020B0604020202020204" pitchFamily="34" charset="0"/>
              </a:rPr>
              <a:t> </a:t>
            </a:r>
            <a:r>
              <a:rPr lang="es-ES" sz="3200" b="1" dirty="0" err="1">
                <a:solidFill>
                  <a:schemeClr val="bg1"/>
                </a:solidFill>
                <a:latin typeface="Helvetica" panose="020B0604020202020204" pitchFamily="34" charset="0"/>
                <a:cs typeface="Helvetica" panose="020B0604020202020204" pitchFamily="34" charset="0"/>
              </a:rPr>
              <a:t>results</a:t>
            </a:r>
            <a:endParaRPr lang="es-ES" sz="3200" b="1" dirty="0">
              <a:solidFill>
                <a:schemeClr val="bg1"/>
              </a:solidFill>
              <a:latin typeface="Helvetica" panose="020B0604020202020204" pitchFamily="34" charset="0"/>
              <a:cs typeface="Helvetica" panose="020B0604020202020204" pitchFamily="34" charset="0"/>
            </a:endParaRPr>
          </a:p>
        </p:txBody>
      </p:sp>
      <p:sp>
        <p:nvSpPr>
          <p:cNvPr id="8" name="Título 1">
            <a:extLst>
              <a:ext uri="{FF2B5EF4-FFF2-40B4-BE49-F238E27FC236}">
                <a16:creationId xmlns:a16="http://schemas.microsoft.com/office/drawing/2014/main" id="{2BDC4143-303B-7342-BFB0-950B435C6124}"/>
              </a:ext>
            </a:extLst>
          </p:cNvPr>
          <p:cNvSpPr txBox="1">
            <a:spLocks/>
          </p:cNvSpPr>
          <p:nvPr/>
        </p:nvSpPr>
        <p:spPr>
          <a:xfrm>
            <a:off x="9690902" y="-1"/>
            <a:ext cx="2501098" cy="804157"/>
          </a:xfrm>
          <a:prstGeom prst="rect">
            <a:avLst/>
          </a:prstGeom>
          <a:solidFill>
            <a:srgbClr val="218317"/>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s-ES" sz="2800" b="1" dirty="0">
                <a:solidFill>
                  <a:schemeClr val="accent6">
                    <a:lumMod val="60000"/>
                    <a:lumOff val="40000"/>
                  </a:schemeClr>
                </a:solidFill>
                <a:latin typeface="Helvetica" panose="020B0604020202020204" pitchFamily="34" charset="0"/>
                <a:cs typeface="Helvetica" panose="020B0604020202020204" pitchFamily="34" charset="0"/>
              </a:rPr>
              <a:t>Figures	</a:t>
            </a:r>
            <a:endParaRPr lang="es-ES" sz="2800" b="1" dirty="0">
              <a:solidFill>
                <a:srgbClr val="218317"/>
              </a:solidFill>
              <a:latin typeface="Helvetica" panose="020B0604020202020204" pitchFamily="34" charset="0"/>
              <a:cs typeface="Helvetica" panose="020B0604020202020204" pitchFamily="34" charset="0"/>
            </a:endParaRPr>
          </a:p>
        </p:txBody>
      </p:sp>
      <p:pic>
        <p:nvPicPr>
          <p:cNvPr id="11" name="Imagen 10">
            <a:extLst>
              <a:ext uri="{FF2B5EF4-FFF2-40B4-BE49-F238E27FC236}">
                <a16:creationId xmlns:a16="http://schemas.microsoft.com/office/drawing/2014/main" id="{8F2D53FB-ABEB-F417-8636-74794F93782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804155"/>
            <a:ext cx="6810696" cy="6053845"/>
          </a:xfrm>
          <a:prstGeom prst="rect">
            <a:avLst/>
          </a:prstGeom>
        </p:spPr>
      </p:pic>
      <p:sp>
        <p:nvSpPr>
          <p:cNvPr id="13" name="CuadroTexto 10">
            <a:extLst>
              <a:ext uri="{FF2B5EF4-FFF2-40B4-BE49-F238E27FC236}">
                <a16:creationId xmlns:a16="http://schemas.microsoft.com/office/drawing/2014/main" id="{BFB288F5-1B92-5E80-314A-2213F6F76BCB}"/>
              </a:ext>
            </a:extLst>
          </p:cNvPr>
          <p:cNvSpPr txBox="1"/>
          <p:nvPr/>
        </p:nvSpPr>
        <p:spPr>
          <a:xfrm>
            <a:off x="6181951" y="1476587"/>
            <a:ext cx="5917660" cy="1200329"/>
          </a:xfrm>
          <a:prstGeom prst="rect">
            <a:avLst/>
          </a:prstGeom>
          <a:noFill/>
        </p:spPr>
        <p:txBody>
          <a:bodyPr wrap="square" rtlCol="0">
            <a:spAutoFit/>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1"/>
            <a:r>
              <a:rPr lang="es-ES" sz="2400" dirty="0" err="1">
                <a:latin typeface="Helvetica" panose="020B0604020202020204" pitchFamily="34" charset="0"/>
                <a:cs typeface="Helvetica" panose="020B0604020202020204" pitchFamily="34" charset="0"/>
              </a:rPr>
              <a:t>Boxplots</a:t>
            </a:r>
            <a:r>
              <a:rPr lang="es-ES" sz="2400" dirty="0">
                <a:latin typeface="Helvetica" panose="020B0604020202020204" pitchFamily="34" charset="0"/>
                <a:cs typeface="Helvetica" panose="020B0604020202020204" pitchFamily="34" charset="0"/>
              </a:rPr>
              <a:t> </a:t>
            </a:r>
            <a:r>
              <a:rPr lang="es-ES" sz="2400" dirty="0" err="1">
                <a:latin typeface="Helvetica" panose="020B0604020202020204" pitchFamily="34" charset="0"/>
                <a:cs typeface="Helvetica" panose="020B0604020202020204" pitchFamily="34" charset="0"/>
              </a:rPr>
              <a:t>resulting</a:t>
            </a:r>
            <a:r>
              <a:rPr lang="es-ES" sz="2400" dirty="0">
                <a:latin typeface="Helvetica" panose="020B0604020202020204" pitchFamily="34" charset="0"/>
                <a:cs typeface="Helvetica" panose="020B0604020202020204" pitchFamily="34" charset="0"/>
              </a:rPr>
              <a:t> </a:t>
            </a:r>
            <a:r>
              <a:rPr lang="es-ES" sz="2400" dirty="0" err="1">
                <a:latin typeface="Helvetica" panose="020B0604020202020204" pitchFamily="34" charset="0"/>
                <a:cs typeface="Helvetica" panose="020B0604020202020204" pitchFamily="34" charset="0"/>
              </a:rPr>
              <a:t>from</a:t>
            </a:r>
            <a:r>
              <a:rPr lang="es-ES" sz="2400" dirty="0">
                <a:latin typeface="Helvetica" panose="020B0604020202020204" pitchFamily="34" charset="0"/>
                <a:cs typeface="Helvetica" panose="020B0604020202020204" pitchFamily="34" charset="0"/>
              </a:rPr>
              <a:t> </a:t>
            </a:r>
            <a:r>
              <a:rPr lang="es-ES" sz="2400" b="1" dirty="0" err="1">
                <a:latin typeface="Helvetica" panose="020B0604020202020204" pitchFamily="34" charset="0"/>
                <a:cs typeface="Helvetica" panose="020B0604020202020204" pitchFamily="34" charset="0"/>
              </a:rPr>
              <a:t>binning</a:t>
            </a:r>
            <a:r>
              <a:rPr lang="es-ES" sz="2400" dirty="0">
                <a:latin typeface="Helvetica" panose="020B0604020202020204" pitchFamily="34" charset="0"/>
                <a:cs typeface="Helvetica" panose="020B0604020202020204" pitchFamily="34" charset="0"/>
              </a:rPr>
              <a:t> </a:t>
            </a:r>
            <a:r>
              <a:rPr lang="es-ES" sz="2400" dirty="0" err="1">
                <a:latin typeface="Helvetica" panose="020B0604020202020204" pitchFamily="34" charset="0"/>
                <a:cs typeface="Helvetica" panose="020B0604020202020204" pitchFamily="34" charset="0"/>
              </a:rPr>
              <a:t>the</a:t>
            </a:r>
            <a:r>
              <a:rPr lang="es-ES" sz="2400" dirty="0">
                <a:latin typeface="Helvetica" panose="020B0604020202020204" pitchFamily="34" charset="0"/>
                <a:cs typeface="Helvetica" panose="020B0604020202020204" pitchFamily="34" charset="0"/>
              </a:rPr>
              <a:t> </a:t>
            </a:r>
            <a:r>
              <a:rPr lang="es-ES" sz="2400" dirty="0" err="1">
                <a:latin typeface="Helvetica" panose="020B0604020202020204" pitchFamily="34" charset="0"/>
                <a:cs typeface="Helvetica" panose="020B0604020202020204" pitchFamily="34" charset="0"/>
              </a:rPr>
              <a:t>scatterplots</a:t>
            </a:r>
            <a:r>
              <a:rPr lang="es-ES" sz="2400" dirty="0">
                <a:latin typeface="Helvetica" panose="020B0604020202020204" pitchFamily="34" charset="0"/>
                <a:cs typeface="Helvetica" panose="020B0604020202020204" pitchFamily="34" charset="0"/>
              </a:rPr>
              <a:t> </a:t>
            </a:r>
            <a:r>
              <a:rPr lang="es-ES" sz="2400" dirty="0" err="1">
                <a:latin typeface="Helvetica" panose="020B0604020202020204" pitchFamily="34" charset="0"/>
                <a:cs typeface="Helvetica" panose="020B0604020202020204" pitchFamily="34" charset="0"/>
              </a:rPr>
              <a:t>representing</a:t>
            </a:r>
            <a:r>
              <a:rPr lang="es-ES" sz="2400" dirty="0">
                <a:latin typeface="Helvetica" panose="020B0604020202020204" pitchFamily="34" charset="0"/>
                <a:cs typeface="Helvetica" panose="020B0604020202020204" pitchFamily="34" charset="0"/>
              </a:rPr>
              <a:t> </a:t>
            </a:r>
            <a:r>
              <a:rPr lang="es-ES" sz="2400" dirty="0" err="1">
                <a:latin typeface="Helvetica" panose="020B0604020202020204" pitchFamily="34" charset="0"/>
                <a:cs typeface="Helvetica" panose="020B0604020202020204" pitchFamily="34" charset="0"/>
              </a:rPr>
              <a:t>tree</a:t>
            </a:r>
            <a:r>
              <a:rPr lang="es-ES" sz="2400" dirty="0">
                <a:latin typeface="Helvetica" panose="020B0604020202020204" pitchFamily="34" charset="0"/>
                <a:cs typeface="Helvetica" panose="020B0604020202020204" pitchFamily="34" charset="0"/>
              </a:rPr>
              <a:t> </a:t>
            </a:r>
            <a:r>
              <a:rPr lang="es-ES" sz="2400" dirty="0" err="1">
                <a:latin typeface="Helvetica" panose="020B0604020202020204" pitchFamily="34" charset="0"/>
                <a:cs typeface="Helvetica" panose="020B0604020202020204" pitchFamily="34" charset="0"/>
              </a:rPr>
              <a:t>defoliation</a:t>
            </a:r>
            <a:r>
              <a:rPr lang="es-ES" sz="2400" dirty="0">
                <a:latin typeface="Helvetica" panose="020B0604020202020204" pitchFamily="34" charset="0"/>
                <a:cs typeface="Helvetica" panose="020B0604020202020204" pitchFamily="34" charset="0"/>
              </a:rPr>
              <a:t> ~ </a:t>
            </a:r>
            <a:r>
              <a:rPr lang="es-ES" sz="2400" b="1" dirty="0" err="1">
                <a:latin typeface="Helvetica" panose="020B0604020202020204" pitchFamily="34" charset="0"/>
                <a:cs typeface="Helvetica" panose="020B0604020202020204" pitchFamily="34" charset="0"/>
              </a:rPr>
              <a:t>leaf</a:t>
            </a:r>
            <a:r>
              <a:rPr lang="es-ES" sz="2400" b="1" dirty="0">
                <a:latin typeface="Helvetica" panose="020B0604020202020204" pitchFamily="34" charset="0"/>
                <a:cs typeface="Helvetica" panose="020B0604020202020204" pitchFamily="34" charset="0"/>
              </a:rPr>
              <a:t>/</a:t>
            </a:r>
            <a:r>
              <a:rPr lang="es-ES" sz="2400" b="1" dirty="0" err="1">
                <a:latin typeface="Helvetica" panose="020B0604020202020204" pitchFamily="34" charset="0"/>
                <a:cs typeface="Helvetica" panose="020B0604020202020204" pitchFamily="34" charset="0"/>
              </a:rPr>
              <a:t>morphological</a:t>
            </a:r>
            <a:r>
              <a:rPr lang="es-ES" sz="2400" b="1" dirty="0">
                <a:latin typeface="Helvetica" panose="020B0604020202020204" pitchFamily="34" charset="0"/>
                <a:cs typeface="Helvetica" panose="020B0604020202020204" pitchFamily="34" charset="0"/>
              </a:rPr>
              <a:t> </a:t>
            </a:r>
            <a:r>
              <a:rPr lang="es-ES" sz="2400" b="1" dirty="0" err="1">
                <a:latin typeface="Helvetica" panose="020B0604020202020204" pitchFamily="34" charset="0"/>
                <a:cs typeface="Helvetica" panose="020B0604020202020204" pitchFamily="34" charset="0"/>
              </a:rPr>
              <a:t>traits</a:t>
            </a:r>
            <a:r>
              <a:rPr lang="es-ES" sz="2400" b="1" dirty="0">
                <a:latin typeface="Helvetica" panose="020B0604020202020204" pitchFamily="34" charset="0"/>
                <a:cs typeface="Helvetica" panose="020B0604020202020204" pitchFamily="34" charset="0"/>
              </a:rPr>
              <a:t>  </a:t>
            </a:r>
          </a:p>
        </p:txBody>
      </p:sp>
      <p:sp>
        <p:nvSpPr>
          <p:cNvPr id="14" name="CuadroTexto 10">
            <a:extLst>
              <a:ext uri="{FF2B5EF4-FFF2-40B4-BE49-F238E27FC236}">
                <a16:creationId xmlns:a16="http://schemas.microsoft.com/office/drawing/2014/main" id="{FFB64ED1-1211-5C91-75C9-AAC316189016}"/>
              </a:ext>
            </a:extLst>
          </p:cNvPr>
          <p:cNvSpPr txBox="1"/>
          <p:nvPr/>
        </p:nvSpPr>
        <p:spPr>
          <a:xfrm>
            <a:off x="6181951" y="4181085"/>
            <a:ext cx="5917660" cy="830997"/>
          </a:xfrm>
          <a:prstGeom prst="rect">
            <a:avLst/>
          </a:prstGeom>
          <a:noFill/>
        </p:spPr>
        <p:txBody>
          <a:bodyPr wrap="square" rtlCol="0">
            <a:spAutoFit/>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1"/>
            <a:r>
              <a:rPr lang="es-ES" sz="2400" dirty="0">
                <a:solidFill>
                  <a:srgbClr val="FF0000"/>
                </a:solidFill>
                <a:latin typeface="Helvetica" panose="020B0604020202020204" pitchFamily="34" charset="0"/>
                <a:cs typeface="Helvetica" panose="020B0604020202020204" pitchFamily="34" charset="0"/>
              </a:rPr>
              <a:t>Do </a:t>
            </a:r>
            <a:r>
              <a:rPr lang="es-ES" sz="2400" dirty="0" err="1">
                <a:solidFill>
                  <a:srgbClr val="FF0000"/>
                </a:solidFill>
                <a:latin typeface="Helvetica" panose="020B0604020202020204" pitchFamily="34" charset="0"/>
                <a:cs typeface="Helvetica" panose="020B0604020202020204" pitchFamily="34" charset="0"/>
              </a:rPr>
              <a:t>you</a:t>
            </a:r>
            <a:r>
              <a:rPr lang="es-ES" sz="2400" dirty="0">
                <a:solidFill>
                  <a:srgbClr val="FF0000"/>
                </a:solidFill>
                <a:latin typeface="Helvetica" panose="020B0604020202020204" pitchFamily="34" charset="0"/>
                <a:cs typeface="Helvetica" panose="020B0604020202020204" pitchFamily="34" charset="0"/>
              </a:rPr>
              <a:t> </a:t>
            </a:r>
            <a:r>
              <a:rPr lang="es-ES" sz="2400" dirty="0" err="1">
                <a:solidFill>
                  <a:srgbClr val="FF0000"/>
                </a:solidFill>
                <a:latin typeface="Helvetica" panose="020B0604020202020204" pitchFamily="34" charset="0"/>
                <a:cs typeface="Helvetica" panose="020B0604020202020204" pitchFamily="34" charset="0"/>
              </a:rPr>
              <a:t>think</a:t>
            </a:r>
            <a:r>
              <a:rPr lang="es-ES" sz="2400" dirty="0">
                <a:solidFill>
                  <a:srgbClr val="FF0000"/>
                </a:solidFill>
                <a:latin typeface="Helvetica" panose="020B0604020202020204" pitchFamily="34" charset="0"/>
                <a:cs typeface="Helvetica" panose="020B0604020202020204" pitchFamily="34" charset="0"/>
              </a:rPr>
              <a:t> </a:t>
            </a:r>
            <a:r>
              <a:rPr lang="es-ES" sz="2400" dirty="0" err="1">
                <a:solidFill>
                  <a:srgbClr val="FF0000"/>
                </a:solidFill>
                <a:latin typeface="Helvetica" panose="020B0604020202020204" pitchFamily="34" charset="0"/>
                <a:cs typeface="Helvetica" panose="020B0604020202020204" pitchFamily="34" charset="0"/>
              </a:rPr>
              <a:t>it’d</a:t>
            </a:r>
            <a:r>
              <a:rPr lang="es-ES" sz="2400" dirty="0">
                <a:solidFill>
                  <a:srgbClr val="FF0000"/>
                </a:solidFill>
                <a:latin typeface="Helvetica" panose="020B0604020202020204" pitchFamily="34" charset="0"/>
                <a:cs typeface="Helvetica" panose="020B0604020202020204" pitchFamily="34" charset="0"/>
              </a:rPr>
              <a:t> be </a:t>
            </a:r>
            <a:r>
              <a:rPr lang="es-ES" sz="2400" dirty="0" err="1">
                <a:solidFill>
                  <a:srgbClr val="FF0000"/>
                </a:solidFill>
                <a:latin typeface="Helvetica" panose="020B0604020202020204" pitchFamily="34" charset="0"/>
                <a:cs typeface="Helvetica" panose="020B0604020202020204" pitchFamily="34" charset="0"/>
              </a:rPr>
              <a:t>better</a:t>
            </a:r>
            <a:r>
              <a:rPr lang="es-ES" sz="2400" dirty="0">
                <a:solidFill>
                  <a:srgbClr val="FF0000"/>
                </a:solidFill>
                <a:latin typeface="Helvetica" panose="020B0604020202020204" pitchFamily="34" charset="0"/>
                <a:cs typeface="Helvetica" panose="020B0604020202020204" pitchFamily="34" charset="0"/>
              </a:rPr>
              <a:t> </a:t>
            </a:r>
            <a:r>
              <a:rPr lang="es-ES" sz="2400" dirty="0" err="1">
                <a:solidFill>
                  <a:srgbClr val="FF0000"/>
                </a:solidFill>
                <a:latin typeface="Helvetica" panose="020B0604020202020204" pitchFamily="34" charset="0"/>
                <a:cs typeface="Helvetica" panose="020B0604020202020204" pitchFamily="34" charset="0"/>
              </a:rPr>
              <a:t>to</a:t>
            </a:r>
            <a:r>
              <a:rPr lang="es-ES" sz="2400" dirty="0">
                <a:solidFill>
                  <a:srgbClr val="FF0000"/>
                </a:solidFill>
                <a:latin typeface="Helvetica" panose="020B0604020202020204" pitchFamily="34" charset="0"/>
                <a:cs typeface="Helvetica" panose="020B0604020202020204" pitchFamily="34" charset="0"/>
              </a:rPr>
              <a:t> </a:t>
            </a:r>
            <a:r>
              <a:rPr lang="es-ES" sz="2400" dirty="0" err="1">
                <a:solidFill>
                  <a:srgbClr val="FF0000"/>
                </a:solidFill>
                <a:latin typeface="Helvetica" panose="020B0604020202020204" pitchFamily="34" charset="0"/>
                <a:cs typeface="Helvetica" panose="020B0604020202020204" pitchFamily="34" charset="0"/>
              </a:rPr>
              <a:t>invert</a:t>
            </a:r>
            <a:r>
              <a:rPr lang="es-ES" sz="2400" dirty="0">
                <a:solidFill>
                  <a:srgbClr val="FF0000"/>
                </a:solidFill>
                <a:latin typeface="Helvetica" panose="020B0604020202020204" pitchFamily="34" charset="0"/>
                <a:cs typeface="Helvetica" panose="020B0604020202020204" pitchFamily="34" charset="0"/>
              </a:rPr>
              <a:t> </a:t>
            </a:r>
            <a:r>
              <a:rPr lang="es-ES" sz="2400" dirty="0" err="1">
                <a:solidFill>
                  <a:srgbClr val="FF0000"/>
                </a:solidFill>
                <a:latin typeface="Helvetica" panose="020B0604020202020204" pitchFamily="34" charset="0"/>
                <a:cs typeface="Helvetica" panose="020B0604020202020204" pitchFamily="34" charset="0"/>
              </a:rPr>
              <a:t>the</a:t>
            </a:r>
            <a:r>
              <a:rPr lang="es-ES" sz="2400" dirty="0">
                <a:solidFill>
                  <a:srgbClr val="FF0000"/>
                </a:solidFill>
                <a:latin typeface="Helvetica" panose="020B0604020202020204" pitchFamily="34" charset="0"/>
                <a:cs typeface="Helvetica" panose="020B0604020202020204" pitchFamily="34" charset="0"/>
              </a:rPr>
              <a:t> axis, </a:t>
            </a:r>
            <a:r>
              <a:rPr lang="es-ES" sz="2400" dirty="0" err="1">
                <a:solidFill>
                  <a:srgbClr val="FF0000"/>
                </a:solidFill>
                <a:latin typeface="Helvetica" panose="020B0604020202020204" pitchFamily="34" charset="0"/>
                <a:cs typeface="Helvetica" panose="020B0604020202020204" pitchFamily="34" charset="0"/>
              </a:rPr>
              <a:t>binning</a:t>
            </a:r>
            <a:r>
              <a:rPr lang="es-ES" sz="2400" dirty="0">
                <a:solidFill>
                  <a:srgbClr val="FF0000"/>
                </a:solidFill>
                <a:latin typeface="Helvetica" panose="020B0604020202020204" pitchFamily="34" charset="0"/>
                <a:cs typeface="Helvetica" panose="020B0604020202020204" pitchFamily="34" charset="0"/>
              </a:rPr>
              <a:t> </a:t>
            </a:r>
            <a:r>
              <a:rPr lang="es-ES" sz="2400" dirty="0" err="1">
                <a:solidFill>
                  <a:srgbClr val="FF0000"/>
                </a:solidFill>
                <a:latin typeface="Helvetica" panose="020B0604020202020204" pitchFamily="34" charset="0"/>
                <a:cs typeface="Helvetica" panose="020B0604020202020204" pitchFamily="34" charset="0"/>
              </a:rPr>
              <a:t>the</a:t>
            </a:r>
            <a:r>
              <a:rPr lang="es-ES" sz="2400" dirty="0">
                <a:solidFill>
                  <a:srgbClr val="FF0000"/>
                </a:solidFill>
                <a:latin typeface="Helvetica" panose="020B0604020202020204" pitchFamily="34" charset="0"/>
                <a:cs typeface="Helvetica" panose="020B0604020202020204" pitchFamily="34" charset="0"/>
              </a:rPr>
              <a:t> </a:t>
            </a:r>
            <a:r>
              <a:rPr lang="es-ES" sz="2400" dirty="0" err="1">
                <a:solidFill>
                  <a:srgbClr val="FF0000"/>
                </a:solidFill>
                <a:latin typeface="Helvetica" panose="020B0604020202020204" pitchFamily="34" charset="0"/>
                <a:cs typeface="Helvetica" panose="020B0604020202020204" pitchFamily="34" charset="0"/>
              </a:rPr>
              <a:t>defoliation</a:t>
            </a:r>
            <a:r>
              <a:rPr lang="es-ES" sz="2400" dirty="0">
                <a:solidFill>
                  <a:srgbClr val="FF0000"/>
                </a:solidFill>
                <a:latin typeface="Helvetica" panose="020B0604020202020204" pitchFamily="34" charset="0"/>
                <a:cs typeface="Helvetica" panose="020B0604020202020204" pitchFamily="34" charset="0"/>
              </a:rPr>
              <a:t> </a:t>
            </a:r>
            <a:r>
              <a:rPr lang="es-ES" sz="2400" dirty="0" err="1">
                <a:solidFill>
                  <a:srgbClr val="FF0000"/>
                </a:solidFill>
                <a:latin typeface="Helvetica" panose="020B0604020202020204" pitchFamily="34" charset="0"/>
                <a:cs typeface="Helvetica" panose="020B0604020202020204" pitchFamily="34" charset="0"/>
              </a:rPr>
              <a:t>instead</a:t>
            </a:r>
            <a:r>
              <a:rPr lang="es-ES" sz="2400" dirty="0">
                <a:solidFill>
                  <a:srgbClr val="FF0000"/>
                </a:solidFill>
                <a:latin typeface="Helvetica" panose="020B0604020202020204" pitchFamily="34" charset="0"/>
                <a:cs typeface="Helvetica" panose="020B0604020202020204" pitchFamily="34" charset="0"/>
              </a:rPr>
              <a:t>?</a:t>
            </a:r>
          </a:p>
        </p:txBody>
      </p:sp>
    </p:spTree>
    <p:extLst>
      <p:ext uri="{BB962C8B-B14F-4D97-AF65-F5344CB8AC3E}">
        <p14:creationId xmlns:p14="http://schemas.microsoft.com/office/powerpoint/2010/main" val="2055655554"/>
      </p:ext>
    </p:extLst>
  </p:cSld>
  <p:clrMapOvr>
    <a:masterClrMapping/>
  </p:clrMapOvr>
  <p:extLst>
    <p:ext uri="{6950BFC3-D8DA-4A85-94F7-54DA5524770B}">
      <p188:commentRel xmlns:p188="http://schemas.microsoft.com/office/powerpoint/2018/8/main" r:id="rId3"/>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48E7D-5612-D95C-DF42-5C78C6405918}"/>
            </a:ext>
          </a:extLst>
        </p:cNvPr>
        <p:cNvGrpSpPr/>
        <p:nvPr/>
      </p:nvGrpSpPr>
      <p:grpSpPr>
        <a:xfrm>
          <a:off x="0" y="0"/>
          <a:ext cx="0" cy="0"/>
          <a:chOff x="0" y="0"/>
          <a:chExt cx="0" cy="0"/>
        </a:xfrm>
      </p:grpSpPr>
      <p:sp>
        <p:nvSpPr>
          <p:cNvPr id="3" name="Rectangle 1">
            <a:extLst>
              <a:ext uri="{FF2B5EF4-FFF2-40B4-BE49-F238E27FC236}">
                <a16:creationId xmlns:a16="http://schemas.microsoft.com/office/drawing/2014/main" id="{EC6333AE-E806-EA57-25B1-9A8C1E82DB03}"/>
              </a:ext>
            </a:extLst>
          </p:cNvPr>
          <p:cNvSpPr>
            <a:spLocks noChangeArrowheads="1"/>
          </p:cNvSpPr>
          <p:nvPr/>
        </p:nvSpPr>
        <p:spPr bwMode="auto">
          <a:xfrm>
            <a:off x="5288915" y="1477262"/>
            <a:ext cx="936624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s-ES" altLang="es-E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1800" b="0" i="0" u="none" strike="noStrike" cap="none" normalizeH="0" baseline="0">
              <a:ln>
                <a:noFill/>
              </a:ln>
              <a:solidFill>
                <a:schemeClr val="tx1"/>
              </a:solidFill>
              <a:effectLst/>
              <a:latin typeface="Arial" panose="020B0604020202020204" pitchFamily="34" charset="0"/>
            </a:endParaRPr>
          </a:p>
        </p:txBody>
      </p:sp>
      <p:sp>
        <p:nvSpPr>
          <p:cNvPr id="2" name="Título 1">
            <a:extLst>
              <a:ext uri="{FF2B5EF4-FFF2-40B4-BE49-F238E27FC236}">
                <a16:creationId xmlns:a16="http://schemas.microsoft.com/office/drawing/2014/main" id="{F8F015EF-EE04-BD1E-1D3B-B3F1ED80697A}"/>
              </a:ext>
            </a:extLst>
          </p:cNvPr>
          <p:cNvSpPr>
            <a:spLocks noGrp="1"/>
          </p:cNvSpPr>
          <p:nvPr>
            <p:ph type="title"/>
          </p:nvPr>
        </p:nvSpPr>
        <p:spPr>
          <a:xfrm>
            <a:off x="0" y="0"/>
            <a:ext cx="9690902" cy="804155"/>
          </a:xfrm>
          <a:solidFill>
            <a:srgbClr val="218317"/>
          </a:solidFill>
        </p:spPr>
        <p:txBody>
          <a:bodyPr>
            <a:normAutofit/>
          </a:bodyPr>
          <a:lstStyle/>
          <a:p>
            <a:r>
              <a:rPr lang="es-ES" sz="3200" b="1" dirty="0">
                <a:solidFill>
                  <a:schemeClr val="bg1"/>
                </a:solidFill>
                <a:latin typeface="Helvetica" panose="020B0604020202020204" pitchFamily="34" charset="0"/>
                <a:cs typeface="Helvetica" panose="020B0604020202020204" pitchFamily="34" charset="0"/>
              </a:rPr>
              <a:t>	</a:t>
            </a:r>
            <a:r>
              <a:rPr lang="es-ES" sz="3200" b="1" dirty="0" err="1">
                <a:solidFill>
                  <a:schemeClr val="bg1"/>
                </a:solidFill>
                <a:latin typeface="Helvetica" panose="020B0604020202020204" pitchFamily="34" charset="0"/>
                <a:cs typeface="Helvetica" panose="020B0604020202020204" pitchFamily="34" charset="0"/>
              </a:rPr>
              <a:t>Preliminary</a:t>
            </a:r>
            <a:r>
              <a:rPr lang="es-ES" sz="3200" b="1" dirty="0">
                <a:solidFill>
                  <a:schemeClr val="bg1"/>
                </a:solidFill>
                <a:latin typeface="Helvetica" panose="020B0604020202020204" pitchFamily="34" charset="0"/>
                <a:cs typeface="Helvetica" panose="020B0604020202020204" pitchFamily="34" charset="0"/>
              </a:rPr>
              <a:t> </a:t>
            </a:r>
            <a:r>
              <a:rPr lang="es-ES" sz="3200" b="1" dirty="0" err="1">
                <a:solidFill>
                  <a:schemeClr val="bg1"/>
                </a:solidFill>
                <a:latin typeface="Helvetica" panose="020B0604020202020204" pitchFamily="34" charset="0"/>
                <a:cs typeface="Helvetica" panose="020B0604020202020204" pitchFamily="34" charset="0"/>
              </a:rPr>
              <a:t>results</a:t>
            </a:r>
            <a:endParaRPr lang="es-ES" sz="3200" b="1" dirty="0">
              <a:solidFill>
                <a:schemeClr val="bg1"/>
              </a:solidFill>
              <a:latin typeface="Helvetica" panose="020B0604020202020204" pitchFamily="34" charset="0"/>
              <a:cs typeface="Helvetica" panose="020B0604020202020204" pitchFamily="34" charset="0"/>
            </a:endParaRPr>
          </a:p>
        </p:txBody>
      </p:sp>
      <p:sp>
        <p:nvSpPr>
          <p:cNvPr id="8" name="Título 1">
            <a:extLst>
              <a:ext uri="{FF2B5EF4-FFF2-40B4-BE49-F238E27FC236}">
                <a16:creationId xmlns:a16="http://schemas.microsoft.com/office/drawing/2014/main" id="{CCF56776-219A-C196-72A0-782D88403A6E}"/>
              </a:ext>
            </a:extLst>
          </p:cNvPr>
          <p:cNvSpPr txBox="1">
            <a:spLocks/>
          </p:cNvSpPr>
          <p:nvPr/>
        </p:nvSpPr>
        <p:spPr>
          <a:xfrm>
            <a:off x="9690902" y="-1"/>
            <a:ext cx="2501098" cy="804157"/>
          </a:xfrm>
          <a:prstGeom prst="rect">
            <a:avLst/>
          </a:prstGeom>
          <a:solidFill>
            <a:srgbClr val="218317"/>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s-ES" sz="2800" b="1" dirty="0">
                <a:solidFill>
                  <a:schemeClr val="accent6">
                    <a:lumMod val="60000"/>
                    <a:lumOff val="40000"/>
                  </a:schemeClr>
                </a:solidFill>
                <a:latin typeface="Helvetica" panose="020B0604020202020204" pitchFamily="34" charset="0"/>
                <a:cs typeface="Helvetica" panose="020B0604020202020204" pitchFamily="34" charset="0"/>
              </a:rPr>
              <a:t>Figures	</a:t>
            </a:r>
            <a:endParaRPr lang="es-ES" sz="2800" b="1" dirty="0">
              <a:solidFill>
                <a:srgbClr val="218317"/>
              </a:solidFill>
              <a:latin typeface="Helvetica" panose="020B0604020202020204" pitchFamily="34" charset="0"/>
              <a:cs typeface="Helvetica" panose="020B0604020202020204" pitchFamily="34" charset="0"/>
            </a:endParaRPr>
          </a:p>
        </p:txBody>
      </p:sp>
      <p:pic>
        <p:nvPicPr>
          <p:cNvPr id="11" name="Imagen 10">
            <a:extLst>
              <a:ext uri="{FF2B5EF4-FFF2-40B4-BE49-F238E27FC236}">
                <a16:creationId xmlns:a16="http://schemas.microsoft.com/office/drawing/2014/main" id="{50477EFA-3A5A-BC80-7966-50DD4415A147}"/>
              </a:ext>
            </a:extLst>
          </p:cNvPr>
          <p:cNvPicPr>
            <a:picLocks noChangeAspect="1"/>
          </p:cNvPicPr>
          <p:nvPr/>
        </p:nvPicPr>
        <p:blipFill>
          <a:blip r:embed="rId4">
            <a:extLst>
              <a:ext uri="{28A0092B-C50C-407E-A947-70E740481C1C}">
                <a14:useLocalDpi xmlns:a14="http://schemas.microsoft.com/office/drawing/2010/main" val="0"/>
              </a:ext>
            </a:extLst>
          </a:blip>
          <a:srcRect r="76290" b="75522"/>
          <a:stretch/>
        </p:blipFill>
        <p:spPr>
          <a:xfrm>
            <a:off x="350196" y="823142"/>
            <a:ext cx="3346315" cy="3070812"/>
          </a:xfrm>
          <a:prstGeom prst="rect">
            <a:avLst/>
          </a:prstGeom>
        </p:spPr>
      </p:pic>
      <p:sp>
        <p:nvSpPr>
          <p:cNvPr id="13" name="CuadroTexto 10">
            <a:extLst>
              <a:ext uri="{FF2B5EF4-FFF2-40B4-BE49-F238E27FC236}">
                <a16:creationId xmlns:a16="http://schemas.microsoft.com/office/drawing/2014/main" id="{BBCC3E21-FF99-FC9B-5A90-421ED5E5E13E}"/>
              </a:ext>
            </a:extLst>
          </p:cNvPr>
          <p:cNvSpPr txBox="1"/>
          <p:nvPr/>
        </p:nvSpPr>
        <p:spPr>
          <a:xfrm>
            <a:off x="350196" y="3996418"/>
            <a:ext cx="3346315" cy="2554545"/>
          </a:xfrm>
          <a:prstGeom prst="rect">
            <a:avLst/>
          </a:prstGeom>
          <a:noFill/>
        </p:spPr>
        <p:txBody>
          <a:bodyPr wrap="square" rtlCol="0">
            <a:spAutoFit/>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1" algn="ctr"/>
            <a:r>
              <a:rPr lang="es-ES" sz="2000" dirty="0" err="1">
                <a:latin typeface="Helvetica" panose="020B0604020202020204" pitchFamily="34" charset="0"/>
                <a:cs typeface="Helvetica" panose="020B0604020202020204" pitchFamily="34" charset="0"/>
              </a:rPr>
              <a:t>Differences</a:t>
            </a:r>
            <a:r>
              <a:rPr lang="es-ES" sz="2000" dirty="0">
                <a:latin typeface="Helvetica" panose="020B0604020202020204" pitchFamily="34" charset="0"/>
                <a:cs typeface="Helvetica" panose="020B0604020202020204" pitchFamily="34" charset="0"/>
              </a:rPr>
              <a:t> in </a:t>
            </a:r>
            <a:r>
              <a:rPr lang="es-ES" sz="2000" dirty="0" err="1">
                <a:latin typeface="Helvetica" panose="020B0604020202020204" pitchFamily="34" charset="0"/>
                <a:cs typeface="Helvetica" panose="020B0604020202020204" pitchFamily="34" charset="0"/>
              </a:rPr>
              <a:t>defoliation</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between</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healthy</a:t>
            </a:r>
            <a:r>
              <a:rPr lang="es-ES" sz="2000" dirty="0">
                <a:latin typeface="Helvetica" panose="020B0604020202020204" pitchFamily="34" charset="0"/>
                <a:cs typeface="Helvetica" panose="020B0604020202020204" pitchFamily="34" charset="0"/>
              </a:rPr>
              <a:t> vs. </a:t>
            </a:r>
            <a:r>
              <a:rPr lang="es-ES" sz="2000" dirty="0" err="1">
                <a:latin typeface="Helvetica" panose="020B0604020202020204" pitchFamily="34" charset="0"/>
                <a:cs typeface="Helvetica" panose="020B0604020202020204" pitchFamily="34" charset="0"/>
              </a:rPr>
              <a:t>damaged</a:t>
            </a:r>
            <a:r>
              <a:rPr lang="es-ES" sz="2000" dirty="0">
                <a:latin typeface="Helvetica" panose="020B0604020202020204" pitchFamily="34" charset="0"/>
                <a:cs typeface="Helvetica" panose="020B0604020202020204" pitchFamily="34" charset="0"/>
              </a:rPr>
              <a:t> sites are </a:t>
            </a:r>
            <a:r>
              <a:rPr lang="es-ES" sz="2000" dirty="0" err="1">
                <a:latin typeface="Helvetica" panose="020B0604020202020204" pitchFamily="34" charset="0"/>
                <a:cs typeface="Helvetica" panose="020B0604020202020204" pitchFamily="34" charset="0"/>
              </a:rPr>
              <a:t>less</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evident</a:t>
            </a:r>
            <a:r>
              <a:rPr lang="es-ES" sz="2000" dirty="0">
                <a:latin typeface="Helvetica" panose="020B0604020202020204" pitchFamily="34" charset="0"/>
                <a:cs typeface="Helvetica" panose="020B0604020202020204" pitchFamily="34" charset="0"/>
              </a:rPr>
              <a:t> in </a:t>
            </a:r>
            <a:r>
              <a:rPr lang="es-ES" sz="2000" dirty="0" err="1">
                <a:latin typeface="Helvetica" panose="020B0604020202020204" pitchFamily="34" charset="0"/>
                <a:cs typeface="Helvetica" panose="020B0604020202020204" pitchFamily="34" charset="0"/>
              </a:rPr>
              <a:t>larger</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trees</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perhaps</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because</a:t>
            </a:r>
            <a:r>
              <a:rPr lang="es-ES" sz="2000" dirty="0">
                <a:latin typeface="Helvetica" panose="020B0604020202020204" pitchFamily="34" charset="0"/>
                <a:cs typeface="Helvetica" panose="020B0604020202020204" pitchFamily="34" charset="0"/>
              </a:rPr>
              <a:t> </a:t>
            </a:r>
            <a:r>
              <a:rPr lang="es-ES" sz="2000" b="1" dirty="0" err="1">
                <a:latin typeface="Helvetica" panose="020B0604020202020204" pitchFamily="34" charset="0"/>
                <a:cs typeface="Helvetica" panose="020B0604020202020204" pitchFamily="34" charset="0"/>
              </a:rPr>
              <a:t>hydraulic</a:t>
            </a:r>
            <a:r>
              <a:rPr lang="es-ES" sz="2000" b="1" dirty="0">
                <a:latin typeface="Helvetica" panose="020B0604020202020204" pitchFamily="34" charset="0"/>
                <a:cs typeface="Helvetica" panose="020B0604020202020204" pitchFamily="34" charset="0"/>
              </a:rPr>
              <a:t> </a:t>
            </a:r>
            <a:r>
              <a:rPr lang="es-ES" sz="2000" b="1" dirty="0" err="1">
                <a:latin typeface="Helvetica" panose="020B0604020202020204" pitchFamily="34" charset="0"/>
                <a:cs typeface="Helvetica" panose="020B0604020202020204" pitchFamily="34" charset="0"/>
              </a:rPr>
              <a:t>limitations</a:t>
            </a:r>
            <a:r>
              <a:rPr lang="es-ES" sz="2000" b="1"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make</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them</a:t>
            </a:r>
            <a:r>
              <a:rPr lang="es-ES" sz="2000" dirty="0">
                <a:latin typeface="Helvetica" panose="020B0604020202020204" pitchFamily="34" charset="0"/>
                <a:cs typeface="Helvetica" panose="020B0604020202020204" pitchFamily="34" charset="0"/>
              </a:rPr>
              <a:t> more vulnerable?</a:t>
            </a:r>
            <a:endParaRPr lang="es-ES" sz="2000" b="1" dirty="0">
              <a:latin typeface="Helvetica" panose="020B0604020202020204" pitchFamily="34" charset="0"/>
              <a:cs typeface="Helvetica" panose="020B0604020202020204" pitchFamily="34" charset="0"/>
            </a:endParaRPr>
          </a:p>
        </p:txBody>
      </p:sp>
      <p:pic>
        <p:nvPicPr>
          <p:cNvPr id="4" name="Imagen 3">
            <a:extLst>
              <a:ext uri="{FF2B5EF4-FFF2-40B4-BE49-F238E27FC236}">
                <a16:creationId xmlns:a16="http://schemas.microsoft.com/office/drawing/2014/main" id="{BBBE1654-2E47-7196-AFD9-4703F52E738D}"/>
              </a:ext>
            </a:extLst>
          </p:cNvPr>
          <p:cNvPicPr>
            <a:picLocks noChangeAspect="1"/>
          </p:cNvPicPr>
          <p:nvPr/>
        </p:nvPicPr>
        <p:blipFill>
          <a:blip r:embed="rId4">
            <a:extLst>
              <a:ext uri="{28A0092B-C50C-407E-A947-70E740481C1C}">
                <a14:useLocalDpi xmlns:a14="http://schemas.microsoft.com/office/drawing/2010/main" val="0"/>
              </a:ext>
            </a:extLst>
          </a:blip>
          <a:srcRect t="24705" r="76290" b="50817"/>
          <a:stretch/>
        </p:blipFill>
        <p:spPr>
          <a:xfrm>
            <a:off x="4199106" y="823142"/>
            <a:ext cx="3346315" cy="3070812"/>
          </a:xfrm>
          <a:prstGeom prst="rect">
            <a:avLst/>
          </a:prstGeom>
        </p:spPr>
      </p:pic>
      <p:sp>
        <p:nvSpPr>
          <p:cNvPr id="5" name="CuadroTexto 10">
            <a:extLst>
              <a:ext uri="{FF2B5EF4-FFF2-40B4-BE49-F238E27FC236}">
                <a16:creationId xmlns:a16="http://schemas.microsoft.com/office/drawing/2014/main" id="{674FFEA2-9C7D-D1F8-6511-10D17DF8A6FC}"/>
              </a:ext>
            </a:extLst>
          </p:cNvPr>
          <p:cNvSpPr txBox="1"/>
          <p:nvPr/>
        </p:nvSpPr>
        <p:spPr>
          <a:xfrm>
            <a:off x="4199106" y="3996418"/>
            <a:ext cx="3346315" cy="2554545"/>
          </a:xfrm>
          <a:prstGeom prst="rect">
            <a:avLst/>
          </a:prstGeom>
          <a:noFill/>
        </p:spPr>
        <p:txBody>
          <a:bodyPr wrap="square" rtlCol="0">
            <a:spAutoFit/>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1" algn="ctr"/>
            <a:r>
              <a:rPr lang="es-ES" sz="2000" dirty="0" err="1">
                <a:latin typeface="Helvetica" panose="020B0604020202020204" pitchFamily="34" charset="0"/>
                <a:cs typeface="Helvetica" panose="020B0604020202020204" pitchFamily="34" charset="0"/>
              </a:rPr>
              <a:t>For</a:t>
            </a:r>
            <a:r>
              <a:rPr lang="es-ES" sz="2000" dirty="0">
                <a:latin typeface="Helvetica" panose="020B0604020202020204" pitchFamily="34" charset="0"/>
                <a:cs typeface="Helvetica" panose="020B0604020202020204" pitchFamily="34" charset="0"/>
              </a:rPr>
              <a:t> </a:t>
            </a:r>
            <a:r>
              <a:rPr lang="es-ES" sz="2000" i="1" dirty="0">
                <a:latin typeface="Helvetica" panose="020B0604020202020204" pitchFamily="34" charset="0"/>
                <a:cs typeface="Helvetica" panose="020B0604020202020204" pitchFamily="34" charset="0"/>
              </a:rPr>
              <a:t>P. </a:t>
            </a:r>
            <a:r>
              <a:rPr lang="es-ES" sz="2000" i="1" dirty="0" err="1">
                <a:latin typeface="Helvetica" panose="020B0604020202020204" pitchFamily="34" charset="0"/>
                <a:cs typeface="Helvetica" panose="020B0604020202020204" pitchFamily="34" charset="0"/>
              </a:rPr>
              <a:t>sylv</a:t>
            </a:r>
            <a:r>
              <a:rPr lang="es-ES" sz="2000" i="1" dirty="0">
                <a:latin typeface="Helvetica" panose="020B0604020202020204" pitchFamily="34" charset="0"/>
                <a:cs typeface="Helvetica" panose="020B0604020202020204" pitchFamily="34" charset="0"/>
              </a:rPr>
              <a:t>.</a:t>
            </a:r>
            <a:r>
              <a:rPr lang="es-ES" sz="2000" dirty="0">
                <a:latin typeface="Helvetica" panose="020B0604020202020204" pitchFamily="34" charset="0"/>
                <a:cs typeface="Helvetica" panose="020B0604020202020204" pitchFamily="34" charset="0"/>
              </a:rPr>
              <a:t>, </a:t>
            </a:r>
            <a:r>
              <a:rPr lang="es-ES" sz="2000" b="1" dirty="0" err="1">
                <a:latin typeface="Helvetica" panose="020B0604020202020204" pitchFamily="34" charset="0"/>
                <a:cs typeface="Helvetica" panose="020B0604020202020204" pitchFamily="34" charset="0"/>
              </a:rPr>
              <a:t>defoliation</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values</a:t>
            </a:r>
            <a:r>
              <a:rPr lang="es-ES" sz="2000" dirty="0">
                <a:latin typeface="Helvetica" panose="020B0604020202020204" pitchFamily="34" charset="0"/>
                <a:cs typeface="Helvetica" panose="020B0604020202020204" pitchFamily="34" charset="0"/>
              </a:rPr>
              <a:t> are </a:t>
            </a:r>
            <a:r>
              <a:rPr lang="es-ES" sz="2000" b="1" dirty="0" err="1">
                <a:latin typeface="Helvetica" panose="020B0604020202020204" pitchFamily="34" charset="0"/>
                <a:cs typeface="Helvetica" panose="020B0604020202020204" pitchFamily="34" charset="0"/>
              </a:rPr>
              <a:t>higher</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for</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leaves</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with</a:t>
            </a:r>
            <a:r>
              <a:rPr lang="es-ES" sz="2000" dirty="0">
                <a:latin typeface="Helvetica" panose="020B0604020202020204" pitchFamily="34" charset="0"/>
                <a:cs typeface="Helvetica" panose="020B0604020202020204" pitchFamily="34" charset="0"/>
              </a:rPr>
              <a:t> </a:t>
            </a:r>
            <a:r>
              <a:rPr lang="es-ES" sz="2000" b="1" dirty="0" err="1">
                <a:latin typeface="Helvetica" panose="020B0604020202020204" pitchFamily="34" charset="0"/>
                <a:cs typeface="Helvetica" panose="020B0604020202020204" pitchFamily="34" charset="0"/>
              </a:rPr>
              <a:t>higher</a:t>
            </a:r>
            <a:r>
              <a:rPr lang="es-ES" sz="2000" b="1" dirty="0">
                <a:latin typeface="Helvetica" panose="020B0604020202020204" pitchFamily="34" charset="0"/>
                <a:cs typeface="Helvetica" panose="020B0604020202020204" pitchFamily="34" charset="0"/>
              </a:rPr>
              <a:t> N</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content</a:t>
            </a:r>
            <a:r>
              <a:rPr lang="es-ES" sz="2000" dirty="0">
                <a:latin typeface="Helvetica" panose="020B0604020202020204" pitchFamily="34" charset="0"/>
                <a:cs typeface="Helvetica" panose="020B0604020202020204" pitchFamily="34" charset="0"/>
              </a:rPr>
              <a:t> (%). I </a:t>
            </a:r>
            <a:r>
              <a:rPr lang="es-ES" sz="2000" dirty="0" err="1">
                <a:latin typeface="Helvetica" panose="020B0604020202020204" pitchFamily="34" charset="0"/>
                <a:cs typeface="Helvetica" panose="020B0604020202020204" pitchFamily="34" charset="0"/>
              </a:rPr>
              <a:t>would</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expect</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the</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opposite</a:t>
            </a:r>
            <a:r>
              <a:rPr lang="es-ES" sz="2000" dirty="0">
                <a:latin typeface="Helvetica" panose="020B0604020202020204" pitchFamily="34" charset="0"/>
                <a:cs typeface="Helvetica" panose="020B0604020202020204" pitchFamily="34" charset="0"/>
              </a:rPr>
              <a:t>, so </a:t>
            </a:r>
            <a:r>
              <a:rPr lang="es-ES" sz="2000" dirty="0" err="1">
                <a:latin typeface="Helvetica" panose="020B0604020202020204" pitchFamily="34" charset="0"/>
                <a:cs typeface="Helvetica" panose="020B0604020202020204" pitchFamily="34" charset="0"/>
              </a:rPr>
              <a:t>maybe</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they</a:t>
            </a:r>
            <a:r>
              <a:rPr lang="es-ES" sz="2000" dirty="0">
                <a:latin typeface="Helvetica" panose="020B0604020202020204" pitchFamily="34" charset="0"/>
                <a:cs typeface="Helvetica" panose="020B0604020202020204" pitchFamily="34" charset="0"/>
              </a:rPr>
              <a:t> are </a:t>
            </a:r>
            <a:r>
              <a:rPr lang="es-ES" sz="2000" b="1" dirty="0" err="1">
                <a:latin typeface="Helvetica" panose="020B0604020202020204" pitchFamily="34" charset="0"/>
                <a:cs typeface="Helvetica" panose="020B0604020202020204" pitchFamily="34" charset="0"/>
              </a:rPr>
              <a:t>allocating</a:t>
            </a:r>
            <a:r>
              <a:rPr lang="es-ES" sz="2000" dirty="0">
                <a:latin typeface="Helvetica" panose="020B0604020202020204" pitchFamily="34" charset="0"/>
                <a:cs typeface="Helvetica" panose="020B0604020202020204" pitchFamily="34" charset="0"/>
              </a:rPr>
              <a:t> N </a:t>
            </a:r>
            <a:r>
              <a:rPr lang="es-ES" sz="2000" dirty="0" err="1">
                <a:latin typeface="Helvetica" panose="020B0604020202020204" pitchFamily="34" charset="0"/>
                <a:cs typeface="Helvetica" panose="020B0604020202020204" pitchFamily="34" charset="0"/>
              </a:rPr>
              <a:t>from</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senescent</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leaves</a:t>
            </a:r>
            <a:r>
              <a:rPr lang="es-ES" sz="2000" dirty="0">
                <a:latin typeface="Helvetica" panose="020B0604020202020204" pitchFamily="34" charset="0"/>
                <a:cs typeface="Helvetica" panose="020B0604020202020204" pitchFamily="34" charset="0"/>
              </a:rPr>
              <a:t>?</a:t>
            </a:r>
            <a:endParaRPr lang="es-ES" sz="2000" b="1" dirty="0">
              <a:latin typeface="Helvetica" panose="020B0604020202020204" pitchFamily="34" charset="0"/>
              <a:cs typeface="Helvetica" panose="020B0604020202020204" pitchFamily="34" charset="0"/>
            </a:endParaRPr>
          </a:p>
        </p:txBody>
      </p:sp>
      <p:pic>
        <p:nvPicPr>
          <p:cNvPr id="6" name="Imagen 5">
            <a:extLst>
              <a:ext uri="{FF2B5EF4-FFF2-40B4-BE49-F238E27FC236}">
                <a16:creationId xmlns:a16="http://schemas.microsoft.com/office/drawing/2014/main" id="{D93E29EA-1E7F-5699-E186-CA31E47539EA}"/>
              </a:ext>
            </a:extLst>
          </p:cNvPr>
          <p:cNvPicPr>
            <a:picLocks noChangeAspect="1"/>
          </p:cNvPicPr>
          <p:nvPr/>
        </p:nvPicPr>
        <p:blipFill>
          <a:blip r:embed="rId4">
            <a:extLst>
              <a:ext uri="{28A0092B-C50C-407E-A947-70E740481C1C}">
                <a14:useLocalDpi xmlns:a14="http://schemas.microsoft.com/office/drawing/2010/main" val="0"/>
              </a:ext>
            </a:extLst>
          </a:blip>
          <a:srcRect t="49258" r="76290" b="26264"/>
          <a:stretch/>
        </p:blipFill>
        <p:spPr>
          <a:xfrm>
            <a:off x="8048016" y="823142"/>
            <a:ext cx="3346315" cy="3070812"/>
          </a:xfrm>
          <a:prstGeom prst="rect">
            <a:avLst/>
          </a:prstGeom>
        </p:spPr>
      </p:pic>
      <p:sp>
        <p:nvSpPr>
          <p:cNvPr id="7" name="CuadroTexto 10">
            <a:extLst>
              <a:ext uri="{FF2B5EF4-FFF2-40B4-BE49-F238E27FC236}">
                <a16:creationId xmlns:a16="http://schemas.microsoft.com/office/drawing/2014/main" id="{79404059-0E6C-4035-263D-EC61D2B367BA}"/>
              </a:ext>
            </a:extLst>
          </p:cNvPr>
          <p:cNvSpPr txBox="1"/>
          <p:nvPr/>
        </p:nvSpPr>
        <p:spPr>
          <a:xfrm>
            <a:off x="8048016" y="3996418"/>
            <a:ext cx="3346315" cy="1938992"/>
          </a:xfrm>
          <a:prstGeom prst="rect">
            <a:avLst/>
          </a:prstGeom>
          <a:noFill/>
        </p:spPr>
        <p:txBody>
          <a:bodyPr wrap="square" rtlCol="0">
            <a:spAutoFit/>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1" algn="ctr"/>
            <a:r>
              <a:rPr lang="es-ES" sz="2000" dirty="0" err="1">
                <a:latin typeface="Helvetica" panose="020B0604020202020204" pitchFamily="34" charset="0"/>
                <a:cs typeface="Helvetica" panose="020B0604020202020204" pitchFamily="34" charset="0"/>
              </a:rPr>
              <a:t>Differences</a:t>
            </a:r>
            <a:r>
              <a:rPr lang="es-ES" sz="2000" dirty="0">
                <a:latin typeface="Helvetica" panose="020B0604020202020204" pitchFamily="34" charset="0"/>
                <a:cs typeface="Helvetica" panose="020B0604020202020204" pitchFamily="34" charset="0"/>
              </a:rPr>
              <a:t> in </a:t>
            </a:r>
            <a:r>
              <a:rPr lang="es-ES" sz="2000" dirty="0" err="1">
                <a:latin typeface="Helvetica" panose="020B0604020202020204" pitchFamily="34" charset="0"/>
                <a:cs typeface="Helvetica" panose="020B0604020202020204" pitchFamily="34" charset="0"/>
              </a:rPr>
              <a:t>defoliation</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between</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healthy</a:t>
            </a:r>
            <a:r>
              <a:rPr lang="es-ES" sz="2000" dirty="0">
                <a:latin typeface="Helvetica" panose="020B0604020202020204" pitchFamily="34" charset="0"/>
                <a:cs typeface="Helvetica" panose="020B0604020202020204" pitchFamily="34" charset="0"/>
              </a:rPr>
              <a:t> vs. </a:t>
            </a:r>
            <a:r>
              <a:rPr lang="es-ES" sz="2000" dirty="0" err="1">
                <a:latin typeface="Helvetica" panose="020B0604020202020204" pitchFamily="34" charset="0"/>
                <a:cs typeface="Helvetica" panose="020B0604020202020204" pitchFamily="34" charset="0"/>
              </a:rPr>
              <a:t>damaged</a:t>
            </a:r>
            <a:r>
              <a:rPr lang="es-ES" sz="2000" dirty="0">
                <a:latin typeface="Helvetica" panose="020B0604020202020204" pitchFamily="34" charset="0"/>
                <a:cs typeface="Helvetica" panose="020B0604020202020204" pitchFamily="34" charset="0"/>
              </a:rPr>
              <a:t> sites are </a:t>
            </a:r>
            <a:r>
              <a:rPr lang="es-ES" sz="2000" dirty="0" err="1">
                <a:latin typeface="Helvetica" panose="020B0604020202020204" pitchFamily="34" charset="0"/>
                <a:cs typeface="Helvetica" panose="020B0604020202020204" pitchFamily="34" charset="0"/>
              </a:rPr>
              <a:t>less</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evident</a:t>
            </a:r>
            <a:r>
              <a:rPr lang="es-ES" sz="2000" dirty="0">
                <a:latin typeface="Helvetica" panose="020B0604020202020204" pitchFamily="34" charset="0"/>
                <a:cs typeface="Helvetica" panose="020B0604020202020204" pitchFamily="34" charset="0"/>
              </a:rPr>
              <a:t> in </a:t>
            </a:r>
            <a:r>
              <a:rPr lang="es-ES" sz="2000" dirty="0" err="1">
                <a:latin typeface="Helvetica" panose="020B0604020202020204" pitchFamily="34" charset="0"/>
                <a:cs typeface="Helvetica" panose="020B0604020202020204" pitchFamily="34" charset="0"/>
              </a:rPr>
              <a:t>leaves</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with</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higher</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water</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content</a:t>
            </a:r>
            <a:r>
              <a:rPr lang="es-ES" sz="2000" dirty="0">
                <a:latin typeface="Helvetica" panose="020B0604020202020204" pitchFamily="34" charset="0"/>
                <a:cs typeface="Helvetica" panose="020B0604020202020204" pitchFamily="34" charset="0"/>
              </a:rPr>
              <a:t>.</a:t>
            </a:r>
            <a:endParaRPr lang="es-ES" sz="2000" b="1"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1224325977"/>
      </p:ext>
    </p:extLst>
  </p:cSld>
  <p:clrMapOvr>
    <a:masterClrMapping/>
  </p:clrMapOvr>
  <p:extLst>
    <p:ext uri="{6950BFC3-D8DA-4A85-94F7-54DA5524770B}">
      <p188:commentRel xmlns:p188="http://schemas.microsoft.com/office/powerpoint/2018/8/main" r:id="rId3"/>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B6F615-489D-2A08-867A-48DAD318CA98}"/>
            </a:ext>
          </a:extLst>
        </p:cNvPr>
        <p:cNvGrpSpPr/>
        <p:nvPr/>
      </p:nvGrpSpPr>
      <p:grpSpPr>
        <a:xfrm>
          <a:off x="0" y="0"/>
          <a:ext cx="0" cy="0"/>
          <a:chOff x="0" y="0"/>
          <a:chExt cx="0" cy="0"/>
        </a:xfrm>
      </p:grpSpPr>
      <p:sp>
        <p:nvSpPr>
          <p:cNvPr id="3" name="Rectangle 1">
            <a:extLst>
              <a:ext uri="{FF2B5EF4-FFF2-40B4-BE49-F238E27FC236}">
                <a16:creationId xmlns:a16="http://schemas.microsoft.com/office/drawing/2014/main" id="{56EAEF70-F1E1-CDE2-AE50-BCC6B0B75D87}"/>
              </a:ext>
            </a:extLst>
          </p:cNvPr>
          <p:cNvSpPr>
            <a:spLocks noChangeArrowheads="1"/>
          </p:cNvSpPr>
          <p:nvPr/>
        </p:nvSpPr>
        <p:spPr bwMode="auto">
          <a:xfrm>
            <a:off x="5288915" y="1477262"/>
            <a:ext cx="936624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s-ES" altLang="es-E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1800" b="0" i="0" u="none" strike="noStrike" cap="none" normalizeH="0" baseline="0">
              <a:ln>
                <a:noFill/>
              </a:ln>
              <a:solidFill>
                <a:schemeClr val="tx1"/>
              </a:solidFill>
              <a:effectLst/>
              <a:latin typeface="Arial" panose="020B0604020202020204" pitchFamily="34" charset="0"/>
            </a:endParaRPr>
          </a:p>
        </p:txBody>
      </p:sp>
      <p:sp>
        <p:nvSpPr>
          <p:cNvPr id="2" name="Título 1">
            <a:extLst>
              <a:ext uri="{FF2B5EF4-FFF2-40B4-BE49-F238E27FC236}">
                <a16:creationId xmlns:a16="http://schemas.microsoft.com/office/drawing/2014/main" id="{4D10729D-3E74-B439-3FF1-AA7AF2B74769}"/>
              </a:ext>
            </a:extLst>
          </p:cNvPr>
          <p:cNvSpPr>
            <a:spLocks noGrp="1"/>
          </p:cNvSpPr>
          <p:nvPr>
            <p:ph type="title"/>
          </p:nvPr>
        </p:nvSpPr>
        <p:spPr>
          <a:xfrm>
            <a:off x="0" y="0"/>
            <a:ext cx="9690902" cy="804155"/>
          </a:xfrm>
          <a:solidFill>
            <a:srgbClr val="218317"/>
          </a:solidFill>
        </p:spPr>
        <p:txBody>
          <a:bodyPr>
            <a:normAutofit/>
          </a:bodyPr>
          <a:lstStyle/>
          <a:p>
            <a:r>
              <a:rPr lang="es-ES" sz="3200" b="1" dirty="0">
                <a:solidFill>
                  <a:schemeClr val="bg1"/>
                </a:solidFill>
                <a:latin typeface="Helvetica" panose="020B0604020202020204" pitchFamily="34" charset="0"/>
                <a:cs typeface="Helvetica" panose="020B0604020202020204" pitchFamily="34" charset="0"/>
              </a:rPr>
              <a:t>	</a:t>
            </a:r>
            <a:r>
              <a:rPr lang="es-ES" sz="3200" b="1" dirty="0" err="1">
                <a:solidFill>
                  <a:schemeClr val="bg1"/>
                </a:solidFill>
                <a:latin typeface="Helvetica" panose="020B0604020202020204" pitchFamily="34" charset="0"/>
                <a:cs typeface="Helvetica" panose="020B0604020202020204" pitchFamily="34" charset="0"/>
              </a:rPr>
              <a:t>Preliminary</a:t>
            </a:r>
            <a:r>
              <a:rPr lang="es-ES" sz="3200" b="1" dirty="0">
                <a:solidFill>
                  <a:schemeClr val="bg1"/>
                </a:solidFill>
                <a:latin typeface="Helvetica" panose="020B0604020202020204" pitchFamily="34" charset="0"/>
                <a:cs typeface="Helvetica" panose="020B0604020202020204" pitchFamily="34" charset="0"/>
              </a:rPr>
              <a:t> </a:t>
            </a:r>
            <a:r>
              <a:rPr lang="es-ES" sz="3200" b="1" dirty="0" err="1">
                <a:solidFill>
                  <a:schemeClr val="bg1"/>
                </a:solidFill>
                <a:latin typeface="Helvetica" panose="020B0604020202020204" pitchFamily="34" charset="0"/>
                <a:cs typeface="Helvetica" panose="020B0604020202020204" pitchFamily="34" charset="0"/>
              </a:rPr>
              <a:t>results</a:t>
            </a:r>
            <a:endParaRPr lang="es-ES" sz="3200" b="1" dirty="0">
              <a:solidFill>
                <a:schemeClr val="bg1"/>
              </a:solidFill>
              <a:latin typeface="Helvetica" panose="020B0604020202020204" pitchFamily="34" charset="0"/>
              <a:cs typeface="Helvetica" panose="020B0604020202020204" pitchFamily="34" charset="0"/>
            </a:endParaRPr>
          </a:p>
        </p:txBody>
      </p:sp>
      <p:sp>
        <p:nvSpPr>
          <p:cNvPr id="8" name="Título 1">
            <a:extLst>
              <a:ext uri="{FF2B5EF4-FFF2-40B4-BE49-F238E27FC236}">
                <a16:creationId xmlns:a16="http://schemas.microsoft.com/office/drawing/2014/main" id="{97479919-FDFB-0552-B5A8-54CE2BE68D6F}"/>
              </a:ext>
            </a:extLst>
          </p:cNvPr>
          <p:cNvSpPr txBox="1">
            <a:spLocks/>
          </p:cNvSpPr>
          <p:nvPr/>
        </p:nvSpPr>
        <p:spPr>
          <a:xfrm>
            <a:off x="9690902" y="-1"/>
            <a:ext cx="2501098" cy="804157"/>
          </a:xfrm>
          <a:prstGeom prst="rect">
            <a:avLst/>
          </a:prstGeom>
          <a:solidFill>
            <a:srgbClr val="218317"/>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s-ES" sz="2800" b="1" dirty="0">
                <a:solidFill>
                  <a:schemeClr val="accent6">
                    <a:lumMod val="60000"/>
                    <a:lumOff val="40000"/>
                  </a:schemeClr>
                </a:solidFill>
                <a:latin typeface="Helvetica" panose="020B0604020202020204" pitchFamily="34" charset="0"/>
                <a:cs typeface="Helvetica" panose="020B0604020202020204" pitchFamily="34" charset="0"/>
              </a:rPr>
              <a:t>Figures	</a:t>
            </a:r>
            <a:endParaRPr lang="es-ES" sz="2800" b="1" dirty="0">
              <a:solidFill>
                <a:srgbClr val="218317"/>
              </a:solidFill>
              <a:latin typeface="Helvetica" panose="020B0604020202020204" pitchFamily="34" charset="0"/>
              <a:cs typeface="Helvetica" panose="020B0604020202020204" pitchFamily="34" charset="0"/>
            </a:endParaRPr>
          </a:p>
        </p:txBody>
      </p:sp>
      <p:pic>
        <p:nvPicPr>
          <p:cNvPr id="11" name="Imagen 10">
            <a:extLst>
              <a:ext uri="{FF2B5EF4-FFF2-40B4-BE49-F238E27FC236}">
                <a16:creationId xmlns:a16="http://schemas.microsoft.com/office/drawing/2014/main" id="{40EF7C9F-E78C-D57F-5F9A-E660D74163F0}"/>
              </a:ext>
            </a:extLst>
          </p:cNvPr>
          <p:cNvPicPr>
            <a:picLocks noChangeAspect="1"/>
          </p:cNvPicPr>
          <p:nvPr/>
        </p:nvPicPr>
        <p:blipFill>
          <a:blip r:embed="rId3">
            <a:extLst>
              <a:ext uri="{28A0092B-C50C-407E-A947-70E740481C1C}">
                <a14:useLocalDpi xmlns:a14="http://schemas.microsoft.com/office/drawing/2010/main" val="0"/>
              </a:ext>
            </a:extLst>
          </a:blip>
          <a:srcRect l="22729" t="24705" r="53561" b="50817"/>
          <a:stretch/>
        </p:blipFill>
        <p:spPr>
          <a:xfrm>
            <a:off x="350196" y="823142"/>
            <a:ext cx="3346315" cy="3070812"/>
          </a:xfrm>
          <a:prstGeom prst="rect">
            <a:avLst/>
          </a:prstGeom>
        </p:spPr>
      </p:pic>
      <p:sp>
        <p:nvSpPr>
          <p:cNvPr id="13" name="CuadroTexto 10">
            <a:extLst>
              <a:ext uri="{FF2B5EF4-FFF2-40B4-BE49-F238E27FC236}">
                <a16:creationId xmlns:a16="http://schemas.microsoft.com/office/drawing/2014/main" id="{2DB2E806-DD32-1287-B599-B62E8FA92E5B}"/>
              </a:ext>
            </a:extLst>
          </p:cNvPr>
          <p:cNvSpPr txBox="1"/>
          <p:nvPr/>
        </p:nvSpPr>
        <p:spPr>
          <a:xfrm>
            <a:off x="350196" y="3996418"/>
            <a:ext cx="3346315" cy="2554545"/>
          </a:xfrm>
          <a:prstGeom prst="rect">
            <a:avLst/>
          </a:prstGeom>
          <a:noFill/>
        </p:spPr>
        <p:txBody>
          <a:bodyPr wrap="square" rtlCol="0">
            <a:spAutoFit/>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1" algn="ctr"/>
            <a:r>
              <a:rPr lang="es-ES" sz="2000" dirty="0" err="1">
                <a:latin typeface="Helvetica" panose="020B0604020202020204" pitchFamily="34" charset="0"/>
                <a:cs typeface="Helvetica" panose="020B0604020202020204" pitchFamily="34" charset="0"/>
              </a:rPr>
              <a:t>Generally</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we</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find</a:t>
            </a:r>
            <a:r>
              <a:rPr lang="es-ES" sz="2000" dirty="0">
                <a:latin typeface="Helvetica" panose="020B0604020202020204" pitchFamily="34" charset="0"/>
                <a:cs typeface="Helvetica" panose="020B0604020202020204" pitchFamily="34" charset="0"/>
              </a:rPr>
              <a:t> </a:t>
            </a:r>
            <a:r>
              <a:rPr lang="es-ES" sz="2000" b="1" dirty="0" err="1">
                <a:latin typeface="Helvetica" panose="020B0604020202020204" pitchFamily="34" charset="0"/>
                <a:cs typeface="Helvetica" panose="020B0604020202020204" pitchFamily="34" charset="0"/>
              </a:rPr>
              <a:t>higher</a:t>
            </a:r>
            <a:r>
              <a:rPr lang="es-ES" sz="2000" b="1" dirty="0">
                <a:latin typeface="Helvetica" panose="020B0604020202020204" pitchFamily="34" charset="0"/>
                <a:cs typeface="Helvetica" panose="020B0604020202020204" pitchFamily="34" charset="0"/>
              </a:rPr>
              <a:t> </a:t>
            </a:r>
            <a:r>
              <a:rPr lang="es-ES" sz="2000" b="1" dirty="0" err="1">
                <a:latin typeface="Helvetica" panose="020B0604020202020204" pitchFamily="34" charset="0"/>
                <a:cs typeface="Helvetica" panose="020B0604020202020204" pitchFamily="34" charset="0"/>
              </a:rPr>
              <a:t>defoliation</a:t>
            </a:r>
            <a:r>
              <a:rPr lang="es-ES" sz="2000" b="1"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values</a:t>
            </a:r>
            <a:r>
              <a:rPr lang="es-ES" sz="2000" dirty="0">
                <a:latin typeface="Helvetica" panose="020B0604020202020204" pitchFamily="34" charset="0"/>
                <a:cs typeface="Helvetica" panose="020B0604020202020204" pitchFamily="34" charset="0"/>
              </a:rPr>
              <a:t> in </a:t>
            </a:r>
            <a:r>
              <a:rPr lang="es-ES" sz="2000" dirty="0" err="1">
                <a:latin typeface="Helvetica" panose="020B0604020202020204" pitchFamily="34" charset="0"/>
                <a:cs typeface="Helvetica" panose="020B0604020202020204" pitchFamily="34" charset="0"/>
              </a:rPr>
              <a:t>leaves</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with</a:t>
            </a:r>
            <a:r>
              <a:rPr lang="es-ES" sz="2000" dirty="0">
                <a:latin typeface="Helvetica" panose="020B0604020202020204" pitchFamily="34" charset="0"/>
                <a:cs typeface="Helvetica" panose="020B0604020202020204" pitchFamily="34" charset="0"/>
              </a:rPr>
              <a:t> </a:t>
            </a:r>
            <a:r>
              <a:rPr lang="es-ES" sz="2000" b="1" dirty="0" err="1">
                <a:latin typeface="Helvetica" panose="020B0604020202020204" pitchFamily="34" charset="0"/>
                <a:cs typeface="Helvetica" panose="020B0604020202020204" pitchFamily="34" charset="0"/>
              </a:rPr>
              <a:t>lower</a:t>
            </a:r>
            <a:r>
              <a:rPr lang="es-ES" sz="2000" b="1" dirty="0">
                <a:latin typeface="Helvetica" panose="020B0604020202020204" pitchFamily="34" charset="0"/>
                <a:cs typeface="Helvetica" panose="020B0604020202020204" pitchFamily="34" charset="0"/>
              </a:rPr>
              <a:t> </a:t>
            </a:r>
            <a:r>
              <a:rPr lang="el-GR" sz="2000" b="1" dirty="0">
                <a:latin typeface="Helvetica" panose="020B0604020202020204" pitchFamily="34" charset="0"/>
                <a:cs typeface="Helvetica" panose="020B0604020202020204" pitchFamily="34" charset="0"/>
              </a:rPr>
              <a:t>δ</a:t>
            </a:r>
            <a:r>
              <a:rPr lang="es-ES" sz="2000" b="1" baseline="30000" dirty="0">
                <a:latin typeface="Helvetica" panose="020B0604020202020204" pitchFamily="34" charset="0"/>
                <a:cs typeface="Helvetica" panose="020B0604020202020204" pitchFamily="34" charset="0"/>
              </a:rPr>
              <a:t>13</a:t>
            </a:r>
            <a:r>
              <a:rPr lang="es-ES" sz="2000" b="1" dirty="0">
                <a:latin typeface="Helvetica" panose="020B0604020202020204" pitchFamily="34" charset="0"/>
                <a:cs typeface="Helvetica" panose="020B0604020202020204" pitchFamily="34" charset="0"/>
              </a:rPr>
              <a:t>C. </a:t>
            </a:r>
            <a:r>
              <a:rPr lang="es-ES" sz="2000" dirty="0" err="1">
                <a:latin typeface="Helvetica" panose="020B0604020202020204" pitchFamily="34" charset="0"/>
                <a:cs typeface="Helvetica" panose="020B0604020202020204" pitchFamily="34" charset="0"/>
              </a:rPr>
              <a:t>Lower</a:t>
            </a:r>
            <a:r>
              <a:rPr lang="es-ES" sz="2000" dirty="0">
                <a:latin typeface="Helvetica" panose="020B0604020202020204" pitchFamily="34" charset="0"/>
                <a:cs typeface="Helvetica" panose="020B0604020202020204" pitchFamily="34" charset="0"/>
              </a:rPr>
              <a:t> </a:t>
            </a:r>
            <a:r>
              <a:rPr lang="el-GR" sz="2000" dirty="0">
                <a:latin typeface="Helvetica" panose="020B0604020202020204" pitchFamily="34" charset="0"/>
                <a:cs typeface="Helvetica" panose="020B0604020202020204" pitchFamily="34" charset="0"/>
              </a:rPr>
              <a:t>δ</a:t>
            </a:r>
            <a:r>
              <a:rPr lang="es-ES" sz="2000" baseline="30000" dirty="0">
                <a:latin typeface="Helvetica" panose="020B0604020202020204" pitchFamily="34" charset="0"/>
                <a:cs typeface="Helvetica" panose="020B0604020202020204" pitchFamily="34" charset="0"/>
              </a:rPr>
              <a:t>13</a:t>
            </a:r>
            <a:r>
              <a:rPr lang="es-ES" sz="2000" dirty="0">
                <a:latin typeface="Helvetica" panose="020B0604020202020204" pitchFamily="34" charset="0"/>
                <a:cs typeface="Helvetica" panose="020B0604020202020204" pitchFamily="34" charset="0"/>
              </a:rPr>
              <a:t>C </a:t>
            </a:r>
            <a:r>
              <a:rPr lang="es-ES" sz="2000" dirty="0" err="1">
                <a:latin typeface="Helvetica" panose="020B0604020202020204" pitchFamily="34" charset="0"/>
                <a:cs typeface="Helvetica" panose="020B0604020202020204" pitchFamily="34" charset="0"/>
              </a:rPr>
              <a:t>values</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might</a:t>
            </a:r>
            <a:r>
              <a:rPr lang="es-ES" sz="2000" dirty="0">
                <a:latin typeface="Helvetica" panose="020B0604020202020204" pitchFamily="34" charset="0"/>
                <a:cs typeface="Helvetica" panose="020B0604020202020204" pitchFamily="34" charset="0"/>
              </a:rPr>
              <a:t> be </a:t>
            </a:r>
            <a:r>
              <a:rPr lang="es-ES" sz="2000" dirty="0" err="1">
                <a:latin typeface="Helvetica" panose="020B0604020202020204" pitchFamily="34" charset="0"/>
                <a:cs typeface="Helvetica" panose="020B0604020202020204" pitchFamily="34" charset="0"/>
              </a:rPr>
              <a:t>related</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to</a:t>
            </a:r>
            <a:r>
              <a:rPr lang="es-ES" sz="2000" dirty="0">
                <a:latin typeface="Helvetica" panose="020B0604020202020204" pitchFamily="34" charset="0"/>
                <a:cs typeface="Helvetica" panose="020B0604020202020204" pitchFamily="34" charset="0"/>
              </a:rPr>
              <a:t> </a:t>
            </a:r>
            <a:r>
              <a:rPr lang="es-ES" sz="2000" b="1" dirty="0" err="1">
                <a:latin typeface="Helvetica" panose="020B0604020202020204" pitchFamily="34" charset="0"/>
                <a:cs typeface="Helvetica" panose="020B0604020202020204" pitchFamily="34" charset="0"/>
              </a:rPr>
              <a:t>higher</a:t>
            </a:r>
            <a:r>
              <a:rPr lang="es-ES" sz="2000" b="1" dirty="0">
                <a:latin typeface="Helvetica" panose="020B0604020202020204" pitchFamily="34" charset="0"/>
                <a:cs typeface="Helvetica" panose="020B0604020202020204" pitchFamily="34" charset="0"/>
              </a:rPr>
              <a:t> </a:t>
            </a:r>
            <a:r>
              <a:rPr lang="es-ES" sz="2000" b="1" dirty="0" err="1">
                <a:latin typeface="Helvetica" panose="020B0604020202020204" pitchFamily="34" charset="0"/>
                <a:cs typeface="Helvetica" panose="020B0604020202020204" pitchFamily="34" charset="0"/>
              </a:rPr>
              <a:t>stomatal</a:t>
            </a:r>
            <a:r>
              <a:rPr lang="es-ES" sz="2000" b="1" dirty="0">
                <a:latin typeface="Helvetica" panose="020B0604020202020204" pitchFamily="34" charset="0"/>
                <a:cs typeface="Helvetica" panose="020B0604020202020204" pitchFamily="34" charset="0"/>
              </a:rPr>
              <a:t> </a:t>
            </a:r>
            <a:r>
              <a:rPr lang="es-ES" sz="2000" b="1" dirty="0" err="1">
                <a:latin typeface="Helvetica" panose="020B0604020202020204" pitchFamily="34" charset="0"/>
                <a:cs typeface="Helvetica" panose="020B0604020202020204" pitchFamily="34" charset="0"/>
              </a:rPr>
              <a:t>conductance</a:t>
            </a:r>
            <a:r>
              <a:rPr lang="es-ES" sz="2000" dirty="0">
                <a:latin typeface="Helvetica" panose="020B0604020202020204" pitchFamily="34" charset="0"/>
                <a:cs typeface="Helvetica" panose="020B0604020202020204" pitchFamily="34" charset="0"/>
              </a:rPr>
              <a:t>, and </a:t>
            </a:r>
            <a:r>
              <a:rPr lang="es-ES" sz="2000" dirty="0" err="1">
                <a:latin typeface="Helvetica" panose="020B0604020202020204" pitchFamily="34" charset="0"/>
                <a:cs typeface="Helvetica" panose="020B0604020202020204" pitchFamily="34" charset="0"/>
              </a:rPr>
              <a:t>thus</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water</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loss</a:t>
            </a:r>
            <a:r>
              <a:rPr lang="es-ES" sz="2000" dirty="0">
                <a:latin typeface="Helvetica" panose="020B0604020202020204" pitchFamily="34" charset="0"/>
                <a:cs typeface="Helvetica" panose="020B0604020202020204" pitchFamily="34" charset="0"/>
              </a:rPr>
              <a:t>.</a:t>
            </a:r>
          </a:p>
        </p:txBody>
      </p:sp>
      <p:pic>
        <p:nvPicPr>
          <p:cNvPr id="4" name="Imagen 3">
            <a:extLst>
              <a:ext uri="{FF2B5EF4-FFF2-40B4-BE49-F238E27FC236}">
                <a16:creationId xmlns:a16="http://schemas.microsoft.com/office/drawing/2014/main" id="{F7E46A58-B45D-B328-880D-2D7ECB316CCB}"/>
              </a:ext>
            </a:extLst>
          </p:cNvPr>
          <p:cNvPicPr>
            <a:picLocks noChangeAspect="1"/>
          </p:cNvPicPr>
          <p:nvPr/>
        </p:nvPicPr>
        <p:blipFill>
          <a:blip r:embed="rId3">
            <a:extLst>
              <a:ext uri="{28A0092B-C50C-407E-A947-70E740481C1C}">
                <a14:useLocalDpi xmlns:a14="http://schemas.microsoft.com/office/drawing/2010/main" val="0"/>
              </a:ext>
            </a:extLst>
          </a:blip>
          <a:srcRect l="45848" t="24705" r="30442" b="50817"/>
          <a:stretch/>
        </p:blipFill>
        <p:spPr>
          <a:xfrm>
            <a:off x="4199106" y="823142"/>
            <a:ext cx="3346315" cy="3070812"/>
          </a:xfrm>
          <a:prstGeom prst="rect">
            <a:avLst/>
          </a:prstGeom>
        </p:spPr>
      </p:pic>
      <p:sp>
        <p:nvSpPr>
          <p:cNvPr id="5" name="CuadroTexto 10">
            <a:extLst>
              <a:ext uri="{FF2B5EF4-FFF2-40B4-BE49-F238E27FC236}">
                <a16:creationId xmlns:a16="http://schemas.microsoft.com/office/drawing/2014/main" id="{B4F1E9BE-768C-B68A-8CCC-016AC9FAFEC8}"/>
              </a:ext>
            </a:extLst>
          </p:cNvPr>
          <p:cNvSpPr txBox="1"/>
          <p:nvPr/>
        </p:nvSpPr>
        <p:spPr>
          <a:xfrm>
            <a:off x="4199106" y="3996418"/>
            <a:ext cx="3346315" cy="1323439"/>
          </a:xfrm>
          <a:prstGeom prst="rect">
            <a:avLst/>
          </a:prstGeom>
          <a:noFill/>
        </p:spPr>
        <p:txBody>
          <a:bodyPr wrap="square" rtlCol="0">
            <a:spAutoFit/>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1" algn="ctr"/>
            <a:r>
              <a:rPr lang="es-ES" sz="2000" dirty="0" err="1">
                <a:latin typeface="Helvetica" panose="020B0604020202020204" pitchFamily="34" charset="0"/>
                <a:cs typeface="Helvetica" panose="020B0604020202020204" pitchFamily="34" charset="0"/>
              </a:rPr>
              <a:t>Generally</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we</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find</a:t>
            </a:r>
            <a:r>
              <a:rPr lang="es-ES" sz="2000" dirty="0">
                <a:latin typeface="Helvetica" panose="020B0604020202020204" pitchFamily="34" charset="0"/>
                <a:cs typeface="Helvetica" panose="020B0604020202020204" pitchFamily="34" charset="0"/>
              </a:rPr>
              <a:t> </a:t>
            </a:r>
            <a:r>
              <a:rPr lang="es-ES" sz="2000" b="1" dirty="0" err="1">
                <a:latin typeface="Helvetica" panose="020B0604020202020204" pitchFamily="34" charset="0"/>
                <a:cs typeface="Helvetica" panose="020B0604020202020204" pitchFamily="34" charset="0"/>
              </a:rPr>
              <a:t>higher</a:t>
            </a:r>
            <a:r>
              <a:rPr lang="es-ES" sz="2000" b="1" dirty="0">
                <a:latin typeface="Helvetica" panose="020B0604020202020204" pitchFamily="34" charset="0"/>
                <a:cs typeface="Helvetica" panose="020B0604020202020204" pitchFamily="34" charset="0"/>
              </a:rPr>
              <a:t> </a:t>
            </a:r>
            <a:r>
              <a:rPr lang="es-ES" sz="2000" b="1" dirty="0" err="1">
                <a:latin typeface="Helvetica" panose="020B0604020202020204" pitchFamily="34" charset="0"/>
                <a:cs typeface="Helvetica" panose="020B0604020202020204" pitchFamily="34" charset="0"/>
              </a:rPr>
              <a:t>defoliation</a:t>
            </a:r>
            <a:r>
              <a:rPr lang="es-ES" sz="2000" b="1"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values</a:t>
            </a:r>
            <a:r>
              <a:rPr lang="es-ES" sz="2000" dirty="0">
                <a:latin typeface="Helvetica" panose="020B0604020202020204" pitchFamily="34" charset="0"/>
                <a:cs typeface="Helvetica" panose="020B0604020202020204" pitchFamily="34" charset="0"/>
              </a:rPr>
              <a:t> in </a:t>
            </a:r>
            <a:r>
              <a:rPr lang="es-ES" sz="2000" dirty="0" err="1">
                <a:latin typeface="Helvetica" panose="020B0604020202020204" pitchFamily="34" charset="0"/>
                <a:cs typeface="Helvetica" panose="020B0604020202020204" pitchFamily="34" charset="0"/>
              </a:rPr>
              <a:t>leaves</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with</a:t>
            </a:r>
            <a:r>
              <a:rPr lang="es-ES" sz="2000" dirty="0">
                <a:latin typeface="Helvetica" panose="020B0604020202020204" pitchFamily="34" charset="0"/>
                <a:cs typeface="Helvetica" panose="020B0604020202020204" pitchFamily="34" charset="0"/>
              </a:rPr>
              <a:t> </a:t>
            </a:r>
            <a:r>
              <a:rPr lang="es-ES" sz="2000" b="1" dirty="0" err="1">
                <a:latin typeface="Helvetica" panose="020B0604020202020204" pitchFamily="34" charset="0"/>
                <a:cs typeface="Helvetica" panose="020B0604020202020204" pitchFamily="34" charset="0"/>
              </a:rPr>
              <a:t>lower</a:t>
            </a:r>
            <a:r>
              <a:rPr lang="es-ES" sz="2000" b="1" dirty="0">
                <a:latin typeface="Helvetica" panose="020B0604020202020204" pitchFamily="34" charset="0"/>
                <a:cs typeface="Helvetica" panose="020B0604020202020204" pitchFamily="34" charset="0"/>
              </a:rPr>
              <a:t> </a:t>
            </a:r>
            <a:r>
              <a:rPr lang="el-GR" sz="2000" b="1" dirty="0">
                <a:latin typeface="Helvetica" panose="020B0604020202020204" pitchFamily="34" charset="0"/>
                <a:cs typeface="Helvetica" panose="020B0604020202020204" pitchFamily="34" charset="0"/>
              </a:rPr>
              <a:t>δ</a:t>
            </a:r>
            <a:r>
              <a:rPr lang="es-ES" sz="2000" b="1" baseline="30000" dirty="0">
                <a:latin typeface="Helvetica" panose="020B0604020202020204" pitchFamily="34" charset="0"/>
                <a:cs typeface="Helvetica" panose="020B0604020202020204" pitchFamily="34" charset="0"/>
              </a:rPr>
              <a:t>15</a:t>
            </a:r>
            <a:r>
              <a:rPr lang="es-ES" sz="2000" b="1" dirty="0">
                <a:latin typeface="Helvetica" panose="020B0604020202020204" pitchFamily="34" charset="0"/>
                <a:cs typeface="Helvetica" panose="020B0604020202020204" pitchFamily="34" charset="0"/>
              </a:rPr>
              <a:t>N. </a:t>
            </a:r>
            <a:endParaRPr lang="es-ES" sz="2000" dirty="0">
              <a:latin typeface="Helvetica" panose="020B0604020202020204" pitchFamily="34" charset="0"/>
              <a:cs typeface="Helvetica" panose="020B0604020202020204" pitchFamily="34" charset="0"/>
            </a:endParaRPr>
          </a:p>
        </p:txBody>
      </p:sp>
      <p:sp>
        <p:nvSpPr>
          <p:cNvPr id="7" name="CuadroTexto 10">
            <a:extLst>
              <a:ext uri="{FF2B5EF4-FFF2-40B4-BE49-F238E27FC236}">
                <a16:creationId xmlns:a16="http://schemas.microsoft.com/office/drawing/2014/main" id="{BA238553-75D4-CC8D-5616-52306556AA10}"/>
              </a:ext>
            </a:extLst>
          </p:cNvPr>
          <p:cNvSpPr txBox="1"/>
          <p:nvPr/>
        </p:nvSpPr>
        <p:spPr>
          <a:xfrm>
            <a:off x="8048016" y="3996418"/>
            <a:ext cx="3346315" cy="1938992"/>
          </a:xfrm>
          <a:prstGeom prst="rect">
            <a:avLst/>
          </a:prstGeom>
          <a:noFill/>
        </p:spPr>
        <p:txBody>
          <a:bodyPr wrap="square" rtlCol="0">
            <a:spAutoFit/>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1" algn="ctr"/>
            <a:r>
              <a:rPr lang="es-ES" sz="2000" dirty="0" err="1">
                <a:latin typeface="Helvetica" panose="020B0604020202020204" pitchFamily="34" charset="0"/>
                <a:cs typeface="Helvetica" panose="020B0604020202020204" pitchFamily="34" charset="0"/>
              </a:rPr>
              <a:t>Generally</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we</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find</a:t>
            </a:r>
            <a:r>
              <a:rPr lang="es-ES" sz="2000" dirty="0">
                <a:latin typeface="Helvetica" panose="020B0604020202020204" pitchFamily="34" charset="0"/>
                <a:cs typeface="Helvetica" panose="020B0604020202020204" pitchFamily="34" charset="0"/>
              </a:rPr>
              <a:t> </a:t>
            </a:r>
            <a:r>
              <a:rPr lang="es-ES" sz="2000" b="1" dirty="0" err="1">
                <a:latin typeface="Helvetica" panose="020B0604020202020204" pitchFamily="34" charset="0"/>
                <a:cs typeface="Helvetica" panose="020B0604020202020204" pitchFamily="34" charset="0"/>
              </a:rPr>
              <a:t>higher</a:t>
            </a:r>
            <a:r>
              <a:rPr lang="es-ES" sz="2000" b="1" dirty="0">
                <a:latin typeface="Helvetica" panose="020B0604020202020204" pitchFamily="34" charset="0"/>
                <a:cs typeface="Helvetica" panose="020B0604020202020204" pitchFamily="34" charset="0"/>
              </a:rPr>
              <a:t> </a:t>
            </a:r>
            <a:r>
              <a:rPr lang="es-ES" sz="2000" b="1" dirty="0" err="1">
                <a:latin typeface="Helvetica" panose="020B0604020202020204" pitchFamily="34" charset="0"/>
                <a:cs typeface="Helvetica" panose="020B0604020202020204" pitchFamily="34" charset="0"/>
              </a:rPr>
              <a:t>defoliation</a:t>
            </a:r>
            <a:r>
              <a:rPr lang="es-ES" sz="2000" b="1"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values</a:t>
            </a:r>
            <a:r>
              <a:rPr lang="es-ES" sz="2000" dirty="0">
                <a:latin typeface="Helvetica" panose="020B0604020202020204" pitchFamily="34" charset="0"/>
                <a:cs typeface="Helvetica" panose="020B0604020202020204" pitchFamily="34" charset="0"/>
              </a:rPr>
              <a:t> in </a:t>
            </a:r>
            <a:r>
              <a:rPr lang="es-ES" sz="2000" dirty="0" err="1">
                <a:latin typeface="Helvetica" panose="020B0604020202020204" pitchFamily="34" charset="0"/>
                <a:cs typeface="Helvetica" panose="020B0604020202020204" pitchFamily="34" charset="0"/>
              </a:rPr>
              <a:t>leaves</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with</a:t>
            </a:r>
            <a:r>
              <a:rPr lang="es-ES" sz="2000" dirty="0">
                <a:latin typeface="Helvetica" panose="020B0604020202020204" pitchFamily="34" charset="0"/>
                <a:cs typeface="Helvetica" panose="020B0604020202020204" pitchFamily="34" charset="0"/>
              </a:rPr>
              <a:t> </a:t>
            </a:r>
            <a:r>
              <a:rPr lang="es-ES" sz="2000" b="1" dirty="0" err="1">
                <a:latin typeface="Helvetica" panose="020B0604020202020204" pitchFamily="34" charset="0"/>
                <a:cs typeface="Helvetica" panose="020B0604020202020204" pitchFamily="34" charset="0"/>
              </a:rPr>
              <a:t>lower</a:t>
            </a:r>
            <a:r>
              <a:rPr lang="es-ES" sz="2000" b="1" dirty="0">
                <a:latin typeface="Helvetica" panose="020B0604020202020204" pitchFamily="34" charset="0"/>
                <a:cs typeface="Helvetica" panose="020B0604020202020204" pitchFamily="34" charset="0"/>
              </a:rPr>
              <a:t> </a:t>
            </a:r>
            <a:r>
              <a:rPr lang="el-GR" sz="2000" b="1" dirty="0">
                <a:latin typeface="Helvetica" panose="020B0604020202020204" pitchFamily="34" charset="0"/>
                <a:cs typeface="Helvetica" panose="020B0604020202020204" pitchFamily="34" charset="0"/>
              </a:rPr>
              <a:t>δ</a:t>
            </a:r>
            <a:r>
              <a:rPr lang="es-ES" sz="2000" b="1" baseline="30000" dirty="0">
                <a:latin typeface="Helvetica" panose="020B0604020202020204" pitchFamily="34" charset="0"/>
                <a:cs typeface="Helvetica" panose="020B0604020202020204" pitchFamily="34" charset="0"/>
              </a:rPr>
              <a:t>18</a:t>
            </a:r>
            <a:r>
              <a:rPr lang="es-ES" sz="2000" b="1" dirty="0">
                <a:latin typeface="Helvetica" panose="020B0604020202020204" pitchFamily="34" charset="0"/>
                <a:cs typeface="Helvetica" panose="020B0604020202020204" pitchFamily="34" charset="0"/>
              </a:rPr>
              <a:t>O. </a:t>
            </a:r>
            <a:r>
              <a:rPr lang="es-ES" sz="2000" dirty="0" err="1">
                <a:latin typeface="Helvetica" panose="020B0604020202020204" pitchFamily="34" charset="0"/>
                <a:cs typeface="Helvetica" panose="020B0604020202020204" pitchFamily="34" charset="0"/>
              </a:rPr>
              <a:t>Lower</a:t>
            </a:r>
            <a:r>
              <a:rPr lang="es-ES" sz="2000" dirty="0">
                <a:latin typeface="Helvetica" panose="020B0604020202020204" pitchFamily="34" charset="0"/>
                <a:cs typeface="Helvetica" panose="020B0604020202020204" pitchFamily="34" charset="0"/>
              </a:rPr>
              <a:t> </a:t>
            </a:r>
            <a:r>
              <a:rPr lang="el-GR" sz="2000" dirty="0">
                <a:latin typeface="Helvetica" panose="020B0604020202020204" pitchFamily="34" charset="0"/>
                <a:cs typeface="Helvetica" panose="020B0604020202020204" pitchFamily="34" charset="0"/>
              </a:rPr>
              <a:t>δ</a:t>
            </a:r>
            <a:r>
              <a:rPr lang="es-ES" sz="2000" baseline="30000" dirty="0">
                <a:latin typeface="Helvetica" panose="020B0604020202020204" pitchFamily="34" charset="0"/>
                <a:cs typeface="Helvetica" panose="020B0604020202020204" pitchFamily="34" charset="0"/>
              </a:rPr>
              <a:t>18</a:t>
            </a:r>
            <a:r>
              <a:rPr lang="es-ES" sz="2000" dirty="0">
                <a:latin typeface="Helvetica" panose="020B0604020202020204" pitchFamily="34" charset="0"/>
                <a:cs typeface="Helvetica" panose="020B0604020202020204" pitchFamily="34" charset="0"/>
              </a:rPr>
              <a:t>C </a:t>
            </a:r>
            <a:r>
              <a:rPr lang="es-ES" sz="2000" dirty="0" err="1">
                <a:latin typeface="Helvetica" panose="020B0604020202020204" pitchFamily="34" charset="0"/>
                <a:cs typeface="Helvetica" panose="020B0604020202020204" pitchFamily="34" charset="0"/>
              </a:rPr>
              <a:t>values</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might</a:t>
            </a:r>
            <a:r>
              <a:rPr lang="es-ES" sz="2000" dirty="0">
                <a:latin typeface="Helvetica" panose="020B0604020202020204" pitchFamily="34" charset="0"/>
                <a:cs typeface="Helvetica" panose="020B0604020202020204" pitchFamily="34" charset="0"/>
              </a:rPr>
              <a:t> be </a:t>
            </a:r>
            <a:r>
              <a:rPr lang="es-ES" sz="2000" dirty="0" err="1">
                <a:latin typeface="Helvetica" panose="020B0604020202020204" pitchFamily="34" charset="0"/>
                <a:cs typeface="Helvetica" panose="020B0604020202020204" pitchFamily="34" charset="0"/>
              </a:rPr>
              <a:t>related</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to</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higher</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iWUE</a:t>
            </a:r>
            <a:r>
              <a:rPr lang="es-ES" sz="2000" dirty="0">
                <a:latin typeface="Helvetica" panose="020B0604020202020204" pitchFamily="34" charset="0"/>
                <a:cs typeface="Helvetica" panose="020B0604020202020204" pitchFamily="34" charset="0"/>
              </a:rPr>
              <a:t>?</a:t>
            </a:r>
          </a:p>
        </p:txBody>
      </p:sp>
      <p:pic>
        <p:nvPicPr>
          <p:cNvPr id="9" name="Imagen 8">
            <a:extLst>
              <a:ext uri="{FF2B5EF4-FFF2-40B4-BE49-F238E27FC236}">
                <a16:creationId xmlns:a16="http://schemas.microsoft.com/office/drawing/2014/main" id="{37EFD66F-CA11-810A-4AF3-5DAC75C47F03}"/>
              </a:ext>
            </a:extLst>
          </p:cNvPr>
          <p:cNvPicPr>
            <a:picLocks noChangeAspect="1"/>
          </p:cNvPicPr>
          <p:nvPr/>
        </p:nvPicPr>
        <p:blipFill>
          <a:blip r:embed="rId3">
            <a:extLst>
              <a:ext uri="{28A0092B-C50C-407E-A947-70E740481C1C}">
                <a14:useLocalDpi xmlns:a14="http://schemas.microsoft.com/office/drawing/2010/main" val="0"/>
              </a:ext>
            </a:extLst>
          </a:blip>
          <a:srcRect l="69335" t="24705" r="7452" b="50817"/>
          <a:stretch/>
        </p:blipFill>
        <p:spPr>
          <a:xfrm>
            <a:off x="8017744" y="823142"/>
            <a:ext cx="3276069" cy="3070812"/>
          </a:xfrm>
          <a:prstGeom prst="rect">
            <a:avLst/>
          </a:prstGeom>
        </p:spPr>
      </p:pic>
    </p:spTree>
    <p:extLst>
      <p:ext uri="{BB962C8B-B14F-4D97-AF65-F5344CB8AC3E}">
        <p14:creationId xmlns:p14="http://schemas.microsoft.com/office/powerpoint/2010/main" val="30022984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FB7013-6D0A-7537-502D-486D1C6BA5CA}"/>
            </a:ext>
          </a:extLst>
        </p:cNvPr>
        <p:cNvGrpSpPr/>
        <p:nvPr/>
      </p:nvGrpSpPr>
      <p:grpSpPr>
        <a:xfrm>
          <a:off x="0" y="0"/>
          <a:ext cx="0" cy="0"/>
          <a:chOff x="0" y="0"/>
          <a:chExt cx="0" cy="0"/>
        </a:xfrm>
      </p:grpSpPr>
      <p:sp>
        <p:nvSpPr>
          <p:cNvPr id="3" name="Rectangle 1">
            <a:extLst>
              <a:ext uri="{FF2B5EF4-FFF2-40B4-BE49-F238E27FC236}">
                <a16:creationId xmlns:a16="http://schemas.microsoft.com/office/drawing/2014/main" id="{3B2BFE58-A519-A475-6804-6B9D824ACEB1}"/>
              </a:ext>
            </a:extLst>
          </p:cNvPr>
          <p:cNvSpPr>
            <a:spLocks noChangeArrowheads="1"/>
          </p:cNvSpPr>
          <p:nvPr/>
        </p:nvSpPr>
        <p:spPr bwMode="auto">
          <a:xfrm>
            <a:off x="5288915" y="1477262"/>
            <a:ext cx="936624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s-ES" altLang="es-E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1800" b="0" i="0" u="none" strike="noStrike" cap="none" normalizeH="0" baseline="0">
              <a:ln>
                <a:noFill/>
              </a:ln>
              <a:solidFill>
                <a:schemeClr val="tx1"/>
              </a:solidFill>
              <a:effectLst/>
              <a:latin typeface="Arial" panose="020B0604020202020204" pitchFamily="34" charset="0"/>
            </a:endParaRPr>
          </a:p>
        </p:txBody>
      </p:sp>
      <p:sp>
        <p:nvSpPr>
          <p:cNvPr id="2" name="Título 1">
            <a:extLst>
              <a:ext uri="{FF2B5EF4-FFF2-40B4-BE49-F238E27FC236}">
                <a16:creationId xmlns:a16="http://schemas.microsoft.com/office/drawing/2014/main" id="{B8B6CD91-6F8B-1D09-D8A7-0AA69684D879}"/>
              </a:ext>
            </a:extLst>
          </p:cNvPr>
          <p:cNvSpPr>
            <a:spLocks noGrp="1"/>
          </p:cNvSpPr>
          <p:nvPr>
            <p:ph type="title"/>
          </p:nvPr>
        </p:nvSpPr>
        <p:spPr>
          <a:xfrm>
            <a:off x="0" y="0"/>
            <a:ext cx="9690902" cy="804155"/>
          </a:xfrm>
          <a:solidFill>
            <a:srgbClr val="218317"/>
          </a:solidFill>
        </p:spPr>
        <p:txBody>
          <a:bodyPr>
            <a:normAutofit/>
          </a:bodyPr>
          <a:lstStyle/>
          <a:p>
            <a:r>
              <a:rPr lang="es-ES" sz="3200" b="1" dirty="0">
                <a:solidFill>
                  <a:schemeClr val="bg1"/>
                </a:solidFill>
                <a:latin typeface="Helvetica" panose="020B0604020202020204" pitchFamily="34" charset="0"/>
                <a:cs typeface="Helvetica" panose="020B0604020202020204" pitchFamily="34" charset="0"/>
              </a:rPr>
              <a:t>	</a:t>
            </a:r>
            <a:r>
              <a:rPr lang="es-ES" sz="3200" b="1" dirty="0" err="1">
                <a:solidFill>
                  <a:schemeClr val="bg1"/>
                </a:solidFill>
                <a:latin typeface="Helvetica" panose="020B0604020202020204" pitchFamily="34" charset="0"/>
                <a:cs typeface="Helvetica" panose="020B0604020202020204" pitchFamily="34" charset="0"/>
              </a:rPr>
              <a:t>Preliminary</a:t>
            </a:r>
            <a:r>
              <a:rPr lang="es-ES" sz="3200" b="1" dirty="0">
                <a:solidFill>
                  <a:schemeClr val="bg1"/>
                </a:solidFill>
                <a:latin typeface="Helvetica" panose="020B0604020202020204" pitchFamily="34" charset="0"/>
                <a:cs typeface="Helvetica" panose="020B0604020202020204" pitchFamily="34" charset="0"/>
              </a:rPr>
              <a:t> </a:t>
            </a:r>
            <a:r>
              <a:rPr lang="es-ES" sz="3200" b="1" dirty="0" err="1">
                <a:solidFill>
                  <a:schemeClr val="bg1"/>
                </a:solidFill>
                <a:latin typeface="Helvetica" panose="020B0604020202020204" pitchFamily="34" charset="0"/>
                <a:cs typeface="Helvetica" panose="020B0604020202020204" pitchFamily="34" charset="0"/>
              </a:rPr>
              <a:t>results</a:t>
            </a:r>
            <a:endParaRPr lang="es-ES" sz="3200" b="1" dirty="0">
              <a:solidFill>
                <a:schemeClr val="bg1"/>
              </a:solidFill>
              <a:latin typeface="Helvetica" panose="020B0604020202020204" pitchFamily="34" charset="0"/>
              <a:cs typeface="Helvetica" panose="020B0604020202020204" pitchFamily="34" charset="0"/>
            </a:endParaRPr>
          </a:p>
        </p:txBody>
      </p:sp>
      <p:sp>
        <p:nvSpPr>
          <p:cNvPr id="8" name="Título 1">
            <a:extLst>
              <a:ext uri="{FF2B5EF4-FFF2-40B4-BE49-F238E27FC236}">
                <a16:creationId xmlns:a16="http://schemas.microsoft.com/office/drawing/2014/main" id="{5625C6D5-EFCE-0E08-5993-DC61E502933B}"/>
              </a:ext>
            </a:extLst>
          </p:cNvPr>
          <p:cNvSpPr txBox="1">
            <a:spLocks/>
          </p:cNvSpPr>
          <p:nvPr/>
        </p:nvSpPr>
        <p:spPr>
          <a:xfrm>
            <a:off x="9690902" y="-1"/>
            <a:ext cx="2501098" cy="804157"/>
          </a:xfrm>
          <a:prstGeom prst="rect">
            <a:avLst/>
          </a:prstGeom>
          <a:solidFill>
            <a:srgbClr val="218317"/>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s-ES" sz="2800" b="1" dirty="0">
                <a:solidFill>
                  <a:schemeClr val="accent6">
                    <a:lumMod val="60000"/>
                    <a:lumOff val="40000"/>
                  </a:schemeClr>
                </a:solidFill>
                <a:latin typeface="Helvetica" panose="020B0604020202020204" pitchFamily="34" charset="0"/>
                <a:cs typeface="Helvetica" panose="020B0604020202020204" pitchFamily="34" charset="0"/>
              </a:rPr>
              <a:t>Figures	</a:t>
            </a:r>
            <a:endParaRPr lang="es-ES" sz="2800" b="1" dirty="0">
              <a:solidFill>
                <a:srgbClr val="218317"/>
              </a:solidFill>
              <a:latin typeface="Helvetica" panose="020B0604020202020204" pitchFamily="34" charset="0"/>
              <a:cs typeface="Helvetica" panose="020B0604020202020204" pitchFamily="34" charset="0"/>
            </a:endParaRPr>
          </a:p>
        </p:txBody>
      </p:sp>
      <p:pic>
        <p:nvPicPr>
          <p:cNvPr id="5" name="Imagen 4">
            <a:extLst>
              <a:ext uri="{FF2B5EF4-FFF2-40B4-BE49-F238E27FC236}">
                <a16:creationId xmlns:a16="http://schemas.microsoft.com/office/drawing/2014/main" id="{DC77E4E0-AB3D-345C-3B63-87F73778B1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804155"/>
            <a:ext cx="6789906" cy="6035366"/>
          </a:xfrm>
          <a:prstGeom prst="rect">
            <a:avLst/>
          </a:prstGeom>
        </p:spPr>
      </p:pic>
      <p:sp>
        <p:nvSpPr>
          <p:cNvPr id="13" name="CuadroTexto 10">
            <a:extLst>
              <a:ext uri="{FF2B5EF4-FFF2-40B4-BE49-F238E27FC236}">
                <a16:creationId xmlns:a16="http://schemas.microsoft.com/office/drawing/2014/main" id="{9F1A8540-4C6A-82CF-52A9-CB66EF9B2B02}"/>
              </a:ext>
            </a:extLst>
          </p:cNvPr>
          <p:cNvSpPr txBox="1"/>
          <p:nvPr/>
        </p:nvSpPr>
        <p:spPr>
          <a:xfrm>
            <a:off x="6181951" y="1476587"/>
            <a:ext cx="5917660" cy="1569660"/>
          </a:xfrm>
          <a:prstGeom prst="rect">
            <a:avLst/>
          </a:prstGeom>
          <a:noFill/>
        </p:spPr>
        <p:txBody>
          <a:bodyPr wrap="square" rtlCol="0">
            <a:spAutoFit/>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1"/>
            <a:r>
              <a:rPr lang="es-ES" sz="2400" dirty="0" err="1">
                <a:latin typeface="Helvetica" panose="020B0604020202020204" pitchFamily="34" charset="0"/>
                <a:cs typeface="Helvetica" panose="020B0604020202020204" pitchFamily="34" charset="0"/>
              </a:rPr>
              <a:t>Scatterplots</a:t>
            </a:r>
            <a:r>
              <a:rPr lang="es-ES" sz="2400" dirty="0">
                <a:latin typeface="Helvetica" panose="020B0604020202020204" pitchFamily="34" charset="0"/>
                <a:cs typeface="Helvetica" panose="020B0604020202020204" pitchFamily="34" charset="0"/>
              </a:rPr>
              <a:t> </a:t>
            </a:r>
            <a:r>
              <a:rPr lang="es-ES" sz="2400" dirty="0" err="1">
                <a:latin typeface="Helvetica" panose="020B0604020202020204" pitchFamily="34" charset="0"/>
                <a:cs typeface="Helvetica" panose="020B0604020202020204" pitchFamily="34" charset="0"/>
              </a:rPr>
              <a:t>representing</a:t>
            </a:r>
            <a:r>
              <a:rPr lang="es-ES" sz="2400" dirty="0">
                <a:latin typeface="Helvetica" panose="020B0604020202020204" pitchFamily="34" charset="0"/>
                <a:cs typeface="Helvetica" panose="020B0604020202020204" pitchFamily="34" charset="0"/>
              </a:rPr>
              <a:t> </a:t>
            </a:r>
            <a:r>
              <a:rPr lang="es-ES" sz="2400" b="1" dirty="0" err="1">
                <a:latin typeface="Helvetica" panose="020B0604020202020204" pitchFamily="34" charset="0"/>
                <a:cs typeface="Helvetica" panose="020B0604020202020204" pitchFamily="34" charset="0"/>
              </a:rPr>
              <a:t>leaf</a:t>
            </a:r>
            <a:r>
              <a:rPr lang="es-ES" sz="2400" b="1" dirty="0">
                <a:latin typeface="Helvetica" panose="020B0604020202020204" pitchFamily="34" charset="0"/>
                <a:cs typeface="Helvetica" panose="020B0604020202020204" pitchFamily="34" charset="0"/>
              </a:rPr>
              <a:t>/</a:t>
            </a:r>
            <a:r>
              <a:rPr lang="es-ES" sz="2400" b="1" dirty="0" err="1">
                <a:latin typeface="Helvetica" panose="020B0604020202020204" pitchFamily="34" charset="0"/>
                <a:cs typeface="Helvetica" panose="020B0604020202020204" pitchFamily="34" charset="0"/>
              </a:rPr>
              <a:t>morphological</a:t>
            </a:r>
            <a:r>
              <a:rPr lang="es-ES" sz="2400" b="1" dirty="0">
                <a:latin typeface="Helvetica" panose="020B0604020202020204" pitchFamily="34" charset="0"/>
                <a:cs typeface="Helvetica" panose="020B0604020202020204" pitchFamily="34" charset="0"/>
              </a:rPr>
              <a:t> </a:t>
            </a:r>
            <a:r>
              <a:rPr lang="es-ES" sz="2400" b="1" dirty="0" err="1">
                <a:latin typeface="Helvetica" panose="020B0604020202020204" pitchFamily="34" charset="0"/>
                <a:cs typeface="Helvetica" panose="020B0604020202020204" pitchFamily="34" charset="0"/>
              </a:rPr>
              <a:t>traits</a:t>
            </a:r>
            <a:r>
              <a:rPr lang="es-ES" sz="2400" b="1" dirty="0">
                <a:latin typeface="Helvetica" panose="020B0604020202020204" pitchFamily="34" charset="0"/>
                <a:cs typeface="Helvetica" panose="020B0604020202020204" pitchFamily="34" charset="0"/>
              </a:rPr>
              <a:t>  ~ Mean </a:t>
            </a:r>
            <a:r>
              <a:rPr lang="es-ES" sz="2400" b="1" dirty="0" err="1">
                <a:latin typeface="Helvetica" panose="020B0604020202020204" pitchFamily="34" charset="0"/>
                <a:cs typeface="Helvetica" panose="020B0604020202020204" pitchFamily="34" charset="0"/>
              </a:rPr>
              <a:t>Annual</a:t>
            </a:r>
            <a:r>
              <a:rPr lang="es-ES" sz="2400" b="1" dirty="0">
                <a:latin typeface="Helvetica" panose="020B0604020202020204" pitchFamily="34" charset="0"/>
                <a:cs typeface="Helvetica" panose="020B0604020202020204" pitchFamily="34" charset="0"/>
              </a:rPr>
              <a:t> </a:t>
            </a:r>
            <a:r>
              <a:rPr lang="es-ES" sz="2400" b="1" dirty="0" err="1">
                <a:latin typeface="Helvetica" panose="020B0604020202020204" pitchFamily="34" charset="0"/>
                <a:cs typeface="Helvetica" panose="020B0604020202020204" pitchFamily="34" charset="0"/>
              </a:rPr>
              <a:t>Precipitation</a:t>
            </a:r>
            <a:r>
              <a:rPr lang="es-ES" sz="2400" b="1" dirty="0">
                <a:latin typeface="Helvetica" panose="020B0604020202020204" pitchFamily="34" charset="0"/>
                <a:cs typeface="Helvetica" panose="020B0604020202020204" pitchFamily="34" charset="0"/>
              </a:rPr>
              <a:t> </a:t>
            </a:r>
            <a:r>
              <a:rPr lang="es-ES" sz="2400" dirty="0">
                <a:latin typeface="Helvetica" panose="020B0604020202020204" pitchFamily="34" charset="0"/>
                <a:cs typeface="Helvetica" panose="020B0604020202020204" pitchFamily="34" charset="0"/>
              </a:rPr>
              <a:t>(mean </a:t>
            </a:r>
            <a:r>
              <a:rPr lang="es-ES" sz="2400" dirty="0" err="1">
                <a:latin typeface="Helvetica" panose="020B0604020202020204" pitchFamily="34" charset="0"/>
                <a:cs typeface="Helvetica" panose="020B0604020202020204" pitchFamily="34" charset="0"/>
              </a:rPr>
              <a:t>from</a:t>
            </a:r>
            <a:r>
              <a:rPr lang="es-ES" sz="2400" dirty="0">
                <a:latin typeface="Helvetica" panose="020B0604020202020204" pitchFamily="34" charset="0"/>
                <a:cs typeface="Helvetica" panose="020B0604020202020204" pitchFamily="34" charset="0"/>
              </a:rPr>
              <a:t> </a:t>
            </a:r>
            <a:r>
              <a:rPr lang="es-ES" sz="2400" dirty="0" err="1">
                <a:latin typeface="Helvetica" panose="020B0604020202020204" pitchFamily="34" charset="0"/>
                <a:cs typeface="Helvetica" panose="020B0604020202020204" pitchFamily="34" charset="0"/>
              </a:rPr>
              <a:t>last</a:t>
            </a:r>
            <a:r>
              <a:rPr lang="es-ES" sz="2400" dirty="0">
                <a:latin typeface="Helvetica" panose="020B0604020202020204" pitchFamily="34" charset="0"/>
                <a:cs typeface="Helvetica" panose="020B0604020202020204" pitchFamily="34" charset="0"/>
              </a:rPr>
              <a:t> 10 </a:t>
            </a:r>
            <a:r>
              <a:rPr lang="es-ES" sz="2400" dirty="0" err="1">
                <a:latin typeface="Helvetica" panose="020B0604020202020204" pitchFamily="34" charset="0"/>
                <a:cs typeface="Helvetica" panose="020B0604020202020204" pitchFamily="34" charset="0"/>
              </a:rPr>
              <a:t>years</a:t>
            </a:r>
            <a:r>
              <a:rPr lang="es-ES" sz="2400" dirty="0">
                <a:latin typeface="Helvetica" panose="020B0604020202020204" pitchFamily="34" charset="0"/>
                <a:cs typeface="Helvetica" panose="020B0604020202020204" pitchFamily="34" charset="0"/>
              </a:rPr>
              <a:t>)</a:t>
            </a:r>
          </a:p>
        </p:txBody>
      </p:sp>
      <p:pic>
        <p:nvPicPr>
          <p:cNvPr id="6" name="Imagen 5">
            <a:extLst>
              <a:ext uri="{FF2B5EF4-FFF2-40B4-BE49-F238E27FC236}">
                <a16:creationId xmlns:a16="http://schemas.microsoft.com/office/drawing/2014/main" id="{519A2457-EF77-3462-DD09-C2C2DCDFDDE4}"/>
              </a:ext>
            </a:extLst>
          </p:cNvPr>
          <p:cNvPicPr>
            <a:picLocks noChangeAspect="1"/>
          </p:cNvPicPr>
          <p:nvPr/>
        </p:nvPicPr>
        <p:blipFill>
          <a:blip r:embed="rId3">
            <a:extLst>
              <a:ext uri="{28A0092B-C50C-407E-A947-70E740481C1C}">
                <a14:useLocalDpi xmlns:a14="http://schemas.microsoft.com/office/drawing/2010/main" val="0"/>
              </a:ext>
            </a:extLst>
          </a:blip>
          <a:srcRect l="88873" t="44270" b="43642"/>
          <a:stretch/>
        </p:blipFill>
        <p:spPr>
          <a:xfrm>
            <a:off x="6005740" y="3429000"/>
            <a:ext cx="2097400" cy="2025390"/>
          </a:xfrm>
          <a:prstGeom prst="rect">
            <a:avLst/>
          </a:prstGeom>
        </p:spPr>
      </p:pic>
    </p:spTree>
    <p:extLst>
      <p:ext uri="{BB962C8B-B14F-4D97-AF65-F5344CB8AC3E}">
        <p14:creationId xmlns:p14="http://schemas.microsoft.com/office/powerpoint/2010/main" val="9072202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B33DFE-15BC-0CC3-4DD4-6BB8059ED687}"/>
            </a:ext>
          </a:extLst>
        </p:cNvPr>
        <p:cNvGrpSpPr/>
        <p:nvPr/>
      </p:nvGrpSpPr>
      <p:grpSpPr>
        <a:xfrm>
          <a:off x="0" y="0"/>
          <a:ext cx="0" cy="0"/>
          <a:chOff x="0" y="0"/>
          <a:chExt cx="0" cy="0"/>
        </a:xfrm>
      </p:grpSpPr>
      <p:sp>
        <p:nvSpPr>
          <p:cNvPr id="3" name="Rectangle 1">
            <a:extLst>
              <a:ext uri="{FF2B5EF4-FFF2-40B4-BE49-F238E27FC236}">
                <a16:creationId xmlns:a16="http://schemas.microsoft.com/office/drawing/2014/main" id="{F1A7ECA8-8470-69CF-63F2-079F488AAF5E}"/>
              </a:ext>
            </a:extLst>
          </p:cNvPr>
          <p:cNvSpPr>
            <a:spLocks noChangeArrowheads="1"/>
          </p:cNvSpPr>
          <p:nvPr/>
        </p:nvSpPr>
        <p:spPr bwMode="auto">
          <a:xfrm>
            <a:off x="5288915" y="1477262"/>
            <a:ext cx="936624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s-ES" altLang="es-E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1800" b="0" i="0" u="none" strike="noStrike" cap="none" normalizeH="0" baseline="0">
              <a:ln>
                <a:noFill/>
              </a:ln>
              <a:solidFill>
                <a:schemeClr val="tx1"/>
              </a:solidFill>
              <a:effectLst/>
              <a:latin typeface="Arial" panose="020B0604020202020204" pitchFamily="34" charset="0"/>
            </a:endParaRPr>
          </a:p>
        </p:txBody>
      </p:sp>
      <p:sp>
        <p:nvSpPr>
          <p:cNvPr id="2" name="Título 1">
            <a:extLst>
              <a:ext uri="{FF2B5EF4-FFF2-40B4-BE49-F238E27FC236}">
                <a16:creationId xmlns:a16="http://schemas.microsoft.com/office/drawing/2014/main" id="{08F775AA-7061-CB15-CC32-84B922D69B89}"/>
              </a:ext>
            </a:extLst>
          </p:cNvPr>
          <p:cNvSpPr>
            <a:spLocks noGrp="1"/>
          </p:cNvSpPr>
          <p:nvPr>
            <p:ph type="title"/>
          </p:nvPr>
        </p:nvSpPr>
        <p:spPr>
          <a:xfrm>
            <a:off x="0" y="0"/>
            <a:ext cx="9690902" cy="804155"/>
          </a:xfrm>
          <a:solidFill>
            <a:srgbClr val="218317"/>
          </a:solidFill>
        </p:spPr>
        <p:txBody>
          <a:bodyPr>
            <a:normAutofit/>
          </a:bodyPr>
          <a:lstStyle/>
          <a:p>
            <a:r>
              <a:rPr lang="es-ES" sz="3200" b="1" dirty="0">
                <a:solidFill>
                  <a:schemeClr val="bg1"/>
                </a:solidFill>
                <a:latin typeface="Helvetica" panose="020B0604020202020204" pitchFamily="34" charset="0"/>
                <a:cs typeface="Helvetica" panose="020B0604020202020204" pitchFamily="34" charset="0"/>
              </a:rPr>
              <a:t>	</a:t>
            </a:r>
            <a:r>
              <a:rPr lang="es-ES" sz="3200" b="1" dirty="0" err="1">
                <a:solidFill>
                  <a:schemeClr val="bg1"/>
                </a:solidFill>
                <a:latin typeface="Helvetica" panose="020B0604020202020204" pitchFamily="34" charset="0"/>
                <a:cs typeface="Helvetica" panose="020B0604020202020204" pitchFamily="34" charset="0"/>
              </a:rPr>
              <a:t>Preliminary</a:t>
            </a:r>
            <a:r>
              <a:rPr lang="es-ES" sz="3200" b="1" dirty="0">
                <a:solidFill>
                  <a:schemeClr val="bg1"/>
                </a:solidFill>
                <a:latin typeface="Helvetica" panose="020B0604020202020204" pitchFamily="34" charset="0"/>
                <a:cs typeface="Helvetica" panose="020B0604020202020204" pitchFamily="34" charset="0"/>
              </a:rPr>
              <a:t> </a:t>
            </a:r>
            <a:r>
              <a:rPr lang="es-ES" sz="3200" b="1" dirty="0" err="1">
                <a:solidFill>
                  <a:schemeClr val="bg1"/>
                </a:solidFill>
                <a:latin typeface="Helvetica" panose="020B0604020202020204" pitchFamily="34" charset="0"/>
                <a:cs typeface="Helvetica" panose="020B0604020202020204" pitchFamily="34" charset="0"/>
              </a:rPr>
              <a:t>results</a:t>
            </a:r>
            <a:endParaRPr lang="es-ES" sz="3200" b="1" dirty="0">
              <a:solidFill>
                <a:schemeClr val="bg1"/>
              </a:solidFill>
              <a:latin typeface="Helvetica" panose="020B0604020202020204" pitchFamily="34" charset="0"/>
              <a:cs typeface="Helvetica" panose="020B0604020202020204" pitchFamily="34" charset="0"/>
            </a:endParaRPr>
          </a:p>
        </p:txBody>
      </p:sp>
      <p:sp>
        <p:nvSpPr>
          <p:cNvPr id="8" name="Título 1">
            <a:extLst>
              <a:ext uri="{FF2B5EF4-FFF2-40B4-BE49-F238E27FC236}">
                <a16:creationId xmlns:a16="http://schemas.microsoft.com/office/drawing/2014/main" id="{1FD26ACB-CE45-E406-281D-C5359F2D1998}"/>
              </a:ext>
            </a:extLst>
          </p:cNvPr>
          <p:cNvSpPr txBox="1">
            <a:spLocks/>
          </p:cNvSpPr>
          <p:nvPr/>
        </p:nvSpPr>
        <p:spPr>
          <a:xfrm>
            <a:off x="9690902" y="-1"/>
            <a:ext cx="2501098" cy="804157"/>
          </a:xfrm>
          <a:prstGeom prst="rect">
            <a:avLst/>
          </a:prstGeom>
          <a:solidFill>
            <a:srgbClr val="218317"/>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s-ES" sz="2800" b="1" dirty="0">
                <a:solidFill>
                  <a:schemeClr val="accent6">
                    <a:lumMod val="60000"/>
                    <a:lumOff val="40000"/>
                  </a:schemeClr>
                </a:solidFill>
                <a:latin typeface="Helvetica" panose="020B0604020202020204" pitchFamily="34" charset="0"/>
                <a:cs typeface="Helvetica" panose="020B0604020202020204" pitchFamily="34" charset="0"/>
              </a:rPr>
              <a:t>Figures	</a:t>
            </a:r>
            <a:endParaRPr lang="es-ES" sz="2800" b="1" dirty="0">
              <a:solidFill>
                <a:srgbClr val="218317"/>
              </a:solidFill>
              <a:latin typeface="Helvetica" panose="020B0604020202020204" pitchFamily="34" charset="0"/>
              <a:cs typeface="Helvetica" panose="020B0604020202020204" pitchFamily="34" charset="0"/>
            </a:endParaRPr>
          </a:p>
        </p:txBody>
      </p:sp>
      <p:pic>
        <p:nvPicPr>
          <p:cNvPr id="5" name="Imagen 4">
            <a:extLst>
              <a:ext uri="{FF2B5EF4-FFF2-40B4-BE49-F238E27FC236}">
                <a16:creationId xmlns:a16="http://schemas.microsoft.com/office/drawing/2014/main" id="{0E163397-2E50-1D02-F58C-308020950120}"/>
              </a:ext>
            </a:extLst>
          </p:cNvPr>
          <p:cNvPicPr>
            <a:picLocks noChangeAspect="1"/>
          </p:cNvPicPr>
          <p:nvPr/>
        </p:nvPicPr>
        <p:blipFill>
          <a:blip r:embed="rId4">
            <a:extLst>
              <a:ext uri="{28A0092B-C50C-407E-A947-70E740481C1C}">
                <a14:useLocalDpi xmlns:a14="http://schemas.microsoft.com/office/drawing/2010/main" val="0"/>
              </a:ext>
            </a:extLst>
          </a:blip>
          <a:srcRect t="-1" r="77669" b="75016"/>
          <a:stretch/>
        </p:blipFill>
        <p:spPr>
          <a:xfrm>
            <a:off x="333068" y="1014073"/>
            <a:ext cx="2787817" cy="2772423"/>
          </a:xfrm>
          <a:prstGeom prst="rect">
            <a:avLst/>
          </a:prstGeom>
        </p:spPr>
      </p:pic>
      <p:sp>
        <p:nvSpPr>
          <p:cNvPr id="4" name="CuadroTexto 10">
            <a:extLst>
              <a:ext uri="{FF2B5EF4-FFF2-40B4-BE49-F238E27FC236}">
                <a16:creationId xmlns:a16="http://schemas.microsoft.com/office/drawing/2014/main" id="{7CC4FF75-944D-4D0C-F1F3-41E86F2E6A4F}"/>
              </a:ext>
            </a:extLst>
          </p:cNvPr>
          <p:cNvSpPr txBox="1"/>
          <p:nvPr/>
        </p:nvSpPr>
        <p:spPr>
          <a:xfrm>
            <a:off x="53818" y="3996416"/>
            <a:ext cx="3346315" cy="1938992"/>
          </a:xfrm>
          <a:prstGeom prst="rect">
            <a:avLst/>
          </a:prstGeom>
          <a:noFill/>
        </p:spPr>
        <p:txBody>
          <a:bodyPr wrap="square" rtlCol="0">
            <a:spAutoFit/>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1" algn="ctr"/>
            <a:r>
              <a:rPr lang="es-ES" sz="2000" b="1" dirty="0">
                <a:latin typeface="Helvetica" panose="020B0604020202020204" pitchFamily="34" charset="0"/>
                <a:cs typeface="Helvetica" panose="020B0604020202020204" pitchFamily="34" charset="0"/>
              </a:rPr>
              <a:t>Positive </a:t>
            </a:r>
            <a:r>
              <a:rPr lang="es-ES" sz="2000" b="1" dirty="0" err="1">
                <a:latin typeface="Helvetica" panose="020B0604020202020204" pitchFamily="34" charset="0"/>
                <a:cs typeface="Helvetica" panose="020B0604020202020204" pitchFamily="34" charset="0"/>
              </a:rPr>
              <a:t>relationship</a:t>
            </a:r>
            <a:r>
              <a:rPr lang="es-ES" sz="2000" b="1"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between</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tree</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height</a:t>
            </a:r>
            <a:r>
              <a:rPr lang="es-ES" sz="2000" dirty="0">
                <a:latin typeface="Helvetica" panose="020B0604020202020204" pitchFamily="34" charset="0"/>
                <a:cs typeface="Helvetica" panose="020B0604020202020204" pitchFamily="34" charset="0"/>
              </a:rPr>
              <a:t> and MAP </a:t>
            </a:r>
            <a:r>
              <a:rPr lang="es-ES" sz="2000" b="1" dirty="0" err="1">
                <a:latin typeface="Helvetica" panose="020B0604020202020204" pitchFamily="34" charset="0"/>
                <a:cs typeface="Helvetica" panose="020B0604020202020204" pitchFamily="34" charset="0"/>
              </a:rPr>
              <a:t>only</a:t>
            </a:r>
            <a:r>
              <a:rPr lang="es-ES" sz="2000" b="1" dirty="0">
                <a:latin typeface="Helvetica" panose="020B0604020202020204" pitchFamily="34" charset="0"/>
                <a:cs typeface="Helvetica" panose="020B0604020202020204" pitchFamily="34" charset="0"/>
              </a:rPr>
              <a:t> in </a:t>
            </a:r>
            <a:r>
              <a:rPr lang="es-ES" sz="2000" b="1" dirty="0" err="1">
                <a:latin typeface="Helvetica" panose="020B0604020202020204" pitchFamily="34" charset="0"/>
                <a:cs typeface="Helvetica" panose="020B0604020202020204" pitchFamily="34" charset="0"/>
              </a:rPr>
              <a:t>healthy</a:t>
            </a:r>
            <a:r>
              <a:rPr lang="es-ES" sz="2000" b="1" dirty="0">
                <a:latin typeface="Helvetica" panose="020B0604020202020204" pitchFamily="34" charset="0"/>
                <a:cs typeface="Helvetica" panose="020B0604020202020204" pitchFamily="34" charset="0"/>
              </a:rPr>
              <a:t> sites. </a:t>
            </a:r>
            <a:r>
              <a:rPr lang="es-ES" sz="2000" dirty="0" err="1">
                <a:latin typeface="Helvetica" panose="020B0604020202020204" pitchFamily="34" charset="0"/>
                <a:cs typeface="Helvetica" panose="020B0604020202020204" pitchFamily="34" charset="0"/>
              </a:rPr>
              <a:t>Maybe</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defoliation</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is</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limiting</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tree</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size</a:t>
            </a:r>
            <a:r>
              <a:rPr lang="es-ES" sz="2000" dirty="0">
                <a:latin typeface="Helvetica" panose="020B0604020202020204" pitchFamily="34" charset="0"/>
                <a:cs typeface="Helvetica" panose="020B0604020202020204" pitchFamily="34" charset="0"/>
              </a:rPr>
              <a:t>?</a:t>
            </a:r>
          </a:p>
        </p:txBody>
      </p:sp>
      <p:pic>
        <p:nvPicPr>
          <p:cNvPr id="6" name="Imagen 5">
            <a:extLst>
              <a:ext uri="{FF2B5EF4-FFF2-40B4-BE49-F238E27FC236}">
                <a16:creationId xmlns:a16="http://schemas.microsoft.com/office/drawing/2014/main" id="{C119C52F-3968-8904-5DEA-F3F81C28E23A}"/>
              </a:ext>
            </a:extLst>
          </p:cNvPr>
          <p:cNvPicPr>
            <a:picLocks noChangeAspect="1"/>
          </p:cNvPicPr>
          <p:nvPr/>
        </p:nvPicPr>
        <p:blipFill>
          <a:blip r:embed="rId4">
            <a:extLst>
              <a:ext uri="{28A0092B-C50C-407E-A947-70E740481C1C}">
                <a14:useLocalDpi xmlns:a14="http://schemas.microsoft.com/office/drawing/2010/main" val="0"/>
              </a:ext>
            </a:extLst>
          </a:blip>
          <a:srcRect l="66385" r="11284" b="75015"/>
          <a:stretch/>
        </p:blipFill>
        <p:spPr>
          <a:xfrm>
            <a:off x="3216235" y="1014073"/>
            <a:ext cx="2787817" cy="2772423"/>
          </a:xfrm>
          <a:prstGeom prst="rect">
            <a:avLst/>
          </a:prstGeom>
        </p:spPr>
      </p:pic>
      <p:pic>
        <p:nvPicPr>
          <p:cNvPr id="7" name="Imagen 6">
            <a:extLst>
              <a:ext uri="{FF2B5EF4-FFF2-40B4-BE49-F238E27FC236}">
                <a16:creationId xmlns:a16="http://schemas.microsoft.com/office/drawing/2014/main" id="{A7C491DC-C608-8F46-A145-E63D51880C6E}"/>
              </a:ext>
            </a:extLst>
          </p:cNvPr>
          <p:cNvPicPr>
            <a:picLocks noChangeAspect="1"/>
          </p:cNvPicPr>
          <p:nvPr/>
        </p:nvPicPr>
        <p:blipFill>
          <a:blip r:embed="rId4">
            <a:extLst>
              <a:ext uri="{28A0092B-C50C-407E-A947-70E740481C1C}">
                <a14:useLocalDpi xmlns:a14="http://schemas.microsoft.com/office/drawing/2010/main" val="0"/>
              </a:ext>
            </a:extLst>
          </a:blip>
          <a:srcRect l="-47" t="25015" r="77716" b="50000"/>
          <a:stretch/>
        </p:blipFill>
        <p:spPr>
          <a:xfrm>
            <a:off x="6004052" y="1014073"/>
            <a:ext cx="2787817" cy="2772423"/>
          </a:xfrm>
          <a:prstGeom prst="rect">
            <a:avLst/>
          </a:prstGeom>
        </p:spPr>
      </p:pic>
      <p:sp>
        <p:nvSpPr>
          <p:cNvPr id="9" name="CuadroTexto 10">
            <a:extLst>
              <a:ext uri="{FF2B5EF4-FFF2-40B4-BE49-F238E27FC236}">
                <a16:creationId xmlns:a16="http://schemas.microsoft.com/office/drawing/2014/main" id="{A1231B6A-FEED-A1D5-E81A-DD62047C8BD5}"/>
              </a:ext>
            </a:extLst>
          </p:cNvPr>
          <p:cNvSpPr txBox="1"/>
          <p:nvPr/>
        </p:nvSpPr>
        <p:spPr>
          <a:xfrm>
            <a:off x="3769566" y="3996414"/>
            <a:ext cx="4909496" cy="1938992"/>
          </a:xfrm>
          <a:prstGeom prst="rect">
            <a:avLst/>
          </a:prstGeom>
          <a:noFill/>
        </p:spPr>
        <p:txBody>
          <a:bodyPr wrap="square" rtlCol="0">
            <a:spAutoFit/>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1" algn="ctr"/>
            <a:r>
              <a:rPr lang="es-ES" sz="2000" b="1" dirty="0" err="1">
                <a:latin typeface="Helvetica" panose="020B0604020202020204" pitchFamily="34" charset="0"/>
                <a:cs typeface="Helvetica" panose="020B0604020202020204" pitchFamily="34" charset="0"/>
              </a:rPr>
              <a:t>Opposite</a:t>
            </a:r>
            <a:r>
              <a:rPr lang="es-ES" sz="2000" b="1" dirty="0">
                <a:latin typeface="Helvetica" panose="020B0604020202020204" pitchFamily="34" charset="0"/>
                <a:cs typeface="Helvetica" panose="020B0604020202020204" pitchFamily="34" charset="0"/>
              </a:rPr>
              <a:t> </a:t>
            </a:r>
            <a:r>
              <a:rPr lang="es-ES" sz="2000" b="1" dirty="0" err="1">
                <a:latin typeface="Helvetica" panose="020B0604020202020204" pitchFamily="34" charset="0"/>
                <a:cs typeface="Helvetica" panose="020B0604020202020204" pitchFamily="34" charset="0"/>
              </a:rPr>
              <a:t>trends</a:t>
            </a:r>
            <a:r>
              <a:rPr lang="es-ES" sz="2000" b="1" dirty="0">
                <a:latin typeface="Helvetica" panose="020B0604020202020204" pitchFamily="34" charset="0"/>
                <a:cs typeface="Helvetica" panose="020B0604020202020204" pitchFamily="34" charset="0"/>
              </a:rPr>
              <a:t> </a:t>
            </a:r>
            <a:r>
              <a:rPr lang="es-ES" sz="2000" b="1" dirty="0" err="1">
                <a:latin typeface="Helvetica" panose="020B0604020202020204" pitchFamily="34" charset="0"/>
                <a:cs typeface="Helvetica" panose="020B0604020202020204" pitchFamily="34" charset="0"/>
              </a:rPr>
              <a:t>for</a:t>
            </a:r>
            <a:r>
              <a:rPr lang="es-ES" sz="2000" b="1" dirty="0">
                <a:latin typeface="Helvetica" panose="020B0604020202020204" pitchFamily="34" charset="0"/>
                <a:cs typeface="Helvetica" panose="020B0604020202020204" pitchFamily="34" charset="0"/>
              </a:rPr>
              <a:t> C and N </a:t>
            </a:r>
            <a:r>
              <a:rPr lang="es-ES" sz="2000" b="1" dirty="0" err="1">
                <a:latin typeface="Helvetica" panose="020B0604020202020204" pitchFamily="34" charset="0"/>
                <a:cs typeface="Helvetica" panose="020B0604020202020204" pitchFamily="34" charset="0"/>
              </a:rPr>
              <a:t>content</a:t>
            </a:r>
            <a:r>
              <a:rPr lang="es-ES" sz="2000" b="1"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With</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increasing</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precipitation</a:t>
            </a:r>
            <a:r>
              <a:rPr lang="es-ES" sz="2000" dirty="0">
                <a:latin typeface="Helvetica" panose="020B0604020202020204" pitchFamily="34" charset="0"/>
                <a:cs typeface="Helvetica" panose="020B0604020202020204" pitchFamily="34" charset="0"/>
              </a:rPr>
              <a:t>, C </a:t>
            </a:r>
            <a:r>
              <a:rPr lang="es-ES" sz="2000" dirty="0" err="1">
                <a:latin typeface="Helvetica" panose="020B0604020202020204" pitchFamily="34" charset="0"/>
                <a:cs typeface="Helvetica" panose="020B0604020202020204" pitchFamily="34" charset="0"/>
              </a:rPr>
              <a:t>content</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is</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reduced</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while</a:t>
            </a:r>
            <a:r>
              <a:rPr lang="es-ES" sz="2000" dirty="0">
                <a:latin typeface="Helvetica" panose="020B0604020202020204" pitchFamily="34" charset="0"/>
                <a:cs typeface="Helvetica" panose="020B0604020202020204" pitchFamily="34" charset="0"/>
              </a:rPr>
              <a:t> N </a:t>
            </a:r>
            <a:r>
              <a:rPr lang="es-ES" sz="2000" dirty="0" err="1">
                <a:latin typeface="Helvetica" panose="020B0604020202020204" pitchFamily="34" charset="0"/>
                <a:cs typeface="Helvetica" panose="020B0604020202020204" pitchFamily="34" charset="0"/>
              </a:rPr>
              <a:t>content</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increases</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Probably</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because</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of</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higher</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chlorophyll</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content</a:t>
            </a:r>
            <a:r>
              <a:rPr lang="es-ES" sz="2000" dirty="0">
                <a:latin typeface="Helvetica" panose="020B0604020202020204" pitchFamily="34" charset="0"/>
                <a:cs typeface="Helvetica" panose="020B0604020202020204" pitchFamily="34" charset="0"/>
              </a:rPr>
              <a:t> in </a:t>
            </a:r>
            <a:r>
              <a:rPr lang="es-ES" sz="2000" dirty="0" err="1">
                <a:latin typeface="Helvetica" panose="020B0604020202020204" pitchFamily="34" charset="0"/>
                <a:cs typeface="Helvetica" panose="020B0604020202020204" pitchFamily="34" charset="0"/>
              </a:rPr>
              <a:t>leaves</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with</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higher</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precipitations</a:t>
            </a:r>
            <a:r>
              <a:rPr lang="es-ES" sz="2000" dirty="0">
                <a:latin typeface="Helvetica" panose="020B0604020202020204" pitchFamily="34" charset="0"/>
                <a:cs typeface="Helvetica" panose="020B0604020202020204" pitchFamily="34" charset="0"/>
              </a:rPr>
              <a:t>?</a:t>
            </a:r>
          </a:p>
        </p:txBody>
      </p:sp>
      <p:pic>
        <p:nvPicPr>
          <p:cNvPr id="10" name="Imagen 9">
            <a:extLst>
              <a:ext uri="{FF2B5EF4-FFF2-40B4-BE49-F238E27FC236}">
                <a16:creationId xmlns:a16="http://schemas.microsoft.com/office/drawing/2014/main" id="{CBB1843F-83A7-B941-23A5-656F351B318D}"/>
              </a:ext>
            </a:extLst>
          </p:cNvPr>
          <p:cNvPicPr>
            <a:picLocks noChangeAspect="1"/>
          </p:cNvPicPr>
          <p:nvPr/>
        </p:nvPicPr>
        <p:blipFill>
          <a:blip r:embed="rId4">
            <a:extLst>
              <a:ext uri="{28A0092B-C50C-407E-A947-70E740481C1C}">
                <a14:useLocalDpi xmlns:a14="http://schemas.microsoft.com/office/drawing/2010/main" val="0"/>
              </a:ext>
            </a:extLst>
          </a:blip>
          <a:srcRect l="21858" t="50000" r="55811" b="25015"/>
          <a:stretch/>
        </p:blipFill>
        <p:spPr>
          <a:xfrm>
            <a:off x="8935697" y="1014072"/>
            <a:ext cx="2787817" cy="2772423"/>
          </a:xfrm>
          <a:prstGeom prst="rect">
            <a:avLst/>
          </a:prstGeom>
        </p:spPr>
      </p:pic>
      <p:sp>
        <p:nvSpPr>
          <p:cNvPr id="11" name="CuadroTexto 10">
            <a:extLst>
              <a:ext uri="{FF2B5EF4-FFF2-40B4-BE49-F238E27FC236}">
                <a16:creationId xmlns:a16="http://schemas.microsoft.com/office/drawing/2014/main" id="{D8311DB6-FC03-1B0F-2550-8B5345F8847E}"/>
              </a:ext>
            </a:extLst>
          </p:cNvPr>
          <p:cNvSpPr txBox="1"/>
          <p:nvPr/>
        </p:nvSpPr>
        <p:spPr>
          <a:xfrm>
            <a:off x="8638998" y="3996411"/>
            <a:ext cx="3346315" cy="1938992"/>
          </a:xfrm>
          <a:prstGeom prst="rect">
            <a:avLst/>
          </a:prstGeom>
          <a:noFill/>
        </p:spPr>
        <p:txBody>
          <a:bodyPr wrap="square" rtlCol="0">
            <a:spAutoFit/>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1" algn="ctr"/>
            <a:r>
              <a:rPr lang="es-ES" sz="2000" b="1" dirty="0">
                <a:latin typeface="Helvetica" panose="020B0604020202020204" pitchFamily="34" charset="0"/>
                <a:cs typeface="Helvetica" panose="020B0604020202020204" pitchFamily="34" charset="0"/>
              </a:rPr>
              <a:t>Positive </a:t>
            </a:r>
            <a:r>
              <a:rPr lang="es-ES" sz="2000" b="1" dirty="0" err="1">
                <a:latin typeface="Helvetica" panose="020B0604020202020204" pitchFamily="34" charset="0"/>
                <a:cs typeface="Helvetica" panose="020B0604020202020204" pitchFamily="34" charset="0"/>
              </a:rPr>
              <a:t>relationship</a:t>
            </a:r>
            <a:r>
              <a:rPr lang="es-ES" sz="2000" b="1"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between</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Chl</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content</a:t>
            </a:r>
            <a:r>
              <a:rPr lang="es-ES" sz="2000" dirty="0">
                <a:latin typeface="Helvetica" panose="020B0604020202020204" pitchFamily="34" charset="0"/>
                <a:cs typeface="Helvetica" panose="020B0604020202020204" pitchFamily="34" charset="0"/>
              </a:rPr>
              <a:t> and MAP </a:t>
            </a:r>
            <a:r>
              <a:rPr lang="es-ES" sz="2000" b="1" dirty="0" err="1">
                <a:latin typeface="Helvetica" panose="020B0604020202020204" pitchFamily="34" charset="0"/>
                <a:cs typeface="Helvetica" panose="020B0604020202020204" pitchFamily="34" charset="0"/>
              </a:rPr>
              <a:t>specially</a:t>
            </a:r>
            <a:r>
              <a:rPr lang="es-ES" sz="2000" b="1" dirty="0">
                <a:latin typeface="Helvetica" panose="020B0604020202020204" pitchFamily="34" charset="0"/>
                <a:cs typeface="Helvetica" panose="020B0604020202020204" pitchFamily="34" charset="0"/>
              </a:rPr>
              <a:t> in </a:t>
            </a:r>
            <a:r>
              <a:rPr lang="es-ES" sz="2000" b="1" dirty="0" err="1">
                <a:latin typeface="Helvetica" panose="020B0604020202020204" pitchFamily="34" charset="0"/>
                <a:cs typeface="Helvetica" panose="020B0604020202020204" pitchFamily="34" charset="0"/>
              </a:rPr>
              <a:t>healthy</a:t>
            </a:r>
            <a:r>
              <a:rPr lang="es-ES" sz="2000" b="1" dirty="0">
                <a:latin typeface="Helvetica" panose="020B0604020202020204" pitchFamily="34" charset="0"/>
                <a:cs typeface="Helvetica" panose="020B0604020202020204" pitchFamily="34" charset="0"/>
              </a:rPr>
              <a:t> sites. </a:t>
            </a:r>
            <a:r>
              <a:rPr lang="es-ES" sz="2000" dirty="0" err="1">
                <a:latin typeface="Helvetica" panose="020B0604020202020204" pitchFamily="34" charset="0"/>
                <a:cs typeface="Helvetica" panose="020B0604020202020204" pitchFamily="34" charset="0"/>
              </a:rPr>
              <a:t>However</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it’s</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not</a:t>
            </a:r>
            <a:r>
              <a:rPr lang="es-ES" sz="2000" dirty="0">
                <a:latin typeface="Helvetica" panose="020B0604020202020204" pitchFamily="34" charset="0"/>
                <a:cs typeface="Helvetica" panose="020B0604020202020204" pitchFamily="34" charset="0"/>
              </a:rPr>
              <a:t> super </a:t>
            </a:r>
            <a:r>
              <a:rPr lang="es-ES" sz="2000" dirty="0" err="1">
                <a:latin typeface="Helvetica" panose="020B0604020202020204" pitchFamily="34" charset="0"/>
                <a:cs typeface="Helvetica" panose="020B0604020202020204" pitchFamily="34" charset="0"/>
              </a:rPr>
              <a:t>strong</a:t>
            </a:r>
            <a:r>
              <a:rPr lang="es-ES" sz="2000" dirty="0">
                <a:latin typeface="Helvetica" panose="020B0604020202020204" pitchFamily="34" charset="0"/>
                <a:cs typeface="Helvetica" panose="020B0604020202020204" pitchFamily="34" charset="0"/>
              </a:rPr>
              <a:t>…</a:t>
            </a:r>
          </a:p>
        </p:txBody>
      </p:sp>
    </p:spTree>
    <p:extLst>
      <p:ext uri="{BB962C8B-B14F-4D97-AF65-F5344CB8AC3E}">
        <p14:creationId xmlns:p14="http://schemas.microsoft.com/office/powerpoint/2010/main" val="3935429215"/>
      </p:ext>
    </p:extLst>
  </p:cSld>
  <p:clrMapOvr>
    <a:masterClrMapping/>
  </p:clrMapOvr>
  <p:extLst>
    <p:ext uri="{6950BFC3-D8DA-4A85-94F7-54DA5524770B}">
      <p188:commentRel xmlns:p188="http://schemas.microsoft.com/office/powerpoint/2018/8/main" r:id="rId3"/>
    </p:ext>
  </p:extLs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832BED-3736-FEAB-171A-F5DB85096747}"/>
            </a:ext>
          </a:extLst>
        </p:cNvPr>
        <p:cNvGrpSpPr/>
        <p:nvPr/>
      </p:nvGrpSpPr>
      <p:grpSpPr>
        <a:xfrm>
          <a:off x="0" y="0"/>
          <a:ext cx="0" cy="0"/>
          <a:chOff x="0" y="0"/>
          <a:chExt cx="0" cy="0"/>
        </a:xfrm>
      </p:grpSpPr>
      <p:sp>
        <p:nvSpPr>
          <p:cNvPr id="3" name="Rectangle 1">
            <a:extLst>
              <a:ext uri="{FF2B5EF4-FFF2-40B4-BE49-F238E27FC236}">
                <a16:creationId xmlns:a16="http://schemas.microsoft.com/office/drawing/2014/main" id="{B4FE366D-D4C0-F7D3-0014-0434D1FAF753}"/>
              </a:ext>
            </a:extLst>
          </p:cNvPr>
          <p:cNvSpPr>
            <a:spLocks noChangeArrowheads="1"/>
          </p:cNvSpPr>
          <p:nvPr/>
        </p:nvSpPr>
        <p:spPr bwMode="auto">
          <a:xfrm>
            <a:off x="5288915" y="1477262"/>
            <a:ext cx="936624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s-ES" altLang="es-E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ES" altLang="es-ES" sz="1800" b="0" i="0" u="none" strike="noStrike" cap="none" normalizeH="0" baseline="0">
              <a:ln>
                <a:noFill/>
              </a:ln>
              <a:solidFill>
                <a:schemeClr val="tx1"/>
              </a:solidFill>
              <a:effectLst/>
              <a:latin typeface="Arial" panose="020B0604020202020204" pitchFamily="34" charset="0"/>
            </a:endParaRPr>
          </a:p>
        </p:txBody>
      </p:sp>
      <p:sp>
        <p:nvSpPr>
          <p:cNvPr id="2" name="Título 1">
            <a:extLst>
              <a:ext uri="{FF2B5EF4-FFF2-40B4-BE49-F238E27FC236}">
                <a16:creationId xmlns:a16="http://schemas.microsoft.com/office/drawing/2014/main" id="{0C12E6D0-5B6D-EFEB-FAD2-4C46B82AA0EA}"/>
              </a:ext>
            </a:extLst>
          </p:cNvPr>
          <p:cNvSpPr>
            <a:spLocks noGrp="1"/>
          </p:cNvSpPr>
          <p:nvPr>
            <p:ph type="title"/>
          </p:nvPr>
        </p:nvSpPr>
        <p:spPr>
          <a:xfrm>
            <a:off x="0" y="0"/>
            <a:ext cx="9690902" cy="804155"/>
          </a:xfrm>
          <a:solidFill>
            <a:srgbClr val="218317"/>
          </a:solidFill>
        </p:spPr>
        <p:txBody>
          <a:bodyPr>
            <a:normAutofit/>
          </a:bodyPr>
          <a:lstStyle/>
          <a:p>
            <a:r>
              <a:rPr lang="es-ES" sz="3200" b="1" dirty="0">
                <a:solidFill>
                  <a:schemeClr val="bg1"/>
                </a:solidFill>
                <a:latin typeface="Helvetica" panose="020B0604020202020204" pitchFamily="34" charset="0"/>
                <a:cs typeface="Helvetica" panose="020B0604020202020204" pitchFamily="34" charset="0"/>
              </a:rPr>
              <a:t>	</a:t>
            </a:r>
            <a:r>
              <a:rPr lang="es-ES" sz="3200" b="1" dirty="0" err="1">
                <a:solidFill>
                  <a:schemeClr val="bg1"/>
                </a:solidFill>
                <a:latin typeface="Helvetica" panose="020B0604020202020204" pitchFamily="34" charset="0"/>
                <a:cs typeface="Helvetica" panose="020B0604020202020204" pitchFamily="34" charset="0"/>
              </a:rPr>
              <a:t>Preliminary</a:t>
            </a:r>
            <a:r>
              <a:rPr lang="es-ES" sz="3200" b="1" dirty="0">
                <a:solidFill>
                  <a:schemeClr val="bg1"/>
                </a:solidFill>
                <a:latin typeface="Helvetica" panose="020B0604020202020204" pitchFamily="34" charset="0"/>
                <a:cs typeface="Helvetica" panose="020B0604020202020204" pitchFamily="34" charset="0"/>
              </a:rPr>
              <a:t> </a:t>
            </a:r>
            <a:r>
              <a:rPr lang="es-ES" sz="3200" b="1" dirty="0" err="1">
                <a:solidFill>
                  <a:schemeClr val="bg1"/>
                </a:solidFill>
                <a:latin typeface="Helvetica" panose="020B0604020202020204" pitchFamily="34" charset="0"/>
                <a:cs typeface="Helvetica" panose="020B0604020202020204" pitchFamily="34" charset="0"/>
              </a:rPr>
              <a:t>results</a:t>
            </a:r>
            <a:endParaRPr lang="es-ES" sz="3200" b="1" dirty="0">
              <a:solidFill>
                <a:schemeClr val="bg1"/>
              </a:solidFill>
              <a:latin typeface="Helvetica" panose="020B0604020202020204" pitchFamily="34" charset="0"/>
              <a:cs typeface="Helvetica" panose="020B0604020202020204" pitchFamily="34" charset="0"/>
            </a:endParaRPr>
          </a:p>
        </p:txBody>
      </p:sp>
      <p:sp>
        <p:nvSpPr>
          <p:cNvPr id="8" name="Título 1">
            <a:extLst>
              <a:ext uri="{FF2B5EF4-FFF2-40B4-BE49-F238E27FC236}">
                <a16:creationId xmlns:a16="http://schemas.microsoft.com/office/drawing/2014/main" id="{B1B657E6-48DF-374B-3CFA-3E442052EB9B}"/>
              </a:ext>
            </a:extLst>
          </p:cNvPr>
          <p:cNvSpPr txBox="1">
            <a:spLocks/>
          </p:cNvSpPr>
          <p:nvPr/>
        </p:nvSpPr>
        <p:spPr>
          <a:xfrm>
            <a:off x="9690902" y="-1"/>
            <a:ext cx="2501098" cy="804157"/>
          </a:xfrm>
          <a:prstGeom prst="rect">
            <a:avLst/>
          </a:prstGeom>
          <a:solidFill>
            <a:srgbClr val="218317"/>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s-ES" sz="2800" b="1" dirty="0">
                <a:solidFill>
                  <a:schemeClr val="accent6">
                    <a:lumMod val="60000"/>
                    <a:lumOff val="40000"/>
                  </a:schemeClr>
                </a:solidFill>
                <a:latin typeface="Helvetica" panose="020B0604020202020204" pitchFamily="34" charset="0"/>
                <a:cs typeface="Helvetica" panose="020B0604020202020204" pitchFamily="34" charset="0"/>
              </a:rPr>
              <a:t>Figures	</a:t>
            </a:r>
            <a:endParaRPr lang="es-ES" sz="2800" b="1" dirty="0">
              <a:solidFill>
                <a:srgbClr val="218317"/>
              </a:solidFill>
              <a:latin typeface="Helvetica" panose="020B0604020202020204" pitchFamily="34" charset="0"/>
              <a:cs typeface="Helvetica" panose="020B0604020202020204" pitchFamily="34" charset="0"/>
            </a:endParaRPr>
          </a:p>
        </p:txBody>
      </p:sp>
      <p:sp>
        <p:nvSpPr>
          <p:cNvPr id="9" name="CuadroTexto 10">
            <a:extLst>
              <a:ext uri="{FF2B5EF4-FFF2-40B4-BE49-F238E27FC236}">
                <a16:creationId xmlns:a16="http://schemas.microsoft.com/office/drawing/2014/main" id="{2D3BD283-A260-12C2-95B2-2149C0AAA33B}"/>
              </a:ext>
            </a:extLst>
          </p:cNvPr>
          <p:cNvSpPr txBox="1"/>
          <p:nvPr/>
        </p:nvSpPr>
        <p:spPr>
          <a:xfrm>
            <a:off x="962511" y="3996418"/>
            <a:ext cx="4909496" cy="2246769"/>
          </a:xfrm>
          <a:prstGeom prst="rect">
            <a:avLst/>
          </a:prstGeom>
          <a:noFill/>
        </p:spPr>
        <p:txBody>
          <a:bodyPr wrap="square" rtlCol="0">
            <a:spAutoFit/>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1" algn="ctr"/>
            <a:r>
              <a:rPr lang="es-ES" sz="2000" dirty="0" err="1">
                <a:latin typeface="Helvetica" panose="020B0604020202020204" pitchFamily="34" charset="0"/>
                <a:cs typeface="Helvetica" panose="020B0604020202020204" pitchFamily="34" charset="0"/>
              </a:rPr>
              <a:t>Both</a:t>
            </a:r>
            <a:r>
              <a:rPr lang="es-ES" sz="2000" b="1" dirty="0">
                <a:latin typeface="Helvetica" panose="020B0604020202020204" pitchFamily="34" charset="0"/>
                <a:cs typeface="Helvetica" panose="020B0604020202020204" pitchFamily="34" charset="0"/>
              </a:rPr>
              <a:t> </a:t>
            </a:r>
            <a:r>
              <a:rPr lang="el-GR" sz="2000" b="1" dirty="0">
                <a:latin typeface="Helvetica" panose="020B0604020202020204" pitchFamily="34" charset="0"/>
                <a:cs typeface="Helvetica" panose="020B0604020202020204" pitchFamily="34" charset="0"/>
              </a:rPr>
              <a:t>δ</a:t>
            </a:r>
            <a:r>
              <a:rPr lang="es-ES" sz="2000" b="1" baseline="30000" dirty="0">
                <a:latin typeface="Helvetica" panose="020B0604020202020204" pitchFamily="34" charset="0"/>
                <a:cs typeface="Helvetica" panose="020B0604020202020204" pitchFamily="34" charset="0"/>
              </a:rPr>
              <a:t>13</a:t>
            </a:r>
            <a:r>
              <a:rPr lang="es-ES" sz="2000" b="1" dirty="0">
                <a:latin typeface="Helvetica" panose="020B0604020202020204" pitchFamily="34" charset="0"/>
                <a:cs typeface="Helvetica" panose="020B0604020202020204" pitchFamily="34" charset="0"/>
              </a:rPr>
              <a:t>C and </a:t>
            </a:r>
            <a:r>
              <a:rPr lang="el-GR" sz="2000" b="1" dirty="0">
                <a:latin typeface="Helvetica" panose="020B0604020202020204" pitchFamily="34" charset="0"/>
                <a:cs typeface="Helvetica" panose="020B0604020202020204" pitchFamily="34" charset="0"/>
              </a:rPr>
              <a:t>δ</a:t>
            </a:r>
            <a:r>
              <a:rPr lang="es-ES" sz="2000" b="1" baseline="30000" dirty="0">
                <a:latin typeface="Helvetica" panose="020B0604020202020204" pitchFamily="34" charset="0"/>
                <a:cs typeface="Helvetica" panose="020B0604020202020204" pitchFamily="34" charset="0"/>
              </a:rPr>
              <a:t>18</a:t>
            </a:r>
            <a:r>
              <a:rPr lang="es-ES" sz="2000" b="1" dirty="0">
                <a:latin typeface="Helvetica" panose="020B0604020202020204" pitchFamily="34" charset="0"/>
                <a:cs typeface="Helvetica" panose="020B0604020202020204" pitchFamily="34" charset="0"/>
              </a:rPr>
              <a:t>O are </a:t>
            </a:r>
            <a:r>
              <a:rPr lang="es-ES" sz="2000" b="1" dirty="0" err="1">
                <a:latin typeface="Helvetica" panose="020B0604020202020204" pitchFamily="34" charset="0"/>
                <a:cs typeface="Helvetica" panose="020B0604020202020204" pitchFamily="34" charset="0"/>
              </a:rPr>
              <a:t>negatively</a:t>
            </a:r>
            <a:r>
              <a:rPr lang="es-ES" sz="2000" b="1" dirty="0">
                <a:latin typeface="Helvetica" panose="020B0604020202020204" pitchFamily="34" charset="0"/>
                <a:cs typeface="Helvetica" panose="020B0604020202020204" pitchFamily="34" charset="0"/>
              </a:rPr>
              <a:t> </a:t>
            </a:r>
            <a:r>
              <a:rPr lang="es-ES" sz="2000" b="1" dirty="0" err="1">
                <a:latin typeface="Helvetica" panose="020B0604020202020204" pitchFamily="34" charset="0"/>
                <a:cs typeface="Helvetica" panose="020B0604020202020204" pitchFamily="34" charset="0"/>
              </a:rPr>
              <a:t>correlated</a:t>
            </a:r>
            <a:r>
              <a:rPr lang="es-ES" sz="2000" b="1" dirty="0">
                <a:latin typeface="Helvetica" panose="020B0604020202020204" pitchFamily="34" charset="0"/>
                <a:cs typeface="Helvetica" panose="020B0604020202020204" pitchFamily="34" charset="0"/>
              </a:rPr>
              <a:t> </a:t>
            </a:r>
            <a:r>
              <a:rPr lang="es-ES" sz="2000" b="1" dirty="0" err="1">
                <a:latin typeface="Helvetica" panose="020B0604020202020204" pitchFamily="34" charset="0"/>
                <a:cs typeface="Helvetica" panose="020B0604020202020204" pitchFamily="34" charset="0"/>
              </a:rPr>
              <a:t>to</a:t>
            </a:r>
            <a:r>
              <a:rPr lang="es-ES" sz="2000" b="1" dirty="0">
                <a:latin typeface="Helvetica" panose="020B0604020202020204" pitchFamily="34" charset="0"/>
                <a:cs typeface="Helvetica" panose="020B0604020202020204" pitchFamily="34" charset="0"/>
              </a:rPr>
              <a:t> MAP. </a:t>
            </a:r>
            <a:r>
              <a:rPr lang="es-ES" sz="2000" dirty="0" err="1">
                <a:latin typeface="Helvetica" panose="020B0604020202020204" pitchFamily="34" charset="0"/>
                <a:cs typeface="Helvetica" panose="020B0604020202020204" pitchFamily="34" charset="0"/>
              </a:rPr>
              <a:t>The</a:t>
            </a:r>
            <a:r>
              <a:rPr lang="es-ES" sz="2000" dirty="0">
                <a:latin typeface="Helvetica" panose="020B0604020202020204" pitchFamily="34" charset="0"/>
                <a:cs typeface="Helvetica" panose="020B0604020202020204" pitchFamily="34" charset="0"/>
              </a:rPr>
              <a:t> </a:t>
            </a:r>
            <a:r>
              <a:rPr lang="es-ES" sz="2000" b="1" dirty="0" err="1">
                <a:latin typeface="Helvetica" panose="020B0604020202020204" pitchFamily="34" charset="0"/>
                <a:cs typeface="Helvetica" panose="020B0604020202020204" pitchFamily="34" charset="0"/>
              </a:rPr>
              <a:t>slope</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is</a:t>
            </a:r>
            <a:r>
              <a:rPr lang="es-ES" sz="2000" dirty="0">
                <a:latin typeface="Helvetica" panose="020B0604020202020204" pitchFamily="34" charset="0"/>
                <a:cs typeface="Helvetica" panose="020B0604020202020204" pitchFamily="34" charset="0"/>
              </a:rPr>
              <a:t> </a:t>
            </a:r>
            <a:r>
              <a:rPr lang="es-ES" sz="2000" b="1" dirty="0" err="1">
                <a:latin typeface="Helvetica" panose="020B0604020202020204" pitchFamily="34" charset="0"/>
                <a:cs typeface="Helvetica" panose="020B0604020202020204" pitchFamily="34" charset="0"/>
              </a:rPr>
              <a:t>slightly</a:t>
            </a:r>
            <a:r>
              <a:rPr lang="es-ES" sz="2000" b="1" dirty="0">
                <a:latin typeface="Helvetica" panose="020B0604020202020204" pitchFamily="34" charset="0"/>
                <a:cs typeface="Helvetica" panose="020B0604020202020204" pitchFamily="34" charset="0"/>
              </a:rPr>
              <a:t> </a:t>
            </a:r>
            <a:r>
              <a:rPr lang="es-ES" sz="2000" b="1" dirty="0" err="1">
                <a:latin typeface="Helvetica" panose="020B0604020202020204" pitchFamily="34" charset="0"/>
                <a:cs typeface="Helvetica" panose="020B0604020202020204" pitchFamily="34" charset="0"/>
              </a:rPr>
              <a:t>higher</a:t>
            </a:r>
            <a:r>
              <a:rPr lang="es-ES" sz="2000" b="1" dirty="0">
                <a:latin typeface="Helvetica" panose="020B0604020202020204" pitchFamily="34" charset="0"/>
                <a:cs typeface="Helvetica" panose="020B0604020202020204" pitchFamily="34" charset="0"/>
              </a:rPr>
              <a:t> </a:t>
            </a:r>
            <a:r>
              <a:rPr lang="es-ES" sz="2000" b="1" dirty="0" err="1">
                <a:latin typeface="Helvetica" panose="020B0604020202020204" pitchFamily="34" charset="0"/>
                <a:cs typeface="Helvetica" panose="020B0604020202020204" pitchFamily="34" charset="0"/>
              </a:rPr>
              <a:t>for</a:t>
            </a:r>
            <a:r>
              <a:rPr lang="es-ES" sz="2000" b="1" dirty="0">
                <a:latin typeface="Helvetica" panose="020B0604020202020204" pitchFamily="34" charset="0"/>
                <a:cs typeface="Helvetica" panose="020B0604020202020204" pitchFamily="34" charset="0"/>
              </a:rPr>
              <a:t> </a:t>
            </a:r>
            <a:r>
              <a:rPr lang="es-ES" sz="2000" b="1" dirty="0" err="1">
                <a:latin typeface="Helvetica" panose="020B0604020202020204" pitchFamily="34" charset="0"/>
                <a:cs typeface="Helvetica" panose="020B0604020202020204" pitchFamily="34" charset="0"/>
              </a:rPr>
              <a:t>damaged</a:t>
            </a:r>
            <a:r>
              <a:rPr lang="es-ES" sz="2000" b="1" dirty="0">
                <a:latin typeface="Helvetica" panose="020B0604020202020204" pitchFamily="34" charset="0"/>
                <a:cs typeface="Helvetica" panose="020B0604020202020204" pitchFamily="34" charset="0"/>
              </a:rPr>
              <a:t> </a:t>
            </a:r>
            <a:r>
              <a:rPr lang="es-ES" sz="2000" b="1" dirty="0" err="1">
                <a:latin typeface="Helvetica" panose="020B0604020202020204" pitchFamily="34" charset="0"/>
                <a:cs typeface="Helvetica" panose="020B0604020202020204" pitchFamily="34" charset="0"/>
              </a:rPr>
              <a:t>sights</a:t>
            </a:r>
            <a:r>
              <a:rPr lang="es-ES" sz="2000" b="1" dirty="0">
                <a:latin typeface="Helvetica" panose="020B0604020202020204" pitchFamily="34" charset="0"/>
                <a:cs typeface="Helvetica" panose="020B0604020202020204" pitchFamily="34" charset="0"/>
              </a:rPr>
              <a:t> </a:t>
            </a:r>
            <a:r>
              <a:rPr lang="es-ES" sz="2000" dirty="0">
                <a:latin typeface="Helvetica" panose="020B0604020202020204" pitchFamily="34" charset="0"/>
                <a:cs typeface="Helvetica" panose="020B0604020202020204" pitchFamily="34" charset="0"/>
              </a:rPr>
              <a:t>(</a:t>
            </a:r>
            <a:r>
              <a:rPr lang="es-ES" sz="2000" dirty="0" err="1">
                <a:latin typeface="Helvetica" panose="020B0604020202020204" pitchFamily="34" charset="0"/>
                <a:cs typeface="Helvetica" panose="020B0604020202020204" pitchFamily="34" charset="0"/>
              </a:rPr>
              <a:t>lighter</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lines</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This</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is</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related</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to</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higher</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stomatal</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conductance</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values</a:t>
            </a:r>
            <a:r>
              <a:rPr lang="es-ES" sz="2000" dirty="0">
                <a:latin typeface="Helvetica" panose="020B0604020202020204" pitchFamily="34" charset="0"/>
                <a:cs typeface="Helvetica" panose="020B0604020202020204" pitchFamily="34" charset="0"/>
              </a:rPr>
              <a:t> in more </a:t>
            </a:r>
            <a:r>
              <a:rPr lang="es-ES" sz="2000" dirty="0" err="1">
                <a:latin typeface="Helvetica" panose="020B0604020202020204" pitchFamily="34" charset="0"/>
                <a:cs typeface="Helvetica" panose="020B0604020202020204" pitchFamily="34" charset="0"/>
              </a:rPr>
              <a:t>humid</a:t>
            </a:r>
            <a:r>
              <a:rPr lang="es-ES" sz="2000" dirty="0">
                <a:latin typeface="Helvetica" panose="020B0604020202020204" pitchFamily="34" charset="0"/>
                <a:cs typeface="Helvetica" panose="020B0604020202020204" pitchFamily="34" charset="0"/>
              </a:rPr>
              <a:t> places, </a:t>
            </a:r>
            <a:r>
              <a:rPr lang="es-ES" sz="2000" dirty="0" err="1">
                <a:latin typeface="Helvetica" panose="020B0604020202020204" pitchFamily="34" charset="0"/>
                <a:cs typeface="Helvetica" panose="020B0604020202020204" pitchFamily="34" charset="0"/>
              </a:rPr>
              <a:t>thus</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allowing</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higher</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transpiration</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rates</a:t>
            </a:r>
            <a:r>
              <a:rPr lang="es-ES" sz="2000" dirty="0">
                <a:latin typeface="Helvetica" panose="020B0604020202020204" pitchFamily="34" charset="0"/>
                <a:cs typeface="Helvetica" panose="020B0604020202020204" pitchFamily="34" charset="0"/>
              </a:rPr>
              <a:t>.</a:t>
            </a:r>
          </a:p>
        </p:txBody>
      </p:sp>
      <p:pic>
        <p:nvPicPr>
          <p:cNvPr id="10" name="Imagen 9">
            <a:extLst>
              <a:ext uri="{FF2B5EF4-FFF2-40B4-BE49-F238E27FC236}">
                <a16:creationId xmlns:a16="http://schemas.microsoft.com/office/drawing/2014/main" id="{E5B71772-4715-4ACE-D656-B8C8D5884B08}"/>
              </a:ext>
            </a:extLst>
          </p:cNvPr>
          <p:cNvPicPr>
            <a:picLocks noChangeAspect="1"/>
          </p:cNvPicPr>
          <p:nvPr/>
        </p:nvPicPr>
        <p:blipFill>
          <a:blip r:embed="rId3">
            <a:extLst>
              <a:ext uri="{28A0092B-C50C-407E-A947-70E740481C1C}">
                <a14:useLocalDpi xmlns:a14="http://schemas.microsoft.com/office/drawing/2010/main" val="0"/>
              </a:ext>
            </a:extLst>
          </a:blip>
          <a:srcRect l="22252" t="25015" r="55417" b="50000"/>
          <a:stretch/>
        </p:blipFill>
        <p:spPr>
          <a:xfrm>
            <a:off x="629442" y="1014077"/>
            <a:ext cx="2787817" cy="2772423"/>
          </a:xfrm>
          <a:prstGeom prst="rect">
            <a:avLst/>
          </a:prstGeom>
        </p:spPr>
      </p:pic>
      <p:pic>
        <p:nvPicPr>
          <p:cNvPr id="11" name="Imagen 10">
            <a:extLst>
              <a:ext uri="{FF2B5EF4-FFF2-40B4-BE49-F238E27FC236}">
                <a16:creationId xmlns:a16="http://schemas.microsoft.com/office/drawing/2014/main" id="{CF5E5876-8A44-9568-2B47-E8422E8ACACE}"/>
              </a:ext>
            </a:extLst>
          </p:cNvPr>
          <p:cNvPicPr>
            <a:picLocks noChangeAspect="1"/>
          </p:cNvPicPr>
          <p:nvPr/>
        </p:nvPicPr>
        <p:blipFill>
          <a:blip r:embed="rId3">
            <a:extLst>
              <a:ext uri="{28A0092B-C50C-407E-A947-70E740481C1C}">
                <a14:useLocalDpi xmlns:a14="http://schemas.microsoft.com/office/drawing/2010/main" val="0"/>
              </a:ext>
            </a:extLst>
          </a:blip>
          <a:srcRect l="66385" t="25015" r="11284" b="50000"/>
          <a:stretch/>
        </p:blipFill>
        <p:spPr>
          <a:xfrm>
            <a:off x="3417259" y="1014076"/>
            <a:ext cx="2787817" cy="2772423"/>
          </a:xfrm>
          <a:prstGeom prst="rect">
            <a:avLst/>
          </a:prstGeom>
        </p:spPr>
      </p:pic>
      <p:sp>
        <p:nvSpPr>
          <p:cNvPr id="13" name="CuadroTexto 10">
            <a:extLst>
              <a:ext uri="{FF2B5EF4-FFF2-40B4-BE49-F238E27FC236}">
                <a16:creationId xmlns:a16="http://schemas.microsoft.com/office/drawing/2014/main" id="{701CE39C-6585-BA23-4F55-CC82259F67E3}"/>
              </a:ext>
            </a:extLst>
          </p:cNvPr>
          <p:cNvSpPr txBox="1"/>
          <p:nvPr/>
        </p:nvSpPr>
        <p:spPr>
          <a:xfrm>
            <a:off x="6866741" y="3996418"/>
            <a:ext cx="3346315" cy="1938992"/>
          </a:xfrm>
          <a:prstGeom prst="rect">
            <a:avLst/>
          </a:prstGeom>
          <a:noFill/>
        </p:spPr>
        <p:txBody>
          <a:bodyPr wrap="square" rtlCol="0">
            <a:spAutoFit/>
          </a:bodyPr>
          <a:ls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1" algn="ctr"/>
            <a:r>
              <a:rPr lang="es-ES" sz="2000" b="1" dirty="0">
                <a:latin typeface="Helvetica" panose="020B0604020202020204" pitchFamily="34" charset="0"/>
                <a:cs typeface="Helvetica" panose="020B0604020202020204" pitchFamily="34" charset="0"/>
              </a:rPr>
              <a:t>Positive </a:t>
            </a:r>
            <a:r>
              <a:rPr lang="es-ES" sz="2000" b="1" dirty="0" err="1">
                <a:latin typeface="Helvetica" panose="020B0604020202020204" pitchFamily="34" charset="0"/>
                <a:cs typeface="Helvetica" panose="020B0604020202020204" pitchFamily="34" charset="0"/>
              </a:rPr>
              <a:t>relationship</a:t>
            </a:r>
            <a:r>
              <a:rPr lang="es-ES" sz="2000" b="1"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between</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tree</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height</a:t>
            </a:r>
            <a:r>
              <a:rPr lang="es-ES" sz="2000" dirty="0">
                <a:latin typeface="Helvetica" panose="020B0604020202020204" pitchFamily="34" charset="0"/>
                <a:cs typeface="Helvetica" panose="020B0604020202020204" pitchFamily="34" charset="0"/>
              </a:rPr>
              <a:t> and MAP </a:t>
            </a:r>
            <a:r>
              <a:rPr lang="es-ES" sz="2000" b="1" dirty="0" err="1">
                <a:latin typeface="Helvetica" panose="020B0604020202020204" pitchFamily="34" charset="0"/>
                <a:cs typeface="Helvetica" panose="020B0604020202020204" pitchFamily="34" charset="0"/>
              </a:rPr>
              <a:t>only</a:t>
            </a:r>
            <a:r>
              <a:rPr lang="es-ES" sz="2000" b="1" dirty="0">
                <a:latin typeface="Helvetica" panose="020B0604020202020204" pitchFamily="34" charset="0"/>
                <a:cs typeface="Helvetica" panose="020B0604020202020204" pitchFamily="34" charset="0"/>
              </a:rPr>
              <a:t> in </a:t>
            </a:r>
            <a:r>
              <a:rPr lang="es-ES" sz="2000" b="1" dirty="0" err="1">
                <a:latin typeface="Helvetica" panose="020B0604020202020204" pitchFamily="34" charset="0"/>
                <a:cs typeface="Helvetica" panose="020B0604020202020204" pitchFamily="34" charset="0"/>
              </a:rPr>
              <a:t>healthy</a:t>
            </a:r>
            <a:r>
              <a:rPr lang="es-ES" sz="2000" b="1" dirty="0">
                <a:latin typeface="Helvetica" panose="020B0604020202020204" pitchFamily="34" charset="0"/>
                <a:cs typeface="Helvetica" panose="020B0604020202020204" pitchFamily="34" charset="0"/>
              </a:rPr>
              <a:t> sites. </a:t>
            </a:r>
            <a:r>
              <a:rPr lang="es-ES" sz="2000" dirty="0" err="1">
                <a:latin typeface="Helvetica" panose="020B0604020202020204" pitchFamily="34" charset="0"/>
                <a:cs typeface="Helvetica" panose="020B0604020202020204" pitchFamily="34" charset="0"/>
              </a:rPr>
              <a:t>Maybe</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defoliation</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is</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limiting</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tree</a:t>
            </a:r>
            <a:r>
              <a:rPr lang="es-ES" sz="2000" dirty="0">
                <a:latin typeface="Helvetica" panose="020B0604020202020204" pitchFamily="34" charset="0"/>
                <a:cs typeface="Helvetica" panose="020B0604020202020204" pitchFamily="34" charset="0"/>
              </a:rPr>
              <a:t> </a:t>
            </a:r>
            <a:r>
              <a:rPr lang="es-ES" sz="2000" dirty="0" err="1">
                <a:latin typeface="Helvetica" panose="020B0604020202020204" pitchFamily="34" charset="0"/>
                <a:cs typeface="Helvetica" panose="020B0604020202020204" pitchFamily="34" charset="0"/>
              </a:rPr>
              <a:t>size</a:t>
            </a:r>
            <a:r>
              <a:rPr lang="es-ES" sz="2000" dirty="0">
                <a:latin typeface="Helvetica" panose="020B0604020202020204" pitchFamily="34" charset="0"/>
                <a:cs typeface="Helvetica" panose="020B0604020202020204" pitchFamily="34" charset="0"/>
              </a:rPr>
              <a:t>?</a:t>
            </a:r>
          </a:p>
        </p:txBody>
      </p:sp>
      <p:pic>
        <p:nvPicPr>
          <p:cNvPr id="14" name="Imagen 13">
            <a:extLst>
              <a:ext uri="{FF2B5EF4-FFF2-40B4-BE49-F238E27FC236}">
                <a16:creationId xmlns:a16="http://schemas.microsoft.com/office/drawing/2014/main" id="{9DBE3F1B-9188-5AC8-293B-4D8910A3468B}"/>
              </a:ext>
            </a:extLst>
          </p:cNvPr>
          <p:cNvPicPr>
            <a:picLocks noChangeAspect="1"/>
          </p:cNvPicPr>
          <p:nvPr/>
        </p:nvPicPr>
        <p:blipFill>
          <a:blip r:embed="rId3">
            <a:extLst>
              <a:ext uri="{28A0092B-C50C-407E-A947-70E740481C1C}">
                <a14:useLocalDpi xmlns:a14="http://schemas.microsoft.com/office/drawing/2010/main" val="0"/>
              </a:ext>
            </a:extLst>
          </a:blip>
          <a:srcRect l="22148" t="75015" r="55521"/>
          <a:stretch/>
        </p:blipFill>
        <p:spPr>
          <a:xfrm>
            <a:off x="7145989" y="1014076"/>
            <a:ext cx="2787817" cy="2772423"/>
          </a:xfrm>
          <a:prstGeom prst="rect">
            <a:avLst/>
          </a:prstGeom>
        </p:spPr>
      </p:pic>
    </p:spTree>
    <p:extLst>
      <p:ext uri="{BB962C8B-B14F-4D97-AF65-F5344CB8AC3E}">
        <p14:creationId xmlns:p14="http://schemas.microsoft.com/office/powerpoint/2010/main" val="3785048840"/>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608</TotalTime>
  <Words>1084</Words>
  <Application>Microsoft Macintosh PowerPoint</Application>
  <PresentationFormat>Widescreen</PresentationFormat>
  <Paragraphs>215</Paragraphs>
  <Slides>22</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Calibri</vt:lpstr>
      <vt:lpstr>Calibri Light</vt:lpstr>
      <vt:lpstr>Helvetica</vt:lpstr>
      <vt:lpstr>Times New Roman</vt:lpstr>
      <vt:lpstr>Tema de Office</vt:lpstr>
      <vt:lpstr>Preliminar analyses  -  Figures</vt:lpstr>
      <vt:lpstr> Complementary strategies to cope with drought</vt:lpstr>
      <vt:lpstr> Complementary strategies to cope with drought</vt:lpstr>
      <vt:lpstr> Study area</vt:lpstr>
      <vt:lpstr>PowerPoint Presentation</vt:lpstr>
      <vt:lpstr> Sampling design</vt:lpstr>
      <vt:lpstr> Sampling design</vt:lpstr>
      <vt:lpstr> Preliminary results</vt:lpstr>
      <vt:lpstr> Preliminary results</vt:lpstr>
      <vt:lpstr> Preliminary results</vt:lpstr>
      <vt:lpstr> Preliminary results</vt:lpstr>
      <vt:lpstr> Preliminary results</vt:lpstr>
      <vt:lpstr> Preliminary results</vt:lpstr>
      <vt:lpstr> Preliminary results</vt:lpstr>
      <vt:lpstr> Preliminary results</vt:lpstr>
      <vt:lpstr> Preliminary results</vt:lpstr>
      <vt:lpstr> Preliminary results</vt:lpstr>
      <vt:lpstr> Preliminary results</vt:lpstr>
      <vt:lpstr> Preliminary results</vt:lpstr>
      <vt:lpstr> Preliminary results</vt:lpstr>
      <vt:lpstr> Preliminary results</vt:lpstr>
      <vt:lpstr> Preliminary results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Cristopher Fernández de Blas</dc:creator>
  <cp:lastModifiedBy>Charlotte Grossiord</cp:lastModifiedBy>
  <cp:revision>3</cp:revision>
  <dcterms:created xsi:type="dcterms:W3CDTF">2025-04-25T13:52:31Z</dcterms:created>
  <dcterms:modified xsi:type="dcterms:W3CDTF">2025-05-02T12:30:37Z</dcterms:modified>
</cp:coreProperties>
</file>