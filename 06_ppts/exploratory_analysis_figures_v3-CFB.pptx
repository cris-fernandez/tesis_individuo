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4F_36DED8AD.xml" ContentType="application/vnd.ms-powerpoint.comments+xml"/>
  <Override PartName="/ppt/notesSlides/notesSlide1.xml" ContentType="application/vnd.openxmlformats-officedocument.presentationml.notesSlide+xml"/>
  <Override PartName="/ppt/comments/modernComment_196_9A4652F4.xml" ContentType="application/vnd.ms-powerpoint.comment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06" r:id="rId3"/>
    <p:sldId id="379" r:id="rId4"/>
    <p:sldId id="335" r:id="rId5"/>
    <p:sldId id="282" r:id="rId6"/>
    <p:sldId id="404" r:id="rId7"/>
    <p:sldId id="406" r:id="rId8"/>
    <p:sldId id="405" r:id="rId9"/>
    <p:sldId id="342" r:id="rId10"/>
    <p:sldId id="337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317"/>
    <a:srgbClr val="7030A0"/>
    <a:srgbClr val="2F5597"/>
    <a:srgbClr val="7873B4"/>
    <a:srgbClr val="37AD88"/>
    <a:srgbClr val="DB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82" d="100"/>
          <a:sy n="82" d="100"/>
        </p:scale>
        <p:origin x="1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4F_36DED8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2AF825-BE95-3241-AEA5-C9EEB621F435}" authorId="{9B18557D-7187-C966-2E91-CE8B6CF86FC3}" created="2025-05-02T12:23:10.993">
    <pc:sldMkLst xmlns:pc="http://schemas.microsoft.com/office/powerpoint/2013/main/command">
      <pc:docMk/>
      <pc:sldMk cId="920574125" sldId="335"/>
    </pc:sldMkLst>
    <p188:replyLst>
      <p188:reply id="{E26608CF-4E9D-4396-9053-190CB4A16447}" authorId="{DB4BCF0B-13A8-F3D9-5213-32840108FAB3}" created="2025-05-27T13:51:56.997">
        <p188:txBody>
          <a:bodyPr/>
          <a:lstStyle/>
          <a:p>
            <a:r>
              <a:rPr lang="es-ES"/>
              <a:t>Paloma agrees! Maybe we could remove the sites list at the right, and include in a smaller map the distribution area of Pinus sylvestris, Pinus pinea and Abies alba?</a:t>
            </a:r>
          </a:p>
        </p188:txBody>
      </p188:reply>
    </p188:replyLst>
    <p188:txBody>
      <a:bodyPr/>
      <a:lstStyle/>
      <a:p>
        <a:r>
          <a:rPr lang="en-US"/>
          <a:t>your first figure could be a map like this one I believe</a:t>
        </a:r>
      </a:p>
    </p188:txBody>
  </p188:cm>
</p188:cmLst>
</file>

<file path=ppt/comments/modernComment_196_9A4652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FC64F5-D2B2-46FE-9306-A6DE9DD7124B}" authorId="{DB4BCF0B-13A8-F3D9-5213-32840108FAB3}" created="2025-05-28T08:19:30.2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5" creationId="{B4C51AA4-52F0-151B-7375-C783F89B7860}"/>
      <ac:txMk cp="110" len="16">
        <ac:context len="127" hash="3563922589"/>
      </ac:txMk>
    </ac:txMkLst>
    <p188:pos x="5210748" y="608441"/>
    <p188:txBody>
      <a:bodyPr/>
      <a:lstStyle/>
      <a:p>
        <a:r>
          <a:rPr lang="es-ES"/>
          <a:t>Only in Pinus sylvestris because it’s the only one for which we have enough variability of climatic conditions...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6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4F_36DED8A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6_9A4652F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iagrama&#10;&#10;Descripción generada automáticamente">
            <a:extLst>
              <a:ext uri="{FF2B5EF4-FFF2-40B4-BE49-F238E27FC236}">
                <a16:creationId xmlns:a16="http://schemas.microsoft.com/office/drawing/2014/main" id="{5CF93BAE-7062-DF63-FBD0-5278470B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5" y="647728"/>
            <a:ext cx="2826009" cy="282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CD98AE-E281-28B7-DDC6-9F8E6C509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3615224" y="920186"/>
            <a:ext cx="8573689" cy="58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76095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3907778"/>
            <a:ext cx="10925077" cy="256127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Size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b="1" dirty="0" err="1">
                <a:latin typeface="Helvetica"/>
                <a:cs typeface="Helvetica"/>
              </a:rPr>
              <a:t>bigger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trees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will</a:t>
            </a:r>
            <a:r>
              <a:rPr lang="es-ES" sz="2400" dirty="0">
                <a:latin typeface="Helvetica"/>
                <a:cs typeface="Helvetica"/>
              </a:rPr>
              <a:t> be more vulnerable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limitations</a:t>
            </a:r>
            <a:r>
              <a:rPr lang="es-ES" sz="2400" dirty="0">
                <a:latin typeface="Helvetica"/>
                <a:cs typeface="Helvetica"/>
              </a:rPr>
              <a:t> (</a:t>
            </a:r>
            <a:r>
              <a:rPr lang="es-ES" sz="2400" dirty="0" err="1">
                <a:latin typeface="Helvetica"/>
                <a:cs typeface="Helvetica"/>
              </a:rPr>
              <a:t>increased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resistance</a:t>
            </a:r>
            <a:r>
              <a:rPr lang="es-ES" sz="2400" dirty="0">
                <a:latin typeface="Helvetica"/>
                <a:cs typeface="Helvetica"/>
              </a:rPr>
              <a:t>)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expect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a </a:t>
            </a:r>
            <a:r>
              <a:rPr lang="es-ES" sz="2400" b="1" dirty="0" err="1">
                <a:latin typeface="Helvetica"/>
                <a:cs typeface="Helvetica"/>
              </a:rPr>
              <a:t>reduced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trend</a:t>
            </a:r>
            <a:r>
              <a:rPr lang="es-ES" sz="2400" b="1" dirty="0">
                <a:latin typeface="Helvetica"/>
                <a:cs typeface="Helvetica"/>
              </a:rPr>
              <a:t> in 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BAI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los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Competition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competition</a:t>
            </a:r>
            <a:r>
              <a:rPr lang="es-ES" sz="2400" dirty="0">
                <a:latin typeface="Helvetica"/>
                <a:cs typeface="Helvetica"/>
              </a:rPr>
              <a:t> reduces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availability</a:t>
            </a:r>
            <a:r>
              <a:rPr lang="es-ES" sz="2400" dirty="0">
                <a:latin typeface="Helvetica"/>
                <a:cs typeface="Helvetica"/>
              </a:rPr>
              <a:t> per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increases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interception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90BC2F3-897A-2B30-EFC7-41E5B902FBC3}"/>
              </a:ext>
            </a:extLst>
          </p:cNvPr>
          <p:cNvGrpSpPr/>
          <p:nvPr/>
        </p:nvGrpSpPr>
        <p:grpSpPr>
          <a:xfrm>
            <a:off x="6187927" y="3071492"/>
            <a:ext cx="3301889" cy="1220763"/>
            <a:chOff x="6178013" y="5057218"/>
            <a:chExt cx="3301889" cy="1220763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0FBB0A9-4054-E0D3-A9E2-30ABC5114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6E4E855-85D9-0951-CC38-E1446CBA3B6E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8EB5557-D40F-117D-763A-D65209B528BB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80BE9F0E-6247-FF83-8BA0-C3A25A523C8C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504D05B-F387-BF28-9D8C-2567B4605224}"/>
              </a:ext>
            </a:extLst>
          </p:cNvPr>
          <p:cNvGrpSpPr/>
          <p:nvPr/>
        </p:nvGrpSpPr>
        <p:grpSpPr>
          <a:xfrm>
            <a:off x="1149474" y="3109624"/>
            <a:ext cx="3477754" cy="1250117"/>
            <a:chOff x="1139560" y="5095351"/>
            <a:chExt cx="3477754" cy="125011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6FF630D-B396-BF9B-D2D5-56468DDA1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CB7EB22-22F6-D47C-A02D-E20CEFE03EE0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D6586EF-2595-559C-99E0-2257B29975E5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657212A9-DCCC-9779-274B-38E7EFB305D2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474875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determine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drought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changes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aridity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Iberian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forests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only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in </a:t>
            </a:r>
            <a:r>
              <a:rPr lang="es-ES" sz="2400" i="1" dirty="0" err="1">
                <a:solidFill>
                  <a:srgbClr val="FF0000"/>
                </a:solidFill>
                <a:latin typeface="Helvetica"/>
                <a:cs typeface="Helvetica"/>
              </a:rPr>
              <a:t>Pinus</a:t>
            </a:r>
            <a:r>
              <a:rPr lang="es-ES" sz="2400" i="1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i="1" dirty="0" err="1">
                <a:solidFill>
                  <a:srgbClr val="FF0000"/>
                </a:solidFill>
                <a:latin typeface="Helvetica"/>
                <a:cs typeface="Helvetica"/>
              </a:rPr>
              <a:t>sylvestris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571117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713888D-F036-1927-F7A3-7FD8FFA4D2BD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leaf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senescence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rates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transpiration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i="1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5942-0646-1F75-3FD6-FB877A4F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EDCCFA2-7421-E9F8-432B-5107BCD8FD10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D6406B-5875-AE5D-371F-5AE2CA33EA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0E8E0D-4EC8-AF06-2C84-F69377E87B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176B63-C01E-6AD5-661C-4C9D8D28D38C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leaf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senescence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rates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transpiration</a:t>
            </a:r>
            <a:r>
              <a:rPr lang="es-ES" sz="2400" i="1" dirty="0">
                <a:latin typeface="Helvetica"/>
                <a:cs typeface="Helvetica"/>
              </a:rPr>
              <a:t>, and </a:t>
            </a:r>
            <a:r>
              <a:rPr lang="es-ES" sz="2400" i="1" dirty="0" err="1">
                <a:latin typeface="Helvetica"/>
                <a:cs typeface="Helvetica"/>
              </a:rPr>
              <a:t>nutrient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deficits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i="1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trees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A598E-3271-64EB-5DA8-A70DDDCC8E1C}"/>
              </a:ext>
            </a:extLst>
          </p:cNvPr>
          <p:cNvSpPr txBox="1">
            <a:spLocks/>
          </p:cNvSpPr>
          <p:nvPr/>
        </p:nvSpPr>
        <p:spPr>
          <a:xfrm>
            <a:off x="633459" y="3188411"/>
            <a:ext cx="10925077" cy="25612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Senescence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n-US" sz="24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C:N ratio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Transpiration</a:t>
            </a:r>
            <a:r>
              <a:rPr lang="es-ES" sz="2400" b="1" dirty="0">
                <a:latin typeface="Helvetica"/>
                <a:cs typeface="Helvetica"/>
              </a:rPr>
              <a:t> and </a:t>
            </a:r>
            <a:r>
              <a:rPr lang="es-ES" sz="2400" b="1" dirty="0" err="1">
                <a:latin typeface="Helvetica"/>
                <a:cs typeface="Helvetica"/>
              </a:rPr>
              <a:t>photosynthetic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rates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isohydric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behaviour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leading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4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expected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limited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availability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88941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371533"/>
            <a:ext cx="3301889" cy="1220763"/>
            <a:chOff x="6178013" y="5057218"/>
            <a:chExt cx="3301889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87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36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keep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determine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Response Ratio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might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PCA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group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behave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similarly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17C19A51-F188-59BA-4108-637918195FE2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0D77AC-F967-D971-1006-80B714535C88}"/>
              </a:ext>
            </a:extLst>
          </p:cNvPr>
          <p:cNvSpPr txBox="1"/>
          <p:nvPr/>
        </p:nvSpPr>
        <p:spPr>
          <a:xfrm>
            <a:off x="4621358" y="2980082"/>
            <a:ext cx="2502655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8CB5A7B-EC11-2D94-75D6-F6A191475E3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927C99-CCCB-5273-FA53-EC80D137CAA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7D1132-083A-CC1A-CC74-66C003384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80" y="1091353"/>
            <a:ext cx="5603132" cy="5603132"/>
          </a:xfrm>
          <a:prstGeom prst="rect">
            <a:avLst/>
          </a:prstGeom>
        </p:spPr>
      </p:pic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 ratios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2A643-BE6C-0338-E77E-BAA9113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A30266-9485-1E3E-BBC8-436246AD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AF84D2-7FE0-072E-6CC0-EE338120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F8CAB59-0867-9E54-DC47-D2389843A71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9A3EBF-97E0-3CC4-7682-AAC6864AE01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5871265-7BAD-1ABF-CE2C-2CC4BE1C7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577" y="1140469"/>
            <a:ext cx="5476674" cy="5476674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BDBF880D-B5B9-3D71-6DE0-BE7283F24D84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6FB4355E-240E-0B20-D240-4E812CE669C3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9910108-9A0A-3042-1387-F40F22476110}"/>
              </a:ext>
            </a:extLst>
          </p:cNvPr>
          <p:cNvSpPr txBox="1"/>
          <p:nvPr/>
        </p:nvSpPr>
        <p:spPr>
          <a:xfrm>
            <a:off x="700296" y="3748881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ratios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be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useful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forecast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88AD00D1-63A5-13A0-8E80-972D8563CEFE}"/>
              </a:ext>
            </a:extLst>
          </p:cNvPr>
          <p:cNvSpPr txBox="1"/>
          <p:nvPr/>
        </p:nvSpPr>
        <p:spPr>
          <a:xfrm>
            <a:off x="588749" y="4767513"/>
            <a:ext cx="5476674" cy="1200329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1980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in general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among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great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worse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7C92E061-E857-ECBB-F7FF-4F6CC76A6E11}"/>
              </a:ext>
            </a:extLst>
          </p:cNvPr>
          <p:cNvSpPr/>
          <p:nvPr/>
        </p:nvSpPr>
        <p:spPr>
          <a:xfrm>
            <a:off x="6363536" y="992089"/>
            <a:ext cx="1157468" cy="2639751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Signo de multiplicación 19">
            <a:extLst>
              <a:ext uri="{FF2B5EF4-FFF2-40B4-BE49-F238E27FC236}">
                <a16:creationId xmlns:a16="http://schemas.microsoft.com/office/drawing/2014/main" id="{045E807F-60D8-E14D-D2E3-132D29C663B2}"/>
              </a:ext>
            </a:extLst>
          </p:cNvPr>
          <p:cNvSpPr/>
          <p:nvPr/>
        </p:nvSpPr>
        <p:spPr>
          <a:xfrm>
            <a:off x="6637507" y="4886449"/>
            <a:ext cx="1074544" cy="476084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81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44A59B-3927-6BB8-9C72-AA37379346F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EE7E184-71CA-424C-9FA0-349E5B5C77F7}"/>
              </a:ext>
            </a:extLst>
          </p:cNvPr>
          <p:cNvSpPr txBox="1"/>
          <p:nvPr/>
        </p:nvSpPr>
        <p:spPr>
          <a:xfrm>
            <a:off x="700296" y="4350764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F1BE57-11EB-8EB7-6CA5-6499AED53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33" y="1128894"/>
            <a:ext cx="5476675" cy="54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0FC2-1CD4-4FFD-8920-878816F1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C47ACDC-4679-69D1-EB3E-AE7561B9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07ECDD-DCD4-7855-71F8-4C7AA388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78D5E62-E2E2-E9F4-8A17-7D19CC9954C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E93997D-8BA6-1904-C03E-555B80ACD29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4.- </a:t>
            </a:r>
            <a:r>
              <a:rPr lang="es-ES" sz="3200" b="1" dirty="0">
                <a:latin typeface="Helvetica"/>
                <a:cs typeface="Helvetica"/>
              </a:rPr>
              <a:t>PCA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FCD2D5C5-7F5E-981A-632B-BB3CD5089C2D}"/>
              </a:ext>
            </a:extLst>
          </p:cNvPr>
          <p:cNvSpPr txBox="1"/>
          <p:nvPr/>
        </p:nvSpPr>
        <p:spPr>
          <a:xfrm>
            <a:off x="700296" y="2137904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axes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explain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67.07%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5AB7045-AFEB-5F08-5D02-B82619128AA9}"/>
              </a:ext>
            </a:extLst>
          </p:cNvPr>
          <p:cNvSpPr txBox="1"/>
          <p:nvPr/>
        </p:nvSpPr>
        <p:spPr>
          <a:xfrm>
            <a:off x="700296" y="2796784"/>
            <a:ext cx="5476674" cy="40011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10F77E45-E13A-2102-5988-800EBB9689F5}"/>
              </a:ext>
            </a:extLst>
          </p:cNvPr>
          <p:cNvSpPr txBox="1"/>
          <p:nvPr/>
        </p:nvSpPr>
        <p:spPr>
          <a:xfrm>
            <a:off x="700295" y="3845833"/>
            <a:ext cx="3022619" cy="193899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BAI,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2012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 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2017 &amp; 2022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AAEAA24-4F2C-C78F-20B7-8579C0456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974" y="877315"/>
            <a:ext cx="5380738" cy="538073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3537FC6-20CA-A299-AC9A-9C5F0153F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" t="67483" r="78571" b="5850"/>
          <a:stretch/>
        </p:blipFill>
        <p:spPr>
          <a:xfrm>
            <a:off x="4412360" y="3855774"/>
            <a:ext cx="2773333" cy="201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08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839B70-2AA1-A2D9-351F-FDAB6E029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15"/>
          <a:stretch/>
        </p:blipFill>
        <p:spPr>
          <a:xfrm>
            <a:off x="1285054" y="1070861"/>
            <a:ext cx="9621891" cy="2607059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8C75D9D6-068E-5AB5-7D40-E18D97D39A9C}"/>
              </a:ext>
            </a:extLst>
          </p:cNvPr>
          <p:cNvSpPr txBox="1"/>
          <p:nvPr/>
        </p:nvSpPr>
        <p:spPr>
          <a:xfrm>
            <a:off x="1483360" y="3677920"/>
            <a:ext cx="2956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Taller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might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having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deeper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68926A5D-6BF7-B942-F35A-54A3F22D891B}"/>
              </a:ext>
            </a:extLst>
          </p:cNvPr>
          <p:cNvSpPr txBox="1"/>
          <p:nvPr/>
        </p:nvSpPr>
        <p:spPr>
          <a:xfrm>
            <a:off x="4795522" y="3677920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Denser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stands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limitting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per individual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F4AE059-A7ED-D75B-E429-A7620F5D87A3}"/>
              </a:ext>
            </a:extLst>
          </p:cNvPr>
          <p:cNvSpPr txBox="1"/>
          <p:nvPr/>
        </p:nvSpPr>
        <p:spPr>
          <a:xfrm>
            <a:off x="7851232" y="3677920"/>
            <a:ext cx="3131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2E633A39-40F1-30D6-3237-581F377DAAB8}"/>
              </a:ext>
            </a:extLst>
          </p:cNvPr>
          <p:cNvSpPr txBox="1"/>
          <p:nvPr/>
        </p:nvSpPr>
        <p:spPr>
          <a:xfrm>
            <a:off x="129540" y="6100313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D8D41-657E-4FC9-863A-C46F9A7B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6FCF1C-553F-1FAF-CC23-00699FA0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9D40A1-2403-322F-D2A4-4B2657D8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7B4279A-D5B6-73C3-7955-EFED977C36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F74993-0A4C-E813-363F-E0876843D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5" r="32788" b="50950"/>
          <a:stretch/>
        </p:blipFill>
        <p:spPr>
          <a:xfrm>
            <a:off x="1285055" y="1070861"/>
            <a:ext cx="6467028" cy="2607059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EB3398C9-D8A7-FCC2-EBA7-93E4556645A1}"/>
              </a:ext>
            </a:extLst>
          </p:cNvPr>
          <p:cNvSpPr txBox="1"/>
          <p:nvPr/>
        </p:nvSpPr>
        <p:spPr>
          <a:xfrm>
            <a:off x="1483360" y="3677920"/>
            <a:ext cx="2956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lvl="1" algn="ctr"/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can reduce SLA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prevent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losses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99523C24-29E5-5604-C068-291A939F8009}"/>
              </a:ext>
            </a:extLst>
          </p:cNvPr>
          <p:cNvSpPr txBox="1"/>
          <p:nvPr/>
        </p:nvSpPr>
        <p:spPr>
          <a:xfrm>
            <a:off x="4795522" y="3677920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984E2E61-6987-446E-0F1F-3DDE3400E43F}"/>
              </a:ext>
            </a:extLst>
          </p:cNvPr>
          <p:cNvSpPr txBox="1"/>
          <p:nvPr/>
        </p:nvSpPr>
        <p:spPr>
          <a:xfrm>
            <a:off x="129540" y="6100313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298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EB6C-5237-FAD5-FD30-22E62AF9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02E8109-2D9D-23DE-1AD2-033BA9B2E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D90A4F-2E06-ED1D-D1D4-D61669DF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4569738-113F-F874-2875-405C8052CA6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38458D-07A2-6454-15EC-DFD810CC8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4" t="24665" r="-359" b="50950"/>
          <a:stretch/>
        </p:blipFill>
        <p:spPr>
          <a:xfrm>
            <a:off x="1234440" y="937508"/>
            <a:ext cx="3205480" cy="2607059"/>
          </a:xfrm>
          <a:prstGeom prst="rect">
            <a:avLst/>
          </a:prstGeom>
        </p:spPr>
      </p:pic>
      <p:sp>
        <p:nvSpPr>
          <p:cNvPr id="9" name="CuadroTexto 10">
            <a:extLst>
              <a:ext uri="{FF2B5EF4-FFF2-40B4-BE49-F238E27FC236}">
                <a16:creationId xmlns:a16="http://schemas.microsoft.com/office/drawing/2014/main" id="{1963F3A8-DB68-F37C-F7AD-65BDFDB074FB}"/>
              </a:ext>
            </a:extLst>
          </p:cNvPr>
          <p:cNvSpPr txBox="1"/>
          <p:nvPr/>
        </p:nvSpPr>
        <p:spPr>
          <a:xfrm>
            <a:off x="7595119" y="4457406"/>
            <a:ext cx="3872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according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708861-E722-E6AA-1AE5-7444F048B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5" t="49349" r="33263" b="26266"/>
          <a:stretch/>
        </p:blipFill>
        <p:spPr>
          <a:xfrm>
            <a:off x="4518568" y="937508"/>
            <a:ext cx="6467028" cy="26070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DA646B-2886-69BD-73C1-A198418D1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85" t="49652" b="25963"/>
          <a:stretch/>
        </p:blipFill>
        <p:spPr>
          <a:xfrm>
            <a:off x="1234440" y="3615543"/>
            <a:ext cx="3205480" cy="260705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EAF3FCA-BFB1-EEE7-4D5A-B7ADA2930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t="74318" r="66394" b="1297"/>
          <a:stretch/>
        </p:blipFill>
        <p:spPr>
          <a:xfrm>
            <a:off x="4546602" y="3615542"/>
            <a:ext cx="3205480" cy="26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39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1225</Words>
  <Application>Microsoft Office PowerPoint</Application>
  <PresentationFormat>Panorámica</PresentationFormat>
  <Paragraphs>255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Presentación de PowerPoint</vt:lpstr>
      <vt:lpstr>Presentación de PowerPoint</vt:lpstr>
      <vt:lpstr>Presentación de PowerPoint</vt:lpstr>
      <vt:lpstr>Presentación de PowerPoint</vt:lpstr>
      <vt:lpstr> Sampling design</vt:lpstr>
      <vt:lpstr> Sampling design</vt:lpstr>
      <vt:lpstr> Data analysis</vt:lpstr>
      <vt:lpstr> Data analysis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12</cp:revision>
  <dcterms:created xsi:type="dcterms:W3CDTF">2025-04-25T13:52:31Z</dcterms:created>
  <dcterms:modified xsi:type="dcterms:W3CDTF">2025-05-28T13:42:40Z</dcterms:modified>
</cp:coreProperties>
</file>