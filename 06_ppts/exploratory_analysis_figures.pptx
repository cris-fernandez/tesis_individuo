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306" r:id="rId3"/>
    <p:sldId id="379" r:id="rId4"/>
    <p:sldId id="335" r:id="rId5"/>
    <p:sldId id="282" r:id="rId6"/>
    <p:sldId id="342" r:id="rId7"/>
    <p:sldId id="337" r:id="rId8"/>
    <p:sldId id="380" r:id="rId9"/>
    <p:sldId id="381" r:id="rId10"/>
    <p:sldId id="382" r:id="rId11"/>
    <p:sldId id="385" r:id="rId12"/>
    <p:sldId id="389" r:id="rId13"/>
    <p:sldId id="387" r:id="rId14"/>
    <p:sldId id="388" r:id="rId15"/>
    <p:sldId id="386" r:id="rId16"/>
    <p:sldId id="390" r:id="rId17"/>
    <p:sldId id="391" r:id="rId18"/>
    <p:sldId id="392" r:id="rId19"/>
    <p:sldId id="393" r:id="rId20"/>
    <p:sldId id="394" r:id="rId21"/>
    <p:sldId id="395" r:id="rId22"/>
    <p:sldId id="397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3B4"/>
    <a:srgbClr val="37AD88"/>
    <a:srgbClr val="DB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2" autoAdjust="0"/>
    <p:restoredTop sz="94660"/>
  </p:normalViewPr>
  <p:slideViewPr>
    <p:cSldViewPr snapToGrid="0">
      <p:cViewPr>
        <p:scale>
          <a:sx n="66" d="100"/>
          <a:sy n="66" d="100"/>
        </p:scale>
        <p:origin x="109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6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0099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6C55C-A940-DD96-9FF7-50101346A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AA63DA-382B-6650-1250-DAF48450D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17CF70-0E87-F813-0659-C59B0DEF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34EA12-9A3F-F75E-8A08-F3985041B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19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02BF-9E70-7AF5-8930-9220FE5D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26DC81-4603-E34A-F944-09CC1DAC0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F04C69-D785-4910-A789-5602A6D22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35D0C3-7CDB-FEF9-8E10-D239C0E6A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0746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5A84C-D102-2DB4-F988-58E0024A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EEEC37-8377-3724-423F-782CED40A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4A802E-26FC-B8DD-F242-7CB639E78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157547-446D-D627-2215-11C5FA61E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342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2BFA-7097-86EF-3AED-6AD1FE39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3894DDA-4414-92AE-2ED5-AE3CB5722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C75F79-64F8-AED9-95AB-E40221F9D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4D0211-A1B7-24E3-B42C-7FDF1B757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4096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C97F-C60E-B229-3AE5-CF1DB6F11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15C477-1618-3F63-A55F-CAA396A7A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3E3E99-2CBC-009F-A83D-88CC59BB4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65B210-9A51-F271-DE59-81D965653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967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29/04/2025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Healthy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Healthy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iagrama&#10;&#10;Descripción generada automáticamente">
            <a:extLst>
              <a:ext uri="{FF2B5EF4-FFF2-40B4-BE49-F238E27FC236}">
                <a16:creationId xmlns:a16="http://schemas.microsoft.com/office/drawing/2014/main" id="{5CF93BAE-7062-DF63-FBD0-5278470B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5" y="647728"/>
            <a:ext cx="2826009" cy="282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CD98AE-E281-28B7-DDC6-9F8E6C509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3615224" y="920186"/>
            <a:ext cx="8573689" cy="58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33461" y="266246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1)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die-off responses </a:t>
            </a:r>
            <a:r>
              <a:rPr lang="es-ES" sz="2400" dirty="0" err="1">
                <a:latin typeface="Helvetica"/>
                <a:cs typeface="Helvetica"/>
              </a:rPr>
              <a:t>though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7" y="391352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2)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which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best</a:t>
            </a:r>
            <a:r>
              <a:rPr lang="es-ES" sz="2400" dirty="0">
                <a:latin typeface="Helvetica"/>
                <a:cs typeface="Helvetica"/>
              </a:rPr>
              <a:t> determine </a:t>
            </a:r>
            <a:r>
              <a:rPr lang="es-ES" sz="2400" b="1" dirty="0" err="1">
                <a:latin typeface="Helvetica"/>
                <a:cs typeface="Helvetica"/>
              </a:rPr>
              <a:t>drought-induced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vulnerability</a:t>
            </a:r>
            <a:endParaRPr lang="es-ES" sz="2400" b="1" dirty="0">
              <a:latin typeface="Helvetica"/>
              <a:cs typeface="Helvetic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D17402-96E9-A56B-30C4-8061982E6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655"/>
          <a:stretch/>
        </p:blipFill>
        <p:spPr>
          <a:xfrm>
            <a:off x="1139560" y="5095351"/>
            <a:ext cx="3477754" cy="1250117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88A669-7385-1C31-CF35-8531BA728759}"/>
              </a:ext>
            </a:extLst>
          </p:cNvPr>
          <p:cNvSpPr txBox="1">
            <a:spLocks/>
          </p:cNvSpPr>
          <p:nvPr/>
        </p:nvSpPr>
        <p:spPr>
          <a:xfrm>
            <a:off x="623548" y="1110781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dirty="0">
                <a:latin typeface="Helvetica"/>
                <a:cs typeface="Helvetica"/>
              </a:rPr>
              <a:t>3 </a:t>
            </a:r>
            <a:r>
              <a:rPr lang="es-ES" dirty="0" err="1">
                <a:latin typeface="Helvetica"/>
                <a:cs typeface="Helvetica"/>
              </a:rPr>
              <a:t>species</a:t>
            </a:r>
            <a:r>
              <a:rPr lang="es-ES" i="1" dirty="0">
                <a:latin typeface="Helvetica"/>
                <a:cs typeface="Helvetica"/>
              </a:rPr>
              <a:t> </a:t>
            </a:r>
            <a:r>
              <a:rPr lang="es-ES" dirty="0">
                <a:latin typeface="Helvetica"/>
                <a:cs typeface="Helvetica"/>
              </a:rPr>
              <a:t>in </a:t>
            </a:r>
            <a:r>
              <a:rPr lang="es-ES" dirty="0" err="1">
                <a:latin typeface="Helvetica"/>
                <a:cs typeface="Helvetica"/>
              </a:rPr>
              <a:t>damaged</a:t>
            </a:r>
            <a:r>
              <a:rPr lang="es-ES" dirty="0">
                <a:latin typeface="Helvetica"/>
                <a:cs typeface="Helvetica"/>
              </a:rPr>
              <a:t> vs. </a:t>
            </a:r>
            <a:r>
              <a:rPr lang="es-ES" dirty="0" err="1">
                <a:latin typeface="Helvetica"/>
                <a:cs typeface="Helvetica"/>
              </a:rPr>
              <a:t>healthy</a:t>
            </a:r>
            <a:r>
              <a:rPr lang="es-ES" dirty="0">
                <a:latin typeface="Helvetica"/>
                <a:cs typeface="Helvetica"/>
              </a:rPr>
              <a:t> sites </a:t>
            </a:r>
            <a:r>
              <a:rPr lang="es-ES" dirty="0" err="1">
                <a:latin typeface="Helvetica"/>
                <a:cs typeface="Helvetica"/>
              </a:rPr>
              <a:t>to</a:t>
            </a:r>
            <a:r>
              <a:rPr lang="es-ES" dirty="0">
                <a:latin typeface="Helvetica"/>
                <a:cs typeface="Helvetica"/>
              </a:rPr>
              <a:t>: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87B21BD-A6B5-1787-C2FE-38F3E226D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35"/>
          <a:stretch/>
        </p:blipFill>
        <p:spPr>
          <a:xfrm>
            <a:off x="6364847" y="5057218"/>
            <a:ext cx="3115055" cy="1220763"/>
          </a:xfrm>
          <a:prstGeom prst="rect">
            <a:avLst/>
          </a:prstGeom>
        </p:spPr>
      </p:pic>
      <p:pic>
        <p:nvPicPr>
          <p:cNvPr id="11" name="Gráfico 10" descr="Abeto">
            <a:extLst>
              <a:ext uri="{FF2B5EF4-FFF2-40B4-BE49-F238E27FC236}">
                <a16:creationId xmlns:a16="http://schemas.microsoft.com/office/drawing/2014/main" id="{FEC4AD70-FF0F-3D81-50E4-F7F5A0796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2543" y="1692518"/>
            <a:ext cx="804155" cy="804155"/>
          </a:xfrm>
          <a:prstGeom prst="rect">
            <a:avLst/>
          </a:prstGeom>
        </p:spPr>
      </p:pic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A5FE5DE5-7F85-CC7C-60ED-BA39F77907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5236" y="1707996"/>
            <a:ext cx="804155" cy="804155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A8E9D4C9-57D7-9752-0538-7E64417A3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5177" y="1754080"/>
            <a:ext cx="804155" cy="804155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69AA500-47E2-D768-9417-C83822BE4763}"/>
              </a:ext>
            </a:extLst>
          </p:cNvPr>
          <p:cNvSpPr txBox="1">
            <a:spLocks/>
          </p:cNvSpPr>
          <p:nvPr/>
        </p:nvSpPr>
        <p:spPr>
          <a:xfrm>
            <a:off x="2447965" y="1934497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648B532-0391-73C4-05E6-D875C8EA4A2D}"/>
              </a:ext>
            </a:extLst>
          </p:cNvPr>
          <p:cNvSpPr txBox="1">
            <a:spLocks/>
          </p:cNvSpPr>
          <p:nvPr/>
        </p:nvSpPr>
        <p:spPr>
          <a:xfrm>
            <a:off x="5019391" y="1935852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34C95E21-2D57-BCF4-19A9-47FAC0AF4EFA}"/>
              </a:ext>
            </a:extLst>
          </p:cNvPr>
          <p:cNvSpPr txBox="1">
            <a:spLocks/>
          </p:cNvSpPr>
          <p:nvPr/>
        </p:nvSpPr>
        <p:spPr>
          <a:xfrm>
            <a:off x="7869332" y="1912383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5F97D4-3704-918D-A040-286D8F79A8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655"/>
          <a:stretch/>
        </p:blipFill>
        <p:spPr>
          <a:xfrm>
            <a:off x="8527188" y="3944761"/>
            <a:ext cx="3477754" cy="12501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CAD87A3-2507-827F-113D-609B6918B3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835"/>
          <a:stretch/>
        </p:blipFill>
        <p:spPr>
          <a:xfrm>
            <a:off x="8708537" y="5371534"/>
            <a:ext cx="3115055" cy="12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7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36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4FDBE-B13D-7779-DA88-534C3FE3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C2645F1-D5A7-BE14-FF82-AED7E077E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ED90DC-5139-D0EB-6DDB-4ACBC296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5EEF694-F808-7ACA-6144-B20E9A05283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2B2E9C4-E5D5-5B45-835E-1BCD2EB73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7" y="875489"/>
            <a:ext cx="5278956" cy="5882352"/>
          </a:xfrm>
          <a:prstGeom prst="rect">
            <a:avLst/>
          </a:prstGeom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E65B7FF5-0121-A19A-1B66-299AD251DA47}"/>
              </a:ext>
            </a:extLst>
          </p:cNvPr>
          <p:cNvSpPr txBox="1"/>
          <p:nvPr/>
        </p:nvSpPr>
        <p:spPr>
          <a:xfrm>
            <a:off x="6021444" y="1791969"/>
            <a:ext cx="57256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Standardized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(BAI /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.)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series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site</a:t>
            </a: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Darker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lighter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Gray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mean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annual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right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y-axis).</a:t>
            </a: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68E32319-FCFC-96D4-4A06-FB952CFD9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1616" y="5537944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79DD684-FB51-F6B0-E2A0-628FB2589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309" y="5553422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0B9BF647-3A44-88A2-FA85-CFD08A8B9D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4250" y="5599506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C05D27C5-473A-8895-B3BD-4305536580DC}"/>
              </a:ext>
            </a:extLst>
          </p:cNvPr>
          <p:cNvSpPr txBox="1">
            <a:spLocks/>
          </p:cNvSpPr>
          <p:nvPr/>
        </p:nvSpPr>
        <p:spPr>
          <a:xfrm>
            <a:off x="4267038" y="5779923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83FAB09-3F7C-B1C3-1EA4-38221BAE9503}"/>
              </a:ext>
            </a:extLst>
          </p:cNvPr>
          <p:cNvSpPr txBox="1">
            <a:spLocks/>
          </p:cNvSpPr>
          <p:nvPr/>
        </p:nvSpPr>
        <p:spPr>
          <a:xfrm>
            <a:off x="6838464" y="5781278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8AB3B5C-AFAA-C642-DCE9-AA448A018229}"/>
              </a:ext>
            </a:extLst>
          </p:cNvPr>
          <p:cNvSpPr txBox="1">
            <a:spLocks/>
          </p:cNvSpPr>
          <p:nvPr/>
        </p:nvSpPr>
        <p:spPr>
          <a:xfrm>
            <a:off x="9688405" y="5757809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0003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8328-5D4A-117A-F0E1-A575A80D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287BCE5-1329-CF6E-4B55-751D2D42A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8D9A4B-4061-4D85-6F7A-262A79B11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5AAD56-F41C-84CC-E2BA-214389B36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17" y="875489"/>
            <a:ext cx="5278956" cy="5882352"/>
          </a:xfrm>
          <a:prstGeom prst="rect">
            <a:avLst/>
          </a:prstGeom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7864C863-53E9-5721-781B-3CCE4A9A1619}"/>
              </a:ext>
            </a:extLst>
          </p:cNvPr>
          <p:cNvSpPr txBox="1"/>
          <p:nvPr/>
        </p:nvSpPr>
        <p:spPr>
          <a:xfrm>
            <a:off x="5173884" y="1161816"/>
            <a:ext cx="66477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7873B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Navarra (BAS/SAR) &amp; Huesca (FAG/OZA):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always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However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convergence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temperatura’s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fault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Navarra (RON/URZ) and Guadalajara (ADO/ALU/TRA):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divergence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over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time.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Madrid (GUA):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always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although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seems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more evidente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37AD8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Teruel (COR/CED):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clear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pattern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several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interesting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major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decouplings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decades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DB5E0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Madrid (PEL/NAV):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major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A25B5D43-49E5-1519-056C-3A6B5411B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1616" y="5537944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0074D390-B171-B85E-5C54-F1B8EA06D3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4309" y="5553422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04B8CA8C-C5F6-416D-C9F0-CFC3D6BAC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4250" y="5599506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4F3D388E-E47F-E5BD-B011-9BF488BBD26D}"/>
              </a:ext>
            </a:extLst>
          </p:cNvPr>
          <p:cNvSpPr txBox="1">
            <a:spLocks/>
          </p:cNvSpPr>
          <p:nvPr/>
        </p:nvSpPr>
        <p:spPr>
          <a:xfrm>
            <a:off x="4267038" y="5779923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463B799E-36A2-A0F9-1055-9AA4CA5E8DF8}"/>
              </a:ext>
            </a:extLst>
          </p:cNvPr>
          <p:cNvSpPr txBox="1">
            <a:spLocks/>
          </p:cNvSpPr>
          <p:nvPr/>
        </p:nvSpPr>
        <p:spPr>
          <a:xfrm>
            <a:off x="6838464" y="5781278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6B292198-F1C8-A0F5-6614-34BD25515587}"/>
              </a:ext>
            </a:extLst>
          </p:cNvPr>
          <p:cNvSpPr txBox="1">
            <a:spLocks/>
          </p:cNvSpPr>
          <p:nvPr/>
        </p:nvSpPr>
        <p:spPr>
          <a:xfrm>
            <a:off x="9688405" y="5757809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4AC8C74-445B-7378-7693-2D32AFD3C98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527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A2040-6365-F622-F23A-914222D9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5FDB6A8-F163-F3D4-EC30-49CEB3E10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8E6C52-36FC-BBD5-61E6-16FA738B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D11F7B4-877F-7888-17DE-AD1B78A6794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82A1B36E-3ABB-F08C-29F7-F2CBD400B7DA}"/>
              </a:ext>
            </a:extLst>
          </p:cNvPr>
          <p:cNvSpPr txBox="1"/>
          <p:nvPr/>
        </p:nvSpPr>
        <p:spPr>
          <a:xfrm>
            <a:off x="6021444" y="179196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Additive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standardized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(BAI /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.)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series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site per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EC4888E8-B91F-1649-B685-B9DC89C18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8915" y="5790863"/>
            <a:ext cx="804155" cy="804155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CBFBD5C-D0DE-7C00-455A-88D672A20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7881" y="5786887"/>
            <a:ext cx="804155" cy="804155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222A6575-11AB-5D2A-6D6B-C4CC03D17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0574" y="5832970"/>
            <a:ext cx="804155" cy="804155"/>
          </a:xfrm>
          <a:prstGeom prst="rect">
            <a:avLst/>
          </a:prstGeom>
        </p:spPr>
      </p:pic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5F07DC1-48B2-72C8-AD77-2463E425B5E6}"/>
              </a:ext>
            </a:extLst>
          </p:cNvPr>
          <p:cNvSpPr txBox="1">
            <a:spLocks/>
          </p:cNvSpPr>
          <p:nvPr/>
        </p:nvSpPr>
        <p:spPr>
          <a:xfrm>
            <a:off x="5964337" y="6032842"/>
            <a:ext cx="1767271" cy="6237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245EBD3-67F8-3621-8F84-981734C5881A}"/>
              </a:ext>
            </a:extLst>
          </p:cNvPr>
          <p:cNvSpPr txBox="1">
            <a:spLocks/>
          </p:cNvSpPr>
          <p:nvPr/>
        </p:nvSpPr>
        <p:spPr>
          <a:xfrm>
            <a:off x="7982036" y="6014743"/>
            <a:ext cx="1767271" cy="622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FC04FBBF-51E3-9A14-F381-8EA28A200C74}"/>
              </a:ext>
            </a:extLst>
          </p:cNvPr>
          <p:cNvSpPr txBox="1">
            <a:spLocks/>
          </p:cNvSpPr>
          <p:nvPr/>
        </p:nvSpPr>
        <p:spPr>
          <a:xfrm>
            <a:off x="10424729" y="5991273"/>
            <a:ext cx="1767271" cy="618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EF958F-D2D9-646B-8019-EA7D1B61DC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" y="904673"/>
            <a:ext cx="5207338" cy="580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DB8A-A413-E708-1A83-093C559DC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1A8F4C5-D5EF-9E76-A133-20A075E47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6B3584-3002-6BDC-9E1C-87818044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214E92E-642B-98F5-BF16-46CCDC80A4B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FBEA708A-2F7E-0B0C-7B82-584EB61544CA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observe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progressive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1968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9F15B2-C8B4-CFF5-DB32-5CB984A3B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07" b="75612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EAF1F0C-7F3F-3A2C-25FB-00FC13604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D91B00B-B1EA-3113-B46B-2FA38B0B6567}"/>
              </a:ext>
            </a:extLst>
          </p:cNvPr>
          <p:cNvSpPr/>
          <p:nvPr/>
        </p:nvSpPr>
        <p:spPr>
          <a:xfrm>
            <a:off x="194998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A4FA15E-2B41-73B0-2EF2-8BAFCC624A78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6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DD06B-30E2-EFFF-3C79-5C614A7A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782393-B642-F1E8-25E0-6B0F8578A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DD3D3E-1A33-42D7-599E-655CF09B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C4568D9-497B-043E-FF14-D9937D0A890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5436832C-CE15-29BC-E545-AE34792EBD8E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observe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progressive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1968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975FEA-90E8-BDFB-0438-D028CEF88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07" b="75612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9468A67-3D4E-A09F-1DAD-30863FDAE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C23ED0FD-E40C-09D3-35C8-EE6FAF312D28}"/>
              </a:ext>
            </a:extLst>
          </p:cNvPr>
          <p:cNvSpPr/>
          <p:nvPr/>
        </p:nvSpPr>
        <p:spPr>
          <a:xfrm>
            <a:off x="194998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9D04F46-0E7C-7F4F-8F56-D6E2F964C6A2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582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9A14-C6ED-B239-83F2-6D8612AC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63DAD08-EE7B-6865-C33F-E5FBAB337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547BBB-3D9C-B92A-51FF-367D3317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D41D346-C391-806A-8B07-7D070DCAEF5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95FF8C92-ECC1-3020-E7C9-D5F6EF710B90}"/>
              </a:ext>
            </a:extLst>
          </p:cNvPr>
          <p:cNvSpPr txBox="1"/>
          <p:nvPr/>
        </p:nvSpPr>
        <p:spPr>
          <a:xfrm>
            <a:off x="6145191" y="1512509"/>
            <a:ext cx="57256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Navarra, Madrid,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Guadalajara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patent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a bit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differentiated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4CB36A-1E97-C20F-5B2B-798180B0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3" t="49392" r="50750" b="26220"/>
          <a:stretch/>
        </p:blipFill>
        <p:spPr>
          <a:xfrm>
            <a:off x="-14655" y="1303516"/>
            <a:ext cx="6481582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58CEC71-0B6E-F660-207B-EBC187732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688839AE-1758-0E6A-7E49-128D8498BC03}"/>
              </a:ext>
            </a:extLst>
          </p:cNvPr>
          <p:cNvSpPr/>
          <p:nvPr/>
        </p:nvSpPr>
        <p:spPr>
          <a:xfrm>
            <a:off x="183822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EA77C80-9458-7A69-317C-F3D3A02CD151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96773A3-3490-AC24-6F9B-DCC7DDFDBE1D}"/>
              </a:ext>
            </a:extLst>
          </p:cNvPr>
          <p:cNvSpPr/>
          <p:nvPr/>
        </p:nvSpPr>
        <p:spPr>
          <a:xfrm>
            <a:off x="7047761" y="538073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74D04FF-B7B4-DD15-93EB-5A14DAA3FA25}"/>
              </a:ext>
            </a:extLst>
          </p:cNvPr>
          <p:cNvSpPr/>
          <p:nvPr/>
        </p:nvSpPr>
        <p:spPr>
          <a:xfrm>
            <a:off x="8602883" y="545185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65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2E08-0836-8757-D815-3BBECA41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6F3A1F3A-9B29-D181-4FC1-5D0C9DCB3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C1B47C-D1B7-A1B0-28C0-E0DDFEC72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403CF17-03B9-C294-E98B-5831250D442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76932059-7B61-AA6B-EAE2-9682705EA4D2}"/>
              </a:ext>
            </a:extLst>
          </p:cNvPr>
          <p:cNvSpPr txBox="1"/>
          <p:nvPr/>
        </p:nvSpPr>
        <p:spPr>
          <a:xfrm>
            <a:off x="6145191" y="1512509"/>
            <a:ext cx="5725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Navarra, Madrid, Guadalajara,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Teruel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even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differentiated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B9B007-C29A-9B07-5AF4-D4E419B33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" t="73732" r="50819" b="8"/>
          <a:stretch/>
        </p:blipFill>
        <p:spPr>
          <a:xfrm>
            <a:off x="-14655" y="1303516"/>
            <a:ext cx="6481582" cy="384760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E53DB36-F2CC-1EDA-330A-6B99F8258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5E74E4B-16AC-0AAE-A829-54144EDBA2F8}"/>
              </a:ext>
            </a:extLst>
          </p:cNvPr>
          <p:cNvSpPr/>
          <p:nvPr/>
        </p:nvSpPr>
        <p:spPr>
          <a:xfrm>
            <a:off x="1838221" y="3898104"/>
            <a:ext cx="405113" cy="7242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6F1C22A-8E1D-59BB-05CE-303608044246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79D5525-36BD-3335-A194-42EDDFC73A8C}"/>
              </a:ext>
            </a:extLst>
          </p:cNvPr>
          <p:cNvSpPr/>
          <p:nvPr/>
        </p:nvSpPr>
        <p:spPr>
          <a:xfrm>
            <a:off x="7047761" y="538073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499AA3B-EA91-4711-B57F-50B83B89B89D}"/>
              </a:ext>
            </a:extLst>
          </p:cNvPr>
          <p:cNvSpPr/>
          <p:nvPr/>
        </p:nvSpPr>
        <p:spPr>
          <a:xfrm>
            <a:off x="8602883" y="5451858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E85216D-3B1B-DB5D-6EA1-AEE21E03E785}"/>
              </a:ext>
            </a:extLst>
          </p:cNvPr>
          <p:cNvSpPr/>
          <p:nvPr/>
        </p:nvSpPr>
        <p:spPr>
          <a:xfrm>
            <a:off x="9142382" y="5615606"/>
            <a:ext cx="405113" cy="363957"/>
          </a:xfrm>
          <a:prstGeom prst="ellipse">
            <a:avLst/>
          </a:prstGeom>
          <a:noFill/>
          <a:ln w="38100">
            <a:solidFill>
              <a:srgbClr val="37AD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37AD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94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564F-28F8-021F-3D62-6D0FD67D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89CF1C8-EDF8-8A31-4A32-03F3F9835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A0411C-6DB5-B29C-329C-76FD6B4C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49FFDF2-C331-2AFB-F4DD-D68870285FA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66A6F1E8-82E8-2EE0-2CA1-932960D78CD1}"/>
              </a:ext>
            </a:extLst>
          </p:cNvPr>
          <p:cNvSpPr txBox="1"/>
          <p:nvPr/>
        </p:nvSpPr>
        <p:spPr>
          <a:xfrm>
            <a:off x="6157956" y="1179084"/>
            <a:ext cx="5945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considering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baseline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there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downwards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trend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decades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05326F-4080-74E1-A7CB-0532C5324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78" t="159" r="-55" b="75453"/>
          <a:stretch/>
        </p:blipFill>
        <p:spPr>
          <a:xfrm>
            <a:off x="0" y="1303516"/>
            <a:ext cx="6558367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A59630-036D-7694-69CC-BA5BC9B32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7386731-0D58-F91B-C629-670A4DBC5C22}"/>
              </a:ext>
            </a:extLst>
          </p:cNvPr>
          <p:cNvSpPr/>
          <p:nvPr/>
        </p:nvSpPr>
        <p:spPr>
          <a:xfrm>
            <a:off x="5011859" y="3117416"/>
            <a:ext cx="1656819" cy="17593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B486933-89F4-E0E8-305A-32C23DAD0881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7873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873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14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B1A4-1508-C191-69A1-EBA99095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65DD20-6FDB-623D-4C29-C41314855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247C0A-16C9-DC00-3719-ADE238E39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BF2BCF2-85FF-D379-B5F1-7A266293BD3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8C0CA0C6-9762-C192-ACE7-09DF57C40A20}"/>
              </a:ext>
            </a:extLst>
          </p:cNvPr>
          <p:cNvSpPr txBox="1"/>
          <p:nvPr/>
        </p:nvSpPr>
        <p:spPr>
          <a:xfrm>
            <a:off x="6157956" y="1179084"/>
            <a:ext cx="59452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When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including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Navarra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Huesca,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divergence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tres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>
                <a:latin typeface="Helvetica" panose="020B0604020202020204" pitchFamily="34" charset="0"/>
                <a:cs typeface="Helvetica" panose="020B0604020202020204" pitchFamily="34" charset="0"/>
              </a:rPr>
              <a:t>c.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1965, and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there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4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427E74-6701-44F9-3E3E-72CD3BF33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4636" r="123" b="50976"/>
          <a:stretch/>
        </p:blipFill>
        <p:spPr>
          <a:xfrm>
            <a:off x="0" y="1303516"/>
            <a:ext cx="6558367" cy="35732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749165A-A628-DE74-D29C-C4E4FE61D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5"/>
          <a:stretch/>
        </p:blipFill>
        <p:spPr>
          <a:xfrm>
            <a:off x="6778990" y="3218630"/>
            <a:ext cx="4863127" cy="331634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9E616AF8-CAC8-AC24-DF98-98BCA5BD3C79}"/>
              </a:ext>
            </a:extLst>
          </p:cNvPr>
          <p:cNvSpPr/>
          <p:nvPr/>
        </p:nvSpPr>
        <p:spPr>
          <a:xfrm>
            <a:off x="5011859" y="3117416"/>
            <a:ext cx="1656819" cy="17593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FC7F0F2-1161-407D-2A69-BC776DA2A929}"/>
              </a:ext>
            </a:extLst>
          </p:cNvPr>
          <p:cNvSpPr/>
          <p:nvPr/>
        </p:nvSpPr>
        <p:spPr>
          <a:xfrm>
            <a:off x="9130561" y="3534147"/>
            <a:ext cx="405113" cy="363957"/>
          </a:xfrm>
          <a:prstGeom prst="ellipse">
            <a:avLst/>
          </a:prstGeom>
          <a:noFill/>
          <a:ln w="38100">
            <a:solidFill>
              <a:srgbClr val="7873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873B4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43CC173-077C-F36B-09C1-B75428B5F423}"/>
              </a:ext>
            </a:extLst>
          </p:cNvPr>
          <p:cNvSpPr/>
          <p:nvPr/>
        </p:nvSpPr>
        <p:spPr>
          <a:xfrm>
            <a:off x="1635760" y="3997108"/>
            <a:ext cx="531694" cy="73152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849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B495-ED0E-EF3A-6BD2-C7FA5BDD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D5FF754-C5C9-4FE6-E5B4-75FCC20EA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3C9F21-4171-725D-03AF-BEB30383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BDC4143-303B-7342-BFB0-950B435C612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F2D53FB-ABEB-F417-8636-74794F937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4155"/>
            <a:ext cx="6810696" cy="6053845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BFB288F5-1B92-5E80-314A-2213F6F76BCB}"/>
              </a:ext>
            </a:extLst>
          </p:cNvPr>
          <p:cNvSpPr txBox="1"/>
          <p:nvPr/>
        </p:nvSpPr>
        <p:spPr>
          <a:xfrm>
            <a:off x="6181951" y="1476587"/>
            <a:ext cx="5917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Boxplots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resulting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binning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scatterplots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~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FFB64ED1-1211-5C91-75C9-AAC316189016}"/>
              </a:ext>
            </a:extLst>
          </p:cNvPr>
          <p:cNvSpPr txBox="1"/>
          <p:nvPr/>
        </p:nvSpPr>
        <p:spPr>
          <a:xfrm>
            <a:off x="6181951" y="4181085"/>
            <a:ext cx="5917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you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think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it’d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invert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axis,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binning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ES" sz="24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5655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48E7D-5612-D95C-DF42-5C78C640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C6333AE-E806-EA57-25B1-9A8C1E82D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F015EF-EE04-BD1E-1D3B-B3F1ED80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CF56776-219A-C196-72A0-782D88403A6E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477EFA-3A5A-BC80-7966-50DD4415A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290" b="75522"/>
          <a:stretch/>
        </p:blipFill>
        <p:spPr>
          <a:xfrm>
            <a:off x="350196" y="823142"/>
            <a:ext cx="3346315" cy="3070812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BBCC3E21-FF99-FC9B-5A90-421ED5E5E13E}"/>
              </a:ext>
            </a:extLst>
          </p:cNvPr>
          <p:cNvSpPr txBox="1"/>
          <p:nvPr/>
        </p:nvSpPr>
        <p:spPr>
          <a:xfrm>
            <a:off x="350196" y="3996418"/>
            <a:ext cx="33463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are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evident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larger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perhaps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because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make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more vulnerable?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BE1654-2E47-7196-AFD9-4703F52E7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05" r="76290" b="50817"/>
          <a:stretch/>
        </p:blipFill>
        <p:spPr>
          <a:xfrm>
            <a:off x="4199106" y="823142"/>
            <a:ext cx="3346315" cy="3070812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674FFEA2-9C7D-D1F8-6511-10D17DF8A6FC}"/>
              </a:ext>
            </a:extLst>
          </p:cNvPr>
          <p:cNvSpPr txBox="1"/>
          <p:nvPr/>
        </p:nvSpPr>
        <p:spPr>
          <a:xfrm>
            <a:off x="4199106" y="3996418"/>
            <a:ext cx="33463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0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(%). I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would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expect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opposite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so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allocating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3E29EA-1E7F-5699-E186-CA31E4753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58" r="76290" b="26264"/>
          <a:stretch/>
        </p:blipFill>
        <p:spPr>
          <a:xfrm>
            <a:off x="8048016" y="823142"/>
            <a:ext cx="3346315" cy="3070812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79404059-0E6C-4035-263D-EC61D2B367BA}"/>
              </a:ext>
            </a:extLst>
          </p:cNvPr>
          <p:cNvSpPr txBox="1"/>
          <p:nvPr/>
        </p:nvSpPr>
        <p:spPr>
          <a:xfrm>
            <a:off x="8048016" y="3996418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are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evident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32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F615-489D-2A08-867A-48DAD318C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6EAEF70-F1E1-CDE2-AE50-BCC6B0B75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10729D-3E74-B439-3FF1-AA7AF2B7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7479919-FDFB-0552-B5A8-54CE2BE68D6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0EF7C9F-E78C-D57F-5F9A-E660D7416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9" t="24705" r="53561" b="50817"/>
          <a:stretch/>
        </p:blipFill>
        <p:spPr>
          <a:xfrm>
            <a:off x="350196" y="823142"/>
            <a:ext cx="3346315" cy="3070812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2DB2E806-DD32-1287-B599-B62E8FA92E5B}"/>
              </a:ext>
            </a:extLst>
          </p:cNvPr>
          <p:cNvSpPr txBox="1"/>
          <p:nvPr/>
        </p:nvSpPr>
        <p:spPr>
          <a:xfrm>
            <a:off x="350196" y="3996418"/>
            <a:ext cx="33463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Generally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E46A58-B45D-B328-880D-2D7ECB31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48" t="24705" r="30442" b="50817"/>
          <a:stretch/>
        </p:blipFill>
        <p:spPr>
          <a:xfrm>
            <a:off x="4199106" y="823142"/>
            <a:ext cx="3346315" cy="3070812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B4F1E9BE-768C-B68A-8CCC-016AC9FAFEC8}"/>
              </a:ext>
            </a:extLst>
          </p:cNvPr>
          <p:cNvSpPr txBox="1"/>
          <p:nvPr/>
        </p:nvSpPr>
        <p:spPr>
          <a:xfrm>
            <a:off x="4199106" y="3996418"/>
            <a:ext cx="3346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Generally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N. 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BA238553-75D4-CC8D-5616-52306556AA10}"/>
              </a:ext>
            </a:extLst>
          </p:cNvPr>
          <p:cNvSpPr txBox="1"/>
          <p:nvPr/>
        </p:nvSpPr>
        <p:spPr>
          <a:xfrm>
            <a:off x="8048016" y="3996418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Generally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O.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EFD66F-CA11-810A-4AF3-5DAC75C47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35" t="24705" r="7452" b="50817"/>
          <a:stretch/>
        </p:blipFill>
        <p:spPr>
          <a:xfrm>
            <a:off x="8017744" y="823142"/>
            <a:ext cx="3276069" cy="307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98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7013-6D0A-7537-502D-486D1C6B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B2BFE58-A519-A475-6804-6B9D824AC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B6CD91-6F8B-1D09-D8A7-0AA69684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625C6D5-EFCE-0E08-5993-DC61E502933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7E4E0-AB3D-345C-3B63-87F73778B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4155"/>
            <a:ext cx="6789906" cy="6035366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9F1A8540-4C6A-82CF-52A9-CB66EF9B2B02}"/>
              </a:ext>
            </a:extLst>
          </p:cNvPr>
          <p:cNvSpPr txBox="1"/>
          <p:nvPr/>
        </p:nvSpPr>
        <p:spPr>
          <a:xfrm>
            <a:off x="6181951" y="1476587"/>
            <a:ext cx="59176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Scatterplots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representing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/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morphological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 ~ Mean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Annual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(mean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last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10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years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9A2457-EF77-3462-DD09-C2C2DCDFD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3" t="44270" b="43642"/>
          <a:stretch/>
        </p:blipFill>
        <p:spPr>
          <a:xfrm>
            <a:off x="6005740" y="3429000"/>
            <a:ext cx="2097400" cy="202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20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3DFE-15BC-0CC3-4DD4-6BB8059E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1A7ECA8-8470-69CF-63F2-079F488AA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F775AA-7061-CB15-CC32-84B922D6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FD26ACB-CE45-E406-281D-C5359F2D199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163397-2E50-1D02-F58C-308020950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7669" b="75016"/>
          <a:stretch/>
        </p:blipFill>
        <p:spPr>
          <a:xfrm>
            <a:off x="333068" y="1014073"/>
            <a:ext cx="2787817" cy="2772423"/>
          </a:xfrm>
          <a:prstGeom prst="rect">
            <a:avLst/>
          </a:prstGeom>
        </p:spPr>
      </p:pic>
      <p:sp>
        <p:nvSpPr>
          <p:cNvPr id="4" name="CuadroTexto 10">
            <a:extLst>
              <a:ext uri="{FF2B5EF4-FFF2-40B4-BE49-F238E27FC236}">
                <a16:creationId xmlns:a16="http://schemas.microsoft.com/office/drawing/2014/main" id="{7CC4FF75-944D-4D0C-F1F3-41E86F2E6A4F}"/>
              </a:ext>
            </a:extLst>
          </p:cNvPr>
          <p:cNvSpPr txBox="1"/>
          <p:nvPr/>
        </p:nvSpPr>
        <p:spPr>
          <a:xfrm>
            <a:off x="53818" y="3996416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MAP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19C52F-3968-8904-5DEA-F3F81C28E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5" r="11284" b="75015"/>
          <a:stretch/>
        </p:blipFill>
        <p:spPr>
          <a:xfrm>
            <a:off x="3216235" y="1014073"/>
            <a:ext cx="2787817" cy="27724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C491DC-C608-8F46-A145-E63D51880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" t="25015" r="77716" b="50000"/>
          <a:stretch/>
        </p:blipFill>
        <p:spPr>
          <a:xfrm>
            <a:off x="6004052" y="1014073"/>
            <a:ext cx="2787817" cy="2772423"/>
          </a:xfrm>
          <a:prstGeom prst="rect">
            <a:avLst/>
          </a:prstGeom>
        </p:spPr>
      </p:pic>
      <p:sp>
        <p:nvSpPr>
          <p:cNvPr id="9" name="CuadroTexto 10">
            <a:extLst>
              <a:ext uri="{FF2B5EF4-FFF2-40B4-BE49-F238E27FC236}">
                <a16:creationId xmlns:a16="http://schemas.microsoft.com/office/drawing/2014/main" id="{A1231B6A-FEED-A1D5-E81A-DD62047C8BD5}"/>
              </a:ext>
            </a:extLst>
          </p:cNvPr>
          <p:cNvSpPr txBox="1"/>
          <p:nvPr/>
        </p:nvSpPr>
        <p:spPr>
          <a:xfrm>
            <a:off x="3769566" y="3996414"/>
            <a:ext cx="49094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Opposite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trends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C and 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while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Probably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because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precipitations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BB1843F-83A7-B941-23A5-656F351B3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50000" r="55811" b="25015"/>
          <a:stretch/>
        </p:blipFill>
        <p:spPr>
          <a:xfrm>
            <a:off x="8935697" y="1014072"/>
            <a:ext cx="2787817" cy="277242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8311DB6-FC03-1B0F-2550-8B5345F8847E}"/>
              </a:ext>
            </a:extLst>
          </p:cNvPr>
          <p:cNvSpPr txBox="1"/>
          <p:nvPr/>
        </p:nvSpPr>
        <p:spPr>
          <a:xfrm>
            <a:off x="8638998" y="3996411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MAP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specially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However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super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strong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5429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2BED-3736-FEAB-171A-F5DB8509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4FE366D-D4C0-F7D3-0014-0434D1FAF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12E6D0-5B6D-EFEB-FAD2-4C46B82A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1B657E6-48DF-374B-3CFA-3E442052EB9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	</a:t>
            </a:r>
            <a:endParaRPr lang="es-ES" sz="28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2D3BD283-A260-12C2-95B2-2149C0AAA33B}"/>
              </a:ext>
            </a:extLst>
          </p:cNvPr>
          <p:cNvSpPr txBox="1"/>
          <p:nvPr/>
        </p:nvSpPr>
        <p:spPr>
          <a:xfrm>
            <a:off x="962511" y="3996418"/>
            <a:ext cx="49094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Both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and </a:t>
            </a:r>
            <a:r>
              <a:rPr lang="el-GR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O are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negatively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MAP.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slope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slightly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sights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lighter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lines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related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in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humid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places,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thus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allowing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5B71772-4715-4ACE-D656-B8C8D5884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52" t="25015" r="55417" b="50000"/>
          <a:stretch/>
        </p:blipFill>
        <p:spPr>
          <a:xfrm>
            <a:off x="629442" y="1014077"/>
            <a:ext cx="2787817" cy="27724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5E5876-8A44-9568-2B47-E8422E8AC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5" t="25015" r="11284" b="50000"/>
          <a:stretch/>
        </p:blipFill>
        <p:spPr>
          <a:xfrm>
            <a:off x="3417259" y="1014076"/>
            <a:ext cx="2787817" cy="2772423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701CE39C-6585-BA23-4F55-CC82259F67E3}"/>
              </a:ext>
            </a:extLst>
          </p:cNvPr>
          <p:cNvSpPr txBox="1"/>
          <p:nvPr/>
        </p:nvSpPr>
        <p:spPr>
          <a:xfrm>
            <a:off x="6866741" y="3996418"/>
            <a:ext cx="334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Positive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relationship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MAP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Maybe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DBE3F1B-9188-5AC8-293B-4D8910A34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8" t="75015" r="55521"/>
          <a:stretch/>
        </p:blipFill>
        <p:spPr>
          <a:xfrm>
            <a:off x="7145989" y="1014076"/>
            <a:ext cx="2787817" cy="277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48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1084</Words>
  <Application>Microsoft Office PowerPoint</Application>
  <PresentationFormat>Panorámica</PresentationFormat>
  <Paragraphs>215</Paragraphs>
  <Slides>22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Presentación de PowerPoint</vt:lpstr>
      <vt:lpstr> Sampling design</vt:lpstr>
      <vt:lpstr> Sampling design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2</cp:revision>
  <dcterms:created xsi:type="dcterms:W3CDTF">2025-04-25T13:52:31Z</dcterms:created>
  <dcterms:modified xsi:type="dcterms:W3CDTF">2025-04-29T14:35:55Z</dcterms:modified>
</cp:coreProperties>
</file>