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306" r:id="rId3"/>
    <p:sldId id="379" r:id="rId4"/>
    <p:sldId id="335" r:id="rId5"/>
    <p:sldId id="342" r:id="rId6"/>
    <p:sldId id="337" r:id="rId7"/>
    <p:sldId id="282" r:id="rId8"/>
    <p:sldId id="404" r:id="rId9"/>
    <p:sldId id="405" r:id="rId10"/>
    <p:sldId id="406" r:id="rId11"/>
    <p:sldId id="436" r:id="rId12"/>
    <p:sldId id="407" r:id="rId13"/>
    <p:sldId id="408" r:id="rId14"/>
    <p:sldId id="409" r:id="rId15"/>
    <p:sldId id="411" r:id="rId16"/>
    <p:sldId id="438" r:id="rId17"/>
    <p:sldId id="433" r:id="rId18"/>
    <p:sldId id="435" r:id="rId19"/>
    <p:sldId id="413" r:id="rId20"/>
    <p:sldId id="440" r:id="rId21"/>
    <p:sldId id="439" r:id="rId22"/>
    <p:sldId id="441" r:id="rId23"/>
    <p:sldId id="442" r:id="rId24"/>
    <p:sldId id="443" r:id="rId25"/>
    <p:sldId id="445" r:id="rId26"/>
    <p:sldId id="444" r:id="rId27"/>
    <p:sldId id="446" r:id="rId28"/>
    <p:sldId id="424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218317"/>
    <a:srgbClr val="DB5E01"/>
    <a:srgbClr val="37AD88"/>
    <a:srgbClr val="716CB1"/>
    <a:srgbClr val="7030A0"/>
    <a:srgbClr val="787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94"/>
  </p:normalViewPr>
  <p:slideViewPr>
    <p:cSldViewPr snapToGrid="0">
      <p:cViewPr>
        <p:scale>
          <a:sx n="66" d="100"/>
          <a:sy n="66" d="100"/>
        </p:scale>
        <p:origin x="1080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24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0863-D448-E9C8-3713-0B5CFCB6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FB442-828C-AE76-F148-980D2AEE6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AE7446-4695-93DD-A912-31F01CD7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14FCB-90AD-2E02-7705-F40B6080B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01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AD94-0158-8CAB-91D9-52BDAFE7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E8ECE-EA24-3954-FB25-C21295961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03F959-63CD-34AE-1B2E-0A7FCA60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8D4EB-2427-3376-5589-AB4DE910C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382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2B03-2D87-BFD5-12BB-2CA0A046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213595-164E-8B22-541F-85FEBB999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0C6D16-5B77-6A1C-D77D-5913A1CC2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E450B3-033B-DAC8-CAA9-4231DC16F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97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A6A2-6A33-A63B-9846-CCDA3819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FD10E6-6F4C-A08B-C24C-344D1732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F6D337-312F-3DD1-4FB3-114837F08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FE2C0F-021A-57B9-D50F-8F607896D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3049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EF00-6B82-8F5A-C945-A09E5C5F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148436-55A8-DDB5-3509-2F79579B6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A29234-E70F-FE86-0886-BCD5229F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4EF42A-E447-B9D4-722A-F0E5E2C7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487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E000-4D3E-497D-4267-2AA8B787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03AFD5-61ED-2CE6-EBA8-C92EAE66E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25A137-A7AC-ED90-C8ED-20285F256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25625B-E6B7-9436-31E8-56E08BAB1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5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D959-9B52-85EE-548F-E5967552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3B80D5-C571-8F99-AB8F-57B1511FC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868661-B462-C3EB-2D5F-38B42751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6F0060-1A90-EF5A-5E66-F14377B74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29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ACC0-3F97-3DF7-79A8-B0FBC69A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9138D8-384E-68C7-2A8B-A2B7A4588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4EADFE-4B01-CF78-86CA-DBBB7F5A2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ABD3C-6AF3-F8A0-8439-86B407146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0781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670D-B66E-CD2D-C675-B1E66445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A68332-AF43-E0CE-3526-7DF316543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EB7C56-4434-69BF-326D-C968D4968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B4D3AD-25AE-76B9-DDE2-C61E216DC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0531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6093-4778-8DEE-52A3-DDEF1E05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276539-5D5C-C6C6-2238-D3A7DE827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C5D938-0591-BA05-7040-78AB12A3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18B9-5FE2-50C5-5B65-D0946DC7C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715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07/07/2025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tiff"/><Relationship Id="rId4" Type="http://schemas.openxmlformats.org/officeDocument/2006/relationships/image" Target="../media/image19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4D2-92AB-56BE-5401-B5857B4B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F0E37F81-4996-ACF1-D504-516BF4508F0D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Morphological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0317BCC4-3F71-57F6-B195-00F0C0F72EB3}"/>
              </a:ext>
            </a:extLst>
          </p:cNvPr>
          <p:cNvSpPr txBox="1">
            <a:spLocks/>
          </p:cNvSpPr>
          <p:nvPr/>
        </p:nvSpPr>
        <p:spPr>
          <a:xfrm>
            <a:off x="873964" y="1771781"/>
            <a:ext cx="940058" cy="2552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44384-3004-6C6E-7451-A7238A5D0302}"/>
              </a:ext>
            </a:extLst>
          </p:cNvPr>
          <p:cNvSpPr txBox="1">
            <a:spLocks/>
          </p:cNvSpPr>
          <p:nvPr/>
        </p:nvSpPr>
        <p:spPr>
          <a:xfrm>
            <a:off x="4282027" y="1771781"/>
            <a:ext cx="940058" cy="2552401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ED42503-2FD0-622B-25DC-67609D2A8C2B}"/>
              </a:ext>
            </a:extLst>
          </p:cNvPr>
          <p:cNvSpPr txBox="1">
            <a:spLocks/>
          </p:cNvSpPr>
          <p:nvPr/>
        </p:nvSpPr>
        <p:spPr>
          <a:xfrm>
            <a:off x="2151683" y="1838732"/>
            <a:ext cx="1789618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Tree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2400" dirty="0">
                <a:latin typeface="Helvetica" panose="020B0604020202020204"/>
                <a:cs typeface="Helvetica" panose="020B0604020202020204"/>
              </a:rPr>
              <a:t>BAI,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height</a:t>
            </a:r>
            <a:r>
              <a:rPr lang="es-ES" sz="2400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dbh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20DB9558-B2BF-6BD6-E1CC-3565899D0CB3}"/>
              </a:ext>
            </a:extLst>
          </p:cNvPr>
          <p:cNvSpPr txBox="1">
            <a:spLocks/>
          </p:cNvSpPr>
          <p:nvPr/>
        </p:nvSpPr>
        <p:spPr>
          <a:xfrm>
            <a:off x="2313887" y="2886569"/>
            <a:ext cx="1462158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/>
                <a:cs typeface="Helvetica"/>
              </a:rPr>
              <a:t>SLA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C12320A-0D50-B954-DBB2-1EB8131F8B5E}"/>
              </a:ext>
            </a:extLst>
          </p:cNvPr>
          <p:cNvSpPr txBox="1">
            <a:spLocks/>
          </p:cNvSpPr>
          <p:nvPr/>
        </p:nvSpPr>
        <p:spPr>
          <a:xfrm>
            <a:off x="2160035" y="3669011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/>
                <a:cs typeface="Helvetica"/>
              </a:rPr>
              <a:t>defoliation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010CEC-27C0-43E8-F13F-4CD98F2A970C}"/>
              </a:ext>
            </a:extLst>
          </p:cNvPr>
          <p:cNvSpPr txBox="1">
            <a:spLocks/>
          </p:cNvSpPr>
          <p:nvPr/>
        </p:nvSpPr>
        <p:spPr>
          <a:xfrm>
            <a:off x="873963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9F6C2EF-A2B4-CADC-72E6-1ED344B9E1A7}"/>
              </a:ext>
            </a:extLst>
          </p:cNvPr>
          <p:cNvSpPr txBox="1">
            <a:spLocks/>
          </p:cNvSpPr>
          <p:nvPr/>
        </p:nvSpPr>
        <p:spPr>
          <a:xfrm>
            <a:off x="5986468" y="1933916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root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system</a:t>
            </a:r>
            <a:r>
              <a:rPr lang="es-ES" sz="2400" dirty="0">
                <a:latin typeface="Helvetica"/>
                <a:cs typeface="Helvetica"/>
              </a:rPr>
              <a:t>, reserves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85E35DF-EB1B-CC2D-77A0-8849F5A8E907}"/>
              </a:ext>
            </a:extLst>
          </p:cNvPr>
          <p:cNvSpPr txBox="1">
            <a:spLocks/>
          </p:cNvSpPr>
          <p:nvPr/>
        </p:nvSpPr>
        <p:spPr>
          <a:xfrm>
            <a:off x="4282028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E86B80-B33B-526D-DC67-62819F92DADC}"/>
              </a:ext>
            </a:extLst>
          </p:cNvPr>
          <p:cNvSpPr txBox="1">
            <a:spLocks/>
          </p:cNvSpPr>
          <p:nvPr/>
        </p:nvSpPr>
        <p:spPr>
          <a:xfrm>
            <a:off x="873962" y="2809267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6519D60-4367-FE7F-E866-77BB4CC375F6}"/>
              </a:ext>
            </a:extLst>
          </p:cNvPr>
          <p:cNvSpPr txBox="1">
            <a:spLocks/>
          </p:cNvSpPr>
          <p:nvPr/>
        </p:nvSpPr>
        <p:spPr>
          <a:xfrm>
            <a:off x="873962" y="367254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8476C887-83B4-0CA1-ED02-27A7FBBFAC2A}"/>
              </a:ext>
            </a:extLst>
          </p:cNvPr>
          <p:cNvSpPr txBox="1">
            <a:spLocks/>
          </p:cNvSpPr>
          <p:nvPr/>
        </p:nvSpPr>
        <p:spPr>
          <a:xfrm>
            <a:off x="4278968" y="280995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E22DB08-9A70-46F7-386A-B2D485C5FF5A}"/>
              </a:ext>
            </a:extLst>
          </p:cNvPr>
          <p:cNvSpPr txBox="1">
            <a:spLocks/>
          </p:cNvSpPr>
          <p:nvPr/>
        </p:nvSpPr>
        <p:spPr>
          <a:xfrm>
            <a:off x="4278967" y="366901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11AD154-DC3D-C24C-2F95-DD8D08C7B984}"/>
              </a:ext>
            </a:extLst>
          </p:cNvPr>
          <p:cNvSpPr txBox="1">
            <a:spLocks/>
          </p:cNvSpPr>
          <p:nvPr/>
        </p:nvSpPr>
        <p:spPr>
          <a:xfrm>
            <a:off x="870903" y="4533220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A7732EB-AC92-D301-1C71-C0F3EA3A8C5B}"/>
              </a:ext>
            </a:extLst>
          </p:cNvPr>
          <p:cNvSpPr txBox="1">
            <a:spLocks/>
          </p:cNvSpPr>
          <p:nvPr/>
        </p:nvSpPr>
        <p:spPr>
          <a:xfrm>
            <a:off x="5986468" y="2649744"/>
            <a:ext cx="4855701" cy="872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Cell </a:t>
            </a:r>
            <a:r>
              <a:rPr lang="es-ES" sz="2400" dirty="0" err="1">
                <a:latin typeface="Helvetica"/>
                <a:cs typeface="Helvetica"/>
              </a:rPr>
              <a:t>turgor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3B40292-1AF1-2640-EC87-6CC71A2C465D}"/>
              </a:ext>
            </a:extLst>
          </p:cNvPr>
          <p:cNvSpPr txBox="1">
            <a:spLocks/>
          </p:cNvSpPr>
          <p:nvPr/>
        </p:nvSpPr>
        <p:spPr>
          <a:xfrm>
            <a:off x="5982999" y="360827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ABA, ROS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6DACEA6-21E5-9D40-24FB-EC379237380F}"/>
              </a:ext>
            </a:extLst>
          </p:cNvPr>
          <p:cNvSpPr txBox="1">
            <a:spLocks/>
          </p:cNvSpPr>
          <p:nvPr/>
        </p:nvSpPr>
        <p:spPr>
          <a:xfrm>
            <a:off x="708632" y="4598254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CDC21DF1-4AEF-AD13-6C74-3B4CEA35CAA6}"/>
              </a:ext>
            </a:extLst>
          </p:cNvPr>
          <p:cNvSpPr txBox="1">
            <a:spLocks/>
          </p:cNvSpPr>
          <p:nvPr/>
        </p:nvSpPr>
        <p:spPr>
          <a:xfrm>
            <a:off x="4213149" y="4598255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E9E40-6950-4753-742B-41B77D6E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D6C056-DBDC-9051-F928-683EDD58594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73EF-7B15-F991-0F51-AB7AB29C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9BF10B0-3121-99E5-815A-1C06E91AFCD7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Physiological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A631800C-35AA-3E52-2E97-DBC89B49B27C}"/>
              </a:ext>
            </a:extLst>
          </p:cNvPr>
          <p:cNvSpPr txBox="1">
            <a:spLocks/>
          </p:cNvSpPr>
          <p:nvPr/>
        </p:nvSpPr>
        <p:spPr>
          <a:xfrm>
            <a:off x="873964" y="1766109"/>
            <a:ext cx="940058" cy="409282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EB9F0-FAF6-9C8D-E5AA-1B0C26144440}"/>
              </a:ext>
            </a:extLst>
          </p:cNvPr>
          <p:cNvSpPr txBox="1">
            <a:spLocks/>
          </p:cNvSpPr>
          <p:nvPr/>
        </p:nvSpPr>
        <p:spPr>
          <a:xfrm>
            <a:off x="4282027" y="1766109"/>
            <a:ext cx="940058" cy="4092828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FB3DCF9-52CA-B7EF-7848-E7A37B38A908}"/>
              </a:ext>
            </a:extLst>
          </p:cNvPr>
          <p:cNvSpPr txBox="1">
            <a:spLocks/>
          </p:cNvSpPr>
          <p:nvPr/>
        </p:nvSpPr>
        <p:spPr>
          <a:xfrm>
            <a:off x="2041437" y="1928244"/>
            <a:ext cx="2061466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Chlorophylls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95DAA7E-9761-75A8-6F4F-8AEBC6C097D3}"/>
              </a:ext>
            </a:extLst>
          </p:cNvPr>
          <p:cNvSpPr txBox="1">
            <a:spLocks/>
          </p:cNvSpPr>
          <p:nvPr/>
        </p:nvSpPr>
        <p:spPr>
          <a:xfrm>
            <a:off x="2122539" y="2785616"/>
            <a:ext cx="18992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Carotenoids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40D9016-DF94-2920-15C7-B6DAF9346E8A}"/>
              </a:ext>
            </a:extLst>
          </p:cNvPr>
          <p:cNvSpPr txBox="1">
            <a:spLocks/>
          </p:cNvSpPr>
          <p:nvPr/>
        </p:nvSpPr>
        <p:spPr>
          <a:xfrm>
            <a:off x="2160035" y="3663339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LWC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597052C-6720-35C2-9334-749391532AC8}"/>
              </a:ext>
            </a:extLst>
          </p:cNvPr>
          <p:cNvSpPr txBox="1">
            <a:spLocks/>
          </p:cNvSpPr>
          <p:nvPr/>
        </p:nvSpPr>
        <p:spPr>
          <a:xfrm>
            <a:off x="873963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1B6F6CD-EEF8-AAB6-2FD3-B80317C88413}"/>
              </a:ext>
            </a:extLst>
          </p:cNvPr>
          <p:cNvSpPr txBox="1">
            <a:spLocks/>
          </p:cNvSpPr>
          <p:nvPr/>
        </p:nvSpPr>
        <p:spPr>
          <a:xfrm>
            <a:off x="5986468" y="1928244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Synthesis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downregulation</a:t>
            </a:r>
            <a:r>
              <a:rPr lang="es-ES" sz="2400" dirty="0">
                <a:latin typeface="Helvetica"/>
                <a:cs typeface="Helvetica"/>
              </a:rPr>
              <a:t>, ROS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CAEA58C-9201-03E7-3446-13B1B0B0534A}"/>
              </a:ext>
            </a:extLst>
          </p:cNvPr>
          <p:cNvSpPr txBox="1">
            <a:spLocks/>
          </p:cNvSpPr>
          <p:nvPr/>
        </p:nvSpPr>
        <p:spPr>
          <a:xfrm>
            <a:off x="4282028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D847C064-1863-310D-57E5-8740E8338115}"/>
              </a:ext>
            </a:extLst>
          </p:cNvPr>
          <p:cNvSpPr txBox="1">
            <a:spLocks/>
          </p:cNvSpPr>
          <p:nvPr/>
        </p:nvSpPr>
        <p:spPr>
          <a:xfrm>
            <a:off x="873962" y="2803595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054AE69-A430-DCA1-1271-E3C76BFAFFBE}"/>
              </a:ext>
            </a:extLst>
          </p:cNvPr>
          <p:cNvSpPr txBox="1">
            <a:spLocks/>
          </p:cNvSpPr>
          <p:nvPr/>
        </p:nvSpPr>
        <p:spPr>
          <a:xfrm>
            <a:off x="873962" y="36668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2DBD870-7D82-F95E-8E48-CF1B3A28BFAA}"/>
              </a:ext>
            </a:extLst>
          </p:cNvPr>
          <p:cNvSpPr txBox="1">
            <a:spLocks/>
          </p:cNvSpPr>
          <p:nvPr/>
        </p:nvSpPr>
        <p:spPr>
          <a:xfrm>
            <a:off x="4278968" y="280427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6AD282-56F2-C16E-8A86-31C17E962A34}"/>
              </a:ext>
            </a:extLst>
          </p:cNvPr>
          <p:cNvSpPr txBox="1">
            <a:spLocks/>
          </p:cNvSpPr>
          <p:nvPr/>
        </p:nvSpPr>
        <p:spPr>
          <a:xfrm>
            <a:off x="4278967" y="366333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0896316-86B6-BC4A-4EAE-D653B4EC80FD}"/>
              </a:ext>
            </a:extLst>
          </p:cNvPr>
          <p:cNvSpPr txBox="1">
            <a:spLocks/>
          </p:cNvSpPr>
          <p:nvPr/>
        </p:nvSpPr>
        <p:spPr>
          <a:xfrm>
            <a:off x="870903" y="4527548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7F0FC36-3F47-9F8B-A741-057F9E7F9F01}"/>
              </a:ext>
            </a:extLst>
          </p:cNvPr>
          <p:cNvSpPr txBox="1">
            <a:spLocks/>
          </p:cNvSpPr>
          <p:nvPr/>
        </p:nvSpPr>
        <p:spPr>
          <a:xfrm>
            <a:off x="5982998" y="2802389"/>
            <a:ext cx="4855701" cy="611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Photoprotection</a:t>
            </a:r>
            <a:endParaRPr lang="es-ES" sz="2400" dirty="0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5DD16AE-215B-780B-3EC4-D73EB5EDBE76}"/>
              </a:ext>
            </a:extLst>
          </p:cNvPr>
          <p:cNvSpPr txBox="1">
            <a:spLocks/>
          </p:cNvSpPr>
          <p:nvPr/>
        </p:nvSpPr>
        <p:spPr>
          <a:xfrm>
            <a:off x="5982999" y="3602604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Osmoregulation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permeability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49443649-11F5-2423-5F48-0E230F9D37B9}"/>
              </a:ext>
            </a:extLst>
          </p:cNvPr>
          <p:cNvSpPr txBox="1">
            <a:spLocks/>
          </p:cNvSpPr>
          <p:nvPr/>
        </p:nvSpPr>
        <p:spPr>
          <a:xfrm>
            <a:off x="708633" y="5888028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B2984DA5-EF84-5834-5BF9-C6E7D1B8DA01}"/>
              </a:ext>
            </a:extLst>
          </p:cNvPr>
          <p:cNvSpPr txBox="1">
            <a:spLocks/>
          </p:cNvSpPr>
          <p:nvPr/>
        </p:nvSpPr>
        <p:spPr>
          <a:xfrm>
            <a:off x="4213150" y="5888029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853AFE-AD18-4D26-B7CF-A3357A42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99FAD5-D3A5-BA29-3ADA-AF5865541F99}"/>
              </a:ext>
            </a:extLst>
          </p:cNvPr>
          <p:cNvSpPr txBox="1">
            <a:spLocks/>
          </p:cNvSpPr>
          <p:nvPr/>
        </p:nvSpPr>
        <p:spPr>
          <a:xfrm>
            <a:off x="2041437" y="4541062"/>
            <a:ext cx="1958963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13</a:t>
            </a:r>
            <a:r>
              <a:rPr lang="es-ES" sz="2400" b="1" dirty="0">
                <a:latin typeface="Helvetica"/>
                <a:cs typeface="Helvetica"/>
              </a:rPr>
              <a:t>C, </a:t>
            </a: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18</a:t>
            </a:r>
            <a:r>
              <a:rPr lang="es-ES" sz="2400" b="1" dirty="0">
                <a:latin typeface="Helvetica"/>
                <a:cs typeface="Helvetica"/>
              </a:rPr>
              <a:t>O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848E7-A7B8-6FDA-CFD6-3CF339C5E9BC}"/>
              </a:ext>
            </a:extLst>
          </p:cNvPr>
          <p:cNvSpPr txBox="1">
            <a:spLocks/>
          </p:cNvSpPr>
          <p:nvPr/>
        </p:nvSpPr>
        <p:spPr>
          <a:xfrm>
            <a:off x="2196008" y="5331535"/>
            <a:ext cx="170097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N </a:t>
            </a:r>
            <a:r>
              <a:rPr lang="es-ES" sz="2400" b="1" dirty="0" err="1">
                <a:latin typeface="Helvetica"/>
                <a:cs typeface="Helvetica"/>
              </a:rPr>
              <a:t>content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258C87-8ACE-9B49-5E5F-B13BD5234101}"/>
              </a:ext>
            </a:extLst>
          </p:cNvPr>
          <p:cNvSpPr txBox="1">
            <a:spLocks/>
          </p:cNvSpPr>
          <p:nvPr/>
        </p:nvSpPr>
        <p:spPr>
          <a:xfrm>
            <a:off x="5983000" y="4460053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89CA3D-8252-2207-EA83-52DC580746C9}"/>
              </a:ext>
            </a:extLst>
          </p:cNvPr>
          <p:cNvSpPr txBox="1">
            <a:spLocks/>
          </p:cNvSpPr>
          <p:nvPr/>
        </p:nvSpPr>
        <p:spPr>
          <a:xfrm>
            <a:off x="5982998" y="534316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N </a:t>
            </a:r>
            <a:r>
              <a:rPr lang="es-ES" sz="2400" dirty="0" err="1">
                <a:latin typeface="Helvetica"/>
                <a:cs typeface="Helvetica"/>
              </a:rPr>
              <a:t>uptake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B040C6-5CA6-1B1A-B9B4-CC8C03B8C199}"/>
              </a:ext>
            </a:extLst>
          </p:cNvPr>
          <p:cNvSpPr txBox="1">
            <a:spLocks/>
          </p:cNvSpPr>
          <p:nvPr/>
        </p:nvSpPr>
        <p:spPr>
          <a:xfrm>
            <a:off x="870906" y="449320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9A6B9B2-EA2C-0B8F-A2E5-93E240421E47}"/>
              </a:ext>
            </a:extLst>
          </p:cNvPr>
          <p:cNvSpPr txBox="1">
            <a:spLocks/>
          </p:cNvSpPr>
          <p:nvPr/>
        </p:nvSpPr>
        <p:spPr>
          <a:xfrm>
            <a:off x="861609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374E0B43-8556-07F1-7A2F-C057939BEDC8}"/>
              </a:ext>
            </a:extLst>
          </p:cNvPr>
          <p:cNvSpPr txBox="1">
            <a:spLocks/>
          </p:cNvSpPr>
          <p:nvPr/>
        </p:nvSpPr>
        <p:spPr>
          <a:xfrm>
            <a:off x="4282026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A874FA-BF2B-5E28-2378-32BB72FBE513}"/>
              </a:ext>
            </a:extLst>
          </p:cNvPr>
          <p:cNvSpPr txBox="1">
            <a:spLocks/>
          </p:cNvSpPr>
          <p:nvPr/>
        </p:nvSpPr>
        <p:spPr>
          <a:xfrm>
            <a:off x="4278966" y="4496456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918E1D1-7CF5-51A0-A794-9DB5E785F5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1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09A2C19-2DBA-1AE2-F8CF-9C15B227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4" b="4493"/>
          <a:stretch>
            <a:fillRect/>
          </a:stretch>
        </p:blipFill>
        <p:spPr>
          <a:xfrm>
            <a:off x="3949147" y="811105"/>
            <a:ext cx="6858000" cy="6046895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3669229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2203594" y="6403284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D8E0453-8B4A-B20C-AB68-7B3F1859961B}"/>
              </a:ext>
            </a:extLst>
          </p:cNvPr>
          <p:cNvGrpSpPr/>
          <p:nvPr/>
        </p:nvGrpSpPr>
        <p:grpSpPr>
          <a:xfrm>
            <a:off x="8527188" y="5371533"/>
            <a:ext cx="3301889" cy="1220763"/>
            <a:chOff x="6178013" y="5057218"/>
            <a:chExt cx="3301889" cy="122076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0EF1E68-78BF-4F46-EC92-7C9B7DC71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7EE9C73-8D0E-B84F-FBE1-CB7E50FBFF03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E1F4340-629D-1579-80CB-121769E85279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D6DA4FE-3CC6-6D36-6ECB-E616FD3C382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56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95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1246240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5518D9-AD43-C2DD-9D23-79EF776CC173}"/>
              </a:ext>
            </a:extLst>
          </p:cNvPr>
          <p:cNvGrpSpPr/>
          <p:nvPr/>
        </p:nvGrpSpPr>
        <p:grpSpPr>
          <a:xfrm>
            <a:off x="6389013" y="4487957"/>
            <a:ext cx="3301889" cy="1220763"/>
            <a:chOff x="6178013" y="5057218"/>
            <a:chExt cx="3301889" cy="122076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87B21BD-A6B5-1787-C2FE-38F3E226D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0AAB96E-6C5C-AA9D-9E37-537A9CDC0700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41E0CA6-A5D7-F12C-31D8-D135866D6D2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C3C26AC-8D50-CAE9-0DD5-970E82CAF65D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52126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3359019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Size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b="1" dirty="0" err="1">
                <a:latin typeface="Helvetica"/>
                <a:cs typeface="Helvetica"/>
              </a:rPr>
              <a:t>bigger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trees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will</a:t>
            </a:r>
            <a:r>
              <a:rPr lang="es-ES" sz="2400" dirty="0">
                <a:latin typeface="Helvetica"/>
                <a:cs typeface="Helvetica"/>
              </a:rPr>
              <a:t> be more vulnerable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limitations</a:t>
            </a:r>
            <a:r>
              <a:rPr lang="es-ES" sz="2400" dirty="0">
                <a:latin typeface="Helvetica"/>
                <a:cs typeface="Helvetica"/>
              </a:rPr>
              <a:t> (</a:t>
            </a:r>
            <a:r>
              <a:rPr lang="es-ES" sz="2400" dirty="0" err="1">
                <a:latin typeface="Helvetica"/>
                <a:cs typeface="Helvetica"/>
              </a:rPr>
              <a:t>increased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resistance</a:t>
            </a:r>
            <a:r>
              <a:rPr lang="es-ES" sz="2400" dirty="0">
                <a:latin typeface="Helvetica"/>
                <a:cs typeface="Helvetica"/>
              </a:rPr>
              <a:t>)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expect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a </a:t>
            </a:r>
            <a:r>
              <a:rPr lang="es-ES" sz="2400" b="1" dirty="0" err="1">
                <a:latin typeface="Helvetica"/>
                <a:cs typeface="Helvetica"/>
              </a:rPr>
              <a:t>reduced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trend</a:t>
            </a:r>
            <a:r>
              <a:rPr lang="es-ES" sz="2400" b="1" dirty="0">
                <a:latin typeface="Helvetica"/>
                <a:cs typeface="Helvetica"/>
              </a:rPr>
              <a:t>, and </a:t>
            </a:r>
            <a:r>
              <a:rPr lang="es-ES" sz="2400" b="1" dirty="0" err="1">
                <a:latin typeface="Helvetica"/>
                <a:cs typeface="Helvetica"/>
              </a:rPr>
              <a:t>resilience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Competition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competition</a:t>
            </a:r>
            <a:r>
              <a:rPr lang="es-ES" sz="2400" dirty="0">
                <a:latin typeface="Helvetica"/>
                <a:cs typeface="Helvetica"/>
              </a:rPr>
              <a:t> reduces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availability</a:t>
            </a:r>
            <a:r>
              <a:rPr lang="es-ES" sz="2400" dirty="0">
                <a:latin typeface="Helvetica"/>
                <a:cs typeface="Helvetica"/>
              </a:rPr>
              <a:t> per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increases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interception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5942-0646-1F75-3FD6-FB877A4F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EDCCFA2-7421-E9F8-432B-5107BCD8FD10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D6406B-5875-AE5D-371F-5AE2CA33EA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D0E8E0D-4EC8-AF06-2C84-F69377E87B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176B63-C01E-6AD5-661C-4C9D8D28D38C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D2A598E-3271-64EB-5DA8-A70DDDCC8E1C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8172611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Pigments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n-US" sz="24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4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iWUE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isohydric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behaviour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leading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4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D59DB51-5D88-D4EB-E8F6-3F6BAA5E1023}"/>
              </a:ext>
            </a:extLst>
          </p:cNvPr>
          <p:cNvGrpSpPr/>
          <p:nvPr/>
        </p:nvGrpSpPr>
        <p:grpSpPr>
          <a:xfrm>
            <a:off x="8752732" y="3174880"/>
            <a:ext cx="3477754" cy="1250117"/>
            <a:chOff x="1139560" y="5095351"/>
            <a:chExt cx="3477754" cy="125011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E1E93E6-363C-013D-E9E5-1C1424287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FEF6D0F-A69C-A522-AA0F-98D0F4174B64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A30C1B7-6EB8-97DA-72BA-71484368860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082686E-8BB0-F750-B3B1-7FCB2D135B37}"/>
              </a:ext>
            </a:extLst>
          </p:cNvPr>
          <p:cNvGrpSpPr/>
          <p:nvPr/>
        </p:nvGrpSpPr>
        <p:grpSpPr>
          <a:xfrm>
            <a:off x="8752732" y="4438528"/>
            <a:ext cx="3301889" cy="1220763"/>
            <a:chOff x="6178013" y="5057218"/>
            <a:chExt cx="3301889" cy="1220763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AFF188B-F49B-5A75-5066-5D26817E2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166D1FD-614B-8988-6A96-F2B8CE294316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8957225-F35F-94AB-9237-9E568624460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9A0E59A-4CBE-0538-942B-88DBCFAD2FB7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894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41914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long-term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adaptations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238156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higher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aridity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b="1" i="1" dirty="0" err="1">
                <a:latin typeface="Helvetica"/>
                <a:cs typeface="Helvetica"/>
              </a:rPr>
              <a:t>temperate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species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Mediterranean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endParaRPr lang="es-ES" sz="2400" i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EC9-25F7-6CA6-B62B-65068878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A0F01-5553-6814-163F-B61A923618B6}"/>
              </a:ext>
            </a:extLst>
          </p:cNvPr>
          <p:cNvSpPr txBox="1">
            <a:spLocks/>
          </p:cNvSpPr>
          <p:nvPr/>
        </p:nvSpPr>
        <p:spPr>
          <a:xfrm>
            <a:off x="633461" y="1094519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34AD306-A763-7927-32AA-9A5AC78B6A4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FCF49EB-BE30-FEA2-5296-D1034820F18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87B079E-C0DD-6FF2-8D4E-355AE383674E}"/>
              </a:ext>
            </a:extLst>
          </p:cNvPr>
          <p:cNvSpPr txBox="1">
            <a:spLocks/>
          </p:cNvSpPr>
          <p:nvPr/>
        </p:nvSpPr>
        <p:spPr>
          <a:xfrm>
            <a:off x="633460" y="309533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06A869-4518-F769-1C64-D6AC6A987CEE}"/>
              </a:ext>
            </a:extLst>
          </p:cNvPr>
          <p:cNvSpPr txBox="1">
            <a:spLocks/>
          </p:cNvSpPr>
          <p:nvPr/>
        </p:nvSpPr>
        <p:spPr>
          <a:xfrm>
            <a:off x="633460" y="4908807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long-term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adaptations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6074D58-950B-1ED2-E4B4-254E9D56E635}"/>
              </a:ext>
            </a:extLst>
          </p:cNvPr>
          <p:cNvSpPr txBox="1">
            <a:spLocks/>
          </p:cNvSpPr>
          <p:nvPr/>
        </p:nvSpPr>
        <p:spPr>
          <a:xfrm>
            <a:off x="3444180" y="2360617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</a:rPr>
              <a:t>Fig. 2.: </a:t>
            </a:r>
            <a:r>
              <a:rPr lang="es-ES" sz="2400" b="1" dirty="0" err="1">
                <a:latin typeface="Helvetica"/>
                <a:cs typeface="Helvetica"/>
              </a:rPr>
              <a:t>boxplot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0EA7464B-BD92-F073-50FA-F4E0C1454262}"/>
              </a:ext>
            </a:extLst>
          </p:cNvPr>
          <p:cNvSpPr txBox="1">
            <a:spLocks/>
          </p:cNvSpPr>
          <p:nvPr/>
        </p:nvSpPr>
        <p:spPr>
          <a:xfrm>
            <a:off x="3444180" y="4079618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</a:rPr>
              <a:t>Fig. 3.: </a:t>
            </a:r>
            <a:r>
              <a:rPr lang="es-ES" sz="2400" b="1" dirty="0" err="1">
                <a:latin typeface="Helvetica"/>
                <a:cs typeface="Helvetica"/>
              </a:rPr>
              <a:t>boxplot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D55FCC87-AB75-D1D0-0497-DE66F63E5567}"/>
              </a:ext>
            </a:extLst>
          </p:cNvPr>
          <p:cNvSpPr txBox="1">
            <a:spLocks/>
          </p:cNvSpPr>
          <p:nvPr/>
        </p:nvSpPr>
        <p:spPr>
          <a:xfrm>
            <a:off x="3444180" y="603746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PCA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 Fig. 4.: </a:t>
            </a:r>
            <a:r>
              <a:rPr lang="es-ES" sz="2400" b="1" dirty="0" err="1">
                <a:latin typeface="Helvetica"/>
                <a:cs typeface="Helvetica"/>
              </a:rPr>
              <a:t>Model</a:t>
            </a:r>
            <a:r>
              <a:rPr lang="es-ES" sz="2400" b="1" dirty="0">
                <a:latin typeface="Helvetica"/>
                <a:cs typeface="Helvetica"/>
              </a:rPr>
              <a:t> (GLM/SEM)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05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27100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only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keep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determine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Wilcoxon test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might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forecast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17C19A51-F188-59BA-4108-637918195FE2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0E0D77AC-F967-D971-1006-80B714535C88}"/>
              </a:ext>
            </a:extLst>
          </p:cNvPr>
          <p:cNvSpPr txBox="1"/>
          <p:nvPr/>
        </p:nvSpPr>
        <p:spPr>
          <a:xfrm>
            <a:off x="4621358" y="2980082"/>
            <a:ext cx="2502655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8CB5A7B-EC11-2D94-75D6-F6A191475E3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50DE1E9-94B2-E153-B20D-F07D79F56AD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D7C29A-C044-3616-0CD5-A5F7D5CB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62" y="804155"/>
            <a:ext cx="6053845" cy="605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782669"/>
            <a:ext cx="547667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discard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EE7E184-71CA-424C-9FA0-349E5B5C77F7}"/>
              </a:ext>
            </a:extLst>
          </p:cNvPr>
          <p:cNvSpPr txBox="1"/>
          <p:nvPr/>
        </p:nvSpPr>
        <p:spPr>
          <a:xfrm>
            <a:off x="1035246" y="4186667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64B8D9-D540-D759-552C-98F1B876B91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9FEC5B-FC9A-97D4-96C1-0E8B48AA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442" y="881328"/>
            <a:ext cx="5830078" cy="583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03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CF8C-B78D-231D-96CD-84299F8E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8C86AFB-5A31-0548-A7BF-4522227B5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A80D1A-AAA1-9067-BAA3-904FC9079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4C8FD13-D5F2-3BC9-471D-344B12D11E52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97B54E9-D2A7-E17E-D670-74C13E2E98FE}"/>
              </a:ext>
            </a:extLst>
          </p:cNvPr>
          <p:cNvSpPr txBox="1"/>
          <p:nvPr/>
        </p:nvSpPr>
        <p:spPr>
          <a:xfrm>
            <a:off x="700296" y="178680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55849058-E641-7D0E-7B91-C1309D67D6B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5B4F4-2BB1-A838-4E3A-0210AA9FE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922" y="880376"/>
            <a:ext cx="5830078" cy="5830078"/>
          </a:xfrm>
          <a:prstGeom prst="rect">
            <a:avLst/>
          </a:prstGeom>
        </p:spPr>
      </p:pic>
      <p:sp>
        <p:nvSpPr>
          <p:cNvPr id="6" name="Signo de multiplicación 18">
            <a:extLst>
              <a:ext uri="{FF2B5EF4-FFF2-40B4-BE49-F238E27FC236}">
                <a16:creationId xmlns:a16="http://schemas.microsoft.com/office/drawing/2014/main" id="{FD0DDD92-9A97-9C94-090F-A2D421F5BB1B}"/>
              </a:ext>
            </a:extLst>
          </p:cNvPr>
          <p:cNvSpPr/>
          <p:nvPr/>
        </p:nvSpPr>
        <p:spPr>
          <a:xfrm>
            <a:off x="8119493" y="3177145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Signo de multiplicación 18">
            <a:extLst>
              <a:ext uri="{FF2B5EF4-FFF2-40B4-BE49-F238E27FC236}">
                <a16:creationId xmlns:a16="http://schemas.microsoft.com/office/drawing/2014/main" id="{64BA6DAC-CB59-5B8F-70AA-D850C299EE4A}"/>
              </a:ext>
            </a:extLst>
          </p:cNvPr>
          <p:cNvSpPr/>
          <p:nvPr/>
        </p:nvSpPr>
        <p:spPr>
          <a:xfrm>
            <a:off x="9125333" y="3177145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Signo de multiplicación 18">
            <a:extLst>
              <a:ext uri="{FF2B5EF4-FFF2-40B4-BE49-F238E27FC236}">
                <a16:creationId xmlns:a16="http://schemas.microsoft.com/office/drawing/2014/main" id="{A4E293C3-0650-D929-8CE9-C2A77A0C8057}"/>
              </a:ext>
            </a:extLst>
          </p:cNvPr>
          <p:cNvSpPr/>
          <p:nvPr/>
        </p:nvSpPr>
        <p:spPr>
          <a:xfrm>
            <a:off x="6315077" y="4274425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gno de multiplicación 18">
            <a:extLst>
              <a:ext uri="{FF2B5EF4-FFF2-40B4-BE49-F238E27FC236}">
                <a16:creationId xmlns:a16="http://schemas.microsoft.com/office/drawing/2014/main" id="{04BF355A-B55F-25FA-7146-724A3CFEE8C6}"/>
              </a:ext>
            </a:extLst>
          </p:cNvPr>
          <p:cNvSpPr/>
          <p:nvPr/>
        </p:nvSpPr>
        <p:spPr>
          <a:xfrm>
            <a:off x="8168261" y="54523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Signo de multiplicación 18">
            <a:extLst>
              <a:ext uri="{FF2B5EF4-FFF2-40B4-BE49-F238E27FC236}">
                <a16:creationId xmlns:a16="http://schemas.microsoft.com/office/drawing/2014/main" id="{FEB3E85B-3D1E-BB14-C4FB-483AA9808E4F}"/>
              </a:ext>
            </a:extLst>
          </p:cNvPr>
          <p:cNvSpPr/>
          <p:nvPr/>
        </p:nvSpPr>
        <p:spPr>
          <a:xfrm>
            <a:off x="9125333" y="54523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8">
            <a:extLst>
              <a:ext uri="{FF2B5EF4-FFF2-40B4-BE49-F238E27FC236}">
                <a16:creationId xmlns:a16="http://schemas.microsoft.com/office/drawing/2014/main" id="{583A6395-3C90-84B1-C954-04FE876FF314}"/>
              </a:ext>
            </a:extLst>
          </p:cNvPr>
          <p:cNvSpPr/>
          <p:nvPr/>
        </p:nvSpPr>
        <p:spPr>
          <a:xfrm>
            <a:off x="9125333" y="815062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Signo de multiplicación 18">
            <a:extLst>
              <a:ext uri="{FF2B5EF4-FFF2-40B4-BE49-F238E27FC236}">
                <a16:creationId xmlns:a16="http://schemas.microsoft.com/office/drawing/2014/main" id="{74A7E60C-AEC5-D173-FA74-8AF8FA660A68}"/>
              </a:ext>
            </a:extLst>
          </p:cNvPr>
          <p:cNvSpPr/>
          <p:nvPr/>
        </p:nvSpPr>
        <p:spPr>
          <a:xfrm>
            <a:off x="10034083" y="815062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Signo de multiplicación 18">
            <a:extLst>
              <a:ext uri="{FF2B5EF4-FFF2-40B4-BE49-F238E27FC236}">
                <a16:creationId xmlns:a16="http://schemas.microsoft.com/office/drawing/2014/main" id="{8A15AAF3-4D9C-16BD-52E7-4F9DBBDF8510}"/>
              </a:ext>
            </a:extLst>
          </p:cNvPr>
          <p:cNvSpPr/>
          <p:nvPr/>
        </p:nvSpPr>
        <p:spPr>
          <a:xfrm>
            <a:off x="7216134" y="2010030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EDB6010A-EE8A-6F19-2539-E34784A207E3}"/>
              </a:ext>
            </a:extLst>
          </p:cNvPr>
          <p:cNvSpPr/>
          <p:nvPr/>
        </p:nvSpPr>
        <p:spPr>
          <a:xfrm>
            <a:off x="8168261" y="20100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Signo de multiplicación 18">
            <a:extLst>
              <a:ext uri="{FF2B5EF4-FFF2-40B4-BE49-F238E27FC236}">
                <a16:creationId xmlns:a16="http://schemas.microsoft.com/office/drawing/2014/main" id="{0D62B2EF-6C4B-8581-94D2-7536048DEEA2}"/>
              </a:ext>
            </a:extLst>
          </p:cNvPr>
          <p:cNvSpPr/>
          <p:nvPr/>
        </p:nvSpPr>
        <p:spPr>
          <a:xfrm>
            <a:off x="9119942" y="20100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Signo de multiplicación 18">
            <a:extLst>
              <a:ext uri="{FF2B5EF4-FFF2-40B4-BE49-F238E27FC236}">
                <a16:creationId xmlns:a16="http://schemas.microsoft.com/office/drawing/2014/main" id="{F83D99C9-A044-9EED-9C97-A1A2CD1E1E68}"/>
              </a:ext>
            </a:extLst>
          </p:cNvPr>
          <p:cNvSpPr/>
          <p:nvPr/>
        </p:nvSpPr>
        <p:spPr>
          <a:xfrm>
            <a:off x="10956023" y="201002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10">
            <a:extLst>
              <a:ext uri="{FF2B5EF4-FFF2-40B4-BE49-F238E27FC236}">
                <a16:creationId xmlns:a16="http://schemas.microsoft.com/office/drawing/2014/main" id="{BB45E6B0-7FBB-5B07-E314-C7AA71C42503}"/>
              </a:ext>
            </a:extLst>
          </p:cNvPr>
          <p:cNvSpPr txBox="1"/>
          <p:nvPr/>
        </p:nvSpPr>
        <p:spPr>
          <a:xfrm>
            <a:off x="78510" y="2688585"/>
            <a:ext cx="60174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82080FC7-FEB7-7072-300F-B8E5887181A2}"/>
              </a:ext>
            </a:extLst>
          </p:cNvPr>
          <p:cNvSpPr txBox="1"/>
          <p:nvPr/>
        </p:nvSpPr>
        <p:spPr>
          <a:xfrm>
            <a:off x="619326" y="3571133"/>
            <a:ext cx="5476674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C:N ratio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2017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2022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Total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a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b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389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5BF0-AAC4-BAA2-34F8-5223E67B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6DA7092-659A-120E-A79A-AA805C216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22068D-7E9A-B7A0-29F3-F14C9478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665D94-480D-B95C-5DB1-51C1ABA1A9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FB5F455F-6727-EF16-BF4B-9987EC3F3FDA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C203356-F9EB-E64A-AB3E-A8D4EAB687A6}"/>
              </a:ext>
            </a:extLst>
          </p:cNvPr>
          <p:cNvGraphicFramePr>
            <a:graphicFrameLocks noGrp="1"/>
          </p:cNvGraphicFramePr>
          <p:nvPr/>
        </p:nvGraphicFramePr>
        <p:xfrm>
          <a:off x="6014470" y="2123593"/>
          <a:ext cx="59931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530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360071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  <a:gridCol w="1016765">
                  <a:extLst>
                    <a:ext uri="{9D8B030D-6E8A-4147-A177-3AD203B41FA5}">
                      <a16:colId xmlns:a16="http://schemas.microsoft.com/office/drawing/2014/main" val="189666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A. alba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</a:t>
                      </a:r>
                      <a:r>
                        <a:rPr lang="es-ES" sz="1600" i="1" dirty="0" err="1">
                          <a:latin typeface="Helvetica" panose="020B0604020202020204"/>
                          <a:cs typeface="Helvetica" panose="020B0604020202020204"/>
                        </a:rPr>
                        <a:t>sylvestris</a:t>
                      </a:r>
                      <a:endParaRPr lang="es-ES" sz="1600" i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pinea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All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218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Height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d.b.h</a:t>
                      </a:r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Defoliation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LWC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. a/b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. / </a:t>
                      </a:r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xc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C </a:t>
                      </a:r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17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600" b="1" baseline="30000" dirty="0">
                          <a:latin typeface="Helvetica" panose="020B0604020202020204"/>
                          <a:cs typeface="Helvetica" panose="020B0604020202020204"/>
                        </a:rPr>
                        <a:t>13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600" b="1" baseline="30000" dirty="0">
                          <a:latin typeface="Helvetica" panose="020B0604020202020204"/>
                          <a:cs typeface="Helvetica" panose="020B0604020202020204"/>
                        </a:rPr>
                        <a:t>15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6C47103-D1B5-B778-56BE-B3D62BF80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D9C5BA97-A416-26E3-BF3B-685CF6F61071}"/>
              </a:ext>
            </a:extLst>
          </p:cNvPr>
          <p:cNvSpPr txBox="1"/>
          <p:nvPr/>
        </p:nvSpPr>
        <p:spPr>
          <a:xfrm>
            <a:off x="591782" y="1071458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476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401-1343-6489-0678-8A8EB596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2025A94-12B9-7279-CA7F-2E32BF6E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07C43-FEEF-B6E3-98EA-2383322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9D1441-2331-8F6E-4111-D49EA7ED88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6F34E1AE-803B-C5A1-E976-3AFFFAE23CBF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17863B-BF42-93C7-AC73-602A87D42F27}"/>
              </a:ext>
            </a:extLst>
          </p:cNvPr>
          <p:cNvGraphicFramePr>
            <a:graphicFrameLocks noGrp="1"/>
          </p:cNvGraphicFramePr>
          <p:nvPr/>
        </p:nvGraphicFramePr>
        <p:xfrm>
          <a:off x="6014470" y="2123593"/>
          <a:ext cx="599313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530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360071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  <a:gridCol w="1016765">
                  <a:extLst>
                    <a:ext uri="{9D8B030D-6E8A-4147-A177-3AD203B41FA5}">
                      <a16:colId xmlns:a16="http://schemas.microsoft.com/office/drawing/2014/main" val="189666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A. alba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</a:t>
                      </a:r>
                      <a:r>
                        <a:rPr lang="es-ES" sz="1600" i="1" dirty="0" err="1">
                          <a:latin typeface="Helvetica" panose="020B0604020202020204"/>
                          <a:cs typeface="Helvetica" panose="020B0604020202020204"/>
                        </a:rPr>
                        <a:t>sylvestris</a:t>
                      </a:r>
                      <a:endParaRPr lang="es-ES" sz="1600" i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pinea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All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218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0" dirty="0">
                          <a:latin typeface="Helvetica" panose="020B0604020202020204"/>
                          <a:cs typeface="Helvetica" panose="020B0604020202020204"/>
                        </a:rPr>
                        <a:t>BAI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BAI 1980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05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Rt12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Rs12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Rs17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864DF6F4-1E35-C967-44FD-4C1F3298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4920F44-C880-481B-A69F-A476CC4D5A15}"/>
              </a:ext>
            </a:extLst>
          </p:cNvPr>
          <p:cNvGrpSpPr/>
          <p:nvPr/>
        </p:nvGrpSpPr>
        <p:grpSpPr>
          <a:xfrm>
            <a:off x="7010013" y="5946719"/>
            <a:ext cx="3681971" cy="718241"/>
            <a:chOff x="666509" y="1077306"/>
            <a:chExt cx="4015081" cy="941289"/>
          </a:xfrm>
        </p:grpSpPr>
        <p:pic>
          <p:nvPicPr>
            <p:cNvPr id="23" name="Imagen 11">
              <a:extLst>
                <a:ext uri="{FF2B5EF4-FFF2-40B4-BE49-F238E27FC236}">
                  <a16:creationId xmlns:a16="http://schemas.microsoft.com/office/drawing/2014/main" id="{8DFE204E-393D-C973-17BB-441E1B97F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6597"/>
            <a:stretch>
              <a:fillRect/>
            </a:stretch>
          </p:blipFill>
          <p:spPr>
            <a:xfrm>
              <a:off x="666509" y="1077306"/>
              <a:ext cx="4015081" cy="538132"/>
            </a:xfrm>
            <a:prstGeom prst="rect">
              <a:avLst/>
            </a:prstGeom>
          </p:spPr>
        </p:pic>
        <p:pic>
          <p:nvPicPr>
            <p:cNvPr id="24" name="Imagen 11">
              <a:extLst>
                <a:ext uri="{FF2B5EF4-FFF2-40B4-BE49-F238E27FC236}">
                  <a16:creationId xmlns:a16="http://schemas.microsoft.com/office/drawing/2014/main" id="{FF2E1331-3C04-61F2-8A8A-B85B291C0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154" b="-196"/>
            <a:stretch>
              <a:fillRect/>
            </a:stretch>
          </p:blipFill>
          <p:spPr>
            <a:xfrm>
              <a:off x="666509" y="1615438"/>
              <a:ext cx="4015081" cy="403157"/>
            </a:xfrm>
            <a:prstGeom prst="rect">
              <a:avLst/>
            </a:prstGeom>
          </p:spPr>
        </p:pic>
      </p:grpSp>
      <p:sp>
        <p:nvSpPr>
          <p:cNvPr id="5" name="TextBox 2">
            <a:extLst>
              <a:ext uri="{FF2B5EF4-FFF2-40B4-BE49-F238E27FC236}">
                <a16:creationId xmlns:a16="http://schemas.microsoft.com/office/drawing/2014/main" id="{0B010C8C-48FE-E392-FAE1-3038CCD2E476}"/>
              </a:ext>
            </a:extLst>
          </p:cNvPr>
          <p:cNvSpPr txBox="1"/>
          <p:nvPr/>
        </p:nvSpPr>
        <p:spPr>
          <a:xfrm>
            <a:off x="591782" y="1071458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Responses</a:t>
            </a:r>
          </a:p>
        </p:txBody>
      </p:sp>
    </p:spTree>
    <p:extLst>
      <p:ext uri="{BB962C8B-B14F-4D97-AF65-F5344CB8AC3E}">
        <p14:creationId xmlns:p14="http://schemas.microsoft.com/office/powerpoint/2010/main" val="212702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053365E-9384-207C-CA11-0DA16A9643C8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through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assessment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morphological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>
                <a:latin typeface="Helvetica"/>
                <a:cs typeface="Helvetica"/>
              </a:rPr>
              <a:t>and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responses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drought-induced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damaged</a:t>
            </a:r>
            <a:r>
              <a:rPr lang="es-ES" sz="1800" dirty="0">
                <a:latin typeface="Helvetica"/>
                <a:cs typeface="Helvetica"/>
              </a:rPr>
              <a:t> vs. </a:t>
            </a:r>
            <a:r>
              <a:rPr lang="es-ES" sz="1800" dirty="0" err="1">
                <a:latin typeface="Helvetica"/>
                <a:cs typeface="Helvetica"/>
              </a:rPr>
              <a:t>healthy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areas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C5259-19F1-8B9A-8952-0B7E5A0C8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0" y="1937477"/>
            <a:ext cx="8073659" cy="4843785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4CDFF00-B5C4-99C7-75FA-DBDC703114CD}"/>
              </a:ext>
            </a:extLst>
          </p:cNvPr>
          <p:cNvSpPr txBox="1">
            <a:spLocks/>
          </p:cNvSpPr>
          <p:nvPr/>
        </p:nvSpPr>
        <p:spPr>
          <a:xfrm>
            <a:off x="1178791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2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1111-3078-71EB-28A8-5CE6644C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640C62E-8FAB-4A23-2615-4FC1C08F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3E4060-9872-9011-EDB3-1C3E8348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551C4C2-A7EF-9CDC-DCF7-D6FB92136F5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C8B2814-13A2-2BAB-4745-388233A4A077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characterise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vulnerability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determining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through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assessment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morphological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dirty="0">
                <a:latin typeface="Helvetica"/>
                <a:cs typeface="Helvetica"/>
              </a:rPr>
              <a:t>and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responses</a:t>
            </a:r>
            <a:r>
              <a:rPr lang="es-ES" sz="1800" dirty="0">
                <a:latin typeface="Helvetica"/>
                <a:cs typeface="Helvetica"/>
              </a:rPr>
              <a:t> in </a:t>
            </a:r>
            <a:r>
              <a:rPr lang="es-ES" sz="1800" dirty="0" err="1">
                <a:latin typeface="Helvetica"/>
                <a:cs typeface="Helvetica"/>
              </a:rPr>
              <a:t>drought-induced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damaged</a:t>
            </a:r>
            <a:r>
              <a:rPr lang="es-ES" sz="1800" dirty="0">
                <a:latin typeface="Helvetica"/>
                <a:cs typeface="Helvetica"/>
              </a:rPr>
              <a:t> vs. </a:t>
            </a:r>
            <a:r>
              <a:rPr lang="es-ES" sz="1800" dirty="0" err="1">
                <a:latin typeface="Helvetica"/>
                <a:cs typeface="Helvetica"/>
              </a:rPr>
              <a:t>healthy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areas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C5AB2-072F-4928-86CD-9B4BA9A15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1" y="2188951"/>
            <a:ext cx="6701943" cy="4020825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293EE323-DA89-CD22-DD27-394A73B7E917}"/>
              </a:ext>
            </a:extLst>
          </p:cNvPr>
          <p:cNvSpPr txBox="1"/>
          <p:nvPr/>
        </p:nvSpPr>
        <p:spPr>
          <a:xfrm>
            <a:off x="7142480" y="2008592"/>
            <a:ext cx="449733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Bigger</a:t>
            </a:r>
            <a:r>
              <a:rPr lang="es-ES" sz="1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16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vulnerable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access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deeper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according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38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A143-20D2-E768-36E9-2DD9E071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C548A82-8968-BB67-1E07-B3C74ECFC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6EDC4F-2A04-07B5-E13A-57247B3F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0E6B08-1667-A5A0-B16A-6DF289832C0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E2B8CE4-80DF-A8F8-F03C-D50CE3F75BB4}"/>
              </a:ext>
            </a:extLst>
          </p:cNvPr>
          <p:cNvSpPr txBox="1">
            <a:spLocks/>
          </p:cNvSpPr>
          <p:nvPr/>
        </p:nvSpPr>
        <p:spPr>
          <a:xfrm>
            <a:off x="1178791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3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70F408D-A3A0-B045-A3C2-09168C44B22E}"/>
              </a:ext>
            </a:extLst>
          </p:cNvPr>
          <p:cNvSpPr txBox="1">
            <a:spLocks/>
          </p:cNvSpPr>
          <p:nvPr/>
        </p:nvSpPr>
        <p:spPr>
          <a:xfrm>
            <a:off x="633460" y="1130598"/>
            <a:ext cx="10925077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responses </a:t>
            </a:r>
            <a:r>
              <a:rPr lang="es-ES" sz="1800" b="1" dirty="0" err="1">
                <a:latin typeface="Helvetica"/>
                <a:cs typeface="Helvetica"/>
              </a:rPr>
              <a:t>to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drought</a:t>
            </a:r>
            <a:r>
              <a:rPr lang="es-ES" sz="1800" b="1" dirty="0">
                <a:latin typeface="Helvetica"/>
                <a:cs typeface="Helvetica"/>
              </a:rPr>
              <a:t>, </a:t>
            </a:r>
            <a:r>
              <a:rPr lang="es-ES" sz="1800" dirty="0">
                <a:latin typeface="Helvetica"/>
                <a:cs typeface="Helvetica"/>
              </a:rPr>
              <a:t>and </a:t>
            </a:r>
            <a:r>
              <a:rPr lang="es-ES" sz="1800" b="1" dirty="0" err="1">
                <a:latin typeface="Helvetica"/>
                <a:cs typeface="Helvetica"/>
              </a:rPr>
              <a:t>what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are more </a:t>
            </a:r>
            <a:r>
              <a:rPr lang="es-ES" sz="1800" b="1" dirty="0" err="1">
                <a:latin typeface="Helvetica"/>
                <a:cs typeface="Helvetica"/>
              </a:rPr>
              <a:t>affected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57CC55-7951-A6C0-5B91-FEB6BEBBC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0" y="1937476"/>
            <a:ext cx="8073659" cy="484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08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5F5F-8D62-C5FA-B53C-C8888E14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860345-C2F9-9510-85FB-037DEC4C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B0C2D-7A66-67E6-06C9-786658FE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3CF077-E3D8-34D6-996D-5F36033DC22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49AF0DBE-0958-31CA-8A1D-B5DC38A4CA49}"/>
              </a:ext>
            </a:extLst>
          </p:cNvPr>
          <p:cNvSpPr txBox="1"/>
          <p:nvPr/>
        </p:nvSpPr>
        <p:spPr>
          <a:xfrm>
            <a:off x="7142480" y="2008592"/>
            <a:ext cx="44973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LWC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senescence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/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ratio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upregulated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ROS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synthesis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leading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oxidative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damage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l-G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6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tight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control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&amp;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increased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iWUE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6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allocation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impaired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uptake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4A79725-87C0-0B66-7DD1-2700A4D481FA}"/>
              </a:ext>
            </a:extLst>
          </p:cNvPr>
          <p:cNvSpPr txBox="1">
            <a:spLocks/>
          </p:cNvSpPr>
          <p:nvPr/>
        </p:nvSpPr>
        <p:spPr>
          <a:xfrm>
            <a:off x="633460" y="1130598"/>
            <a:ext cx="10925077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b="1" dirty="0">
                <a:latin typeface="Helvetica"/>
                <a:cs typeface="Helvetica"/>
              </a:rPr>
              <a:t> responses </a:t>
            </a:r>
            <a:r>
              <a:rPr lang="es-ES" sz="1800" b="1" dirty="0" err="1">
                <a:latin typeface="Helvetica"/>
                <a:cs typeface="Helvetica"/>
              </a:rPr>
              <a:t>to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drought</a:t>
            </a:r>
            <a:r>
              <a:rPr lang="es-ES" sz="1800" b="1" dirty="0">
                <a:latin typeface="Helvetica"/>
                <a:cs typeface="Helvetica"/>
              </a:rPr>
              <a:t>, </a:t>
            </a:r>
            <a:r>
              <a:rPr lang="es-ES" sz="1800" dirty="0">
                <a:latin typeface="Helvetica"/>
                <a:cs typeface="Helvetica"/>
              </a:rPr>
              <a:t>and </a:t>
            </a:r>
            <a:r>
              <a:rPr lang="es-ES" sz="1800" b="1" dirty="0" err="1">
                <a:latin typeface="Helvetica"/>
                <a:cs typeface="Helvetica"/>
              </a:rPr>
              <a:t>what</a:t>
            </a:r>
            <a:r>
              <a:rPr lang="es-ES" sz="1800" b="1" dirty="0">
                <a:latin typeface="Helvetica"/>
                <a:cs typeface="Helvetica"/>
              </a:rPr>
              <a:t> </a:t>
            </a:r>
            <a:r>
              <a:rPr lang="es-ES" sz="1800" b="1" dirty="0" err="1">
                <a:latin typeface="Helvetica"/>
                <a:cs typeface="Helvetica"/>
              </a:rPr>
              <a:t>traits</a:t>
            </a:r>
            <a:r>
              <a:rPr lang="es-ES" sz="1800" b="1" dirty="0">
                <a:latin typeface="Helvetica"/>
                <a:cs typeface="Helvetica"/>
              </a:rPr>
              <a:t> are more </a:t>
            </a:r>
            <a:r>
              <a:rPr lang="es-ES" sz="1800" b="1" dirty="0" err="1">
                <a:latin typeface="Helvetica"/>
                <a:cs typeface="Helvetica"/>
              </a:rPr>
              <a:t>affected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F59A34-E94A-C09D-B652-30329FF0C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1" y="2188951"/>
            <a:ext cx="6701943" cy="402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3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E3FE-ABF9-2983-F15A-1FEFAEA8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6D41078-2730-8B0A-3CAF-BA787ABD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841360-6F88-9716-453D-E664F853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6128630-A9BC-495F-C621-7B7F7BF8181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2F9CDB4-AD3C-397D-0942-8DF2D3E370B2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71F79EF-4DDD-D464-5E81-5DFC13BB7370}"/>
              </a:ext>
            </a:extLst>
          </p:cNvPr>
          <p:cNvSpPr txBox="1"/>
          <p:nvPr/>
        </p:nvSpPr>
        <p:spPr>
          <a:xfrm>
            <a:off x="633461" y="2598003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942CB3D-3C99-4195-732D-B90B71ECC0F6}"/>
              </a:ext>
            </a:extLst>
          </p:cNvPr>
          <p:cNvSpPr txBox="1"/>
          <p:nvPr/>
        </p:nvSpPr>
        <p:spPr>
          <a:xfrm>
            <a:off x="633463" y="3488989"/>
            <a:ext cx="5587119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Mixed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Equations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83AD2E54-7FD0-1ED6-7EA6-C43FA5109A18}"/>
              </a:ext>
            </a:extLst>
          </p:cNvPr>
          <p:cNvSpPr txBox="1"/>
          <p:nvPr/>
        </p:nvSpPr>
        <p:spPr>
          <a:xfrm>
            <a:off x="745077" y="4379975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+ PCA1 + PCA2 + (1 | site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id) ¿?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08A062-5EAA-2C30-1BD7-BB668502F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0" y="1613511"/>
            <a:ext cx="4878729" cy="487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50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C4FE-D540-58EA-C148-B08589E6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1F3314-AF75-E728-58A1-966BF899A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4E661-DA61-B627-FBC9-AE09F0C4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392BBB0-7417-4E4E-DDE1-47A8F0C164B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9DD9AE-F01B-0965-B781-7B9F3A7F2EC9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2D86B-F7ED-BFD0-9CB6-B028B92C9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28"/>
          <a:stretch>
            <a:fillRect/>
          </a:stretch>
        </p:blipFill>
        <p:spPr>
          <a:xfrm>
            <a:off x="633461" y="1979271"/>
            <a:ext cx="6763019" cy="42691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12BDB73-026F-4EB4-C430-9729CEF92A3E}"/>
              </a:ext>
            </a:extLst>
          </p:cNvPr>
          <p:cNvSpPr txBox="1"/>
          <p:nvPr/>
        </p:nvSpPr>
        <p:spPr>
          <a:xfrm>
            <a:off x="7298421" y="2129176"/>
            <a:ext cx="44973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BAI, Rt12;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 Rs12, LWC;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Rs17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C3135-4F44-B03E-6B54-10D12149D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630" r="78500" b="7259"/>
          <a:stretch>
            <a:fillRect/>
          </a:stretch>
        </p:blipFill>
        <p:spPr>
          <a:xfrm>
            <a:off x="5233824" y="4643120"/>
            <a:ext cx="2091536" cy="12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24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96E3-8B72-C39D-0421-4BC10005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3186D16-E14C-59DB-BF5B-6BC5404D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DF9691-CCBB-C664-CD90-631959AE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51DF5E3-F89C-345F-EE29-106FDF1BCD5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D4B8B29-5AC3-B419-6980-33A710E5FBB0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FECE6-DE50-2565-AF8B-B54C1AE68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B9933-73B0-6F9C-F057-1FD131C09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730" r="78070" b="5485"/>
          <a:stretch>
            <a:fillRect/>
          </a:stretch>
        </p:blipFill>
        <p:spPr>
          <a:xfrm>
            <a:off x="2171699" y="5150733"/>
            <a:ext cx="2673752" cy="1562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6D8BEF-2161-71BC-97EA-EE6E6E6545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536" r="79114" b="7679"/>
          <a:stretch>
            <a:fillRect/>
          </a:stretch>
        </p:blipFill>
        <p:spPr>
          <a:xfrm>
            <a:off x="6096000" y="5104433"/>
            <a:ext cx="2546430" cy="1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08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F5BA-1B83-F460-847D-0C3BB8B7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F2464FC-5965-91B7-7F19-A93D6551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AADC97-1ACE-B518-0FB9-7AE3D69E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5EC93B4-F7AF-6284-EEAA-1292D35F803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764E94B-DB39-2D18-C576-6D0CBDC426E8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74E99-1F0E-A5E3-45C4-D41C0A20A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C39E252F-F3F3-99FB-0061-B54E73F554C0}"/>
              </a:ext>
            </a:extLst>
          </p:cNvPr>
          <p:cNvSpPr txBox="1"/>
          <p:nvPr/>
        </p:nvSpPr>
        <p:spPr>
          <a:xfrm>
            <a:off x="1082793" y="5054296"/>
            <a:ext cx="9584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PC2 negative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positive PC1</a:t>
            </a:r>
            <a:endParaRPr lang="es-ES" sz="20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/ </a:t>
            </a:r>
            <a:r>
              <a:rPr lang="el-GR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C, Rt12</a:t>
            </a:r>
          </a:p>
        </p:txBody>
      </p:sp>
    </p:spTree>
    <p:extLst>
      <p:ext uri="{BB962C8B-B14F-4D97-AF65-F5344CB8AC3E}">
        <p14:creationId xmlns:p14="http://schemas.microsoft.com/office/powerpoint/2010/main" val="3966269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5259-178B-0DEA-4FFB-41A3B0FC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3BF7C92-9F56-A55B-29D2-2825D4A4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A3AF12-B690-A7D6-A9FD-B7908211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BF416D5-592C-9B1C-CFE3-D8345203556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50AE5DD-0CB7-C762-5243-BBCA80BB48FB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0749B-C324-8962-0DD1-17872AB02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92" y="1823925"/>
            <a:ext cx="3960316" cy="4449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80EA64-AF73-35F1-A9A0-6D1BBBA5A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253" y="1823925"/>
            <a:ext cx="3960316" cy="4449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748782-9BAD-B727-C1D1-0B87CB12F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14" y="1800427"/>
            <a:ext cx="3960316" cy="443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7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E399-BD7F-5906-4771-D944572E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4D7494-4F9D-7116-BC10-966B78A5C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1D8ECD7-47CA-35AE-41CB-0EE1D9A2312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2501A8-8A07-03EC-0D75-8F9BE8EF13A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412D189-F44F-63E1-9B0C-08ECEC3C39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analysis – Physiological responses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5994F4-2763-6EBB-1E7E-137F143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09" y="2381829"/>
            <a:ext cx="3961851" cy="39618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C25151-B4AA-40E3-26C7-FDEAB34DF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67" y="2559355"/>
            <a:ext cx="3784326" cy="37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68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3417</TotalTime>
  <Words>1780</Words>
  <Application>Microsoft Office PowerPoint</Application>
  <PresentationFormat>Widescreen</PresentationFormat>
  <Paragraphs>428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Complementary strategies to cope with drought</vt:lpstr>
      <vt:lpstr> Complementary strategies to cope with drought</vt:lpstr>
      <vt:lpstr> Study area</vt:lpstr>
      <vt:lpstr> Sampling design</vt:lpstr>
      <vt:lpstr> Sampling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 analysis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36</cp:revision>
  <dcterms:created xsi:type="dcterms:W3CDTF">2025-04-25T13:52:31Z</dcterms:created>
  <dcterms:modified xsi:type="dcterms:W3CDTF">2025-07-07T10:31:46Z</dcterms:modified>
</cp:coreProperties>
</file>